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3"/>
  </p:notesMasterIdLst>
  <p:sldIdLst>
    <p:sldId id="256" r:id="rId2"/>
    <p:sldId id="257" r:id="rId3"/>
    <p:sldId id="329" r:id="rId4"/>
    <p:sldId id="332" r:id="rId5"/>
    <p:sldId id="330" r:id="rId6"/>
    <p:sldId id="328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50" r:id="rId15"/>
    <p:sldId id="351" r:id="rId16"/>
    <p:sldId id="337" r:id="rId17"/>
    <p:sldId id="354" r:id="rId18"/>
    <p:sldId id="355" r:id="rId19"/>
    <p:sldId id="356" r:id="rId20"/>
    <p:sldId id="357" r:id="rId21"/>
    <p:sldId id="358" r:id="rId22"/>
    <p:sldId id="359" r:id="rId23"/>
    <p:sldId id="360" r:id="rId24"/>
    <p:sldId id="389" r:id="rId25"/>
    <p:sldId id="405" r:id="rId26"/>
    <p:sldId id="406" r:id="rId27"/>
    <p:sldId id="404" r:id="rId28"/>
    <p:sldId id="409" r:id="rId29"/>
    <p:sldId id="361" r:id="rId30"/>
    <p:sldId id="390" r:id="rId31"/>
    <p:sldId id="362" r:id="rId32"/>
    <p:sldId id="391" r:id="rId33"/>
    <p:sldId id="410" r:id="rId34"/>
    <p:sldId id="411" r:id="rId35"/>
    <p:sldId id="363" r:id="rId36"/>
    <p:sldId id="412" r:id="rId37"/>
    <p:sldId id="413" r:id="rId38"/>
    <p:sldId id="414" r:id="rId39"/>
    <p:sldId id="364" r:id="rId40"/>
    <p:sldId id="415" r:id="rId41"/>
    <p:sldId id="365" r:id="rId42"/>
    <p:sldId id="416" r:id="rId43"/>
    <p:sldId id="366" r:id="rId44"/>
    <p:sldId id="417" r:id="rId45"/>
    <p:sldId id="338" r:id="rId46"/>
    <p:sldId id="371" r:id="rId47"/>
    <p:sldId id="372" r:id="rId48"/>
    <p:sldId id="418" r:id="rId49"/>
    <p:sldId id="419" r:id="rId50"/>
    <p:sldId id="420" r:id="rId51"/>
    <p:sldId id="421" r:id="rId52"/>
    <p:sldId id="373" r:id="rId53"/>
    <p:sldId id="422" r:id="rId54"/>
    <p:sldId id="374" r:id="rId55"/>
    <p:sldId id="375" r:id="rId56"/>
    <p:sldId id="376" r:id="rId57"/>
    <p:sldId id="377" r:id="rId58"/>
    <p:sldId id="378" r:id="rId59"/>
    <p:sldId id="379" r:id="rId60"/>
    <p:sldId id="380" r:id="rId61"/>
    <p:sldId id="381" r:id="rId62"/>
    <p:sldId id="382" r:id="rId63"/>
    <p:sldId id="423" r:id="rId64"/>
    <p:sldId id="383" r:id="rId65"/>
    <p:sldId id="384" r:id="rId66"/>
    <p:sldId id="339" r:id="rId67"/>
    <p:sldId id="385" r:id="rId68"/>
    <p:sldId id="386" r:id="rId69"/>
    <p:sldId id="387" r:id="rId70"/>
    <p:sldId id="388" r:id="rId71"/>
    <p:sldId id="392" r:id="rId72"/>
    <p:sldId id="393" r:id="rId73"/>
    <p:sldId id="394" r:id="rId74"/>
    <p:sldId id="395" r:id="rId75"/>
    <p:sldId id="340" r:id="rId76"/>
    <p:sldId id="396" r:id="rId77"/>
    <p:sldId id="424" r:id="rId78"/>
    <p:sldId id="399" r:id="rId79"/>
    <p:sldId id="400" r:id="rId80"/>
    <p:sldId id="402" r:id="rId81"/>
    <p:sldId id="309" r:id="rId82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E2CA"/>
    <a:srgbClr val="DDF3EA"/>
    <a:srgbClr val="D5ECF7"/>
    <a:srgbClr val="B2F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05" autoAdjust="0"/>
    <p:restoredTop sz="81333" autoAdjust="0"/>
  </p:normalViewPr>
  <p:slideViewPr>
    <p:cSldViewPr snapToGrid="0">
      <p:cViewPr varScale="1">
        <p:scale>
          <a:sx n="89" d="100"/>
          <a:sy n="89" d="100"/>
        </p:scale>
        <p:origin x="5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832037-4A49-4415-832B-B2AFC6447A04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3F9F3-619C-4ECD-A17C-F9C2275B02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556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3F9F3-619C-4ECD-A17C-F9C2275B028F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085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gradFill flip="none" rotWithShape="1">
          <a:gsLst>
            <a:gs pos="0">
              <a:srgbClr val="002060"/>
            </a:gs>
            <a:gs pos="50000">
              <a:srgbClr val="00577B"/>
            </a:gs>
            <a:gs pos="100000">
              <a:srgbClr val="002060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0" name="Rectangle 28"/>
          <p:cNvSpPr>
            <a:spLocks noGrp="1" noChangeArrowheads="1"/>
          </p:cNvSpPr>
          <p:nvPr>
            <p:ph type="ctrTitle"/>
          </p:nvPr>
        </p:nvSpPr>
        <p:spPr>
          <a:xfrm>
            <a:off x="398457" y="1722476"/>
            <a:ext cx="11419479" cy="1758356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8461" name="Rectangle 29"/>
          <p:cNvSpPr>
            <a:spLocks noGrp="1" noChangeArrowheads="1"/>
          </p:cNvSpPr>
          <p:nvPr>
            <p:ph type="subTitle" idx="1"/>
          </p:nvPr>
        </p:nvSpPr>
        <p:spPr>
          <a:xfrm>
            <a:off x="3252374" y="4627597"/>
            <a:ext cx="5689600" cy="7620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grpSp>
        <p:nvGrpSpPr>
          <p:cNvPr id="32" name="Group 68"/>
          <p:cNvGrpSpPr/>
          <p:nvPr/>
        </p:nvGrpSpPr>
        <p:grpSpPr>
          <a:xfrm>
            <a:off x="398451" y="1526023"/>
            <a:ext cx="11420820" cy="2098525"/>
            <a:chOff x="383249" y="1567586"/>
            <a:chExt cx="6803935" cy="1936642"/>
          </a:xfrm>
        </p:grpSpPr>
        <p:cxnSp>
          <p:nvCxnSpPr>
            <p:cNvPr id="33" name="Straight Connector 69"/>
            <p:cNvCxnSpPr/>
            <p:nvPr/>
          </p:nvCxnSpPr>
          <p:spPr>
            <a:xfrm>
              <a:off x="383249" y="1567586"/>
              <a:ext cx="6803136" cy="0"/>
            </a:xfrm>
            <a:prstGeom prst="line">
              <a:avLst/>
            </a:prstGeom>
            <a:ln w="476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70"/>
            <p:cNvCxnSpPr/>
            <p:nvPr/>
          </p:nvCxnSpPr>
          <p:spPr>
            <a:xfrm>
              <a:off x="384048" y="3504228"/>
              <a:ext cx="6803136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30" y="359110"/>
            <a:ext cx="3408737" cy="102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1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812800" y="0"/>
            <a:ext cx="11379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1350" b="0">
              <a:latin typeface="Arial" charset="0"/>
            </a:endParaRPr>
          </a:p>
        </p:txBody>
      </p:sp>
      <p:sp>
        <p:nvSpPr>
          <p:cNvPr id="11" name="Rectangle 17"/>
          <p:cNvSpPr>
            <a:spLocks noGrp="1" noChangeArrowheads="1"/>
          </p:cNvSpPr>
          <p:nvPr>
            <p:ph idx="1"/>
          </p:nvPr>
        </p:nvSpPr>
        <p:spPr bwMode="auto">
          <a:xfrm>
            <a:off x="371301" y="1232705"/>
            <a:ext cx="11464528" cy="5047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9933"/>
              </a:buClr>
              <a:defRPr b="1" i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9933"/>
              </a:buClr>
              <a:defRPr b="1" i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9933"/>
              </a:buClr>
              <a:defRPr b="1" i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9933"/>
              </a:buClr>
              <a:defRPr b="1" i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defRPr>
            </a:lvl4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2" name="Rectangle 1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71301" y="64008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100" b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F5FD63C8-53BE-4D22-844B-8317250BA1AB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13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32349" y="64008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100" b="0">
                <a:latin typeface="+mn-lt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14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03940" y="64008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0" b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4124EDF5-87F7-4AC5-8292-B04417157FC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371303" y="115888"/>
            <a:ext cx="10609810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cxnSp>
        <p:nvCxnSpPr>
          <p:cNvPr id="16" name="Straight Connector 9"/>
          <p:cNvCxnSpPr/>
          <p:nvPr/>
        </p:nvCxnSpPr>
        <p:spPr>
          <a:xfrm>
            <a:off x="0" y="1111652"/>
            <a:ext cx="12192000" cy="0"/>
          </a:xfrm>
          <a:prstGeom prst="line">
            <a:avLst/>
          </a:prstGeom>
          <a:ln w="47625">
            <a:gradFill flip="none" rotWithShape="1">
              <a:gsLst>
                <a:gs pos="100000">
                  <a:srgbClr val="004274"/>
                </a:gs>
                <a:gs pos="0">
                  <a:srgbClr val="008E95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221" y="57944"/>
            <a:ext cx="990599" cy="99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2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812800" y="0"/>
            <a:ext cx="11379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1350" b="0">
              <a:latin typeface="Arial" charset="0"/>
            </a:endParaRPr>
          </a:p>
        </p:txBody>
      </p:sp>
      <p:sp>
        <p:nvSpPr>
          <p:cNvPr id="13" name="Rectangle 17"/>
          <p:cNvSpPr txBox="1">
            <a:spLocks noChangeArrowheads="1"/>
          </p:cNvSpPr>
          <p:nvPr/>
        </p:nvSpPr>
        <p:spPr bwMode="auto">
          <a:xfrm>
            <a:off x="371301" y="1232705"/>
            <a:ext cx="11464528" cy="5047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9933"/>
              </a:buClr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557213" indent="-214313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9933"/>
              </a:buClr>
              <a:buChar char="–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7250" indent="-1714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9933"/>
              </a:buClr>
              <a:buChar char="•"/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200150" indent="-1714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9933"/>
              </a:buClr>
              <a:buChar char="–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3050" indent="-171450" algn="just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400" kern="0" dirty="0">
                <a:latin typeface="+mn-lt"/>
              </a:rPr>
              <a:t>编辑母版文本样式</a:t>
            </a:r>
          </a:p>
          <a:p>
            <a:pPr lvl="1"/>
            <a:r>
              <a:rPr lang="zh-CN" altLang="en-US" sz="2100" kern="0" dirty="0">
                <a:latin typeface="+mn-lt"/>
              </a:rPr>
              <a:t>第二级</a:t>
            </a:r>
          </a:p>
          <a:p>
            <a:pPr lvl="2"/>
            <a:r>
              <a:rPr lang="zh-CN" altLang="en-US" sz="1800" kern="0" dirty="0">
                <a:latin typeface="+mn-lt"/>
              </a:rPr>
              <a:t>第三级</a:t>
            </a:r>
          </a:p>
          <a:p>
            <a:pPr lvl="3"/>
            <a:r>
              <a:rPr lang="zh-CN" altLang="en-US" sz="1500" kern="0" dirty="0">
                <a:latin typeface="+mn-lt"/>
              </a:rPr>
              <a:t>第四级</a:t>
            </a:r>
          </a:p>
        </p:txBody>
      </p:sp>
      <p:sp>
        <p:nvSpPr>
          <p:cNvPr id="14" name="Rectangle 1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71301" y="64008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100" b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4C234528-C7A7-48E8-BE96-15E7A6625678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32349" y="64008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100" b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03940" y="64008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0" b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4124EDF5-87F7-4AC5-8292-B04417157FC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Rectangle 25"/>
          <p:cNvSpPr txBox="1">
            <a:spLocks noChangeArrowheads="1"/>
          </p:cNvSpPr>
          <p:nvPr/>
        </p:nvSpPr>
        <p:spPr bwMode="auto">
          <a:xfrm>
            <a:off x="371303" y="115888"/>
            <a:ext cx="10618122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3366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333399"/>
                </a:solidFill>
                <a:latin typeface="Verdana" pitchFamily="34" charset="0"/>
                <a:ea typeface="宋体" pitchFamily="2" charset="-122"/>
                <a:cs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333399"/>
                </a:solidFill>
                <a:latin typeface="Verdana" pitchFamily="34" charset="0"/>
                <a:ea typeface="宋体" pitchFamily="2" charset="-122"/>
                <a:cs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333399"/>
                </a:solidFill>
                <a:latin typeface="Verdana" pitchFamily="34" charset="0"/>
                <a:ea typeface="宋体" pitchFamily="2" charset="-122"/>
                <a:cs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333399"/>
                </a:solidFill>
                <a:latin typeface="Verdana" pitchFamily="34" charset="0"/>
                <a:ea typeface="宋体" pitchFamily="2" charset="-122"/>
                <a:cs typeface="Verdana" pitchFamily="34" charset="0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rgbClr val="333399"/>
                </a:solidFill>
                <a:latin typeface="Times New Roman" pitchFamily="18" charset="0"/>
                <a:ea typeface="宋体" pitchFamily="2" charset="-122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rgbClr val="333399"/>
                </a:solidFill>
                <a:latin typeface="Times New Roman" pitchFamily="18" charset="0"/>
                <a:ea typeface="宋体" pitchFamily="2" charset="-122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rgbClr val="333399"/>
                </a:solidFill>
                <a:latin typeface="Times New Roman" pitchFamily="18" charset="0"/>
                <a:ea typeface="宋体" pitchFamily="2" charset="-122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rgbClr val="333399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800" kern="0" dirty="0"/>
              <a:t>单击此处编辑母版标题样式</a:t>
            </a:r>
          </a:p>
        </p:txBody>
      </p:sp>
      <p:cxnSp>
        <p:nvCxnSpPr>
          <p:cNvPr id="18" name="Straight Connector 9"/>
          <p:cNvCxnSpPr/>
          <p:nvPr/>
        </p:nvCxnSpPr>
        <p:spPr>
          <a:xfrm>
            <a:off x="0" y="1111652"/>
            <a:ext cx="12192000" cy="0"/>
          </a:xfrm>
          <a:prstGeom prst="line">
            <a:avLst/>
          </a:prstGeom>
          <a:ln w="47625">
            <a:gradFill flip="none" rotWithShape="1">
              <a:gsLst>
                <a:gs pos="100000">
                  <a:srgbClr val="004274"/>
                </a:gs>
                <a:gs pos="0">
                  <a:srgbClr val="008E95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221" y="57944"/>
            <a:ext cx="990599" cy="99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63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3366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rgbClr val="333399"/>
          </a:solidFill>
          <a:latin typeface="Verdana" pitchFamily="34" charset="0"/>
          <a:ea typeface="宋体" pitchFamily="2" charset="-122"/>
          <a:cs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rgbClr val="333399"/>
          </a:solidFill>
          <a:latin typeface="Verdana" pitchFamily="34" charset="0"/>
          <a:ea typeface="宋体" pitchFamily="2" charset="-122"/>
          <a:cs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rgbClr val="333399"/>
          </a:solidFill>
          <a:latin typeface="Verdana" pitchFamily="34" charset="0"/>
          <a:ea typeface="宋体" pitchFamily="2" charset="-122"/>
          <a:cs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rgbClr val="333399"/>
          </a:solidFill>
          <a:latin typeface="Verdana" pitchFamily="34" charset="0"/>
          <a:ea typeface="宋体" pitchFamily="2" charset="-122"/>
          <a:cs typeface="Verdana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rgbClr val="333399"/>
          </a:solidFill>
          <a:latin typeface="Times New Roman" pitchFamily="18" charset="0"/>
          <a:ea typeface="宋体" pitchFamily="2" charset="-122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rgbClr val="333399"/>
          </a:solidFill>
          <a:latin typeface="Times New Roman" pitchFamily="18" charset="0"/>
          <a:ea typeface="宋体" pitchFamily="2" charset="-122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rgbClr val="333399"/>
          </a:solidFill>
          <a:latin typeface="Times New Roman" pitchFamily="18" charset="0"/>
          <a:ea typeface="宋体" pitchFamily="2" charset="-122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rgbClr val="333399"/>
          </a:solidFill>
          <a:latin typeface="Times New Roman" pitchFamily="18" charset="0"/>
          <a:ea typeface="宋体" pitchFamily="2" charset="-122"/>
        </a:defRPr>
      </a:lvl9pPr>
    </p:titleStyle>
    <p:bodyStyle>
      <a:lvl1pPr marL="257175" indent="-257175" algn="just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57213" indent="-214313" algn="just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57250" indent="-171450" algn="just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200150" indent="-171450" algn="just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543050" indent="-171450" algn="just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身份管理与数据访问控制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石瑞生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网络空间安全学院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299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0" dirty="0"/>
              <a:t>引言</a:t>
            </a:r>
            <a:endParaRPr lang="en-US" altLang="zh-CN" b="0" dirty="0"/>
          </a:p>
          <a:p>
            <a:pPr>
              <a:defRPr/>
            </a:pPr>
            <a:r>
              <a:rPr lang="zh-CN" altLang="en-US" b="0" dirty="0"/>
              <a:t>基本原语与挑战</a:t>
            </a:r>
            <a:endParaRPr lang="en-US" altLang="zh-CN" b="0" dirty="0"/>
          </a:p>
          <a:p>
            <a:pPr>
              <a:defRPr/>
            </a:pPr>
            <a:r>
              <a:rPr lang="zh-CN" altLang="en-US" b="0" dirty="0"/>
              <a:t>典型技术方案</a:t>
            </a:r>
            <a:endParaRPr lang="en-US" altLang="zh-CN" b="0" dirty="0"/>
          </a:p>
          <a:p>
            <a:pPr>
              <a:defRPr/>
            </a:pPr>
            <a:r>
              <a:rPr lang="zh-CN" altLang="en-US" b="0" dirty="0"/>
              <a:t>单点登录协议</a:t>
            </a:r>
            <a:endParaRPr lang="en-US" altLang="zh-CN" b="0" dirty="0"/>
          </a:p>
          <a:p>
            <a:pPr>
              <a:defRPr/>
            </a:pPr>
            <a:r>
              <a:rPr lang="en-US" altLang="zh-CN" b="0" dirty="0"/>
              <a:t>Cookie</a:t>
            </a:r>
          </a:p>
          <a:p>
            <a:pPr>
              <a:defRPr/>
            </a:pPr>
            <a:r>
              <a:rPr lang="en-US" altLang="zh-CN" b="0" dirty="0" err="1"/>
              <a:t>aPAKE</a:t>
            </a:r>
            <a:r>
              <a:rPr lang="en-US" altLang="zh-CN" b="0" dirty="0"/>
              <a:t> </a:t>
            </a:r>
            <a:r>
              <a:rPr lang="zh-CN" altLang="en-US" b="0" dirty="0"/>
              <a:t>协议</a:t>
            </a:r>
            <a:endParaRPr lang="en-US" altLang="zh-CN" b="0" dirty="0"/>
          </a:p>
          <a:p>
            <a:pPr>
              <a:defRPr/>
            </a:pPr>
            <a:r>
              <a:rPr lang="zh-CN" altLang="en-US" b="0" dirty="0"/>
              <a:t>小结</a:t>
            </a:r>
            <a:endParaRPr lang="en-US" altLang="zh-CN" sz="2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内容提纲</a:t>
            </a:r>
          </a:p>
        </p:txBody>
      </p:sp>
    </p:spTree>
    <p:extLst>
      <p:ext uri="{BB962C8B-B14F-4D97-AF65-F5344CB8AC3E}">
        <p14:creationId xmlns:p14="http://schemas.microsoft.com/office/powerpoint/2010/main" val="384245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7AFF17-A899-4AE3-97F4-8D1AAC05361B}"/>
              </a:ext>
            </a:extLst>
          </p:cNvPr>
          <p:cNvSpPr txBox="1"/>
          <p:nvPr/>
        </p:nvSpPr>
        <p:spPr>
          <a:xfrm>
            <a:off x="2913188" y="3113465"/>
            <a:ext cx="6365619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sz="5400" b="1">
                <a:gradFill>
                  <a:gsLst>
                    <a:gs pos="0">
                      <a:srgbClr val="2B84FE"/>
                    </a:gs>
                    <a:gs pos="100000">
                      <a:srgbClr val="20B1F4"/>
                    </a:gs>
                  </a:gsLst>
                  <a:lin ang="5400000" scaled="1"/>
                </a:gradFill>
                <a:latin typeface="微软雅黑"/>
                <a:ea typeface="微软雅黑"/>
              </a:defRPr>
            </a:lvl1pPr>
          </a:lstStyle>
          <a:p>
            <a:pPr>
              <a:defRPr/>
            </a:pPr>
            <a:r>
              <a:rPr lang="zh-CN" altLang="en-US" dirty="0"/>
              <a:t>引言</a:t>
            </a:r>
          </a:p>
        </p:txBody>
      </p:sp>
    </p:spTree>
    <p:extLst>
      <p:ext uri="{BB962C8B-B14F-4D97-AF65-F5344CB8AC3E}">
        <p14:creationId xmlns:p14="http://schemas.microsoft.com/office/powerpoint/2010/main" val="979542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保护个人隐私与数据安全：可以防止个人信息泄露和身份被他人冒用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b="0" dirty="0"/>
              <a:t>提高信息系统的安全性和可靠性：防止未经授权的访问和恶意攻击</a:t>
            </a:r>
            <a:r>
              <a:rPr lang="zh-CN" altLang="en-US" dirty="0"/>
              <a:t> </a:t>
            </a:r>
            <a:endParaRPr lang="en-US" altLang="zh-CN" dirty="0"/>
          </a:p>
          <a:p>
            <a:pPr algn="l"/>
            <a:r>
              <a:rPr lang="zh-CN" altLang="en-US" b="0" dirty="0"/>
              <a:t>简化用户的登录和授权过程，减少用户的重复操作并提高工作效率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为什么需要身份管理？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98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71301" y="1693333"/>
            <a:ext cx="3754385" cy="4586414"/>
          </a:xfrm>
        </p:spPr>
        <p:txBody>
          <a:bodyPr/>
          <a:lstStyle/>
          <a:p>
            <a:r>
              <a:rPr lang="zh-CN" altLang="en-US" dirty="0"/>
              <a:t>第一公里</a:t>
            </a:r>
            <a:r>
              <a:rPr lang="zh-CN" altLang="en-US" b="0" dirty="0"/>
              <a:t>：对最终用户的直接鉴别（如单点登录 </a:t>
            </a:r>
            <a:r>
              <a:rPr lang="en-US" altLang="zh-CN" b="0" dirty="0"/>
              <a:t>SSO</a:t>
            </a:r>
            <a:r>
              <a:rPr lang="zh-CN" altLang="en-US" b="0" dirty="0"/>
              <a:t>）</a:t>
            </a:r>
          </a:p>
          <a:p>
            <a:r>
              <a:rPr lang="zh-CN" altLang="en-US" dirty="0"/>
              <a:t>第二公里</a:t>
            </a:r>
            <a:r>
              <a:rPr lang="zh-CN" altLang="en-US" b="0" dirty="0"/>
              <a:t>：解决用户通过认证后身份凭证的分享问题（如 </a:t>
            </a:r>
            <a:r>
              <a:rPr lang="en-US" altLang="zh-CN" b="0" dirty="0"/>
              <a:t>OAuth</a:t>
            </a:r>
            <a:r>
              <a:rPr lang="zh-CN" altLang="en-US" b="0" dirty="0"/>
              <a:t>、联邦认证）</a:t>
            </a:r>
          </a:p>
          <a:p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身份管理的 “第一公里” 与 “第二公里”</a:t>
            </a:r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93F0C3C-9606-41E1-9A3F-7CF349B06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676" y="1786137"/>
            <a:ext cx="6747956" cy="328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3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7AFF17-A899-4AE3-97F4-8D1AAC05361B}"/>
              </a:ext>
            </a:extLst>
          </p:cNvPr>
          <p:cNvSpPr txBox="1"/>
          <p:nvPr/>
        </p:nvSpPr>
        <p:spPr>
          <a:xfrm>
            <a:off x="2913188" y="3113465"/>
            <a:ext cx="6365619" cy="17543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sz="5400" b="1">
                <a:gradFill>
                  <a:gsLst>
                    <a:gs pos="0">
                      <a:srgbClr val="2B84FE"/>
                    </a:gs>
                    <a:gs pos="100000">
                      <a:srgbClr val="20B1F4"/>
                    </a:gs>
                  </a:gsLst>
                  <a:lin ang="5400000" scaled="1"/>
                </a:gradFill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身份认证的四个基本原语及其挑战</a:t>
            </a:r>
          </a:p>
        </p:txBody>
      </p:sp>
    </p:spTree>
    <p:extLst>
      <p:ext uri="{BB962C8B-B14F-4D97-AF65-F5344CB8AC3E}">
        <p14:creationId xmlns:p14="http://schemas.microsoft.com/office/powerpoint/2010/main" val="4189172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413F11A-23E9-43E9-BEA5-4868122CE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CN" altLang="en-US" b="0" dirty="0"/>
              <a:t>定义：身份认证即身份识别与鉴定，确认实体为其声明的实体，用来鉴定用户身份的真伪。认证就是用户用系统进行实际业务操作之前，确定其身份。</a:t>
            </a:r>
            <a:r>
              <a:rPr lang="zh-CN" altLang="en-US" dirty="0"/>
              <a:t> </a:t>
            </a:r>
            <a:endParaRPr lang="en-US" altLang="zh-CN" dirty="0"/>
          </a:p>
          <a:p>
            <a:pPr algn="l"/>
            <a:r>
              <a:rPr lang="zh-CN" altLang="en-US" b="0" dirty="0"/>
              <a:t>应用场景：</a:t>
            </a:r>
          </a:p>
          <a:p>
            <a:pPr lvl="1" algn="l"/>
            <a:r>
              <a:rPr lang="zh-CN" altLang="en-US" b="0" dirty="0"/>
              <a:t>物理空间：佩戴身份卡进入公司、刷校园卡解锁门禁；</a:t>
            </a:r>
          </a:p>
          <a:p>
            <a:pPr lvl="1" algn="l"/>
            <a:r>
              <a:rPr lang="zh-CN" altLang="en-US" b="0" dirty="0"/>
              <a:t>本地认证：登录计算机口令、手机 </a:t>
            </a:r>
            <a:r>
              <a:rPr lang="en-US" altLang="zh-CN" b="0" dirty="0"/>
              <a:t>SIM </a:t>
            </a:r>
            <a:r>
              <a:rPr lang="zh-CN" altLang="en-US" b="0" dirty="0"/>
              <a:t>卡 </a:t>
            </a:r>
            <a:r>
              <a:rPr lang="en-US" altLang="zh-CN" b="0" dirty="0"/>
              <a:t>PIN</a:t>
            </a:r>
            <a:r>
              <a:rPr lang="zh-CN" altLang="en-US" b="0" dirty="0"/>
              <a:t>、</a:t>
            </a:r>
            <a:r>
              <a:rPr lang="en-US" altLang="zh-CN" b="0" dirty="0"/>
              <a:t>U </a:t>
            </a:r>
            <a:r>
              <a:rPr lang="zh-CN" altLang="en-US" b="0" dirty="0"/>
              <a:t>盾口令；</a:t>
            </a:r>
          </a:p>
          <a:p>
            <a:pPr lvl="1" algn="l"/>
            <a:r>
              <a:rPr lang="zh-CN" altLang="en-US" b="0" dirty="0"/>
              <a:t>远程认证：在线服务访问的第一道防线，因服务类型多、管理复杂更具挑战。</a:t>
            </a:r>
            <a:endParaRPr lang="en-US" altLang="zh-CN" b="0" dirty="0"/>
          </a:p>
          <a:p>
            <a:pPr algn="l"/>
            <a:r>
              <a:rPr lang="zh-CN" altLang="en-US" b="0" dirty="0"/>
              <a:t>前两类场景涉及物理空间或者对物理设备的访问，认证相对简单。</a:t>
            </a:r>
            <a:endParaRPr lang="en-US" altLang="zh-CN" b="0" dirty="0"/>
          </a:p>
          <a:p>
            <a:pPr algn="l"/>
            <a:r>
              <a:rPr lang="zh-CN" altLang="en-US" b="0" dirty="0"/>
              <a:t>在线服务的服务类型多，安全性参差不齐，重要性多样化，管理复杂而困难。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en-US" altLang="zh-CN" b="0" dirty="0"/>
          </a:p>
          <a:p>
            <a:pPr lvl="1"/>
            <a:endParaRPr lang="zh-CN" altLang="en-US" b="0" dirty="0"/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5A801F5-96B5-4D69-A209-4CB990850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B96AF17-D890-428D-9E0D-C0F193B70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什么是身份认证？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4320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8ED68EF-48D5-4045-95E8-89B71B066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0" y="1232705"/>
            <a:ext cx="11472639" cy="5047042"/>
          </a:xfrm>
        </p:spPr>
        <p:txBody>
          <a:bodyPr/>
          <a:lstStyle/>
          <a:p>
            <a:r>
              <a:rPr lang="zh-CN" altLang="en-US" dirty="0"/>
              <a:t>用户视角的三类基本方式</a:t>
            </a:r>
            <a:r>
              <a:rPr lang="zh-CN" altLang="en-US" b="0" dirty="0"/>
              <a:t>：</a:t>
            </a:r>
          </a:p>
          <a:p>
            <a:pPr lvl="1"/>
            <a:r>
              <a:rPr lang="zh-CN" altLang="en-US" b="0" dirty="0"/>
              <a:t>知道什么（</a:t>
            </a:r>
            <a:r>
              <a:rPr lang="en-US" altLang="zh-CN" b="0" dirty="0"/>
              <a:t>something you know</a:t>
            </a:r>
            <a:r>
              <a:rPr lang="zh-CN" altLang="en-US" b="0" dirty="0"/>
              <a:t>）：用户名 </a:t>
            </a:r>
            <a:r>
              <a:rPr lang="en-US" altLang="zh-CN" b="0" dirty="0"/>
              <a:t>+ </a:t>
            </a:r>
            <a:r>
              <a:rPr lang="zh-CN" altLang="en-US" b="0" dirty="0"/>
              <a:t>口令；</a:t>
            </a:r>
          </a:p>
          <a:p>
            <a:pPr lvl="1"/>
            <a:r>
              <a:rPr lang="zh-CN" altLang="en-US" b="0" dirty="0"/>
              <a:t>拥有什么（</a:t>
            </a:r>
            <a:r>
              <a:rPr lang="en-US" altLang="zh-CN" b="0" dirty="0"/>
              <a:t>something you have</a:t>
            </a:r>
            <a:r>
              <a:rPr lang="zh-CN" altLang="en-US" b="0" dirty="0"/>
              <a:t>）：银行卡、</a:t>
            </a:r>
            <a:r>
              <a:rPr lang="en-US" altLang="zh-CN" b="0" dirty="0"/>
              <a:t>USB Key</a:t>
            </a:r>
            <a:r>
              <a:rPr lang="zh-CN" altLang="en-US" b="0" dirty="0"/>
              <a:t>、</a:t>
            </a:r>
            <a:r>
              <a:rPr lang="en-US" altLang="zh-CN" b="0" dirty="0"/>
              <a:t>OTP </a:t>
            </a:r>
            <a:r>
              <a:rPr lang="zh-CN" altLang="en-US" b="0" dirty="0"/>
              <a:t>令牌、手机 </a:t>
            </a:r>
            <a:r>
              <a:rPr lang="en-US" altLang="zh-CN" b="0" dirty="0"/>
              <a:t>SIM </a:t>
            </a:r>
            <a:r>
              <a:rPr lang="zh-CN" altLang="en-US" b="0" dirty="0"/>
              <a:t>卡；</a:t>
            </a:r>
          </a:p>
          <a:p>
            <a:pPr lvl="1"/>
            <a:r>
              <a:rPr lang="zh-CN" altLang="en-US" b="0" dirty="0"/>
              <a:t>你是谁（</a:t>
            </a:r>
            <a:r>
              <a:rPr lang="en-US" altLang="zh-CN" b="0" dirty="0"/>
              <a:t>who you are</a:t>
            </a:r>
            <a:r>
              <a:rPr lang="zh-CN" altLang="en-US" b="0" dirty="0"/>
              <a:t>）：指纹、虹膜、人脸等生物特征；</a:t>
            </a:r>
          </a:p>
          <a:p>
            <a:pPr lvl="1"/>
            <a:r>
              <a:rPr lang="zh-CN" altLang="en-US" b="0" dirty="0"/>
              <a:t>第四类（扩展）：认识的人（</a:t>
            </a:r>
            <a:r>
              <a:rPr lang="en-US" altLang="zh-CN" b="0" dirty="0"/>
              <a:t>somebody you know</a:t>
            </a:r>
            <a:r>
              <a:rPr lang="zh-CN" altLang="en-US" b="0" dirty="0"/>
              <a:t>），通过他人验证器协助认证。</a:t>
            </a:r>
          </a:p>
          <a:p>
            <a:r>
              <a:rPr lang="zh-CN" altLang="en-US" dirty="0"/>
              <a:t>技术实现视角</a:t>
            </a:r>
            <a:r>
              <a:rPr lang="zh-CN" altLang="en-US" b="0" dirty="0"/>
              <a:t>：</a:t>
            </a:r>
          </a:p>
          <a:p>
            <a:pPr lvl="1"/>
            <a:r>
              <a:rPr lang="zh-CN" altLang="en-US" b="0" dirty="0"/>
              <a:t>对称密钥认证体系：客户端与服务器共享密钥（如密码、短信验证码、传统生物识别）；</a:t>
            </a:r>
          </a:p>
          <a:p>
            <a:pPr lvl="1"/>
            <a:r>
              <a:rPr lang="zh-CN" altLang="en-US" b="0" dirty="0"/>
              <a:t>公私钥对认证体系：客户端与服务器用非对称密钥（如智能卡、</a:t>
            </a:r>
            <a:r>
              <a:rPr lang="en-US" altLang="zh-CN" b="0" dirty="0"/>
              <a:t>USB Key</a:t>
            </a:r>
            <a:r>
              <a:rPr lang="zh-CN" altLang="en-US" b="0" dirty="0"/>
              <a:t>、</a:t>
            </a:r>
            <a:r>
              <a:rPr lang="en-US" altLang="zh-CN" b="0" dirty="0"/>
              <a:t>FIDO </a:t>
            </a:r>
            <a:r>
              <a:rPr lang="zh-CN" altLang="en-US" b="0" dirty="0"/>
              <a:t>协议）。</a:t>
            </a:r>
          </a:p>
          <a:p>
            <a:r>
              <a:rPr lang="zh-CN" altLang="en-US" b="0" dirty="0"/>
              <a:t>身份认证有四个基本原语：①口令；②安全令牌；③生物特征；④公钥（证书）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86A2511-E92D-475A-A284-768804B35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8CAF927-2A5E-4B2E-9C26-7870373E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身份认证的两种分类方式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575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5B5070C-3B9F-4AB7-B367-A28CFAEC6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定义：由字母、数字、特殊字符构成的字符串，通过明文或口令推导实现认证。</a:t>
            </a:r>
          </a:p>
          <a:p>
            <a:r>
              <a:rPr lang="zh-CN" altLang="en-US" b="0" dirty="0"/>
              <a:t>工作流程：用户输入用户名 </a:t>
            </a:r>
            <a:r>
              <a:rPr lang="en-US" altLang="zh-CN" b="0" dirty="0"/>
              <a:t>+ </a:t>
            </a:r>
            <a:r>
              <a:rPr lang="zh-CN" altLang="en-US" b="0" dirty="0"/>
              <a:t>口令→服务器与数据库比对→返回认证结果。</a:t>
            </a:r>
          </a:p>
          <a:p>
            <a:r>
              <a:rPr lang="zh-CN" altLang="en-US" b="0" dirty="0"/>
              <a:t>优点：简单（无需设备）、灵活（可随时修改）。</a:t>
            </a:r>
            <a:endParaRPr lang="en-US" altLang="zh-CN" b="0" dirty="0"/>
          </a:p>
          <a:p>
            <a:r>
              <a:rPr lang="zh-CN" altLang="en-US" b="0" dirty="0"/>
              <a:t>缺点与挑战：</a:t>
            </a:r>
            <a:endParaRPr lang="en-US" altLang="zh-CN" b="0" dirty="0"/>
          </a:p>
          <a:p>
            <a:pPr lvl="1"/>
            <a:r>
              <a:rPr lang="zh-CN" altLang="en-US" b="0" dirty="0"/>
              <a:t>低熵风险：易遭离线破解、在线猜测攻击，</a:t>
            </a:r>
            <a:r>
              <a:rPr lang="en-US" altLang="zh-CN" b="0" dirty="0"/>
              <a:t>8 </a:t>
            </a:r>
            <a:r>
              <a:rPr lang="zh-CN" altLang="en-US" b="0" dirty="0"/>
              <a:t>字符常用口令熵值仅 </a:t>
            </a:r>
            <a:r>
              <a:rPr lang="en-US" altLang="zh-CN" b="0" dirty="0"/>
              <a:t>37.6 </a:t>
            </a:r>
            <a:r>
              <a:rPr lang="zh-CN" altLang="en-US" b="0" dirty="0"/>
              <a:t>位（表 </a:t>
            </a:r>
            <a:r>
              <a:rPr lang="en-US" altLang="zh-CN" b="0" dirty="0"/>
              <a:t>4.1</a:t>
            </a:r>
            <a:r>
              <a:rPr lang="zh-CN" altLang="en-US" b="0" dirty="0"/>
              <a:t>）；</a:t>
            </a:r>
          </a:p>
          <a:p>
            <a:pPr lvl="1"/>
            <a:r>
              <a:rPr lang="zh-CN" altLang="en-US" b="0" dirty="0"/>
              <a:t>安全存储问题：如拖库攻击（黑客盗走数据库明文口令）；</a:t>
            </a:r>
          </a:p>
          <a:p>
            <a:pPr lvl="1"/>
            <a:r>
              <a:rPr lang="zh-CN" altLang="en-US" b="0" dirty="0"/>
              <a:t>口令重用问题：撞库攻击（用泄露的账号密码尝试登录其他平台）；</a:t>
            </a:r>
          </a:p>
          <a:p>
            <a:pPr lvl="1"/>
            <a:r>
              <a:rPr lang="zh-CN" altLang="en-US" b="0" dirty="0"/>
              <a:t>安全使用问题：钓鱼攻击（诱骗泄露口令）、中间人攻击（窃听明文传输）；</a:t>
            </a:r>
          </a:p>
          <a:p>
            <a:pPr lvl="1"/>
            <a:r>
              <a:rPr lang="zh-CN" altLang="en-US" b="0" dirty="0"/>
              <a:t>忘记密码问题：重置口令机制漏洞可能被利用。</a:t>
            </a:r>
          </a:p>
          <a:p>
            <a:pPr lvl="1"/>
            <a:endParaRPr lang="zh-CN" altLang="en-US" b="0" dirty="0"/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D53453F-159A-4234-B2B1-9466365A2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2BA1D65-8762-415F-8CC2-E8770E28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原语 </a:t>
            </a:r>
            <a:r>
              <a:rPr lang="en-US" altLang="zh-CN" dirty="0"/>
              <a:t>1 - </a:t>
            </a:r>
            <a:r>
              <a:rPr lang="zh-CN" altLang="en-US" dirty="0"/>
              <a:t>基于口令的认证</a:t>
            </a:r>
          </a:p>
        </p:txBody>
      </p:sp>
    </p:spTree>
    <p:extLst>
      <p:ext uri="{BB962C8B-B14F-4D97-AF65-F5344CB8AC3E}">
        <p14:creationId xmlns:p14="http://schemas.microsoft.com/office/powerpoint/2010/main" val="1845558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0BBB0A7-3818-4A03-B4E3-58D6FBFF2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54FE9F9-C010-4E27-B70B-0ACC1A44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口令破解核心逻辑与安全强度要求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0545D02-028C-4CE4-8162-5C1F2BE02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破解方法</a:t>
            </a:r>
            <a:endParaRPr lang="en-US" altLang="zh-CN" sz="2000" dirty="0"/>
          </a:p>
          <a:p>
            <a:pPr lvl="1"/>
            <a:r>
              <a:rPr lang="zh-CN" altLang="en-US" sz="2000" b="0" dirty="0"/>
              <a:t>字典破解（首选）：基于用户信息（姓名 </a:t>
            </a:r>
            <a:r>
              <a:rPr lang="en-US" altLang="zh-CN" sz="2000" b="0" dirty="0"/>
              <a:t>/ </a:t>
            </a:r>
            <a:r>
              <a:rPr lang="zh-CN" altLang="en-US" sz="2000" b="0" dirty="0"/>
              <a:t>生日等）</a:t>
            </a:r>
            <a:r>
              <a:rPr lang="en-US" altLang="zh-CN" sz="2000" b="0" dirty="0"/>
              <a:t>+ </a:t>
            </a:r>
            <a:r>
              <a:rPr lang="zh-CN" altLang="en-US" sz="2000" b="0" dirty="0"/>
              <a:t>长度猜测生成字典，耗时短、成功率高；</a:t>
            </a:r>
          </a:p>
          <a:p>
            <a:pPr lvl="1"/>
            <a:r>
              <a:rPr lang="zh-CN" altLang="en-US" sz="2000" b="0" dirty="0"/>
              <a:t>暴力破解：设定字符集（如字母 </a:t>
            </a:r>
            <a:r>
              <a:rPr lang="en-US" altLang="zh-CN" sz="2000" b="0" dirty="0"/>
              <a:t>+ </a:t>
            </a:r>
            <a:r>
              <a:rPr lang="zh-CN" altLang="en-US" sz="2000" b="0" dirty="0"/>
              <a:t>数字）和长度（如≤</a:t>
            </a:r>
            <a:r>
              <a:rPr lang="en-US" altLang="zh-CN" sz="2000" b="0" dirty="0"/>
              <a:t>8 </a:t>
            </a:r>
            <a:r>
              <a:rPr lang="zh-CN" altLang="en-US" sz="2000" b="0" dirty="0"/>
              <a:t>位），逐个尝试所有组合，耗时受字符集 </a:t>
            </a:r>
            <a:r>
              <a:rPr lang="en-US" altLang="zh-CN" sz="2000" b="0" dirty="0"/>
              <a:t>/ </a:t>
            </a:r>
            <a:r>
              <a:rPr lang="zh-CN" altLang="en-US" sz="2000" b="0" dirty="0"/>
              <a:t>长度影响大。</a:t>
            </a:r>
          </a:p>
          <a:p>
            <a:r>
              <a:rPr lang="zh-CN" altLang="en-US" sz="2000" dirty="0"/>
              <a:t>破解方式（</a:t>
            </a:r>
            <a:r>
              <a:rPr lang="en-US" altLang="zh-CN" sz="2000" dirty="0"/>
              <a:t>2 </a:t>
            </a:r>
            <a:r>
              <a:rPr lang="zh-CN" altLang="en-US" sz="2000" dirty="0"/>
              <a:t>类）</a:t>
            </a:r>
            <a:endParaRPr lang="zh-CN" altLang="en-US" sz="2000" b="0" dirty="0"/>
          </a:p>
          <a:p>
            <a:pPr lvl="1"/>
            <a:r>
              <a:rPr lang="zh-CN" altLang="en-US" sz="2000" b="0" dirty="0"/>
              <a:t>离线破解：获取加密口令文件副本，离线比对加密候选口令，速度快、不易察觉；</a:t>
            </a:r>
          </a:p>
          <a:p>
            <a:pPr lvl="1"/>
            <a:r>
              <a:rPr lang="zh-CN" altLang="en-US" sz="2000" b="0" dirty="0"/>
              <a:t>在线破解：尝试登录目标主机，先破低级账号获取口令文件，再离线破解高权限口令。</a:t>
            </a:r>
          </a:p>
          <a:p>
            <a:r>
              <a:rPr lang="zh-CN" altLang="en-US" sz="2000" dirty="0"/>
              <a:t>安全强度与破解逻辑</a:t>
            </a:r>
            <a:endParaRPr lang="zh-CN" altLang="en-US" sz="2000" b="0" dirty="0"/>
          </a:p>
          <a:p>
            <a:pPr lvl="1"/>
            <a:r>
              <a:rPr lang="en-US" altLang="zh-CN" sz="2000" b="0" dirty="0"/>
              <a:t>128 </a:t>
            </a:r>
            <a:r>
              <a:rPr lang="zh-CN" altLang="en-US" sz="2000" b="0" dirty="0"/>
              <a:t>位安全强度要求：</a:t>
            </a:r>
            <a:r>
              <a:rPr lang="en-US" altLang="zh-CN" sz="2000" b="0" dirty="0"/>
              <a:t>68 </a:t>
            </a:r>
            <a:r>
              <a:rPr lang="zh-CN" altLang="en-US" sz="2000" b="0" dirty="0"/>
              <a:t>个可用字符需设置 </a:t>
            </a:r>
            <a:r>
              <a:rPr lang="en-US" altLang="zh-CN" sz="2000" b="0" dirty="0"/>
              <a:t>21 </a:t>
            </a:r>
            <a:r>
              <a:rPr lang="zh-CN" altLang="en-US" sz="2000" b="0" dirty="0"/>
              <a:t>位口令（现实中极少使用，记忆难度大）；</a:t>
            </a:r>
          </a:p>
          <a:p>
            <a:pPr lvl="1"/>
            <a:r>
              <a:rPr lang="zh-CN" altLang="en-US" sz="2000" b="0" dirty="0"/>
              <a:t>破解设口令上限原因：字典破解低投入可破多数账号，定向攻击结合隐私信息更高效。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2158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605633D-B469-4B7A-8988-F0E2CBD8E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11634432" cy="5047042"/>
          </a:xfrm>
        </p:spPr>
        <p:txBody>
          <a:bodyPr/>
          <a:lstStyle/>
          <a:p>
            <a:r>
              <a:rPr lang="zh-CN" altLang="en-US" b="0" dirty="0"/>
              <a:t>定义：认证令牌是个小设备，每次使用时生成一个新的随机数，这个随机数是认证的基础，用作一次性口令。每个认证令牌预置了一个唯一数字，称为随机种子</a:t>
            </a:r>
            <a:r>
              <a:rPr lang="zh-CN" altLang="en-US" dirty="0"/>
              <a:t> 。</a:t>
            </a:r>
            <a:endParaRPr lang="en-US" altLang="zh-CN" dirty="0"/>
          </a:p>
          <a:p>
            <a:pPr algn="l"/>
            <a:r>
              <a:rPr lang="zh-CN" altLang="en-US" b="0" dirty="0"/>
              <a:t>如果用户丢失了认证令牌，获得认证令牌的人能否冒用呢？为了处理这种情况，认证令牌一般都需要 </a:t>
            </a:r>
            <a:r>
              <a:rPr lang="en-US" altLang="zh-CN" b="0" dirty="0"/>
              <a:t>PIN </a:t>
            </a:r>
            <a:r>
              <a:rPr lang="zh-CN" altLang="en-US" b="0" dirty="0"/>
              <a:t>来保护：只有输入正确 </a:t>
            </a:r>
            <a:r>
              <a:rPr lang="en-US" altLang="zh-CN" b="0" dirty="0"/>
              <a:t>PIN</a:t>
            </a:r>
            <a:r>
              <a:rPr lang="zh-CN" altLang="en-US" b="0" dirty="0"/>
              <a:t>，才能够用令牌生成一次性口令</a:t>
            </a:r>
            <a:r>
              <a:rPr lang="zh-CN" altLang="en-US" dirty="0"/>
              <a:t> 。</a:t>
            </a:r>
            <a:r>
              <a:rPr lang="zh-CN" altLang="en-US" b="0" dirty="0"/>
              <a:t>认证令牌使用</a:t>
            </a:r>
            <a:r>
              <a:rPr lang="zh-CN" altLang="en-US" dirty="0"/>
              <a:t>双因子认证</a:t>
            </a:r>
            <a:r>
              <a:rPr lang="zh-CN" altLang="en-US" b="0" dirty="0"/>
              <a:t>（ </a:t>
            </a:r>
            <a:r>
              <a:rPr lang="en-US" altLang="zh-CN" b="0" dirty="0"/>
              <a:t>Two-Factor Authentication</a:t>
            </a:r>
            <a:r>
              <a:rPr lang="zh-CN" altLang="en-US" b="0" dirty="0"/>
              <a:t>， </a:t>
            </a:r>
            <a:r>
              <a:rPr lang="en-US" altLang="zh-CN" b="0" dirty="0"/>
              <a:t>2FA</a:t>
            </a:r>
            <a:r>
              <a:rPr lang="zh-CN" altLang="en-US" b="0" dirty="0"/>
              <a:t>）模式，既需要拥有令牌，也需要知道 </a:t>
            </a:r>
            <a:r>
              <a:rPr lang="en-US" altLang="zh-CN" b="0" dirty="0"/>
              <a:t>PIN</a:t>
            </a:r>
            <a:r>
              <a:rPr lang="zh-CN" altLang="en-US" b="0" dirty="0"/>
              <a:t>。 </a:t>
            </a:r>
          </a:p>
          <a:p>
            <a:r>
              <a:rPr lang="zh-CN" altLang="en-US" b="0" dirty="0"/>
              <a:t>主要类型：</a:t>
            </a:r>
          </a:p>
          <a:p>
            <a:pPr lvl="1"/>
            <a:r>
              <a:rPr lang="zh-CN" altLang="en-US" b="0" dirty="0"/>
              <a:t>软件令牌：即基于 </a:t>
            </a:r>
            <a:r>
              <a:rPr lang="en-US" altLang="zh-CN" b="0" dirty="0"/>
              <a:t>HMAC </a:t>
            </a:r>
            <a:r>
              <a:rPr lang="zh-CN" altLang="en-US" b="0" dirty="0"/>
              <a:t>的一次性口令（ </a:t>
            </a:r>
            <a:r>
              <a:rPr lang="en-US" altLang="zh-CN" b="0" dirty="0" err="1"/>
              <a:t>HMACBased</a:t>
            </a:r>
            <a:r>
              <a:rPr lang="en-US" altLang="zh-CN" b="0" dirty="0"/>
              <a:t> One Time Password</a:t>
            </a:r>
            <a:r>
              <a:rPr lang="zh-CN" altLang="en-US" b="0" dirty="0"/>
              <a:t>， </a:t>
            </a:r>
            <a:r>
              <a:rPr lang="en-US" altLang="zh-CN" b="0" dirty="0"/>
              <a:t>HOTP</a:t>
            </a:r>
            <a:r>
              <a:rPr lang="zh-CN" altLang="en-US" b="0" dirty="0"/>
              <a:t>）和基于时间的一次性口令（ </a:t>
            </a:r>
            <a:r>
              <a:rPr lang="en-US" altLang="zh-CN" b="0" dirty="0"/>
              <a:t>Time-Based One Time Password</a:t>
            </a:r>
            <a:r>
              <a:rPr lang="zh-CN" altLang="en-US" b="0" dirty="0"/>
              <a:t>， </a:t>
            </a:r>
            <a:r>
              <a:rPr lang="en-US" altLang="zh-CN" b="0" dirty="0"/>
              <a:t>TOTP</a:t>
            </a:r>
            <a:r>
              <a:rPr lang="zh-CN" altLang="en-US" b="0" dirty="0"/>
              <a:t>），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zh-CN" altLang="en-US" b="0" dirty="0"/>
              <a:t>，如谷歌 </a:t>
            </a:r>
            <a:r>
              <a:rPr lang="en-US" altLang="zh-CN" b="0" dirty="0"/>
              <a:t>/ </a:t>
            </a:r>
            <a:r>
              <a:rPr lang="zh-CN" altLang="en-US" b="0" dirty="0"/>
              <a:t>微软认证器、</a:t>
            </a:r>
            <a:r>
              <a:rPr lang="en-US" altLang="zh-CN" b="0" dirty="0" err="1"/>
              <a:t>DuoMobile</a:t>
            </a:r>
            <a:r>
              <a:rPr lang="zh-CN" altLang="en-US" b="0" dirty="0"/>
              <a:t>；</a:t>
            </a:r>
          </a:p>
          <a:p>
            <a:pPr lvl="1"/>
            <a:r>
              <a:rPr lang="zh-CN" altLang="en-US" b="0" dirty="0"/>
              <a:t>按需令牌：通过短信 </a:t>
            </a:r>
            <a:r>
              <a:rPr lang="en-US" altLang="zh-CN" b="0" dirty="0"/>
              <a:t>/ </a:t>
            </a:r>
            <a:r>
              <a:rPr lang="zh-CN" altLang="en-US" b="0" dirty="0"/>
              <a:t>语音发送验证码，手机成为主流验证工具。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75A8F6E-22DE-4DB1-8D57-6ACC1ADD6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104F3C2-821D-45E7-80EF-A3590B65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原语 </a:t>
            </a:r>
            <a:r>
              <a:rPr lang="en-US" altLang="zh-CN" dirty="0"/>
              <a:t>2 - </a:t>
            </a:r>
            <a:r>
              <a:rPr lang="zh-CN" altLang="en-US" dirty="0"/>
              <a:t>基于令牌的认证</a:t>
            </a:r>
          </a:p>
        </p:txBody>
      </p:sp>
    </p:spTree>
    <p:extLst>
      <p:ext uri="{BB962C8B-B14F-4D97-AF65-F5344CB8AC3E}">
        <p14:creationId xmlns:p14="http://schemas.microsoft.com/office/powerpoint/2010/main" val="1338678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873F385-A7EC-4CA9-B92B-3939BBCE0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暴力破解风险：需限制错误次数防攻击；</a:t>
            </a:r>
          </a:p>
          <a:p>
            <a:r>
              <a:rPr lang="zh-CN" altLang="en-US" b="0" dirty="0"/>
              <a:t>数据库安全：令牌秘密集中存储，数据库入侵威胁大（如 </a:t>
            </a:r>
            <a:r>
              <a:rPr lang="en-US" altLang="zh-CN" b="0" dirty="0"/>
              <a:t>2011 </a:t>
            </a:r>
            <a:r>
              <a:rPr lang="zh-CN" altLang="en-US" b="0" dirty="0"/>
              <a:t>年 </a:t>
            </a:r>
            <a:r>
              <a:rPr lang="en-US" altLang="zh-CN" b="0" dirty="0"/>
              <a:t>RSA SecurID </a:t>
            </a:r>
            <a:r>
              <a:rPr lang="zh-CN" altLang="en-US" b="0" dirty="0"/>
              <a:t>数据泄露）；</a:t>
            </a:r>
          </a:p>
          <a:p>
            <a:r>
              <a:rPr lang="zh-CN" altLang="en-US" b="0" dirty="0"/>
              <a:t>按需令牌漏洞：</a:t>
            </a:r>
          </a:p>
          <a:p>
            <a:pPr lvl="1"/>
            <a:r>
              <a:rPr lang="zh-CN" altLang="en-US" b="0" dirty="0"/>
              <a:t>短信验证码：网关入侵、七号信令缺陷导致拦截、</a:t>
            </a:r>
            <a:r>
              <a:rPr lang="en-US" altLang="zh-CN" b="0" dirty="0"/>
              <a:t>GSM </a:t>
            </a:r>
            <a:r>
              <a:rPr lang="zh-CN" altLang="en-US" b="0" dirty="0"/>
              <a:t>窃听、终端恶意软件监控；</a:t>
            </a:r>
          </a:p>
          <a:p>
            <a:pPr lvl="1"/>
            <a:r>
              <a:rPr lang="zh-CN" altLang="en-US" b="0" dirty="0"/>
              <a:t>语音令牌：面临类似短信的拦截与恶意软件威胁。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2E151F4-D95F-436C-A36D-AAF7C7FD3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BA637BF-8065-433B-B016-B4D58AB2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令牌认证的挑战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6BAED4-9B9B-42CC-B129-E90E32A30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80" y="4418439"/>
            <a:ext cx="6854570" cy="243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98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5F05FB1-923D-4AD5-8B9B-7C4178B91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定义：利用生理特征（指纹、虹膜）或行为特征（步态、击键习惯）认证，需样本近似匹配。</a:t>
            </a:r>
          </a:p>
          <a:p>
            <a:r>
              <a:rPr lang="zh-CN" altLang="en-US" b="0" dirty="0"/>
              <a:t>工作流程：注册时存储生物特征样本→认证时采集样本与数据库比对→基于假接受率 </a:t>
            </a:r>
            <a:r>
              <a:rPr lang="en-US" altLang="zh-CN" b="0" dirty="0"/>
              <a:t>/ </a:t>
            </a:r>
            <a:r>
              <a:rPr lang="zh-CN" altLang="en-US" b="0" dirty="0"/>
              <a:t>假拒绝率判断。</a:t>
            </a:r>
          </a:p>
          <a:p>
            <a:r>
              <a:rPr lang="zh-CN" altLang="en-US" b="0" dirty="0"/>
              <a:t>优点：唯一性强、验证便捷。</a:t>
            </a:r>
            <a:endParaRPr lang="en-US" altLang="zh-CN" b="0" dirty="0"/>
          </a:p>
          <a:p>
            <a:r>
              <a:rPr lang="zh-CN" altLang="en-US" b="0" dirty="0"/>
              <a:t>生物特征认证的挑战：</a:t>
            </a:r>
            <a:endParaRPr lang="en-US" altLang="zh-CN" b="0" dirty="0"/>
          </a:p>
          <a:p>
            <a:pPr lvl="1"/>
            <a:r>
              <a:rPr lang="zh-CN" altLang="en-US" b="0" dirty="0"/>
              <a:t>不可更改性：生物特征泄露后无法更换，存在长期风险；</a:t>
            </a:r>
          </a:p>
          <a:p>
            <a:pPr lvl="1"/>
            <a:r>
              <a:rPr lang="zh-CN" altLang="en-US" b="0" dirty="0"/>
              <a:t>仿冒攻击：假指纹欺骗手机识别系统（</a:t>
            </a:r>
            <a:r>
              <a:rPr lang="en-US" altLang="zh-CN" b="0" dirty="0"/>
              <a:t>2017 </a:t>
            </a:r>
            <a:r>
              <a:rPr lang="zh-CN" altLang="en-US" b="0" dirty="0"/>
              <a:t>年 </a:t>
            </a:r>
            <a:r>
              <a:rPr lang="en-US" altLang="zh-CN" b="0" dirty="0" err="1"/>
              <a:t>GeekPwn</a:t>
            </a:r>
            <a:r>
              <a:rPr lang="en-US" altLang="zh-CN" b="0" dirty="0"/>
              <a:t> </a:t>
            </a:r>
            <a:r>
              <a:rPr lang="zh-CN" altLang="en-US" b="0" dirty="0"/>
              <a:t>大赛案例）；</a:t>
            </a:r>
          </a:p>
          <a:p>
            <a:pPr lvl="1"/>
            <a:r>
              <a:rPr lang="zh-CN" altLang="en-US" b="0" dirty="0"/>
              <a:t>解决方案：活体检测技术（如 </a:t>
            </a:r>
            <a:r>
              <a:rPr lang="en-US" altLang="zh-CN" b="0" dirty="0"/>
              <a:t>Apple </a:t>
            </a:r>
            <a:r>
              <a:rPr lang="zh-CN" altLang="en-US" b="0" dirty="0"/>
              <a:t>偏振光检测指纹、汇顶科技心率信号识别）。</a:t>
            </a:r>
          </a:p>
          <a:p>
            <a:endParaRPr lang="zh-CN" altLang="en-US" dirty="0"/>
          </a:p>
          <a:p>
            <a:pPr lvl="1"/>
            <a:endParaRPr lang="zh-CN" altLang="en-US" b="0" dirty="0"/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54876E4-2569-4AEC-BA5A-41D4B9737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413124A-9523-44E2-8E29-9DD1CB88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原语 </a:t>
            </a:r>
            <a:r>
              <a:rPr lang="en-US" altLang="zh-CN" dirty="0"/>
              <a:t>3 - </a:t>
            </a:r>
            <a:r>
              <a:rPr lang="zh-CN" altLang="en-US" dirty="0"/>
              <a:t>基于生物特征的认证</a:t>
            </a:r>
          </a:p>
        </p:txBody>
      </p:sp>
    </p:spTree>
    <p:extLst>
      <p:ext uri="{BB962C8B-B14F-4D97-AF65-F5344CB8AC3E}">
        <p14:creationId xmlns:p14="http://schemas.microsoft.com/office/powerpoint/2010/main" val="2793927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58EF230-231A-4B10-BD1C-AA2727FD9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原理：用户用私钥签名信息→服务器用公钥验证，通过 </a:t>
            </a:r>
            <a:r>
              <a:rPr lang="en-US" altLang="zh-CN" b="0" dirty="0"/>
              <a:t>PKI </a:t>
            </a:r>
            <a:r>
              <a:rPr lang="zh-CN" altLang="en-US" b="0" dirty="0"/>
              <a:t>体系绑定公钥与身份（数字证书）。</a:t>
            </a:r>
          </a:p>
          <a:p>
            <a:r>
              <a:rPr lang="zh-CN" altLang="en-US" b="0" dirty="0"/>
              <a:t>数字证书：包含持有者身份、公钥及 </a:t>
            </a:r>
            <a:r>
              <a:rPr lang="en-US" altLang="zh-CN" b="0" dirty="0"/>
              <a:t>CA </a:t>
            </a:r>
            <a:r>
              <a:rPr lang="zh-CN" altLang="en-US" b="0" dirty="0"/>
              <a:t>签名，提供身份认证、完整性等安全服务。</a:t>
            </a:r>
          </a:p>
          <a:p>
            <a:r>
              <a:rPr lang="zh-CN" altLang="en-US" b="0" dirty="0"/>
              <a:t>认证流程（</a:t>
            </a:r>
            <a:r>
              <a:rPr lang="en-US" altLang="zh-CN" b="0" dirty="0"/>
              <a:t>A </a:t>
            </a:r>
            <a:r>
              <a:rPr lang="zh-CN" altLang="en-US" b="0" dirty="0"/>
              <a:t>验证 </a:t>
            </a:r>
            <a:r>
              <a:rPr lang="en-US" altLang="zh-CN" b="0" dirty="0"/>
              <a:t>B</a:t>
            </a:r>
            <a:r>
              <a:rPr lang="zh-CN" altLang="en-US" b="0" dirty="0"/>
              <a:t>）：</a:t>
            </a:r>
            <a:r>
              <a:rPr lang="en-US" altLang="zh-CN" b="0" dirty="0"/>
              <a:t>A </a:t>
            </a:r>
            <a:r>
              <a:rPr lang="zh-CN" altLang="en-US" b="0" dirty="0"/>
              <a:t>用 </a:t>
            </a:r>
            <a:r>
              <a:rPr lang="en-US" altLang="zh-CN" b="0" dirty="0"/>
              <a:t>CA </a:t>
            </a:r>
            <a:r>
              <a:rPr lang="zh-CN" altLang="en-US" b="0" dirty="0"/>
              <a:t>公钥验证 </a:t>
            </a:r>
            <a:r>
              <a:rPr lang="en-US" altLang="zh-CN" b="0" dirty="0"/>
              <a:t>B </a:t>
            </a:r>
            <a:r>
              <a:rPr lang="zh-CN" altLang="en-US" b="0" dirty="0"/>
              <a:t>的证书→</a:t>
            </a:r>
            <a:r>
              <a:rPr lang="en-US" altLang="zh-CN" b="0" dirty="0"/>
              <a:t>B </a:t>
            </a:r>
            <a:r>
              <a:rPr lang="zh-CN" altLang="en-US" b="0" dirty="0"/>
              <a:t>用私钥签名口令→</a:t>
            </a:r>
            <a:r>
              <a:rPr lang="en-US" altLang="zh-CN" b="0" dirty="0"/>
              <a:t>A </a:t>
            </a:r>
            <a:r>
              <a:rPr lang="zh-CN" altLang="en-US" b="0" dirty="0"/>
              <a:t>用 </a:t>
            </a:r>
            <a:r>
              <a:rPr lang="en-US" altLang="zh-CN" b="0" dirty="0"/>
              <a:t>B </a:t>
            </a:r>
            <a:r>
              <a:rPr lang="zh-CN" altLang="en-US" b="0" dirty="0"/>
              <a:t>的公钥验证签名。</a:t>
            </a:r>
            <a:endParaRPr lang="en-US" altLang="zh-CN" b="0" dirty="0"/>
          </a:p>
          <a:p>
            <a:r>
              <a:rPr lang="zh-CN" altLang="en-US" b="0" dirty="0"/>
              <a:t>公钥认证的核心挑战：</a:t>
            </a:r>
            <a:endParaRPr lang="en-US" altLang="zh-CN" b="0" dirty="0"/>
          </a:p>
          <a:p>
            <a:pPr lvl="1"/>
            <a:r>
              <a:rPr lang="zh-CN" altLang="en-US" b="0" dirty="0"/>
              <a:t>私钥安全与使用方便的矛盾：</a:t>
            </a:r>
          </a:p>
          <a:p>
            <a:pPr lvl="2"/>
            <a:r>
              <a:rPr lang="zh-CN" altLang="en-US" b="0" dirty="0"/>
              <a:t>安全要求：保密性（防泄露）、存储安全（</a:t>
            </a:r>
            <a:r>
              <a:rPr lang="en-US" altLang="zh-CN" b="0" dirty="0"/>
              <a:t>HSM / </a:t>
            </a:r>
            <a:r>
              <a:rPr lang="zh-CN" altLang="en-US" b="0" dirty="0"/>
              <a:t>智能卡）、备份（防丢失）、传输安全（</a:t>
            </a:r>
            <a:r>
              <a:rPr lang="en-US" altLang="zh-CN" b="0" dirty="0"/>
              <a:t>SSH / </a:t>
            </a:r>
            <a:r>
              <a:rPr lang="zh-CN" altLang="en-US" b="0" dirty="0"/>
              <a:t>加密 </a:t>
            </a:r>
            <a:r>
              <a:rPr lang="en-US" altLang="zh-CN" b="0" dirty="0"/>
              <a:t>USB</a:t>
            </a:r>
            <a:r>
              <a:rPr lang="zh-CN" altLang="en-US" b="0" dirty="0"/>
              <a:t>）；</a:t>
            </a:r>
          </a:p>
          <a:p>
            <a:pPr lvl="2"/>
            <a:r>
              <a:rPr lang="zh-CN" altLang="en-US" b="0" dirty="0"/>
              <a:t>用户需求：无需记忆、多设备通用、使用简化（如生物识别解锁私钥）；</a:t>
            </a:r>
          </a:p>
          <a:p>
            <a:pPr lvl="1"/>
            <a:r>
              <a:rPr lang="zh-CN" altLang="en-US" b="0" dirty="0"/>
              <a:t>设备遗失应对：远程禁用、安全备份、定期更换私钥、加密存储设备 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85560D6-3DBF-401E-BA6A-6472EC463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4DF13AF-E195-4BB4-A7DC-DA3E2C5A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基于公钥（证书）的认证</a:t>
            </a:r>
          </a:p>
        </p:txBody>
      </p:sp>
    </p:spTree>
    <p:extLst>
      <p:ext uri="{BB962C8B-B14F-4D97-AF65-F5344CB8AC3E}">
        <p14:creationId xmlns:p14="http://schemas.microsoft.com/office/powerpoint/2010/main" val="959715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BF54B87-F56C-47BF-A925-5F618B972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私钥安全与使用方便的矛盾：</a:t>
            </a:r>
          </a:p>
          <a:p>
            <a:pPr lvl="1"/>
            <a:r>
              <a:rPr lang="zh-CN" altLang="en-US" b="0" dirty="0"/>
              <a:t>安全要求：保密性（防泄露）、存储安全（</a:t>
            </a:r>
            <a:r>
              <a:rPr lang="en-US" altLang="zh-CN" b="0" dirty="0"/>
              <a:t>HSM / </a:t>
            </a:r>
            <a:r>
              <a:rPr lang="zh-CN" altLang="en-US" b="0" dirty="0"/>
              <a:t>智能卡）、备份（防丢失）、传输安全（</a:t>
            </a:r>
            <a:r>
              <a:rPr lang="en-US" altLang="zh-CN" b="0" dirty="0"/>
              <a:t>SSH / </a:t>
            </a:r>
            <a:r>
              <a:rPr lang="zh-CN" altLang="en-US" b="0" dirty="0"/>
              <a:t>加密 </a:t>
            </a:r>
            <a:r>
              <a:rPr lang="en-US" altLang="zh-CN" b="0" dirty="0"/>
              <a:t>USB</a:t>
            </a:r>
            <a:r>
              <a:rPr lang="zh-CN" altLang="en-US" b="0" dirty="0"/>
              <a:t>）；</a:t>
            </a:r>
          </a:p>
          <a:p>
            <a:pPr lvl="1"/>
            <a:r>
              <a:rPr lang="zh-CN" altLang="en-US" b="0" dirty="0"/>
              <a:t>用户需求：无需记忆、多设备通用、使用简化（如生物识别解锁私钥）；</a:t>
            </a:r>
          </a:p>
          <a:p>
            <a:r>
              <a:rPr lang="zh-CN" altLang="en-US" b="0" dirty="0"/>
              <a:t>设备遗失应对：远程禁用、安全备份、定期更换私钥、加密存储设备。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3782FF9-DF23-467A-A23B-F011655DC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20EBAE2-5E81-4F97-A0EA-FAF26B303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公钥认证的核心挑战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919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7AFF17-A899-4AE3-97F4-8D1AAC05361B}"/>
              </a:ext>
            </a:extLst>
          </p:cNvPr>
          <p:cNvSpPr txBox="1"/>
          <p:nvPr/>
        </p:nvSpPr>
        <p:spPr>
          <a:xfrm>
            <a:off x="2913188" y="3113465"/>
            <a:ext cx="6365619" cy="17543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sz="5400" b="1">
                <a:gradFill>
                  <a:gsLst>
                    <a:gs pos="0">
                      <a:srgbClr val="2B84FE"/>
                    </a:gs>
                    <a:gs pos="100000">
                      <a:srgbClr val="20B1F4"/>
                    </a:gs>
                  </a:gsLst>
                  <a:lin ang="5400000" scaled="1"/>
                </a:gradFill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身份认证的典型技术方案</a:t>
            </a:r>
          </a:p>
        </p:txBody>
      </p:sp>
    </p:spTree>
    <p:extLst>
      <p:ext uri="{BB962C8B-B14F-4D97-AF65-F5344CB8AC3E}">
        <p14:creationId xmlns:p14="http://schemas.microsoft.com/office/powerpoint/2010/main" val="3465582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6172656-4D26-4214-93A5-9A4277E9F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基于硬件安全的数字证书</a:t>
            </a:r>
          </a:p>
          <a:p>
            <a:r>
              <a:rPr lang="zh-CN" altLang="en-US" b="0" dirty="0"/>
              <a:t>多因子认证（</a:t>
            </a:r>
            <a:r>
              <a:rPr lang="en-US" altLang="zh-CN" b="0" dirty="0"/>
              <a:t>MFA</a:t>
            </a:r>
            <a:r>
              <a:rPr lang="zh-CN" altLang="en-US" b="0" dirty="0"/>
              <a:t>）</a:t>
            </a:r>
          </a:p>
          <a:p>
            <a:r>
              <a:rPr lang="en-US" altLang="zh-CN" b="0" dirty="0"/>
              <a:t>FIDO </a:t>
            </a:r>
            <a:r>
              <a:rPr lang="zh-CN" altLang="en-US" b="0" dirty="0"/>
              <a:t>协议（</a:t>
            </a:r>
            <a:r>
              <a:rPr lang="en-US" altLang="zh-CN" b="0" dirty="0"/>
              <a:t>UAF</a:t>
            </a:r>
            <a:r>
              <a:rPr lang="zh-CN" altLang="en-US" b="0" dirty="0"/>
              <a:t>、</a:t>
            </a:r>
            <a:r>
              <a:rPr lang="en-US" altLang="zh-CN" b="0" dirty="0"/>
              <a:t>U2F</a:t>
            </a:r>
            <a:r>
              <a:rPr lang="zh-CN" altLang="en-US" b="0" dirty="0"/>
              <a:t>、</a:t>
            </a:r>
            <a:r>
              <a:rPr lang="en-US" altLang="zh-CN" b="0" dirty="0"/>
              <a:t>FIDO2</a:t>
            </a:r>
            <a:r>
              <a:rPr lang="zh-CN" altLang="en-US" b="0" dirty="0"/>
              <a:t>）</a:t>
            </a:r>
          </a:p>
          <a:p>
            <a:r>
              <a:rPr lang="zh-CN" altLang="en-US" b="0" dirty="0"/>
              <a:t>新思想：持续认证与零信任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D8D7511-1F4F-47CB-9366-A7BC9963C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6477567B-BE33-4F4D-947B-FED04810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660469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CDB8CA4-B203-4193-8913-18B7BA34A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原理：以公钥密码的 </a:t>
            </a:r>
            <a:r>
              <a:rPr lang="en-US" altLang="zh-CN" b="0" dirty="0"/>
              <a:t>TLS </a:t>
            </a:r>
            <a:r>
              <a:rPr lang="zh-CN" altLang="en-US" b="0" dirty="0"/>
              <a:t>客户端证书为核心，依赖 </a:t>
            </a:r>
            <a:r>
              <a:rPr lang="en-US" altLang="zh-CN" b="0" dirty="0"/>
              <a:t>PKI </a:t>
            </a:r>
            <a:r>
              <a:rPr lang="zh-CN" altLang="en-US" b="0" dirty="0"/>
              <a:t>体系实现身份验证。</a:t>
            </a:r>
          </a:p>
          <a:p>
            <a:r>
              <a:rPr lang="zh-CN" altLang="en-US" b="0" dirty="0"/>
              <a:t>未广泛使用的原因：</a:t>
            </a:r>
          </a:p>
          <a:p>
            <a:pPr lvl="1"/>
            <a:r>
              <a:rPr lang="zh-CN" altLang="en-US" b="0" dirty="0"/>
              <a:t>私钥与证书管理复杂（需额外硬件如智能卡、</a:t>
            </a:r>
            <a:r>
              <a:rPr lang="en-US" altLang="zh-CN" b="0" dirty="0"/>
              <a:t>USB Key</a:t>
            </a:r>
            <a:r>
              <a:rPr lang="zh-CN" altLang="en-US" b="0" dirty="0"/>
              <a:t>，存在兼容性问题）；</a:t>
            </a:r>
          </a:p>
          <a:p>
            <a:pPr lvl="1"/>
            <a:r>
              <a:rPr lang="zh-CN" altLang="en-US" b="0" dirty="0"/>
              <a:t>证书分发、更新、撤销流程繁琐；</a:t>
            </a:r>
          </a:p>
          <a:p>
            <a:pPr lvl="1"/>
            <a:r>
              <a:rPr lang="zh-CN" altLang="en-US" b="0" dirty="0"/>
              <a:t>用户体验差（需携带硬件设备）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3B49023-8876-4908-BA7B-4902296C7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38933CD-64CB-4F70-B755-0C53580F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基于硬件安全的数字证书</a:t>
            </a:r>
          </a:p>
        </p:txBody>
      </p:sp>
    </p:spTree>
    <p:extLst>
      <p:ext uri="{BB962C8B-B14F-4D97-AF65-F5344CB8AC3E}">
        <p14:creationId xmlns:p14="http://schemas.microsoft.com/office/powerpoint/2010/main" val="3414640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50407DC-2B66-44B6-B363-08E0116BA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优点：安全性高，支持强身份认证。</a:t>
            </a:r>
          </a:p>
          <a:p>
            <a:r>
              <a:rPr lang="zh-CN" altLang="en-US" b="0" dirty="0"/>
              <a:t>缺点：</a:t>
            </a:r>
          </a:p>
          <a:p>
            <a:pPr lvl="1"/>
            <a:r>
              <a:rPr lang="zh-CN" altLang="en-US" b="0" dirty="0"/>
              <a:t>存在证书 </a:t>
            </a:r>
            <a:r>
              <a:rPr lang="en-US" altLang="zh-CN" b="0" dirty="0"/>
              <a:t>/ </a:t>
            </a:r>
            <a:r>
              <a:rPr lang="zh-CN" altLang="en-US" b="0" dirty="0"/>
              <a:t>私钥设备遗失或被盗风险；</a:t>
            </a:r>
          </a:p>
          <a:p>
            <a:pPr lvl="1"/>
            <a:r>
              <a:rPr lang="en-US" altLang="zh-CN" b="0" dirty="0"/>
              <a:t>CA </a:t>
            </a:r>
            <a:r>
              <a:rPr lang="zh-CN" altLang="en-US" b="0" dirty="0"/>
              <a:t>中心可能被入侵或仿冒；</a:t>
            </a:r>
          </a:p>
          <a:p>
            <a:pPr lvl="1"/>
            <a:r>
              <a:rPr lang="zh-CN" altLang="en-US" b="0" dirty="0"/>
              <a:t>放弃匿名性。</a:t>
            </a:r>
          </a:p>
          <a:p>
            <a:r>
              <a:rPr lang="zh-CN" altLang="en-US" b="0" dirty="0"/>
              <a:t>适用场景：实名制服务、对安全性要求高的业务（如金融交易）。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AFF3C5D-FC0E-4C9D-AA00-8162BEBAA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2EAD914F-5AD6-4CC4-803B-BA4B51F0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优缺点与适用场景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9865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CDE1144-553E-4B80-8AA9-D4B3044A5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定义：需用户提供两种及以上不同类型认证因子（如 “口令 </a:t>
            </a:r>
            <a:r>
              <a:rPr lang="en-US" altLang="zh-CN" b="0" dirty="0"/>
              <a:t>+ </a:t>
            </a:r>
            <a:r>
              <a:rPr lang="zh-CN" altLang="en-US" b="0" dirty="0"/>
              <a:t>短信验证码”“口令 </a:t>
            </a:r>
            <a:r>
              <a:rPr lang="en-US" altLang="zh-CN" b="0" dirty="0"/>
              <a:t>+ USB </a:t>
            </a:r>
            <a:r>
              <a:rPr lang="zh-CN" altLang="en-US" b="0" dirty="0"/>
              <a:t>安全密钥”），提升认证安全性。</a:t>
            </a:r>
          </a:p>
          <a:p>
            <a:r>
              <a:rPr lang="zh-CN" altLang="en-US" b="0" dirty="0"/>
              <a:t>典型应用：两步认证（第一步：用户名 </a:t>
            </a:r>
            <a:r>
              <a:rPr lang="en-US" altLang="zh-CN" b="0" dirty="0"/>
              <a:t>+ </a:t>
            </a:r>
            <a:r>
              <a:rPr lang="zh-CN" altLang="en-US" b="0" dirty="0"/>
              <a:t>口令；第二步：短信验证码、软件令牌、备份验证码等）。</a:t>
            </a:r>
          </a:p>
          <a:p>
            <a:r>
              <a:rPr lang="zh-CN" altLang="en-US" b="0" dirty="0"/>
              <a:t>价值：应对撞库攻击的重要措施。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0C23AA4-B5A6-47DE-8395-EC0FD9345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AAE96ED-F3BD-4C69-BF96-35680515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多因子认证（</a:t>
            </a:r>
            <a:r>
              <a:rPr lang="en-US" altLang="zh-CN" dirty="0"/>
              <a:t>MFA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06098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BC31BBB-286A-4E08-983F-1DB5776CC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初期用户接受率低：</a:t>
            </a:r>
            <a:r>
              <a:rPr lang="en-US" altLang="zh-CN" b="0" dirty="0"/>
              <a:t>2015 </a:t>
            </a:r>
            <a:r>
              <a:rPr lang="zh-CN" altLang="en-US" b="0" dirty="0"/>
              <a:t>年谷歌账户仅 </a:t>
            </a:r>
            <a:r>
              <a:rPr lang="en-US" altLang="zh-CN" b="0" dirty="0"/>
              <a:t>6.4% </a:t>
            </a:r>
            <a:r>
              <a:rPr lang="zh-CN" altLang="en-US" b="0" dirty="0"/>
              <a:t>用户启用，因操作繁琐、依赖额外设备。</a:t>
            </a:r>
          </a:p>
          <a:p>
            <a:r>
              <a:rPr lang="zh-CN" altLang="en-US" b="0" dirty="0"/>
              <a:t>共性问题及解决：</a:t>
            </a:r>
          </a:p>
          <a:p>
            <a:pPr lvl="1"/>
            <a:r>
              <a:rPr lang="zh-CN" altLang="en-US" b="0" dirty="0"/>
              <a:t>兼容性问题：为特定设备 </a:t>
            </a:r>
            <a:r>
              <a:rPr lang="en-US" altLang="zh-CN" b="0" dirty="0"/>
              <a:t>/ </a:t>
            </a:r>
            <a:r>
              <a:rPr lang="zh-CN" altLang="en-US" b="0" dirty="0"/>
              <a:t>应用设置专用密码，一次配置后自动认证；</a:t>
            </a:r>
          </a:p>
          <a:p>
            <a:pPr lvl="1"/>
            <a:r>
              <a:rPr lang="zh-CN" altLang="en-US" b="0" dirty="0"/>
              <a:t>用户体验下降：结合可信任设备管理（如浏览器 </a:t>
            </a:r>
            <a:r>
              <a:rPr lang="en-US" altLang="zh-CN" b="0" dirty="0"/>
              <a:t>Cookie </a:t>
            </a:r>
            <a:r>
              <a:rPr lang="zh-CN" altLang="en-US" b="0" dirty="0"/>
              <a:t>标记信任设备，免二次认证）。</a:t>
            </a:r>
          </a:p>
          <a:p>
            <a:r>
              <a:rPr lang="zh-CN" altLang="en-US" b="0" dirty="0"/>
              <a:t>现状：支持单次登录长期信任、自动化集成生物识别、提供备选验证方式。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2844E18-81C3-41A1-9583-4F56FA29A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4FE31B3-95A1-4D55-856A-DA08F880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挑战与优化方案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2304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88DFF79-7303-40FA-A5C5-3C8391656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定义：在线快速身份认证标准，以公钥加密技术为基础，支持多种验证方式。</a:t>
            </a:r>
          </a:p>
          <a:p>
            <a:r>
              <a:rPr lang="zh-CN" altLang="en-US" b="0" dirty="0"/>
              <a:t>核心协议：</a:t>
            </a:r>
          </a:p>
          <a:p>
            <a:pPr lvl="1"/>
            <a:r>
              <a:rPr lang="en-US" altLang="zh-CN" b="0" dirty="0"/>
              <a:t>UAF</a:t>
            </a:r>
            <a:r>
              <a:rPr lang="zh-CN" altLang="en-US" b="0" dirty="0"/>
              <a:t>（通用身份认证框架）：支持指纹、人脸等生物特征，无密码直接认证；</a:t>
            </a:r>
          </a:p>
          <a:p>
            <a:pPr lvl="1"/>
            <a:r>
              <a:rPr lang="en-US" altLang="zh-CN" b="0" dirty="0"/>
              <a:t>U2F</a:t>
            </a:r>
            <a:r>
              <a:rPr lang="zh-CN" altLang="en-US" b="0" dirty="0"/>
              <a:t>（通用第二因素）：支持 </a:t>
            </a:r>
            <a:r>
              <a:rPr lang="en-US" altLang="zh-CN" b="0" dirty="0"/>
              <a:t>U </a:t>
            </a:r>
            <a:r>
              <a:rPr lang="zh-CN" altLang="en-US" b="0" dirty="0"/>
              <a:t>盾、</a:t>
            </a:r>
            <a:r>
              <a:rPr lang="en-US" altLang="zh-CN" b="0" dirty="0"/>
              <a:t>NFC </a:t>
            </a:r>
            <a:r>
              <a:rPr lang="zh-CN" altLang="en-US" b="0" dirty="0"/>
              <a:t>芯片等硬件，双因子保护账户。</a:t>
            </a:r>
          </a:p>
          <a:p>
            <a:r>
              <a:rPr lang="zh-CN" altLang="en-US" b="0" dirty="0"/>
              <a:t>发展：</a:t>
            </a:r>
            <a:r>
              <a:rPr lang="en-US" altLang="zh-CN" b="0" dirty="0"/>
              <a:t>2013 </a:t>
            </a:r>
            <a:r>
              <a:rPr lang="zh-CN" altLang="en-US" b="0" dirty="0"/>
              <a:t>年 </a:t>
            </a:r>
            <a:r>
              <a:rPr lang="en-US" altLang="zh-CN" b="0" dirty="0"/>
              <a:t>FIDO </a:t>
            </a:r>
            <a:r>
              <a:rPr lang="zh-CN" altLang="en-US" b="0" dirty="0"/>
              <a:t>联盟成立，</a:t>
            </a:r>
            <a:r>
              <a:rPr lang="en-US" altLang="zh-CN" b="0" dirty="0"/>
              <a:t>2014 </a:t>
            </a:r>
            <a:r>
              <a:rPr lang="zh-CN" altLang="en-US" b="0" dirty="0"/>
              <a:t>年发布 </a:t>
            </a:r>
            <a:r>
              <a:rPr lang="en-US" altLang="zh-CN" b="0" dirty="0"/>
              <a:t>UAF-v1.0 </a:t>
            </a:r>
            <a:r>
              <a:rPr lang="zh-CN" altLang="en-US" b="0" dirty="0"/>
              <a:t>和 </a:t>
            </a:r>
            <a:r>
              <a:rPr lang="en-US" altLang="zh-CN" b="0" dirty="0"/>
              <a:t>U2F-v1.0</a:t>
            </a:r>
            <a:r>
              <a:rPr lang="zh-CN" altLang="en-US" b="0" dirty="0"/>
              <a:t>；</a:t>
            </a:r>
            <a:r>
              <a:rPr lang="en-US" altLang="zh-CN" b="0" dirty="0"/>
              <a:t>FIDO2 </a:t>
            </a:r>
            <a:r>
              <a:rPr lang="zh-CN" altLang="en-US" b="0" dirty="0"/>
              <a:t>为最新标准。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313D903-864B-4C06-A009-1387BF46D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14EF605-62CC-4846-B44D-ABEC4E178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FIDO </a:t>
            </a:r>
            <a:r>
              <a:rPr lang="zh-CN" altLang="en-US" dirty="0"/>
              <a:t>协议 </a:t>
            </a:r>
            <a:r>
              <a:rPr lang="en-US" altLang="zh-CN" dirty="0"/>
              <a:t>- </a:t>
            </a:r>
            <a:r>
              <a:rPr lang="zh-CN" altLang="en-US" dirty="0"/>
              <a:t>概述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9F54E9-8082-4E59-9D07-6B48A1802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142" y="4449435"/>
            <a:ext cx="8370998" cy="208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814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1BE1788-1519-487D-BA64-46A3755F7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3760432" cy="5047042"/>
          </a:xfrm>
        </p:spPr>
        <p:txBody>
          <a:bodyPr/>
          <a:lstStyle/>
          <a:p>
            <a:r>
              <a:rPr lang="zh-CN" altLang="en-US" sz="2800" b="0" dirty="0"/>
              <a:t>工作原理：本地认证器生成公私钥对→私钥签名→服务端用公钥验证→验证认证器合法性。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BB1082-4F0A-4CF0-B2FB-F51803371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2995663-EBB9-4338-9416-E3F3DC325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FIDO UAF </a:t>
            </a:r>
            <a:r>
              <a:rPr lang="zh-CN" altLang="en-US" b="0" dirty="0"/>
              <a:t>工作原理与架构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14DCE3-67EC-4354-A7FA-2A0B996CA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168" y="1724852"/>
            <a:ext cx="7656201" cy="406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583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C1E0163-3835-4828-B9F8-EAC673D09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3C87329-984B-4A9A-A9AD-C1F43B3E0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FIDO UAF </a:t>
            </a:r>
            <a:r>
              <a:rPr lang="zh-CN" altLang="en-US" b="0" dirty="0"/>
              <a:t>架构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5821D5A-6F59-4DF3-B1D4-2B56E076E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11651366" cy="5047042"/>
          </a:xfrm>
        </p:spPr>
        <p:txBody>
          <a:bodyPr/>
          <a:lstStyle/>
          <a:p>
            <a:r>
              <a:rPr lang="en-US" altLang="zh-CN" dirty="0"/>
              <a:t>FIDO UAF </a:t>
            </a:r>
            <a:r>
              <a:rPr lang="zh-CN" altLang="en-US" dirty="0"/>
              <a:t>客户端</a:t>
            </a:r>
          </a:p>
          <a:p>
            <a:r>
              <a:rPr lang="zh-CN" altLang="en-US" dirty="0"/>
              <a:t>核心定位</a:t>
            </a:r>
            <a:r>
              <a:rPr lang="zh-CN" altLang="en-US" b="0" dirty="0"/>
              <a:t>：协议实现载体，连接认证器与用户代理的中间层</a:t>
            </a:r>
          </a:p>
          <a:p>
            <a:r>
              <a:rPr lang="zh-CN" altLang="en-US" dirty="0"/>
              <a:t>关键职责</a:t>
            </a:r>
            <a:r>
              <a:rPr lang="zh-CN" altLang="en-US" b="0" dirty="0"/>
              <a:t>：</a:t>
            </a:r>
          </a:p>
          <a:p>
            <a:pPr lvl="1"/>
            <a:r>
              <a:rPr lang="zh-CN" altLang="en-US" b="0" dirty="0"/>
              <a:t>通过「认证器 </a:t>
            </a:r>
            <a:r>
              <a:rPr lang="en-US" altLang="zh-CN" b="0" dirty="0"/>
              <a:t>API + </a:t>
            </a:r>
            <a:r>
              <a:rPr lang="zh-CN" altLang="en-US" b="0" dirty="0"/>
              <a:t>抽象层」，与特定 </a:t>
            </a:r>
            <a:r>
              <a:rPr lang="en-US" altLang="zh-CN" b="0" dirty="0"/>
              <a:t>FIDO UAF </a:t>
            </a:r>
            <a:r>
              <a:rPr lang="zh-CN" altLang="en-US" b="0" dirty="0"/>
              <a:t>认证器交互；</a:t>
            </a:r>
          </a:p>
          <a:p>
            <a:pPr lvl="1"/>
            <a:r>
              <a:rPr lang="zh-CN" altLang="en-US" b="0" dirty="0"/>
              <a:t>与用户代理（浏览器 </a:t>
            </a:r>
            <a:r>
              <a:rPr lang="en-US" altLang="zh-CN" b="0" dirty="0"/>
              <a:t>/ </a:t>
            </a:r>
            <a:r>
              <a:rPr lang="zh-CN" altLang="en-US" b="0" dirty="0"/>
              <a:t>移动应用）对接（如 </a:t>
            </a:r>
            <a:r>
              <a:rPr lang="en-US" altLang="zh-CN" b="0" dirty="0"/>
              <a:t>FIDO </a:t>
            </a:r>
            <a:r>
              <a:rPr lang="zh-CN" altLang="en-US" b="0" dirty="0"/>
              <a:t>浏览器插件、</a:t>
            </a:r>
            <a:r>
              <a:rPr lang="en-US" altLang="zh-CN" b="0" dirty="0"/>
              <a:t>SDK</a:t>
            </a:r>
            <a:r>
              <a:rPr lang="zh-CN" altLang="en-US" b="0" dirty="0"/>
              <a:t>），传递消息至服务器；</a:t>
            </a:r>
          </a:p>
          <a:p>
            <a:pPr lvl="1"/>
            <a:r>
              <a:rPr lang="zh-CN" altLang="en-US" b="0" dirty="0"/>
              <a:t>保障跨系统（</a:t>
            </a:r>
            <a:r>
              <a:rPr lang="en-US" altLang="zh-CN" b="0" dirty="0"/>
              <a:t>OS / </a:t>
            </a:r>
            <a:r>
              <a:rPr lang="zh-CN" altLang="en-US" b="0" dirty="0"/>
              <a:t>浏览器）的一致用户体验。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7360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C11BA93-3627-45BA-A1C2-8DD601035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 FIDO UAF </a:t>
            </a:r>
            <a:r>
              <a:rPr lang="zh-CN" altLang="en-US" dirty="0"/>
              <a:t>认证器</a:t>
            </a:r>
          </a:p>
          <a:p>
            <a:r>
              <a:rPr lang="zh-CN" altLang="en-US" dirty="0"/>
              <a:t>核心定位</a:t>
            </a:r>
            <a:r>
              <a:rPr lang="zh-CN" altLang="en-US" b="0" dirty="0"/>
              <a:t>：安全实体（内置 </a:t>
            </a:r>
            <a:r>
              <a:rPr lang="en-US" altLang="zh-CN" b="0" dirty="0"/>
              <a:t>/ </a:t>
            </a:r>
            <a:r>
              <a:rPr lang="zh-CN" altLang="en-US" b="0" dirty="0"/>
              <a:t>外接于用户设备），身份认证的 “信任根”</a:t>
            </a:r>
          </a:p>
          <a:p>
            <a:r>
              <a:rPr lang="zh-CN" altLang="en-US" dirty="0"/>
              <a:t>关键能力</a:t>
            </a:r>
            <a:r>
              <a:rPr lang="zh-CN" altLang="en-US" b="0" dirty="0"/>
              <a:t>：</a:t>
            </a:r>
          </a:p>
          <a:p>
            <a:pPr lvl="1"/>
            <a:r>
              <a:rPr lang="zh-CN" altLang="en-US" b="0" dirty="0"/>
              <a:t>内置加密功能（生成密钥对、签名等），通过抽象层向客户端暴露接口；</a:t>
            </a:r>
          </a:p>
          <a:p>
            <a:pPr lvl="1"/>
            <a:r>
              <a:rPr lang="zh-CN" altLang="en-US" b="0" dirty="0"/>
              <a:t>生成核心密钥：认证私钥（用于身份验证）、证明私钥（用于证明自身可信）；</a:t>
            </a:r>
          </a:p>
          <a:p>
            <a:pPr lvl="1"/>
            <a:r>
              <a:rPr lang="zh-CN" altLang="en-US" b="0" dirty="0"/>
              <a:t>可证明自身类型（如生物识别）、功能（如支持的加密算法）及来源，确保依赖方信任。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105132C-3019-4EEA-B201-9E859C77E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E57543F-9E20-45CE-B01A-DD7D94B8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83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382EC46-6904-434A-9CDF-E5DC227BE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 FIDO UAF </a:t>
            </a:r>
            <a:r>
              <a:rPr lang="zh-CN" altLang="en-US" dirty="0"/>
              <a:t>服务器</a:t>
            </a:r>
          </a:p>
          <a:p>
            <a:r>
              <a:rPr lang="zh-CN" altLang="en-US" dirty="0"/>
              <a:t>核心定位</a:t>
            </a:r>
            <a:r>
              <a:rPr lang="zh-CN" altLang="en-US" b="0" dirty="0"/>
              <a:t>：服务器端协议实现，认证逻辑与信任管理中心</a:t>
            </a:r>
          </a:p>
          <a:p>
            <a:r>
              <a:rPr lang="zh-CN" altLang="en-US" dirty="0"/>
              <a:t>关键职责</a:t>
            </a:r>
            <a:r>
              <a:rPr lang="zh-CN" altLang="en-US" b="0" dirty="0"/>
              <a:t>：</a:t>
            </a:r>
          </a:p>
          <a:p>
            <a:pPr lvl="1"/>
            <a:r>
              <a:rPr lang="zh-CN" altLang="en-US" b="0" dirty="0"/>
              <a:t>与依赖方 </a:t>
            </a:r>
            <a:r>
              <a:rPr lang="en-US" altLang="zh-CN" b="0" dirty="0"/>
              <a:t>Web </a:t>
            </a:r>
            <a:r>
              <a:rPr lang="zh-CN" altLang="en-US" b="0" dirty="0"/>
              <a:t>服务器（需认证的网站 </a:t>
            </a:r>
            <a:r>
              <a:rPr lang="en-US" altLang="zh-CN" b="0" dirty="0"/>
              <a:t>/ </a:t>
            </a:r>
            <a:r>
              <a:rPr lang="zh-CN" altLang="en-US" b="0" dirty="0"/>
              <a:t>服务）、用户代理交互，传递协议消息；</a:t>
            </a:r>
          </a:p>
          <a:p>
            <a:pPr lvl="1"/>
            <a:r>
              <a:rPr lang="zh-CN" altLang="en-US" b="0" dirty="0"/>
              <a:t>基于「认证器元数据」验证认证器证明，仅允许可信认证器注册；</a:t>
            </a:r>
          </a:p>
          <a:p>
            <a:pPr lvl="1"/>
            <a:r>
              <a:rPr lang="zh-CN" altLang="en-US" b="0" dirty="0"/>
              <a:t>管理 “认证器 </a:t>
            </a:r>
            <a:r>
              <a:rPr lang="en-US" altLang="zh-CN" b="0" dirty="0"/>
              <a:t>- </a:t>
            </a:r>
            <a:r>
              <a:rPr lang="zh-CN" altLang="en-US" b="0" dirty="0"/>
              <a:t>用户账户” 关联关系；</a:t>
            </a:r>
          </a:p>
          <a:p>
            <a:pPr lvl="1"/>
            <a:r>
              <a:rPr lang="zh-CN" altLang="en-US" b="0" dirty="0"/>
              <a:t>评估认证 </a:t>
            </a:r>
            <a:r>
              <a:rPr lang="en-US" altLang="zh-CN" b="0" dirty="0"/>
              <a:t>/ </a:t>
            </a:r>
            <a:r>
              <a:rPr lang="zh-CN" altLang="en-US" b="0" dirty="0"/>
              <a:t>事务确认响应的有效性；</a:t>
            </a:r>
          </a:p>
          <a:p>
            <a:pPr lvl="1"/>
            <a:r>
              <a:rPr lang="zh-CN" altLang="en-US" b="0" dirty="0"/>
              <a:t>部署方式：依赖方本地部署 </a:t>
            </a:r>
            <a:r>
              <a:rPr lang="en-US" altLang="zh-CN" b="0" dirty="0"/>
              <a:t>/ </a:t>
            </a:r>
            <a:r>
              <a:rPr lang="zh-CN" altLang="en-US" b="0" dirty="0"/>
              <a:t>第三方服务商外包。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AFA23A6-8E82-47A5-A9D9-28FD8484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5707710-A921-4CD9-9F2E-B3AAFF75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579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2477CA6-161A-4E0B-9B68-ECFE85AD7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70AF6A2-E3C7-49A7-88F8-19E1F8C4B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体系架构图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9C2297F-884D-44CA-A326-7378F708C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8304" y="1520824"/>
            <a:ext cx="8735392" cy="457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048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76F2DEAF-0ECA-4F71-9C2A-1785C44012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330533"/>
              </p:ext>
            </p:extLst>
          </p:nvPr>
        </p:nvGraphicFramePr>
        <p:xfrm>
          <a:off x="224375" y="1206220"/>
          <a:ext cx="11743250" cy="5535892"/>
        </p:xfrm>
        <a:graphic>
          <a:graphicData uri="http://schemas.openxmlformats.org/drawingml/2006/table">
            <a:tbl>
              <a:tblPr/>
              <a:tblGrid>
                <a:gridCol w="5871625">
                  <a:extLst>
                    <a:ext uri="{9D8B030D-6E8A-4147-A177-3AD203B41FA5}">
                      <a16:colId xmlns:a16="http://schemas.microsoft.com/office/drawing/2014/main" val="627864018"/>
                    </a:ext>
                  </a:extLst>
                </a:gridCol>
                <a:gridCol w="5871625">
                  <a:extLst>
                    <a:ext uri="{9D8B030D-6E8A-4147-A177-3AD203B41FA5}">
                      <a16:colId xmlns:a16="http://schemas.microsoft.com/office/drawing/2014/main" val="3920670232"/>
                    </a:ext>
                  </a:extLst>
                </a:gridCol>
              </a:tblGrid>
              <a:tr h="670280"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rgbClr val="000000"/>
                          </a:solidFill>
                          <a:effectLst/>
                        </a:rPr>
                        <a:t>消息类型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F06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7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B07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7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rgbClr val="000000"/>
                          </a:solidFill>
                          <a:effectLst/>
                        </a:rPr>
                        <a:t>核心作用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7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7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B07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50E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501124"/>
                  </a:ext>
                </a:extLst>
              </a:tr>
              <a:tr h="1379986">
                <a:tc>
                  <a:txBody>
                    <a:bodyPr/>
                    <a:lstStyle/>
                    <a:p>
                      <a:r>
                        <a:rPr lang="zh-CN" altLang="en-US" sz="2400" b="0">
                          <a:effectLst/>
                        </a:rPr>
                        <a:t>认证器注册消息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707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507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7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B07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>
                          <a:effectLst/>
                        </a:rPr>
                        <a:t>1. </a:t>
                      </a:r>
                      <a:r>
                        <a:rPr lang="zh-CN" altLang="en-US" sz="2400" b="0">
                          <a:effectLst/>
                        </a:rPr>
                        <a:t>发现设备上的可用认证器并传递其属性；</a:t>
                      </a:r>
                      <a:br>
                        <a:rPr lang="zh-CN" altLang="en-US" sz="2400" b="0">
                          <a:effectLst/>
                        </a:rPr>
                      </a:br>
                      <a:r>
                        <a:rPr lang="en-US" altLang="zh-CN" sz="2400" b="0">
                          <a:effectLst/>
                        </a:rPr>
                        <a:t>2. </a:t>
                      </a:r>
                      <a:r>
                        <a:rPr lang="zh-CN" altLang="en-US" sz="2400" b="0">
                          <a:effectLst/>
                        </a:rPr>
                        <a:t>验证认证器可信性（用证明公钥证书）；</a:t>
                      </a:r>
                      <a:br>
                        <a:rPr lang="zh-CN" altLang="en-US" sz="2400" b="0">
                          <a:effectLst/>
                        </a:rPr>
                      </a:br>
                      <a:r>
                        <a:rPr lang="en-US" altLang="zh-CN" sz="2400" b="0">
                          <a:effectLst/>
                        </a:rPr>
                        <a:t>3. </a:t>
                      </a:r>
                      <a:r>
                        <a:rPr lang="zh-CN" altLang="en-US" sz="2400" b="0">
                          <a:effectLst/>
                        </a:rPr>
                        <a:t>关联 “认证器 </a:t>
                      </a:r>
                      <a:r>
                        <a:rPr lang="en-US" altLang="zh-CN" sz="2400" b="0">
                          <a:effectLst/>
                        </a:rPr>
                        <a:t>- </a:t>
                      </a:r>
                      <a:r>
                        <a:rPr lang="zh-CN" altLang="en-US" sz="2400" b="0">
                          <a:effectLst/>
                        </a:rPr>
                        <a:t>用户账户”，生成专属安全标识符。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507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7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50ED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F6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851984"/>
                  </a:ext>
                </a:extLst>
              </a:tr>
              <a:tr h="670280">
                <a:tc>
                  <a:txBody>
                    <a:bodyPr/>
                    <a:lstStyle/>
                    <a:p>
                      <a:r>
                        <a:rPr lang="zh-CN" altLang="en-US" sz="2400" b="0">
                          <a:effectLst/>
                        </a:rPr>
                        <a:t>用户身份认证消息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707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7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B07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7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>
                          <a:effectLst/>
                        </a:rPr>
                        <a:t>基于加密质询 </a:t>
                      </a:r>
                      <a:r>
                        <a:rPr lang="en-US" altLang="zh-CN" sz="2400" b="0">
                          <a:effectLst/>
                        </a:rPr>
                        <a:t>- </a:t>
                      </a:r>
                      <a:r>
                        <a:rPr lang="zh-CN" altLang="en-US" sz="2400" b="0">
                          <a:effectLst/>
                        </a:rPr>
                        <a:t>响应机制，支持用户选择认证器完成身份验证。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307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7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F6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F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632345"/>
                  </a:ext>
                </a:extLst>
              </a:tr>
              <a:tr h="1025132">
                <a:tc>
                  <a:txBody>
                    <a:bodyPr/>
                    <a:lstStyle/>
                    <a:p>
                      <a:r>
                        <a:rPr lang="zh-CN" altLang="en-US" sz="2400" b="0">
                          <a:effectLst/>
                        </a:rPr>
                        <a:t>安全事务确认消息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707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7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7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7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>
                          <a:effectLst/>
                        </a:rPr>
                        <a:t>让用户确认依赖方指定的安全消息（如金融交易、用户协议），需认证器支持该能力。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7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7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FA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F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256199"/>
                  </a:ext>
                </a:extLst>
              </a:tr>
              <a:tr h="1025132">
                <a:tc>
                  <a:txBody>
                    <a:bodyPr/>
                    <a:lstStyle/>
                    <a:p>
                      <a:r>
                        <a:rPr lang="zh-CN" altLang="en-US" sz="2400" b="0">
                          <a:effectLst/>
                        </a:rPr>
                        <a:t>认证器注销消息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307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507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7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7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dirty="0">
                          <a:effectLst/>
                        </a:rPr>
                        <a:t>用户账户删除时，触发删除 “认证器 </a:t>
                      </a:r>
                      <a:r>
                        <a:rPr lang="en-US" altLang="zh-CN" sz="2400" b="0" dirty="0">
                          <a:effectLst/>
                        </a:rPr>
                        <a:t>- </a:t>
                      </a:r>
                      <a:r>
                        <a:rPr lang="zh-CN" altLang="en-US" sz="2400" b="0" dirty="0">
                          <a:effectLst/>
                        </a:rPr>
                        <a:t>账户” 关联的 </a:t>
                      </a:r>
                      <a:r>
                        <a:rPr lang="en-US" altLang="zh-CN" sz="2400" b="0" dirty="0">
                          <a:effectLst/>
                        </a:rPr>
                        <a:t>UAF </a:t>
                      </a:r>
                      <a:r>
                        <a:rPr lang="zh-CN" altLang="en-US" sz="2400" b="0" dirty="0">
                          <a:effectLst/>
                        </a:rPr>
                        <a:t>凭据。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507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7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F5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7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881768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37360C3-E024-4E30-9538-3387756FF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8B926F6-79C6-4BB6-8D8F-DF32D613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FIDO UAF </a:t>
            </a:r>
            <a:r>
              <a:rPr lang="zh-CN" altLang="en-US" b="0" dirty="0"/>
              <a:t>消息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3863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576D88E-8E7B-4575-B784-C7B44E568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4363174" cy="5047042"/>
          </a:xfrm>
        </p:spPr>
        <p:txBody>
          <a:bodyPr/>
          <a:lstStyle/>
          <a:p>
            <a:r>
              <a:rPr lang="zh-CN" altLang="en-US" b="0" dirty="0"/>
              <a:t>注册初始化与验证方式选择</a:t>
            </a:r>
            <a:endParaRPr lang="en-US" altLang="zh-CN" b="0" dirty="0"/>
          </a:p>
          <a:p>
            <a:r>
              <a:rPr lang="zh-CN" altLang="en-US" b="0" dirty="0"/>
              <a:t>依赖方发送注册请求</a:t>
            </a:r>
          </a:p>
          <a:p>
            <a:r>
              <a:rPr lang="zh-CN" altLang="en-US" b="0" dirty="0"/>
              <a:t>用户设备生成专属密钥对</a:t>
            </a:r>
            <a:endParaRPr lang="en-US" altLang="zh-CN" b="0" dirty="0"/>
          </a:p>
          <a:p>
            <a:r>
              <a:rPr lang="zh-CN" altLang="en-US" b="0" dirty="0"/>
              <a:t>用户设备返回注册响应</a:t>
            </a:r>
            <a:endParaRPr lang="en-US" altLang="zh-CN" b="0" dirty="0"/>
          </a:p>
          <a:p>
            <a:r>
              <a:rPr lang="zh-CN" altLang="en-US" b="0" dirty="0"/>
              <a:t>依赖方验证响应有效性</a:t>
            </a:r>
            <a:br>
              <a:rPr lang="zh-CN" altLang="en-US" b="0" dirty="0"/>
            </a:br>
            <a:endParaRPr lang="zh-CN" altLang="en-US" b="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0605802-6B44-45E5-AFB1-2B3CCC71E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B3BC626-6B60-4E0D-86BA-ECDF2C6AD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UAF </a:t>
            </a:r>
            <a:r>
              <a:rPr lang="zh-CN" altLang="en-US" b="0" dirty="0"/>
              <a:t>注册与认证流程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FED96A-EA57-4D54-B8E8-F4FB51975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475" y="1650907"/>
            <a:ext cx="7135221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614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9A45CAE-909E-4EEE-BDF9-079A48C03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40" y="1232705"/>
            <a:ext cx="5305109" cy="5047042"/>
          </a:xfrm>
        </p:spPr>
        <p:txBody>
          <a:bodyPr/>
          <a:lstStyle/>
          <a:p>
            <a:r>
              <a:rPr lang="zh-CN" altLang="en-US" sz="1800" b="0" dirty="0"/>
              <a:t>认证流程：</a:t>
            </a:r>
          </a:p>
          <a:p>
            <a:pPr lvl="1"/>
            <a:r>
              <a:rPr lang="zh-CN" altLang="en-US" sz="1800" b="0" dirty="0"/>
              <a:t>用户代理（浏览器或移动应用程序）初始化认证过程，用户使用他们选择的验证方法登录到在线服务来验证他们的身份。</a:t>
            </a:r>
            <a:endParaRPr lang="en-US" altLang="zh-CN" sz="1800" b="0" dirty="0"/>
          </a:p>
          <a:p>
            <a:pPr lvl="1"/>
            <a:r>
              <a:rPr lang="zh-CN" altLang="en-US" sz="1800" b="0" dirty="0"/>
              <a:t>依赖方发送认证请求消息，包含随机数挑战和在线服务策略。</a:t>
            </a:r>
            <a:endParaRPr lang="en-US" altLang="zh-CN" sz="1800" b="0" dirty="0"/>
          </a:p>
          <a:p>
            <a:pPr lvl="1" algn="l"/>
            <a:r>
              <a:rPr lang="zh-CN" altLang="en-US" sz="1800" b="0" dirty="0"/>
              <a:t>用户设备使用账户标识符选择适当的私钥，并以证明设备拥有私钥的方式对在线服务的挑战进行签名。</a:t>
            </a:r>
            <a:endParaRPr lang="en-US" altLang="zh-CN" sz="1800" b="0" dirty="0"/>
          </a:p>
          <a:p>
            <a:pPr lvl="1"/>
            <a:r>
              <a:rPr lang="zh-CN" altLang="en-US" sz="1800" b="0" dirty="0"/>
              <a:t>用户设备将签名后的挑战发送回在线服务。</a:t>
            </a:r>
            <a:endParaRPr lang="en-US" altLang="zh-CN" sz="1800" b="0" dirty="0"/>
          </a:p>
          <a:p>
            <a:pPr lvl="1" algn="l"/>
            <a:r>
              <a:rPr lang="zh-CN" altLang="en-US" sz="1800" b="0" dirty="0"/>
              <a:t>依赖方通过公钥验证挑战，用户可以访问在线服务。</a:t>
            </a:r>
            <a:r>
              <a:rPr lang="zh-CN" altLang="en-US" sz="1800" dirty="0"/>
              <a:t> </a:t>
            </a:r>
            <a:br>
              <a:rPr lang="zh-CN" altLang="en-US" sz="1800" dirty="0"/>
            </a:br>
            <a:endParaRPr lang="zh-CN" altLang="en-US" sz="18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4EE34F3-A515-46FB-AF80-865BD5B319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2DAB0B1-E070-48E7-9FC4-888C4B206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UAF </a:t>
            </a:r>
            <a:r>
              <a:rPr lang="zh-CN" altLang="en-US" b="0" dirty="0"/>
              <a:t>认证流程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859A11-EAC6-4C35-9E8F-998BB3795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749" y="1232705"/>
            <a:ext cx="6651611" cy="387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6210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A99E43F-EE6C-40D8-AB25-106C5C63E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3607960" cy="5047042"/>
          </a:xfrm>
        </p:spPr>
        <p:txBody>
          <a:bodyPr/>
          <a:lstStyle/>
          <a:p>
            <a:pPr algn="l"/>
            <a:r>
              <a:rPr lang="en-US" altLang="zh-CN" b="0" dirty="0"/>
              <a:t>UAF </a:t>
            </a:r>
            <a:r>
              <a:rPr lang="zh-CN" altLang="en-US" b="0" dirty="0"/>
              <a:t>注销流程：</a:t>
            </a:r>
            <a:endParaRPr lang="en-US" altLang="zh-CN" b="0" dirty="0"/>
          </a:p>
          <a:p>
            <a:pPr lvl="1" algn="l"/>
            <a:r>
              <a:rPr lang="en-US" altLang="zh-CN" b="0" dirty="0"/>
              <a:t>1</a:t>
            </a:r>
            <a:r>
              <a:rPr lang="zh-CN" altLang="en-US" b="0" dirty="0"/>
              <a:t>）用户代理初始化注销流程。</a:t>
            </a:r>
            <a:endParaRPr lang="en-US" altLang="zh-CN" b="0" dirty="0"/>
          </a:p>
          <a:p>
            <a:pPr lvl="1" algn="l"/>
            <a:r>
              <a:rPr lang="en-US" altLang="zh-CN" b="0" dirty="0"/>
              <a:t>2</a:t>
            </a:r>
            <a:r>
              <a:rPr lang="zh-CN" altLang="en-US" b="0" dirty="0"/>
              <a:t>）依赖方验证认证器的合法性并删除本地相关用户认证器数据，如公钥信息等。</a:t>
            </a:r>
            <a:endParaRPr lang="en-US" altLang="zh-CN" b="0" dirty="0"/>
          </a:p>
          <a:p>
            <a:pPr lvl="1" algn="l"/>
            <a:r>
              <a:rPr lang="en-US" altLang="zh-CN" b="0" dirty="0"/>
              <a:t>3</a:t>
            </a:r>
            <a:r>
              <a:rPr lang="zh-CN" altLang="en-US" b="0" dirty="0"/>
              <a:t>）依赖方发送确认注销消息。</a:t>
            </a:r>
            <a:endParaRPr lang="en-US" altLang="zh-CN" b="0" dirty="0"/>
          </a:p>
          <a:p>
            <a:pPr lvl="1" algn="l"/>
            <a:r>
              <a:rPr lang="en-US" altLang="zh-CN" b="0" dirty="0"/>
              <a:t>4</a:t>
            </a:r>
            <a:r>
              <a:rPr lang="zh-CN" altLang="en-US" b="0" dirty="0"/>
              <a:t>）用户设备删除本地注册数据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4E51007-0B6B-4986-92F2-A08100996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51DC67A-8190-4BA4-A9B1-9814AFCA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UAF </a:t>
            </a:r>
            <a:r>
              <a:rPr lang="zh-CN" altLang="en-US" b="0" dirty="0"/>
              <a:t>注销流程与 </a:t>
            </a:r>
            <a:r>
              <a:rPr lang="en-US" altLang="zh-CN" b="0" dirty="0"/>
              <a:t>U2F </a:t>
            </a:r>
            <a:r>
              <a:rPr lang="zh-CN" altLang="en-US" b="0" dirty="0"/>
              <a:t>简介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113B30-43F9-4C44-8551-6A7CDCBCA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053" y="1340252"/>
            <a:ext cx="7822646" cy="483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273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19C741F-2964-4EC6-8D12-24D9B2FA1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3997499" cy="5047042"/>
          </a:xfrm>
        </p:spPr>
        <p:txBody>
          <a:bodyPr/>
          <a:lstStyle/>
          <a:p>
            <a:r>
              <a:rPr lang="zh-CN" altLang="en-US" b="0" dirty="0"/>
              <a:t>原理：支持第二因子硬件设备（如安全密钥），增强现有密码安全性；</a:t>
            </a:r>
          </a:p>
          <a:p>
            <a:r>
              <a:rPr lang="zh-CN" altLang="en-US" b="0" dirty="0"/>
              <a:t>流程：注册时绑定账户与设备，认证时设备签名挑战，服务端验证。</a:t>
            </a:r>
            <a:endParaRPr lang="en-US" altLang="zh-CN" b="0" dirty="0"/>
          </a:p>
          <a:p>
            <a:r>
              <a:rPr lang="zh-CN" altLang="en-US" b="0" dirty="0"/>
              <a:t>核心特性：</a:t>
            </a:r>
          </a:p>
          <a:p>
            <a:pPr lvl="1"/>
            <a:r>
              <a:rPr lang="zh-CN" altLang="en-US" b="0" dirty="0"/>
              <a:t>全程通信加密，保障数据安全；</a:t>
            </a:r>
          </a:p>
          <a:p>
            <a:pPr lvl="1"/>
            <a:r>
              <a:rPr lang="zh-CN" altLang="en-US" b="0" dirty="0"/>
              <a:t>私钥始终存储在用户设备中，永不离开设备，提升安全性。</a:t>
            </a:r>
          </a:p>
          <a:p>
            <a:endParaRPr lang="zh-CN" altLang="en-US" b="0" dirty="0"/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AEE4D01-7F98-418C-B5F4-7A72914B7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AD4196C-14A3-419B-9448-123F3A6E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U2F </a:t>
            </a:r>
            <a:r>
              <a:rPr lang="zh-CN" altLang="en-US" b="0" dirty="0"/>
              <a:t>简介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553A40-1977-4343-A0B4-8187E7BC6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947" y="1494170"/>
            <a:ext cx="7016670" cy="338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008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F5D644C-24D2-429E-99BE-89F51D5CC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用户通过客户端（浏览器 </a:t>
            </a:r>
            <a:r>
              <a:rPr lang="en-US" altLang="zh-CN" b="0" dirty="0"/>
              <a:t>/ </a:t>
            </a:r>
            <a:r>
              <a:rPr lang="zh-CN" altLang="en-US" b="0" dirty="0"/>
              <a:t>移动应用）登录在线服务，获取挑战数据，生成注册请求发送至 </a:t>
            </a:r>
            <a:r>
              <a:rPr lang="en-US" altLang="zh-CN" b="0" dirty="0"/>
              <a:t>U2F </a:t>
            </a:r>
            <a:r>
              <a:rPr lang="zh-CN" altLang="en-US" b="0" dirty="0"/>
              <a:t>设备。</a:t>
            </a:r>
          </a:p>
          <a:p>
            <a:r>
              <a:rPr lang="en-US" altLang="zh-CN" b="0" dirty="0"/>
              <a:t>U2F </a:t>
            </a:r>
            <a:r>
              <a:rPr lang="zh-CN" altLang="en-US" b="0" dirty="0"/>
              <a:t>设备生成非对称密钥对及密钥标识符（</a:t>
            </a:r>
            <a:r>
              <a:rPr lang="en-US" altLang="zh-CN" b="0" dirty="0"/>
              <a:t>Key Handle</a:t>
            </a:r>
            <a:r>
              <a:rPr lang="zh-CN" altLang="en-US" b="0" dirty="0"/>
              <a:t>，用于认证时找回私钥）。</a:t>
            </a:r>
          </a:p>
          <a:p>
            <a:r>
              <a:rPr lang="en-US" altLang="zh-CN" b="0" dirty="0"/>
              <a:t>U2F </a:t>
            </a:r>
            <a:r>
              <a:rPr lang="zh-CN" altLang="en-US" b="0" dirty="0"/>
              <a:t>设备用签名算法对</a:t>
            </a:r>
            <a:r>
              <a:rPr lang="zh-CN" altLang="en-US" dirty="0"/>
              <a:t>公钥、密钥标识符</a:t>
            </a:r>
            <a:r>
              <a:rPr lang="zh-CN" altLang="en-US" b="0" dirty="0"/>
              <a:t>等数据签名，生成响应返回客户端。</a:t>
            </a:r>
          </a:p>
          <a:p>
            <a:r>
              <a:rPr lang="zh-CN" altLang="en-US" b="0" dirty="0"/>
              <a:t>客户端转换响应格式后发送给在线服务，服务器将公钥与用户账号建立关联，完成注册。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4B51F99-2652-48C9-A1E9-614D53819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8730329-043D-45D9-8492-1A3FC644A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注册流程</a:t>
            </a:r>
          </a:p>
        </p:txBody>
      </p:sp>
    </p:spTree>
    <p:extLst>
      <p:ext uri="{BB962C8B-B14F-4D97-AF65-F5344CB8AC3E}">
        <p14:creationId xmlns:p14="http://schemas.microsoft.com/office/powerpoint/2010/main" val="24973316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10E3952-420D-4DFC-B6D6-119BE959A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用户通过客户端登录在线服务，获取挑战数据，生成认证请求发送至 </a:t>
            </a:r>
            <a:r>
              <a:rPr lang="en-US" altLang="zh-CN" b="0" dirty="0"/>
              <a:t>U2F </a:t>
            </a:r>
            <a:r>
              <a:rPr lang="zh-CN" altLang="en-US" b="0" dirty="0"/>
              <a:t>设备。</a:t>
            </a:r>
          </a:p>
          <a:p>
            <a:r>
              <a:rPr lang="zh-CN" altLang="en-US" b="0" dirty="0"/>
              <a:t>用户按键确认后，</a:t>
            </a:r>
            <a:r>
              <a:rPr lang="en-US" altLang="zh-CN" b="0" dirty="0"/>
              <a:t>U2F </a:t>
            </a:r>
            <a:r>
              <a:rPr lang="zh-CN" altLang="en-US" b="0" dirty="0"/>
              <a:t>设备通过请求中的</a:t>
            </a:r>
            <a:r>
              <a:rPr lang="zh-CN" altLang="en-US" dirty="0"/>
              <a:t>密钥标识符</a:t>
            </a:r>
            <a:r>
              <a:rPr lang="zh-CN" altLang="en-US" b="0" dirty="0"/>
              <a:t>找回注册时的私钥。</a:t>
            </a:r>
          </a:p>
          <a:p>
            <a:r>
              <a:rPr lang="en-US" altLang="zh-CN" b="0" dirty="0"/>
              <a:t>U2F </a:t>
            </a:r>
            <a:r>
              <a:rPr lang="zh-CN" altLang="en-US" b="0" dirty="0"/>
              <a:t>设备用私钥对挑战数据签名，生成响应返回客户端。</a:t>
            </a:r>
          </a:p>
          <a:p>
            <a:r>
              <a:rPr lang="zh-CN" altLang="en-US" b="0" dirty="0"/>
              <a:t>客户端转换响应格式后发送给在线服务，服务器使用注册时关联的公钥验证签名有效性，完成认证。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7664DBB-27AA-4C3F-A66B-CF397D779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E6E7565-D854-43B4-9724-EEE762489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认证流程</a:t>
            </a:r>
          </a:p>
        </p:txBody>
      </p:sp>
    </p:spTree>
    <p:extLst>
      <p:ext uri="{BB962C8B-B14F-4D97-AF65-F5344CB8AC3E}">
        <p14:creationId xmlns:p14="http://schemas.microsoft.com/office/powerpoint/2010/main" val="28381459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61782E1-0628-415C-9687-1075541FC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FIDO </a:t>
            </a:r>
            <a:r>
              <a:rPr lang="zh-CN" altLang="en-US" b="0" dirty="0"/>
              <a:t>联盟</a:t>
            </a:r>
            <a:r>
              <a:rPr lang="zh-CN" altLang="en-US" dirty="0"/>
              <a:t>第二代强身份认证标准总称</a:t>
            </a:r>
            <a:r>
              <a:rPr lang="zh-CN" altLang="en-US" b="0" dirty="0"/>
              <a:t>，整合 </a:t>
            </a:r>
            <a:r>
              <a:rPr lang="en-US" altLang="zh-CN" b="0" dirty="0"/>
              <a:t>FIDO U2F</a:t>
            </a:r>
            <a:r>
              <a:rPr lang="zh-CN" altLang="en-US" b="0" dirty="0"/>
              <a:t>（第二因子）与 </a:t>
            </a:r>
            <a:r>
              <a:rPr lang="en-US" altLang="zh-CN" b="0" dirty="0"/>
              <a:t>UAF</a:t>
            </a:r>
            <a:r>
              <a:rPr lang="zh-CN" altLang="en-US" b="0" dirty="0"/>
              <a:t>（无密码）能力，支持</a:t>
            </a:r>
            <a:r>
              <a:rPr lang="zh-CN" altLang="en-US" dirty="0"/>
              <a:t>无密码、第二因子、多因子</a:t>
            </a:r>
            <a:r>
              <a:rPr lang="zh-CN" altLang="en-US" b="0" dirty="0"/>
              <a:t>三种用户体验；</a:t>
            </a:r>
          </a:p>
          <a:p>
            <a:r>
              <a:rPr lang="zh-CN" altLang="en-US" b="0" dirty="0"/>
              <a:t>安全性高于密码和短信 </a:t>
            </a:r>
            <a:r>
              <a:rPr lang="en-US" altLang="zh-CN" b="0" dirty="0"/>
              <a:t>OTP</a:t>
            </a:r>
            <a:r>
              <a:rPr lang="zh-CN" altLang="en-US" b="0" dirty="0"/>
              <a:t>，可跨移动 </a:t>
            </a:r>
            <a:r>
              <a:rPr lang="en-US" altLang="zh-CN" b="0" dirty="0"/>
              <a:t>/ </a:t>
            </a:r>
            <a:r>
              <a:rPr lang="zh-CN" altLang="en-US" b="0" dirty="0"/>
              <a:t>桌面环境实现通用设备认证。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99065DD-B40A-41B3-AB8C-C260CEE3F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C465211-0773-4135-89DA-6262ABA8D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FIDO2</a:t>
            </a:r>
            <a:r>
              <a:rPr lang="zh-CN" altLang="en-US" b="0" dirty="0"/>
              <a:t>：新一代强身份认证标准</a:t>
            </a: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23A6EC1-EA8D-4296-A193-CEC45577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508310"/>
              </p:ext>
            </p:extLst>
          </p:nvPr>
        </p:nvGraphicFramePr>
        <p:xfrm>
          <a:off x="356170" y="2922216"/>
          <a:ext cx="11487768" cy="3483883"/>
        </p:xfrm>
        <a:graphic>
          <a:graphicData uri="http://schemas.openxmlformats.org/drawingml/2006/table">
            <a:tbl>
              <a:tblPr/>
              <a:tblGrid>
                <a:gridCol w="3829256">
                  <a:extLst>
                    <a:ext uri="{9D8B030D-6E8A-4147-A177-3AD203B41FA5}">
                      <a16:colId xmlns:a16="http://schemas.microsoft.com/office/drawing/2014/main" val="3733007353"/>
                    </a:ext>
                  </a:extLst>
                </a:gridCol>
                <a:gridCol w="3829256">
                  <a:extLst>
                    <a:ext uri="{9D8B030D-6E8A-4147-A177-3AD203B41FA5}">
                      <a16:colId xmlns:a16="http://schemas.microsoft.com/office/drawing/2014/main" val="92261916"/>
                    </a:ext>
                  </a:extLst>
                </a:gridCol>
                <a:gridCol w="3829256">
                  <a:extLst>
                    <a:ext uri="{9D8B030D-6E8A-4147-A177-3AD203B41FA5}">
                      <a16:colId xmlns:a16="http://schemas.microsoft.com/office/drawing/2014/main" val="885338563"/>
                    </a:ext>
                  </a:extLst>
                </a:gridCol>
              </a:tblGrid>
              <a:tr h="679723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规范名称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E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F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90E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F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制定方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F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90E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F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900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核心作用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90E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90E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90E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C0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148445"/>
                  </a:ext>
                </a:extLst>
              </a:tr>
              <a:tr h="1399431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</a:rPr>
                        <a:t>W3C WebAuthn</a:t>
                      </a:r>
                      <a:endParaRPr lang="en-US" sz="2000" b="0">
                        <a:effectLst/>
                      </a:endParaRP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F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0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F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101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effectLst/>
                        </a:rPr>
                        <a:t>万维网联盟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300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10E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900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1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effectLst/>
                        </a:rPr>
                        <a:t>定义标准 </a:t>
                      </a:r>
                      <a:r>
                        <a:rPr lang="en-US" altLang="zh-CN" sz="2000" b="0">
                          <a:effectLst/>
                        </a:rPr>
                        <a:t>Web API</a:t>
                      </a:r>
                      <a:r>
                        <a:rPr lang="zh-CN" altLang="en-US" sz="2000" b="0">
                          <a:effectLst/>
                        </a:rPr>
                        <a:t>，使 </a:t>
                      </a:r>
                      <a:r>
                        <a:rPr lang="en-US" altLang="zh-CN" sz="2000" b="0">
                          <a:effectLst/>
                        </a:rPr>
                        <a:t>FIDO </a:t>
                      </a:r>
                      <a:r>
                        <a:rPr lang="zh-CN" altLang="en-US" sz="2000" b="0">
                          <a:effectLst/>
                        </a:rPr>
                        <a:t>认证内置到浏览器 </a:t>
                      </a:r>
                      <a:r>
                        <a:rPr lang="en-US" altLang="zh-CN" sz="2000" b="0">
                          <a:effectLst/>
                        </a:rPr>
                        <a:t>/ </a:t>
                      </a:r>
                      <a:r>
                        <a:rPr lang="zh-CN" altLang="en-US" sz="2000" b="0">
                          <a:effectLst/>
                        </a:rPr>
                        <a:t>平台；支持无密码 </a:t>
                      </a:r>
                      <a:r>
                        <a:rPr lang="en-US" altLang="zh-CN" sz="2000" b="0">
                          <a:effectLst/>
                        </a:rPr>
                        <a:t>/ </a:t>
                      </a:r>
                      <a:r>
                        <a:rPr lang="zh-CN" altLang="en-US" sz="2000" b="0">
                          <a:effectLst/>
                        </a:rPr>
                        <a:t>第二因子登录，实现跨 </a:t>
                      </a:r>
                      <a:r>
                        <a:rPr lang="en-US" altLang="zh-CN" sz="2000" b="0">
                          <a:effectLst/>
                        </a:rPr>
                        <a:t>Web </a:t>
                      </a:r>
                      <a:r>
                        <a:rPr lang="zh-CN" altLang="en-US" sz="2000" b="0">
                          <a:effectLst/>
                        </a:rPr>
                        <a:t>环境强认证。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10E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F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C0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886145"/>
                  </a:ext>
                </a:extLst>
              </a:tr>
              <a:tr h="1399431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</a:rPr>
                        <a:t>FIDO CTAP</a:t>
                      </a:r>
                      <a:endParaRPr lang="en-US" sz="2000" b="0">
                        <a:effectLst/>
                      </a:endParaRP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701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901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101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1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effectLst/>
                        </a:rPr>
                        <a:t>FIDO </a:t>
                      </a:r>
                      <a:r>
                        <a:rPr lang="zh-CN" altLang="en-US" sz="2000" b="0">
                          <a:effectLst/>
                        </a:rPr>
                        <a:t>联盟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901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F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1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701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0" dirty="0">
                          <a:effectLst/>
                        </a:rPr>
                        <a:t>作为 </a:t>
                      </a:r>
                      <a:r>
                        <a:rPr lang="en-US" altLang="zh-CN" sz="2000" b="0" dirty="0" err="1">
                          <a:effectLst/>
                        </a:rPr>
                        <a:t>WebAuthn</a:t>
                      </a:r>
                      <a:r>
                        <a:rPr lang="en-US" altLang="zh-CN" sz="2000" b="0" dirty="0">
                          <a:effectLst/>
                        </a:rPr>
                        <a:t> </a:t>
                      </a:r>
                      <a:r>
                        <a:rPr lang="zh-CN" altLang="en-US" sz="2000" b="0" dirty="0">
                          <a:effectLst/>
                        </a:rPr>
                        <a:t>补充，实现浏览器 </a:t>
                      </a:r>
                      <a:r>
                        <a:rPr lang="en-US" altLang="zh-CN" sz="2000" b="0" dirty="0">
                          <a:effectLst/>
                        </a:rPr>
                        <a:t>/ OS </a:t>
                      </a:r>
                      <a:r>
                        <a:rPr lang="zh-CN" altLang="en-US" sz="2000" b="0" dirty="0">
                          <a:effectLst/>
                        </a:rPr>
                        <a:t>与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effectLst/>
                        </a:rPr>
                        <a:t>外部认证器</a:t>
                      </a:r>
                      <a:r>
                        <a:rPr lang="zh-CN" altLang="en-US" sz="2000" b="0" dirty="0">
                          <a:effectLst/>
                        </a:rPr>
                        <a:t>（</a:t>
                      </a:r>
                      <a:r>
                        <a:rPr lang="en-US" altLang="zh-CN" sz="2000" b="0" dirty="0">
                          <a:effectLst/>
                        </a:rPr>
                        <a:t>USB/NFC/ </a:t>
                      </a:r>
                      <a:r>
                        <a:rPr lang="zh-CN" altLang="en-US" sz="2000" b="0" dirty="0">
                          <a:effectLst/>
                        </a:rPr>
                        <a:t>蓝牙设备）通信；无需跨设备重复注册。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F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F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B0E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851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6048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2D6A3A3-C126-4282-8E7A-831493328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用户先通过传统认证（如用户名密码）登录网站，网站后端生成</a:t>
            </a:r>
            <a:r>
              <a:rPr lang="zh-CN" altLang="en-US" dirty="0"/>
              <a:t>随机挑战</a:t>
            </a:r>
            <a:r>
              <a:rPr lang="zh-CN" altLang="en-US" b="0" dirty="0"/>
              <a:t>发送至前端；</a:t>
            </a:r>
          </a:p>
          <a:p>
            <a:r>
              <a:rPr lang="zh-CN" altLang="en-US" b="0" dirty="0"/>
              <a:t>前端调用 </a:t>
            </a:r>
            <a:r>
              <a:rPr lang="en-US" altLang="zh-CN" b="0" dirty="0" err="1"/>
              <a:t>WebAuthn</a:t>
            </a:r>
            <a:r>
              <a:rPr lang="en-US" altLang="zh-CN" b="0" dirty="0"/>
              <a:t> API</a:t>
            </a:r>
            <a:r>
              <a:rPr lang="zh-CN" altLang="en-US" b="0" dirty="0"/>
              <a:t>，发起 “创建凭据请求”（含挑战、用户信息、允许的认证器类型）；</a:t>
            </a:r>
          </a:p>
          <a:p>
            <a:r>
              <a:rPr lang="zh-CN" altLang="en-US" b="0" dirty="0"/>
              <a:t>浏览器通过 </a:t>
            </a:r>
            <a:r>
              <a:rPr lang="en-US" altLang="zh-CN" b="0" dirty="0"/>
              <a:t>CTAP </a:t>
            </a:r>
            <a:r>
              <a:rPr lang="zh-CN" altLang="en-US" b="0" dirty="0"/>
              <a:t>与安全密钥通信，密钥生成</a:t>
            </a:r>
            <a:r>
              <a:rPr lang="zh-CN" altLang="en-US" dirty="0"/>
              <a:t>公钥 </a:t>
            </a:r>
            <a:r>
              <a:rPr lang="en-US" altLang="zh-CN" dirty="0"/>
              <a:t>- </a:t>
            </a:r>
            <a:r>
              <a:rPr lang="zh-CN" altLang="en-US" dirty="0"/>
              <a:t>私钥对</a:t>
            </a:r>
            <a:r>
              <a:rPr lang="zh-CN" altLang="en-US" b="0" dirty="0"/>
              <a:t>，并存储公钥、挑战、用户信息；</a:t>
            </a:r>
          </a:p>
          <a:p>
            <a:r>
              <a:rPr lang="zh-CN" altLang="en-US" b="0" dirty="0"/>
              <a:t>安全密钥打包 “公钥 </a:t>
            </a:r>
            <a:r>
              <a:rPr lang="en-US" altLang="zh-CN" b="0" dirty="0"/>
              <a:t>+ </a:t>
            </a:r>
            <a:r>
              <a:rPr lang="zh-CN" altLang="en-US" b="0" dirty="0"/>
              <a:t>设备签名 </a:t>
            </a:r>
            <a:r>
              <a:rPr lang="en-US" altLang="zh-CN" b="0" dirty="0"/>
              <a:t>+ </a:t>
            </a:r>
            <a:r>
              <a:rPr lang="zh-CN" altLang="en-US" b="0" dirty="0"/>
              <a:t>元数据” 为</a:t>
            </a:r>
            <a:r>
              <a:rPr lang="zh-CN" altLang="en-US" dirty="0"/>
              <a:t>证明对象（</a:t>
            </a:r>
            <a:r>
              <a:rPr lang="en-US" altLang="zh-CN" dirty="0"/>
              <a:t>Attestation</a:t>
            </a:r>
            <a:r>
              <a:rPr lang="zh-CN" altLang="en-US" dirty="0"/>
              <a:t>）</a:t>
            </a:r>
            <a:r>
              <a:rPr lang="zh-CN" altLang="en-US" b="0" dirty="0"/>
              <a:t> ，经浏览器返回网站；</a:t>
            </a:r>
          </a:p>
          <a:p>
            <a:r>
              <a:rPr lang="zh-CN" altLang="en-US" b="0" dirty="0"/>
              <a:t>网站验证证明对象有效性，成功后将公钥与用户账户关联存储。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1CEF79C-723E-43BE-B0AD-9ACE54234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9D80A91-7713-4109-99F5-C703D7CB5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注册流程（建立 “用户 </a:t>
            </a:r>
            <a:r>
              <a:rPr lang="en-US" altLang="zh-CN" dirty="0"/>
              <a:t>- </a:t>
            </a:r>
            <a:r>
              <a:rPr lang="zh-CN" altLang="en-US" dirty="0"/>
              <a:t>公钥 </a:t>
            </a:r>
            <a:r>
              <a:rPr lang="en-US" altLang="zh-CN" dirty="0"/>
              <a:t>- </a:t>
            </a:r>
            <a:r>
              <a:rPr lang="zh-CN" altLang="en-US" dirty="0"/>
              <a:t>账户” 关联）</a:t>
            </a:r>
          </a:p>
        </p:txBody>
      </p:sp>
    </p:spTree>
    <p:extLst>
      <p:ext uri="{BB962C8B-B14F-4D97-AF65-F5344CB8AC3E}">
        <p14:creationId xmlns:p14="http://schemas.microsoft.com/office/powerpoint/2010/main" val="23099120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A12D865-0E7D-4966-B8F3-3959AFA57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用户请求登录，网站后端生成</a:t>
            </a:r>
            <a:r>
              <a:rPr lang="zh-CN" altLang="en-US" dirty="0"/>
              <a:t>随机挑战</a:t>
            </a:r>
            <a:r>
              <a:rPr lang="zh-CN" altLang="en-US" b="0" dirty="0"/>
              <a:t>发送至前端；</a:t>
            </a:r>
          </a:p>
          <a:p>
            <a:r>
              <a:rPr lang="zh-CN" altLang="en-US" b="0" dirty="0"/>
              <a:t>前端调用 </a:t>
            </a:r>
            <a:r>
              <a:rPr lang="en-US" altLang="zh-CN" b="0" dirty="0" err="1"/>
              <a:t>WebAuthn</a:t>
            </a:r>
            <a:r>
              <a:rPr lang="en-US" altLang="zh-CN" b="0" dirty="0"/>
              <a:t> API</a:t>
            </a:r>
            <a:r>
              <a:rPr lang="zh-CN" altLang="en-US" b="0" dirty="0"/>
              <a:t>，发起 “身份验证请求”（含挑战、用户 </a:t>
            </a:r>
            <a:r>
              <a:rPr lang="en-US" altLang="zh-CN" b="0" dirty="0"/>
              <a:t>ID</a:t>
            </a:r>
            <a:r>
              <a:rPr lang="zh-CN" altLang="en-US" b="0" dirty="0"/>
              <a:t>）；</a:t>
            </a:r>
          </a:p>
          <a:p>
            <a:r>
              <a:rPr lang="zh-CN" altLang="en-US" b="0" dirty="0"/>
              <a:t>浏览器通过 </a:t>
            </a:r>
            <a:r>
              <a:rPr lang="en-US" altLang="zh-CN" b="0" dirty="0"/>
              <a:t>CTAP </a:t>
            </a:r>
            <a:r>
              <a:rPr lang="zh-CN" altLang="en-US" b="0" dirty="0"/>
              <a:t>与安全密钥通信，密钥根据用户 </a:t>
            </a:r>
            <a:r>
              <a:rPr lang="en-US" altLang="zh-CN" b="0" dirty="0"/>
              <a:t>ID </a:t>
            </a:r>
            <a:r>
              <a:rPr lang="zh-CN" altLang="en-US" b="0" dirty="0"/>
              <a:t>找到对应私钥，对挑战签名；</a:t>
            </a:r>
          </a:p>
          <a:p>
            <a:r>
              <a:rPr lang="zh-CN" altLang="en-US" b="0" dirty="0"/>
              <a:t>安全密钥打包 “签名 </a:t>
            </a:r>
            <a:r>
              <a:rPr lang="en-US" altLang="zh-CN" b="0" dirty="0"/>
              <a:t>+ </a:t>
            </a:r>
            <a:r>
              <a:rPr lang="zh-CN" altLang="en-US" b="0" dirty="0"/>
              <a:t>元数据” 为</a:t>
            </a:r>
            <a:r>
              <a:rPr lang="zh-CN" altLang="en-US" dirty="0"/>
              <a:t>断言对象（</a:t>
            </a:r>
            <a:r>
              <a:rPr lang="en-US" altLang="zh-CN" dirty="0"/>
              <a:t>Assertion</a:t>
            </a:r>
            <a:r>
              <a:rPr lang="zh-CN" altLang="en-US" dirty="0"/>
              <a:t>）</a:t>
            </a:r>
            <a:r>
              <a:rPr lang="zh-CN" altLang="en-US" b="0" dirty="0"/>
              <a:t> ，经浏览器返回网站；</a:t>
            </a:r>
          </a:p>
          <a:p>
            <a:r>
              <a:rPr lang="zh-CN" altLang="en-US" b="0" dirty="0"/>
              <a:t>网站用注册时存储的公钥验证签名有效性，成功则确认身份并允许登录。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911258C-4433-4944-A085-2A7ACB7F0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AA5CA85-2A4D-45EE-BD5E-B700E6726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认证流程（验证用户身份合法性）</a:t>
            </a:r>
          </a:p>
        </p:txBody>
      </p:sp>
    </p:spTree>
    <p:extLst>
      <p:ext uri="{BB962C8B-B14F-4D97-AF65-F5344CB8AC3E}">
        <p14:creationId xmlns:p14="http://schemas.microsoft.com/office/powerpoint/2010/main" val="26570443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5DD6A95-2481-4163-B8A2-107AB0F82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高安全性</a:t>
            </a:r>
            <a:r>
              <a:rPr lang="zh-CN" altLang="en-US" b="0" dirty="0"/>
              <a:t>：每个网站的加密凭据唯一，私钥永不离开用户设备、不存储在服务器，杜绝钓鱼、密码盗窃、重放攻击；</a:t>
            </a:r>
          </a:p>
          <a:p>
            <a:r>
              <a:rPr lang="zh-CN" altLang="en-US" dirty="0"/>
              <a:t>高便利性</a:t>
            </a:r>
            <a:r>
              <a:rPr lang="zh-CN" altLang="en-US" b="0" dirty="0"/>
              <a:t>：支持设备内置方式（指纹 </a:t>
            </a:r>
            <a:r>
              <a:rPr lang="en-US" altLang="zh-CN" b="0" dirty="0"/>
              <a:t>/ </a:t>
            </a:r>
            <a:r>
              <a:rPr lang="zh-CN" altLang="en-US" b="0" dirty="0"/>
              <a:t>摄像头）或 </a:t>
            </a:r>
            <a:r>
              <a:rPr lang="en-US" altLang="zh-CN" b="0" dirty="0"/>
              <a:t>FIDO </a:t>
            </a:r>
            <a:r>
              <a:rPr lang="zh-CN" altLang="en-US" b="0" dirty="0"/>
              <a:t>安全密钥，用户可自主选择适配需求的设备；</a:t>
            </a:r>
          </a:p>
          <a:p>
            <a:r>
              <a:rPr lang="zh-CN" altLang="en-US" dirty="0"/>
              <a:t>强隐私性</a:t>
            </a:r>
            <a:r>
              <a:rPr lang="zh-CN" altLang="en-US" b="0" dirty="0"/>
              <a:t>：密钥与网站绑定，无法跨站点跟踪用户；生物特征数据始终留存设备本地；</a:t>
            </a:r>
          </a:p>
          <a:p>
            <a:r>
              <a:rPr lang="zh-CN" altLang="en-US" dirty="0"/>
              <a:t>高可扩展性</a:t>
            </a:r>
            <a:r>
              <a:rPr lang="zh-CN" altLang="en-US" b="0" dirty="0"/>
              <a:t>：通过简单 </a:t>
            </a:r>
            <a:r>
              <a:rPr lang="en-US" altLang="zh-CN" b="0" dirty="0"/>
              <a:t>JavaScript API </a:t>
            </a:r>
            <a:r>
              <a:rPr lang="zh-CN" altLang="en-US" b="0" dirty="0"/>
              <a:t>即可启用，支持数十亿台设备的浏览器与多平台。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ED1A9E5-F5AA-4D84-AB1A-530112ABB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104409A-C314-4C16-8941-FDB98C10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FIDO2 </a:t>
            </a:r>
            <a:r>
              <a:rPr lang="zh-CN" altLang="en-US" dirty="0"/>
              <a:t>核心优点</a:t>
            </a:r>
          </a:p>
        </p:txBody>
      </p:sp>
    </p:spTree>
    <p:extLst>
      <p:ext uri="{BB962C8B-B14F-4D97-AF65-F5344CB8AC3E}">
        <p14:creationId xmlns:p14="http://schemas.microsoft.com/office/powerpoint/2010/main" val="40606250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0B23D78-F6EF-48FD-82C2-BC8CFE911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核心逻辑</a:t>
            </a:r>
            <a:r>
              <a:rPr lang="zh-CN" altLang="en-US" b="0" dirty="0"/>
              <a:t>：将认证系统视为 “分类器”，用户每次认证的信息（如 </a:t>
            </a:r>
            <a:r>
              <a:rPr lang="en-US" altLang="zh-CN" b="0" dirty="0"/>
              <a:t>IP</a:t>
            </a:r>
            <a:r>
              <a:rPr lang="zh-CN" altLang="en-US" b="0" dirty="0"/>
              <a:t>、地理位置、登录时间、口令输入方式、设备传感器数据）作为 “输入实例”，输出为 “信任概率”（非传统 </a:t>
            </a:r>
            <a:r>
              <a:rPr lang="en-US" altLang="zh-CN" b="0" dirty="0"/>
              <a:t>0/1 </a:t>
            </a:r>
            <a:r>
              <a:rPr lang="zh-CN" altLang="en-US" b="0" dirty="0"/>
              <a:t>硬判断）。</a:t>
            </a:r>
          </a:p>
          <a:p>
            <a:r>
              <a:rPr lang="zh-CN" altLang="en-US" dirty="0"/>
              <a:t>关键优势</a:t>
            </a:r>
            <a:r>
              <a:rPr lang="zh-CN" altLang="en-US" b="0" dirty="0"/>
              <a:t>：</a:t>
            </a:r>
          </a:p>
          <a:p>
            <a:pPr lvl="1"/>
            <a:r>
              <a:rPr lang="zh-CN" altLang="en-US" b="0" dirty="0"/>
              <a:t>利用</a:t>
            </a:r>
            <a:r>
              <a:rPr lang="zh-CN" altLang="en-US" dirty="0"/>
              <a:t>隐式信号</a:t>
            </a:r>
            <a:r>
              <a:rPr lang="zh-CN" altLang="en-US" b="0" dirty="0"/>
              <a:t>：用户无需额外操作（如输入二次验证码），系统自动采集多维度数据；</a:t>
            </a:r>
          </a:p>
          <a:p>
            <a:pPr lvl="1"/>
            <a:r>
              <a:rPr lang="zh-CN" altLang="en-US" b="0" dirty="0"/>
              <a:t>提升攻击成本：单一信号可伪造（如伪造地理位置），但伪造所有信号难度极高，大幅增强账号安全性。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408227C-BD43-47C2-9C6A-81578C6C9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0D23B5C-9C83-43ED-AF4F-605490A1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新思想 </a:t>
            </a:r>
            <a:r>
              <a:rPr lang="en-US" altLang="zh-CN" dirty="0"/>
              <a:t>- </a:t>
            </a:r>
            <a:r>
              <a:rPr lang="zh-CN" altLang="en-US" dirty="0"/>
              <a:t>基于分类器的认证</a:t>
            </a:r>
          </a:p>
        </p:txBody>
      </p:sp>
    </p:spTree>
    <p:extLst>
      <p:ext uri="{BB962C8B-B14F-4D97-AF65-F5344CB8AC3E}">
        <p14:creationId xmlns:p14="http://schemas.microsoft.com/office/powerpoint/2010/main" val="9273306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18F4C8-8D40-4764-BF6F-5DB82945A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B575559-0D4E-4AB0-8949-A3EDE770A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508FFDF6-7EDB-44AF-98A8-46EC11749F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6663413"/>
              </p:ext>
            </p:extLst>
          </p:nvPr>
        </p:nvGraphicFramePr>
        <p:xfrm>
          <a:off x="371474" y="1438010"/>
          <a:ext cx="11472466" cy="4817244"/>
        </p:xfrm>
        <a:graphic>
          <a:graphicData uri="http://schemas.openxmlformats.org/drawingml/2006/table">
            <a:tbl>
              <a:tblPr/>
              <a:tblGrid>
                <a:gridCol w="5736233">
                  <a:extLst>
                    <a:ext uri="{9D8B030D-6E8A-4147-A177-3AD203B41FA5}">
                      <a16:colId xmlns:a16="http://schemas.microsoft.com/office/drawing/2014/main" val="1517984550"/>
                    </a:ext>
                  </a:extLst>
                </a:gridCol>
                <a:gridCol w="5736233">
                  <a:extLst>
                    <a:ext uri="{9D8B030D-6E8A-4147-A177-3AD203B41FA5}">
                      <a16:colId xmlns:a16="http://schemas.microsoft.com/office/drawing/2014/main" val="4183484394"/>
                    </a:ext>
                  </a:extLst>
                </a:gridCol>
              </a:tblGrid>
              <a:tr h="554866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挑战类型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C0F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0F1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F1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0F1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具体说明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40F1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0F1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0F1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501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942684"/>
                  </a:ext>
                </a:extLst>
              </a:tr>
              <a:tr h="1436124"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effectLst/>
                        </a:rPr>
                        <a:t>错误权衡难题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A0F1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0E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0F1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60FD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effectLst/>
                        </a:rPr>
                        <a:t>分类器必然存在</a:t>
                      </a:r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错误接受（</a:t>
                      </a:r>
                      <a:r>
                        <a:rPr lang="en-US" altLang="zh-CN" sz="2000" b="1">
                          <a:solidFill>
                            <a:srgbClr val="000000"/>
                          </a:solidFill>
                          <a:effectLst/>
                        </a:rPr>
                        <a:t>False Accept</a:t>
                      </a:r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，误放攻击者）</a:t>
                      </a:r>
                      <a:r>
                        <a:rPr lang="zh-CN" altLang="en-US" sz="2000" b="0">
                          <a:effectLst/>
                        </a:rPr>
                        <a:t> 和</a:t>
                      </a:r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错误拒绝（</a:t>
                      </a:r>
                      <a:r>
                        <a:rPr lang="en-US" altLang="zh-CN" sz="2000" b="1">
                          <a:solidFill>
                            <a:srgbClr val="000000"/>
                          </a:solidFill>
                          <a:effectLst/>
                        </a:rPr>
                        <a:t>False Reject</a:t>
                      </a:r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，误拦合法用户）</a:t>
                      </a:r>
                      <a:r>
                        <a:rPr lang="zh-CN" altLang="en-US" sz="2000" b="0">
                          <a:effectLst/>
                        </a:rPr>
                        <a:t> ：</a:t>
                      </a:r>
                      <a:br>
                        <a:rPr lang="zh-CN" altLang="en-US" sz="2000" b="0">
                          <a:effectLst/>
                        </a:rPr>
                      </a:br>
                      <a:r>
                        <a:rPr lang="en-US" altLang="zh-CN" sz="2000" b="0">
                          <a:effectLst/>
                        </a:rPr>
                        <a:t>- </a:t>
                      </a:r>
                      <a:r>
                        <a:rPr lang="zh-CN" altLang="en-US" sz="2000" b="0">
                          <a:effectLst/>
                        </a:rPr>
                        <a:t>金融场景：错误接受可能导致欺诈（可挽回），错误拒绝可能致用户流失或数据泄露（不可挽回）。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40E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0E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501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02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505064"/>
                  </a:ext>
                </a:extLst>
              </a:tr>
              <a:tr h="1142371"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effectLst/>
                        </a:rPr>
                        <a:t>训练数据获取难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800A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C0E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60FD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2D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effectLst/>
                        </a:rPr>
                        <a:t>需大量 “真实用户行为 </a:t>
                      </a:r>
                      <a:r>
                        <a:rPr lang="en-US" altLang="zh-CN" sz="2000" b="0">
                          <a:effectLst/>
                        </a:rPr>
                        <a:t>+ </a:t>
                      </a:r>
                      <a:r>
                        <a:rPr lang="zh-CN" altLang="en-US" sz="2000" b="0">
                          <a:effectLst/>
                        </a:rPr>
                        <a:t>攻击行为” 的基准数据：</a:t>
                      </a:r>
                      <a:br>
                        <a:rPr lang="zh-CN" altLang="en-US" sz="2000" b="0">
                          <a:effectLst/>
                        </a:rPr>
                      </a:br>
                      <a:r>
                        <a:rPr lang="en-US" altLang="zh-CN" sz="2000" b="0">
                          <a:effectLst/>
                        </a:rPr>
                        <a:t>- </a:t>
                      </a:r>
                      <a:r>
                        <a:rPr lang="zh-CN" altLang="en-US" sz="2000" b="0">
                          <a:effectLst/>
                        </a:rPr>
                        <a:t>经济动机攻击者易产生大量训练数据，非经济动机攻击者（如 </a:t>
                      </a:r>
                      <a:r>
                        <a:rPr lang="en-US" altLang="zh-CN" sz="2000" b="0">
                          <a:effectLst/>
                        </a:rPr>
                        <a:t>APT</a:t>
                      </a:r>
                      <a:r>
                        <a:rPr lang="zh-CN" altLang="en-US" sz="2000" b="0">
                          <a:effectLst/>
                        </a:rPr>
                        <a:t>）行为隐蔽，数据稀缺。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C0E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0E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02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2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521262"/>
                  </a:ext>
                </a:extLst>
              </a:tr>
              <a:tr h="848618"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effectLst/>
                        </a:rPr>
                        <a:t>高级威胁对抗难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002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8001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2D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C02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0" dirty="0">
                          <a:effectLst/>
                        </a:rPr>
                        <a:t>针对单个用户的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effectLst/>
                        </a:rPr>
                        <a:t>高级持续威胁（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effectLst/>
                        </a:rPr>
                        <a:t>APT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r>
                        <a:rPr lang="zh-CN" altLang="en-US" sz="2000" b="0" dirty="0">
                          <a:effectLst/>
                        </a:rPr>
                        <a:t> 可定制攻击手段，留给分类器的异常信号极少，难以检测。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8001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40E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2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003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47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2147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C003581-26F6-4735-8F53-F1ECAE41A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概念定义</a:t>
            </a:r>
          </a:p>
          <a:p>
            <a:r>
              <a:rPr lang="zh-CN" altLang="en-US" dirty="0"/>
              <a:t>持续认证（</a:t>
            </a:r>
            <a:r>
              <a:rPr lang="en-US" altLang="zh-CN" dirty="0"/>
              <a:t>Continual Authentication</a:t>
            </a:r>
            <a:r>
              <a:rPr lang="zh-CN" altLang="en-US" dirty="0"/>
              <a:t>）</a:t>
            </a:r>
            <a:r>
              <a:rPr lang="zh-CN" altLang="en-US" b="0" dirty="0"/>
              <a:t> ：突破 “仅入口认证” 的局限，用户登录后仍持续监控行为（如操作习惯、访问资源类型），根据实时信号动态调整信任度，实现</a:t>
            </a:r>
            <a:r>
              <a:rPr lang="zh-CN" altLang="en-US" dirty="0"/>
              <a:t>动态访问控制</a:t>
            </a:r>
            <a:r>
              <a:rPr lang="zh-CN" altLang="en-US" b="0" dirty="0"/>
              <a:t>。</a:t>
            </a:r>
          </a:p>
          <a:p>
            <a:r>
              <a:rPr lang="zh-CN" altLang="en-US" dirty="0"/>
              <a:t>零信任（</a:t>
            </a:r>
            <a:r>
              <a:rPr lang="en-US" altLang="zh-CN" dirty="0"/>
              <a:t>Zero Trust, ZT</a:t>
            </a:r>
            <a:r>
              <a:rPr lang="zh-CN" altLang="en-US" dirty="0"/>
              <a:t>）</a:t>
            </a:r>
            <a:r>
              <a:rPr lang="zh-CN" altLang="en-US" b="0" dirty="0"/>
              <a:t> ：网络安全范式，核心是 “</a:t>
            </a:r>
            <a:r>
              <a:rPr lang="zh-CN" altLang="en-US" dirty="0"/>
              <a:t>永不信任，持续评估</a:t>
            </a:r>
            <a:r>
              <a:rPr lang="zh-CN" altLang="en-US" b="0" dirty="0"/>
              <a:t>”</a:t>
            </a:r>
            <a:r>
              <a:rPr lang="en-US" altLang="zh-CN" b="0" dirty="0"/>
              <a:t>—— </a:t>
            </a:r>
            <a:r>
              <a:rPr lang="zh-CN" altLang="en-US" b="0" dirty="0"/>
              <a:t>不隐式信任任何设备 </a:t>
            </a:r>
            <a:r>
              <a:rPr lang="en-US" altLang="zh-CN" b="0" dirty="0"/>
              <a:t>/ </a:t>
            </a:r>
            <a:r>
              <a:rPr lang="zh-CN" altLang="en-US" b="0" dirty="0"/>
              <a:t>用户（无论内外网），资源访问权限需基于实时信任度动态判定（</a:t>
            </a:r>
            <a:r>
              <a:rPr lang="en-US" altLang="zh-CN" b="0" dirty="0"/>
              <a:t>2020 </a:t>
            </a:r>
            <a:r>
              <a:rPr lang="zh-CN" altLang="en-US" b="0" dirty="0"/>
              <a:t>年 </a:t>
            </a:r>
            <a:r>
              <a:rPr lang="en-US" altLang="zh-CN" b="0" dirty="0"/>
              <a:t>8 </a:t>
            </a:r>
            <a:r>
              <a:rPr lang="zh-CN" altLang="en-US" b="0" dirty="0"/>
              <a:t>月 </a:t>
            </a:r>
            <a:r>
              <a:rPr lang="en-US" altLang="zh-CN" b="0" dirty="0"/>
              <a:t>NIST </a:t>
            </a:r>
            <a:r>
              <a:rPr lang="zh-CN" altLang="en-US" b="0" dirty="0"/>
              <a:t>发布</a:t>
            </a:r>
            <a:r>
              <a:rPr lang="en-US" altLang="zh-CN" b="0" dirty="0"/>
              <a:t>《</a:t>
            </a:r>
            <a:r>
              <a:rPr lang="zh-CN" altLang="en-US" b="0" dirty="0"/>
              <a:t>零信任架构（</a:t>
            </a:r>
            <a:r>
              <a:rPr lang="en-US" altLang="zh-CN" b="0" dirty="0"/>
              <a:t>ZTA</a:t>
            </a:r>
            <a:r>
              <a:rPr lang="zh-CN" altLang="en-US" b="0" dirty="0"/>
              <a:t>）</a:t>
            </a:r>
            <a:r>
              <a:rPr lang="en-US" altLang="zh-CN" b="0" dirty="0"/>
              <a:t>》</a:t>
            </a:r>
            <a:r>
              <a:rPr lang="zh-CN" altLang="en-US" b="0" dirty="0"/>
              <a:t>标准）。</a:t>
            </a:r>
          </a:p>
          <a:p>
            <a:r>
              <a:rPr lang="zh-CN" altLang="en-US" dirty="0"/>
              <a:t>关联</a:t>
            </a:r>
            <a:r>
              <a:rPr lang="zh-CN" altLang="en-US" b="0" dirty="0"/>
              <a:t>：持续认证是零信任的核心支撑，通过持续评估信任度，实现 “零信任” 的动态权限管控。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99D477D-ACB8-419A-A16D-7CF489B05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20CC40EF-9F49-41A3-AFA2-1884CC32D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持续认证与零信任</a:t>
            </a:r>
          </a:p>
        </p:txBody>
      </p:sp>
    </p:spTree>
    <p:extLst>
      <p:ext uri="{BB962C8B-B14F-4D97-AF65-F5344CB8AC3E}">
        <p14:creationId xmlns:p14="http://schemas.microsoft.com/office/powerpoint/2010/main" val="27295225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95128C8-C042-4ABB-ADE9-1E029A288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根据信任度动态调整认证强度，例如：</a:t>
            </a:r>
          </a:p>
          <a:p>
            <a:r>
              <a:rPr lang="zh-CN" altLang="en-US" b="0" dirty="0"/>
              <a:t>低风险操作（如查询银行余额）：仅需口令 </a:t>
            </a:r>
            <a:r>
              <a:rPr lang="en-US" altLang="zh-CN" b="0" dirty="0"/>
              <a:t>+ </a:t>
            </a:r>
            <a:r>
              <a:rPr lang="zh-CN" altLang="en-US" b="0" dirty="0"/>
              <a:t>分类器隐式验证；</a:t>
            </a:r>
          </a:p>
          <a:p>
            <a:r>
              <a:rPr lang="zh-CN" altLang="en-US" b="0" dirty="0"/>
              <a:t>高风险操作（如转账）：额外要求安全令牌 </a:t>
            </a:r>
            <a:r>
              <a:rPr lang="en-US" altLang="zh-CN" b="0" dirty="0"/>
              <a:t>/ </a:t>
            </a:r>
            <a:r>
              <a:rPr lang="zh-CN" altLang="en-US" b="0" dirty="0"/>
              <a:t>短信验证码；</a:t>
            </a:r>
          </a:p>
          <a:p>
            <a:r>
              <a:rPr lang="zh-CN" altLang="en-US" b="0" dirty="0"/>
              <a:t>可信场景（如常用设备 </a:t>
            </a:r>
            <a:r>
              <a:rPr lang="en-US" altLang="zh-CN" b="0" dirty="0"/>
              <a:t>+ </a:t>
            </a:r>
            <a:r>
              <a:rPr lang="zh-CN" altLang="en-US" b="0" dirty="0"/>
              <a:t>常用位置）：免口令登录（通过持久 </a:t>
            </a:r>
            <a:r>
              <a:rPr lang="en-US" altLang="zh-CN" b="0" dirty="0"/>
              <a:t>Cookie + </a:t>
            </a:r>
            <a:r>
              <a:rPr lang="zh-CN" altLang="en-US" b="0" dirty="0"/>
              <a:t>分类器验证）。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9FE532B-B5D9-4BA6-B04D-5E256147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D61EBE3-681F-4E48-91C4-3F322A07C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典型应用：多级身份认证</a:t>
            </a:r>
          </a:p>
        </p:txBody>
      </p:sp>
    </p:spTree>
    <p:extLst>
      <p:ext uri="{BB962C8B-B14F-4D97-AF65-F5344CB8AC3E}">
        <p14:creationId xmlns:p14="http://schemas.microsoft.com/office/powerpoint/2010/main" val="30655170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7EA6AB6-92D3-482C-91DF-85AB12D13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4268432" cy="5047042"/>
          </a:xfrm>
        </p:spPr>
        <p:txBody>
          <a:bodyPr/>
          <a:lstStyle/>
          <a:p>
            <a:r>
              <a:rPr lang="zh-CN" altLang="en-US" b="0" dirty="0"/>
              <a:t>核心思想：基于设备状态、用户身份及权限控制资源访问，无 “特权内网”。</a:t>
            </a:r>
          </a:p>
          <a:p>
            <a:r>
              <a:rPr lang="zh-CN" altLang="en-US" b="0" dirty="0"/>
              <a:t>组件与流程（配图 </a:t>
            </a:r>
            <a:r>
              <a:rPr lang="en-US" altLang="zh-CN" b="0" dirty="0"/>
              <a:t>4.12</a:t>
            </a:r>
            <a:r>
              <a:rPr lang="zh-CN" altLang="en-US" b="0" dirty="0"/>
              <a:t>）：</a:t>
            </a:r>
          </a:p>
          <a:p>
            <a:pPr lvl="1"/>
            <a:r>
              <a:rPr lang="zh-CN" altLang="en-US" b="0" dirty="0"/>
              <a:t>无特权网络：员工需 </a:t>
            </a:r>
            <a:r>
              <a:rPr lang="en-US" altLang="zh-CN" b="0" dirty="0"/>
              <a:t>802.1x </a:t>
            </a:r>
            <a:r>
              <a:rPr lang="zh-CN" altLang="en-US" b="0" dirty="0"/>
              <a:t>认证接入内网；</a:t>
            </a:r>
          </a:p>
          <a:p>
            <a:pPr lvl="1"/>
            <a:r>
              <a:rPr lang="zh-CN" altLang="en-US" b="0" dirty="0"/>
              <a:t>访问代理：验证用户身份（</a:t>
            </a:r>
            <a:r>
              <a:rPr lang="en-US" altLang="zh-CN" b="0" dirty="0"/>
              <a:t>SSO </a:t>
            </a:r>
            <a:r>
              <a:rPr lang="zh-CN" altLang="en-US" b="0" dirty="0"/>
              <a:t>双因子）、设备合法性（受控设备）、动态信任等级；</a:t>
            </a:r>
          </a:p>
          <a:p>
            <a:pPr lvl="1"/>
            <a:r>
              <a:rPr lang="zh-CN" altLang="en-US" b="0" dirty="0"/>
              <a:t>动态授权：结合用户 </a:t>
            </a:r>
            <a:r>
              <a:rPr lang="en-US" altLang="zh-CN" b="0" dirty="0"/>
              <a:t>/ </a:t>
            </a:r>
            <a:r>
              <a:rPr lang="zh-CN" altLang="en-US" b="0" dirty="0"/>
              <a:t>设备信任等级判定访问权限。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EF6E2F-F93D-4FE3-B5ED-CC4DE9281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989558E-B680-4B76-A630-AACC5A1E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零信任实践：谷歌 </a:t>
            </a:r>
            <a:r>
              <a:rPr lang="en-US" altLang="zh-CN" b="0" dirty="0" err="1"/>
              <a:t>BeyondCorp</a:t>
            </a:r>
            <a:r>
              <a:rPr lang="en-US" altLang="zh-CN" b="0" dirty="0"/>
              <a:t> </a:t>
            </a:r>
            <a:r>
              <a:rPr lang="zh-CN" altLang="en-US" b="0" dirty="0"/>
              <a:t>系统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B298C2A-F4AA-409E-877A-6B9F6D2BF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055" y="1452839"/>
            <a:ext cx="7098479" cy="327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390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DC96A6C3-296F-4820-99C6-5D092F8794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0997544"/>
              </p:ext>
            </p:extLst>
          </p:nvPr>
        </p:nvGraphicFramePr>
        <p:xfrm>
          <a:off x="371303" y="1100189"/>
          <a:ext cx="11666634" cy="5695609"/>
        </p:xfrm>
        <a:graphic>
          <a:graphicData uri="http://schemas.openxmlformats.org/drawingml/2006/table">
            <a:tbl>
              <a:tblPr/>
              <a:tblGrid>
                <a:gridCol w="2362694">
                  <a:extLst>
                    <a:ext uri="{9D8B030D-6E8A-4147-A177-3AD203B41FA5}">
                      <a16:colId xmlns:a16="http://schemas.microsoft.com/office/drawing/2014/main" val="784281227"/>
                    </a:ext>
                  </a:extLst>
                </a:gridCol>
                <a:gridCol w="9303940">
                  <a:extLst>
                    <a:ext uri="{9D8B030D-6E8A-4147-A177-3AD203B41FA5}">
                      <a16:colId xmlns:a16="http://schemas.microsoft.com/office/drawing/2014/main" val="803466384"/>
                    </a:ext>
                  </a:extLst>
                </a:gridCol>
              </a:tblGrid>
              <a:tr h="433994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组件 </a:t>
                      </a:r>
                      <a:r>
                        <a:rPr lang="en-US" altLang="zh-CN" sz="2000" b="1">
                          <a:solidFill>
                            <a:srgbClr val="000000"/>
                          </a:solidFill>
                          <a:effectLst/>
                        </a:rPr>
                        <a:t>/ </a:t>
                      </a:r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逻辑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506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106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906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507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具体功能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106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106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106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101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463285"/>
                  </a:ext>
                </a:extLst>
              </a:tr>
              <a:tr h="929987">
                <a:tc>
                  <a:txBody>
                    <a:bodyPr/>
                    <a:lstStyle/>
                    <a:p>
                      <a:r>
                        <a:rPr lang="en-US" altLang="zh-CN" sz="2000" b="0">
                          <a:effectLst/>
                        </a:rPr>
                        <a:t>1. </a:t>
                      </a:r>
                      <a:r>
                        <a:rPr lang="zh-CN" altLang="en-US" sz="2000" b="0">
                          <a:effectLst/>
                        </a:rPr>
                        <a:t>无特权内网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907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7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507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907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effectLst/>
                        </a:rPr>
                        <a:t>谷歌内网无 “特权”：员工连内网（网线 </a:t>
                      </a:r>
                      <a:r>
                        <a:rPr lang="en-US" altLang="zh-CN" sz="2000" b="0">
                          <a:effectLst/>
                        </a:rPr>
                        <a:t>/ WiFi</a:t>
                      </a:r>
                      <a:r>
                        <a:rPr lang="zh-CN" altLang="en-US" sz="2000" b="0">
                          <a:effectLst/>
                        </a:rPr>
                        <a:t>）仅能访问互联网 </a:t>
                      </a:r>
                      <a:r>
                        <a:rPr lang="en-US" altLang="zh-CN" sz="2000" b="0">
                          <a:effectLst/>
                        </a:rPr>
                        <a:t>+ </a:t>
                      </a:r>
                      <a:r>
                        <a:rPr lang="zh-CN" altLang="en-US" sz="2000" b="0">
                          <a:effectLst/>
                        </a:rPr>
                        <a:t>基础服务（</a:t>
                      </a:r>
                      <a:r>
                        <a:rPr lang="en-US" altLang="zh-CN" sz="2000" b="0">
                          <a:effectLst/>
                        </a:rPr>
                        <a:t>DNS/DHCP</a:t>
                      </a:r>
                      <a:r>
                        <a:rPr lang="zh-CN" altLang="en-US" sz="2000" b="0">
                          <a:effectLst/>
                        </a:rPr>
                        <a:t>），需先通过 </a:t>
                      </a:r>
                      <a:r>
                        <a:rPr lang="en-US" altLang="zh-CN" sz="2000" b="0">
                          <a:effectLst/>
                        </a:rPr>
                        <a:t>802.1x </a:t>
                      </a:r>
                      <a:r>
                        <a:rPr lang="zh-CN" altLang="en-US" sz="2000" b="0">
                          <a:effectLst/>
                        </a:rPr>
                        <a:t>协议认证，无法直接访问业务系统。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7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107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101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23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609875"/>
                  </a:ext>
                </a:extLst>
              </a:tr>
              <a:tr h="2417967">
                <a:tc>
                  <a:txBody>
                    <a:bodyPr/>
                    <a:lstStyle/>
                    <a:p>
                      <a:r>
                        <a:rPr lang="en-US" altLang="zh-CN" sz="2000" b="0">
                          <a:effectLst/>
                        </a:rPr>
                        <a:t>2. </a:t>
                      </a:r>
                      <a:r>
                        <a:rPr lang="zh-CN" altLang="en-US" sz="2000" b="0">
                          <a:effectLst/>
                        </a:rPr>
                        <a:t>统一访问代理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107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706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907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107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effectLst/>
                        </a:rPr>
                        <a:t>所有业务系统访问需经 “访问代理” 验证（无论内外网），代理核心作用：</a:t>
                      </a:r>
                      <a:br>
                        <a:rPr lang="zh-CN" altLang="en-US" sz="2000" b="0">
                          <a:effectLst/>
                        </a:rPr>
                      </a:br>
                      <a:r>
                        <a:rPr lang="zh-CN" altLang="en-US" sz="2000" b="0">
                          <a:effectLst/>
                        </a:rPr>
                        <a:t>① 身份验证：通过 </a:t>
                      </a:r>
                      <a:r>
                        <a:rPr lang="en-US" altLang="zh-CN" sz="2000" b="0">
                          <a:effectLst/>
                        </a:rPr>
                        <a:t>SSO </a:t>
                      </a:r>
                      <a:r>
                        <a:rPr lang="zh-CN" altLang="en-US" sz="2000" b="0">
                          <a:effectLst/>
                        </a:rPr>
                        <a:t>双因子认证；</a:t>
                      </a:r>
                      <a:br>
                        <a:rPr lang="zh-CN" altLang="en-US" sz="2000" b="0">
                          <a:effectLst/>
                        </a:rPr>
                      </a:br>
                      <a:r>
                        <a:rPr lang="zh-CN" altLang="en-US" sz="2000" b="0">
                          <a:effectLst/>
                        </a:rPr>
                        <a:t>② 设备验证：仅允许企业受控设备（禁止乱装软件、自动更新补丁）；</a:t>
                      </a:r>
                      <a:br>
                        <a:rPr lang="zh-CN" altLang="en-US" sz="2000" b="0">
                          <a:effectLst/>
                        </a:rPr>
                      </a:br>
                      <a:r>
                        <a:rPr lang="zh-CN" altLang="en-US" sz="2000" b="0">
                          <a:effectLst/>
                        </a:rPr>
                        <a:t>③ 动态信任打分：基于设备状态（如是否打补丁）、访问位置，实时调整信任等级；</a:t>
                      </a:r>
                      <a:br>
                        <a:rPr lang="zh-CN" altLang="en-US" sz="2000" b="0">
                          <a:effectLst/>
                        </a:rPr>
                      </a:br>
                      <a:r>
                        <a:rPr lang="zh-CN" altLang="en-US" sz="2000" b="0">
                          <a:effectLst/>
                        </a:rPr>
                        <a:t>④ 权限判定：结合用户身份 </a:t>
                      </a:r>
                      <a:r>
                        <a:rPr lang="en-US" altLang="zh-CN" sz="2000" b="0">
                          <a:effectLst/>
                        </a:rPr>
                        <a:t>+ </a:t>
                      </a:r>
                      <a:r>
                        <a:rPr lang="zh-CN" altLang="en-US" sz="2000" b="0">
                          <a:effectLst/>
                        </a:rPr>
                        <a:t>设备信任等级授权（如财务系统仅允许财务员工 </a:t>
                      </a:r>
                      <a:r>
                        <a:rPr lang="en-US" altLang="zh-CN" sz="2000" b="0">
                          <a:effectLst/>
                        </a:rPr>
                        <a:t>+ </a:t>
                      </a:r>
                      <a:r>
                        <a:rPr lang="zh-CN" altLang="en-US" sz="2000" b="0">
                          <a:effectLst/>
                        </a:rPr>
                        <a:t>高信任度设备访问）。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706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F06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23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501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359203"/>
                  </a:ext>
                </a:extLst>
              </a:tr>
              <a:tr h="1177984">
                <a:tc>
                  <a:txBody>
                    <a:bodyPr/>
                    <a:lstStyle/>
                    <a:p>
                      <a:r>
                        <a:rPr lang="en-US" altLang="zh-CN" sz="2000" b="0">
                          <a:effectLst/>
                        </a:rPr>
                        <a:t>3. </a:t>
                      </a:r>
                      <a:r>
                        <a:rPr lang="zh-CN" altLang="en-US" sz="2000" b="0">
                          <a:effectLst/>
                        </a:rPr>
                        <a:t>后端支撑数据库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D07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707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107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7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0">
                          <a:effectLst/>
                        </a:rPr>
                        <a:t>- </a:t>
                      </a:r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设备清单数据库</a:t>
                      </a:r>
                      <a:r>
                        <a:rPr lang="zh-CN" altLang="en-US" sz="2000" b="0">
                          <a:effectLst/>
                        </a:rPr>
                        <a:t>：存储所有访问设备信息，动态更新状态；</a:t>
                      </a:r>
                      <a:br>
                        <a:rPr lang="zh-CN" altLang="en-US" sz="2000" b="0">
                          <a:effectLst/>
                        </a:rPr>
                      </a:br>
                      <a:r>
                        <a:rPr lang="en-US" altLang="zh-CN" sz="2000" b="0">
                          <a:effectLst/>
                        </a:rPr>
                        <a:t>- </a:t>
                      </a:r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用户 </a:t>
                      </a:r>
                      <a:r>
                        <a:rPr lang="en-US" altLang="zh-CN" sz="2000" b="1">
                          <a:solidFill>
                            <a:srgbClr val="000000"/>
                          </a:solidFill>
                          <a:effectLst/>
                        </a:rPr>
                        <a:t>/ </a:t>
                      </a:r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群组数据库</a:t>
                      </a:r>
                      <a:r>
                        <a:rPr lang="zh-CN" altLang="en-US" sz="2000" b="0">
                          <a:effectLst/>
                        </a:rPr>
                        <a:t>：与 </a:t>
                      </a:r>
                      <a:r>
                        <a:rPr lang="en-US" altLang="zh-CN" sz="2000" b="0">
                          <a:effectLst/>
                        </a:rPr>
                        <a:t>HR </a:t>
                      </a:r>
                      <a:r>
                        <a:rPr lang="zh-CN" altLang="en-US" sz="2000" b="0">
                          <a:effectLst/>
                        </a:rPr>
                        <a:t>系统集成，同步用户身份与权限。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707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F06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501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2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15620"/>
                  </a:ext>
                </a:extLst>
              </a:tr>
              <a:tr h="681991">
                <a:tc>
                  <a:txBody>
                    <a:bodyPr/>
                    <a:lstStyle/>
                    <a:p>
                      <a:r>
                        <a:rPr lang="en-US" altLang="zh-CN" sz="2000" b="0">
                          <a:effectLst/>
                        </a:rPr>
                        <a:t>4. </a:t>
                      </a:r>
                      <a:r>
                        <a:rPr lang="zh-CN" altLang="en-US" sz="2000" b="0">
                          <a:effectLst/>
                        </a:rPr>
                        <a:t>附加安全能力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707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7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7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907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0" dirty="0">
                          <a:effectLst/>
                        </a:rPr>
                        <a:t>访问流量强制加密，同时提供负载均衡、</a:t>
                      </a:r>
                      <a:r>
                        <a:rPr lang="en-US" altLang="zh-CN" sz="2000" b="0" dirty="0">
                          <a:effectLst/>
                        </a:rPr>
                        <a:t>DDoS </a:t>
                      </a:r>
                      <a:r>
                        <a:rPr lang="zh-CN" altLang="en-US" sz="2000" b="0" dirty="0">
                          <a:effectLst/>
                        </a:rPr>
                        <a:t>防护、应用健康检查。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D07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F06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2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907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002846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7A6F343-3E1B-4496-B679-A71F1D556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1BBC60C-21BB-4FB1-8EE2-8A6DA8C43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核心设计与实施细节</a:t>
            </a:r>
          </a:p>
        </p:txBody>
      </p:sp>
    </p:spTree>
    <p:extLst>
      <p:ext uri="{BB962C8B-B14F-4D97-AF65-F5344CB8AC3E}">
        <p14:creationId xmlns:p14="http://schemas.microsoft.com/office/powerpoint/2010/main" val="5563172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7AFF17-A899-4AE3-97F4-8D1AAC05361B}"/>
              </a:ext>
            </a:extLst>
          </p:cNvPr>
          <p:cNvSpPr txBox="1"/>
          <p:nvPr/>
        </p:nvSpPr>
        <p:spPr>
          <a:xfrm>
            <a:off x="2913188" y="3113465"/>
            <a:ext cx="6365619" cy="17543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sz="5400" b="1">
                <a:gradFill>
                  <a:gsLst>
                    <a:gs pos="0">
                      <a:srgbClr val="2B84FE"/>
                    </a:gs>
                    <a:gs pos="100000">
                      <a:srgbClr val="20B1F4"/>
                    </a:gs>
                  </a:gsLst>
                  <a:lin ang="5400000" scaled="1"/>
                </a:gradFill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单点登录与开放访问控制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45466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2D58F71-E516-420D-959F-F243B24D9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CN" altLang="en-US" b="0" dirty="0"/>
              <a:t>定义：在多系统应用群中，用户登录一次即可访问所有相互信任的子系统，无需重复登录。</a:t>
            </a:r>
          </a:p>
          <a:p>
            <a:r>
              <a:rPr lang="zh-CN" altLang="en-US" b="0" dirty="0"/>
              <a:t>核心价值：简化用户操作，提升体验的同时保障跨系统访问安全。</a:t>
            </a:r>
          </a:p>
          <a:p>
            <a:r>
              <a:rPr lang="zh-CN" altLang="en-US" b="0" dirty="0"/>
              <a:t>本章聚焦协议：</a:t>
            </a:r>
            <a:r>
              <a:rPr lang="en-US" altLang="zh-CN" b="0" dirty="0"/>
              <a:t>Needham-Schroeder </a:t>
            </a:r>
            <a:r>
              <a:rPr lang="zh-CN" altLang="en-US" b="0" dirty="0"/>
              <a:t>协议、</a:t>
            </a:r>
            <a:r>
              <a:rPr lang="en-US" altLang="zh-CN" b="0" dirty="0"/>
              <a:t>Kerberos </a:t>
            </a:r>
            <a:r>
              <a:rPr lang="zh-CN" altLang="en-US" b="0" dirty="0"/>
              <a:t>协议、</a:t>
            </a:r>
            <a:r>
              <a:rPr lang="en-US" altLang="zh-CN" b="0" dirty="0"/>
              <a:t>OAuth </a:t>
            </a:r>
            <a:r>
              <a:rPr lang="zh-CN" altLang="en-US" b="0" dirty="0"/>
              <a:t>协议、</a:t>
            </a:r>
            <a:r>
              <a:rPr lang="en-US" altLang="zh-CN" b="0" dirty="0"/>
              <a:t>OpenID Connect </a:t>
            </a:r>
            <a:r>
              <a:rPr lang="zh-CN" altLang="en-US" b="0" dirty="0"/>
              <a:t>协议。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D631C7F-3743-4CFC-8C86-94CB86587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14BCA76-CFD3-41F9-9120-15D430957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什么是单点登录？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71453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9D72320-6A7D-474F-A399-27289C6FB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起源：</a:t>
            </a:r>
            <a:r>
              <a:rPr lang="en-US" altLang="zh-CN" b="0" dirty="0"/>
              <a:t>1978 </a:t>
            </a:r>
            <a:r>
              <a:rPr lang="zh-CN" altLang="en-US" b="0" dirty="0"/>
              <a:t>年提出，是多种密钥分发协议的基础。</a:t>
            </a:r>
          </a:p>
          <a:p>
            <a:r>
              <a:rPr lang="zh-CN" altLang="en-US" b="0" dirty="0"/>
              <a:t>两种形式：</a:t>
            </a:r>
          </a:p>
          <a:p>
            <a:pPr lvl="1"/>
            <a:r>
              <a:rPr lang="zh-CN" altLang="en-US" b="0" dirty="0"/>
              <a:t>对称密钥协议：</a:t>
            </a:r>
            <a:r>
              <a:rPr lang="en-US" altLang="zh-CN" b="0" dirty="0"/>
              <a:t>Kerberos </a:t>
            </a:r>
            <a:r>
              <a:rPr lang="zh-CN" altLang="en-US" b="0" dirty="0"/>
              <a:t>协议的基础，目的是在通信双方间建立会话密钥；</a:t>
            </a:r>
          </a:p>
          <a:p>
            <a:pPr lvl="1"/>
            <a:r>
              <a:rPr lang="zh-CN" altLang="en-US" b="0" dirty="0"/>
              <a:t>公钥协议：提供相互身份验证，但原始形式不安全。</a:t>
            </a:r>
          </a:p>
          <a:p>
            <a:r>
              <a:rPr lang="zh-CN" altLang="en-US" b="0" dirty="0"/>
              <a:t>对称协议核心逻辑：通过可信服务器 </a:t>
            </a:r>
            <a:r>
              <a:rPr lang="en-US" altLang="zh-CN" b="0" dirty="0"/>
              <a:t>S </a:t>
            </a:r>
            <a:r>
              <a:rPr lang="zh-CN" altLang="en-US" b="0" dirty="0"/>
              <a:t>生成会话密钥，实现 </a:t>
            </a:r>
            <a:r>
              <a:rPr lang="en-US" altLang="zh-CN" b="0" dirty="0"/>
              <a:t>A </a:t>
            </a:r>
            <a:r>
              <a:rPr lang="zh-CN" altLang="en-US" b="0" dirty="0"/>
              <a:t>与 </a:t>
            </a:r>
            <a:r>
              <a:rPr lang="en-US" altLang="zh-CN" b="0" dirty="0"/>
              <a:t>B </a:t>
            </a:r>
            <a:r>
              <a:rPr lang="zh-CN" altLang="en-US" b="0" dirty="0"/>
              <a:t>的安全通信（含随机数防重放攻击）。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17CF0C1-EA06-49BA-A80C-CE73A4713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68E7542-51E4-49DE-BC6E-8CDFC436C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Needham-Schroeder </a:t>
            </a:r>
            <a:r>
              <a:rPr lang="zh-CN" altLang="en-US" b="0" dirty="0"/>
              <a:t>协议：密钥分发基础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25934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547369B-D4B8-4A21-AF1F-6887FB12B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基于</a:t>
            </a:r>
            <a:r>
              <a:rPr lang="zh-CN" altLang="en-US" dirty="0"/>
              <a:t>对称加密</a:t>
            </a:r>
            <a:r>
              <a:rPr lang="zh-CN" altLang="en-US" b="0" dirty="0"/>
              <a:t>的密钥分发协议，是 </a:t>
            </a:r>
            <a:r>
              <a:rPr lang="en-US" altLang="zh-CN" dirty="0"/>
              <a:t>Kerberos </a:t>
            </a:r>
            <a:r>
              <a:rPr lang="zh-CN" altLang="en-US" dirty="0"/>
              <a:t>协议的基础</a:t>
            </a:r>
            <a:endParaRPr lang="zh-CN" altLang="en-US" b="0" dirty="0"/>
          </a:p>
          <a:p>
            <a:r>
              <a:rPr lang="zh-CN" altLang="en-US" b="0" dirty="0"/>
              <a:t>目标：为通信双方（</a:t>
            </a:r>
            <a:r>
              <a:rPr lang="en-US" altLang="zh-CN" b="0" dirty="0"/>
              <a:t>A/B</a:t>
            </a:r>
            <a:r>
              <a:rPr lang="zh-CN" altLang="en-US" b="0" dirty="0"/>
              <a:t>）安全协商</a:t>
            </a:r>
            <a:r>
              <a:rPr lang="zh-CN" altLang="en-US" dirty="0"/>
              <a:t>临时会话密钥 </a:t>
            </a:r>
            <a:r>
              <a:rPr lang="en-US" altLang="zh-CN" dirty="0"/>
              <a:t>K_AB</a:t>
            </a:r>
            <a:r>
              <a:rPr lang="zh-CN" altLang="en-US" b="0" dirty="0"/>
              <a:t>，保护后续通信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6C32738-A423-4A53-B54F-36E0B69D0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269FAAE-44CE-49AA-A404-1E55C01AF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179C15F-3B56-4FB7-9913-24FF9386D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525215"/>
              </p:ext>
            </p:extLst>
          </p:nvPr>
        </p:nvGraphicFramePr>
        <p:xfrm>
          <a:off x="604750" y="3088586"/>
          <a:ext cx="10982500" cy="3507123"/>
        </p:xfrm>
        <a:graphic>
          <a:graphicData uri="http://schemas.openxmlformats.org/drawingml/2006/table">
            <a:tbl>
              <a:tblPr/>
              <a:tblGrid>
                <a:gridCol w="5491250">
                  <a:extLst>
                    <a:ext uri="{9D8B030D-6E8A-4147-A177-3AD203B41FA5}">
                      <a16:colId xmlns:a16="http://schemas.microsoft.com/office/drawing/2014/main" val="1389630606"/>
                    </a:ext>
                  </a:extLst>
                </a:gridCol>
                <a:gridCol w="5491250">
                  <a:extLst>
                    <a:ext uri="{9D8B030D-6E8A-4147-A177-3AD203B41FA5}">
                      <a16:colId xmlns:a16="http://schemas.microsoft.com/office/drawing/2014/main" val="55007174"/>
                    </a:ext>
                  </a:extLst>
                </a:gridCol>
              </a:tblGrid>
              <a:tr h="763923"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rgbClr val="000000"/>
                          </a:solidFill>
                          <a:effectLst/>
                        </a:rPr>
                        <a:t>角色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904C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504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704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9051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rgbClr val="000000"/>
                          </a:solidFill>
                          <a:effectLst/>
                        </a:rPr>
                        <a:t>核心属性 </a:t>
                      </a:r>
                      <a:r>
                        <a:rPr lang="en-US" altLang="zh-CN" sz="2400" b="1">
                          <a:solidFill>
                            <a:srgbClr val="000000"/>
                          </a:solidFill>
                          <a:effectLst/>
                        </a:rPr>
                        <a:t>&amp; </a:t>
                      </a:r>
                      <a:r>
                        <a:rPr lang="zh-CN" altLang="en-US" sz="2400" b="1">
                          <a:solidFill>
                            <a:srgbClr val="000000"/>
                          </a:solidFill>
                          <a:effectLst/>
                        </a:rPr>
                        <a:t>持有密钥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504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504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504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70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165381"/>
                  </a:ext>
                </a:extLst>
              </a:tr>
              <a:tr h="763923"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</a:rPr>
                        <a:t>Alice（A）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904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4D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9051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705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dirty="0">
                          <a:effectLst/>
                        </a:rPr>
                        <a:t>通信发起方；仅与 </a:t>
                      </a:r>
                      <a:r>
                        <a:rPr lang="en-US" altLang="zh-CN" sz="2400" b="0" dirty="0">
                          <a:effectLst/>
                        </a:rPr>
                        <a:t>S </a:t>
                      </a:r>
                      <a:r>
                        <a:rPr lang="zh-CN" altLang="en-US" sz="2400" b="0" dirty="0">
                          <a:effectLst/>
                        </a:rPr>
                        <a:t>共享长期密钥 </a:t>
                      </a:r>
                      <a:r>
                        <a:rPr lang="en-US" altLang="zh-CN" sz="2400" b="1" dirty="0">
                          <a:solidFill>
                            <a:srgbClr val="000000"/>
                          </a:solidFill>
                          <a:effectLst/>
                        </a:rPr>
                        <a:t>KAS</a:t>
                      </a:r>
                      <a:endParaRPr lang="zh-CN" altLang="en-US" sz="2400" b="0" dirty="0">
                        <a:effectLst/>
                      </a:endParaRP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304D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904C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70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478753"/>
                  </a:ext>
                </a:extLst>
              </a:tr>
              <a:tr h="763923"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</a:rPr>
                        <a:t>Bob（B）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D053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5052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705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705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dirty="0">
                          <a:effectLst/>
                        </a:rPr>
                        <a:t>通信接收方；仅与 </a:t>
                      </a:r>
                      <a:r>
                        <a:rPr lang="en-US" sz="2400" b="0" dirty="0">
                          <a:effectLst/>
                        </a:rPr>
                        <a:t>S </a:t>
                      </a:r>
                      <a:r>
                        <a:rPr lang="zh-CN" altLang="en-US" sz="2400" b="0" dirty="0">
                          <a:effectLst/>
                        </a:rPr>
                        <a:t>共享长期密钥 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</a:rPr>
                        <a:t>KBS</a:t>
                      </a:r>
                      <a:endParaRPr lang="en-US" sz="2400" b="0" dirty="0">
                        <a:effectLst/>
                      </a:endParaRP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5052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4D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B0D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756579"/>
                  </a:ext>
                </a:extLst>
              </a:tr>
              <a:tr h="763923">
                <a:tc>
                  <a:txBody>
                    <a:bodyPr/>
                    <a:lstStyle/>
                    <a:p>
                      <a:r>
                        <a:rPr lang="zh-CN" altLang="en-US" sz="2400" b="0">
                          <a:effectLst/>
                        </a:rPr>
                        <a:t>服务器 </a:t>
                      </a:r>
                      <a:r>
                        <a:rPr lang="en-US" sz="2400" b="0">
                          <a:effectLst/>
                        </a:rPr>
                        <a:t>S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D053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F05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705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5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dirty="0">
                          <a:effectLst/>
                        </a:rPr>
                        <a:t>可信第三方（</a:t>
                      </a:r>
                      <a:r>
                        <a:rPr lang="en-US" altLang="zh-CN" sz="2400" b="0" dirty="0">
                          <a:effectLst/>
                        </a:rPr>
                        <a:t>KDC </a:t>
                      </a:r>
                      <a:r>
                        <a:rPr lang="zh-CN" altLang="en-US" sz="2400" b="0" dirty="0">
                          <a:effectLst/>
                        </a:rPr>
                        <a:t>雏形）；生成并分发 </a:t>
                      </a:r>
                      <a:r>
                        <a:rPr lang="en-US" altLang="zh-CN" sz="2400" b="0" dirty="0">
                          <a:effectLst/>
                        </a:rPr>
                        <a:t>KAB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F05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104D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B0D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4D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49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2906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D93EC896-1106-45ED-96C3-F59622C3B2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8535924"/>
              </p:ext>
            </p:extLst>
          </p:nvPr>
        </p:nvGraphicFramePr>
        <p:xfrm>
          <a:off x="838200" y="1739212"/>
          <a:ext cx="10515600" cy="4450080"/>
        </p:xfrm>
        <a:graphic>
          <a:graphicData uri="http://schemas.openxmlformats.org/drawingml/2006/table">
            <a:tbl>
              <a:tblPr/>
              <a:tblGrid>
                <a:gridCol w="1050396">
                  <a:extLst>
                    <a:ext uri="{9D8B030D-6E8A-4147-A177-3AD203B41FA5}">
                      <a16:colId xmlns:a16="http://schemas.microsoft.com/office/drawing/2014/main" val="3574654909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3665620993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1193658404"/>
                    </a:ext>
                  </a:extLst>
                </a:gridCol>
                <a:gridCol w="2759604">
                  <a:extLst>
                    <a:ext uri="{9D8B030D-6E8A-4147-A177-3AD203B41FA5}">
                      <a16:colId xmlns:a16="http://schemas.microsoft.com/office/drawing/2014/main" val="191355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步骤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1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2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502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B02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通信方向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D02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902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2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B02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消息内容（</a:t>
                      </a:r>
                      <a:r>
                        <a:rPr lang="en-US" altLang="zh-CN" sz="2000" b="1">
                          <a:solidFill>
                            <a:srgbClr val="000000"/>
                          </a:solidFill>
                          <a:effectLst/>
                        </a:rPr>
                        <a:t>{}= </a:t>
                      </a:r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加密内容，下标 </a:t>
                      </a:r>
                      <a:r>
                        <a:rPr lang="en-US" altLang="zh-CN" sz="2000" b="1">
                          <a:solidFill>
                            <a:srgbClr val="000000"/>
                          </a:solidFill>
                          <a:effectLst/>
                        </a:rPr>
                        <a:t>= </a:t>
                      </a:r>
                      <a:r>
                        <a:rPr lang="zh-CN" altLang="en-US" sz="2000" b="1">
                          <a:solidFill>
                            <a:srgbClr val="000000"/>
                          </a:solidFill>
                          <a:effectLst/>
                        </a:rPr>
                        <a:t>密钥）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902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101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902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2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effectLst/>
                        </a:rPr>
                        <a:t>核心目的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101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101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101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B07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770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000" b="0">
                          <a:effectLst/>
                        </a:rPr>
                        <a:t>1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702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2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B02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2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effectLst/>
                        </a:rPr>
                        <a:t>A→S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D02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2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B02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102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</a:rPr>
                        <a:t>IDA, IDB, NA（A </a:t>
                      </a:r>
                      <a:r>
                        <a:rPr lang="zh-CN" altLang="en-US" sz="2000" b="0" dirty="0">
                          <a:effectLst/>
                        </a:rPr>
                        <a:t>的随机数）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2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2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2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2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effectLst/>
                        </a:rPr>
                        <a:t>A </a:t>
                      </a:r>
                      <a:r>
                        <a:rPr lang="zh-CN" altLang="en-US" sz="2000" b="0">
                          <a:effectLst/>
                        </a:rPr>
                        <a:t>请求与 </a:t>
                      </a:r>
                      <a:r>
                        <a:rPr lang="en-US" sz="2000" b="0">
                          <a:effectLst/>
                        </a:rPr>
                        <a:t>B </a:t>
                      </a:r>
                      <a:r>
                        <a:rPr lang="zh-CN" altLang="en-US" sz="2000" b="0">
                          <a:effectLst/>
                        </a:rPr>
                        <a:t>通信，</a:t>
                      </a:r>
                      <a:r>
                        <a:rPr lang="en-US" sz="2000" b="0">
                          <a:effectLst/>
                        </a:rPr>
                        <a:t>NA </a:t>
                      </a:r>
                      <a:r>
                        <a:rPr lang="zh-CN" altLang="en-US" sz="2000" b="0">
                          <a:effectLst/>
                        </a:rPr>
                        <a:t>防重放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302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F02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B07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7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65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000" b="0">
                          <a:effectLst/>
                        </a:rPr>
                        <a:t>2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5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702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2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effectLst/>
                        </a:rPr>
                        <a:t>S→A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702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5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102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2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effectLst/>
                        </a:rPr>
                        <a:t>{NA, KAB, IDB, {KAB, IDA}KBS}KAS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5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902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2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2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effectLst/>
                        </a:rPr>
                        <a:t>A </a:t>
                      </a:r>
                      <a:r>
                        <a:rPr lang="zh-CN" altLang="en-US" sz="2000" b="0">
                          <a:effectLst/>
                        </a:rPr>
                        <a:t>安全获取 </a:t>
                      </a:r>
                      <a:r>
                        <a:rPr lang="en-US" sz="2000" b="0">
                          <a:effectLst/>
                        </a:rPr>
                        <a:t>KAB，</a:t>
                      </a:r>
                      <a:r>
                        <a:rPr lang="zh-CN" altLang="en-US" sz="2000" b="0">
                          <a:effectLst/>
                        </a:rPr>
                        <a:t>附带 </a:t>
                      </a:r>
                      <a:r>
                        <a:rPr lang="en-US" sz="2000" b="0">
                          <a:effectLst/>
                        </a:rPr>
                        <a:t>B </a:t>
                      </a:r>
                      <a:r>
                        <a:rPr lang="zh-CN" altLang="en-US" sz="2000" b="0">
                          <a:effectLst/>
                        </a:rPr>
                        <a:t>的 “密钥包”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902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2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7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7C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81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000" b="0">
                          <a:effectLst/>
                        </a:rPr>
                        <a:t>3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5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702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502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effectLst/>
                        </a:rPr>
                        <a:t>A→B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702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5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2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B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</a:rPr>
                        <a:t>{KAB, IDA}KBS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5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F02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2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102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effectLst/>
                        </a:rPr>
                        <a:t>B </a:t>
                      </a:r>
                      <a:r>
                        <a:rPr lang="zh-CN" altLang="en-US" sz="2000" b="0">
                          <a:effectLst/>
                        </a:rPr>
                        <a:t>解密获取 </a:t>
                      </a:r>
                      <a:r>
                        <a:rPr lang="en-US" sz="2000" b="0">
                          <a:effectLst/>
                        </a:rPr>
                        <a:t>KAB，</a:t>
                      </a:r>
                      <a:r>
                        <a:rPr lang="zh-CN" altLang="en-US" sz="2000" b="0">
                          <a:effectLst/>
                        </a:rPr>
                        <a:t>确认发送方是 </a:t>
                      </a:r>
                      <a:r>
                        <a:rPr lang="en-US" sz="2000" b="0">
                          <a:effectLst/>
                        </a:rPr>
                        <a:t>A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F02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2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7C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7C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223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000" b="0">
                          <a:effectLst/>
                        </a:rPr>
                        <a:t>4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9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F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502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2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effectLst/>
                        </a:rPr>
                        <a:t>B→A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F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902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B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3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0">
                          <a:effectLst/>
                        </a:rPr>
                        <a:t>{NB</a:t>
                      </a:r>
                      <a:r>
                        <a:rPr lang="zh-CN" altLang="en-US" sz="2000" b="0">
                          <a:effectLst/>
                        </a:rPr>
                        <a:t>（</a:t>
                      </a:r>
                      <a:r>
                        <a:rPr lang="en-US" altLang="zh-CN" sz="2000" b="0">
                          <a:effectLst/>
                        </a:rPr>
                        <a:t>B </a:t>
                      </a:r>
                      <a:r>
                        <a:rPr lang="zh-CN" altLang="en-US" sz="2000" b="0">
                          <a:effectLst/>
                        </a:rPr>
                        <a:t>的随机数）</a:t>
                      </a:r>
                      <a:r>
                        <a:rPr lang="en-US" altLang="zh-CN" sz="2000" b="0">
                          <a:effectLst/>
                        </a:rPr>
                        <a:t>} KAB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902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102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503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effectLst/>
                        </a:rPr>
                        <a:t>B </a:t>
                      </a:r>
                      <a:r>
                        <a:rPr lang="zh-CN" altLang="en-US" sz="2000" b="0">
                          <a:effectLst/>
                        </a:rPr>
                        <a:t>证明 “已持有 </a:t>
                      </a:r>
                      <a:r>
                        <a:rPr lang="en-US" sz="2000" b="0">
                          <a:effectLst/>
                        </a:rPr>
                        <a:t>KAB”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2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2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7C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8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481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000" b="0">
                          <a:effectLst/>
                        </a:rPr>
                        <a:t>5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903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2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2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903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effectLst/>
                        </a:rPr>
                        <a:t>A→B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D02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103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3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903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effectLst/>
                        </a:rPr>
                        <a:t>{NB+1}KAB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103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902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503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3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</a:rPr>
                        <a:t>A </a:t>
                      </a:r>
                      <a:r>
                        <a:rPr lang="zh-CN" altLang="en-US" sz="2000" b="0" dirty="0">
                          <a:effectLst/>
                        </a:rPr>
                        <a:t>证明 “已持有 </a:t>
                      </a:r>
                      <a:r>
                        <a:rPr lang="en-US" sz="2000" b="0" dirty="0">
                          <a:effectLst/>
                        </a:rPr>
                        <a:t>KAB”，</a:t>
                      </a:r>
                      <a:r>
                        <a:rPr lang="zh-CN" altLang="en-US" sz="2000" b="0" dirty="0">
                          <a:effectLst/>
                        </a:rPr>
                        <a:t>防重放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902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2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8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102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745856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2CF1C18-7231-4B41-81DC-F4C3638FF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BCFC061-73AA-4E34-998D-C8DDA55C0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原始协议核心流程</a:t>
            </a:r>
          </a:p>
        </p:txBody>
      </p:sp>
    </p:spTree>
    <p:extLst>
      <p:ext uri="{BB962C8B-B14F-4D97-AF65-F5344CB8AC3E}">
        <p14:creationId xmlns:p14="http://schemas.microsoft.com/office/powerpoint/2010/main" val="19823097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4F2679A-E3A7-4222-BDF0-97332D335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核心风险：重放攻击</a:t>
            </a:r>
          </a:p>
          <a:p>
            <a:r>
              <a:rPr lang="zh-CN" altLang="en-US" dirty="0"/>
              <a:t>风险 </a:t>
            </a:r>
            <a:r>
              <a:rPr lang="en-US" altLang="zh-CN" dirty="0"/>
              <a:t>1</a:t>
            </a:r>
            <a:r>
              <a:rPr lang="zh-CN" altLang="en-US" dirty="0"/>
              <a:t>：利用旧密钥冒充 </a:t>
            </a:r>
            <a:r>
              <a:rPr lang="en-US" altLang="zh-CN" dirty="0"/>
              <a:t>A</a:t>
            </a:r>
            <a:endParaRPr lang="zh-CN" altLang="en-US" b="0" dirty="0"/>
          </a:p>
          <a:p>
            <a:pPr lvl="1"/>
            <a:r>
              <a:rPr lang="zh-CN" altLang="en-US" b="0" dirty="0"/>
              <a:t>攻击者 </a:t>
            </a:r>
            <a:r>
              <a:rPr lang="en-US" altLang="zh-CN" b="0" dirty="0"/>
              <a:t>C </a:t>
            </a:r>
            <a:r>
              <a:rPr lang="zh-CN" altLang="en-US" b="0" dirty="0"/>
              <a:t>窃取旧会话密钥 </a:t>
            </a:r>
            <a:r>
              <a:rPr lang="en-US" altLang="zh-CN" b="0" dirty="0" err="1"/>
              <a:t>KAB_old</a:t>
            </a:r>
            <a:r>
              <a:rPr lang="zh-CN" altLang="en-US" b="0" dirty="0"/>
              <a:t>，重放步骤 </a:t>
            </a:r>
            <a:r>
              <a:rPr lang="en-US" altLang="zh-CN" b="0" dirty="0"/>
              <a:t>3 </a:t>
            </a:r>
            <a:r>
              <a:rPr lang="zh-CN" altLang="en-US" b="0" dirty="0"/>
              <a:t>的消息给 </a:t>
            </a:r>
            <a:r>
              <a:rPr lang="en-US" altLang="zh-CN" b="0" dirty="0"/>
              <a:t>B</a:t>
            </a:r>
            <a:r>
              <a:rPr lang="zh-CN" altLang="en-US" b="0" dirty="0"/>
              <a:t>；</a:t>
            </a:r>
          </a:p>
          <a:p>
            <a:pPr lvl="1"/>
            <a:r>
              <a:rPr lang="en-US" altLang="zh-CN" b="0" dirty="0"/>
              <a:t>B </a:t>
            </a:r>
            <a:r>
              <a:rPr lang="zh-CN" altLang="en-US" b="0" dirty="0"/>
              <a:t>无法区分新旧 </a:t>
            </a:r>
            <a:r>
              <a:rPr lang="en-US" altLang="zh-CN" b="0" dirty="0"/>
              <a:t>KAB</a:t>
            </a:r>
            <a:r>
              <a:rPr lang="zh-CN" altLang="en-US" b="0" dirty="0"/>
              <a:t>，误认 </a:t>
            </a:r>
            <a:r>
              <a:rPr lang="en-US" altLang="zh-CN" b="0" dirty="0"/>
              <a:t>C </a:t>
            </a:r>
            <a:r>
              <a:rPr lang="zh-CN" altLang="en-US" b="0" dirty="0"/>
              <a:t>为 </a:t>
            </a:r>
            <a:r>
              <a:rPr lang="en-US" altLang="zh-CN" b="0" dirty="0"/>
              <a:t>A</a:t>
            </a:r>
            <a:r>
              <a:rPr lang="zh-CN" altLang="en-US" b="0" dirty="0"/>
              <a:t>。</a:t>
            </a:r>
          </a:p>
          <a:p>
            <a:r>
              <a:rPr lang="zh-CN" altLang="en-US" dirty="0"/>
              <a:t>风险 </a:t>
            </a:r>
            <a:r>
              <a:rPr lang="en-US" altLang="zh-CN" dirty="0"/>
              <a:t>2</a:t>
            </a:r>
            <a:r>
              <a:rPr lang="zh-CN" altLang="en-US" dirty="0"/>
              <a:t>：拦截消息伪造响应</a:t>
            </a:r>
            <a:endParaRPr lang="zh-CN" altLang="en-US" b="0" dirty="0"/>
          </a:p>
          <a:p>
            <a:pPr lvl="1"/>
            <a:r>
              <a:rPr lang="en-US" altLang="zh-CN" b="0" dirty="0"/>
              <a:t>C </a:t>
            </a:r>
            <a:r>
              <a:rPr lang="zh-CN" altLang="en-US" b="0" dirty="0"/>
              <a:t>拦截步骤 </a:t>
            </a:r>
            <a:r>
              <a:rPr lang="en-US" altLang="zh-CN" b="0" dirty="0"/>
              <a:t>4 </a:t>
            </a:r>
            <a:r>
              <a:rPr lang="zh-CN" altLang="en-US" b="0" dirty="0"/>
              <a:t>的 </a:t>
            </a:r>
            <a:r>
              <a:rPr lang="en-US" altLang="zh-CN" b="0" dirty="0"/>
              <a:t>{NB} KAB</a:t>
            </a:r>
            <a:r>
              <a:rPr lang="zh-CN" altLang="en-US" b="0" dirty="0"/>
              <a:t>，冒充 </a:t>
            </a:r>
            <a:r>
              <a:rPr lang="en-US" altLang="zh-CN" b="0" dirty="0"/>
              <a:t>A </a:t>
            </a:r>
            <a:r>
              <a:rPr lang="zh-CN" altLang="en-US" b="0" dirty="0"/>
              <a:t>发送伪造的 </a:t>
            </a:r>
            <a:r>
              <a:rPr lang="en-US" altLang="zh-CN" b="0" dirty="0"/>
              <a:t>{NB+1} KAB</a:t>
            </a:r>
            <a:r>
              <a:rPr lang="zh-CN" altLang="en-US" b="0" dirty="0"/>
              <a:t>；</a:t>
            </a:r>
          </a:p>
          <a:p>
            <a:pPr lvl="1"/>
            <a:r>
              <a:rPr lang="en-US" altLang="zh-CN" b="0" dirty="0"/>
              <a:t>B </a:t>
            </a:r>
            <a:r>
              <a:rPr lang="zh-CN" altLang="en-US" b="0" dirty="0"/>
              <a:t>误信通信对象为真实 </a:t>
            </a:r>
            <a:r>
              <a:rPr lang="en-US" altLang="zh-CN" b="0" dirty="0"/>
              <a:t>A</a:t>
            </a:r>
            <a:r>
              <a:rPr lang="zh-CN" altLang="en-US" b="0" dirty="0"/>
              <a:t>。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9CDC9B8-1493-42EA-80F6-05CBF6CDB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F983810-06F4-454B-905F-A32115836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4558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F892E76-3ACE-4E4F-A2A7-0DBCB5D1A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69395911-919D-4361-B694-D8A4F7DB9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改进方案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0E8E41A-DC90-4689-8309-05CBBD120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核心思路：新增「会话唯一标识 </a:t>
            </a:r>
            <a:r>
              <a:rPr lang="en-US" altLang="zh-CN" dirty="0"/>
              <a:t>NB‘</a:t>
            </a:r>
            <a:r>
              <a:rPr lang="zh-CN" altLang="en-US" dirty="0"/>
              <a:t>」</a:t>
            </a:r>
          </a:p>
          <a:p>
            <a:r>
              <a:rPr lang="zh-CN" altLang="en-US" dirty="0"/>
              <a:t>改进效果：攻击者无法伪造 </a:t>
            </a:r>
            <a:r>
              <a:rPr lang="en-US" altLang="zh-CN" dirty="0"/>
              <a:t>NB'</a:t>
            </a:r>
            <a:r>
              <a:rPr lang="zh-CN" altLang="en-US" dirty="0"/>
              <a:t>（需 </a:t>
            </a:r>
            <a:r>
              <a:rPr lang="en-US" altLang="zh-CN" dirty="0"/>
              <a:t>KBS</a:t>
            </a:r>
            <a:r>
              <a:rPr lang="zh-CN" altLang="en-US" dirty="0"/>
              <a:t>），从源头阻止重放</a:t>
            </a:r>
          </a:p>
          <a:p>
            <a:endParaRPr lang="zh-CN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A571958-D3FC-4376-B179-46862772B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047471"/>
              </p:ext>
            </p:extLst>
          </p:nvPr>
        </p:nvGraphicFramePr>
        <p:xfrm>
          <a:off x="465513" y="2560320"/>
          <a:ext cx="11607956" cy="3474720"/>
        </p:xfrm>
        <a:graphic>
          <a:graphicData uri="http://schemas.openxmlformats.org/drawingml/2006/table">
            <a:tbl>
              <a:tblPr/>
              <a:tblGrid>
                <a:gridCol w="1735820">
                  <a:extLst>
                    <a:ext uri="{9D8B030D-6E8A-4147-A177-3AD203B41FA5}">
                      <a16:colId xmlns:a16="http://schemas.microsoft.com/office/drawing/2014/main" val="2743210821"/>
                    </a:ext>
                  </a:extLst>
                </a:gridCol>
                <a:gridCol w="1845734">
                  <a:extLst>
                    <a:ext uri="{9D8B030D-6E8A-4147-A177-3AD203B41FA5}">
                      <a16:colId xmlns:a16="http://schemas.microsoft.com/office/drawing/2014/main" val="288330496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459256789"/>
                    </a:ext>
                  </a:extLst>
                </a:gridCol>
                <a:gridCol w="3454402">
                  <a:extLst>
                    <a:ext uri="{9D8B030D-6E8A-4147-A177-3AD203B41FA5}">
                      <a16:colId xmlns:a16="http://schemas.microsoft.com/office/drawing/2014/main" val="19896243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rgbClr val="000000"/>
                          </a:solidFill>
                          <a:effectLst/>
                        </a:rPr>
                        <a:t>改进步骤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F00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0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0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B01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rgbClr val="000000"/>
                          </a:solidFill>
                          <a:effectLst/>
                        </a:rPr>
                        <a:t>通信方向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0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0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B00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0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rgbClr val="000000"/>
                          </a:solidFill>
                          <a:effectLst/>
                        </a:rPr>
                        <a:t>消息内容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0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900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0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500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rgbClr val="000000"/>
                          </a:solidFill>
                          <a:effectLst/>
                        </a:rPr>
                        <a:t>改进逻辑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900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900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900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07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206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0">
                          <a:effectLst/>
                        </a:rPr>
                        <a:t>1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D00F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900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B01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1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</a:rPr>
                        <a:t>A→B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900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901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0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0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</a:rPr>
                        <a:t>A（</a:t>
                      </a:r>
                      <a:r>
                        <a:rPr lang="zh-CN" altLang="en-US" sz="2400" b="0">
                          <a:effectLst/>
                        </a:rPr>
                        <a:t>身份）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901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0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500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500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>
                          <a:effectLst/>
                        </a:rPr>
                        <a:t>A </a:t>
                      </a:r>
                      <a:r>
                        <a:rPr lang="zh-CN" altLang="en-US" sz="2400" b="0">
                          <a:effectLst/>
                        </a:rPr>
                        <a:t>发起会话预热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0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0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07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507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099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0">
                          <a:effectLst/>
                        </a:rPr>
                        <a:t>2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301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F01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1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B01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</a:rPr>
                        <a:t>B→A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F01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700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0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700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>
                          <a:effectLst/>
                        </a:rPr>
                        <a:t>{A, NB'} KBS</a:t>
                      </a:r>
                      <a:r>
                        <a:rPr lang="zh-CN" altLang="en-US" sz="2400" b="0">
                          <a:effectLst/>
                        </a:rPr>
                        <a:t>（</a:t>
                      </a:r>
                      <a:r>
                        <a:rPr lang="en-US" altLang="zh-CN" sz="2400" b="0">
                          <a:effectLst/>
                        </a:rPr>
                        <a:t>NB'= </a:t>
                      </a:r>
                      <a:r>
                        <a:rPr lang="zh-CN" altLang="en-US" sz="2400" b="0">
                          <a:effectLst/>
                        </a:rPr>
                        <a:t>新随机数）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700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700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500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1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>
                          <a:effectLst/>
                        </a:rPr>
                        <a:t>B </a:t>
                      </a:r>
                      <a:r>
                        <a:rPr lang="zh-CN" altLang="en-US" sz="2400" b="0">
                          <a:effectLst/>
                        </a:rPr>
                        <a:t>生成会话唯一标识，</a:t>
                      </a:r>
                      <a:r>
                        <a:rPr lang="en-US" altLang="zh-CN" sz="2400" b="0">
                          <a:effectLst/>
                        </a:rPr>
                        <a:t>S </a:t>
                      </a:r>
                      <a:r>
                        <a:rPr lang="zh-CN" altLang="en-US" sz="2400" b="0">
                          <a:effectLst/>
                        </a:rPr>
                        <a:t>可验证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700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0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507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79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866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0">
                          <a:effectLst/>
                        </a:rPr>
                        <a:t>3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F01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0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B01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1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</a:rPr>
                        <a:t>A→S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0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1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700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1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0">
                          <a:effectLst/>
                        </a:rPr>
                        <a:t>IDA, IDB, NA, {A, NB'}KBS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D01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101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1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701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>
                          <a:effectLst/>
                        </a:rPr>
                        <a:t>A </a:t>
                      </a:r>
                      <a:r>
                        <a:rPr lang="zh-CN" altLang="en-US" sz="2400" b="0">
                          <a:effectLst/>
                        </a:rPr>
                        <a:t>附带 </a:t>
                      </a:r>
                      <a:r>
                        <a:rPr lang="en-US" altLang="zh-CN" sz="2400" b="0">
                          <a:effectLst/>
                        </a:rPr>
                        <a:t>NB'</a:t>
                      </a:r>
                      <a:r>
                        <a:rPr lang="zh-CN" altLang="en-US" sz="2400" b="0">
                          <a:effectLst/>
                        </a:rPr>
                        <a:t>，</a:t>
                      </a:r>
                      <a:r>
                        <a:rPr lang="en-US" altLang="zh-CN" sz="2400" b="0">
                          <a:effectLst/>
                        </a:rPr>
                        <a:t>S </a:t>
                      </a:r>
                      <a:r>
                        <a:rPr lang="zh-CN" altLang="en-US" sz="2400" b="0">
                          <a:effectLst/>
                        </a:rPr>
                        <a:t>确认会话新鲜性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101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0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79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708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573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0">
                          <a:effectLst/>
                        </a:rPr>
                        <a:t>4-6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701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F01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1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1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>
                          <a:effectLst/>
                        </a:rPr>
                        <a:t>——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F01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1F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1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501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>
                          <a:effectLst/>
                        </a:rPr>
                        <a:t>同原始协议步骤 </a:t>
                      </a:r>
                      <a:r>
                        <a:rPr lang="en-US" altLang="zh-CN" sz="2400" b="0">
                          <a:effectLst/>
                        </a:rPr>
                        <a:t>3-5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301F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B00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701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1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dirty="0">
                          <a:effectLst/>
                        </a:rPr>
                        <a:t>基于新鲜会话分发 </a:t>
                      </a:r>
                      <a:r>
                        <a:rPr lang="en-US" altLang="zh-CN" sz="2400" b="0" dirty="0">
                          <a:effectLst/>
                        </a:rPr>
                        <a:t>KAB</a:t>
                      </a:r>
                    </a:p>
                  </a:txBody>
                  <a:tcPr marL="137160" marR="137160" marT="91440" marB="91440" anchor="ctr">
                    <a:lnL w="6096" cap="flat" cmpd="sng" algn="ctr">
                      <a:solidFill>
                        <a:srgbClr val="B00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0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708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700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59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8323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90C3C61-DAFB-45E7-B7EB-C53E13D8C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Kerberos </a:t>
            </a:r>
            <a:r>
              <a:rPr lang="zh-CN" altLang="en-US" b="0" dirty="0"/>
              <a:t>是实现 </a:t>
            </a:r>
            <a:r>
              <a:rPr lang="en-US" altLang="zh-CN" b="0" dirty="0"/>
              <a:t>SSO </a:t>
            </a:r>
            <a:r>
              <a:rPr lang="zh-CN" altLang="en-US" b="0" dirty="0"/>
              <a:t>的经典方案，核心特点是用户</a:t>
            </a:r>
            <a:r>
              <a:rPr lang="zh-CN" altLang="en-US" dirty="0"/>
              <a:t>一次输入认证信息</a:t>
            </a:r>
            <a:r>
              <a:rPr lang="zh-CN" altLang="en-US" b="0" dirty="0"/>
              <a:t>，即可凭获取的票据访问多个服务，无需重复认证。</a:t>
            </a:r>
          </a:p>
          <a:p>
            <a:r>
              <a:rPr lang="zh-CN" altLang="en-US" b="0" dirty="0"/>
              <a:t>协议起源于 </a:t>
            </a:r>
            <a:r>
              <a:rPr lang="en-US" altLang="zh-CN" b="0" dirty="0"/>
              <a:t>1988 </a:t>
            </a:r>
            <a:r>
              <a:rPr lang="zh-CN" altLang="en-US" b="0" dirty="0"/>
              <a:t>年 </a:t>
            </a:r>
            <a:r>
              <a:rPr lang="en-US" altLang="zh-CN" b="0" dirty="0"/>
              <a:t>MIT </a:t>
            </a:r>
            <a:r>
              <a:rPr lang="zh-CN" altLang="en-US" b="0" dirty="0"/>
              <a:t>设计，</a:t>
            </a:r>
            <a:r>
              <a:rPr lang="en-US" altLang="zh-CN" b="0" dirty="0"/>
              <a:t>1993 </a:t>
            </a:r>
            <a:r>
              <a:rPr lang="zh-CN" altLang="en-US" b="0" dirty="0"/>
              <a:t>年 </a:t>
            </a:r>
            <a:r>
              <a:rPr lang="en-US" altLang="zh-CN" b="0" dirty="0"/>
              <a:t>9 </a:t>
            </a:r>
            <a:r>
              <a:rPr lang="zh-CN" altLang="en-US" b="0" dirty="0"/>
              <a:t>月被 </a:t>
            </a:r>
            <a:r>
              <a:rPr lang="en-US" altLang="zh-CN" b="0" dirty="0"/>
              <a:t>IETF </a:t>
            </a:r>
            <a:r>
              <a:rPr lang="zh-CN" altLang="en-US" b="0" dirty="0"/>
              <a:t>标准化（文档 </a:t>
            </a:r>
            <a:r>
              <a:rPr lang="en-US" altLang="zh-CN" b="0" dirty="0"/>
              <a:t>RFC 1510</a:t>
            </a:r>
            <a:r>
              <a:rPr lang="zh-CN" altLang="en-US" b="0" dirty="0"/>
              <a:t>），其技术基础是 </a:t>
            </a:r>
            <a:r>
              <a:rPr lang="en-US" altLang="zh-CN" b="0" dirty="0"/>
              <a:t>Needham-Schroeder </a:t>
            </a:r>
            <a:r>
              <a:rPr lang="zh-CN" altLang="en-US" b="0" dirty="0"/>
              <a:t>协议。</a:t>
            </a:r>
          </a:p>
          <a:p>
            <a:r>
              <a:rPr lang="zh-CN" altLang="en-US" b="0" dirty="0"/>
              <a:t>核心引入</a:t>
            </a:r>
            <a:r>
              <a:rPr lang="zh-CN" altLang="en-US" dirty="0"/>
              <a:t>密钥分发中心（</a:t>
            </a:r>
            <a:r>
              <a:rPr lang="en-US" altLang="zh-CN" dirty="0"/>
              <a:t>KDC</a:t>
            </a:r>
            <a:r>
              <a:rPr lang="zh-CN" altLang="en-US" dirty="0"/>
              <a:t>）</a:t>
            </a:r>
            <a:r>
              <a:rPr lang="zh-CN" altLang="en-US" b="0" dirty="0"/>
              <a:t> ：通信各方（用户、服务器）分别与 </a:t>
            </a:r>
            <a:r>
              <a:rPr lang="en-US" altLang="zh-CN" b="0" dirty="0"/>
              <a:t>KDC </a:t>
            </a:r>
            <a:r>
              <a:rPr lang="zh-CN" altLang="en-US" b="0" dirty="0"/>
              <a:t>共享长期密钥，</a:t>
            </a:r>
            <a:r>
              <a:rPr lang="en-US" altLang="zh-CN" b="0" dirty="0"/>
              <a:t>KDC </a:t>
            </a:r>
            <a:r>
              <a:rPr lang="zh-CN" altLang="en-US" b="0" dirty="0"/>
              <a:t>负责生成通信所需的会话密钥，同时解决用户与服务的</a:t>
            </a:r>
            <a:r>
              <a:rPr lang="zh-CN" altLang="en-US" dirty="0"/>
              <a:t>双向身份认证</a:t>
            </a:r>
            <a:r>
              <a:rPr lang="zh-CN" altLang="en-US" b="0" dirty="0"/>
              <a:t>问题。</a:t>
            </a:r>
          </a:p>
          <a:p>
            <a:r>
              <a:rPr lang="zh-CN" altLang="en-US" b="0" dirty="0"/>
              <a:t>协议基于对称密码体制（如 </a:t>
            </a:r>
            <a:r>
              <a:rPr lang="en-US" altLang="zh-CN" b="0" dirty="0"/>
              <a:t>DES</a:t>
            </a:r>
            <a:r>
              <a:rPr lang="zh-CN" altLang="en-US" b="0" dirty="0"/>
              <a:t>），每个用户 </a:t>
            </a:r>
            <a:r>
              <a:rPr lang="en-US" altLang="zh-CN" b="0" dirty="0"/>
              <a:t>U </a:t>
            </a:r>
            <a:r>
              <a:rPr lang="zh-CN" altLang="en-US" b="0" dirty="0"/>
              <a:t>与 </a:t>
            </a:r>
            <a:r>
              <a:rPr lang="en-US" altLang="zh-CN" b="0" dirty="0"/>
              <a:t>KDC </a:t>
            </a:r>
            <a:r>
              <a:rPr lang="zh-CN" altLang="en-US" b="0" dirty="0"/>
              <a:t>拥有专属的秘密密钥 </a:t>
            </a:r>
            <a:r>
              <a:rPr lang="en-US" altLang="zh-CN" b="0" dirty="0"/>
              <a:t>KU</a:t>
            </a:r>
            <a:r>
              <a:rPr lang="zh-CN" altLang="en-US" b="0" dirty="0"/>
              <a:t>；</a:t>
            </a:r>
            <a:r>
              <a:rPr lang="en-US" altLang="zh-CN" b="0" dirty="0"/>
              <a:t>KDC </a:t>
            </a:r>
            <a:r>
              <a:rPr lang="zh-CN" altLang="en-US" b="0" dirty="0"/>
              <a:t>作为双方共同信任的第三方，还维护着管理域内所有安全主体的账户信息数据库。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752D744-F040-4CD4-B19A-35A44DE00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9CE8733-C83B-43BC-95BD-2C54DF9F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Kerberos </a:t>
            </a:r>
            <a:r>
              <a:rPr lang="zh-CN" altLang="en-US" b="0" dirty="0"/>
              <a:t>协议：经典 </a:t>
            </a:r>
            <a:r>
              <a:rPr lang="en-US" altLang="zh-CN" b="0" dirty="0"/>
              <a:t>SSO </a:t>
            </a:r>
            <a:r>
              <a:rPr lang="zh-CN" altLang="en-US" b="0" dirty="0"/>
              <a:t>实现方案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69211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76E771A-A248-4780-B373-9AF242AE1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Kerberos </a:t>
            </a:r>
            <a:r>
              <a:rPr lang="zh-CN" altLang="en-US" b="0" dirty="0"/>
              <a:t>有两类核心票据：票据许可票据（</a:t>
            </a:r>
            <a:r>
              <a:rPr lang="en-US" altLang="zh-CN" b="0" dirty="0"/>
              <a:t>TGT</a:t>
            </a:r>
            <a:r>
              <a:rPr lang="zh-CN" altLang="en-US" b="0" dirty="0"/>
              <a:t>）是用户访问票据授权服务器（</a:t>
            </a:r>
            <a:r>
              <a:rPr lang="en-US" altLang="zh-CN" b="0" dirty="0"/>
              <a:t>TGS</a:t>
            </a:r>
            <a:r>
              <a:rPr lang="zh-CN" altLang="en-US" b="0" dirty="0"/>
              <a:t>）的凭证，服务票据（</a:t>
            </a:r>
            <a:r>
              <a:rPr lang="en-US" altLang="zh-CN" b="0" dirty="0"/>
              <a:t>ST</a:t>
            </a:r>
            <a:r>
              <a:rPr lang="zh-CN" altLang="en-US" b="0" dirty="0"/>
              <a:t>）是用户访问应用服务器的凭证。</a:t>
            </a:r>
          </a:p>
          <a:p>
            <a:r>
              <a:rPr lang="zh-CN" altLang="en-US" b="0" dirty="0"/>
              <a:t>会话密钥用于加密实体间传输的消息，仅在单次会话生效且频繁更新；时间戳（</a:t>
            </a:r>
            <a:r>
              <a:rPr lang="en-US" altLang="zh-CN" b="0" dirty="0"/>
              <a:t>TS</a:t>
            </a:r>
            <a:r>
              <a:rPr lang="zh-CN" altLang="en-US" b="0" dirty="0"/>
              <a:t>）则用于同步系统时间，防止重放攻击。</a:t>
            </a:r>
          </a:p>
          <a:p>
            <a:r>
              <a:rPr lang="zh-CN" altLang="en-US" b="0" dirty="0"/>
              <a:t>用户（常用 </a:t>
            </a:r>
            <a:r>
              <a:rPr lang="en-US" altLang="zh-CN" b="0" dirty="0"/>
              <a:t>A </a:t>
            </a:r>
            <a:r>
              <a:rPr lang="zh-CN" altLang="en-US" b="0" dirty="0"/>
              <a:t>指代）是发起认证和服务请求的一方，服务器（常用 </a:t>
            </a:r>
            <a:r>
              <a:rPr lang="en-US" altLang="zh-CN" b="0" dirty="0"/>
              <a:t>B </a:t>
            </a:r>
            <a:r>
              <a:rPr lang="zh-CN" altLang="en-US" b="0" dirty="0"/>
              <a:t>指代）是响应用户请求、提供服务的一方。</a:t>
            </a:r>
          </a:p>
          <a:p>
            <a:r>
              <a:rPr lang="zh-CN" altLang="en-US" b="0" dirty="0"/>
              <a:t>密钥分发中心（</a:t>
            </a:r>
            <a:r>
              <a:rPr lang="en-US" altLang="zh-CN" b="0" dirty="0"/>
              <a:t>KDC</a:t>
            </a:r>
            <a:r>
              <a:rPr lang="zh-CN" altLang="en-US" b="0" dirty="0"/>
              <a:t>）是核心中枢，由认证服务器（</a:t>
            </a:r>
            <a:r>
              <a:rPr lang="en-US" altLang="zh-CN" b="0" dirty="0"/>
              <a:t>AS</a:t>
            </a:r>
            <a:r>
              <a:rPr lang="zh-CN" altLang="en-US" b="0" dirty="0"/>
              <a:t>）和 </a:t>
            </a:r>
            <a:r>
              <a:rPr lang="en-US" altLang="zh-CN" b="0" dirty="0"/>
              <a:t>TGS </a:t>
            </a:r>
            <a:r>
              <a:rPr lang="zh-CN" altLang="en-US" b="0" dirty="0"/>
              <a:t>组成：</a:t>
            </a:r>
            <a:r>
              <a:rPr lang="en-US" altLang="zh-CN" b="0" dirty="0"/>
              <a:t>AS </a:t>
            </a:r>
            <a:r>
              <a:rPr lang="zh-CN" altLang="en-US" b="0" dirty="0"/>
              <a:t>负责验证用户身份并发放 </a:t>
            </a:r>
            <a:r>
              <a:rPr lang="en-US" altLang="zh-CN" b="0" dirty="0"/>
              <a:t>TGT</a:t>
            </a:r>
            <a:r>
              <a:rPr lang="zh-CN" altLang="en-US" b="0" dirty="0"/>
              <a:t>，</a:t>
            </a:r>
            <a:r>
              <a:rPr lang="en-US" altLang="zh-CN" b="0" dirty="0"/>
              <a:t>TGS </a:t>
            </a:r>
            <a:r>
              <a:rPr lang="zh-CN" altLang="en-US" b="0" dirty="0"/>
              <a:t>凭用户持有的 </a:t>
            </a:r>
            <a:r>
              <a:rPr lang="en-US" altLang="zh-CN" b="0" dirty="0"/>
              <a:t>TGT</a:t>
            </a:r>
            <a:r>
              <a:rPr lang="zh-CN" altLang="en-US" b="0" dirty="0"/>
              <a:t>，生成访问目标应用服务器的 </a:t>
            </a:r>
            <a:r>
              <a:rPr lang="en-US" altLang="zh-CN" b="0" dirty="0"/>
              <a:t>ST</a:t>
            </a:r>
            <a:r>
              <a:rPr lang="zh-CN" altLang="en-US" b="0" dirty="0"/>
              <a:t>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FF12EAF-2E1C-40F6-8680-F36E9C012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325529E-2DAC-498B-9D90-88D20EA1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主要概念</a:t>
            </a:r>
          </a:p>
        </p:txBody>
      </p:sp>
    </p:spTree>
    <p:extLst>
      <p:ext uri="{BB962C8B-B14F-4D97-AF65-F5344CB8AC3E}">
        <p14:creationId xmlns:p14="http://schemas.microsoft.com/office/powerpoint/2010/main" val="21429317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5FFD8BF-23F9-47FB-B698-E9A8949C3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5115639" cy="5047042"/>
          </a:xfrm>
        </p:spPr>
        <p:txBody>
          <a:bodyPr/>
          <a:lstStyle/>
          <a:p>
            <a:r>
              <a:rPr lang="zh-CN" altLang="en-US" sz="2000" b="0" dirty="0"/>
              <a:t>用户向 </a:t>
            </a:r>
            <a:r>
              <a:rPr lang="en-US" altLang="zh-CN" sz="2000" b="0" dirty="0"/>
              <a:t>AS </a:t>
            </a:r>
            <a:r>
              <a:rPr lang="zh-CN" altLang="en-US" sz="2000" b="0" dirty="0"/>
              <a:t>发送身份标识（如用户名 </a:t>
            </a:r>
            <a:r>
              <a:rPr lang="en-US" altLang="zh-CN" sz="2000" b="0" dirty="0"/>
              <a:t>A</a:t>
            </a:r>
            <a:r>
              <a:rPr lang="zh-CN" altLang="en-US" sz="2000" b="0" dirty="0"/>
              <a:t>）；</a:t>
            </a:r>
          </a:p>
          <a:p>
            <a:r>
              <a:rPr lang="en-US" altLang="zh-CN" sz="2000" b="0" dirty="0"/>
              <a:t>AS </a:t>
            </a:r>
            <a:r>
              <a:rPr lang="zh-CN" altLang="en-US" sz="2000" b="0" dirty="0"/>
              <a:t>返回加密消息：含 </a:t>
            </a:r>
            <a:r>
              <a:rPr lang="en-US" altLang="zh-CN" sz="2000" b="0" dirty="0"/>
              <a:t>A </a:t>
            </a:r>
            <a:r>
              <a:rPr lang="zh-CN" altLang="en-US" sz="2000" b="0" dirty="0"/>
              <a:t>与 </a:t>
            </a:r>
            <a:r>
              <a:rPr lang="en-US" altLang="zh-CN" sz="2000" b="0" dirty="0"/>
              <a:t>TGS </a:t>
            </a:r>
            <a:r>
              <a:rPr lang="zh-CN" altLang="en-US" sz="2000" b="0" dirty="0"/>
              <a:t>的会话密钥 </a:t>
            </a:r>
            <a:r>
              <a:rPr lang="en-US" altLang="zh-CN" sz="2000" b="0" i="1" dirty="0"/>
              <a:t>KA</a:t>
            </a:r>
            <a:r>
              <a:rPr lang="zh-CN" altLang="en-US" sz="2000" b="0" dirty="0"/>
              <a:t>−</a:t>
            </a:r>
            <a:r>
              <a:rPr lang="en-US" altLang="zh-CN" sz="2000" b="0" i="1" dirty="0"/>
              <a:t>TGS</a:t>
            </a:r>
            <a:r>
              <a:rPr lang="zh-CN" altLang="en-US" sz="2000" b="0" dirty="0"/>
              <a:t>​ 和 </a:t>
            </a:r>
            <a:r>
              <a:rPr lang="en-US" altLang="zh-CN" sz="2000" b="0" dirty="0"/>
              <a:t>TGT</a:t>
            </a:r>
            <a:r>
              <a:rPr lang="zh-CN" altLang="en-US" sz="2000" b="0" dirty="0"/>
              <a:t>（用 </a:t>
            </a:r>
            <a:r>
              <a:rPr lang="en-US" altLang="zh-CN" sz="2000" b="0" i="1" dirty="0"/>
              <a:t>KTGS</a:t>
            </a:r>
            <a:r>
              <a:rPr lang="zh-CN" altLang="en-US" sz="2000" b="0" dirty="0"/>
              <a:t>​ 加密）；</a:t>
            </a:r>
          </a:p>
          <a:p>
            <a:r>
              <a:rPr lang="zh-CN" altLang="en-US" sz="2000" b="0" dirty="0"/>
              <a:t>用户向 </a:t>
            </a:r>
            <a:r>
              <a:rPr lang="en-US" altLang="zh-CN" sz="2000" b="0" dirty="0"/>
              <a:t>TGS </a:t>
            </a:r>
            <a:r>
              <a:rPr lang="zh-CN" altLang="en-US" sz="2000" b="0" dirty="0"/>
              <a:t>发送 </a:t>
            </a:r>
            <a:r>
              <a:rPr lang="en-US" altLang="zh-CN" sz="2000" b="0" dirty="0"/>
              <a:t>TGT </a:t>
            </a:r>
            <a:r>
              <a:rPr lang="zh-CN" altLang="en-US" sz="2000" b="0" dirty="0"/>
              <a:t>和认证信息，请求访问应用服务器 </a:t>
            </a:r>
            <a:r>
              <a:rPr lang="en-US" altLang="zh-CN" sz="2000" b="0" dirty="0"/>
              <a:t>B</a:t>
            </a:r>
            <a:r>
              <a:rPr lang="zh-CN" altLang="en-US" sz="2000" b="0" dirty="0"/>
              <a:t>；</a:t>
            </a:r>
          </a:p>
          <a:p>
            <a:r>
              <a:rPr lang="en-US" altLang="zh-CN" sz="2000" b="0" dirty="0"/>
              <a:t>TGS </a:t>
            </a:r>
            <a:r>
              <a:rPr lang="zh-CN" altLang="en-US" sz="2000" b="0" dirty="0"/>
              <a:t>返回加密消息：含 </a:t>
            </a:r>
            <a:r>
              <a:rPr lang="en-US" altLang="zh-CN" sz="2000" b="0" dirty="0"/>
              <a:t>A </a:t>
            </a:r>
            <a:r>
              <a:rPr lang="zh-CN" altLang="en-US" sz="2000" b="0" dirty="0"/>
              <a:t>与 </a:t>
            </a:r>
            <a:r>
              <a:rPr lang="en-US" altLang="zh-CN" sz="2000" b="0" dirty="0"/>
              <a:t>B </a:t>
            </a:r>
            <a:r>
              <a:rPr lang="zh-CN" altLang="en-US" sz="2000" b="0" dirty="0"/>
              <a:t>的会话密钥 </a:t>
            </a:r>
            <a:r>
              <a:rPr lang="en-US" altLang="zh-CN" sz="2000" b="0" i="1" dirty="0"/>
              <a:t>KAB</a:t>
            </a:r>
            <a:r>
              <a:rPr lang="zh-CN" altLang="en-US" sz="2000" b="0" dirty="0"/>
              <a:t>​ 和服务票据 </a:t>
            </a:r>
            <a:r>
              <a:rPr lang="en-US" altLang="zh-CN" sz="2000" b="0" dirty="0"/>
              <a:t>ST</a:t>
            </a:r>
            <a:r>
              <a:rPr lang="zh-CN" altLang="en-US" sz="2000" b="0" dirty="0"/>
              <a:t>（用 </a:t>
            </a:r>
            <a:r>
              <a:rPr lang="en-US" altLang="zh-CN" sz="2000" b="0" i="1" dirty="0"/>
              <a:t>KBS</a:t>
            </a:r>
            <a:r>
              <a:rPr lang="zh-CN" altLang="en-US" sz="2000" b="0" dirty="0"/>
              <a:t>​ 加密）；</a:t>
            </a:r>
          </a:p>
          <a:p>
            <a:r>
              <a:rPr lang="zh-CN" altLang="en-US" sz="2000" b="0" dirty="0"/>
              <a:t>用户向 </a:t>
            </a:r>
            <a:r>
              <a:rPr lang="en-US" altLang="zh-CN" sz="2000" b="0" dirty="0"/>
              <a:t>B </a:t>
            </a:r>
            <a:r>
              <a:rPr lang="zh-CN" altLang="en-US" sz="2000" b="0" dirty="0"/>
              <a:t>发送 </a:t>
            </a:r>
            <a:r>
              <a:rPr lang="en-US" altLang="zh-CN" sz="2000" b="0" dirty="0"/>
              <a:t>ST </a:t>
            </a:r>
            <a:r>
              <a:rPr lang="zh-CN" altLang="en-US" sz="2000" b="0" dirty="0"/>
              <a:t>和认证信息，</a:t>
            </a:r>
            <a:r>
              <a:rPr lang="en-US" altLang="zh-CN" sz="2000" b="0" dirty="0"/>
              <a:t>B </a:t>
            </a:r>
            <a:r>
              <a:rPr lang="zh-CN" altLang="en-US" sz="2000" b="0" dirty="0"/>
              <a:t>验证通过后允许访问；</a:t>
            </a:r>
          </a:p>
          <a:p>
            <a:r>
              <a:rPr lang="en-US" altLang="zh-CN" sz="2000" b="0" dirty="0"/>
              <a:t>B </a:t>
            </a:r>
            <a:r>
              <a:rPr lang="zh-CN" altLang="en-US" sz="2000" b="0" dirty="0"/>
              <a:t>返回验证确认，完成双向认证。</a:t>
            </a:r>
          </a:p>
          <a:p>
            <a:r>
              <a:rPr lang="zh-CN" altLang="en-US" sz="2000" b="0" dirty="0"/>
              <a:t>关键：</a:t>
            </a:r>
            <a:r>
              <a:rPr lang="en-US" altLang="zh-CN" sz="2000" b="0" dirty="0"/>
              <a:t>TGT </a:t>
            </a:r>
            <a:r>
              <a:rPr lang="zh-CN" altLang="en-US" sz="2000" b="0" dirty="0"/>
              <a:t>有效期内可重复获取其他服务的 </a:t>
            </a:r>
            <a:r>
              <a:rPr lang="en-US" altLang="zh-CN" sz="2000" b="0" dirty="0"/>
              <a:t>ST</a:t>
            </a:r>
            <a:r>
              <a:rPr lang="zh-CN" altLang="en-US" sz="2000" b="0" dirty="0"/>
              <a:t>，实现 </a:t>
            </a:r>
            <a:r>
              <a:rPr lang="en-US" altLang="zh-CN" sz="2000" b="0" dirty="0"/>
              <a:t>SSO</a:t>
            </a:r>
            <a:r>
              <a:rPr lang="zh-CN" altLang="en-US" sz="2000" b="0" dirty="0"/>
              <a:t>。</a:t>
            </a:r>
          </a:p>
          <a:p>
            <a:endParaRPr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3014CD-1E48-4E5D-9481-8AE774DF5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C2AB8AE-9F99-4767-B0B9-5CF7041B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Kerberos </a:t>
            </a:r>
            <a:r>
              <a:rPr lang="zh-CN" altLang="en-US" b="0" dirty="0"/>
              <a:t>工作流程（配图 </a:t>
            </a:r>
            <a:r>
              <a:rPr lang="en-US" altLang="zh-CN" b="0" dirty="0"/>
              <a:t>4.13</a:t>
            </a:r>
            <a:r>
              <a:rPr lang="zh-CN" altLang="en-US" b="0" dirty="0"/>
              <a:t>）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B9CFB6-CEFB-49B3-ABC9-510D3E71F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941" y="1319086"/>
            <a:ext cx="6389630" cy="399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5507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0956799-08AA-4354-8BF1-F73B08713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核心应用架构</a:t>
            </a:r>
            <a:r>
              <a:rPr lang="zh-CN" altLang="en-US" b="0" dirty="0"/>
              <a:t>：基于分布式客户 </a:t>
            </a:r>
            <a:r>
              <a:rPr lang="en-US" altLang="zh-CN" b="0" dirty="0"/>
              <a:t>/ </a:t>
            </a:r>
            <a:r>
              <a:rPr lang="zh-CN" altLang="en-US" b="0" dirty="0"/>
              <a:t>服务器（</a:t>
            </a:r>
            <a:r>
              <a:rPr lang="en-US" altLang="zh-CN" b="0" dirty="0"/>
              <a:t>C/S</a:t>
            </a:r>
            <a:r>
              <a:rPr lang="zh-CN" altLang="en-US" b="0" dirty="0"/>
              <a:t>）体系，由 </a:t>
            </a:r>
            <a:r>
              <a:rPr lang="en-US" altLang="zh-CN" b="0" dirty="0"/>
              <a:t>1 </a:t>
            </a:r>
            <a:r>
              <a:rPr lang="zh-CN" altLang="en-US" b="0" dirty="0"/>
              <a:t>个或多个 </a:t>
            </a:r>
            <a:r>
              <a:rPr lang="en-US" altLang="zh-CN" b="0" dirty="0"/>
              <a:t>Kerberos </a:t>
            </a:r>
            <a:r>
              <a:rPr lang="zh-CN" altLang="en-US" b="0" dirty="0"/>
              <a:t>服务器提供鉴别服务；客户端请求应用服务器资源时，需先向 </a:t>
            </a:r>
            <a:r>
              <a:rPr lang="en-US" altLang="zh-CN" b="0" dirty="0"/>
              <a:t>KDC </a:t>
            </a:r>
            <a:r>
              <a:rPr lang="zh-CN" altLang="en-US" b="0" dirty="0"/>
              <a:t>获取身份证明，再提交给应用服务器认证，通过后才能获取资源。</a:t>
            </a:r>
          </a:p>
          <a:p>
            <a:r>
              <a:rPr lang="en-US" altLang="zh-CN" dirty="0"/>
              <a:t>Windows </a:t>
            </a:r>
            <a:r>
              <a:rPr lang="zh-CN" altLang="en-US" dirty="0"/>
              <a:t>系统支持</a:t>
            </a:r>
            <a:r>
              <a:rPr lang="zh-CN" altLang="en-US" b="0" dirty="0"/>
              <a:t>：</a:t>
            </a:r>
            <a:r>
              <a:rPr lang="en-US" altLang="zh-CN" b="0" dirty="0"/>
              <a:t>Windows 2000 </a:t>
            </a:r>
            <a:r>
              <a:rPr lang="zh-CN" altLang="en-US" b="0" dirty="0"/>
              <a:t>及更高版本默认用 </a:t>
            </a:r>
            <a:r>
              <a:rPr lang="en-US" altLang="zh-CN" b="0" dirty="0"/>
              <a:t>Kerberos </a:t>
            </a:r>
            <a:r>
              <a:rPr lang="zh-CN" altLang="en-US" b="0" dirty="0"/>
              <a:t>做身份认证 </a:t>
            </a:r>
            <a:r>
              <a:rPr lang="en-US" altLang="zh-CN" b="0" dirty="0"/>
              <a:t>—— </a:t>
            </a:r>
            <a:r>
              <a:rPr lang="zh-CN" altLang="en-US" b="0" dirty="0"/>
              <a:t>客户端接入 </a:t>
            </a:r>
            <a:r>
              <a:rPr lang="en-US" altLang="zh-CN" b="0" dirty="0"/>
              <a:t>Windows </a:t>
            </a:r>
            <a:r>
              <a:rPr lang="zh-CN" altLang="en-US" b="0" dirty="0"/>
              <a:t>域后，</a:t>
            </a:r>
            <a:r>
              <a:rPr lang="en-US" altLang="zh-CN" b="0" dirty="0"/>
              <a:t>Kerberos </a:t>
            </a:r>
            <a:r>
              <a:rPr lang="zh-CN" altLang="en-US" b="0" dirty="0"/>
              <a:t>会成为访问域内 </a:t>
            </a:r>
            <a:r>
              <a:rPr lang="en-US" altLang="zh-CN" b="0" dirty="0"/>
              <a:t>/ </a:t>
            </a:r>
            <a:r>
              <a:rPr lang="zh-CN" altLang="en-US" b="0" dirty="0"/>
              <a:t>信任域服务的默认协议；若客户端 </a:t>
            </a:r>
            <a:r>
              <a:rPr lang="en-US" altLang="zh-CN" b="0" dirty="0"/>
              <a:t>/ </a:t>
            </a:r>
            <a:r>
              <a:rPr lang="zh-CN" altLang="en-US" b="0" dirty="0"/>
              <a:t>服务器未在域内（或非信任域），则改用 </a:t>
            </a:r>
            <a:r>
              <a:rPr lang="en-US" altLang="zh-CN" b="0" dirty="0"/>
              <a:t>NTLM </a:t>
            </a:r>
            <a:r>
              <a:rPr lang="zh-CN" altLang="en-US" b="0" dirty="0"/>
              <a:t>认证。</a:t>
            </a:r>
          </a:p>
          <a:p>
            <a:r>
              <a:rPr lang="en-US" altLang="zh-CN" dirty="0"/>
              <a:t>UNIX </a:t>
            </a:r>
            <a:r>
              <a:rPr lang="zh-CN" altLang="en-US" dirty="0"/>
              <a:t>类系统支持</a:t>
            </a:r>
            <a:r>
              <a:rPr lang="zh-CN" altLang="en-US" b="0" dirty="0"/>
              <a:t>：</a:t>
            </a:r>
            <a:r>
              <a:rPr lang="en-US" altLang="zh-CN" b="0" dirty="0"/>
              <a:t>FreeBSD</a:t>
            </a:r>
            <a:r>
              <a:rPr lang="zh-CN" altLang="en-US" b="0" dirty="0"/>
              <a:t>、</a:t>
            </a:r>
            <a:r>
              <a:rPr lang="en-US" altLang="zh-CN" b="0" dirty="0"/>
              <a:t>OpenBSD</a:t>
            </a:r>
            <a:r>
              <a:rPr lang="zh-CN" altLang="en-US" b="0" dirty="0"/>
              <a:t>、</a:t>
            </a:r>
            <a:r>
              <a:rPr lang="en-US" altLang="zh-CN" b="0" dirty="0"/>
              <a:t>macOS</a:t>
            </a:r>
            <a:r>
              <a:rPr lang="zh-CN" altLang="en-US" b="0" dirty="0"/>
              <a:t>、红帽 </a:t>
            </a:r>
            <a:r>
              <a:rPr lang="en-US" altLang="zh-CN" b="0" dirty="0"/>
              <a:t>Linux</a:t>
            </a:r>
            <a:r>
              <a:rPr lang="zh-CN" altLang="en-US" b="0" dirty="0"/>
              <a:t>、</a:t>
            </a:r>
            <a:r>
              <a:rPr lang="en-US" altLang="zh-CN" b="0" dirty="0"/>
              <a:t>Oracle Solaris</a:t>
            </a:r>
            <a:r>
              <a:rPr lang="zh-CN" altLang="en-US" b="0" dirty="0"/>
              <a:t>、</a:t>
            </a:r>
            <a:r>
              <a:rPr lang="en-US" altLang="zh-CN" b="0" dirty="0"/>
              <a:t>IBM AIX</a:t>
            </a:r>
            <a:r>
              <a:rPr lang="zh-CN" altLang="en-US" b="0" dirty="0"/>
              <a:t>、</a:t>
            </a:r>
            <a:r>
              <a:rPr lang="en-US" altLang="zh-CN" b="0" dirty="0"/>
              <a:t>HP-UX </a:t>
            </a:r>
            <a:r>
              <a:rPr lang="zh-CN" altLang="en-US" b="0" dirty="0"/>
              <a:t>等主流 </a:t>
            </a:r>
            <a:r>
              <a:rPr lang="en-US" altLang="zh-CN" b="0" dirty="0"/>
              <a:t>UNIX/Linux </a:t>
            </a:r>
            <a:r>
              <a:rPr lang="zh-CN" altLang="en-US" b="0" dirty="0"/>
              <a:t>系统，均内置 </a:t>
            </a:r>
            <a:r>
              <a:rPr lang="en-US" altLang="zh-CN" b="0" dirty="0"/>
              <a:t>Kerberos </a:t>
            </a:r>
            <a:r>
              <a:rPr lang="zh-CN" altLang="en-US" b="0" dirty="0"/>
              <a:t>用户 </a:t>
            </a:r>
            <a:r>
              <a:rPr lang="en-US" altLang="zh-CN" b="0" dirty="0"/>
              <a:t>/ </a:t>
            </a:r>
            <a:r>
              <a:rPr lang="zh-CN" altLang="en-US" b="0" dirty="0"/>
              <a:t>服务器端认证软件。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5CDAA7D-A8F1-4309-96D3-8E9C531B8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688DA174-956E-4018-A142-A58B5034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Kerberos </a:t>
            </a:r>
            <a:r>
              <a:rPr lang="zh-CN" altLang="en-US" b="0" dirty="0"/>
              <a:t>的典型应用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84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A337D2A-5CE3-41B4-B4E1-A7D0D4748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6520566" cy="5047042"/>
          </a:xfrm>
        </p:spPr>
        <p:txBody>
          <a:bodyPr/>
          <a:lstStyle/>
          <a:p>
            <a:r>
              <a:rPr lang="zh-CN" altLang="en-US" b="0" dirty="0"/>
              <a:t>定义：第三方无需知晓用户账号密码，通过令牌获取用户授权访问资源的开放协议（</a:t>
            </a:r>
            <a:r>
              <a:rPr lang="en-US" altLang="zh-CN" b="0" dirty="0"/>
              <a:t>OAuth 2.0 </a:t>
            </a:r>
            <a:r>
              <a:rPr lang="zh-CN" altLang="en-US" b="0" dirty="0"/>
              <a:t>为当前主流，</a:t>
            </a:r>
            <a:r>
              <a:rPr lang="en-US" altLang="zh-CN" b="0" dirty="0"/>
              <a:t>RFC 6749</a:t>
            </a:r>
            <a:r>
              <a:rPr lang="zh-CN" altLang="en-US" b="0" dirty="0"/>
              <a:t>）。</a:t>
            </a:r>
          </a:p>
          <a:p>
            <a:r>
              <a:rPr lang="zh-CN" altLang="en-US" b="0" dirty="0"/>
              <a:t>四种核心角色（配图 </a:t>
            </a:r>
            <a:r>
              <a:rPr lang="en-US" altLang="zh-CN" b="0" dirty="0"/>
              <a:t>4.14</a:t>
            </a:r>
            <a:r>
              <a:rPr lang="zh-CN" altLang="en-US" b="0" dirty="0"/>
              <a:t>）：</a:t>
            </a:r>
          </a:p>
          <a:p>
            <a:pPr lvl="1"/>
            <a:r>
              <a:rPr lang="zh-CN" altLang="en-US" b="0" dirty="0"/>
              <a:t>资源所有者（</a:t>
            </a:r>
            <a:r>
              <a:rPr lang="en-US" altLang="zh-CN" b="0" dirty="0"/>
              <a:t>RO</a:t>
            </a:r>
            <a:r>
              <a:rPr lang="zh-CN" altLang="en-US" b="0" dirty="0"/>
              <a:t>）：用户，拥有资源授权权；</a:t>
            </a:r>
          </a:p>
          <a:p>
            <a:pPr lvl="1"/>
            <a:r>
              <a:rPr lang="zh-CN" altLang="en-US" b="0" dirty="0"/>
              <a:t>客户端（</a:t>
            </a:r>
            <a:r>
              <a:rPr lang="en-US" altLang="zh-CN" b="0" dirty="0"/>
              <a:t>Client</a:t>
            </a:r>
            <a:r>
              <a:rPr lang="zh-CN" altLang="en-US" b="0" dirty="0"/>
              <a:t>）：第三方应用，请求访问资源；</a:t>
            </a:r>
          </a:p>
          <a:p>
            <a:pPr lvl="1"/>
            <a:r>
              <a:rPr lang="zh-CN" altLang="en-US" b="0" dirty="0"/>
              <a:t>授权服务器（</a:t>
            </a:r>
            <a:r>
              <a:rPr lang="en-US" altLang="zh-CN" b="0" dirty="0"/>
              <a:t>AS</a:t>
            </a:r>
            <a:r>
              <a:rPr lang="zh-CN" altLang="en-US" b="0" dirty="0"/>
              <a:t>）：认证 </a:t>
            </a:r>
            <a:r>
              <a:rPr lang="en-US" altLang="zh-CN" b="0" dirty="0"/>
              <a:t>RO </a:t>
            </a:r>
            <a:r>
              <a:rPr lang="zh-CN" altLang="en-US" b="0" dirty="0"/>
              <a:t>身份，颁发访问令牌；</a:t>
            </a:r>
          </a:p>
          <a:p>
            <a:pPr lvl="1"/>
            <a:r>
              <a:rPr lang="zh-CN" altLang="en-US" b="0" dirty="0"/>
              <a:t>资源服务器（</a:t>
            </a:r>
            <a:r>
              <a:rPr lang="en-US" altLang="zh-CN" b="0" dirty="0"/>
              <a:t>RS</a:t>
            </a:r>
            <a:r>
              <a:rPr lang="zh-CN" altLang="en-US" b="0" dirty="0"/>
              <a:t>）：存储资源，验证令牌后提供服务。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84A2FA1-73D4-4349-A668-7C18287C8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88E89DA-93EE-4EE8-8B49-A3DBC2A55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OAuth </a:t>
            </a:r>
            <a:r>
              <a:rPr lang="zh-CN" altLang="en-US" b="0" dirty="0"/>
              <a:t>协议：开放授权框架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354403-7C41-42AD-A08B-C690B4896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867" y="2241307"/>
            <a:ext cx="5159978" cy="237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1949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B5DDEF3-763C-4625-BD71-630738A1D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CN" altLang="en-US" b="0" dirty="0"/>
              <a:t>客户端请求资源所有者授权；</a:t>
            </a:r>
          </a:p>
          <a:p>
            <a:r>
              <a:rPr lang="en-US" altLang="zh-CN" b="0" dirty="0"/>
              <a:t>RO </a:t>
            </a:r>
            <a:r>
              <a:rPr lang="zh-CN" altLang="en-US" b="0" dirty="0"/>
              <a:t>批准授权，返回 “授权证据”；</a:t>
            </a:r>
          </a:p>
          <a:p>
            <a:r>
              <a:rPr lang="zh-CN" altLang="en-US" b="0" dirty="0"/>
              <a:t>客户端用授权证据向 </a:t>
            </a:r>
            <a:r>
              <a:rPr lang="en-US" altLang="zh-CN" b="0" dirty="0"/>
              <a:t>AS </a:t>
            </a:r>
            <a:r>
              <a:rPr lang="zh-CN" altLang="en-US" b="0" dirty="0"/>
              <a:t>请求访问令牌；</a:t>
            </a:r>
          </a:p>
          <a:p>
            <a:r>
              <a:rPr lang="en-US" altLang="zh-CN" b="0" dirty="0"/>
              <a:t>AS </a:t>
            </a:r>
            <a:r>
              <a:rPr lang="zh-CN" altLang="en-US" b="0" dirty="0"/>
              <a:t>验证通过，返回访问令牌；</a:t>
            </a:r>
          </a:p>
          <a:p>
            <a:r>
              <a:rPr lang="zh-CN" altLang="en-US" b="0" dirty="0"/>
              <a:t>客户端携带令牌访问 </a:t>
            </a:r>
            <a:r>
              <a:rPr lang="en-US" altLang="zh-CN" b="0" dirty="0"/>
              <a:t>RS</a:t>
            </a:r>
            <a:r>
              <a:rPr lang="zh-CN" altLang="en-US" b="0" dirty="0"/>
              <a:t>；</a:t>
            </a:r>
          </a:p>
          <a:p>
            <a:r>
              <a:rPr lang="en-US" altLang="zh-CN" b="0" dirty="0"/>
              <a:t>RS </a:t>
            </a:r>
            <a:r>
              <a:rPr lang="zh-CN" altLang="en-US" b="0" dirty="0"/>
              <a:t>验证令牌有效，返回资源。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D2641F-6EDA-406B-A200-8DDD7F29B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F3B23E6-819F-4C52-A927-285B8EAD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OAuth 2.0 </a:t>
            </a:r>
            <a:r>
              <a:rPr lang="zh-CN" altLang="en-US" b="0" dirty="0"/>
              <a:t>抽象流程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0CA478-7280-4C4C-B3AF-34C83524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45425"/>
            <a:ext cx="5785026" cy="417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972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07997E6-AB18-473D-B3E2-D3903BD34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3946699" cy="5047042"/>
          </a:xfrm>
        </p:spPr>
        <p:txBody>
          <a:bodyPr/>
          <a:lstStyle/>
          <a:p>
            <a:pPr algn="l"/>
            <a:r>
              <a:rPr lang="zh-CN" altLang="en-US" b="0" dirty="0"/>
              <a:t>授权码模式：最安全，适用于有后端的 </a:t>
            </a:r>
            <a:r>
              <a:rPr lang="en-US" altLang="zh-CN" b="0" dirty="0"/>
              <a:t>Web </a:t>
            </a:r>
            <a:r>
              <a:rPr lang="zh-CN" altLang="en-US" b="0" dirty="0"/>
              <a:t>应用（重点）；</a:t>
            </a:r>
          </a:p>
          <a:p>
            <a:r>
              <a:rPr lang="zh-CN" altLang="en-US" b="0" dirty="0"/>
              <a:t>简化模式：浏览器内完成，令牌可见，无客户端认证；</a:t>
            </a:r>
          </a:p>
          <a:p>
            <a:r>
              <a:rPr lang="zh-CN" altLang="en-US" b="0" dirty="0"/>
              <a:t>密码模式：用户向客户端提供密码，仅限高度信任场景；</a:t>
            </a:r>
          </a:p>
          <a:p>
            <a:r>
              <a:rPr lang="zh-CN" altLang="en-US" b="0" dirty="0"/>
              <a:t>客户端模式：客户端以自身名义认证，无用户授权。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7E103D2-F9D4-4DF3-994D-B7DAFAC4B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0F459F1-B157-484B-8120-92EAFC3E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核心授权模式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C79B550-AC2C-486C-9630-407A3DBE5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16" y="1281030"/>
            <a:ext cx="6368783" cy="504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719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82C2D2F-6127-4878-AF82-5A38586D7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4598697" cy="5047042"/>
          </a:xfrm>
        </p:spPr>
        <p:txBody>
          <a:bodyPr/>
          <a:lstStyle/>
          <a:p>
            <a:r>
              <a:rPr lang="zh-CN" altLang="en-US" sz="2000" b="0" dirty="0"/>
              <a:t>客户端重定向 </a:t>
            </a:r>
            <a:r>
              <a:rPr lang="en-US" altLang="zh-CN" sz="2000" b="0" dirty="0"/>
              <a:t>RO </a:t>
            </a:r>
            <a:r>
              <a:rPr lang="zh-CN" altLang="en-US" sz="2000" b="0" dirty="0"/>
              <a:t>到 </a:t>
            </a:r>
            <a:r>
              <a:rPr lang="en-US" altLang="zh-CN" sz="2000" b="0" dirty="0"/>
              <a:t>AS</a:t>
            </a:r>
            <a:r>
              <a:rPr lang="zh-CN" altLang="en-US" sz="2000" b="0" dirty="0"/>
              <a:t>，携带 </a:t>
            </a:r>
            <a:r>
              <a:rPr lang="en-US" altLang="zh-CN" sz="2000" b="0" dirty="0" err="1"/>
              <a:t>client_id</a:t>
            </a:r>
            <a:r>
              <a:rPr lang="zh-CN" altLang="en-US" sz="2000" b="0" dirty="0"/>
              <a:t>、</a:t>
            </a:r>
            <a:r>
              <a:rPr lang="en-US" altLang="zh-CN" sz="2000" b="0" dirty="0" err="1"/>
              <a:t>redirect_uri</a:t>
            </a:r>
            <a:r>
              <a:rPr lang="zh-CN" altLang="en-US" sz="2000" b="0" dirty="0"/>
              <a:t>、</a:t>
            </a:r>
            <a:r>
              <a:rPr lang="en-US" altLang="zh-CN" sz="2000" b="0" dirty="0"/>
              <a:t>state </a:t>
            </a:r>
            <a:r>
              <a:rPr lang="zh-CN" altLang="en-US" sz="2000" b="0" dirty="0"/>
              <a:t>等参数；</a:t>
            </a:r>
          </a:p>
          <a:p>
            <a:r>
              <a:rPr lang="en-US" altLang="zh-CN" sz="2000" b="0" dirty="0"/>
              <a:t>AS </a:t>
            </a:r>
            <a:r>
              <a:rPr lang="zh-CN" altLang="en-US" sz="2000" b="0" dirty="0"/>
              <a:t>认证 </a:t>
            </a:r>
            <a:r>
              <a:rPr lang="en-US" altLang="zh-CN" sz="2000" b="0" dirty="0"/>
              <a:t>RO </a:t>
            </a:r>
            <a:r>
              <a:rPr lang="zh-CN" altLang="en-US" sz="2000" b="0" dirty="0"/>
              <a:t>身份，</a:t>
            </a:r>
            <a:r>
              <a:rPr lang="en-US" altLang="zh-CN" sz="2000" b="0" dirty="0"/>
              <a:t>RO </a:t>
            </a:r>
            <a:r>
              <a:rPr lang="zh-CN" altLang="en-US" sz="2000" b="0" dirty="0"/>
              <a:t>批准授权后，</a:t>
            </a:r>
            <a:r>
              <a:rPr lang="en-US" altLang="zh-CN" sz="2000" b="0" dirty="0"/>
              <a:t>AS </a:t>
            </a:r>
            <a:r>
              <a:rPr lang="zh-CN" altLang="en-US" sz="2000" b="0" dirty="0"/>
              <a:t>重定向 </a:t>
            </a:r>
            <a:r>
              <a:rPr lang="en-US" altLang="zh-CN" sz="2000" b="0" dirty="0"/>
              <a:t>RO </a:t>
            </a:r>
            <a:r>
              <a:rPr lang="zh-CN" altLang="en-US" sz="2000" b="0" dirty="0"/>
              <a:t>到客户端，返回 </a:t>
            </a:r>
            <a:r>
              <a:rPr lang="en-US" altLang="zh-CN" sz="2000" b="0" dirty="0" err="1"/>
              <a:t>authorization_code</a:t>
            </a:r>
            <a:r>
              <a:rPr lang="en-US" altLang="zh-CN" sz="2000" b="0" dirty="0"/>
              <a:t> </a:t>
            </a:r>
            <a:r>
              <a:rPr lang="zh-CN" altLang="en-US" sz="2000" b="0" dirty="0"/>
              <a:t>和 </a:t>
            </a:r>
            <a:r>
              <a:rPr lang="en-US" altLang="zh-CN" sz="2000" b="0" dirty="0"/>
              <a:t>state</a:t>
            </a:r>
            <a:r>
              <a:rPr lang="zh-CN" altLang="en-US" sz="2000" b="0" dirty="0"/>
              <a:t>；</a:t>
            </a:r>
          </a:p>
          <a:p>
            <a:r>
              <a:rPr lang="zh-CN" altLang="en-US" sz="2000" b="0" dirty="0"/>
              <a:t>客户端用 </a:t>
            </a:r>
            <a:r>
              <a:rPr lang="en-US" altLang="zh-CN" sz="2000" b="0" dirty="0" err="1"/>
              <a:t>authorization_code</a:t>
            </a:r>
            <a:r>
              <a:rPr lang="en-US" altLang="zh-CN" sz="2000" b="0" dirty="0"/>
              <a:t> </a:t>
            </a:r>
            <a:r>
              <a:rPr lang="zh-CN" altLang="en-US" sz="2000" b="0" dirty="0"/>
              <a:t>和自身凭证向 </a:t>
            </a:r>
            <a:r>
              <a:rPr lang="en-US" altLang="zh-CN" sz="2000" b="0" dirty="0"/>
              <a:t>AS </a:t>
            </a:r>
            <a:r>
              <a:rPr lang="zh-CN" altLang="en-US" sz="2000" b="0" dirty="0"/>
              <a:t>请求令牌；</a:t>
            </a:r>
          </a:p>
          <a:p>
            <a:r>
              <a:rPr lang="en-US" altLang="zh-CN" sz="2000" b="0" dirty="0"/>
              <a:t>AS </a:t>
            </a:r>
            <a:r>
              <a:rPr lang="zh-CN" altLang="en-US" sz="2000" b="0" dirty="0"/>
              <a:t>验证通过，返回 </a:t>
            </a:r>
            <a:r>
              <a:rPr lang="en-US" altLang="zh-CN" sz="2000" b="0" dirty="0" err="1"/>
              <a:t>access_token</a:t>
            </a:r>
            <a:r>
              <a:rPr lang="zh-CN" altLang="en-US" sz="2000" b="0" dirty="0"/>
              <a:t>（及 </a:t>
            </a:r>
            <a:r>
              <a:rPr lang="en-US" altLang="zh-CN" sz="2000" b="0" dirty="0" err="1"/>
              <a:t>refresh_token</a:t>
            </a:r>
            <a:r>
              <a:rPr lang="zh-CN" altLang="en-US" sz="2000" b="0" dirty="0"/>
              <a:t>，若 </a:t>
            </a:r>
            <a:r>
              <a:rPr lang="en-US" altLang="zh-CN" sz="2000" b="0" dirty="0"/>
              <a:t>offline </a:t>
            </a:r>
            <a:r>
              <a:rPr lang="zh-CN" altLang="en-US" sz="2000" b="0" dirty="0"/>
              <a:t>模式）；</a:t>
            </a:r>
          </a:p>
          <a:p>
            <a:r>
              <a:rPr lang="zh-CN" altLang="en-US" sz="2000" b="0" dirty="0"/>
              <a:t>客户端用 </a:t>
            </a:r>
            <a:r>
              <a:rPr lang="en-US" altLang="zh-CN" sz="2000" b="0" dirty="0" err="1"/>
              <a:t>access_token</a:t>
            </a:r>
            <a:r>
              <a:rPr lang="en-US" altLang="zh-CN" sz="2000" b="0" dirty="0"/>
              <a:t> </a:t>
            </a:r>
            <a:r>
              <a:rPr lang="zh-CN" altLang="en-US" sz="2000" b="0" dirty="0"/>
              <a:t>访问 </a:t>
            </a:r>
            <a:r>
              <a:rPr lang="en-US" altLang="zh-CN" sz="2000" b="0" dirty="0"/>
              <a:t>RS </a:t>
            </a:r>
            <a:r>
              <a:rPr lang="zh-CN" altLang="en-US" sz="2000" b="0" dirty="0"/>
              <a:t>资源。</a:t>
            </a:r>
          </a:p>
          <a:p>
            <a:r>
              <a:rPr lang="zh-CN" altLang="en-US" sz="2000" b="0" dirty="0"/>
              <a:t>优势：前后端分离，令牌存储在后端，避免泄露。</a:t>
            </a:r>
          </a:p>
          <a:p>
            <a:endParaRPr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3825A4A-EE6A-465B-A9DD-A6BB61564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7303A69-D3D9-4366-9FE4-F28883E9F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授权码模式工作流程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55E383-3F6C-46E8-8017-308F82585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998" y="1328406"/>
            <a:ext cx="6593689" cy="519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811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2F2A401-B906-4CEF-96F8-CA9BCD800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核心定位</a:t>
            </a:r>
            <a:r>
              <a:rPr lang="zh-CN" altLang="en-US" b="0" dirty="0"/>
              <a:t>：开放授权协议，允许第三方在不获取用户密码的情况下，经用户授权访问其资源（如社交账号数据）。</a:t>
            </a:r>
          </a:p>
          <a:p>
            <a:r>
              <a:rPr lang="zh-CN" altLang="en-US" dirty="0"/>
              <a:t>关键特点</a:t>
            </a:r>
            <a:r>
              <a:rPr lang="zh-CN" altLang="en-US" b="0" dirty="0"/>
              <a:t>：需 “现场授权”（用户实时审批，如浏览器确认）；</a:t>
            </a:r>
            <a:r>
              <a:rPr lang="en-US" altLang="zh-CN" b="0" dirty="0"/>
              <a:t>OAuth 2.0 </a:t>
            </a:r>
            <a:r>
              <a:rPr lang="zh-CN" altLang="en-US" b="0" dirty="0"/>
              <a:t>为主流，因设计简洁替代复杂的 </a:t>
            </a:r>
            <a:r>
              <a:rPr lang="en-US" altLang="zh-CN" b="0" dirty="0"/>
              <a:t>1.0</a:t>
            </a:r>
            <a:r>
              <a:rPr lang="zh-CN" altLang="en-US" b="0" dirty="0"/>
              <a:t>（不兼容 </a:t>
            </a:r>
            <a:r>
              <a:rPr lang="en-US" altLang="zh-CN" b="0" dirty="0"/>
              <a:t>1.0</a:t>
            </a:r>
            <a:r>
              <a:rPr lang="zh-CN" altLang="en-US" b="0" dirty="0"/>
              <a:t>）。</a:t>
            </a:r>
          </a:p>
          <a:p>
            <a:r>
              <a:rPr lang="zh-CN" altLang="en-US" dirty="0"/>
              <a:t>典型应用场景</a:t>
            </a:r>
            <a:r>
              <a:rPr lang="zh-CN" altLang="en-US" b="0" dirty="0"/>
              <a:t>：</a:t>
            </a:r>
          </a:p>
          <a:p>
            <a:pPr lvl="1"/>
            <a:r>
              <a:rPr lang="zh-CN" altLang="en-US" b="0" dirty="0"/>
              <a:t>社会化登录（微博、微信、</a:t>
            </a:r>
            <a:r>
              <a:rPr lang="en-US" altLang="zh-CN" b="0" dirty="0"/>
              <a:t>QQ </a:t>
            </a:r>
            <a:r>
              <a:rPr lang="zh-CN" altLang="en-US" b="0" dirty="0"/>
              <a:t>第三方登录外部应用）；</a:t>
            </a:r>
          </a:p>
          <a:p>
            <a:pPr lvl="1"/>
            <a:r>
              <a:rPr lang="zh-CN" altLang="en-US" b="0" dirty="0"/>
              <a:t>身份认证（谷歌、微软等用其做用户身份验证）；</a:t>
            </a:r>
          </a:p>
          <a:p>
            <a:pPr lvl="1"/>
            <a:r>
              <a:rPr lang="zh-CN" altLang="en-US" b="0" dirty="0"/>
              <a:t>移动平台（适配移动端，通过访问令牌实现无密码认证）。</a:t>
            </a:r>
          </a:p>
          <a:p>
            <a:r>
              <a:rPr lang="zh-CN" altLang="en-US" dirty="0"/>
              <a:t>现状变化</a:t>
            </a:r>
            <a:r>
              <a:rPr lang="zh-CN" altLang="en-US" b="0" dirty="0"/>
              <a:t>：从最初 “用户资源授权”，扩展为覆盖 </a:t>
            </a:r>
            <a:r>
              <a:rPr lang="en-US" altLang="zh-CN" b="0" dirty="0"/>
              <a:t>Web / </a:t>
            </a:r>
            <a:r>
              <a:rPr lang="zh-CN" altLang="en-US" b="0" dirty="0"/>
              <a:t>移动的身份认证工具，成为主流身份提供商的核心协议。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7F01C50-0116-49E5-9A1E-A22AA272C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761C4EF-A22F-4AD9-A42D-9B1F3C688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OAuth </a:t>
            </a:r>
            <a:r>
              <a:rPr lang="zh-CN" altLang="en-US" b="0" dirty="0"/>
              <a:t>的典型应用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23644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9AC05DA-645F-490F-9CEA-645EC77E0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5724699" cy="5047042"/>
          </a:xfrm>
        </p:spPr>
        <p:txBody>
          <a:bodyPr/>
          <a:lstStyle/>
          <a:p>
            <a:r>
              <a:rPr lang="zh-CN" altLang="en-US" b="0" dirty="0"/>
              <a:t>定义：</a:t>
            </a:r>
            <a:r>
              <a:rPr lang="en-US" altLang="zh-CN" b="0" dirty="0"/>
              <a:t>2014 </a:t>
            </a:r>
            <a:r>
              <a:rPr lang="zh-CN" altLang="en-US" b="0" dirty="0"/>
              <a:t>年标准化，基于 </a:t>
            </a:r>
            <a:r>
              <a:rPr lang="en-US" altLang="zh-CN" b="0" dirty="0"/>
              <a:t>OAuth 2.0 </a:t>
            </a:r>
            <a:r>
              <a:rPr lang="zh-CN" altLang="en-US" b="0" dirty="0"/>
              <a:t>框架，简化用户身份验证的可互操作协议。</a:t>
            </a:r>
          </a:p>
          <a:p>
            <a:r>
              <a:rPr lang="zh-CN" altLang="en-US" b="0" dirty="0"/>
              <a:t>与 </a:t>
            </a:r>
            <a:r>
              <a:rPr lang="en-US" altLang="zh-CN" b="0" dirty="0"/>
              <a:t>OAuth </a:t>
            </a:r>
            <a:r>
              <a:rPr lang="zh-CN" altLang="en-US" b="0" dirty="0"/>
              <a:t>的核心区别：</a:t>
            </a:r>
          </a:p>
          <a:p>
            <a:pPr lvl="1"/>
            <a:r>
              <a:rPr lang="zh-CN" altLang="en-US" b="0" dirty="0"/>
              <a:t>新增</a:t>
            </a:r>
            <a:r>
              <a:rPr lang="en-US" altLang="zh-CN" b="0" dirty="0"/>
              <a:t>scope=</a:t>
            </a:r>
            <a:r>
              <a:rPr lang="en-US" altLang="zh-CN" b="0" dirty="0" err="1"/>
              <a:t>openid</a:t>
            </a:r>
            <a:r>
              <a:rPr lang="zh-CN" altLang="en-US" b="0" dirty="0"/>
              <a:t>参数，明确请求身份认证；</a:t>
            </a:r>
          </a:p>
          <a:p>
            <a:pPr lvl="1"/>
            <a:r>
              <a:rPr lang="zh-CN" altLang="en-US" b="0" dirty="0"/>
              <a:t>返回 </a:t>
            </a:r>
            <a:r>
              <a:rPr lang="en-US" altLang="zh-CN" b="0" dirty="0"/>
              <a:t>JWT </a:t>
            </a:r>
            <a:r>
              <a:rPr lang="zh-CN" altLang="en-US" b="0" dirty="0"/>
              <a:t>格式的身份令牌（</a:t>
            </a:r>
            <a:r>
              <a:rPr lang="en-US" altLang="zh-CN" b="0" dirty="0"/>
              <a:t>ID Token</a:t>
            </a:r>
            <a:r>
              <a:rPr lang="zh-CN" altLang="en-US" b="0" dirty="0"/>
              <a:t>），而非仅访问令牌；</a:t>
            </a:r>
          </a:p>
          <a:p>
            <a:pPr lvl="1"/>
            <a:r>
              <a:rPr lang="en-US" altLang="zh-CN" b="0" dirty="0"/>
              <a:t>ID Token </a:t>
            </a:r>
            <a:r>
              <a:rPr lang="zh-CN" altLang="en-US" b="0" dirty="0"/>
              <a:t>携带用户身份信息（如发布者 </a:t>
            </a:r>
            <a:r>
              <a:rPr lang="en-US" altLang="zh-CN" b="0" dirty="0" err="1"/>
              <a:t>iss</a:t>
            </a:r>
            <a:r>
              <a:rPr lang="zh-CN" altLang="en-US" b="0" dirty="0"/>
              <a:t>、用户 </a:t>
            </a:r>
            <a:r>
              <a:rPr lang="en-US" altLang="zh-CN" b="0" dirty="0"/>
              <a:t>sub</a:t>
            </a:r>
            <a:r>
              <a:rPr lang="zh-CN" altLang="en-US" b="0" dirty="0"/>
              <a:t>、过期时间 </a:t>
            </a:r>
            <a:r>
              <a:rPr lang="en-US" altLang="zh-CN" b="0" dirty="0"/>
              <a:t>exp </a:t>
            </a:r>
            <a:r>
              <a:rPr lang="zh-CN" altLang="en-US" b="0" dirty="0"/>
              <a:t>等，配图 </a:t>
            </a:r>
            <a:r>
              <a:rPr lang="en-US" altLang="zh-CN" b="0" dirty="0"/>
              <a:t>4.19</a:t>
            </a:r>
            <a:r>
              <a:rPr lang="zh-CN" altLang="en-US" b="0" dirty="0"/>
              <a:t>）。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71DF741-B3B1-46E2-8C12-70F439EFD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5D023B4-4472-4654-AF2B-DAB8F9A1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OpenID Connect</a:t>
            </a:r>
            <a:r>
              <a:rPr lang="zh-CN" altLang="en-US" b="0" dirty="0"/>
              <a:t>：基于 </a:t>
            </a:r>
            <a:r>
              <a:rPr lang="en-US" altLang="zh-CN" b="0" dirty="0"/>
              <a:t>OAuth 2.0 </a:t>
            </a:r>
            <a:r>
              <a:rPr lang="zh-CN" altLang="en-US" b="0" dirty="0"/>
              <a:t>的身份认证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C77F99-38E8-4CA3-8B67-414A2FD3C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441" y="1232704"/>
            <a:ext cx="5751590" cy="516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035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4888394-DD5C-4EED-AFFB-292977B98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0" y="1232705"/>
            <a:ext cx="6050269" cy="5047042"/>
          </a:xfrm>
        </p:spPr>
        <p:txBody>
          <a:bodyPr/>
          <a:lstStyle/>
          <a:p>
            <a:r>
              <a:rPr lang="zh-CN" altLang="en-US" sz="2000" b="0" dirty="0"/>
              <a:t>用户向依赖方（客户端）发起登录请求；</a:t>
            </a:r>
          </a:p>
          <a:p>
            <a:r>
              <a:rPr lang="zh-CN" altLang="en-US" sz="2000" b="0" dirty="0"/>
              <a:t>依赖方生成身份认证请求（</a:t>
            </a:r>
            <a:r>
              <a:rPr lang="zh-CN" altLang="en-US" sz="2000" dirty="0"/>
              <a:t>比 </a:t>
            </a:r>
            <a:r>
              <a:rPr lang="en-US" altLang="zh-CN" sz="2000" dirty="0"/>
              <a:t>OAuth 2.0 </a:t>
            </a:r>
            <a:r>
              <a:rPr lang="zh-CN" altLang="en-US" sz="2000" dirty="0"/>
              <a:t>多 “</a:t>
            </a:r>
            <a:r>
              <a:rPr lang="en-US" altLang="zh-CN" sz="2000" dirty="0" err="1"/>
              <a:t>openid</a:t>
            </a:r>
            <a:r>
              <a:rPr lang="en-US" altLang="zh-CN" sz="2000" dirty="0"/>
              <a:t>” </a:t>
            </a:r>
            <a:r>
              <a:rPr lang="zh-CN" altLang="en-US" sz="2000" dirty="0"/>
              <a:t>的 </a:t>
            </a:r>
            <a:r>
              <a:rPr lang="en-US" altLang="zh-CN" sz="2000" dirty="0"/>
              <a:t>scope </a:t>
            </a:r>
            <a:r>
              <a:rPr lang="zh-CN" altLang="en-US" sz="2000" dirty="0"/>
              <a:t>参数</a:t>
            </a:r>
            <a:r>
              <a:rPr lang="zh-CN" altLang="en-US" sz="2000" b="0" dirty="0"/>
              <a:t>），发送给服务提供方（</a:t>
            </a:r>
            <a:r>
              <a:rPr lang="en-US" altLang="zh-CN" sz="2000" b="0" dirty="0" err="1"/>
              <a:t>IdP</a:t>
            </a:r>
            <a:r>
              <a:rPr lang="zh-CN" altLang="en-US" sz="2000" b="0" dirty="0"/>
              <a:t>）；</a:t>
            </a:r>
          </a:p>
          <a:p>
            <a:r>
              <a:rPr lang="zh-CN" altLang="en-US" sz="2000" b="0" dirty="0"/>
              <a:t>服务提供方（</a:t>
            </a:r>
            <a:r>
              <a:rPr lang="en-US" altLang="zh-CN" sz="2000" b="0" dirty="0" err="1"/>
              <a:t>IdP</a:t>
            </a:r>
            <a:r>
              <a:rPr lang="zh-CN" altLang="en-US" sz="2000" b="0" dirty="0"/>
              <a:t>）对用户完成身份认证；</a:t>
            </a:r>
          </a:p>
          <a:p>
            <a:r>
              <a:rPr lang="zh-CN" altLang="en-US" sz="2000" b="0" dirty="0"/>
              <a:t>服务提供方生成授权码，定向转发给依赖方；</a:t>
            </a:r>
          </a:p>
          <a:p>
            <a:r>
              <a:rPr lang="zh-CN" altLang="en-US" sz="2000" b="0" dirty="0"/>
              <a:t>依赖方用授权码向服务提供方请求响应；</a:t>
            </a:r>
          </a:p>
          <a:p>
            <a:r>
              <a:rPr lang="zh-CN" altLang="en-US" sz="2000" b="0" dirty="0"/>
              <a:t>依赖方接收响应，验证身份令牌并获取用户身份信息；</a:t>
            </a:r>
          </a:p>
          <a:p>
            <a:r>
              <a:rPr lang="zh-CN" altLang="en-US" sz="2000" b="0" dirty="0"/>
              <a:t>依赖方用访问令牌向服务提供方请求用户资源；</a:t>
            </a:r>
          </a:p>
          <a:p>
            <a:r>
              <a:rPr lang="zh-CN" altLang="en-US" sz="2000" b="0" dirty="0"/>
              <a:t>服务提供方验证令牌后，返回用户资源。</a:t>
            </a:r>
          </a:p>
          <a:p>
            <a:endParaRPr lang="zh-CN" altLang="en-US" sz="2000" b="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9DCCA7C-DF22-434D-AF8D-8215BF660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F4CFB28-58E4-4861-88AA-8465574BB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OpenID Connect </a:t>
            </a:r>
            <a:r>
              <a:rPr lang="zh-CN" altLang="en-US" b="0" dirty="0"/>
              <a:t>授权码模式流程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1D0433-7311-4708-ACDC-5028DB4AD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570" y="1353759"/>
            <a:ext cx="5764739" cy="504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0177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BCDA328-A36C-4554-9BD4-433BB91B1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2" y="1232705"/>
            <a:ext cx="6554432" cy="5047042"/>
          </a:xfrm>
        </p:spPr>
        <p:txBody>
          <a:bodyPr/>
          <a:lstStyle/>
          <a:p>
            <a:r>
              <a:rPr lang="zh-CN" altLang="en-US" b="0" dirty="0"/>
              <a:t>用户向依赖方（客户端）发送登录请求。</a:t>
            </a:r>
            <a:endParaRPr lang="en-US" altLang="zh-CN" b="0" dirty="0"/>
          </a:p>
          <a:p>
            <a:r>
              <a:rPr lang="zh-CN" altLang="en-US" b="0" dirty="0"/>
              <a:t>依赖方准备身份认证请求，请求里包含所需要的参数，同样包含 </a:t>
            </a:r>
            <a:r>
              <a:rPr lang="en-US" altLang="zh-CN" b="0" dirty="0" err="1"/>
              <a:t>openid</a:t>
            </a:r>
            <a:r>
              <a:rPr lang="zh-CN" altLang="en-US" b="0" dirty="0"/>
              <a:t>，并且发送请求到服务提供方。</a:t>
            </a:r>
            <a:endParaRPr lang="en-US" altLang="zh-CN" b="0" dirty="0"/>
          </a:p>
          <a:p>
            <a:r>
              <a:rPr lang="zh-CN" altLang="en-US" b="0" dirty="0"/>
              <a:t>服务提供方对用户进行身份认证。</a:t>
            </a:r>
          </a:p>
          <a:p>
            <a:r>
              <a:rPr lang="zh-CN" altLang="en-US" b="0" dirty="0"/>
              <a:t>身份认证通过，并且用户同意后，服务提供方向依赖方发送身份令牌和访问令牌。依赖方验证身份令牌，并获得用户的一些身份信息。</a:t>
            </a:r>
          </a:p>
          <a:p>
            <a:r>
              <a:rPr lang="zh-CN" altLang="en-US" b="0" dirty="0"/>
              <a:t>依赖方向服务提供方发送访问令牌。</a:t>
            </a:r>
            <a:endParaRPr lang="en-US" altLang="zh-CN" b="0" dirty="0"/>
          </a:p>
          <a:p>
            <a:pPr algn="l"/>
            <a:r>
              <a:rPr lang="zh-CN" altLang="en-US" b="0" dirty="0"/>
              <a:t>服务提供方返回用户资源。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43092C5-7A89-4AAC-B60D-AF13CBA0F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60ABD91A-9213-431E-845B-2AB4BF918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隐式模式流程图</a:t>
            </a:r>
            <a:r>
              <a:rPr lang="zh-CN" altLang="en-US" dirty="0"/>
              <a:t>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C141AF-6E08-437B-AB14-DCD4E3101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734" y="1331786"/>
            <a:ext cx="5266266" cy="472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845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C1DFD49-6AE8-4805-87CE-01C81B7D6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32705"/>
            <a:ext cx="11921067" cy="5047042"/>
          </a:xfrm>
        </p:spPr>
        <p:txBody>
          <a:bodyPr/>
          <a:lstStyle/>
          <a:p>
            <a:r>
              <a:rPr lang="zh-CN" altLang="en-US" dirty="0"/>
              <a:t>场景 </a:t>
            </a:r>
            <a:r>
              <a:rPr lang="en-US" altLang="zh-CN" dirty="0"/>
              <a:t>1</a:t>
            </a:r>
            <a:r>
              <a:rPr lang="zh-CN" altLang="en-US" dirty="0"/>
              <a:t>：攻击者冒充用户</a:t>
            </a:r>
            <a:endParaRPr lang="zh-CN" altLang="en-US" b="0" dirty="0"/>
          </a:p>
          <a:p>
            <a:pPr lvl="1"/>
            <a:r>
              <a:rPr lang="zh-CN" altLang="en-US" b="0" dirty="0"/>
              <a:t>攻击者以 “用户” 身份，获取 </a:t>
            </a:r>
            <a:r>
              <a:rPr lang="en-US" altLang="zh-CN" b="0" dirty="0"/>
              <a:t>/ </a:t>
            </a:r>
            <a:r>
              <a:rPr lang="zh-CN" altLang="en-US" b="0" dirty="0"/>
              <a:t>篡改用户代理（如浏览器）转发的所有数据，还能伪造对 </a:t>
            </a:r>
            <a:r>
              <a:rPr lang="en-US" altLang="zh-CN" b="0" dirty="0" err="1"/>
              <a:t>IdP</a:t>
            </a:r>
            <a:r>
              <a:rPr lang="zh-CN" altLang="en-US" b="0" dirty="0"/>
              <a:t>、依赖方的请求，干扰认证流程。</a:t>
            </a:r>
          </a:p>
          <a:p>
            <a:r>
              <a:rPr lang="zh-CN" altLang="en-US" dirty="0"/>
              <a:t>场景 </a:t>
            </a:r>
            <a:r>
              <a:rPr lang="en-US" altLang="zh-CN" dirty="0"/>
              <a:t>2</a:t>
            </a:r>
            <a:r>
              <a:rPr lang="zh-CN" altLang="en-US" dirty="0"/>
              <a:t>：攻击者冒充依赖方</a:t>
            </a:r>
            <a:endParaRPr lang="zh-CN" altLang="en-US" b="0" dirty="0"/>
          </a:p>
          <a:p>
            <a:pPr lvl="1"/>
            <a:r>
              <a:rPr lang="zh-CN" altLang="en-US" b="0" dirty="0"/>
              <a:t>攻击者伪装 “依赖方（客户端）”，可伪造对用户代理的响应、构造对 </a:t>
            </a:r>
            <a:r>
              <a:rPr lang="en-US" altLang="zh-CN" b="0" dirty="0" err="1"/>
              <a:t>IdP</a:t>
            </a:r>
            <a:r>
              <a:rPr lang="en-US" altLang="zh-CN" b="0" dirty="0"/>
              <a:t> </a:t>
            </a:r>
            <a:r>
              <a:rPr lang="zh-CN" altLang="en-US" b="0" dirty="0"/>
              <a:t>的恶意请求，还能窃取用户的身份凭据（如账号密码）、获取用户在 </a:t>
            </a:r>
            <a:r>
              <a:rPr lang="en-US" altLang="zh-CN" b="0" dirty="0" err="1"/>
              <a:t>IdP</a:t>
            </a:r>
            <a:r>
              <a:rPr lang="en-US" altLang="zh-CN" b="0" dirty="0"/>
              <a:t> </a:t>
            </a:r>
            <a:r>
              <a:rPr lang="zh-CN" altLang="en-US" b="0" dirty="0"/>
              <a:t>的注册信息。</a:t>
            </a:r>
          </a:p>
          <a:p>
            <a:r>
              <a:rPr lang="zh-CN" altLang="en-US" dirty="0"/>
              <a:t>场景 </a:t>
            </a:r>
            <a:r>
              <a:rPr lang="en-US" altLang="zh-CN" dirty="0"/>
              <a:t>3</a:t>
            </a:r>
            <a:r>
              <a:rPr lang="zh-CN" altLang="en-US" dirty="0"/>
              <a:t>：利用存在漏洞的用户代理</a:t>
            </a:r>
            <a:endParaRPr lang="zh-CN" altLang="en-US" b="0" dirty="0"/>
          </a:p>
          <a:p>
            <a:pPr lvl="1"/>
            <a:r>
              <a:rPr lang="zh-CN" altLang="en-US" b="0" dirty="0"/>
              <a:t>若用户代理有安全漏洞，攻击者可窃取、篡改单点登录中经过用户代理的所有数据。</a:t>
            </a:r>
          </a:p>
          <a:p>
            <a:r>
              <a:rPr lang="zh-CN" altLang="en-US" dirty="0"/>
              <a:t>场景 </a:t>
            </a:r>
            <a:r>
              <a:rPr lang="en-US" altLang="zh-CN" dirty="0"/>
              <a:t>4</a:t>
            </a:r>
            <a:r>
              <a:rPr lang="zh-CN" altLang="en-US" dirty="0"/>
              <a:t>：网络监听攻击</a:t>
            </a:r>
            <a:endParaRPr lang="zh-CN" altLang="en-US" b="0" dirty="0"/>
          </a:p>
          <a:p>
            <a:pPr lvl="1"/>
            <a:r>
              <a:rPr lang="zh-CN" altLang="en-US" b="0" dirty="0"/>
              <a:t>攻击者在 </a:t>
            </a:r>
            <a:r>
              <a:rPr lang="en-US" altLang="zh-CN" b="0" dirty="0" err="1"/>
              <a:t>IdP</a:t>
            </a:r>
            <a:r>
              <a:rPr lang="zh-CN" altLang="en-US" b="0" dirty="0"/>
              <a:t>、依赖方、用户代理的网络出口监听，获取单点登录过程中传输的全部网络数据。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8AFDF24-B7B9-4540-9275-5FD1532BD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E53CD6F-E3E7-4C35-BDE0-042B801B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威胁模型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79257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7EE3DBE-21F0-47C9-951E-E3AADDA0F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缺乏可信基：无传统浏览器作为安全重定向载体。</a:t>
            </a:r>
          </a:p>
          <a:p>
            <a:r>
              <a:rPr lang="zh-CN" altLang="en-US" b="0" dirty="0"/>
              <a:t>模拟重定向的缺陷：</a:t>
            </a:r>
          </a:p>
          <a:p>
            <a:pPr lvl="1"/>
            <a:r>
              <a:rPr lang="en-US" altLang="zh-CN" b="0" dirty="0"/>
              <a:t>WebView </a:t>
            </a:r>
            <a:r>
              <a:rPr lang="zh-CN" altLang="en-US" b="0" dirty="0"/>
              <a:t>方式：易遭 </a:t>
            </a:r>
            <a:r>
              <a:rPr lang="en-US" altLang="zh-CN" b="0" dirty="0"/>
              <a:t>JavaScript </a:t>
            </a:r>
            <a:r>
              <a:rPr lang="zh-CN" altLang="en-US" b="0" dirty="0"/>
              <a:t>注入攻击，威胁安全；</a:t>
            </a:r>
          </a:p>
          <a:p>
            <a:pPr lvl="1"/>
            <a:r>
              <a:rPr lang="en-US" altLang="zh-CN" b="0" dirty="0"/>
              <a:t>APP </a:t>
            </a:r>
            <a:r>
              <a:rPr lang="zh-CN" altLang="en-US" b="0" dirty="0"/>
              <a:t>间消息传递：无法鉴别发送方 </a:t>
            </a:r>
            <a:r>
              <a:rPr lang="en-US" altLang="zh-CN" b="0" dirty="0"/>
              <a:t>/ </a:t>
            </a:r>
            <a:r>
              <a:rPr lang="zh-CN" altLang="en-US" b="0" dirty="0"/>
              <a:t>接收方身份，易被恶意应用冒充。</a:t>
            </a:r>
          </a:p>
          <a:p>
            <a:r>
              <a:rPr lang="zh-CN" altLang="en-US" b="0" dirty="0"/>
              <a:t>系统级问题：如 </a:t>
            </a:r>
            <a:r>
              <a:rPr lang="en-US" altLang="zh-CN" b="0" dirty="0"/>
              <a:t>Android </a:t>
            </a:r>
            <a:r>
              <a:rPr lang="zh-CN" altLang="en-US" b="0" dirty="0"/>
              <a:t>虽支持依赖方身份鉴别，但未验证服务提供方身份，存在账号冒用风险。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F53CB13-AF69-446D-A67F-90929CE67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8EEA2F2-A8C7-4DCF-8D3B-B1CE8FF2F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移动端单点登录的核心问题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31048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7AFF17-A899-4AE3-97F4-8D1AAC05361B}"/>
              </a:ext>
            </a:extLst>
          </p:cNvPr>
          <p:cNvSpPr txBox="1"/>
          <p:nvPr/>
        </p:nvSpPr>
        <p:spPr>
          <a:xfrm>
            <a:off x="2913188" y="3113465"/>
            <a:ext cx="6365619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sz="5400" b="1">
                <a:gradFill>
                  <a:gsLst>
                    <a:gs pos="0">
                      <a:srgbClr val="2B84FE"/>
                    </a:gs>
                    <a:gs pos="100000">
                      <a:srgbClr val="20B1F4"/>
                    </a:gs>
                  </a:gsLst>
                  <a:lin ang="5400000" scaled="1"/>
                </a:gradFill>
                <a:latin typeface="微软雅黑"/>
                <a:ea typeface="微软雅黑"/>
              </a:defRPr>
            </a:lvl1pPr>
          </a:lstStyle>
          <a:p>
            <a:r>
              <a:rPr lang="en-US" altLang="zh-CN" dirty="0"/>
              <a:t>Cookie</a:t>
            </a:r>
          </a:p>
        </p:txBody>
      </p:sp>
    </p:spTree>
    <p:extLst>
      <p:ext uri="{BB962C8B-B14F-4D97-AF65-F5344CB8AC3E}">
        <p14:creationId xmlns:p14="http://schemas.microsoft.com/office/powerpoint/2010/main" val="21199648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74AC009-57B5-4C60-939E-EF086F269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0" y="1232705"/>
            <a:ext cx="11472639" cy="5047042"/>
          </a:xfrm>
        </p:spPr>
        <p:txBody>
          <a:bodyPr/>
          <a:lstStyle/>
          <a:p>
            <a:r>
              <a:rPr lang="zh-CN" altLang="en-US" sz="2000" b="0" dirty="0"/>
              <a:t>定义：存储在客户机上的文本文件，由服务器端代码创建，用于识别用户身份及状态。</a:t>
            </a:r>
          </a:p>
          <a:p>
            <a:r>
              <a:rPr lang="zh-CN" altLang="en-US" sz="2000" b="0" dirty="0"/>
              <a:t>类型：瞬态 </a:t>
            </a:r>
            <a:r>
              <a:rPr lang="en-US" altLang="zh-CN" sz="2000" b="0" dirty="0"/>
              <a:t>Cookie</a:t>
            </a:r>
            <a:r>
              <a:rPr lang="zh-CN" altLang="en-US" sz="2000" b="0" dirty="0"/>
              <a:t>：与会话生存期一致，关闭会话后失效；持久 </a:t>
            </a:r>
            <a:r>
              <a:rPr lang="en-US" altLang="zh-CN" sz="2000" b="0" dirty="0"/>
              <a:t>Cookie</a:t>
            </a:r>
            <a:r>
              <a:rPr lang="zh-CN" altLang="en-US" sz="2000" b="0" dirty="0"/>
              <a:t>：生存期超过会话，可跨会话保留。</a:t>
            </a:r>
          </a:p>
          <a:p>
            <a:r>
              <a:rPr lang="zh-CN" altLang="en-US" sz="2000" b="0" dirty="0"/>
              <a:t>核心作用：</a:t>
            </a:r>
            <a:endParaRPr lang="en-US" altLang="zh-CN" sz="2000" b="0" dirty="0"/>
          </a:p>
          <a:p>
            <a:pPr lvl="1" algn="l"/>
            <a:r>
              <a:rPr lang="zh-CN" altLang="en-US" sz="2000" b="0" dirty="0"/>
              <a:t>会话管理、程序将用户数据以</a:t>
            </a:r>
            <a:r>
              <a:rPr lang="en-US" altLang="zh-CN" sz="2000" b="0" dirty="0"/>
              <a:t>Cookie </a:t>
            </a:r>
            <a:r>
              <a:rPr lang="zh-CN" altLang="en-US" sz="2000" b="0" dirty="0"/>
              <a:t>的形式写给用户的浏览器，当用户使用浏览器再次请求访问该程序时，浏览器会发送 </a:t>
            </a:r>
            <a:r>
              <a:rPr lang="en-US" altLang="zh-CN" sz="2000" b="0" dirty="0"/>
              <a:t>Cookie </a:t>
            </a:r>
            <a:r>
              <a:rPr lang="zh-CN" altLang="en-US" sz="2000" b="0" dirty="0"/>
              <a:t>给程序</a:t>
            </a:r>
            <a:r>
              <a:rPr lang="zh-CN" altLang="en-US" sz="2000" dirty="0"/>
              <a:t> </a:t>
            </a:r>
            <a:endParaRPr lang="en-US" altLang="zh-CN" sz="2000" b="0" dirty="0"/>
          </a:p>
          <a:p>
            <a:pPr lvl="1" algn="l"/>
            <a:r>
              <a:rPr lang="zh-CN" altLang="en-US" sz="2000" b="0" dirty="0"/>
              <a:t>个性化设置、 </a:t>
            </a:r>
            <a:r>
              <a:rPr lang="en-US" altLang="zh-CN" sz="2000" b="0" dirty="0"/>
              <a:t>Cookie </a:t>
            </a:r>
            <a:r>
              <a:rPr lang="zh-CN" altLang="en-US" sz="2000" b="0" dirty="0"/>
              <a:t>可以保存用户的首选项、主题等设置</a:t>
            </a:r>
            <a:r>
              <a:rPr lang="zh-CN" altLang="en-US" sz="2000" dirty="0"/>
              <a:t> </a:t>
            </a:r>
            <a:endParaRPr lang="en-US" altLang="zh-CN" sz="2000" b="0" dirty="0"/>
          </a:p>
          <a:p>
            <a:pPr lvl="1" algn="l"/>
            <a:r>
              <a:rPr lang="zh-CN" altLang="en-US" sz="2000" b="0" dirty="0"/>
              <a:t>身份认证、浏览器会自动将身份认证相关的 </a:t>
            </a:r>
            <a:r>
              <a:rPr lang="en-US" altLang="zh-CN" sz="2000" b="0" dirty="0"/>
              <a:t>Cookie </a:t>
            </a:r>
            <a:r>
              <a:rPr lang="zh-CN" altLang="en-US" sz="2000" b="0" dirty="0"/>
              <a:t>通过请求头的形式发送给服务器，用于认证用户的身份；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lvl="1" algn="l"/>
            <a:r>
              <a:rPr lang="zh-CN" altLang="en-US" sz="2000" b="0" dirty="0"/>
              <a:t>在线追踪。 </a:t>
            </a:r>
            <a:r>
              <a:rPr lang="en-US" altLang="zh-CN" sz="2000" b="0" dirty="0"/>
              <a:t>Cookie </a:t>
            </a:r>
            <a:r>
              <a:rPr lang="zh-CN" altLang="en-US" sz="2000" b="0" dirty="0"/>
              <a:t>可以读取浏览器中保存的历史浏览记录，以便用户在下次访问时显示类似的内容。</a:t>
            </a:r>
            <a:r>
              <a:rPr lang="zh-CN" altLang="en-US" sz="2000" dirty="0"/>
              <a:t> </a:t>
            </a:r>
            <a:br>
              <a:rPr lang="zh-CN" altLang="en-US" dirty="0"/>
            </a:br>
            <a:endParaRPr lang="zh-CN" altLang="en-US" b="0" dirty="0"/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AB1E899-3E68-4555-94C1-54D680EF1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31BE8FC-1876-4554-8F41-33099ED2B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什么是 </a:t>
            </a:r>
            <a:r>
              <a:rPr lang="en-US" altLang="zh-CN" b="0" dirty="0"/>
              <a:t>Cookie</a:t>
            </a:r>
            <a:r>
              <a:rPr lang="zh-CN" altLang="en-US" b="0" dirty="0"/>
              <a:t>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75589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AF0491-68FF-44CC-8248-9A50C0B24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5328415" cy="5047042"/>
          </a:xfrm>
        </p:spPr>
        <p:txBody>
          <a:bodyPr/>
          <a:lstStyle/>
          <a:p>
            <a:r>
              <a:rPr lang="zh-CN" altLang="en-US" b="0" dirty="0"/>
              <a:t>用户首次访问网站，</a:t>
            </a:r>
            <a:r>
              <a:rPr lang="en-US" altLang="zh-CN" b="0" dirty="0"/>
              <a:t>Web </a:t>
            </a:r>
            <a:r>
              <a:rPr lang="zh-CN" altLang="en-US" b="0" dirty="0"/>
              <a:t>服务器通过</a:t>
            </a:r>
            <a:r>
              <a:rPr lang="en-US" altLang="zh-CN" b="0" dirty="0"/>
              <a:t>Set-Cookie</a:t>
            </a:r>
            <a:r>
              <a:rPr lang="zh-CN" altLang="en-US" b="0" dirty="0"/>
              <a:t>或 </a:t>
            </a:r>
            <a:r>
              <a:rPr lang="en-US" altLang="zh-CN" b="0" dirty="0"/>
              <a:t>JavaScript </a:t>
            </a:r>
            <a:r>
              <a:rPr lang="zh-CN" altLang="en-US" b="0" dirty="0"/>
              <a:t>设置 </a:t>
            </a:r>
            <a:r>
              <a:rPr lang="en-US" altLang="zh-CN" b="0" dirty="0"/>
              <a:t>Cookie </a:t>
            </a:r>
            <a:r>
              <a:rPr lang="zh-CN" altLang="en-US" b="0" dirty="0"/>
              <a:t>属性（名称、值、过期日期等）；</a:t>
            </a:r>
          </a:p>
          <a:p>
            <a:r>
              <a:rPr lang="zh-CN" altLang="en-US" b="0" dirty="0"/>
              <a:t>用户后续发起 </a:t>
            </a:r>
            <a:r>
              <a:rPr lang="en-US" altLang="zh-CN" b="0" dirty="0"/>
              <a:t>HTTP/HTTPS </a:t>
            </a:r>
            <a:r>
              <a:rPr lang="zh-CN" altLang="en-US" b="0" dirty="0"/>
              <a:t>请求时，浏览器根据匹配规则（</a:t>
            </a:r>
            <a:r>
              <a:rPr lang="en-US" altLang="zh-CN" b="0" dirty="0"/>
              <a:t>URL</a:t>
            </a:r>
            <a:r>
              <a:rPr lang="zh-CN" altLang="en-US" b="0" dirty="0"/>
              <a:t>、协议）发送对应 </a:t>
            </a:r>
            <a:r>
              <a:rPr lang="en-US" altLang="zh-CN" b="0" dirty="0"/>
              <a:t>Cookie</a:t>
            </a:r>
            <a:r>
              <a:rPr lang="zh-CN" altLang="en-US" b="0" dirty="0"/>
              <a:t>；</a:t>
            </a:r>
          </a:p>
          <a:p>
            <a:r>
              <a:rPr lang="zh-CN" altLang="en-US" b="0" dirty="0"/>
              <a:t>服务器通过 </a:t>
            </a:r>
            <a:r>
              <a:rPr lang="en-US" altLang="zh-CN" b="0" dirty="0"/>
              <a:t>Cookie </a:t>
            </a:r>
            <a:r>
              <a:rPr lang="zh-CN" altLang="en-US" b="0" dirty="0"/>
              <a:t>识别用户，返回个性化响应或维持会话状态。</a:t>
            </a:r>
          </a:p>
          <a:p>
            <a:r>
              <a:rPr lang="zh-CN" altLang="en-US" b="0" dirty="0"/>
              <a:t>匹配规则：浏览器不会在 </a:t>
            </a:r>
            <a:r>
              <a:rPr lang="en-US" altLang="zh-CN" b="0" dirty="0"/>
              <a:t>HTTP </a:t>
            </a:r>
            <a:r>
              <a:rPr lang="zh-CN" altLang="en-US" b="0" dirty="0"/>
              <a:t>连接上传输带 </a:t>
            </a:r>
            <a:r>
              <a:rPr lang="en-US" altLang="zh-CN" b="0" dirty="0"/>
              <a:t>HTTPS </a:t>
            </a:r>
            <a:r>
              <a:rPr lang="zh-CN" altLang="en-US" b="0" dirty="0"/>
              <a:t>属性的 </a:t>
            </a:r>
            <a:r>
              <a:rPr lang="en-US" altLang="zh-CN" b="0" dirty="0"/>
              <a:t>Cookie</a:t>
            </a:r>
            <a:r>
              <a:rPr lang="zh-CN" altLang="en-US" b="0" dirty="0"/>
              <a:t>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2055350-F196-4015-896C-030E4F28E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DA9F277-7FF4-4F96-A697-08517218C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Cookie </a:t>
            </a:r>
            <a:r>
              <a:rPr lang="zh-CN" altLang="en-US" b="0" dirty="0"/>
              <a:t>工作流程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B29582-5255-4A8A-83EE-08B55A348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66" y="2196510"/>
            <a:ext cx="6113253" cy="279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32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89264E7-5573-433A-9880-66110F493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296" y="1353758"/>
            <a:ext cx="3895899" cy="5047042"/>
          </a:xfrm>
        </p:spPr>
        <p:txBody>
          <a:bodyPr/>
          <a:lstStyle/>
          <a:p>
            <a:r>
              <a:rPr lang="zh-CN" altLang="en-US" b="0" dirty="0"/>
              <a:t>基础属性：</a:t>
            </a:r>
            <a:endParaRPr lang="en-US" altLang="zh-CN" b="0" dirty="0"/>
          </a:p>
          <a:p>
            <a:r>
              <a:rPr lang="en-US" altLang="zh-CN" b="0" dirty="0"/>
              <a:t>Name/Value</a:t>
            </a:r>
            <a:r>
              <a:rPr lang="zh-CN" altLang="en-US" b="0" dirty="0"/>
              <a:t>：</a:t>
            </a:r>
            <a:r>
              <a:rPr lang="en-US" altLang="zh-CN" b="0" dirty="0"/>
              <a:t>Cookie </a:t>
            </a:r>
            <a:r>
              <a:rPr lang="zh-CN" altLang="en-US" b="0" dirty="0"/>
              <a:t>的名称与对应值；</a:t>
            </a:r>
          </a:p>
          <a:p>
            <a:pPr algn="l"/>
            <a:r>
              <a:rPr lang="en-US" altLang="zh-CN" b="0" dirty="0"/>
              <a:t>Domain/Path:</a:t>
            </a:r>
            <a:r>
              <a:rPr lang="zh-CN" altLang="en-US" b="0" dirty="0"/>
              <a:t>限定 </a:t>
            </a:r>
            <a:r>
              <a:rPr lang="en-US" altLang="zh-CN" b="0" dirty="0"/>
              <a:t>Cookie </a:t>
            </a:r>
            <a:r>
              <a:rPr lang="zh-CN" altLang="en-US" b="0" dirty="0"/>
              <a:t>的有效域名和路径；</a:t>
            </a:r>
          </a:p>
          <a:p>
            <a:r>
              <a:rPr lang="en-US" altLang="zh-CN" b="0" dirty="0"/>
              <a:t>Expires/Max-age</a:t>
            </a:r>
            <a:r>
              <a:rPr lang="zh-CN" altLang="en-US" b="0" dirty="0"/>
              <a:t>：有效期（</a:t>
            </a:r>
            <a:r>
              <a:rPr lang="en-US" altLang="zh-CN" b="0" dirty="0"/>
              <a:t>Expires </a:t>
            </a:r>
            <a:r>
              <a:rPr lang="zh-CN" altLang="en-US" b="0" dirty="0"/>
              <a:t>为具体时间，</a:t>
            </a:r>
            <a:r>
              <a:rPr lang="en-US" altLang="zh-CN" b="0" dirty="0"/>
              <a:t>Max-age </a:t>
            </a:r>
            <a:r>
              <a:rPr lang="zh-CN" altLang="en-US" b="0" dirty="0"/>
              <a:t>为秒数）。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28402E-3AEC-44BD-AA91-FDDFF3CFA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623885F-984C-46BA-9E59-C36670B0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Cookie </a:t>
            </a:r>
            <a:r>
              <a:rPr lang="zh-CN" altLang="en-US" b="0" dirty="0"/>
              <a:t>属性详解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F7B871-65FA-41E4-8407-130D91384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387" y="2663628"/>
            <a:ext cx="7745357" cy="224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151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A07F920-0ED2-4CB5-848C-E9A463DBE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 err="1"/>
              <a:t>HttpOnly</a:t>
            </a:r>
            <a:r>
              <a:rPr lang="zh-CN" altLang="en-US" b="0" dirty="0"/>
              <a:t>：设为 </a:t>
            </a:r>
            <a:r>
              <a:rPr lang="en-US" altLang="zh-CN" b="0" dirty="0"/>
              <a:t>true </a:t>
            </a:r>
            <a:r>
              <a:rPr lang="zh-CN" altLang="en-US" b="0" dirty="0"/>
              <a:t>时，</a:t>
            </a:r>
            <a:r>
              <a:rPr lang="en-US" altLang="zh-CN" b="0" dirty="0"/>
              <a:t>JavaScript </a:t>
            </a:r>
            <a:r>
              <a:rPr lang="zh-CN" altLang="en-US" b="0" dirty="0"/>
              <a:t>无法读取 </a:t>
            </a:r>
            <a:r>
              <a:rPr lang="en-US" altLang="zh-CN" b="0" dirty="0"/>
              <a:t>Cookie</a:t>
            </a:r>
            <a:r>
              <a:rPr lang="zh-CN" altLang="en-US" b="0" dirty="0"/>
              <a:t>，防 </a:t>
            </a:r>
            <a:r>
              <a:rPr lang="en-US" altLang="zh-CN" b="0" dirty="0"/>
              <a:t>XSS </a:t>
            </a:r>
            <a:r>
              <a:rPr lang="zh-CN" altLang="en-US" b="0" dirty="0"/>
              <a:t>攻击（如 </a:t>
            </a:r>
            <a:r>
              <a:rPr lang="en-US" altLang="zh-CN" b="0" dirty="0"/>
              <a:t>Facebook</a:t>
            </a:r>
            <a:r>
              <a:rPr lang="zh-CN" altLang="en-US" b="0" dirty="0"/>
              <a:t>、</a:t>
            </a:r>
            <a:r>
              <a:rPr lang="en-US" altLang="zh-CN" b="0" dirty="0"/>
              <a:t>Google </a:t>
            </a:r>
            <a:r>
              <a:rPr lang="zh-CN" altLang="en-US" b="0" dirty="0"/>
              <a:t>广泛使用）；</a:t>
            </a:r>
          </a:p>
          <a:p>
            <a:r>
              <a:rPr lang="en-US" altLang="zh-CN" b="0" dirty="0"/>
              <a:t>Secure</a:t>
            </a:r>
            <a:r>
              <a:rPr lang="zh-CN" altLang="en-US" b="0" dirty="0"/>
              <a:t>：仅通过 </a:t>
            </a:r>
            <a:r>
              <a:rPr lang="en-US" altLang="zh-CN" b="0" dirty="0"/>
              <a:t>HTTPS </a:t>
            </a:r>
            <a:r>
              <a:rPr lang="zh-CN" altLang="en-US" b="0" dirty="0"/>
              <a:t>协议传输，不在 </a:t>
            </a:r>
            <a:r>
              <a:rPr lang="en-US" altLang="zh-CN" b="0" dirty="0"/>
              <a:t>HTTP </a:t>
            </a:r>
            <a:r>
              <a:rPr lang="zh-CN" altLang="en-US" b="0" dirty="0"/>
              <a:t>连接中发送，降低中间人截获风险；</a:t>
            </a:r>
          </a:p>
          <a:p>
            <a:r>
              <a:rPr lang="en-US" altLang="zh-CN" b="0" dirty="0" err="1"/>
              <a:t>SameSite</a:t>
            </a:r>
            <a:r>
              <a:rPr lang="zh-CN" altLang="en-US" b="0" dirty="0"/>
              <a:t>：限制第三方 </a:t>
            </a:r>
            <a:r>
              <a:rPr lang="en-US" altLang="zh-CN" b="0" dirty="0"/>
              <a:t>Cookie</a:t>
            </a:r>
            <a:r>
              <a:rPr lang="zh-CN" altLang="en-US" b="0" dirty="0"/>
              <a:t>，减少跨站请求伪造（</a:t>
            </a:r>
            <a:r>
              <a:rPr lang="en-US" altLang="zh-CN" b="0" dirty="0"/>
              <a:t>CSRF</a:t>
            </a:r>
            <a:r>
              <a:rPr lang="zh-CN" altLang="en-US" b="0" dirty="0"/>
              <a:t>）风险。</a:t>
            </a:r>
          </a:p>
          <a:p>
            <a:r>
              <a:rPr lang="zh-CN" altLang="en-US" b="0" dirty="0"/>
              <a:t>访问控制：通过 </a:t>
            </a:r>
            <a:r>
              <a:rPr lang="en-US" altLang="zh-CN" b="0" dirty="0"/>
              <a:t>{</a:t>
            </a:r>
            <a:r>
              <a:rPr lang="zh-CN" altLang="en-US" b="0" dirty="0"/>
              <a:t>域名，路径，时间</a:t>
            </a:r>
            <a:r>
              <a:rPr lang="en-US" altLang="zh-CN" b="0" dirty="0"/>
              <a:t>} </a:t>
            </a:r>
            <a:r>
              <a:rPr lang="zh-CN" altLang="en-US" b="0" dirty="0"/>
              <a:t>及安全属性匹配决定可访问</a:t>
            </a:r>
            <a:r>
              <a:rPr lang="zh-CN" altLang="en-US" dirty="0"/>
              <a:t>的 </a:t>
            </a:r>
            <a:r>
              <a:rPr lang="en-US" altLang="zh-CN" dirty="0"/>
              <a:t>Cookie</a:t>
            </a:r>
            <a:r>
              <a:rPr lang="zh-CN" altLang="en-US" dirty="0"/>
              <a:t>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66A8EFC-F467-44F0-B412-2AD2EFA1D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69BE694-8323-4574-B290-F936210F3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关键安全属性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57063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F140F99-5893-492C-ACD9-E7171030F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5250566" cy="5047042"/>
          </a:xfrm>
        </p:spPr>
        <p:txBody>
          <a:bodyPr/>
          <a:lstStyle/>
          <a:p>
            <a:r>
              <a:rPr lang="zh-CN" altLang="en-US" b="0" dirty="0"/>
              <a:t>作用：用户首次认证后，服务器设置 </a:t>
            </a:r>
            <a:r>
              <a:rPr lang="en-US" altLang="zh-CN" b="0" dirty="0"/>
              <a:t>auth-cookie</a:t>
            </a:r>
            <a:r>
              <a:rPr lang="zh-CN" altLang="en-US" b="0" dirty="0"/>
              <a:t>，后续访问无需重复输入凭据，保持会话连续性。</a:t>
            </a:r>
          </a:p>
          <a:p>
            <a:r>
              <a:rPr lang="zh-CN" altLang="en-US" b="0" dirty="0"/>
              <a:t>应用场景：多 </a:t>
            </a:r>
            <a:r>
              <a:rPr lang="en-US" altLang="zh-CN" b="0" dirty="0"/>
              <a:t>Cookie </a:t>
            </a:r>
            <a:r>
              <a:rPr lang="zh-CN" altLang="en-US" b="0" dirty="0"/>
              <a:t>组合控制访问权限</a:t>
            </a:r>
          </a:p>
          <a:p>
            <a:pPr lvl="1"/>
            <a:r>
              <a:rPr lang="zh-CN" altLang="en-US" b="0" dirty="0"/>
              <a:t>例：访问</a:t>
            </a:r>
            <a:r>
              <a:rPr lang="en-US" altLang="zh-CN" b="0" dirty="0"/>
              <a:t>yahoo.com</a:t>
            </a:r>
            <a:r>
              <a:rPr lang="zh-CN" altLang="en-US" b="0" dirty="0"/>
              <a:t>搜索历史需 </a:t>
            </a:r>
            <a:r>
              <a:rPr lang="en-US" altLang="zh-CN" b="0" dirty="0"/>
              <a:t>Y+T Cookie</a:t>
            </a:r>
            <a:r>
              <a:rPr lang="zh-CN" altLang="en-US" b="0" dirty="0"/>
              <a:t>；</a:t>
            </a:r>
          </a:p>
          <a:p>
            <a:pPr lvl="1"/>
            <a:r>
              <a:rPr lang="zh-CN" altLang="en-US" b="0" dirty="0"/>
              <a:t>访问电子邮件需 </a:t>
            </a:r>
            <a:r>
              <a:rPr lang="en-US" altLang="zh-CN" b="0" dirty="0"/>
              <a:t>Y+T+SSL Cookie</a:t>
            </a:r>
            <a:r>
              <a:rPr lang="zh-CN" altLang="en-US" b="0" dirty="0"/>
              <a:t>（</a:t>
            </a:r>
            <a:r>
              <a:rPr lang="en-US" altLang="zh-CN" b="0" dirty="0"/>
              <a:t>SSL Cookie </a:t>
            </a:r>
            <a:r>
              <a:rPr lang="zh-CN" altLang="en-US" b="0" dirty="0"/>
              <a:t>仅 </a:t>
            </a:r>
            <a:r>
              <a:rPr lang="en-US" altLang="zh-CN" b="0" dirty="0"/>
              <a:t>HTTPS </a:t>
            </a:r>
            <a:r>
              <a:rPr lang="zh-CN" altLang="en-US" b="0" dirty="0"/>
              <a:t>连接有效）。</a:t>
            </a:r>
          </a:p>
          <a:p>
            <a:r>
              <a:rPr lang="zh-CN" altLang="en-US" b="0" dirty="0"/>
              <a:t>风险：</a:t>
            </a:r>
            <a:r>
              <a:rPr lang="en-US" altLang="zh-CN" b="0" dirty="0"/>
              <a:t>auth-cookie </a:t>
            </a:r>
            <a:r>
              <a:rPr lang="zh-CN" altLang="en-US" b="0" dirty="0"/>
              <a:t>是关键安全节点，泄露可导致账户被完全控制。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0D5380C-5F0F-444B-9EF9-EC371F83A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2CD3F01-8101-4848-9045-F50F40780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Cookie </a:t>
            </a:r>
            <a:r>
              <a:rPr lang="zh-CN" altLang="en-US" dirty="0"/>
              <a:t>与身份认证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57BDA7-D042-4AC8-8C26-72EABDF43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619" y="1879539"/>
            <a:ext cx="5739141" cy="303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132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1D7E2CD-C87B-4064-A7C9-1E8D90F6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4539366" cy="5047042"/>
          </a:xfrm>
        </p:spPr>
        <p:txBody>
          <a:bodyPr/>
          <a:lstStyle/>
          <a:p>
            <a:r>
              <a:rPr lang="zh-CN" altLang="en-US" sz="2000" b="0" dirty="0"/>
              <a:t>原理：攻击者通过被动窃听获取未加密的 </a:t>
            </a:r>
            <a:r>
              <a:rPr lang="en-US" altLang="zh-CN" sz="2000" b="0" dirty="0"/>
              <a:t>Cookie</a:t>
            </a:r>
            <a:r>
              <a:rPr lang="zh-CN" altLang="en-US" sz="2000" b="0" dirty="0"/>
              <a:t>。</a:t>
            </a:r>
          </a:p>
          <a:p>
            <a:r>
              <a:rPr lang="zh-CN" altLang="en-US" sz="2000" b="0" dirty="0"/>
              <a:t>流程：</a:t>
            </a:r>
          </a:p>
          <a:p>
            <a:pPr lvl="1"/>
            <a:r>
              <a:rPr lang="zh-CN" altLang="en-US" sz="2000" b="0" dirty="0"/>
              <a:t>用户通过未加密连接发送含 </a:t>
            </a:r>
            <a:r>
              <a:rPr lang="en-US" altLang="zh-CN" sz="2000" b="0" dirty="0"/>
              <a:t>Cookie </a:t>
            </a:r>
            <a:r>
              <a:rPr lang="zh-CN" altLang="en-US" sz="2000" b="0" dirty="0"/>
              <a:t>的 </a:t>
            </a:r>
            <a:r>
              <a:rPr lang="en-US" altLang="zh-CN" sz="2000" b="0" dirty="0"/>
              <a:t>HTTP </a:t>
            </a:r>
            <a:r>
              <a:rPr lang="zh-CN" altLang="en-US" sz="2000" b="0" dirty="0"/>
              <a:t>请求；</a:t>
            </a:r>
          </a:p>
          <a:p>
            <a:pPr lvl="1"/>
            <a:r>
              <a:rPr lang="zh-CN" altLang="en-US" sz="2000" b="0" dirty="0"/>
              <a:t>攻击者监视公共网络流量（如校园、咖啡店 </a:t>
            </a:r>
            <a:r>
              <a:rPr lang="en-US" altLang="zh-CN" sz="2000" b="0" dirty="0" err="1"/>
              <a:t>WiFi</a:t>
            </a:r>
            <a:r>
              <a:rPr lang="zh-CN" altLang="en-US" sz="2000" b="0" dirty="0"/>
              <a:t>），窃取 </a:t>
            </a:r>
            <a:r>
              <a:rPr lang="en-US" altLang="zh-CN" sz="2000" b="0" dirty="0"/>
              <a:t>Cookie</a:t>
            </a:r>
            <a:r>
              <a:rPr lang="zh-CN" altLang="en-US" sz="2000" b="0" dirty="0"/>
              <a:t>；</a:t>
            </a:r>
          </a:p>
          <a:p>
            <a:pPr lvl="1"/>
            <a:r>
              <a:rPr lang="zh-CN" altLang="en-US" sz="2000" b="0" dirty="0"/>
              <a:t>攻击者使用窃取的 </a:t>
            </a:r>
            <a:r>
              <a:rPr lang="en-US" altLang="zh-CN" sz="2000" b="0" dirty="0"/>
              <a:t>Cookie </a:t>
            </a:r>
            <a:r>
              <a:rPr lang="zh-CN" altLang="en-US" sz="2000" b="0" dirty="0"/>
              <a:t>伪装用户，访问目标服务。</a:t>
            </a:r>
          </a:p>
          <a:p>
            <a:r>
              <a:rPr lang="zh-CN" altLang="en-US" sz="2000" b="0" dirty="0"/>
              <a:t>前提：用户已登录服务，</a:t>
            </a:r>
            <a:r>
              <a:rPr lang="en-US" altLang="zh-CN" sz="2000" b="0" dirty="0"/>
              <a:t>Cookie </a:t>
            </a:r>
            <a:r>
              <a:rPr lang="zh-CN" altLang="en-US" sz="2000" b="0" dirty="0"/>
              <a:t>在会话中有效。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3206365-7ED6-4890-8A68-2210BBCA3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DCE1E16-99DA-4D66-BF4D-AE1B5F52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Cookie </a:t>
            </a:r>
            <a:r>
              <a:rPr lang="zh-CN" altLang="en-US" b="0" dirty="0"/>
              <a:t>劫持：被动攻击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0B9AE0-DD67-4EBE-85CB-D83F4EB24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675" y="2304856"/>
            <a:ext cx="6697010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31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7F0A85A-4EBE-4893-B206-B3BF19EFB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5030432" cy="5047042"/>
          </a:xfrm>
        </p:spPr>
        <p:txBody>
          <a:bodyPr/>
          <a:lstStyle/>
          <a:p>
            <a:r>
              <a:rPr lang="zh-CN" altLang="en-US" b="0" dirty="0"/>
              <a:t>原理：路径攻击者拦截未加密 </a:t>
            </a:r>
            <a:r>
              <a:rPr lang="en-US" altLang="zh-CN" b="0" dirty="0"/>
              <a:t>auth-cookie</a:t>
            </a:r>
            <a:r>
              <a:rPr lang="zh-CN" altLang="en-US" b="0" dirty="0"/>
              <a:t>，或通过 </a:t>
            </a:r>
            <a:r>
              <a:rPr lang="en-US" altLang="zh-CN" b="0" dirty="0"/>
              <a:t>DNS </a:t>
            </a:r>
            <a:r>
              <a:rPr lang="zh-CN" altLang="en-US" b="0" dirty="0"/>
              <a:t>缓存中毒、注入内容诱导泄露。</a:t>
            </a:r>
          </a:p>
          <a:p>
            <a:r>
              <a:rPr lang="zh-CN" altLang="en-US" b="0" dirty="0"/>
              <a:t>案例：控制 </a:t>
            </a:r>
            <a:r>
              <a:rPr lang="en-US" altLang="zh-CN" b="0" dirty="0" err="1"/>
              <a:t>WiFi</a:t>
            </a:r>
            <a:r>
              <a:rPr lang="en-US" altLang="zh-CN" b="0" dirty="0"/>
              <a:t> </a:t>
            </a:r>
            <a:r>
              <a:rPr lang="zh-CN" altLang="en-US" b="0" dirty="0"/>
              <a:t>热点的攻击者，利用未设 </a:t>
            </a:r>
            <a:r>
              <a:rPr lang="en-US" altLang="zh-CN" b="0" dirty="0"/>
              <a:t>Secure </a:t>
            </a:r>
            <a:r>
              <a:rPr lang="zh-CN" altLang="en-US" b="0" dirty="0"/>
              <a:t>标志的 </a:t>
            </a:r>
            <a:r>
              <a:rPr lang="en-US" altLang="zh-CN" b="0" dirty="0"/>
              <a:t>Cookie</a:t>
            </a:r>
            <a:r>
              <a:rPr lang="zh-CN" altLang="en-US" b="0" dirty="0"/>
              <a:t>（如</a:t>
            </a:r>
            <a:r>
              <a:rPr lang="en-US" altLang="zh-CN" b="0" dirty="0"/>
              <a:t>yahoo.com</a:t>
            </a:r>
            <a:r>
              <a:rPr lang="zh-CN" altLang="en-US" b="0" dirty="0"/>
              <a:t>的 </a:t>
            </a:r>
            <a:r>
              <a:rPr lang="en-US" altLang="zh-CN" b="0" dirty="0"/>
              <a:t>Y </a:t>
            </a:r>
            <a:r>
              <a:rPr lang="zh-CN" altLang="en-US" b="0" dirty="0"/>
              <a:t>和 </a:t>
            </a:r>
            <a:r>
              <a:rPr lang="en-US" altLang="zh-CN" b="0" dirty="0"/>
              <a:t>T Cookie</a:t>
            </a:r>
            <a:r>
              <a:rPr lang="zh-CN" altLang="en-US" b="0" dirty="0"/>
              <a:t>），通过注入内容迫使用户浏览器发送 </a:t>
            </a:r>
            <a:r>
              <a:rPr lang="en-US" altLang="zh-CN" b="0" dirty="0"/>
              <a:t>Cookie</a:t>
            </a:r>
            <a:r>
              <a:rPr lang="zh-CN" altLang="en-US" b="0" dirty="0"/>
              <a:t>。</a:t>
            </a:r>
          </a:p>
          <a:p>
            <a:r>
              <a:rPr lang="zh-CN" altLang="en-US" b="0" dirty="0"/>
              <a:t>其他风险：</a:t>
            </a:r>
            <a:r>
              <a:rPr lang="en-US" altLang="zh-CN" b="0" dirty="0"/>
              <a:t>XSS </a:t>
            </a:r>
            <a:r>
              <a:rPr lang="zh-CN" altLang="en-US" b="0" dirty="0"/>
              <a:t>漏洞可窃取无 </a:t>
            </a:r>
            <a:r>
              <a:rPr lang="en-US" altLang="zh-CN" b="0" dirty="0" err="1"/>
              <a:t>HttpOnly</a:t>
            </a:r>
            <a:r>
              <a:rPr lang="en-US" altLang="zh-CN" b="0" dirty="0"/>
              <a:t> </a:t>
            </a:r>
            <a:r>
              <a:rPr lang="zh-CN" altLang="en-US" b="0" dirty="0"/>
              <a:t>保护的 </a:t>
            </a:r>
            <a:r>
              <a:rPr lang="en-US" altLang="zh-CN" b="0" dirty="0"/>
              <a:t>auth-cookie</a:t>
            </a:r>
            <a:r>
              <a:rPr lang="zh-CN" altLang="en-US" b="0" dirty="0"/>
              <a:t>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C6B338E-0D7A-4985-9751-5BC25A8CB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8EAB2B9-FA3E-4167-B259-091E89FC8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Cookie </a:t>
            </a:r>
            <a:r>
              <a:rPr lang="zh-CN" altLang="en-US" b="0" dirty="0"/>
              <a:t>劫持：主动攻击（配图 </a:t>
            </a:r>
            <a:r>
              <a:rPr lang="en-US" altLang="zh-CN" b="0" dirty="0"/>
              <a:t>4.26</a:t>
            </a:r>
            <a:r>
              <a:rPr lang="zh-CN" altLang="en-US" b="0" dirty="0"/>
              <a:t>）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CE1435-1E8E-4A62-9789-615AD8387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208" y="1359064"/>
            <a:ext cx="5765954" cy="492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297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A175A24-EAA5-471A-AB08-593EAA2E3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对 </a:t>
            </a:r>
            <a:r>
              <a:rPr lang="en-US" altLang="zh-CN" b="0" dirty="0"/>
              <a:t>auth-cookie </a:t>
            </a:r>
            <a:r>
              <a:rPr lang="zh-CN" altLang="en-US" b="0" dirty="0"/>
              <a:t>强制设置：</a:t>
            </a:r>
          </a:p>
          <a:p>
            <a:pPr lvl="1"/>
            <a:r>
              <a:rPr lang="en-US" altLang="zh-CN" b="0" dirty="0" err="1"/>
              <a:t>HttpOnly</a:t>
            </a:r>
            <a:r>
              <a:rPr lang="en-US" altLang="zh-CN" b="0" dirty="0"/>
              <a:t>=true</a:t>
            </a:r>
            <a:r>
              <a:rPr lang="zh-CN" altLang="en-US" b="0" dirty="0"/>
              <a:t>：防止 </a:t>
            </a:r>
            <a:r>
              <a:rPr lang="en-US" altLang="zh-CN" b="0" dirty="0"/>
              <a:t>XSS </a:t>
            </a:r>
            <a:r>
              <a:rPr lang="zh-CN" altLang="en-US" b="0" dirty="0"/>
              <a:t>攻击窃取；</a:t>
            </a:r>
          </a:p>
          <a:p>
            <a:pPr lvl="1"/>
            <a:r>
              <a:rPr lang="en-US" altLang="zh-CN" b="0" dirty="0"/>
              <a:t>Secure=true</a:t>
            </a:r>
            <a:r>
              <a:rPr lang="zh-CN" altLang="en-US" b="0" dirty="0"/>
              <a:t>：仅通过 </a:t>
            </a:r>
            <a:r>
              <a:rPr lang="en-US" altLang="zh-CN" b="0" dirty="0"/>
              <a:t>HTTPS </a:t>
            </a:r>
            <a:r>
              <a:rPr lang="zh-CN" altLang="en-US" b="0" dirty="0"/>
              <a:t>传输，避免 </a:t>
            </a:r>
            <a:r>
              <a:rPr lang="en-US" altLang="zh-CN" b="0" dirty="0"/>
              <a:t>HTTP </a:t>
            </a:r>
            <a:r>
              <a:rPr lang="zh-CN" altLang="en-US" b="0" dirty="0"/>
              <a:t>泄露；</a:t>
            </a:r>
          </a:p>
          <a:p>
            <a:r>
              <a:rPr lang="zh-CN" altLang="en-US" b="0" dirty="0"/>
              <a:t>完善网站漏洞修复：修补 </a:t>
            </a:r>
            <a:r>
              <a:rPr lang="en-US" altLang="zh-CN" b="0" dirty="0"/>
              <a:t>XSS </a:t>
            </a:r>
            <a:r>
              <a:rPr lang="zh-CN" altLang="en-US" b="0" dirty="0"/>
              <a:t>漏洞，防止恶意代码注入；</a:t>
            </a:r>
          </a:p>
          <a:p>
            <a:r>
              <a:rPr lang="zh-CN" altLang="en-US" b="0" dirty="0"/>
              <a:t>用户端：避免在不受信任设备登录，及时注销并确保站点使 </a:t>
            </a:r>
            <a:r>
              <a:rPr lang="en-US" altLang="zh-CN" b="0" dirty="0"/>
              <a:t>auth-cookie </a:t>
            </a:r>
            <a:r>
              <a:rPr lang="zh-CN" altLang="en-US" b="0" dirty="0"/>
              <a:t>失效。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1152635-02C1-4CF2-872F-24A68633C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C923B84-DF9F-435B-BABC-DFD14CD4A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防御 </a:t>
            </a:r>
            <a:r>
              <a:rPr lang="en-US" altLang="zh-CN" b="0" dirty="0"/>
              <a:t>Cookie </a:t>
            </a:r>
            <a:r>
              <a:rPr lang="zh-CN" altLang="en-US" b="0" dirty="0"/>
              <a:t>劫持的关键措施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29445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7AFF17-A899-4AE3-97F4-8D1AAC05361B}"/>
              </a:ext>
            </a:extLst>
          </p:cNvPr>
          <p:cNvSpPr txBox="1"/>
          <p:nvPr/>
        </p:nvSpPr>
        <p:spPr>
          <a:xfrm>
            <a:off x="2913188" y="3113465"/>
            <a:ext cx="6365619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sz="5400" b="1">
                <a:gradFill>
                  <a:gsLst>
                    <a:gs pos="0">
                      <a:srgbClr val="2B84FE"/>
                    </a:gs>
                    <a:gs pos="100000">
                      <a:srgbClr val="20B1F4"/>
                    </a:gs>
                  </a:gsLst>
                  <a:lin ang="5400000" scaled="1"/>
                </a:gradFill>
                <a:latin typeface="微软雅黑"/>
                <a:ea typeface="微软雅黑"/>
              </a:defRPr>
            </a:lvl1pPr>
          </a:lstStyle>
          <a:p>
            <a:r>
              <a:rPr lang="en-US" altLang="zh-CN" dirty="0" err="1"/>
              <a:t>aPAKE</a:t>
            </a:r>
            <a:r>
              <a:rPr lang="en-US" altLang="zh-CN" dirty="0"/>
              <a:t> </a:t>
            </a:r>
            <a:r>
              <a:rPr lang="zh-CN" altLang="en-US" dirty="0"/>
              <a:t>协议</a:t>
            </a:r>
          </a:p>
        </p:txBody>
      </p:sp>
    </p:spTree>
    <p:extLst>
      <p:ext uri="{BB962C8B-B14F-4D97-AF65-F5344CB8AC3E}">
        <p14:creationId xmlns:p14="http://schemas.microsoft.com/office/powerpoint/2010/main" val="36715189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1FC6A3C-6D6E-49DE-BC03-37DCC3CCB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传统认证的问题：</a:t>
            </a:r>
          </a:p>
          <a:p>
            <a:pPr lvl="1"/>
            <a:r>
              <a:rPr lang="zh-CN" altLang="en-US" b="0" dirty="0"/>
              <a:t>即使是单点登录（如 </a:t>
            </a:r>
            <a:r>
              <a:rPr lang="en-US" altLang="zh-CN" b="0" dirty="0"/>
              <a:t>OpenID Connect</a:t>
            </a:r>
            <a:r>
              <a:rPr lang="zh-CN" altLang="en-US" b="0" dirty="0"/>
              <a:t>），用户注册、登录、改密码时，仍需将口令以 “明文或哈希形式” 传给服务器，存在中途泄露风险；</a:t>
            </a:r>
          </a:p>
          <a:p>
            <a:pPr lvl="1"/>
            <a:r>
              <a:rPr lang="zh-CN" altLang="en-US" b="0" dirty="0"/>
              <a:t>服务器存储的哈希 </a:t>
            </a:r>
            <a:r>
              <a:rPr lang="en-US" altLang="zh-CN" b="0" dirty="0"/>
              <a:t>/ </a:t>
            </a:r>
            <a:r>
              <a:rPr lang="zh-CN" altLang="en-US" b="0" dirty="0"/>
              <a:t>验证值，若数据库被攻破，攻击者可能离线破解。</a:t>
            </a:r>
          </a:p>
          <a:p>
            <a:r>
              <a:rPr lang="en-US" altLang="zh-CN" b="0" dirty="0" err="1"/>
              <a:t>aPAKE</a:t>
            </a:r>
            <a:r>
              <a:rPr lang="en-US" altLang="zh-CN" b="0" dirty="0"/>
              <a:t> </a:t>
            </a:r>
            <a:r>
              <a:rPr lang="zh-CN" altLang="en-US" b="0" dirty="0"/>
              <a:t>的定位：</a:t>
            </a:r>
          </a:p>
          <a:p>
            <a:pPr lvl="1"/>
            <a:r>
              <a:rPr lang="zh-CN" altLang="en-US" b="0" dirty="0"/>
              <a:t>全称 “非对称口令认证密钥交换协议”，核心是 “不用传明文口令”</a:t>
            </a:r>
            <a:r>
              <a:rPr lang="en-US" altLang="zh-CN" b="0" dirty="0"/>
              <a:t>—— </a:t>
            </a:r>
            <a:r>
              <a:rPr lang="zh-CN" altLang="en-US" b="0" dirty="0"/>
              <a:t>客户端与服务器通过参数交换，直接协商出共享会话密钥，完成身份认证。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62D13F2-7D58-4105-91CD-95615FEB8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23C0B46E-B9E5-4E56-8070-D66A22A7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什么是 </a:t>
            </a:r>
            <a:r>
              <a:rPr lang="en-US" altLang="zh-CN" b="0" dirty="0" err="1"/>
              <a:t>aPAKE</a:t>
            </a:r>
            <a:r>
              <a:rPr lang="en-US" altLang="zh-CN" b="0" dirty="0"/>
              <a:t> </a:t>
            </a:r>
            <a:r>
              <a:rPr lang="zh-CN" altLang="en-US" b="0" dirty="0"/>
              <a:t>协议？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58448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EB2DB78-2E91-4727-9484-78E8FB098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AKE </a:t>
            </a:r>
            <a:r>
              <a:rPr lang="zh-CN" altLang="en-US" b="0" dirty="0"/>
              <a:t>是什么？</a:t>
            </a:r>
          </a:p>
          <a:p>
            <a:pPr lvl="1"/>
            <a:r>
              <a:rPr lang="zh-CN" altLang="en-US" b="0" dirty="0"/>
              <a:t>全称 “认证密钥交换协议”，无需加密整个数据流，客户端和服务器仅通过 “共享信息 </a:t>
            </a:r>
            <a:r>
              <a:rPr lang="en-US" altLang="zh-CN" b="0" dirty="0"/>
              <a:t>+ </a:t>
            </a:r>
            <a:r>
              <a:rPr lang="zh-CN" altLang="en-US" b="0" dirty="0"/>
              <a:t>自有密钥”，就能算出相同的会话密钥；</a:t>
            </a:r>
          </a:p>
          <a:p>
            <a:pPr lvl="1"/>
            <a:r>
              <a:rPr lang="zh-CN" altLang="en-US" b="0" dirty="0"/>
              <a:t>安全性完全依赖 “单向函数”（如 </a:t>
            </a:r>
            <a:r>
              <a:rPr lang="en-US" altLang="zh-CN" b="0" dirty="0"/>
              <a:t>P ()</a:t>
            </a:r>
            <a:r>
              <a:rPr lang="zh-CN" altLang="en-US" b="0" dirty="0"/>
              <a:t>）</a:t>
            </a:r>
            <a:r>
              <a:rPr lang="en-US" altLang="zh-CN" b="0" dirty="0"/>
              <a:t>—— </a:t>
            </a:r>
            <a:r>
              <a:rPr lang="zh-CN" altLang="en-US" b="0" dirty="0"/>
              <a:t>已知 </a:t>
            </a:r>
            <a:r>
              <a:rPr lang="en-US" altLang="zh-CN" b="0" dirty="0"/>
              <a:t>P (x) </a:t>
            </a:r>
            <a:r>
              <a:rPr lang="zh-CN" altLang="en-US" b="0" dirty="0"/>
              <a:t>无法反推 </a:t>
            </a:r>
            <a:r>
              <a:rPr lang="en-US" altLang="zh-CN" b="0" dirty="0"/>
              <a:t>x</a:t>
            </a:r>
            <a:r>
              <a:rPr lang="zh-CN" altLang="en-US" b="0" dirty="0"/>
              <a:t>，避免密钥泄露。</a:t>
            </a:r>
          </a:p>
          <a:p>
            <a:r>
              <a:rPr lang="en-US" altLang="zh-CN" b="0" dirty="0"/>
              <a:t>AKE </a:t>
            </a:r>
            <a:r>
              <a:rPr lang="zh-CN" altLang="en-US" b="0" dirty="0"/>
              <a:t>的关键要素：</a:t>
            </a:r>
          </a:p>
          <a:p>
            <a:pPr lvl="1"/>
            <a:r>
              <a:rPr lang="zh-CN" altLang="en-US" b="0" dirty="0"/>
              <a:t>长期密钥：客户端私有的 </a:t>
            </a:r>
            <a:r>
              <a:rPr lang="en-US" altLang="zh-CN" b="0" dirty="0"/>
              <a:t>x</a:t>
            </a:r>
            <a:r>
              <a:rPr lang="zh-CN" altLang="en-US" b="0" dirty="0"/>
              <a:t>、服务器私有的 </a:t>
            </a:r>
            <a:r>
              <a:rPr lang="en-US" altLang="zh-CN" b="0" dirty="0"/>
              <a:t>z</a:t>
            </a:r>
            <a:r>
              <a:rPr lang="zh-CN" altLang="en-US" b="0" dirty="0"/>
              <a:t>（仅自己知道，不传输）；</a:t>
            </a:r>
          </a:p>
          <a:p>
            <a:pPr lvl="1"/>
            <a:r>
              <a:rPr lang="zh-CN" altLang="en-US" b="0" dirty="0"/>
              <a:t>临时参数：客户端生成的 </a:t>
            </a:r>
            <a:r>
              <a:rPr lang="en-US" altLang="zh-CN" b="0" dirty="0"/>
              <a:t>w</a:t>
            </a:r>
            <a:r>
              <a:rPr lang="zh-CN" altLang="en-US" b="0" dirty="0"/>
              <a:t>、服务器生成的 </a:t>
            </a:r>
            <a:r>
              <a:rPr lang="en-US" altLang="zh-CN" b="0" dirty="0"/>
              <a:t>y</a:t>
            </a:r>
            <a:r>
              <a:rPr lang="zh-CN" altLang="en-US" b="0" dirty="0"/>
              <a:t>（每次会话不同，防重放攻击）；</a:t>
            </a:r>
          </a:p>
          <a:p>
            <a:pPr lvl="1"/>
            <a:r>
              <a:rPr lang="zh-CN" altLang="en-US" b="0" dirty="0"/>
              <a:t>交互逻辑：客户端传 </a:t>
            </a:r>
            <a:r>
              <a:rPr lang="en-US" altLang="zh-CN" b="0" dirty="0"/>
              <a:t>P (x) </a:t>
            </a:r>
            <a:r>
              <a:rPr lang="zh-CN" altLang="en-US" b="0" dirty="0"/>
              <a:t>给服务器，服务器传 </a:t>
            </a:r>
            <a:r>
              <a:rPr lang="en-US" altLang="zh-CN" b="0" dirty="0"/>
              <a:t>P (z) </a:t>
            </a:r>
            <a:r>
              <a:rPr lang="zh-CN" altLang="en-US" b="0" dirty="0"/>
              <a:t>给客户端，双方结合 </a:t>
            </a:r>
            <a:r>
              <a:rPr lang="en-US" altLang="zh-CN" b="0" dirty="0"/>
              <a:t>w</a:t>
            </a:r>
            <a:r>
              <a:rPr lang="zh-CN" altLang="en-US" b="0" dirty="0"/>
              <a:t>、</a:t>
            </a:r>
            <a:r>
              <a:rPr lang="en-US" altLang="zh-CN" b="0" dirty="0"/>
              <a:t>y</a:t>
            </a:r>
            <a:r>
              <a:rPr lang="zh-CN" altLang="en-US" b="0" dirty="0"/>
              <a:t>，算出同一会话密钥。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2F32E85-905C-40CE-9809-47E7B1DB2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C02C9E6-8AA9-49D2-9A94-5B529844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/>
              <a:t>aPAKE</a:t>
            </a:r>
            <a:r>
              <a:rPr lang="en-US" altLang="zh-CN" b="0" dirty="0"/>
              <a:t> </a:t>
            </a:r>
            <a:r>
              <a:rPr lang="zh-CN" altLang="en-US" b="0" dirty="0"/>
              <a:t>的 “底层框架” </a:t>
            </a:r>
            <a:r>
              <a:rPr lang="en-US" altLang="zh-CN" b="0" dirty="0"/>
              <a:t>AKE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22080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2A82B74-5FB9-4001-8CA8-1C533301E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01" y="1232705"/>
            <a:ext cx="11312699" cy="5047042"/>
          </a:xfrm>
        </p:spPr>
        <p:txBody>
          <a:bodyPr/>
          <a:lstStyle/>
          <a:p>
            <a:r>
              <a:rPr lang="zh-CN" altLang="en-US" sz="1800" b="0" dirty="0"/>
              <a:t>阶段 </a:t>
            </a:r>
            <a:r>
              <a:rPr lang="en-US" altLang="zh-CN" sz="1800" b="0" dirty="0"/>
              <a:t>1</a:t>
            </a:r>
            <a:r>
              <a:rPr lang="zh-CN" altLang="en-US" sz="1800" b="0" dirty="0"/>
              <a:t>：会话创建（确定基础参数）</a:t>
            </a:r>
          </a:p>
          <a:p>
            <a:pPr lvl="1"/>
            <a:r>
              <a:rPr lang="zh-CN" altLang="en-US" sz="1800" b="0" dirty="0"/>
              <a:t>客户端发 “用户名” 给服务器；</a:t>
            </a:r>
          </a:p>
          <a:p>
            <a:pPr lvl="1"/>
            <a:r>
              <a:rPr lang="zh-CN" altLang="en-US" sz="1800" b="0" dirty="0"/>
              <a:t>服务器查用户记录，返回 “盐值 </a:t>
            </a:r>
            <a:r>
              <a:rPr lang="en-US" altLang="zh-CN" sz="1800" b="0" dirty="0"/>
              <a:t>s” </a:t>
            </a:r>
            <a:r>
              <a:rPr lang="zh-CN" altLang="en-US" sz="1800" b="0" dirty="0"/>
              <a:t>和 “密码验证器 </a:t>
            </a:r>
            <a:r>
              <a:rPr lang="en-US" altLang="zh-CN" sz="1800" b="0" dirty="0"/>
              <a:t>v”</a:t>
            </a:r>
            <a:r>
              <a:rPr lang="zh-CN" altLang="en-US" sz="1800" b="0" dirty="0"/>
              <a:t>（客户端用 </a:t>
            </a:r>
            <a:r>
              <a:rPr lang="en-US" altLang="zh-CN" sz="1800" b="0" dirty="0"/>
              <a:t>s + </a:t>
            </a:r>
            <a:r>
              <a:rPr lang="zh-CN" altLang="en-US" sz="1800" b="0" dirty="0"/>
              <a:t>自己的口令 </a:t>
            </a:r>
            <a:r>
              <a:rPr lang="en-US" altLang="zh-CN" sz="1800" b="0" dirty="0"/>
              <a:t>P</a:t>
            </a:r>
            <a:r>
              <a:rPr lang="zh-CN" altLang="en-US" sz="1800" b="0" dirty="0"/>
              <a:t>，算出长期私钥 </a:t>
            </a:r>
            <a:r>
              <a:rPr lang="en-US" altLang="zh-CN" sz="1800" b="0" dirty="0"/>
              <a:t>x</a:t>
            </a:r>
            <a:r>
              <a:rPr lang="zh-CN" altLang="en-US" sz="1800" b="0" dirty="0"/>
              <a:t>）。</a:t>
            </a:r>
          </a:p>
          <a:p>
            <a:r>
              <a:rPr lang="zh-CN" altLang="en-US" sz="1800" b="0" dirty="0"/>
              <a:t>阶段 </a:t>
            </a:r>
            <a:r>
              <a:rPr lang="en-US" altLang="zh-CN" sz="1800" b="0" dirty="0"/>
              <a:t>2</a:t>
            </a:r>
            <a:r>
              <a:rPr lang="zh-CN" altLang="en-US" sz="1800" b="0" dirty="0"/>
              <a:t>：密钥协商（生成会话密钥）</a:t>
            </a:r>
          </a:p>
          <a:p>
            <a:pPr lvl="1"/>
            <a:r>
              <a:rPr lang="zh-CN" altLang="en-US" sz="1800" b="0" dirty="0"/>
              <a:t>客户端生成随机数 </a:t>
            </a:r>
            <a:r>
              <a:rPr lang="en-US" altLang="zh-CN" sz="1800" b="0" dirty="0"/>
              <a:t>a</a:t>
            </a:r>
            <a:r>
              <a:rPr lang="zh-CN" altLang="en-US" sz="1800" b="0" dirty="0"/>
              <a:t>，算临时公钥 </a:t>
            </a:r>
            <a:r>
              <a:rPr lang="en-US" altLang="zh-CN" sz="1800" b="0" dirty="0"/>
              <a:t>A→</a:t>
            </a:r>
            <a:r>
              <a:rPr lang="zh-CN" altLang="en-US" sz="1800" b="0" dirty="0"/>
              <a:t>发给服务器；</a:t>
            </a:r>
          </a:p>
          <a:p>
            <a:pPr lvl="1"/>
            <a:r>
              <a:rPr lang="zh-CN" altLang="en-US" sz="1800" b="0" dirty="0"/>
              <a:t>服务器生成随机数 </a:t>
            </a:r>
            <a:r>
              <a:rPr lang="en-US" altLang="zh-CN" sz="1800" b="0" dirty="0"/>
              <a:t>b</a:t>
            </a:r>
            <a:r>
              <a:rPr lang="zh-CN" altLang="en-US" sz="1800" b="0" dirty="0"/>
              <a:t>，算临时公钥 </a:t>
            </a:r>
            <a:r>
              <a:rPr lang="en-US" altLang="zh-CN" sz="1800" b="0" dirty="0"/>
              <a:t>B→</a:t>
            </a:r>
            <a:r>
              <a:rPr lang="zh-CN" altLang="en-US" sz="1800" b="0" dirty="0"/>
              <a:t>连随机参数 </a:t>
            </a:r>
            <a:r>
              <a:rPr lang="en-US" altLang="zh-CN" sz="1800" b="0" dirty="0"/>
              <a:t>u </a:t>
            </a:r>
            <a:r>
              <a:rPr lang="zh-CN" altLang="en-US" sz="1800" b="0" dirty="0"/>
              <a:t>一起发给客户端；</a:t>
            </a:r>
          </a:p>
          <a:p>
            <a:pPr lvl="1"/>
            <a:r>
              <a:rPr lang="zh-CN" altLang="en-US" sz="1800" b="0" dirty="0"/>
              <a:t>双方用 </a:t>
            </a:r>
            <a:r>
              <a:rPr lang="en-US" altLang="zh-CN" sz="1800" b="0" dirty="0"/>
              <a:t>A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B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u </a:t>
            </a:r>
            <a:r>
              <a:rPr lang="zh-CN" altLang="en-US" sz="1800" b="0" dirty="0"/>
              <a:t>等参数，算共同指数 </a:t>
            </a:r>
            <a:r>
              <a:rPr lang="en-US" altLang="zh-CN" sz="1800" b="0" dirty="0"/>
              <a:t>S</a:t>
            </a:r>
            <a:r>
              <a:rPr lang="zh-CN" altLang="en-US" sz="1800" b="0" dirty="0"/>
              <a:t>，再哈希成会话密钥 </a:t>
            </a:r>
            <a:r>
              <a:rPr lang="en-US" altLang="zh-CN" sz="1800" b="0" dirty="0"/>
              <a:t>K</a:t>
            </a:r>
            <a:r>
              <a:rPr lang="zh-CN" altLang="en-US" sz="1800" b="0" dirty="0"/>
              <a:t>。</a:t>
            </a:r>
          </a:p>
          <a:p>
            <a:r>
              <a:rPr lang="zh-CN" altLang="en-US" sz="1800" b="0" dirty="0"/>
              <a:t>阶段 </a:t>
            </a:r>
            <a:r>
              <a:rPr lang="en-US" altLang="zh-CN" sz="1800" b="0" dirty="0"/>
              <a:t>3</a:t>
            </a:r>
            <a:r>
              <a:rPr lang="zh-CN" altLang="en-US" sz="1800" b="0" dirty="0"/>
              <a:t>：身份验证（确认双方握有正确 </a:t>
            </a:r>
            <a:r>
              <a:rPr lang="en-US" altLang="zh-CN" sz="1800" b="0" dirty="0"/>
              <a:t>K</a:t>
            </a:r>
            <a:r>
              <a:rPr lang="zh-CN" altLang="en-US" sz="1800" b="0" dirty="0"/>
              <a:t>）</a:t>
            </a:r>
          </a:p>
          <a:p>
            <a:pPr lvl="1"/>
            <a:r>
              <a:rPr lang="zh-CN" altLang="en-US" sz="1800" b="0" dirty="0"/>
              <a:t>客户端算 </a:t>
            </a:r>
            <a:r>
              <a:rPr lang="en-US" altLang="zh-CN" sz="1800" b="0" dirty="0"/>
              <a:t>M1</a:t>
            </a:r>
            <a:r>
              <a:rPr lang="zh-CN" altLang="en-US" sz="1800" b="0" dirty="0"/>
              <a:t>（哈希 </a:t>
            </a:r>
            <a:r>
              <a:rPr lang="en-US" altLang="zh-CN" sz="1800" b="0" dirty="0"/>
              <a:t>A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B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K</a:t>
            </a:r>
            <a:r>
              <a:rPr lang="zh-CN" altLang="en-US" sz="1800" b="0" dirty="0"/>
              <a:t>）→发给服务器，服务器验证 </a:t>
            </a:r>
            <a:r>
              <a:rPr lang="en-US" altLang="zh-CN" sz="1800" b="0" dirty="0"/>
              <a:t>M1</a:t>
            </a:r>
            <a:r>
              <a:rPr lang="zh-CN" altLang="en-US" sz="1800" b="0" dirty="0"/>
              <a:t>；</a:t>
            </a:r>
          </a:p>
          <a:p>
            <a:pPr lvl="1"/>
            <a:r>
              <a:rPr lang="zh-CN" altLang="en-US" sz="1800" b="0" dirty="0"/>
              <a:t>服务器算 </a:t>
            </a:r>
            <a:r>
              <a:rPr lang="en-US" altLang="zh-CN" sz="1800" b="0" dirty="0"/>
              <a:t>M2</a:t>
            </a:r>
            <a:r>
              <a:rPr lang="zh-CN" altLang="en-US" sz="1800" b="0" dirty="0"/>
              <a:t>（哈希 </a:t>
            </a:r>
            <a:r>
              <a:rPr lang="en-US" altLang="zh-CN" sz="1800" b="0" dirty="0"/>
              <a:t>A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M1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K</a:t>
            </a:r>
            <a:r>
              <a:rPr lang="zh-CN" altLang="en-US" sz="1800" b="0" dirty="0"/>
              <a:t>）→发给客户端，客户端验证 </a:t>
            </a:r>
            <a:r>
              <a:rPr lang="en-US" altLang="zh-CN" sz="1800" b="0" dirty="0"/>
              <a:t>M2</a:t>
            </a:r>
            <a:r>
              <a:rPr lang="zh-CN" altLang="en-US" sz="1800" b="0" dirty="0"/>
              <a:t>；</a:t>
            </a:r>
          </a:p>
          <a:p>
            <a:pPr lvl="1"/>
            <a:r>
              <a:rPr lang="zh-CN" altLang="en-US" sz="1800" b="0" dirty="0"/>
              <a:t>双方验证通过，认证完成。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B896032-03FD-47B9-B642-5FDB676AD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B83AA3A-B590-4539-82AD-532D445EE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SRP </a:t>
            </a:r>
            <a:r>
              <a:rPr lang="zh-CN" altLang="en-US" dirty="0"/>
              <a:t>协议 </a:t>
            </a:r>
            <a:r>
              <a:rPr lang="en-US" altLang="zh-CN" dirty="0"/>
              <a:t>– </a:t>
            </a:r>
            <a:r>
              <a:rPr lang="zh-CN" altLang="en-US" dirty="0"/>
              <a:t>经典实现完整认证流程</a:t>
            </a:r>
          </a:p>
        </p:txBody>
      </p:sp>
    </p:spTree>
    <p:extLst>
      <p:ext uri="{BB962C8B-B14F-4D97-AF65-F5344CB8AC3E}">
        <p14:creationId xmlns:p14="http://schemas.microsoft.com/office/powerpoint/2010/main" val="281617497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3B9D5BF-D934-4B62-B1C7-359DE3F3B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先讲 </a:t>
            </a:r>
            <a:r>
              <a:rPr lang="en-US" altLang="zh-CN" b="0" dirty="0"/>
              <a:t>SRP </a:t>
            </a:r>
            <a:r>
              <a:rPr lang="zh-CN" altLang="en-US" b="0" dirty="0"/>
              <a:t>的痛点：</a:t>
            </a:r>
          </a:p>
          <a:p>
            <a:pPr lvl="1"/>
            <a:r>
              <a:rPr lang="en-US" altLang="zh-CN" b="0" dirty="0"/>
              <a:t>SRP </a:t>
            </a:r>
            <a:r>
              <a:rPr lang="zh-CN" altLang="en-US" b="0" dirty="0"/>
              <a:t>的口令 </a:t>
            </a:r>
            <a:r>
              <a:rPr lang="en-US" altLang="zh-CN" b="0" dirty="0"/>
              <a:t>- </a:t>
            </a:r>
            <a:r>
              <a:rPr lang="zh-CN" altLang="en-US" b="0" dirty="0"/>
              <a:t>密钥映射依赖 “盐值 </a:t>
            </a:r>
            <a:r>
              <a:rPr lang="en-US" altLang="zh-CN" b="0" dirty="0"/>
              <a:t>+ </a:t>
            </a:r>
            <a:r>
              <a:rPr lang="zh-CN" altLang="en-US" b="0" dirty="0"/>
              <a:t>固定算法”，攻击者若拿到数据库的盐值和验证器，可离线预计算大量密钥，破解口令。</a:t>
            </a:r>
          </a:p>
          <a:p>
            <a:r>
              <a:rPr lang="en-US" altLang="zh-CN" b="0" dirty="0"/>
              <a:t>OPAQUE </a:t>
            </a:r>
            <a:r>
              <a:rPr lang="zh-CN" altLang="en-US" b="0" dirty="0"/>
              <a:t>的核心突破：</a:t>
            </a:r>
          </a:p>
          <a:p>
            <a:pPr lvl="1"/>
            <a:r>
              <a:rPr lang="zh-CN" altLang="en-US" b="0" dirty="0"/>
              <a:t>结合 “</a:t>
            </a:r>
            <a:r>
              <a:rPr lang="en-US" altLang="zh-CN" b="0" dirty="0"/>
              <a:t>OPRF</a:t>
            </a:r>
            <a:r>
              <a:rPr lang="zh-CN" altLang="en-US" b="0" dirty="0"/>
              <a:t>（不经意伪随机函数）</a:t>
            </a:r>
            <a:r>
              <a:rPr lang="en-US" altLang="zh-CN" b="0" dirty="0"/>
              <a:t>+AKE”——OPRF </a:t>
            </a:r>
            <a:r>
              <a:rPr lang="zh-CN" altLang="en-US" b="0" dirty="0"/>
              <a:t>的特点是 “计算方不知输入，输入方只知输出”，从源头防预计算。</a:t>
            </a:r>
          </a:p>
          <a:p>
            <a:r>
              <a:rPr lang="en-US" altLang="zh-CN" b="0" dirty="0"/>
              <a:t>OPAQUE </a:t>
            </a:r>
            <a:r>
              <a:rPr lang="zh-CN" altLang="en-US" b="0" dirty="0"/>
              <a:t>的两大流程：</a:t>
            </a:r>
          </a:p>
          <a:p>
            <a:pPr lvl="1"/>
            <a:r>
              <a:rPr lang="zh-CN" altLang="en-US" b="0" dirty="0"/>
              <a:t>注册：用户输口令 </a:t>
            </a:r>
            <a:r>
              <a:rPr lang="en-US" altLang="zh-CN" b="0" dirty="0"/>
              <a:t>pw→</a:t>
            </a:r>
            <a:r>
              <a:rPr lang="zh-CN" altLang="en-US" b="0" dirty="0"/>
              <a:t>与服务器跑 </a:t>
            </a:r>
            <a:r>
              <a:rPr lang="en-US" altLang="zh-CN" b="0" dirty="0"/>
              <a:t>OPRF </a:t>
            </a:r>
            <a:r>
              <a:rPr lang="zh-CN" altLang="en-US" b="0" dirty="0"/>
              <a:t>生成 </a:t>
            </a:r>
            <a:r>
              <a:rPr lang="en-US" altLang="zh-CN" b="0" dirty="0" err="1"/>
              <a:t>rw</a:t>
            </a:r>
            <a:r>
              <a:rPr lang="en-US" altLang="zh-CN" b="0" dirty="0"/>
              <a:t>→</a:t>
            </a:r>
            <a:r>
              <a:rPr lang="zh-CN" altLang="en-US" b="0" dirty="0"/>
              <a:t>用 </a:t>
            </a:r>
            <a:r>
              <a:rPr lang="en-US" altLang="zh-CN" b="0" dirty="0" err="1"/>
              <a:t>rw</a:t>
            </a:r>
            <a:r>
              <a:rPr lang="en-US" altLang="zh-CN" b="0" dirty="0"/>
              <a:t> </a:t>
            </a:r>
            <a:r>
              <a:rPr lang="zh-CN" altLang="en-US" b="0" dirty="0"/>
              <a:t>加密自己的私钥 </a:t>
            </a:r>
            <a:r>
              <a:rPr lang="en-US" altLang="zh-CN" b="0" dirty="0" err="1"/>
              <a:t>privU</a:t>
            </a:r>
            <a:r>
              <a:rPr lang="en-US" altLang="zh-CN" b="0" dirty="0"/>
              <a:t>→</a:t>
            </a:r>
            <a:r>
              <a:rPr lang="zh-CN" altLang="en-US" b="0" dirty="0"/>
              <a:t>服务器存 “</a:t>
            </a:r>
            <a:r>
              <a:rPr lang="en-US" altLang="zh-CN" b="0" dirty="0"/>
              <a:t>OPRF </a:t>
            </a:r>
            <a:r>
              <a:rPr lang="zh-CN" altLang="en-US" b="0" dirty="0"/>
              <a:t>密钥 </a:t>
            </a:r>
            <a:r>
              <a:rPr lang="en-US" altLang="zh-CN" b="0" dirty="0"/>
              <a:t>k + </a:t>
            </a:r>
            <a:r>
              <a:rPr lang="zh-CN" altLang="en-US" b="0" dirty="0"/>
              <a:t>密文 </a:t>
            </a:r>
            <a:r>
              <a:rPr lang="en-US" altLang="zh-CN" b="0" dirty="0"/>
              <a:t>c + </a:t>
            </a:r>
            <a:r>
              <a:rPr lang="zh-CN" altLang="en-US" b="0" dirty="0"/>
              <a:t>公钥”；</a:t>
            </a:r>
          </a:p>
          <a:p>
            <a:pPr lvl="1"/>
            <a:r>
              <a:rPr lang="zh-CN" altLang="en-US" b="0" dirty="0"/>
              <a:t>登录：服务器查 </a:t>
            </a:r>
            <a:r>
              <a:rPr lang="en-US" altLang="zh-CN" b="0" dirty="0"/>
              <a:t>k </a:t>
            </a:r>
            <a:r>
              <a:rPr lang="zh-CN" altLang="en-US" b="0" dirty="0"/>
              <a:t>和 </a:t>
            </a:r>
            <a:r>
              <a:rPr lang="en-US" altLang="zh-CN" b="0" dirty="0"/>
              <a:t>c→</a:t>
            </a:r>
            <a:r>
              <a:rPr lang="zh-CN" altLang="en-US" b="0" dirty="0"/>
              <a:t>发给用户→用户用 </a:t>
            </a:r>
            <a:r>
              <a:rPr lang="en-US" altLang="zh-CN" b="0" dirty="0"/>
              <a:t>pw </a:t>
            </a:r>
            <a:r>
              <a:rPr lang="zh-CN" altLang="en-US" b="0" dirty="0"/>
              <a:t>跑 </a:t>
            </a:r>
            <a:r>
              <a:rPr lang="en-US" altLang="zh-CN" b="0" dirty="0"/>
              <a:t>OPRF </a:t>
            </a:r>
            <a:r>
              <a:rPr lang="zh-CN" altLang="en-US" b="0" dirty="0"/>
              <a:t>得 </a:t>
            </a:r>
            <a:r>
              <a:rPr lang="en-US" altLang="zh-CN" b="0" dirty="0" err="1"/>
              <a:t>rw</a:t>
            </a:r>
            <a:r>
              <a:rPr lang="en-US" altLang="zh-CN" b="0" dirty="0"/>
              <a:t>→</a:t>
            </a:r>
            <a:r>
              <a:rPr lang="zh-CN" altLang="en-US" b="0" dirty="0"/>
              <a:t>解密 </a:t>
            </a:r>
            <a:r>
              <a:rPr lang="en-US" altLang="zh-CN" b="0" dirty="0"/>
              <a:t>c </a:t>
            </a:r>
            <a:r>
              <a:rPr lang="zh-CN" altLang="en-US" b="0" dirty="0"/>
              <a:t>拿到 </a:t>
            </a:r>
            <a:r>
              <a:rPr lang="en-US" altLang="zh-CN" b="0" dirty="0" err="1"/>
              <a:t>privU</a:t>
            </a:r>
            <a:r>
              <a:rPr lang="en-US" altLang="zh-CN" b="0" dirty="0"/>
              <a:t>→</a:t>
            </a:r>
            <a:r>
              <a:rPr lang="zh-CN" altLang="en-US" b="0" dirty="0"/>
              <a:t>与服务器跑 </a:t>
            </a:r>
            <a:r>
              <a:rPr lang="en-US" altLang="zh-CN" b="0" dirty="0"/>
              <a:t>AKE</a:t>
            </a:r>
            <a:r>
              <a:rPr lang="zh-CN" altLang="en-US" b="0" dirty="0"/>
              <a:t>，协商会话密钥 </a:t>
            </a:r>
            <a:r>
              <a:rPr lang="en-US" altLang="zh-CN" b="0" dirty="0"/>
              <a:t>SK</a:t>
            </a:r>
            <a:r>
              <a:rPr lang="zh-CN" altLang="en-US" b="0" dirty="0"/>
              <a:t>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2C0AD59-76DD-42FD-B927-2359B9D50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668668F7-54C6-4EEB-9E59-95912E58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OPAQUE </a:t>
            </a:r>
            <a:r>
              <a:rPr lang="zh-CN" altLang="en-US" b="0" dirty="0"/>
              <a:t>协议：抗预计算攻击的强 </a:t>
            </a:r>
            <a:r>
              <a:rPr lang="en-US" altLang="zh-CN" b="0" dirty="0" err="1"/>
              <a:t>aPAKE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485748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B7D0A74-5130-44E8-B858-18F0CF905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安全性差异：</a:t>
            </a:r>
          </a:p>
          <a:p>
            <a:pPr lvl="1"/>
            <a:r>
              <a:rPr lang="en-US" altLang="zh-CN" b="0" dirty="0"/>
              <a:t>SRP</a:t>
            </a:r>
            <a:r>
              <a:rPr lang="zh-CN" altLang="en-US" b="0" dirty="0"/>
              <a:t>：能防明文口令泄露，但若数据库被攻破，存在被预计算攻击的风险；</a:t>
            </a:r>
          </a:p>
          <a:p>
            <a:pPr lvl="1"/>
            <a:r>
              <a:rPr lang="en-US" altLang="zh-CN" b="0" dirty="0"/>
              <a:t>OPAQUE</a:t>
            </a:r>
            <a:r>
              <a:rPr lang="zh-CN" altLang="en-US" b="0" dirty="0"/>
              <a:t>：在 </a:t>
            </a:r>
            <a:r>
              <a:rPr lang="en-US" altLang="zh-CN" b="0" dirty="0"/>
              <a:t>SRP </a:t>
            </a:r>
            <a:r>
              <a:rPr lang="zh-CN" altLang="en-US" b="0" dirty="0"/>
              <a:t>基础上，额外抵抗预计算攻击，属于 “强 </a:t>
            </a:r>
            <a:r>
              <a:rPr lang="en-US" altLang="zh-CN" b="0" dirty="0" err="1"/>
              <a:t>aPAKE</a:t>
            </a:r>
            <a:r>
              <a:rPr lang="en-US" altLang="zh-CN" b="0" dirty="0"/>
              <a:t>”</a:t>
            </a:r>
            <a:r>
              <a:rPr lang="zh-CN" altLang="en-US" b="0" dirty="0"/>
              <a:t>，安全性更高。</a:t>
            </a:r>
          </a:p>
          <a:p>
            <a:r>
              <a:rPr lang="zh-CN" altLang="en-US" b="0" dirty="0"/>
              <a:t>标准化与应用：</a:t>
            </a:r>
          </a:p>
          <a:p>
            <a:pPr lvl="1"/>
            <a:r>
              <a:rPr lang="en-US" altLang="zh-CN" b="0" dirty="0"/>
              <a:t>SRP</a:t>
            </a:r>
            <a:r>
              <a:rPr lang="zh-CN" altLang="en-US" b="0" dirty="0"/>
              <a:t>：已被 </a:t>
            </a:r>
            <a:r>
              <a:rPr lang="en-US" altLang="zh-CN" b="0" dirty="0"/>
              <a:t>TLS </a:t>
            </a:r>
            <a:r>
              <a:rPr lang="zh-CN" altLang="en-US" b="0" dirty="0"/>
              <a:t>标准化，</a:t>
            </a:r>
            <a:r>
              <a:rPr lang="en-US" altLang="zh-CN" b="0" dirty="0"/>
              <a:t>iOS </a:t>
            </a:r>
            <a:r>
              <a:rPr lang="zh-CN" altLang="en-US" b="0" dirty="0"/>
              <a:t>系统、部分云服务中广泛使用，兼容性好；</a:t>
            </a:r>
          </a:p>
          <a:p>
            <a:pPr lvl="1"/>
            <a:r>
              <a:rPr lang="en-US" altLang="zh-CN" b="0" dirty="0"/>
              <a:t>OPAQUE</a:t>
            </a:r>
            <a:r>
              <a:rPr lang="zh-CN" altLang="en-US" b="0" dirty="0"/>
              <a:t>：更适合高安全需求场景（如金融、医疗隐私数据认证），目前在强安全领域逐步推广。</a:t>
            </a:r>
          </a:p>
          <a:p>
            <a:r>
              <a:rPr lang="zh-CN" altLang="en-US" b="0" dirty="0"/>
              <a:t>核心依赖：</a:t>
            </a:r>
          </a:p>
          <a:p>
            <a:pPr lvl="1"/>
            <a:r>
              <a:rPr lang="en-US" altLang="zh-CN" b="0" dirty="0"/>
              <a:t>SRP</a:t>
            </a:r>
            <a:r>
              <a:rPr lang="zh-CN" altLang="en-US" b="0" dirty="0"/>
              <a:t>：靠 “盐值 </a:t>
            </a:r>
            <a:r>
              <a:rPr lang="en-US" altLang="zh-CN" b="0" dirty="0"/>
              <a:t>s + </a:t>
            </a:r>
            <a:r>
              <a:rPr lang="zh-CN" altLang="en-US" b="0" dirty="0"/>
              <a:t>密码验证器 </a:t>
            </a:r>
            <a:r>
              <a:rPr lang="en-US" altLang="zh-CN" b="0" dirty="0"/>
              <a:t>v” </a:t>
            </a:r>
            <a:r>
              <a:rPr lang="zh-CN" altLang="en-US" b="0" dirty="0"/>
              <a:t>确保唯一性，计算逻辑相对简单；</a:t>
            </a:r>
          </a:p>
          <a:p>
            <a:pPr lvl="1"/>
            <a:r>
              <a:rPr lang="en-US" altLang="zh-CN" b="0" dirty="0"/>
              <a:t>OPAQUE</a:t>
            </a:r>
            <a:r>
              <a:rPr lang="zh-CN" altLang="en-US" b="0" dirty="0"/>
              <a:t>：靠 “</a:t>
            </a:r>
            <a:r>
              <a:rPr lang="en-US" altLang="zh-CN" b="0" dirty="0"/>
              <a:t>OPRF + </a:t>
            </a:r>
            <a:r>
              <a:rPr lang="zh-CN" altLang="en-US" b="0" dirty="0"/>
              <a:t>认证加密” 保护密钥，需额外处理 </a:t>
            </a:r>
            <a:r>
              <a:rPr lang="en-US" altLang="zh-CN" b="0" dirty="0"/>
              <a:t>OPRF </a:t>
            </a:r>
            <a:r>
              <a:rPr lang="zh-CN" altLang="en-US" b="0" dirty="0"/>
              <a:t>交互和私钥加密，逻辑更复杂但更安全。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7A01782-B4DC-4329-9F78-D8FD9ACE4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24EDF5-87F7-4AC5-8292-B04417157FC2}" type="slidenum">
              <a:rPr lang="zh-CN" altLang="en-US" smtClean="0"/>
              <a:t>80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8A9A5B8-8C26-494D-BC87-EC35603BB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两种 </a:t>
            </a:r>
            <a:r>
              <a:rPr lang="en-US" altLang="zh-CN" b="0" dirty="0" err="1"/>
              <a:t>aPAKE</a:t>
            </a:r>
            <a:r>
              <a:rPr lang="en-US" altLang="zh-CN" b="0" dirty="0"/>
              <a:t> </a:t>
            </a:r>
            <a:r>
              <a:rPr lang="zh-CN" altLang="en-US" b="0" dirty="0"/>
              <a:t>协议的核心差异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745040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感谢聆听！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2009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ITTC_template">
  <a:themeElements>
    <a:clrScheme name="自定义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3333CC"/>
      </a:folHlink>
    </a:clrScheme>
    <a:fontScheme name="实验室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实验室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实验室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实验室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实验室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实验室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实验室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实验室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北邮模板-简洁.potx" id="{39B92645-6DE8-4953-96CF-0CF18AB890D9}" vid="{BE7556B3-04B8-423A-9E3D-6FFFE38E519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北邮模板-简洁</Template>
  <TotalTime>6216</TotalTime>
  <Words>7622</Words>
  <Application>Microsoft Office PowerPoint</Application>
  <PresentationFormat>宽屏</PresentationFormat>
  <Paragraphs>610</Paragraphs>
  <Slides>81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88" baseType="lpstr">
      <vt:lpstr>等线</vt:lpstr>
      <vt:lpstr>微软雅黑</vt:lpstr>
      <vt:lpstr>微软雅黑 Light</vt:lpstr>
      <vt:lpstr>Arial</vt:lpstr>
      <vt:lpstr>Times New Roman</vt:lpstr>
      <vt:lpstr>Verdana</vt:lpstr>
      <vt:lpstr>1_ITTC_template</vt:lpstr>
      <vt:lpstr>身份管理与数据访问控制</vt:lpstr>
      <vt:lpstr>内容提纲</vt:lpstr>
      <vt:lpstr>PowerPoint 演示文稿</vt:lpstr>
      <vt:lpstr>为什么需要身份管理？</vt:lpstr>
      <vt:lpstr>身份管理的 “第一公里” 与 “第二公里”</vt:lpstr>
      <vt:lpstr>PowerPoint 演示文稿</vt:lpstr>
      <vt:lpstr>什么是身份认证？</vt:lpstr>
      <vt:lpstr>身份认证的两种分类方式</vt:lpstr>
      <vt:lpstr>原语 1 - 基于口令的认证</vt:lpstr>
      <vt:lpstr>口令破解核心逻辑与安全强度要求</vt:lpstr>
      <vt:lpstr>原语 2 - 基于令牌的认证</vt:lpstr>
      <vt:lpstr>令牌认证的挑战</vt:lpstr>
      <vt:lpstr>原语 3 - 基于生物特征的认证</vt:lpstr>
      <vt:lpstr>基于公钥（证书）的认证</vt:lpstr>
      <vt:lpstr>公钥认证的核心挑战</vt:lpstr>
      <vt:lpstr>PowerPoint 演示文稿</vt:lpstr>
      <vt:lpstr>目录</vt:lpstr>
      <vt:lpstr>基于硬件安全的数字证书</vt:lpstr>
      <vt:lpstr>优缺点与适用场景</vt:lpstr>
      <vt:lpstr>多因子认证（MFA）</vt:lpstr>
      <vt:lpstr>挑战与优化方案</vt:lpstr>
      <vt:lpstr>FIDO 协议 - 概述</vt:lpstr>
      <vt:lpstr>FIDO UAF 工作原理与架构</vt:lpstr>
      <vt:lpstr>FIDO UAF 架构</vt:lpstr>
      <vt:lpstr>PowerPoint 演示文稿</vt:lpstr>
      <vt:lpstr>PowerPoint 演示文稿</vt:lpstr>
      <vt:lpstr>体系架构图</vt:lpstr>
      <vt:lpstr>FIDO UAF 消息 </vt:lpstr>
      <vt:lpstr>UAF 注册与认证流程</vt:lpstr>
      <vt:lpstr>UAF 认证流程</vt:lpstr>
      <vt:lpstr>UAF 注销流程与 U2F 简介</vt:lpstr>
      <vt:lpstr>U2F 简介</vt:lpstr>
      <vt:lpstr>注册流程</vt:lpstr>
      <vt:lpstr>认证流程</vt:lpstr>
      <vt:lpstr>FIDO2：新一代强身份认证标准</vt:lpstr>
      <vt:lpstr>注册流程（建立 “用户 - 公钥 - 账户” 关联）</vt:lpstr>
      <vt:lpstr>认证流程（验证用户身份合法性）</vt:lpstr>
      <vt:lpstr>FIDO2 核心优点</vt:lpstr>
      <vt:lpstr>新思想 - 基于分类器的认证</vt:lpstr>
      <vt:lpstr>PowerPoint 演示文稿</vt:lpstr>
      <vt:lpstr>持续认证与零信任</vt:lpstr>
      <vt:lpstr>典型应用：多级身份认证</vt:lpstr>
      <vt:lpstr>零信任实践：谷歌 BeyondCorp 系统</vt:lpstr>
      <vt:lpstr>核心设计与实施细节</vt:lpstr>
      <vt:lpstr>PowerPoint 演示文稿</vt:lpstr>
      <vt:lpstr>什么是单点登录？</vt:lpstr>
      <vt:lpstr>Needham-Schroeder 协议：密钥分发基础</vt:lpstr>
      <vt:lpstr>PowerPoint 演示文稿</vt:lpstr>
      <vt:lpstr>原始协议核心流程</vt:lpstr>
      <vt:lpstr>PowerPoint 演示文稿</vt:lpstr>
      <vt:lpstr>改进方案</vt:lpstr>
      <vt:lpstr>Kerberos 协议：经典 SSO 实现方案</vt:lpstr>
      <vt:lpstr>主要概念</vt:lpstr>
      <vt:lpstr>Kerberos 工作流程（配图 4.13）</vt:lpstr>
      <vt:lpstr>Kerberos 的典型应用</vt:lpstr>
      <vt:lpstr>OAuth 协议：开放授权框架</vt:lpstr>
      <vt:lpstr>OAuth 2.0 抽象流程</vt:lpstr>
      <vt:lpstr>核心授权模式</vt:lpstr>
      <vt:lpstr>授权码模式工作流程</vt:lpstr>
      <vt:lpstr>OAuth 的典型应用</vt:lpstr>
      <vt:lpstr>OpenID Connect：基于 OAuth 2.0 的身份认证</vt:lpstr>
      <vt:lpstr>OpenID Connect 授权码模式流程</vt:lpstr>
      <vt:lpstr>隐式模式流程图 </vt:lpstr>
      <vt:lpstr>威胁模型</vt:lpstr>
      <vt:lpstr>移动端单点登录的核心问题</vt:lpstr>
      <vt:lpstr>PowerPoint 演示文稿</vt:lpstr>
      <vt:lpstr>什么是 Cookie？</vt:lpstr>
      <vt:lpstr>Cookie 工作流程</vt:lpstr>
      <vt:lpstr>Cookie 属性详解</vt:lpstr>
      <vt:lpstr>关键安全属性</vt:lpstr>
      <vt:lpstr>Cookie 与身份认证</vt:lpstr>
      <vt:lpstr>Cookie 劫持：被动攻击</vt:lpstr>
      <vt:lpstr>Cookie 劫持：主动攻击（配图 4.26）</vt:lpstr>
      <vt:lpstr>防御 Cookie 劫持的关键措施</vt:lpstr>
      <vt:lpstr>PowerPoint 演示文稿</vt:lpstr>
      <vt:lpstr>什么是 aPAKE 协议？</vt:lpstr>
      <vt:lpstr>aPAKE 的 “底层框架” AKE</vt:lpstr>
      <vt:lpstr>SRP 协议 – 经典实现完整认证流程</vt:lpstr>
      <vt:lpstr>OPAQUE 协议：抗预计算攻击的强 aPAKE</vt:lpstr>
      <vt:lpstr>两种 aPAKE 协议的核心差异</vt:lpstr>
      <vt:lpstr>感谢聆听！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大数据安全与隐私保护 - 电子课件</dc:title>
  <dc:subject>大数据安全与隐私保护 - 课件</dc:subject>
  <dc:creator>北邮石瑞生</dc:creator>
  <cp:lastModifiedBy>bing han</cp:lastModifiedBy>
  <cp:revision>443</cp:revision>
  <cp:lastPrinted>2019-05-30T07:25:17Z</cp:lastPrinted>
  <dcterms:created xsi:type="dcterms:W3CDTF">2019-05-28T11:51:25Z</dcterms:created>
  <dcterms:modified xsi:type="dcterms:W3CDTF">2025-09-07T01:35:45Z</dcterms:modified>
</cp:coreProperties>
</file>