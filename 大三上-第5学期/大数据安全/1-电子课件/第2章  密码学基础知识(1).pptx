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6" r:id="rId2"/>
    <p:sldId id="257" r:id="rId3"/>
    <p:sldId id="328" r:id="rId4"/>
    <p:sldId id="315" r:id="rId5"/>
    <p:sldId id="316" r:id="rId6"/>
    <p:sldId id="317" r:id="rId7"/>
    <p:sldId id="329" r:id="rId8"/>
    <p:sldId id="330" r:id="rId9"/>
    <p:sldId id="331" r:id="rId10"/>
    <p:sldId id="332" r:id="rId11"/>
    <p:sldId id="333" r:id="rId12"/>
    <p:sldId id="334" r:id="rId13"/>
    <p:sldId id="335" r:id="rId14"/>
    <p:sldId id="336" r:id="rId15"/>
    <p:sldId id="337" r:id="rId16"/>
    <p:sldId id="338" r:id="rId17"/>
    <p:sldId id="339" r:id="rId18"/>
    <p:sldId id="340" r:id="rId19"/>
    <p:sldId id="341" r:id="rId20"/>
    <p:sldId id="342" r:id="rId21"/>
    <p:sldId id="343" r:id="rId22"/>
    <p:sldId id="344" r:id="rId23"/>
    <p:sldId id="345" r:id="rId24"/>
    <p:sldId id="347" r:id="rId25"/>
    <p:sldId id="346" r:id="rId26"/>
    <p:sldId id="348" r:id="rId27"/>
    <p:sldId id="349" r:id="rId28"/>
    <p:sldId id="350" r:id="rId29"/>
    <p:sldId id="352" r:id="rId30"/>
    <p:sldId id="351" r:id="rId31"/>
    <p:sldId id="353" r:id="rId32"/>
    <p:sldId id="355" r:id="rId33"/>
    <p:sldId id="357" r:id="rId34"/>
    <p:sldId id="356" r:id="rId35"/>
    <p:sldId id="354" r:id="rId36"/>
    <p:sldId id="358" r:id="rId37"/>
    <p:sldId id="318" r:id="rId38"/>
    <p:sldId id="309" r:id="rId39"/>
  </p:sldIdLst>
  <p:sldSz cx="12192000" cy="6858000"/>
  <p:notesSz cx="6797675" cy="9926638"/>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E2CA"/>
    <a:srgbClr val="DDF3EA"/>
    <a:srgbClr val="D5ECF7"/>
    <a:srgbClr val="B2F0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91" autoAdjust="0"/>
    <p:restoredTop sz="86896" autoAdjust="0"/>
  </p:normalViewPr>
  <p:slideViewPr>
    <p:cSldViewPr snapToGrid="0">
      <p:cViewPr varScale="1">
        <p:scale>
          <a:sx n="96" d="100"/>
          <a:sy n="96" d="100"/>
        </p:scale>
        <p:origin x="13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1C832037-4A49-4415-832B-B2AFC6447A04}" type="datetimeFigureOut">
              <a:rPr lang="zh-CN" altLang="en-US" smtClean="0"/>
              <a:t>2025/9/6</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9683F9F3-619C-4ECD-A17C-F9C2275B028F}" type="slidenum">
              <a:rPr lang="zh-CN" altLang="en-US" smtClean="0"/>
              <a:t>‹#›</a:t>
            </a:fld>
            <a:endParaRPr lang="zh-CN" altLang="en-US"/>
          </a:p>
        </p:txBody>
      </p:sp>
    </p:spTree>
    <p:extLst>
      <p:ext uri="{BB962C8B-B14F-4D97-AF65-F5344CB8AC3E}">
        <p14:creationId xmlns:p14="http://schemas.microsoft.com/office/powerpoint/2010/main" val="4286556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83F9F3-619C-4ECD-A17C-F9C2275B028F}" type="slidenum">
              <a:rPr lang="zh-CN" altLang="en-US" smtClean="0"/>
              <a:t>5</a:t>
            </a:fld>
            <a:endParaRPr lang="zh-CN" altLang="en-US"/>
          </a:p>
        </p:txBody>
      </p:sp>
    </p:spTree>
    <p:extLst>
      <p:ext uri="{BB962C8B-B14F-4D97-AF65-F5344CB8AC3E}">
        <p14:creationId xmlns:p14="http://schemas.microsoft.com/office/powerpoint/2010/main" val="40803912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83F9F3-619C-4ECD-A17C-F9C2275B028F}" type="slidenum">
              <a:rPr lang="zh-CN" altLang="en-US" smtClean="0"/>
              <a:t>29</a:t>
            </a:fld>
            <a:endParaRPr lang="zh-CN" altLang="en-US"/>
          </a:p>
        </p:txBody>
      </p:sp>
    </p:spTree>
    <p:extLst>
      <p:ext uri="{BB962C8B-B14F-4D97-AF65-F5344CB8AC3E}">
        <p14:creationId xmlns:p14="http://schemas.microsoft.com/office/powerpoint/2010/main" val="41570059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gradFill flip="none" rotWithShape="1">
          <a:gsLst>
            <a:gs pos="0">
              <a:srgbClr val="002060"/>
            </a:gs>
            <a:gs pos="50000">
              <a:srgbClr val="00577B"/>
            </a:gs>
            <a:gs pos="100000">
              <a:srgbClr val="002060"/>
            </a:gs>
          </a:gsLst>
          <a:lin ang="5400000" scaled="0"/>
          <a:tileRect/>
        </a:gradFill>
        <a:effectLst/>
      </p:bgPr>
    </p:bg>
    <p:spTree>
      <p:nvGrpSpPr>
        <p:cNvPr id="1" name=""/>
        <p:cNvGrpSpPr/>
        <p:nvPr/>
      </p:nvGrpSpPr>
      <p:grpSpPr>
        <a:xfrm>
          <a:off x="0" y="0"/>
          <a:ext cx="0" cy="0"/>
          <a:chOff x="0" y="0"/>
          <a:chExt cx="0" cy="0"/>
        </a:xfrm>
      </p:grpSpPr>
      <p:sp>
        <p:nvSpPr>
          <p:cNvPr id="18460" name="Rectangle 28"/>
          <p:cNvSpPr>
            <a:spLocks noGrp="1" noChangeArrowheads="1"/>
          </p:cNvSpPr>
          <p:nvPr>
            <p:ph type="ctrTitle"/>
          </p:nvPr>
        </p:nvSpPr>
        <p:spPr>
          <a:xfrm>
            <a:off x="398457" y="1722476"/>
            <a:ext cx="11419479" cy="1758356"/>
          </a:xfrm>
          <a:prstGeom prst="rect">
            <a:avLst/>
          </a:prstGeom>
        </p:spPr>
        <p:txBody>
          <a:bodyPr anchor="ctr"/>
          <a:lstStyle>
            <a:lvl1pPr algn="ctr">
              <a:defRPr sz="4400" b="1">
                <a:solidFill>
                  <a:schemeClr val="bg1"/>
                </a:solidFill>
                <a:latin typeface="Arial" panose="020B0604020202020204" pitchFamily="34" charset="0"/>
                <a:ea typeface="黑体" panose="02010609060101010101" pitchFamily="49" charset="-122"/>
                <a:cs typeface="Arial" panose="020B0604020202020204" pitchFamily="34" charset="0"/>
              </a:defRPr>
            </a:lvl1pPr>
          </a:lstStyle>
          <a:p>
            <a:r>
              <a:rPr lang="zh-CN" altLang="en-US"/>
              <a:t>单击此处编辑母版标题样式</a:t>
            </a:r>
            <a:endParaRPr lang="zh-CN" altLang="en-US" dirty="0"/>
          </a:p>
        </p:txBody>
      </p:sp>
      <p:sp>
        <p:nvSpPr>
          <p:cNvPr id="18461" name="Rectangle 29"/>
          <p:cNvSpPr>
            <a:spLocks noGrp="1" noChangeArrowheads="1"/>
          </p:cNvSpPr>
          <p:nvPr>
            <p:ph type="subTitle" idx="1"/>
          </p:nvPr>
        </p:nvSpPr>
        <p:spPr>
          <a:xfrm>
            <a:off x="3252374" y="4627597"/>
            <a:ext cx="5689600" cy="762000"/>
          </a:xfrm>
          <a:prstGeom prst="rect">
            <a:avLst/>
          </a:prstGeom>
        </p:spPr>
        <p:txBody>
          <a:bodyPr/>
          <a:lstStyle>
            <a:lvl1pPr marL="0" indent="0" algn="ctr">
              <a:buFontTx/>
              <a:buNone/>
              <a:defRPr>
                <a:solidFill>
                  <a:schemeClr val="bg1"/>
                </a:solidFill>
                <a:latin typeface="Arial" panose="020B0604020202020204" pitchFamily="34" charset="0"/>
                <a:ea typeface="黑体" panose="02010609060101010101" pitchFamily="49" charset="-122"/>
                <a:cs typeface="Arial" panose="020B0604020202020204" pitchFamily="34" charset="0"/>
              </a:defRPr>
            </a:lvl1pPr>
          </a:lstStyle>
          <a:p>
            <a:r>
              <a:rPr lang="zh-CN" altLang="en-US"/>
              <a:t>单击以编辑母版副标题样式</a:t>
            </a:r>
            <a:endParaRPr lang="zh-CN" altLang="en-US" dirty="0"/>
          </a:p>
        </p:txBody>
      </p:sp>
      <p:grpSp>
        <p:nvGrpSpPr>
          <p:cNvPr id="32" name="Group 68"/>
          <p:cNvGrpSpPr/>
          <p:nvPr/>
        </p:nvGrpSpPr>
        <p:grpSpPr>
          <a:xfrm>
            <a:off x="398451" y="1526023"/>
            <a:ext cx="11420820" cy="2098525"/>
            <a:chOff x="383249" y="1567586"/>
            <a:chExt cx="6803935" cy="1936642"/>
          </a:xfrm>
        </p:grpSpPr>
        <p:cxnSp>
          <p:nvCxnSpPr>
            <p:cNvPr id="33" name="Straight Connector 69"/>
            <p:cNvCxnSpPr/>
            <p:nvPr/>
          </p:nvCxnSpPr>
          <p:spPr>
            <a:xfrm>
              <a:off x="383249" y="1567586"/>
              <a:ext cx="6803136" cy="0"/>
            </a:xfrm>
            <a:prstGeom prst="line">
              <a:avLst/>
            </a:prstGeom>
            <a:ln w="476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70"/>
            <p:cNvCxnSpPr/>
            <p:nvPr/>
          </p:nvCxnSpPr>
          <p:spPr>
            <a:xfrm>
              <a:off x="384048" y="3504228"/>
              <a:ext cx="680313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2930" y="359110"/>
            <a:ext cx="3408737" cy="1023198"/>
          </a:xfrm>
          <a:prstGeom prst="rect">
            <a:avLst/>
          </a:prstGeom>
        </p:spPr>
      </p:pic>
    </p:spTree>
    <p:extLst>
      <p:ext uri="{BB962C8B-B14F-4D97-AF65-F5344CB8AC3E}">
        <p14:creationId xmlns:p14="http://schemas.microsoft.com/office/powerpoint/2010/main" val="6760111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10" name="Rectangle 9"/>
          <p:cNvSpPr>
            <a:spLocks noChangeArrowheads="1"/>
          </p:cNvSpPr>
          <p:nvPr/>
        </p:nvSpPr>
        <p:spPr bwMode="auto">
          <a:xfrm>
            <a:off x="812800" y="0"/>
            <a:ext cx="11379200" cy="6858000"/>
          </a:xfrm>
          <a:prstGeom prst="rect">
            <a:avLst/>
          </a:prstGeom>
          <a:solidFill>
            <a:schemeClr val="bg1"/>
          </a:solidFill>
          <a:ln w="9525">
            <a:noFill/>
            <a:miter lim="800000"/>
            <a:headEnd/>
            <a:tailEnd/>
          </a:ln>
        </p:spPr>
        <p:txBody>
          <a:bodyPr wrap="none" anchor="ctr"/>
          <a:lstStyle/>
          <a:p>
            <a:pPr algn="ctr">
              <a:defRPr/>
            </a:pPr>
            <a:endParaRPr lang="zh-CN" altLang="en-US" sz="1350" b="0">
              <a:latin typeface="Arial" charset="0"/>
            </a:endParaRPr>
          </a:p>
        </p:txBody>
      </p:sp>
      <p:sp>
        <p:nvSpPr>
          <p:cNvPr id="11" name="Rectangle 17"/>
          <p:cNvSpPr>
            <a:spLocks noGrp="1" noChangeArrowheads="1"/>
          </p:cNvSpPr>
          <p:nvPr>
            <p:ph idx="1"/>
          </p:nvPr>
        </p:nvSpPr>
        <p:spPr bwMode="auto">
          <a:xfrm>
            <a:off x="371301" y="1232705"/>
            <a:ext cx="11464528" cy="5047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20204" pitchFamily="34" charset="0"/>
              </a:defRPr>
            </a:lvl1pPr>
            <a:lvl2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20204" pitchFamily="34" charset="0"/>
              </a:defRPr>
            </a:lvl2pPr>
            <a:lvl3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20204" pitchFamily="34" charset="0"/>
              </a:defRPr>
            </a:lvl3pPr>
            <a:lvl4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20204" pitchFamily="34" charset="0"/>
              </a:defRPr>
            </a:lvl4pPr>
          </a:lstStyle>
          <a:p>
            <a:pPr lvl="0"/>
            <a:r>
              <a:rPr lang="zh-CN" altLang="en-US"/>
              <a:t>编辑母版文本样式</a:t>
            </a:r>
          </a:p>
          <a:p>
            <a:pPr lvl="1"/>
            <a:r>
              <a:rPr lang="zh-CN" altLang="en-US"/>
              <a:t>第二级</a:t>
            </a:r>
          </a:p>
          <a:p>
            <a:pPr lvl="2"/>
            <a:r>
              <a:rPr lang="zh-CN" altLang="en-US"/>
              <a:t>第三级</a:t>
            </a:r>
          </a:p>
          <a:p>
            <a:pPr lvl="3"/>
            <a:r>
              <a:rPr lang="zh-CN" altLang="en-US"/>
              <a:t>第四级</a:t>
            </a:r>
          </a:p>
        </p:txBody>
      </p:sp>
      <p:sp>
        <p:nvSpPr>
          <p:cNvPr id="12" name="Rectangle 18"/>
          <p:cNvSpPr>
            <a:spLocks noGrp="1" noChangeArrowheads="1"/>
          </p:cNvSpPr>
          <p:nvPr>
            <p:ph type="dt" sz="half" idx="2"/>
          </p:nvPr>
        </p:nvSpPr>
        <p:spPr bwMode="auto">
          <a:xfrm>
            <a:off x="371301" y="64008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100" b="0">
                <a:latin typeface="Times New Roman" panose="02020603050405020304" pitchFamily="18" charset="0"/>
                <a:ea typeface="黑体" panose="02010609060101010101" pitchFamily="49" charset="-122"/>
                <a:cs typeface="Times New Roman" panose="02020603050405020304" pitchFamily="18" charset="0"/>
              </a:defRPr>
            </a:lvl1pPr>
          </a:lstStyle>
          <a:p>
            <a:fld id="{F5FD63C8-53BE-4D22-844B-8317250BA1AB}" type="datetime1">
              <a:rPr lang="zh-CN" altLang="en-US" smtClean="0"/>
              <a:t>2025/9/6</a:t>
            </a:fld>
            <a:endParaRPr lang="zh-CN" altLang="en-US"/>
          </a:p>
        </p:txBody>
      </p:sp>
      <p:sp>
        <p:nvSpPr>
          <p:cNvPr id="13" name="Rectangle 19"/>
          <p:cNvSpPr>
            <a:spLocks noGrp="1" noChangeArrowheads="1"/>
          </p:cNvSpPr>
          <p:nvPr>
            <p:ph type="ftr" sz="quarter" idx="3"/>
          </p:nvPr>
        </p:nvSpPr>
        <p:spPr bwMode="auto">
          <a:xfrm>
            <a:off x="4132349" y="64008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100" b="0">
                <a:latin typeface="+mn-lt"/>
                <a:ea typeface="黑体" panose="02010609060101010101" pitchFamily="49" charset="-122"/>
                <a:cs typeface="Arial" panose="020B0604020202020204" pitchFamily="34" charset="0"/>
              </a:defRPr>
            </a:lvl1pPr>
          </a:lstStyle>
          <a:p>
            <a:endParaRPr lang="zh-CN" altLang="en-US"/>
          </a:p>
        </p:txBody>
      </p:sp>
      <p:sp>
        <p:nvSpPr>
          <p:cNvPr id="14" name="Rectangle 20"/>
          <p:cNvSpPr>
            <a:spLocks noGrp="1" noChangeArrowheads="1"/>
          </p:cNvSpPr>
          <p:nvPr>
            <p:ph type="sldNum" sz="quarter" idx="4"/>
          </p:nvPr>
        </p:nvSpPr>
        <p:spPr bwMode="auto">
          <a:xfrm>
            <a:off x="9303940" y="64008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100" b="0">
                <a:latin typeface="Times New Roman" panose="02020603050405020304" pitchFamily="18" charset="0"/>
                <a:ea typeface="黑体" panose="02010609060101010101" pitchFamily="49" charset="-122"/>
                <a:cs typeface="Times New Roman" panose="02020603050405020304" pitchFamily="18" charset="0"/>
              </a:defRPr>
            </a:lvl1pPr>
          </a:lstStyle>
          <a:p>
            <a:fld id="{4124EDF5-87F7-4AC5-8292-B04417157FC2}" type="slidenum">
              <a:rPr lang="zh-CN" altLang="en-US" smtClean="0"/>
              <a:t>‹#›</a:t>
            </a:fld>
            <a:endParaRPr lang="zh-CN" altLang="en-US"/>
          </a:p>
        </p:txBody>
      </p:sp>
      <p:sp>
        <p:nvSpPr>
          <p:cNvPr id="15" name="Rectangle 25"/>
          <p:cNvSpPr>
            <a:spLocks noGrp="1" noChangeArrowheads="1"/>
          </p:cNvSpPr>
          <p:nvPr>
            <p:ph type="title"/>
          </p:nvPr>
        </p:nvSpPr>
        <p:spPr bwMode="auto">
          <a:xfrm>
            <a:off x="371303" y="115888"/>
            <a:ext cx="10609810"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zh-CN" altLang="en-US" dirty="0"/>
          </a:p>
        </p:txBody>
      </p:sp>
      <p:cxnSp>
        <p:nvCxnSpPr>
          <p:cNvPr id="16" name="Straight Connector 9"/>
          <p:cNvCxnSpPr/>
          <p:nvPr/>
        </p:nvCxnSpPr>
        <p:spPr>
          <a:xfrm>
            <a:off x="0" y="1111652"/>
            <a:ext cx="12192000" cy="0"/>
          </a:xfrm>
          <a:prstGeom prst="line">
            <a:avLst/>
          </a:prstGeom>
          <a:ln w="47625">
            <a:gradFill flip="none" rotWithShape="1">
              <a:gsLst>
                <a:gs pos="100000">
                  <a:srgbClr val="004274"/>
                </a:gs>
                <a:gs pos="0">
                  <a:srgbClr val="008E95"/>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17" name="图片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29221" y="57944"/>
            <a:ext cx="990599" cy="990599"/>
          </a:xfrm>
          <a:prstGeom prst="rect">
            <a:avLst/>
          </a:prstGeom>
        </p:spPr>
      </p:pic>
    </p:spTree>
    <p:extLst>
      <p:ext uri="{BB962C8B-B14F-4D97-AF65-F5344CB8AC3E}">
        <p14:creationId xmlns:p14="http://schemas.microsoft.com/office/powerpoint/2010/main" val="33328286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2" name="Rectangle 9"/>
          <p:cNvSpPr>
            <a:spLocks noChangeArrowheads="1"/>
          </p:cNvSpPr>
          <p:nvPr/>
        </p:nvSpPr>
        <p:spPr bwMode="auto">
          <a:xfrm>
            <a:off x="812800" y="0"/>
            <a:ext cx="11379200" cy="6858000"/>
          </a:xfrm>
          <a:prstGeom prst="rect">
            <a:avLst/>
          </a:prstGeom>
          <a:solidFill>
            <a:schemeClr val="bg1"/>
          </a:solidFill>
          <a:ln w="9525">
            <a:noFill/>
            <a:miter lim="800000"/>
            <a:headEnd/>
            <a:tailEnd/>
          </a:ln>
        </p:spPr>
        <p:txBody>
          <a:bodyPr wrap="none" anchor="ctr"/>
          <a:lstStyle/>
          <a:p>
            <a:pPr algn="ctr">
              <a:defRPr/>
            </a:pPr>
            <a:endParaRPr lang="zh-CN" altLang="en-US" sz="1350" b="0">
              <a:latin typeface="Arial" charset="0"/>
            </a:endParaRPr>
          </a:p>
        </p:txBody>
      </p:sp>
      <p:sp>
        <p:nvSpPr>
          <p:cNvPr id="13" name="Rectangle 17"/>
          <p:cNvSpPr txBox="1">
            <a:spLocks noChangeArrowheads="1"/>
          </p:cNvSpPr>
          <p:nvPr/>
        </p:nvSpPr>
        <p:spPr bwMode="auto">
          <a:xfrm>
            <a:off x="371301" y="1232705"/>
            <a:ext cx="11464528" cy="5047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57175" indent="-257175" algn="just" rtl="0" eaLnBrk="1" fontAlgn="base" hangingPunct="1">
              <a:spcBef>
                <a:spcPct val="20000"/>
              </a:spcBef>
              <a:spcAft>
                <a:spcPct val="0"/>
              </a:spcAft>
              <a:buClr>
                <a:srgbClr val="FF9933"/>
              </a:buClr>
              <a:buChar char="•"/>
              <a:defRPr kumimoji="1" sz="2400">
                <a:solidFill>
                  <a:schemeClr val="tx1"/>
                </a:solidFill>
                <a:latin typeface="+mn-lt"/>
                <a:ea typeface="+mn-ea"/>
                <a:cs typeface="Times New Roman" panose="02020603050405020304" pitchFamily="18" charset="0"/>
              </a:defRPr>
            </a:lvl1pPr>
            <a:lvl2pPr marL="557213" indent="-214313" algn="just" rtl="0" eaLnBrk="1" fontAlgn="base" hangingPunct="1">
              <a:spcBef>
                <a:spcPct val="20000"/>
              </a:spcBef>
              <a:spcAft>
                <a:spcPct val="0"/>
              </a:spcAft>
              <a:buClr>
                <a:srgbClr val="FF9933"/>
              </a:buClr>
              <a:buChar char="–"/>
              <a:defRPr kumimoji="1" sz="2100">
                <a:solidFill>
                  <a:schemeClr val="tx1"/>
                </a:solidFill>
                <a:latin typeface="Times New Roman" panose="02020603050405020304" pitchFamily="18" charset="0"/>
                <a:ea typeface="+mn-ea"/>
                <a:cs typeface="Times New Roman" panose="02020603050405020304" pitchFamily="18" charset="0"/>
              </a:defRPr>
            </a:lvl2pPr>
            <a:lvl3pPr marL="857250" indent="-171450" algn="just" rtl="0" eaLnBrk="1" fontAlgn="base" hangingPunct="1">
              <a:spcBef>
                <a:spcPct val="20000"/>
              </a:spcBef>
              <a:spcAft>
                <a:spcPct val="0"/>
              </a:spcAft>
              <a:buClr>
                <a:srgbClr val="FF9933"/>
              </a:buClr>
              <a:buChar char="•"/>
              <a:defRPr kumimoji="1" sz="1800">
                <a:solidFill>
                  <a:schemeClr val="tx1"/>
                </a:solidFill>
                <a:latin typeface="Times New Roman" panose="02020603050405020304" pitchFamily="18" charset="0"/>
                <a:ea typeface="+mn-ea"/>
                <a:cs typeface="Times New Roman" panose="02020603050405020304" pitchFamily="18" charset="0"/>
              </a:defRPr>
            </a:lvl3pPr>
            <a:lvl4pPr marL="1200150" indent="-171450" algn="just" rtl="0" eaLnBrk="1" fontAlgn="base" hangingPunct="1">
              <a:spcBef>
                <a:spcPct val="20000"/>
              </a:spcBef>
              <a:spcAft>
                <a:spcPct val="0"/>
              </a:spcAft>
              <a:buClr>
                <a:srgbClr val="FF9933"/>
              </a:buClr>
              <a:buChar char="–"/>
              <a:defRPr kumimoji="1" sz="1500">
                <a:solidFill>
                  <a:schemeClr val="tx1"/>
                </a:solidFill>
                <a:latin typeface="Times New Roman" panose="02020603050405020304" pitchFamily="18" charset="0"/>
                <a:ea typeface="+mn-ea"/>
                <a:cs typeface="Times New Roman" panose="02020603050405020304" pitchFamily="18" charset="0"/>
              </a:defRPr>
            </a:lvl4pPr>
            <a:lvl5pPr marL="1543050" indent="-171450" algn="just" rtl="0" eaLnBrk="1" fontAlgn="base" hangingPunct="1">
              <a:spcBef>
                <a:spcPct val="20000"/>
              </a:spcBef>
              <a:spcAft>
                <a:spcPct val="0"/>
              </a:spcAft>
              <a:buChar char="»"/>
              <a:defRPr kumimoji="1" sz="1500">
                <a:solidFill>
                  <a:schemeClr val="tx1"/>
                </a:solidFill>
                <a:latin typeface="Times New Roman" panose="02020603050405020304" pitchFamily="18" charset="0"/>
                <a:ea typeface="+mn-ea"/>
                <a:cs typeface="Times New Roman" panose="02020603050405020304" pitchFamily="18"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zh-CN" altLang="en-US" sz="2400" kern="0" dirty="0">
                <a:latin typeface="+mn-lt"/>
              </a:rPr>
              <a:t>编辑母版文本样式</a:t>
            </a:r>
          </a:p>
          <a:p>
            <a:pPr lvl="1"/>
            <a:r>
              <a:rPr lang="zh-CN" altLang="en-US" sz="2100" kern="0" dirty="0">
                <a:latin typeface="+mn-lt"/>
              </a:rPr>
              <a:t>第二级</a:t>
            </a:r>
          </a:p>
          <a:p>
            <a:pPr lvl="2"/>
            <a:r>
              <a:rPr lang="zh-CN" altLang="en-US" sz="1800" kern="0" dirty="0">
                <a:latin typeface="+mn-lt"/>
              </a:rPr>
              <a:t>第三级</a:t>
            </a:r>
          </a:p>
          <a:p>
            <a:pPr lvl="3"/>
            <a:r>
              <a:rPr lang="zh-CN" altLang="en-US" sz="1500" kern="0" dirty="0">
                <a:latin typeface="+mn-lt"/>
              </a:rPr>
              <a:t>第四级</a:t>
            </a:r>
          </a:p>
        </p:txBody>
      </p:sp>
      <p:sp>
        <p:nvSpPr>
          <p:cNvPr id="14" name="Rectangle 18"/>
          <p:cNvSpPr>
            <a:spLocks noGrp="1" noChangeArrowheads="1"/>
          </p:cNvSpPr>
          <p:nvPr>
            <p:ph type="dt" sz="half" idx="2"/>
          </p:nvPr>
        </p:nvSpPr>
        <p:spPr bwMode="auto">
          <a:xfrm>
            <a:off x="371301" y="64008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100" b="0">
                <a:latin typeface="Times New Roman" panose="02020603050405020304" pitchFamily="18" charset="0"/>
                <a:ea typeface="黑体" panose="02010609060101010101" pitchFamily="49" charset="-122"/>
                <a:cs typeface="Times New Roman" panose="02020603050405020304" pitchFamily="18" charset="0"/>
              </a:defRPr>
            </a:lvl1pPr>
          </a:lstStyle>
          <a:p>
            <a:fld id="{4C234528-C7A7-48E8-BE96-15E7A6625678}" type="datetime1">
              <a:rPr lang="zh-CN" altLang="en-US" smtClean="0"/>
              <a:t>2025/9/6</a:t>
            </a:fld>
            <a:endParaRPr lang="zh-CN" altLang="en-US"/>
          </a:p>
        </p:txBody>
      </p:sp>
      <p:sp>
        <p:nvSpPr>
          <p:cNvPr id="15" name="Rectangle 19"/>
          <p:cNvSpPr>
            <a:spLocks noGrp="1" noChangeArrowheads="1"/>
          </p:cNvSpPr>
          <p:nvPr>
            <p:ph type="ftr" sz="quarter" idx="3"/>
          </p:nvPr>
        </p:nvSpPr>
        <p:spPr bwMode="auto">
          <a:xfrm>
            <a:off x="4132349" y="64008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100" b="0">
                <a:latin typeface="Times New Roman" panose="02020603050405020304" pitchFamily="18" charset="0"/>
                <a:ea typeface="黑体" panose="02010609060101010101" pitchFamily="49" charset="-122"/>
                <a:cs typeface="Times New Roman" panose="02020603050405020304" pitchFamily="18" charset="0"/>
              </a:defRPr>
            </a:lvl1pPr>
          </a:lstStyle>
          <a:p>
            <a:endParaRPr lang="zh-CN" altLang="en-US"/>
          </a:p>
        </p:txBody>
      </p:sp>
      <p:sp>
        <p:nvSpPr>
          <p:cNvPr id="16" name="Rectangle 20"/>
          <p:cNvSpPr>
            <a:spLocks noGrp="1" noChangeArrowheads="1"/>
          </p:cNvSpPr>
          <p:nvPr>
            <p:ph type="sldNum" sz="quarter" idx="4"/>
          </p:nvPr>
        </p:nvSpPr>
        <p:spPr bwMode="auto">
          <a:xfrm>
            <a:off x="9303940" y="64008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100" b="0">
                <a:latin typeface="Times New Roman" panose="02020603050405020304" pitchFamily="18" charset="0"/>
                <a:ea typeface="黑体" panose="02010609060101010101" pitchFamily="49" charset="-122"/>
                <a:cs typeface="Times New Roman" panose="02020603050405020304" pitchFamily="18" charset="0"/>
              </a:defRPr>
            </a:lvl1pPr>
          </a:lstStyle>
          <a:p>
            <a:fld id="{4124EDF5-87F7-4AC5-8292-B04417157FC2}" type="slidenum">
              <a:rPr lang="zh-CN" altLang="en-US" smtClean="0"/>
              <a:t>‹#›</a:t>
            </a:fld>
            <a:endParaRPr lang="zh-CN" altLang="en-US"/>
          </a:p>
        </p:txBody>
      </p:sp>
      <p:sp>
        <p:nvSpPr>
          <p:cNvPr id="17" name="Rectangle 25"/>
          <p:cNvSpPr txBox="1">
            <a:spLocks noChangeArrowheads="1"/>
          </p:cNvSpPr>
          <p:nvPr/>
        </p:nvSpPr>
        <p:spPr bwMode="auto">
          <a:xfrm>
            <a:off x="371303" y="115888"/>
            <a:ext cx="10618122"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kumimoji="1" sz="2800" b="1">
                <a:solidFill>
                  <a:srgbClr val="003366"/>
                </a:solidFill>
                <a:latin typeface="Arial" panose="020B0604020202020204" pitchFamily="34" charset="0"/>
                <a:ea typeface="黑体" panose="02010609060101010101" pitchFamily="49" charset="-122"/>
                <a:cs typeface="Arial" panose="020B0604020202020204" pitchFamily="34" charset="0"/>
              </a:defRPr>
            </a:lvl1pPr>
            <a:lvl2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2pPr>
            <a:lvl3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3pPr>
            <a:lvl4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4pPr>
            <a:lvl5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5pPr>
            <a:lvl6pPr marL="3429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6pPr>
            <a:lvl7pPr marL="6858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7pPr>
            <a:lvl8pPr marL="10287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8pPr>
            <a:lvl9pPr marL="13716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9pPr>
          </a:lstStyle>
          <a:p>
            <a:r>
              <a:rPr lang="zh-CN" altLang="en-US" sz="2800" kern="0" dirty="0"/>
              <a:t>单击此处编辑母版标题样式</a:t>
            </a:r>
          </a:p>
        </p:txBody>
      </p:sp>
      <p:cxnSp>
        <p:nvCxnSpPr>
          <p:cNvPr id="18" name="Straight Connector 9"/>
          <p:cNvCxnSpPr/>
          <p:nvPr/>
        </p:nvCxnSpPr>
        <p:spPr>
          <a:xfrm>
            <a:off x="0" y="1111652"/>
            <a:ext cx="12192000" cy="0"/>
          </a:xfrm>
          <a:prstGeom prst="line">
            <a:avLst/>
          </a:prstGeom>
          <a:ln w="47625">
            <a:gradFill flip="none" rotWithShape="1">
              <a:gsLst>
                <a:gs pos="100000">
                  <a:srgbClr val="004274"/>
                </a:gs>
                <a:gs pos="0">
                  <a:srgbClr val="008E95"/>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129221" y="57944"/>
            <a:ext cx="990599" cy="990599"/>
          </a:xfrm>
          <a:prstGeom prst="rect">
            <a:avLst/>
          </a:prstGeom>
        </p:spPr>
      </p:pic>
    </p:spTree>
    <p:extLst>
      <p:ext uri="{BB962C8B-B14F-4D97-AF65-F5344CB8AC3E}">
        <p14:creationId xmlns:p14="http://schemas.microsoft.com/office/powerpoint/2010/main" val="3325630893"/>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ftr="0" dt="0"/>
  <p:txStyles>
    <p:titleStyle>
      <a:lvl1pPr algn="l" rtl="0" eaLnBrk="1" fontAlgn="base" hangingPunct="1">
        <a:spcBef>
          <a:spcPct val="0"/>
        </a:spcBef>
        <a:spcAft>
          <a:spcPct val="0"/>
        </a:spcAft>
        <a:defRPr kumimoji="1" sz="2800" b="1">
          <a:solidFill>
            <a:srgbClr val="003366"/>
          </a:solidFill>
          <a:latin typeface="Arial" panose="020B0604020202020204" pitchFamily="34" charset="0"/>
          <a:ea typeface="黑体" panose="02010609060101010101" pitchFamily="49" charset="-122"/>
          <a:cs typeface="Arial" panose="020B0604020202020204" pitchFamily="34" charset="0"/>
        </a:defRPr>
      </a:lvl1pPr>
      <a:lvl2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2pPr>
      <a:lvl3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3pPr>
      <a:lvl4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4pPr>
      <a:lvl5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5pPr>
      <a:lvl6pPr marL="3429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6pPr>
      <a:lvl7pPr marL="6858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7pPr>
      <a:lvl8pPr marL="10287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8pPr>
      <a:lvl9pPr marL="13716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9pPr>
    </p:titleStyle>
    <p:bodyStyle>
      <a:lvl1pPr marL="257175" indent="-257175" algn="just" rtl="0" eaLnBrk="1" fontAlgn="base" hangingPunct="1">
        <a:spcBef>
          <a:spcPct val="20000"/>
        </a:spcBef>
        <a:spcAft>
          <a:spcPct val="0"/>
        </a:spcAft>
        <a:buChar char="•"/>
        <a:defRPr kumimoji="1" sz="2400">
          <a:solidFill>
            <a:schemeClr val="tx1"/>
          </a:solidFill>
          <a:latin typeface="Times New Roman" panose="02020603050405020304" pitchFamily="18" charset="0"/>
          <a:ea typeface="+mn-ea"/>
          <a:cs typeface="Times New Roman" panose="02020603050405020304" pitchFamily="18" charset="0"/>
        </a:defRPr>
      </a:lvl1pPr>
      <a:lvl2pPr marL="557213" indent="-214313" algn="just" rtl="0" eaLnBrk="1" fontAlgn="base" hangingPunct="1">
        <a:spcBef>
          <a:spcPct val="20000"/>
        </a:spcBef>
        <a:spcAft>
          <a:spcPct val="0"/>
        </a:spcAft>
        <a:buChar char="–"/>
        <a:defRPr kumimoji="1" sz="2100">
          <a:solidFill>
            <a:schemeClr val="tx1"/>
          </a:solidFill>
          <a:latin typeface="Times New Roman" panose="02020603050405020304" pitchFamily="18" charset="0"/>
          <a:ea typeface="+mn-ea"/>
          <a:cs typeface="Times New Roman" panose="02020603050405020304" pitchFamily="18" charset="0"/>
        </a:defRPr>
      </a:lvl2pPr>
      <a:lvl3pPr marL="857250" indent="-171450" algn="just" rtl="0" eaLnBrk="1" fontAlgn="base" hangingPunct="1">
        <a:spcBef>
          <a:spcPct val="20000"/>
        </a:spcBef>
        <a:spcAft>
          <a:spcPct val="0"/>
        </a:spcAft>
        <a:buChar char="•"/>
        <a:defRPr kumimoji="1" sz="1800">
          <a:solidFill>
            <a:schemeClr val="tx1"/>
          </a:solidFill>
          <a:latin typeface="Times New Roman" panose="02020603050405020304" pitchFamily="18" charset="0"/>
          <a:ea typeface="+mn-ea"/>
          <a:cs typeface="Times New Roman" panose="02020603050405020304" pitchFamily="18" charset="0"/>
        </a:defRPr>
      </a:lvl3pPr>
      <a:lvl4pPr marL="1200150" indent="-171450" algn="just" rtl="0" eaLnBrk="1" fontAlgn="base" hangingPunct="1">
        <a:spcBef>
          <a:spcPct val="20000"/>
        </a:spcBef>
        <a:spcAft>
          <a:spcPct val="0"/>
        </a:spcAft>
        <a:buChar char="–"/>
        <a:defRPr kumimoji="1" sz="1500">
          <a:solidFill>
            <a:schemeClr val="tx1"/>
          </a:solidFill>
          <a:latin typeface="Times New Roman" panose="02020603050405020304" pitchFamily="18" charset="0"/>
          <a:ea typeface="+mn-ea"/>
          <a:cs typeface="Times New Roman" panose="02020603050405020304" pitchFamily="18" charset="0"/>
        </a:defRPr>
      </a:lvl4pPr>
      <a:lvl5pPr marL="1543050" indent="-171450" algn="just" rtl="0" eaLnBrk="1" fontAlgn="base" hangingPunct="1">
        <a:spcBef>
          <a:spcPct val="20000"/>
        </a:spcBef>
        <a:spcAft>
          <a:spcPct val="0"/>
        </a:spcAft>
        <a:buChar char="»"/>
        <a:defRPr kumimoji="1" sz="1500">
          <a:solidFill>
            <a:schemeClr val="tx1"/>
          </a:solidFill>
          <a:latin typeface="Times New Roman" panose="02020603050405020304" pitchFamily="18" charset="0"/>
          <a:ea typeface="+mn-ea"/>
          <a:cs typeface="Times New Roman" panose="02020603050405020304" pitchFamily="18"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大数据安全与隐私保护</a:t>
            </a:r>
          </a:p>
        </p:txBody>
      </p:sp>
      <p:sp>
        <p:nvSpPr>
          <p:cNvPr id="3" name="副标题 2"/>
          <p:cNvSpPr>
            <a:spLocks noGrp="1"/>
          </p:cNvSpPr>
          <p:nvPr>
            <p:ph type="subTitle" idx="1"/>
          </p:nvPr>
        </p:nvSpPr>
        <p:spPr/>
        <p:txBody>
          <a:bodyPr/>
          <a:lstStyle/>
          <a:p>
            <a:r>
              <a:rPr lang="zh-CN" altLang="en-US" sz="3200" dirty="0">
                <a:latin typeface="微软雅黑" panose="020B0503020204020204" pitchFamily="34" charset="-122"/>
                <a:ea typeface="微软雅黑" panose="020B0503020204020204" pitchFamily="34" charset="-122"/>
              </a:rPr>
              <a:t>石瑞生</a:t>
            </a:r>
            <a:endParaRPr lang="en-US" altLang="zh-CN" sz="3200" dirty="0">
              <a:latin typeface="微软雅黑" panose="020B0503020204020204" pitchFamily="34" charset="-122"/>
              <a:ea typeface="微软雅黑" panose="020B0503020204020204" pitchFamily="34" charset="-122"/>
            </a:endParaRPr>
          </a:p>
          <a:p>
            <a:r>
              <a:rPr lang="zh-CN" altLang="en-US" sz="3200" dirty="0">
                <a:latin typeface="微软雅黑" panose="020B0503020204020204" pitchFamily="34" charset="-122"/>
                <a:ea typeface="微软雅黑" panose="020B0503020204020204" pitchFamily="34" charset="-122"/>
              </a:rPr>
              <a:t>网络空间安全学院</a:t>
            </a:r>
            <a:endParaRPr lang="en-US" altLang="zh-CN" sz="3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129941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defRPr/>
            </a:pPr>
            <a:r>
              <a:rPr lang="en-US" altLang="zh-CN" dirty="0"/>
              <a:t>2.1 </a:t>
            </a:r>
            <a:r>
              <a:rPr lang="zh-CN" altLang="en-US" dirty="0"/>
              <a:t>引言</a:t>
            </a:r>
            <a:endParaRPr lang="en-US" altLang="zh-CN" dirty="0"/>
          </a:p>
          <a:p>
            <a:pPr>
              <a:defRPr/>
            </a:pPr>
            <a:r>
              <a:rPr lang="en-US" altLang="zh-CN" dirty="0"/>
              <a:t>2.2 </a:t>
            </a:r>
            <a:r>
              <a:rPr lang="zh-CN" altLang="en-US" dirty="0"/>
              <a:t>密码算法</a:t>
            </a:r>
            <a:endParaRPr lang="en-US" altLang="zh-CN" dirty="0"/>
          </a:p>
          <a:p>
            <a:pPr>
              <a:defRPr/>
            </a:pPr>
            <a:r>
              <a:rPr lang="zh-CN" altLang="en-US" dirty="0"/>
              <a:t>*</a:t>
            </a:r>
            <a:r>
              <a:rPr lang="en-US" altLang="zh-CN" dirty="0"/>
              <a:t>2.3  </a:t>
            </a:r>
            <a:r>
              <a:rPr lang="zh-CN" altLang="en-US" dirty="0"/>
              <a:t>攻击模型与安全性分析</a:t>
            </a:r>
            <a:endParaRPr lang="en-US" altLang="zh-CN" dirty="0"/>
          </a:p>
          <a:p>
            <a:pPr>
              <a:defRPr/>
            </a:pPr>
            <a:r>
              <a:rPr lang="en-US" altLang="zh-CN" dirty="0"/>
              <a:t>2.4  </a:t>
            </a:r>
            <a:r>
              <a:rPr lang="zh-CN" altLang="en-US" dirty="0"/>
              <a:t>后量子密码</a:t>
            </a:r>
            <a:endParaRPr lang="en-US" altLang="zh-CN" dirty="0"/>
          </a:p>
          <a:p>
            <a:pPr>
              <a:defRPr/>
            </a:pPr>
            <a:endParaRPr lang="en-US" altLang="zh-CN" dirty="0"/>
          </a:p>
        </p:txBody>
      </p:sp>
      <p:sp>
        <p:nvSpPr>
          <p:cNvPr id="3" name="灯片编号占位符 2"/>
          <p:cNvSpPr>
            <a:spLocks noGrp="1"/>
          </p:cNvSpPr>
          <p:nvPr>
            <p:ph type="sldNum" sz="quarter" idx="4"/>
          </p:nvPr>
        </p:nvSpPr>
        <p:spPr/>
        <p:txBody>
          <a:bodyPr/>
          <a:lstStyle/>
          <a:p>
            <a:fld id="{4124EDF5-87F7-4AC5-8292-B04417157FC2}" type="slidenum">
              <a:rPr lang="zh-CN" altLang="en-US" smtClean="0"/>
              <a:t>2</a:t>
            </a:fld>
            <a:endParaRPr lang="zh-CN" altLang="en-US"/>
          </a:p>
        </p:txBody>
      </p:sp>
      <p:sp>
        <p:nvSpPr>
          <p:cNvPr id="4" name="标题 3"/>
          <p:cNvSpPr>
            <a:spLocks noGrp="1"/>
          </p:cNvSpPr>
          <p:nvPr>
            <p:ph type="title"/>
          </p:nvPr>
        </p:nvSpPr>
        <p:spPr/>
        <p:txBody>
          <a:bodyPr/>
          <a:lstStyle/>
          <a:p>
            <a:r>
              <a:rPr lang="zh-CN" altLang="en-US" dirty="0"/>
              <a:t>内容提纲</a:t>
            </a:r>
          </a:p>
        </p:txBody>
      </p:sp>
    </p:spTree>
    <p:extLst>
      <p:ext uri="{BB962C8B-B14F-4D97-AF65-F5344CB8AC3E}">
        <p14:creationId xmlns:p14="http://schemas.microsoft.com/office/powerpoint/2010/main" val="3842452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124EDF5-87F7-4AC5-8292-B04417157FC2}" type="slidenum">
              <a:rPr lang="zh-CN" altLang="en-US" smtClean="0"/>
              <a:t>3</a:t>
            </a:fld>
            <a:endParaRPr lang="zh-CN" altLang="en-US"/>
          </a:p>
        </p:txBody>
      </p:sp>
      <p:sp>
        <p:nvSpPr>
          <p:cNvPr id="4" name="标题 3"/>
          <p:cNvSpPr>
            <a:spLocks noGrp="1"/>
          </p:cNvSpPr>
          <p:nvPr>
            <p:ph type="title"/>
          </p:nvPr>
        </p:nvSpPr>
        <p:spPr/>
        <p:txBody>
          <a:bodyPr/>
          <a:lstStyle/>
          <a:p>
            <a:endParaRPr lang="en-US"/>
          </a:p>
        </p:txBody>
      </p:sp>
      <p:sp>
        <p:nvSpPr>
          <p:cNvPr id="5" name="文本框 4">
            <a:extLst>
              <a:ext uri="{FF2B5EF4-FFF2-40B4-BE49-F238E27FC236}">
                <a16:creationId xmlns:a16="http://schemas.microsoft.com/office/drawing/2014/main" id="{E77AFF17-A899-4AE3-97F4-8D1AAC05361B}"/>
              </a:ext>
            </a:extLst>
          </p:cNvPr>
          <p:cNvSpPr txBox="1"/>
          <p:nvPr/>
        </p:nvSpPr>
        <p:spPr>
          <a:xfrm>
            <a:off x="2913188" y="3113465"/>
            <a:ext cx="6365619" cy="92333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lang="zh-CN" altLang="en-US" dirty="0"/>
              <a:t>密码算法</a:t>
            </a:r>
            <a:endPar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endParaRPr>
          </a:p>
        </p:txBody>
      </p:sp>
    </p:spTree>
    <p:extLst>
      <p:ext uri="{BB962C8B-B14F-4D97-AF65-F5344CB8AC3E}">
        <p14:creationId xmlns:p14="http://schemas.microsoft.com/office/powerpoint/2010/main" val="4189172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密码的使用最早可以追溯到古罗马时期，</a:t>
            </a:r>
            <a:r>
              <a:rPr lang="en-US" altLang="zh-CN" dirty="0"/>
              <a:t>《</a:t>
            </a:r>
            <a:r>
              <a:rPr lang="zh-CN" altLang="en-US" dirty="0"/>
              <a:t>高卢战记</a:t>
            </a:r>
            <a:r>
              <a:rPr lang="en-US" altLang="zh-CN" dirty="0"/>
              <a:t>》</a:t>
            </a:r>
            <a:r>
              <a:rPr lang="zh-CN" altLang="en-US" dirty="0"/>
              <a:t>中描述了凯撒曾经使用密码来传递信息，即所谓的“凯撒密码”。</a:t>
            </a:r>
            <a:endParaRPr lang="en-US" altLang="zh-CN" dirty="0"/>
          </a:p>
          <a:p>
            <a:pPr lvl="1"/>
            <a:r>
              <a:rPr lang="zh-CN" altLang="en-US" dirty="0"/>
              <a:t>凯撒密码（</a:t>
            </a:r>
            <a:r>
              <a:rPr lang="en-US" altLang="zh-CN" dirty="0"/>
              <a:t>Caesar Cipher</a:t>
            </a:r>
            <a:r>
              <a:rPr lang="zh-CN" altLang="en-US" dirty="0"/>
              <a:t>）是一种替代密码，通过将字母按顺序推后</a:t>
            </a:r>
            <a:r>
              <a:rPr lang="en-US" altLang="zh-CN" dirty="0"/>
              <a:t>3</a:t>
            </a:r>
            <a:r>
              <a:rPr lang="zh-CN" altLang="en-US" dirty="0"/>
              <a:t>位实现加密，如将字母</a:t>
            </a:r>
            <a:r>
              <a:rPr lang="en-US" altLang="zh-CN" dirty="0"/>
              <a:t>A</a:t>
            </a:r>
            <a:r>
              <a:rPr lang="zh-CN" altLang="en-US" dirty="0"/>
              <a:t>换作字母</a:t>
            </a:r>
            <a:r>
              <a:rPr lang="en-US" altLang="zh-CN" dirty="0"/>
              <a:t>D</a:t>
            </a:r>
            <a:r>
              <a:rPr lang="zh-CN" altLang="en-US" dirty="0"/>
              <a:t>，将字母</a:t>
            </a:r>
            <a:r>
              <a:rPr lang="en-US" altLang="zh-CN" dirty="0"/>
              <a:t>B</a:t>
            </a:r>
            <a:r>
              <a:rPr lang="zh-CN" altLang="en-US" dirty="0"/>
              <a:t>换作字母</a:t>
            </a:r>
            <a:r>
              <a:rPr lang="en-US" altLang="zh-CN" dirty="0"/>
              <a:t>E</a:t>
            </a:r>
            <a:r>
              <a:rPr lang="zh-CN" altLang="en-US" dirty="0"/>
              <a:t>。可见，凯撒密码实际上是密钥</a:t>
            </a:r>
            <a:r>
              <a:rPr lang="en-US" altLang="zh-CN" dirty="0"/>
              <a:t>K=3</a:t>
            </a:r>
            <a:r>
              <a:rPr lang="zh-CN" altLang="en-US" dirty="0"/>
              <a:t>的移位密码。 </a:t>
            </a:r>
            <a:endParaRPr lang="en-US" altLang="zh-CN" dirty="0"/>
          </a:p>
          <a:p>
            <a:r>
              <a:rPr lang="zh-CN" altLang="en-US" dirty="0"/>
              <a:t>最初的密码体制包括明文（</a:t>
            </a:r>
            <a:r>
              <a:rPr lang="en-US" dirty="0"/>
              <a:t>Plaintext）、</a:t>
            </a:r>
            <a:r>
              <a:rPr lang="zh-CN" altLang="en-US" dirty="0"/>
              <a:t>加密算法（</a:t>
            </a:r>
            <a:r>
              <a:rPr lang="en-US" dirty="0"/>
              <a:t>Encryption）、</a:t>
            </a:r>
            <a:r>
              <a:rPr lang="zh-CN" altLang="en-US" dirty="0"/>
              <a:t>密文（</a:t>
            </a:r>
            <a:r>
              <a:rPr lang="en-US" dirty="0"/>
              <a:t>Ciphertext）、</a:t>
            </a:r>
            <a:r>
              <a:rPr lang="zh-CN" altLang="en-US" dirty="0"/>
              <a:t>解密算法（</a:t>
            </a:r>
            <a:r>
              <a:rPr lang="en-US" dirty="0"/>
              <a:t>Decryption）</a:t>
            </a:r>
            <a:r>
              <a:rPr lang="zh-CN" altLang="en-US" dirty="0"/>
              <a:t>四个要素，其安全性依赖于算法的保密，故称为受限制的（</a:t>
            </a:r>
            <a:r>
              <a:rPr lang="en-US" dirty="0"/>
              <a:t>Restricted）</a:t>
            </a:r>
            <a:r>
              <a:rPr lang="zh-CN" altLang="en-US" dirty="0"/>
              <a:t>算法。</a:t>
            </a:r>
            <a:endParaRPr lang="en-US" dirty="0"/>
          </a:p>
        </p:txBody>
      </p:sp>
      <p:sp>
        <p:nvSpPr>
          <p:cNvPr id="3" name="灯片编号占位符 2"/>
          <p:cNvSpPr>
            <a:spLocks noGrp="1"/>
          </p:cNvSpPr>
          <p:nvPr>
            <p:ph type="sldNum" sz="quarter" idx="4"/>
          </p:nvPr>
        </p:nvSpPr>
        <p:spPr/>
        <p:txBody>
          <a:bodyPr/>
          <a:lstStyle/>
          <a:p>
            <a:fld id="{4124EDF5-87F7-4AC5-8292-B04417157FC2}" type="slidenum">
              <a:rPr lang="zh-CN" altLang="en-US" smtClean="0"/>
              <a:t>4</a:t>
            </a:fld>
            <a:endParaRPr lang="zh-CN" altLang="en-US"/>
          </a:p>
        </p:txBody>
      </p:sp>
      <p:sp>
        <p:nvSpPr>
          <p:cNvPr id="4" name="标题 3"/>
          <p:cNvSpPr>
            <a:spLocks noGrp="1"/>
          </p:cNvSpPr>
          <p:nvPr>
            <p:ph type="title"/>
          </p:nvPr>
        </p:nvSpPr>
        <p:spPr/>
        <p:txBody>
          <a:bodyPr/>
          <a:lstStyle/>
          <a:p>
            <a:r>
              <a:rPr lang="zh-CN" altLang="en-US" dirty="0"/>
              <a:t>密码学的历史</a:t>
            </a:r>
            <a:endParaRPr lang="en-US" dirty="0"/>
          </a:p>
        </p:txBody>
      </p:sp>
      <p:pic>
        <p:nvPicPr>
          <p:cNvPr id="5" name="图片 4">
            <a:extLst>
              <a:ext uri="{FF2B5EF4-FFF2-40B4-BE49-F238E27FC236}">
                <a16:creationId xmlns:a16="http://schemas.microsoft.com/office/drawing/2014/main" id="{771F1B85-4FA3-C6A2-D867-E3EF6C223538}"/>
              </a:ext>
            </a:extLst>
          </p:cNvPr>
          <p:cNvPicPr>
            <a:picLocks noChangeAspect="1"/>
          </p:cNvPicPr>
          <p:nvPr/>
        </p:nvPicPr>
        <p:blipFill>
          <a:blip r:embed="rId2"/>
          <a:stretch>
            <a:fillRect/>
          </a:stretch>
        </p:blipFill>
        <p:spPr>
          <a:xfrm>
            <a:off x="1717851" y="5150423"/>
            <a:ext cx="8771428" cy="1371429"/>
          </a:xfrm>
          <a:prstGeom prst="rect">
            <a:avLst/>
          </a:prstGeom>
        </p:spPr>
      </p:pic>
    </p:spTree>
    <p:extLst>
      <p:ext uri="{BB962C8B-B14F-4D97-AF65-F5344CB8AC3E}">
        <p14:creationId xmlns:p14="http://schemas.microsoft.com/office/powerpoint/2010/main" val="2318307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71301" y="1232705"/>
            <a:ext cx="11464528" cy="1437608"/>
          </a:xfrm>
        </p:spPr>
        <p:txBody>
          <a:bodyPr/>
          <a:lstStyle/>
          <a:p>
            <a:pPr>
              <a:lnSpc>
                <a:spcPct val="100000"/>
              </a:lnSpc>
            </a:pPr>
            <a:r>
              <a:rPr lang="zh-CN" altLang="en-US" dirty="0"/>
              <a:t>现代密码算法都引入了密钥的概念，密钥的引入，使得密码体制从四元组（</a:t>
            </a:r>
            <a:r>
              <a:rPr lang="en-US" altLang="zh-CN" dirty="0"/>
              <a:t>P</a:t>
            </a:r>
            <a:r>
              <a:rPr lang="zh-CN" altLang="en-US" dirty="0"/>
              <a:t>，</a:t>
            </a:r>
            <a:r>
              <a:rPr lang="en-US" altLang="zh-CN" dirty="0"/>
              <a:t>C</a:t>
            </a:r>
            <a:r>
              <a:rPr lang="zh-CN" altLang="en-US" dirty="0"/>
              <a:t>，</a:t>
            </a:r>
            <a:r>
              <a:rPr lang="en-US" altLang="zh-CN" dirty="0"/>
              <a:t>E</a:t>
            </a:r>
            <a:r>
              <a:rPr lang="zh-CN" altLang="en-US" dirty="0"/>
              <a:t>，</a:t>
            </a:r>
            <a:r>
              <a:rPr lang="en-US" altLang="zh-CN" dirty="0"/>
              <a:t>D</a:t>
            </a:r>
            <a:r>
              <a:rPr lang="zh-CN" altLang="en-US" dirty="0"/>
              <a:t>）演变为五元组（</a:t>
            </a:r>
            <a:r>
              <a:rPr lang="en-US" altLang="zh-CN" dirty="0"/>
              <a:t>P</a:t>
            </a:r>
            <a:r>
              <a:rPr lang="zh-CN" altLang="en-US" dirty="0"/>
              <a:t>，</a:t>
            </a:r>
            <a:r>
              <a:rPr lang="en-US" altLang="zh-CN" dirty="0"/>
              <a:t>C</a:t>
            </a:r>
            <a:r>
              <a:rPr lang="zh-CN" altLang="en-US" dirty="0"/>
              <a:t>，</a:t>
            </a:r>
            <a:r>
              <a:rPr lang="en-US" altLang="zh-CN" dirty="0"/>
              <a:t>K</a:t>
            </a:r>
            <a:r>
              <a:rPr lang="zh-CN" altLang="en-US" dirty="0"/>
              <a:t>，</a:t>
            </a:r>
            <a:r>
              <a:rPr lang="en-US" altLang="zh-CN" dirty="0"/>
              <a:t>E</a:t>
            </a:r>
            <a:r>
              <a:rPr lang="zh-CN" altLang="en-US" dirty="0"/>
              <a:t>，</a:t>
            </a:r>
            <a:r>
              <a:rPr lang="en-US" altLang="zh-CN" dirty="0"/>
              <a:t>D</a:t>
            </a:r>
            <a:r>
              <a:rPr lang="zh-CN" altLang="en-US" dirty="0"/>
              <a:t>），加密算法的安全性不再基于对算法保密，而是基于对密钥的保密。</a:t>
            </a:r>
            <a:endParaRPr lang="en-US" dirty="0"/>
          </a:p>
        </p:txBody>
      </p:sp>
      <p:sp>
        <p:nvSpPr>
          <p:cNvPr id="3" name="灯片编号占位符 2"/>
          <p:cNvSpPr>
            <a:spLocks noGrp="1"/>
          </p:cNvSpPr>
          <p:nvPr>
            <p:ph type="sldNum" sz="quarter" idx="4"/>
          </p:nvPr>
        </p:nvSpPr>
        <p:spPr/>
        <p:txBody>
          <a:bodyPr/>
          <a:lstStyle/>
          <a:p>
            <a:fld id="{4124EDF5-87F7-4AC5-8292-B04417157FC2}" type="slidenum">
              <a:rPr lang="zh-CN" altLang="en-US" smtClean="0"/>
              <a:t>5</a:t>
            </a:fld>
            <a:endParaRPr lang="zh-CN" altLang="en-US"/>
          </a:p>
        </p:txBody>
      </p:sp>
      <p:sp>
        <p:nvSpPr>
          <p:cNvPr id="4" name="标题 3"/>
          <p:cNvSpPr>
            <a:spLocks noGrp="1"/>
          </p:cNvSpPr>
          <p:nvPr>
            <p:ph type="title"/>
          </p:nvPr>
        </p:nvSpPr>
        <p:spPr/>
        <p:txBody>
          <a:bodyPr/>
          <a:lstStyle/>
          <a:p>
            <a:r>
              <a:rPr lang="zh-CN" altLang="en-US" dirty="0"/>
              <a:t>基于密钥的加密算法 </a:t>
            </a:r>
            <a:endParaRPr lang="en-US" dirty="0"/>
          </a:p>
        </p:txBody>
      </p:sp>
      <p:pic>
        <p:nvPicPr>
          <p:cNvPr id="5" name="图片 4">
            <a:extLst>
              <a:ext uri="{FF2B5EF4-FFF2-40B4-BE49-F238E27FC236}">
                <a16:creationId xmlns:a16="http://schemas.microsoft.com/office/drawing/2014/main" id="{847C0CD9-620E-D8E4-78D5-663163910267}"/>
              </a:ext>
            </a:extLst>
          </p:cNvPr>
          <p:cNvPicPr>
            <a:picLocks noChangeAspect="1"/>
          </p:cNvPicPr>
          <p:nvPr/>
        </p:nvPicPr>
        <p:blipFill>
          <a:blip r:embed="rId3"/>
          <a:stretch>
            <a:fillRect/>
          </a:stretch>
        </p:blipFill>
        <p:spPr>
          <a:xfrm>
            <a:off x="2560967" y="2471581"/>
            <a:ext cx="6230481" cy="1853639"/>
          </a:xfrm>
          <a:prstGeom prst="rect">
            <a:avLst/>
          </a:prstGeom>
        </p:spPr>
      </p:pic>
      <mc:AlternateContent xmlns:mc="http://schemas.openxmlformats.org/markup-compatibility/2006">
        <mc:Choice xmlns:a14="http://schemas.microsoft.com/office/drawing/2010/main" Requires="a14">
          <p:sp>
            <p:nvSpPr>
              <p:cNvPr id="6" name="内容占位符 1">
                <a:extLst>
                  <a:ext uri="{FF2B5EF4-FFF2-40B4-BE49-F238E27FC236}">
                    <a16:creationId xmlns:a16="http://schemas.microsoft.com/office/drawing/2014/main" id="{86B4767B-E122-0103-1253-3FDF79A330A6}"/>
                  </a:ext>
                </a:extLst>
              </p:cNvPr>
              <p:cNvSpPr txBox="1">
                <a:spLocks/>
              </p:cNvSpPr>
              <p:nvPr/>
            </p:nvSpPr>
            <p:spPr bwMode="auto">
              <a:xfrm>
                <a:off x="379412" y="4187688"/>
                <a:ext cx="11464528" cy="267031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57175" indent="-257175" algn="just" rtl="0" eaLnBrk="1" fontAlgn="base" hangingPunct="1">
                  <a:lnSpc>
                    <a:spcPct val="120000"/>
                  </a:lnSpc>
                  <a:spcBef>
                    <a:spcPts val="600"/>
                  </a:spcBef>
                  <a:spcAft>
                    <a:spcPts val="600"/>
                  </a:spcAft>
                  <a:buClr>
                    <a:srgbClr val="FF9933"/>
                  </a:buClr>
                  <a:buChar char="•"/>
                  <a:defRPr kumimoji="1" sz="24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1pPr>
                <a:lvl2pPr marL="557213" indent="-214313" algn="just" rtl="0" eaLnBrk="1" fontAlgn="base" hangingPunct="1">
                  <a:lnSpc>
                    <a:spcPct val="120000"/>
                  </a:lnSpc>
                  <a:spcBef>
                    <a:spcPts val="600"/>
                  </a:spcBef>
                  <a:spcAft>
                    <a:spcPts val="600"/>
                  </a:spcAft>
                  <a:buClr>
                    <a:srgbClr val="FF9933"/>
                  </a:buClr>
                  <a:buChar char="–"/>
                  <a:defRPr kumimoji="1" sz="21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2pPr>
                <a:lvl3pPr marL="857250" indent="-171450" algn="just" rtl="0" eaLnBrk="1" fontAlgn="base" hangingPunct="1">
                  <a:lnSpc>
                    <a:spcPct val="120000"/>
                  </a:lnSpc>
                  <a:spcBef>
                    <a:spcPts val="600"/>
                  </a:spcBef>
                  <a:spcAft>
                    <a:spcPts val="600"/>
                  </a:spcAft>
                  <a:buClr>
                    <a:srgbClr val="FF9933"/>
                  </a:buClr>
                  <a:buChar char="•"/>
                  <a:defRPr kumimoji="1" sz="18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3pPr>
                <a:lvl4pPr marL="1200150" indent="-171450" algn="just" rtl="0" eaLnBrk="1" fontAlgn="base" hangingPunct="1">
                  <a:lnSpc>
                    <a:spcPct val="120000"/>
                  </a:lnSpc>
                  <a:spcBef>
                    <a:spcPts val="600"/>
                  </a:spcBef>
                  <a:spcAft>
                    <a:spcPts val="600"/>
                  </a:spcAft>
                  <a:buClr>
                    <a:srgbClr val="FF9933"/>
                  </a:buClr>
                  <a:buChar char="–"/>
                  <a:defRPr kumimoji="1" sz="15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4pPr>
                <a:lvl5pPr marL="1543050" indent="-171450" algn="just" rtl="0" eaLnBrk="1" fontAlgn="base" hangingPunct="1">
                  <a:spcBef>
                    <a:spcPct val="20000"/>
                  </a:spcBef>
                  <a:spcAft>
                    <a:spcPct val="0"/>
                  </a:spcAft>
                  <a:buChar char="»"/>
                  <a:defRPr kumimoji="1" sz="1500">
                    <a:solidFill>
                      <a:schemeClr val="tx1"/>
                    </a:solidFill>
                    <a:latin typeface="Times New Roman" panose="02020603050405020304" pitchFamily="18" charset="0"/>
                    <a:ea typeface="+mn-ea"/>
                    <a:cs typeface="Times New Roman" panose="02020603050405020304" pitchFamily="18"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a:lnSpc>
                    <a:spcPct val="100000"/>
                  </a:lnSpc>
                </a:pPr>
                <a:r>
                  <a:rPr lang="zh-CN" altLang="en-US" kern="0" dirty="0"/>
                  <a:t>密码体制（</a:t>
                </a:r>
                <a:r>
                  <a:rPr lang="en-US" altLang="zh-CN" kern="0" dirty="0"/>
                  <a:t>P</a:t>
                </a:r>
                <a:r>
                  <a:rPr lang="zh-CN" altLang="en-US" kern="0" dirty="0"/>
                  <a:t>，</a:t>
                </a:r>
                <a:r>
                  <a:rPr lang="en-US" altLang="zh-CN" kern="0" dirty="0"/>
                  <a:t>C</a:t>
                </a:r>
                <a:r>
                  <a:rPr lang="zh-CN" altLang="en-US" kern="0" dirty="0"/>
                  <a:t>，</a:t>
                </a:r>
                <a:r>
                  <a:rPr lang="en-US" altLang="zh-CN" kern="0" dirty="0"/>
                  <a:t>K</a:t>
                </a:r>
                <a:r>
                  <a:rPr lang="zh-CN" altLang="en-US" kern="0" dirty="0"/>
                  <a:t>，</a:t>
                </a:r>
                <a:r>
                  <a:rPr lang="en-US" altLang="zh-CN" kern="0" dirty="0"/>
                  <a:t>E</a:t>
                </a:r>
                <a:r>
                  <a:rPr lang="zh-CN" altLang="en-US" kern="0" dirty="0"/>
                  <a:t>，</a:t>
                </a:r>
                <a:r>
                  <a:rPr lang="en-US" altLang="zh-CN" kern="0" dirty="0"/>
                  <a:t>D</a:t>
                </a:r>
                <a:r>
                  <a:rPr lang="zh-CN" altLang="en-US" kern="0" dirty="0"/>
                  <a:t>）满足以下条件： </a:t>
                </a:r>
              </a:p>
              <a:p>
                <a:pPr lvl="1">
                  <a:lnSpc>
                    <a:spcPct val="100000"/>
                  </a:lnSpc>
                </a:pPr>
                <a:r>
                  <a:rPr lang="en-US" altLang="zh-CN" kern="0" dirty="0"/>
                  <a:t>1</a:t>
                </a:r>
                <a:r>
                  <a:rPr lang="zh-CN" altLang="en-US" kern="0" dirty="0"/>
                  <a:t>）</a:t>
                </a:r>
                <a:r>
                  <a:rPr lang="en-US" altLang="zh-CN" kern="0" dirty="0"/>
                  <a:t>P</a:t>
                </a:r>
                <a:r>
                  <a:rPr lang="zh-CN" altLang="en-US" kern="0" dirty="0"/>
                  <a:t>是可能明文的有限集合，称为明文空间。 </a:t>
                </a:r>
              </a:p>
              <a:p>
                <a:pPr lvl="1">
                  <a:lnSpc>
                    <a:spcPct val="100000"/>
                  </a:lnSpc>
                </a:pPr>
                <a:r>
                  <a:rPr lang="en-US" altLang="zh-CN" kern="0" dirty="0"/>
                  <a:t>2</a:t>
                </a:r>
                <a:r>
                  <a:rPr lang="zh-CN" altLang="en-US" kern="0" dirty="0"/>
                  <a:t>）</a:t>
                </a:r>
                <a:r>
                  <a:rPr lang="en-US" altLang="zh-CN" kern="0" dirty="0"/>
                  <a:t>C</a:t>
                </a:r>
                <a:r>
                  <a:rPr lang="zh-CN" altLang="en-US" kern="0" dirty="0"/>
                  <a:t>是可能密文的有限集合，称为密文空间。 </a:t>
                </a:r>
              </a:p>
              <a:p>
                <a:pPr lvl="1">
                  <a:lnSpc>
                    <a:spcPct val="100000"/>
                  </a:lnSpc>
                </a:pPr>
                <a:r>
                  <a:rPr lang="en-US" altLang="zh-CN" kern="0" dirty="0"/>
                  <a:t>3</a:t>
                </a:r>
                <a:r>
                  <a:rPr lang="zh-CN" altLang="en-US" kern="0" dirty="0"/>
                  <a:t>）</a:t>
                </a:r>
                <a:r>
                  <a:rPr lang="en-US" altLang="zh-CN" kern="0" dirty="0"/>
                  <a:t>K</a:t>
                </a:r>
                <a:r>
                  <a:rPr lang="zh-CN" altLang="en-US" kern="0" dirty="0"/>
                  <a:t>是一切可能密钥构成的有限集合，称为密钥空间。 </a:t>
                </a:r>
              </a:p>
              <a:p>
                <a:pPr lvl="1">
                  <a:lnSpc>
                    <a:spcPct val="100000"/>
                  </a:lnSpc>
                </a:pPr>
                <a:r>
                  <a:rPr lang="en-US" altLang="zh-CN" kern="0" dirty="0"/>
                  <a:t>4</a:t>
                </a:r>
                <a:r>
                  <a:rPr lang="zh-CN" altLang="en-US" kern="0" dirty="0"/>
                  <a:t>）</a:t>
                </a:r>
                <a:r>
                  <a:rPr lang="zh-CN" altLang="en-US" dirty="0"/>
                  <a:t>对任意</a:t>
                </a:r>
                <a14:m>
                  <m:oMath xmlns:m="http://schemas.openxmlformats.org/officeDocument/2006/math">
                    <m:r>
                      <a:rPr lang="en-US" altLang="zh-CN" b="1" i="1" dirty="0" smtClean="0">
                        <a:latin typeface="Cambria Math" panose="02040503050406030204" pitchFamily="18" charset="0"/>
                      </a:rPr>
                      <m:t>𝒌</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𝑲</m:t>
                    </m:r>
                    <m:r>
                      <a:rPr lang="en-US" altLang="zh-CN" b="1" i="1" dirty="0" smtClean="0">
                        <a:latin typeface="Cambria Math" panose="02040503050406030204" pitchFamily="18" charset="0"/>
                      </a:rPr>
                      <m:t> </m:t>
                    </m:r>
                  </m:oMath>
                </a14:m>
                <a:r>
                  <a:rPr lang="zh-CN" altLang="en-US" dirty="0"/>
                  <a:t>，存在加密算法 </a:t>
                </a:r>
                <a14:m>
                  <m:oMath xmlns:m="http://schemas.openxmlformats.org/officeDocument/2006/math">
                    <m:sSub>
                      <m:sSubPr>
                        <m:ctrlPr>
                          <a:rPr lang="en-US" altLang="zh-CN" i="1" dirty="0" smtClean="0">
                            <a:latin typeface="Cambria Math" panose="02040503050406030204" pitchFamily="18" charset="0"/>
                          </a:rPr>
                        </m:ctrlPr>
                      </m:sSubPr>
                      <m:e>
                        <m:r>
                          <a:rPr lang="en-US" altLang="zh-CN" b="1" i="1" dirty="0" smtClean="0">
                            <a:latin typeface="Cambria Math" panose="02040503050406030204" pitchFamily="18" charset="0"/>
                          </a:rPr>
                          <m:t>𝒆</m:t>
                        </m:r>
                      </m:e>
                      <m:sub>
                        <m:r>
                          <a:rPr lang="en-US" altLang="zh-CN" b="1" i="1" dirty="0" smtClean="0">
                            <a:latin typeface="Cambria Math" panose="02040503050406030204" pitchFamily="18" charset="0"/>
                          </a:rPr>
                          <m:t>𝒌</m:t>
                        </m:r>
                      </m:sub>
                    </m:sSub>
                    <m:r>
                      <a:rPr lang="en-US" altLang="zh-CN" b="1" i="1" dirty="0" smtClean="0">
                        <a:latin typeface="Cambria Math" panose="02040503050406030204" pitchFamily="18" charset="0"/>
                      </a:rPr>
                      <m:t>∈</m:t>
                    </m:r>
                    <m:r>
                      <a:rPr lang="en-US" altLang="zh-CN" b="1" i="1" dirty="0" err="1" smtClean="0">
                        <a:latin typeface="Cambria Math" panose="02040503050406030204" pitchFamily="18" charset="0"/>
                      </a:rPr>
                      <m:t>𝑬</m:t>
                    </m:r>
                    <m:r>
                      <a:rPr lang="en-US" altLang="zh-CN" b="1" i="1" dirty="0" smtClean="0">
                        <a:latin typeface="Cambria Math" panose="02040503050406030204" pitchFamily="18" charset="0"/>
                      </a:rPr>
                      <m:t> </m:t>
                    </m:r>
                  </m:oMath>
                </a14:m>
                <a:r>
                  <a:rPr lang="zh-CN" altLang="en-US" dirty="0"/>
                  <a:t>和相应的解密算法 </a:t>
                </a:r>
                <a14:m>
                  <m:oMath xmlns:m="http://schemas.openxmlformats.org/officeDocument/2006/math">
                    <m:sSub>
                      <m:sSubPr>
                        <m:ctrlPr>
                          <a:rPr lang="en-US" altLang="zh-CN" i="1" dirty="0" smtClean="0">
                            <a:latin typeface="Cambria Math" panose="02040503050406030204" pitchFamily="18" charset="0"/>
                          </a:rPr>
                        </m:ctrlPr>
                      </m:sSubPr>
                      <m:e>
                        <m:r>
                          <a:rPr lang="en-US" altLang="zh-CN" b="1" i="1" dirty="0" smtClean="0">
                            <a:latin typeface="Cambria Math" panose="02040503050406030204" pitchFamily="18" charset="0"/>
                          </a:rPr>
                          <m:t>𝒅</m:t>
                        </m:r>
                      </m:e>
                      <m:sub>
                        <m:r>
                          <a:rPr lang="en-US" altLang="zh-CN" b="1" i="1" dirty="0" smtClean="0">
                            <a:latin typeface="Cambria Math" panose="02040503050406030204" pitchFamily="18" charset="0"/>
                          </a:rPr>
                          <m:t>𝒌</m:t>
                        </m:r>
                      </m:sub>
                    </m:sSub>
                    <m:r>
                      <a:rPr lang="en-US" altLang="zh-CN" b="1" i="1" dirty="0" smtClean="0">
                        <a:latin typeface="Cambria Math" panose="02040503050406030204" pitchFamily="18" charset="0"/>
                      </a:rPr>
                      <m:t>∈</m:t>
                    </m:r>
                    <m:r>
                      <a:rPr lang="en-US" altLang="zh-CN" b="1" i="1" dirty="0" err="1" smtClean="0">
                        <a:latin typeface="Cambria Math" panose="02040503050406030204" pitchFamily="18" charset="0"/>
                      </a:rPr>
                      <m:t>𝑫</m:t>
                    </m:r>
                    <m:r>
                      <a:rPr lang="en-US" altLang="zh-CN" b="1" i="1" dirty="0" smtClean="0">
                        <a:latin typeface="Cambria Math" panose="02040503050406030204" pitchFamily="18" charset="0"/>
                      </a:rPr>
                      <m:t> </m:t>
                    </m:r>
                  </m:oMath>
                </a14:m>
                <a:r>
                  <a:rPr lang="en-US" altLang="zh-CN" dirty="0"/>
                  <a:t>,</a:t>
                </a:r>
                <a:r>
                  <a:rPr lang="zh-CN" altLang="en-US" dirty="0"/>
                  <a:t>使得</a:t>
                </a:r>
                <a14:m>
                  <m:oMath xmlns:m="http://schemas.openxmlformats.org/officeDocument/2006/math">
                    <m:sSub>
                      <m:sSubPr>
                        <m:ctrlPr>
                          <a:rPr lang="en-US" altLang="zh-CN" i="1" dirty="0" smtClean="0">
                            <a:latin typeface="Cambria Math" panose="02040503050406030204" pitchFamily="18" charset="0"/>
                          </a:rPr>
                        </m:ctrlPr>
                      </m:sSubPr>
                      <m:e>
                        <m:r>
                          <a:rPr lang="en-US" altLang="zh-CN" b="1" i="1" dirty="0">
                            <a:latin typeface="Cambria Math" panose="02040503050406030204" pitchFamily="18" charset="0"/>
                          </a:rPr>
                          <m:t>𝒆</m:t>
                        </m:r>
                      </m:e>
                      <m:sub>
                        <m:r>
                          <a:rPr lang="en-US" altLang="zh-CN" b="1" i="1" dirty="0" smtClean="0">
                            <a:latin typeface="Cambria Math" panose="02040503050406030204" pitchFamily="18" charset="0"/>
                          </a:rPr>
                          <m:t>𝒌</m:t>
                        </m:r>
                      </m:sub>
                    </m:sSub>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𝑷</m:t>
                    </m:r>
                    <m:r>
                      <a:rPr lang="zh-CN" altLang="en-US" b="1" i="1" dirty="0">
                        <a:latin typeface="Cambria Math" panose="02040503050406030204" pitchFamily="18" charset="0"/>
                      </a:rPr>
                      <m:t>→</m:t>
                    </m:r>
                    <m:r>
                      <a:rPr lang="en-US" altLang="zh-CN" b="1" i="1" dirty="0" smtClean="0">
                        <a:latin typeface="Cambria Math" panose="02040503050406030204" pitchFamily="18" charset="0"/>
                      </a:rPr>
                      <m:t>𝑪</m:t>
                    </m:r>
                  </m:oMath>
                </a14:m>
                <a:r>
                  <a:rPr lang="zh-CN" altLang="en-US" dirty="0"/>
                  <a:t>和</a:t>
                </a:r>
                <a14:m>
                  <m:oMath xmlns:m="http://schemas.openxmlformats.org/officeDocument/2006/math">
                    <m:sSub>
                      <m:sSubPr>
                        <m:ctrlPr>
                          <a:rPr lang="en-US" altLang="zh-CN" i="1" dirty="0">
                            <a:latin typeface="Cambria Math" panose="02040503050406030204" pitchFamily="18" charset="0"/>
                          </a:rPr>
                        </m:ctrlPr>
                      </m:sSubPr>
                      <m:e>
                        <m:r>
                          <a:rPr lang="en-US" altLang="zh-CN" b="1" i="1" dirty="0" smtClean="0">
                            <a:latin typeface="Cambria Math" panose="02040503050406030204" pitchFamily="18" charset="0"/>
                          </a:rPr>
                          <m:t>𝒅</m:t>
                        </m:r>
                      </m:e>
                      <m:sub>
                        <m:r>
                          <a:rPr lang="en-US" altLang="zh-CN" b="1" i="1" dirty="0">
                            <a:latin typeface="Cambria Math" panose="02040503050406030204" pitchFamily="18" charset="0"/>
                          </a:rPr>
                          <m:t>𝒌</m:t>
                        </m:r>
                      </m:sub>
                    </m:sSub>
                    <m:r>
                      <a:rPr lang="en-US" altLang="zh-CN" b="1" i="1" dirty="0">
                        <a:latin typeface="Cambria Math" panose="02040503050406030204" pitchFamily="18" charset="0"/>
                      </a:rPr>
                      <m:t>:</m:t>
                    </m:r>
                    <m:r>
                      <a:rPr lang="en-US" altLang="zh-CN" b="1" i="1" dirty="0" smtClean="0">
                        <a:latin typeface="Cambria Math" panose="02040503050406030204" pitchFamily="18" charset="0"/>
                      </a:rPr>
                      <m:t>𝑪</m:t>
                    </m:r>
                    <m:r>
                      <a:rPr lang="zh-CN" altLang="en-US" b="1" i="1" dirty="0">
                        <a:latin typeface="Cambria Math" panose="02040503050406030204" pitchFamily="18" charset="0"/>
                      </a:rPr>
                      <m:t>→</m:t>
                    </m:r>
                    <m:r>
                      <a:rPr lang="en-US" altLang="zh-CN" b="1" i="1" dirty="0" smtClean="0">
                        <a:latin typeface="Cambria Math" panose="02040503050406030204" pitchFamily="18" charset="0"/>
                      </a:rPr>
                      <m:t>𝑷</m:t>
                    </m:r>
                  </m:oMath>
                </a14:m>
                <a:r>
                  <a:rPr lang="zh-CN" altLang="en-US" dirty="0"/>
                  <a:t>分别为加密函数和解密</a:t>
                </a:r>
                <a:r>
                  <a:rPr lang="zh-CN" altLang="en-US"/>
                  <a:t>函数。</a:t>
                </a:r>
                <a:endParaRPr lang="en-US" kern="0" dirty="0"/>
              </a:p>
            </p:txBody>
          </p:sp>
        </mc:Choice>
        <mc:Fallback>
          <p:sp>
            <p:nvSpPr>
              <p:cNvPr id="6" name="内容占位符 1">
                <a:extLst>
                  <a:ext uri="{FF2B5EF4-FFF2-40B4-BE49-F238E27FC236}">
                    <a16:creationId xmlns:a16="http://schemas.microsoft.com/office/drawing/2014/main" id="{86B4767B-E122-0103-1253-3FDF79A330A6}"/>
                  </a:ext>
                </a:extLst>
              </p:cNvPr>
              <p:cNvSpPr txBox="1">
                <a:spLocks noRot="1" noChangeAspect="1" noMove="1" noResize="1" noEditPoints="1" noAdjustHandles="1" noChangeArrowheads="1" noChangeShapeType="1" noTextEdit="1"/>
              </p:cNvSpPr>
              <p:nvPr/>
            </p:nvSpPr>
            <p:spPr bwMode="auto">
              <a:xfrm>
                <a:off x="379412" y="4187688"/>
                <a:ext cx="11464528" cy="2670312"/>
              </a:xfrm>
              <a:prstGeom prst="rect">
                <a:avLst/>
              </a:prstGeom>
              <a:blipFill>
                <a:blip r:embed="rId4"/>
                <a:stretch>
                  <a:fillRect l="-904" t="-2740" b="-433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92221416-2F16-7BB3-B745-CC5BA958285B}"/>
              </a:ext>
            </a:extLst>
          </p:cNvPr>
          <p:cNvSpPr txBox="1"/>
          <p:nvPr/>
        </p:nvSpPr>
        <p:spPr>
          <a:xfrm>
            <a:off x="8852452" y="4187688"/>
            <a:ext cx="3068666" cy="120032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dirty="0"/>
              <a:t>在密码分析技术 中，一般都假设敌手知道所使用的密码体制，这个假设通常称为 </a:t>
            </a:r>
            <a:r>
              <a:rPr lang="en-US" altLang="zh-CN" dirty="0"/>
              <a:t>Kerckhoff </a:t>
            </a:r>
            <a:r>
              <a:rPr lang="zh-CN" altLang="en-US" dirty="0"/>
              <a:t>假设。</a:t>
            </a:r>
          </a:p>
        </p:txBody>
      </p:sp>
    </p:spTree>
    <p:extLst>
      <p:ext uri="{BB962C8B-B14F-4D97-AF65-F5344CB8AC3E}">
        <p14:creationId xmlns:p14="http://schemas.microsoft.com/office/powerpoint/2010/main" val="2457866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a:xfrm>
                <a:off x="371301" y="1232704"/>
                <a:ext cx="11464528" cy="5509407"/>
              </a:xfrm>
            </p:spPr>
            <p:txBody>
              <a:bodyPr/>
              <a:lstStyle/>
              <a:p>
                <a:r>
                  <a:rPr lang="zh-CN" altLang="en-US" dirty="0"/>
                  <a:t>在密码设计中，最常用的两种技巧是代换（</a:t>
                </a:r>
                <a:r>
                  <a:rPr lang="en-US" altLang="zh-CN" dirty="0"/>
                  <a:t>Substitution</a:t>
                </a:r>
                <a:r>
                  <a:rPr lang="zh-CN" altLang="en-US" dirty="0"/>
                  <a:t>）和置换（</a:t>
                </a:r>
                <a:r>
                  <a:rPr lang="en-US" altLang="zh-CN" dirty="0"/>
                  <a:t>Permutation</a:t>
                </a:r>
                <a:r>
                  <a:rPr lang="zh-CN" altLang="en-US" dirty="0"/>
                  <a:t>）。代换是指系统地将一组字母换成其他字母或符号；置换是指将字母顺序重新排列。</a:t>
                </a:r>
                <a:endParaRPr lang="en-US" altLang="zh-CN" dirty="0"/>
              </a:p>
              <a:p>
                <a:pPr lvl="1"/>
                <a:r>
                  <a:rPr lang="zh-CN" altLang="en-US" dirty="0"/>
                  <a:t>凯撒密码、移位密码、仿射密码，都属于代换密码。代换加密就是建立一个代换表，加密时将需要加密的明文依次通过查表替换为相应的字符，明文字符被逐个替换后，生成无任何意义的字符串，即密文。这样的代换表，通常称为密钥。 </a:t>
                </a:r>
                <a:endParaRPr lang="en-US" altLang="zh-CN" dirty="0"/>
              </a:p>
              <a:p>
                <a:pPr lvl="1"/>
                <a:r>
                  <a:rPr lang="zh-CN" altLang="en-US" dirty="0"/>
                  <a:t>置换密码（</a:t>
                </a:r>
                <a:r>
                  <a:rPr lang="en-US" dirty="0"/>
                  <a:t>Permutation Cipher）</a:t>
                </a:r>
                <a:r>
                  <a:rPr lang="zh-CN" altLang="en-US" dirty="0"/>
                  <a:t>又称换位密码（</a:t>
                </a:r>
                <a:r>
                  <a:rPr lang="en-US" dirty="0"/>
                  <a:t>Transposition Cipher），</a:t>
                </a:r>
                <a:r>
                  <a:rPr lang="zh-CN" altLang="en-US" dirty="0"/>
                  <a:t>其特点是保持明文所有字母不变，只是利用置换打乱了明文字母的位置和次序。</a:t>
                </a:r>
                <a:endParaRPr lang="en-US" altLang="zh-CN" dirty="0"/>
              </a:p>
              <a:p>
                <a:pPr marL="257175" lvl="1" indent="-257175">
                  <a:buChar char="•"/>
                </a:pPr>
                <a:r>
                  <a:rPr lang="zh-CN" altLang="en-US" sz="2400" dirty="0"/>
                  <a:t>香农新思想</a:t>
                </a:r>
                <a:r>
                  <a:rPr lang="en-US" altLang="zh-CN" sz="2400" dirty="0"/>
                  <a:t>:</a:t>
                </a:r>
                <a:r>
                  <a:rPr lang="zh-CN" altLang="en-US" sz="2400" dirty="0"/>
                  <a:t>通过“乘积”组合密码体制。</a:t>
                </a:r>
                <a:endParaRPr lang="en-US" altLang="zh-CN" sz="2400" dirty="0"/>
              </a:p>
              <a:p>
                <a:pPr lvl="1">
                  <a:lnSpc>
                    <a:spcPct val="100000"/>
                  </a:lnSpc>
                </a:pPr>
                <a:r>
                  <a:rPr lang="zh-CN" altLang="en-US" dirty="0"/>
                  <a:t>密钥：</a:t>
                </a:r>
                <a14:m>
                  <m:oMath xmlns:m="http://schemas.openxmlformats.org/officeDocument/2006/math">
                    <m:r>
                      <a:rPr lang="en-US" altLang="zh-CN" b="1" i="1">
                        <a:latin typeface="Cambria Math" panose="02040503050406030204" pitchFamily="18" charset="0"/>
                      </a:rPr>
                      <m:t>𝐤</m:t>
                    </m:r>
                    <m:r>
                      <a:rPr lang="en-US" altLang="zh-CN" b="1">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𝐤</m:t>
                        </m:r>
                      </m:e>
                      <m:sub>
                        <m:r>
                          <a:rPr lang="en-US" altLang="zh-CN" b="1" i="1">
                            <a:latin typeface="Cambria Math" panose="02040503050406030204" pitchFamily="18" charset="0"/>
                          </a:rPr>
                          <m:t>𝟏</m:t>
                        </m:r>
                      </m:sub>
                    </m:sSub>
                    <m:r>
                      <a:rPr lang="en-US" altLang="zh-CN" b="1">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𝐤</m:t>
                        </m:r>
                      </m:e>
                      <m:sub>
                        <m:r>
                          <a:rPr lang="en-US" altLang="zh-CN" b="1" i="1">
                            <a:latin typeface="Cambria Math" panose="02040503050406030204" pitchFamily="18" charset="0"/>
                          </a:rPr>
                          <m:t>𝟐</m:t>
                        </m:r>
                      </m:sub>
                    </m:sSub>
                    <m:r>
                      <a:rPr lang="en-US" altLang="zh-CN" b="1">
                        <a:latin typeface="Cambria Math" panose="02040503050406030204" pitchFamily="18" charset="0"/>
                      </a:rPr>
                      <m:t>)</m:t>
                    </m:r>
                  </m:oMath>
                </a14:m>
                <a:endParaRPr lang="en-US" dirty="0"/>
              </a:p>
              <a:p>
                <a:pPr lvl="1">
                  <a:lnSpc>
                    <a:spcPct val="100000"/>
                  </a:lnSpc>
                </a:pPr>
                <a:r>
                  <a:rPr lang="zh-CN" altLang="en-US" dirty="0"/>
                  <a:t>加密：</a:t>
                </a:r>
                <a14:m>
                  <m:oMath xmlns:m="http://schemas.openxmlformats.org/officeDocument/2006/math">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𝒆</m:t>
                        </m:r>
                      </m:e>
                      <m:sub>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𝒌</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𝒌</m:t>
                            </m:r>
                          </m:e>
                          <m:sub>
                            <m:r>
                              <a:rPr lang="en-US" altLang="zh-CN" b="1" i="1" smtClean="0">
                                <a:latin typeface="Cambria Math" panose="02040503050406030204" pitchFamily="18" charset="0"/>
                              </a:rPr>
                              <m:t>𝟐</m:t>
                            </m:r>
                          </m:sub>
                        </m:sSub>
                      </m:sub>
                    </m:sSub>
                    <m:d>
                      <m:dPr>
                        <m:ctrlPr>
                          <a:rPr lang="en-US" altLang="zh-CN" i="1" smtClean="0">
                            <a:latin typeface="Cambria Math" panose="02040503050406030204" pitchFamily="18" charset="0"/>
                          </a:rPr>
                        </m:ctrlPr>
                      </m:dPr>
                      <m:e>
                        <m:r>
                          <a:rPr lang="en-US" altLang="zh-CN" b="1" i="1" smtClean="0">
                            <a:latin typeface="Cambria Math" panose="02040503050406030204" pitchFamily="18" charset="0"/>
                          </a:rPr>
                          <m:t>𝒎</m:t>
                        </m:r>
                      </m:e>
                    </m:d>
                    <m:r>
                      <a:rPr lang="en-US" altLang="zh-CN" b="1"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𝒆</m:t>
                        </m:r>
                      </m:e>
                      <m:sub>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𝒌</m:t>
                            </m:r>
                          </m:e>
                          <m:sub>
                            <m:r>
                              <a:rPr lang="en-US" altLang="zh-CN" b="1" i="1" smtClean="0">
                                <a:latin typeface="Cambria Math" panose="02040503050406030204" pitchFamily="18" charset="0"/>
                              </a:rPr>
                              <m:t>𝟐</m:t>
                            </m:r>
                          </m:sub>
                        </m:sSub>
                      </m:sub>
                    </m:sSub>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𝒆</m:t>
                            </m:r>
                          </m:e>
                          <m:sub>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𝒌</m:t>
                                </m:r>
                              </m:e>
                              <m:sub>
                                <m:r>
                                  <a:rPr lang="en-US" altLang="zh-CN" b="1" i="1" smtClean="0">
                                    <a:latin typeface="Cambria Math" panose="02040503050406030204" pitchFamily="18" charset="0"/>
                                  </a:rPr>
                                  <m:t>𝟏</m:t>
                                </m:r>
                              </m:sub>
                            </m:sSub>
                          </m:sub>
                        </m:sSub>
                        <m:d>
                          <m:dPr>
                            <m:ctrlPr>
                              <a:rPr lang="en-US" altLang="zh-CN" i="1" smtClean="0">
                                <a:latin typeface="Cambria Math" panose="02040503050406030204" pitchFamily="18" charset="0"/>
                              </a:rPr>
                            </m:ctrlPr>
                          </m:dPr>
                          <m:e>
                            <m:r>
                              <a:rPr lang="en-US" altLang="zh-CN" b="1" i="1" smtClean="0">
                                <a:latin typeface="Cambria Math" panose="02040503050406030204" pitchFamily="18" charset="0"/>
                              </a:rPr>
                              <m:t>𝒎</m:t>
                            </m:r>
                          </m:e>
                        </m:d>
                      </m:e>
                    </m:d>
                  </m:oMath>
                </a14:m>
                <a:endParaRPr lang="en-US" altLang="zh-CN" dirty="0"/>
              </a:p>
              <a:p>
                <a:pPr lvl="1">
                  <a:lnSpc>
                    <a:spcPct val="100000"/>
                  </a:lnSpc>
                </a:pPr>
                <a:r>
                  <a:rPr lang="zh-CN" altLang="en-US" dirty="0"/>
                  <a:t>解密：</a:t>
                </a:r>
                <a14:m>
                  <m:oMath xmlns:m="http://schemas.openxmlformats.org/officeDocument/2006/math">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𝒅</m:t>
                        </m:r>
                      </m:e>
                      <m:sub>
                        <m:sSub>
                          <m:sSubPr>
                            <m:ctrlPr>
                              <a:rPr lang="en-US" altLang="zh-CN" i="1">
                                <a:latin typeface="Cambria Math" panose="02040503050406030204" pitchFamily="18" charset="0"/>
                              </a:rPr>
                            </m:ctrlPr>
                          </m:sSubPr>
                          <m:e>
                            <m:r>
                              <a:rPr lang="en-US" altLang="zh-CN" b="1" i="1">
                                <a:latin typeface="Cambria Math" panose="02040503050406030204" pitchFamily="18" charset="0"/>
                              </a:rPr>
                              <m:t>𝒌</m:t>
                            </m:r>
                          </m:e>
                          <m:sub>
                            <m:r>
                              <a:rPr lang="en-US" altLang="zh-CN" b="1" i="1">
                                <a:latin typeface="Cambria Math" panose="02040503050406030204" pitchFamily="18" charset="0"/>
                              </a:rPr>
                              <m:t>𝟏</m:t>
                            </m:r>
                          </m:sub>
                        </m:sSub>
                        <m:r>
                          <a:rPr lang="en-US" altLang="zh-CN" b="1" i="1">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𝒌</m:t>
                            </m:r>
                          </m:e>
                          <m:sub>
                            <m:r>
                              <a:rPr lang="en-US" altLang="zh-CN" b="1" i="1">
                                <a:latin typeface="Cambria Math" panose="02040503050406030204" pitchFamily="18" charset="0"/>
                              </a:rPr>
                              <m:t>𝟐</m:t>
                            </m:r>
                          </m:sub>
                        </m:sSub>
                      </m:sub>
                    </m:sSub>
                    <m:d>
                      <m:dPr>
                        <m:ctrlPr>
                          <a:rPr lang="en-US" altLang="zh-CN" i="1">
                            <a:latin typeface="Cambria Math" panose="02040503050406030204" pitchFamily="18" charset="0"/>
                          </a:rPr>
                        </m:ctrlPr>
                      </m:dPr>
                      <m:e>
                        <m:r>
                          <a:rPr lang="en-US" altLang="zh-CN" b="1" i="1" smtClean="0">
                            <a:latin typeface="Cambria Math" panose="02040503050406030204" pitchFamily="18" charset="0"/>
                          </a:rPr>
                          <m:t>𝒄</m:t>
                        </m:r>
                      </m:e>
                    </m:d>
                    <m:r>
                      <a:rPr lang="en-US" altLang="zh-CN" b="1" i="1">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𝒅</m:t>
                        </m:r>
                      </m:e>
                      <m:sub>
                        <m:sSub>
                          <m:sSubPr>
                            <m:ctrlPr>
                              <a:rPr lang="en-US" altLang="zh-CN" i="1">
                                <a:latin typeface="Cambria Math" panose="02040503050406030204" pitchFamily="18" charset="0"/>
                              </a:rPr>
                            </m:ctrlPr>
                          </m:sSubPr>
                          <m:e>
                            <m:r>
                              <a:rPr lang="en-US" altLang="zh-CN" b="1" i="1">
                                <a:latin typeface="Cambria Math" panose="02040503050406030204" pitchFamily="18" charset="0"/>
                              </a:rPr>
                              <m:t>𝒌</m:t>
                            </m:r>
                          </m:e>
                          <m:sub>
                            <m:r>
                              <a:rPr lang="en-US" altLang="zh-CN" b="1" i="1">
                                <a:latin typeface="Cambria Math" panose="02040503050406030204" pitchFamily="18" charset="0"/>
                              </a:rPr>
                              <m:t>𝟐</m:t>
                            </m:r>
                          </m:sub>
                        </m:sSub>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b="1" i="1">
                                <a:latin typeface="Cambria Math" panose="02040503050406030204" pitchFamily="18" charset="0"/>
                              </a:rPr>
                              <m:t>𝒆</m:t>
                            </m:r>
                          </m:e>
                          <m:sub>
                            <m:sSub>
                              <m:sSubPr>
                                <m:ctrlPr>
                                  <a:rPr lang="en-US" altLang="zh-CN" i="1">
                                    <a:latin typeface="Cambria Math" panose="02040503050406030204" pitchFamily="18" charset="0"/>
                                  </a:rPr>
                                </m:ctrlPr>
                              </m:sSubPr>
                              <m:e>
                                <m:r>
                                  <a:rPr lang="en-US" altLang="zh-CN" b="1" i="1">
                                    <a:latin typeface="Cambria Math" panose="02040503050406030204" pitchFamily="18" charset="0"/>
                                  </a:rPr>
                                  <m:t>𝒌</m:t>
                                </m:r>
                              </m:e>
                              <m:sub>
                                <m:r>
                                  <a:rPr lang="en-US" altLang="zh-CN" b="1" i="1">
                                    <a:latin typeface="Cambria Math" panose="02040503050406030204" pitchFamily="18" charset="0"/>
                                  </a:rPr>
                                  <m:t>𝟏</m:t>
                                </m:r>
                              </m:sub>
                            </m:sSub>
                          </m:sub>
                        </m:sSub>
                        <m:d>
                          <m:dPr>
                            <m:ctrlPr>
                              <a:rPr lang="en-US" altLang="zh-CN" i="1">
                                <a:latin typeface="Cambria Math" panose="02040503050406030204" pitchFamily="18" charset="0"/>
                              </a:rPr>
                            </m:ctrlPr>
                          </m:dPr>
                          <m:e>
                            <m:r>
                              <a:rPr lang="en-US" altLang="zh-CN" b="1" i="1" smtClean="0">
                                <a:latin typeface="Cambria Math" panose="02040503050406030204" pitchFamily="18" charset="0"/>
                              </a:rPr>
                              <m:t>𝒄</m:t>
                            </m:r>
                          </m:e>
                        </m:d>
                      </m:e>
                    </m:d>
                  </m:oMath>
                </a14:m>
                <a:endParaRPr lang="en-US"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371301" y="1232704"/>
                <a:ext cx="11464528" cy="5509407"/>
              </a:xfrm>
              <a:blipFill>
                <a:blip r:embed="rId2"/>
                <a:stretch>
                  <a:fillRect l="-957" t="-664" r="-3402" b="-1327"/>
                </a:stretch>
              </a:blipFill>
            </p:spPr>
            <p:txBody>
              <a:bodyPr/>
              <a:lstStyle/>
              <a:p>
                <a:r>
                  <a:rPr lang="zh-CN" altLang="en-US">
                    <a:noFill/>
                  </a:rPr>
                  <a:t> </a:t>
                </a:r>
              </a:p>
            </p:txBody>
          </p:sp>
        </mc:Fallback>
      </mc:AlternateContent>
      <p:sp>
        <p:nvSpPr>
          <p:cNvPr id="3" name="灯片编号占位符 2"/>
          <p:cNvSpPr>
            <a:spLocks noGrp="1"/>
          </p:cNvSpPr>
          <p:nvPr>
            <p:ph type="sldNum" sz="quarter" idx="4"/>
          </p:nvPr>
        </p:nvSpPr>
        <p:spPr/>
        <p:txBody>
          <a:bodyPr/>
          <a:lstStyle/>
          <a:p>
            <a:fld id="{4124EDF5-87F7-4AC5-8292-B04417157FC2}" type="slidenum">
              <a:rPr lang="zh-CN" altLang="en-US" smtClean="0"/>
              <a:t>6</a:t>
            </a:fld>
            <a:endParaRPr lang="zh-CN" altLang="en-US"/>
          </a:p>
        </p:txBody>
      </p:sp>
      <p:sp>
        <p:nvSpPr>
          <p:cNvPr id="4" name="标题 3"/>
          <p:cNvSpPr>
            <a:spLocks noGrp="1"/>
          </p:cNvSpPr>
          <p:nvPr>
            <p:ph type="title"/>
          </p:nvPr>
        </p:nvSpPr>
        <p:spPr/>
        <p:txBody>
          <a:bodyPr/>
          <a:lstStyle/>
          <a:p>
            <a:r>
              <a:rPr lang="zh-CN" altLang="en-US" dirty="0"/>
              <a:t>香农的密码设计思想</a:t>
            </a:r>
            <a:endParaRPr lang="en-US" dirty="0"/>
          </a:p>
        </p:txBody>
      </p:sp>
      <p:pic>
        <p:nvPicPr>
          <p:cNvPr id="5" name="图片 4">
            <a:extLst>
              <a:ext uri="{FF2B5EF4-FFF2-40B4-BE49-F238E27FC236}">
                <a16:creationId xmlns:a16="http://schemas.microsoft.com/office/drawing/2014/main" id="{535A147B-8DCF-E074-6B16-CBE7DF67EE8B}"/>
              </a:ext>
            </a:extLst>
          </p:cNvPr>
          <p:cNvPicPr>
            <a:picLocks noChangeAspect="1"/>
          </p:cNvPicPr>
          <p:nvPr/>
        </p:nvPicPr>
        <p:blipFill>
          <a:blip r:embed="rId3"/>
          <a:stretch>
            <a:fillRect/>
          </a:stretch>
        </p:blipFill>
        <p:spPr>
          <a:xfrm>
            <a:off x="8692240" y="4913910"/>
            <a:ext cx="3075449" cy="93906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文本框 5">
            <a:extLst>
              <a:ext uri="{FF2B5EF4-FFF2-40B4-BE49-F238E27FC236}">
                <a16:creationId xmlns:a16="http://schemas.microsoft.com/office/drawing/2014/main" id="{43CA8437-2DAE-4C04-2805-99F2AA2035BB}"/>
              </a:ext>
            </a:extLst>
          </p:cNvPr>
          <p:cNvSpPr txBox="1"/>
          <p:nvPr/>
        </p:nvSpPr>
        <p:spPr>
          <a:xfrm>
            <a:off x="9675967" y="5974030"/>
            <a:ext cx="1107996"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dirty="0"/>
              <a:t>移位密码</a:t>
            </a:r>
          </a:p>
        </p:txBody>
      </p:sp>
    </p:spTree>
    <p:extLst>
      <p:ext uri="{BB962C8B-B14F-4D97-AF65-F5344CB8AC3E}">
        <p14:creationId xmlns:p14="http://schemas.microsoft.com/office/powerpoint/2010/main" val="3467135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F8DCCF85-07D1-A4EA-A143-69F857308E89}"/>
                  </a:ext>
                </a:extLst>
              </p:cNvPr>
              <p:cNvSpPr>
                <a:spLocks noGrp="1"/>
              </p:cNvSpPr>
              <p:nvPr>
                <p:ph idx="1"/>
              </p:nvPr>
            </p:nvSpPr>
            <p:spPr>
              <a:xfrm>
                <a:off x="371301" y="1232705"/>
                <a:ext cx="11464528" cy="5366878"/>
              </a:xfrm>
            </p:spPr>
            <p:txBody>
              <a:bodyPr/>
              <a:lstStyle/>
              <a:p>
                <a:r>
                  <a:rPr lang="zh-CN" altLang="en-US" dirty="0"/>
                  <a:t>香农新思想</a:t>
                </a:r>
                <a:r>
                  <a:rPr lang="en-US" altLang="zh-CN" dirty="0"/>
                  <a:t>:</a:t>
                </a:r>
                <a:r>
                  <a:rPr lang="zh-CN" altLang="en-US" dirty="0"/>
                  <a:t>通过“乘积”组合密码体制。</a:t>
                </a:r>
                <a:endParaRPr lang="en-US" altLang="zh-CN" dirty="0"/>
              </a:p>
              <a:p>
                <a:pPr lvl="1"/>
                <a:r>
                  <a:rPr lang="zh-CN" altLang="en-US" dirty="0"/>
                  <a:t>如果将（内包的）密码体制和自己做乘积，则得到密码体制</a:t>
                </a:r>
                <a14:m>
                  <m:oMath xmlns:m="http://schemas.openxmlformats.org/officeDocument/2006/math">
                    <m:r>
                      <a:rPr lang="en-US" altLang="zh-CN" b="1" i="1" dirty="0" smtClean="0">
                        <a:latin typeface="Cambria Math" panose="02040503050406030204" pitchFamily="18" charset="0"/>
                      </a:rPr>
                      <m:t>𝑺</m:t>
                    </m:r>
                    <m:r>
                      <a:rPr lang="en-US" altLang="zh-CN" b="1" i="1" dirty="0">
                        <a:latin typeface="Cambria Math" panose="02040503050406030204" pitchFamily="18" charset="0"/>
                      </a:rPr>
                      <m:t>×</m:t>
                    </m:r>
                    <m:r>
                      <a:rPr lang="en-US" altLang="zh-CN" b="1" i="1" dirty="0" err="1" smtClean="0">
                        <a:latin typeface="Cambria Math" panose="02040503050406030204" pitchFamily="18" charset="0"/>
                      </a:rPr>
                      <m:t>𝑺</m:t>
                    </m:r>
                    <m:r>
                      <a:rPr lang="zh-CN" altLang="en-US" b="1" i="1" dirty="0" err="1">
                        <a:latin typeface="Cambria Math" panose="02040503050406030204" pitchFamily="18" charset="0"/>
                      </a:rPr>
                      <m:t>，</m:t>
                    </m:r>
                  </m:oMath>
                </a14:m>
                <a:r>
                  <a:rPr lang="zh-CN" altLang="en-US" dirty="0"/>
                  <a:t>记为</a:t>
                </a:r>
                <a14:m>
                  <m:oMath xmlns:m="http://schemas.openxmlformats.org/officeDocument/2006/math">
                    <m:sSup>
                      <m:sSupPr>
                        <m:ctrlPr>
                          <a:rPr lang="en-US" altLang="zh-CN" i="1" smtClean="0">
                            <a:latin typeface="Cambria Math" panose="02040503050406030204" pitchFamily="18" charset="0"/>
                          </a:rPr>
                        </m:ctrlPr>
                      </m:sSupPr>
                      <m:e>
                        <m:r>
                          <a:rPr lang="en-US" altLang="zh-CN" b="1" i="1" smtClean="0">
                            <a:latin typeface="Cambria Math" panose="02040503050406030204" pitchFamily="18" charset="0"/>
                          </a:rPr>
                          <m:t>𝑺</m:t>
                        </m:r>
                      </m:e>
                      <m:sup>
                        <m:r>
                          <a:rPr lang="en-US" altLang="zh-CN" b="1" i="1" smtClean="0">
                            <a:latin typeface="Cambria Math" panose="02040503050406030204" pitchFamily="18" charset="0"/>
                          </a:rPr>
                          <m:t>𝟐</m:t>
                        </m:r>
                      </m:sup>
                    </m:sSup>
                  </m:oMath>
                </a14:m>
                <a:r>
                  <a:rPr lang="zh-CN" altLang="en-US" dirty="0"/>
                  <a:t>。如果做</a:t>
                </a:r>
                <a:r>
                  <a:rPr lang="en-US" altLang="zh-CN" dirty="0"/>
                  <a:t>n</a:t>
                </a:r>
                <a:r>
                  <a:rPr lang="zh-CN" altLang="en-US" dirty="0"/>
                  <a:t>重乘积，则得到的密码体制记为</a:t>
                </a:r>
                <a14:m>
                  <m:oMath xmlns:m="http://schemas.openxmlformats.org/officeDocument/2006/math">
                    <m:sSup>
                      <m:sSupPr>
                        <m:ctrlPr>
                          <a:rPr lang="en-US" altLang="zh-CN" i="1" dirty="0" smtClean="0">
                            <a:latin typeface="Cambria Math" panose="02040503050406030204" pitchFamily="18" charset="0"/>
                          </a:rPr>
                        </m:ctrlPr>
                      </m:sSupPr>
                      <m:e>
                        <m:r>
                          <a:rPr lang="en-US" altLang="zh-CN" b="1" i="1" dirty="0" smtClean="0">
                            <a:latin typeface="Cambria Math" panose="02040503050406030204" pitchFamily="18" charset="0"/>
                          </a:rPr>
                          <m:t>𝑺</m:t>
                        </m:r>
                      </m:e>
                      <m:sup>
                        <m:r>
                          <a:rPr lang="en-US" altLang="zh-CN" b="1" i="1" dirty="0" smtClean="0">
                            <a:latin typeface="Cambria Math" panose="02040503050406030204" pitchFamily="18" charset="0"/>
                          </a:rPr>
                          <m:t>𝒏</m:t>
                        </m:r>
                      </m:sup>
                    </m:sSup>
                  </m:oMath>
                </a14:m>
                <a:r>
                  <a:rPr lang="zh-CN" altLang="en-US" dirty="0"/>
                  <a:t>。</a:t>
                </a:r>
                <a:endParaRPr lang="en-US" altLang="zh-CN" dirty="0"/>
              </a:p>
              <a:p>
                <a:pPr lvl="1"/>
                <a:r>
                  <a:rPr lang="zh-CN" altLang="en-US" dirty="0"/>
                  <a:t>如果 </a:t>
                </a:r>
                <a14:m>
                  <m:oMath xmlns:m="http://schemas.openxmlformats.org/officeDocument/2006/math">
                    <m:sSup>
                      <m:sSupPr>
                        <m:ctrlPr>
                          <a:rPr lang="en-US" altLang="zh-CN" i="1" dirty="0" smtClean="0">
                            <a:latin typeface="Cambria Math" panose="02040503050406030204" pitchFamily="18" charset="0"/>
                          </a:rPr>
                        </m:ctrlPr>
                      </m:sSupPr>
                      <m:e>
                        <m:r>
                          <a:rPr lang="en-US" altLang="zh-CN" b="1" i="1" dirty="0" smtClean="0">
                            <a:latin typeface="Cambria Math" panose="02040503050406030204" pitchFamily="18" charset="0"/>
                          </a:rPr>
                          <m:t>𝑺</m:t>
                        </m:r>
                      </m:e>
                      <m:sup>
                        <m:r>
                          <a:rPr lang="en-US" altLang="zh-CN" b="1" i="1" dirty="0" smtClean="0">
                            <a:latin typeface="Cambria Math" panose="02040503050406030204" pitchFamily="18" charset="0"/>
                          </a:rPr>
                          <m:t>𝟐</m:t>
                        </m:r>
                      </m:sup>
                    </m:sSup>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𝑺</m:t>
                    </m:r>
                    <m:r>
                      <a:rPr lang="en-US" altLang="zh-CN" b="1" i="1" dirty="0" smtClean="0">
                        <a:latin typeface="Cambria Math" panose="02040503050406030204" pitchFamily="18" charset="0"/>
                      </a:rPr>
                      <m:t> </m:t>
                    </m:r>
                  </m:oMath>
                </a14:m>
                <a:r>
                  <a:rPr lang="zh-CN" altLang="en-US" dirty="0"/>
                  <a:t>，称这个密码体制是幂等的。例如，移位密码、仿射密码等代换密码以及置换密码都是幂等的。如果一个密码体制是幂等的，那么使用乘积系统就毫无意义如果密码体制不是幂等的，那么多次迭代有可能提高安全性。 </a:t>
                </a:r>
              </a:p>
              <a:p>
                <a:r>
                  <a:rPr lang="zh-CN" altLang="en-US" dirty="0"/>
                  <a:t>构造简单的非幂等密码体制的方法之一是对两个不同的简单密码体制做乘积运算。通常采用将代换密码和置换密码做乘积运算的形式。</a:t>
                </a:r>
                <a:endParaRPr lang="en-US" altLang="zh-CN" dirty="0"/>
              </a:p>
              <a:p>
                <a:pPr lvl="1"/>
                <a:r>
                  <a:rPr lang="en-US" altLang="zh-CN" dirty="0"/>
                  <a:t>AES</a:t>
                </a:r>
                <a:r>
                  <a:rPr lang="zh-CN" altLang="en-US" dirty="0"/>
                  <a:t>（高级加密标准）、</a:t>
                </a:r>
                <a:r>
                  <a:rPr lang="en-US" altLang="zh-CN" dirty="0"/>
                  <a:t>DES</a:t>
                </a:r>
                <a:r>
                  <a:rPr lang="zh-CN" altLang="en-US" dirty="0"/>
                  <a:t>（数据加密标准）等分组密码算法的设计都采用了香农的乘积密码（</a:t>
                </a:r>
                <a:r>
                  <a:rPr lang="en-US" altLang="zh-CN" dirty="0"/>
                  <a:t>Product Cipher</a:t>
                </a:r>
                <a:r>
                  <a:rPr lang="zh-CN" altLang="en-US" dirty="0"/>
                  <a:t>）设计思想。 </a:t>
                </a:r>
              </a:p>
            </p:txBody>
          </p:sp>
        </mc:Choice>
        <mc:Fallback xmlns="">
          <p:sp>
            <p:nvSpPr>
              <p:cNvPr id="2" name="内容占位符 1">
                <a:extLst>
                  <a:ext uri="{FF2B5EF4-FFF2-40B4-BE49-F238E27FC236}">
                    <a16:creationId xmlns:a16="http://schemas.microsoft.com/office/drawing/2014/main" id="{F8DCCF85-07D1-A4EA-A143-69F857308E89}"/>
                  </a:ext>
                </a:extLst>
              </p:cNvPr>
              <p:cNvSpPr>
                <a:spLocks noGrp="1" noRot="1" noChangeAspect="1" noMove="1" noResize="1" noEditPoints="1" noAdjustHandles="1" noChangeArrowheads="1" noChangeShapeType="1" noTextEdit="1"/>
              </p:cNvSpPr>
              <p:nvPr>
                <p:ph idx="1"/>
              </p:nvPr>
            </p:nvSpPr>
            <p:spPr>
              <a:xfrm>
                <a:off x="371301" y="1232705"/>
                <a:ext cx="11464528" cy="5366878"/>
              </a:xfrm>
              <a:blipFill>
                <a:blip r:embed="rId2"/>
                <a:stretch>
                  <a:fillRect l="-957" t="-681" r="-2924"/>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54FBCBA9-7330-D042-611B-6FEC430323A9}"/>
              </a:ext>
            </a:extLst>
          </p:cNvPr>
          <p:cNvSpPr>
            <a:spLocks noGrp="1"/>
          </p:cNvSpPr>
          <p:nvPr>
            <p:ph type="sldNum" sz="quarter" idx="4"/>
          </p:nvPr>
        </p:nvSpPr>
        <p:spPr/>
        <p:txBody>
          <a:bodyPr/>
          <a:lstStyle/>
          <a:p>
            <a:fld id="{4124EDF5-87F7-4AC5-8292-B04417157FC2}" type="slidenum">
              <a:rPr lang="zh-CN" altLang="en-US" smtClean="0"/>
              <a:t>7</a:t>
            </a:fld>
            <a:endParaRPr lang="zh-CN" altLang="en-US"/>
          </a:p>
        </p:txBody>
      </p:sp>
      <p:sp>
        <p:nvSpPr>
          <p:cNvPr id="4" name="标题 3">
            <a:extLst>
              <a:ext uri="{FF2B5EF4-FFF2-40B4-BE49-F238E27FC236}">
                <a16:creationId xmlns:a16="http://schemas.microsoft.com/office/drawing/2014/main" id="{7FD9BA59-971E-1C8E-30EF-E7E6033252C8}"/>
              </a:ext>
            </a:extLst>
          </p:cNvPr>
          <p:cNvSpPr>
            <a:spLocks noGrp="1"/>
          </p:cNvSpPr>
          <p:nvPr>
            <p:ph type="title"/>
          </p:nvPr>
        </p:nvSpPr>
        <p:spPr/>
        <p:txBody>
          <a:bodyPr/>
          <a:lstStyle/>
          <a:p>
            <a:r>
              <a:rPr lang="zh-CN" altLang="en-US" dirty="0"/>
              <a:t>香农的密码设计思想</a:t>
            </a:r>
          </a:p>
        </p:txBody>
      </p:sp>
    </p:spTree>
    <p:extLst>
      <p:ext uri="{BB962C8B-B14F-4D97-AF65-F5344CB8AC3E}">
        <p14:creationId xmlns:p14="http://schemas.microsoft.com/office/powerpoint/2010/main" val="4005399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79A3651-4106-9933-6429-87A07C4BA1BD}"/>
              </a:ext>
            </a:extLst>
          </p:cNvPr>
          <p:cNvSpPr>
            <a:spLocks noGrp="1"/>
          </p:cNvSpPr>
          <p:nvPr>
            <p:ph idx="1"/>
          </p:nvPr>
        </p:nvSpPr>
        <p:spPr/>
        <p:txBody>
          <a:bodyPr/>
          <a:lstStyle/>
          <a:p>
            <a:r>
              <a:rPr lang="zh-CN" altLang="en-US" dirty="0"/>
              <a:t>历史背景</a:t>
            </a:r>
          </a:p>
          <a:p>
            <a:pPr lvl="1"/>
            <a:r>
              <a:rPr lang="en-US" altLang="zh-CN" dirty="0"/>
              <a:t>1917 </a:t>
            </a:r>
            <a:r>
              <a:rPr lang="zh-CN" altLang="en-US" dirty="0"/>
              <a:t>年：</a:t>
            </a:r>
            <a:r>
              <a:rPr lang="en-US" altLang="zh-CN" dirty="0"/>
              <a:t>Vernam </a:t>
            </a:r>
            <a:r>
              <a:rPr lang="zh-CN" altLang="en-US" dirty="0"/>
              <a:t>发明“一次一密”（</a:t>
            </a:r>
            <a:r>
              <a:rPr lang="en-US" altLang="zh-CN" dirty="0"/>
              <a:t>One-Time Pad</a:t>
            </a:r>
            <a:r>
              <a:rPr lang="zh-CN" altLang="en-US" dirty="0"/>
              <a:t>，</a:t>
            </a:r>
            <a:r>
              <a:rPr lang="en-US" altLang="zh-CN" dirty="0"/>
              <a:t>OTP</a:t>
            </a:r>
            <a:r>
              <a:rPr lang="zh-CN" altLang="en-US" dirty="0"/>
              <a:t>）。</a:t>
            </a:r>
          </a:p>
          <a:p>
            <a:pPr lvl="1"/>
            <a:r>
              <a:rPr lang="en-US" altLang="zh-CN" dirty="0"/>
              <a:t>1949 </a:t>
            </a:r>
            <a:r>
              <a:rPr lang="zh-CN" altLang="en-US" dirty="0"/>
              <a:t>年：香农提出完善保密（</a:t>
            </a:r>
            <a:r>
              <a:rPr lang="en-US" altLang="zh-CN" dirty="0"/>
              <a:t>Perfect Secrecy</a:t>
            </a:r>
            <a:r>
              <a:rPr lang="zh-CN" altLang="en-US" dirty="0"/>
              <a:t>）概念，并证明 </a:t>
            </a:r>
            <a:r>
              <a:rPr lang="en-US" altLang="zh-CN" dirty="0"/>
              <a:t>OTP </a:t>
            </a:r>
            <a:r>
              <a:rPr lang="zh-CN" altLang="en-US" dirty="0"/>
              <a:t>可实现该安全性。</a:t>
            </a:r>
          </a:p>
          <a:p>
            <a:r>
              <a:rPr lang="zh-CN" altLang="en-US" dirty="0"/>
              <a:t>完善保密的条件</a:t>
            </a:r>
          </a:p>
          <a:p>
            <a:pPr lvl="1"/>
            <a:r>
              <a:rPr lang="zh-CN" altLang="en-US" dirty="0"/>
              <a:t>密钥空间 ≥ 明文空间；密钥长度 ≥ 明文长度；实际应用受限，尤其在商业环境下难以使用。</a:t>
            </a:r>
          </a:p>
          <a:p>
            <a:r>
              <a:rPr lang="zh-CN" altLang="en-US" dirty="0"/>
              <a:t>伪随机性引入：只要在多项式时间内无法区分与真随机的差别，即可视为安全。</a:t>
            </a:r>
          </a:p>
          <a:p>
            <a:r>
              <a:rPr lang="zh-CN" altLang="en-US" dirty="0"/>
              <a:t>伪随机生成器（</a:t>
            </a:r>
            <a:r>
              <a:rPr lang="en-US" altLang="zh-CN" dirty="0"/>
              <a:t>PRG</a:t>
            </a:r>
            <a:r>
              <a:rPr lang="zh-CN" altLang="en-US" dirty="0"/>
              <a:t>）：短种子 → 长伪随机串。</a:t>
            </a:r>
          </a:p>
          <a:p>
            <a:pPr lvl="1"/>
            <a:r>
              <a:rPr lang="zh-CN" altLang="en-US" dirty="0"/>
              <a:t>优点：短密钥即可加密长消息。</a:t>
            </a:r>
          </a:p>
          <a:p>
            <a:r>
              <a:rPr lang="zh-CN" altLang="en-US" dirty="0"/>
              <a:t>安全性要求：种子必须均匀随机且保密；种子长度足够大，避免暴力遍历；</a:t>
            </a:r>
            <a:r>
              <a:rPr lang="en-US" altLang="zh-CN" dirty="0"/>
              <a:t>PRG </a:t>
            </a:r>
            <a:r>
              <a:rPr lang="zh-CN" altLang="en-US" dirty="0"/>
              <a:t>的存在依赖“困难问题”假设（如无已知多项式时间解）</a:t>
            </a:r>
          </a:p>
          <a:p>
            <a:endParaRPr lang="zh-CN" altLang="en-US" dirty="0"/>
          </a:p>
        </p:txBody>
      </p:sp>
      <p:sp>
        <p:nvSpPr>
          <p:cNvPr id="3" name="灯片编号占位符 2">
            <a:extLst>
              <a:ext uri="{FF2B5EF4-FFF2-40B4-BE49-F238E27FC236}">
                <a16:creationId xmlns:a16="http://schemas.microsoft.com/office/drawing/2014/main" id="{68A1E003-A81F-1B14-A455-1549E2DB154E}"/>
              </a:ext>
            </a:extLst>
          </p:cNvPr>
          <p:cNvSpPr>
            <a:spLocks noGrp="1"/>
          </p:cNvSpPr>
          <p:nvPr>
            <p:ph type="sldNum" sz="quarter" idx="4"/>
          </p:nvPr>
        </p:nvSpPr>
        <p:spPr/>
        <p:txBody>
          <a:bodyPr/>
          <a:lstStyle/>
          <a:p>
            <a:fld id="{4124EDF5-87F7-4AC5-8292-B04417157FC2}" type="slidenum">
              <a:rPr lang="zh-CN" altLang="en-US" smtClean="0"/>
              <a:t>8</a:t>
            </a:fld>
            <a:endParaRPr lang="zh-CN" altLang="en-US"/>
          </a:p>
        </p:txBody>
      </p:sp>
      <p:sp>
        <p:nvSpPr>
          <p:cNvPr id="4" name="标题 3">
            <a:extLst>
              <a:ext uri="{FF2B5EF4-FFF2-40B4-BE49-F238E27FC236}">
                <a16:creationId xmlns:a16="http://schemas.microsoft.com/office/drawing/2014/main" id="{9AC8E9CA-B9E3-2363-6FAE-37B652B6908A}"/>
              </a:ext>
            </a:extLst>
          </p:cNvPr>
          <p:cNvSpPr>
            <a:spLocks noGrp="1"/>
          </p:cNvSpPr>
          <p:nvPr>
            <p:ph type="title"/>
          </p:nvPr>
        </p:nvSpPr>
        <p:spPr/>
        <p:txBody>
          <a:bodyPr/>
          <a:lstStyle/>
          <a:p>
            <a:r>
              <a:rPr lang="zh-CN" altLang="en-US" dirty="0"/>
              <a:t>流密码</a:t>
            </a:r>
          </a:p>
        </p:txBody>
      </p:sp>
    </p:spTree>
    <p:extLst>
      <p:ext uri="{BB962C8B-B14F-4D97-AF65-F5344CB8AC3E}">
        <p14:creationId xmlns:p14="http://schemas.microsoft.com/office/powerpoint/2010/main" val="600961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C416D2F-FCE9-69BC-D39D-92B97A6F829E}"/>
              </a:ext>
            </a:extLst>
          </p:cNvPr>
          <p:cNvSpPr>
            <a:spLocks noGrp="1"/>
          </p:cNvSpPr>
          <p:nvPr>
            <p:ph idx="1"/>
          </p:nvPr>
        </p:nvSpPr>
        <p:spPr>
          <a:xfrm>
            <a:off x="371301" y="1232704"/>
            <a:ext cx="8653429" cy="5293991"/>
          </a:xfrm>
        </p:spPr>
        <p:txBody>
          <a:bodyPr/>
          <a:lstStyle/>
          <a:p>
            <a:r>
              <a:rPr lang="zh-CN" altLang="en-US" dirty="0"/>
              <a:t>密钥作为一个种子，被应用到一个伪随机发生器，并通过填充来获得一个长的随机字符串；然后，该随机字符串和明文消息做异或运算，如图</a:t>
            </a:r>
            <a:r>
              <a:rPr lang="en-US" altLang="zh-CN" dirty="0"/>
              <a:t>2.3</a:t>
            </a:r>
            <a:r>
              <a:rPr lang="zh-CN" altLang="en-US" dirty="0"/>
              <a:t>所示。</a:t>
            </a:r>
            <a:endParaRPr lang="en-US" altLang="zh-CN" dirty="0"/>
          </a:p>
          <a:p>
            <a:pPr lvl="1"/>
            <a:r>
              <a:rPr lang="zh-CN" altLang="en-US" dirty="0"/>
              <a:t>加密的执行会首先生成一个伪随机位流，然后将该位流和明文做异或运算。 </a:t>
            </a:r>
            <a:endParaRPr lang="en-US" altLang="zh-CN" dirty="0"/>
          </a:p>
          <a:p>
            <a:pPr marL="257175" lvl="1" indent="-257175">
              <a:buChar char="•"/>
            </a:pPr>
            <a:r>
              <a:rPr lang="zh-CN" altLang="en-US" sz="2400" dirty="0"/>
              <a:t>在二元加法流密码中，若密钥流序列完全随机，则该系统就是一个完善的保密系统（一次一密）。</a:t>
            </a:r>
            <a:endParaRPr lang="en-US" altLang="zh-CN" sz="2400" dirty="0"/>
          </a:p>
          <a:p>
            <a:pPr marL="257175" lvl="1" indent="-257175">
              <a:buChar char="•"/>
            </a:pPr>
            <a:r>
              <a:rPr lang="zh-CN" altLang="en-US" sz="2400" dirty="0"/>
              <a:t>序列密码中对密钥有如下要求：</a:t>
            </a:r>
            <a:endParaRPr lang="en-US" altLang="zh-CN" sz="2400" dirty="0"/>
          </a:p>
          <a:p>
            <a:pPr lvl="1"/>
            <a:r>
              <a:rPr lang="zh-CN" altLang="en-US" dirty="0"/>
              <a:t>①极大的周期②良好的统计特性③高线性复杂度④用统计方法从密钥序列提取密钥生成器结构或密钥源的足够信息在计算上是不可能的</a:t>
            </a:r>
          </a:p>
        </p:txBody>
      </p:sp>
      <p:sp>
        <p:nvSpPr>
          <p:cNvPr id="3" name="灯片编号占位符 2">
            <a:extLst>
              <a:ext uri="{FF2B5EF4-FFF2-40B4-BE49-F238E27FC236}">
                <a16:creationId xmlns:a16="http://schemas.microsoft.com/office/drawing/2014/main" id="{055DF2E0-A874-EF74-52C9-9E59DE84B5C2}"/>
              </a:ext>
            </a:extLst>
          </p:cNvPr>
          <p:cNvSpPr>
            <a:spLocks noGrp="1"/>
          </p:cNvSpPr>
          <p:nvPr>
            <p:ph type="sldNum" sz="quarter" idx="4"/>
          </p:nvPr>
        </p:nvSpPr>
        <p:spPr/>
        <p:txBody>
          <a:bodyPr/>
          <a:lstStyle/>
          <a:p>
            <a:fld id="{4124EDF5-87F7-4AC5-8292-B04417157FC2}" type="slidenum">
              <a:rPr lang="zh-CN" altLang="en-US" smtClean="0"/>
              <a:t>9</a:t>
            </a:fld>
            <a:endParaRPr lang="zh-CN" altLang="en-US"/>
          </a:p>
        </p:txBody>
      </p:sp>
      <p:sp>
        <p:nvSpPr>
          <p:cNvPr id="4" name="标题 3">
            <a:extLst>
              <a:ext uri="{FF2B5EF4-FFF2-40B4-BE49-F238E27FC236}">
                <a16:creationId xmlns:a16="http://schemas.microsoft.com/office/drawing/2014/main" id="{79025628-953C-9D70-FC89-BFBD24550FCD}"/>
              </a:ext>
            </a:extLst>
          </p:cNvPr>
          <p:cNvSpPr>
            <a:spLocks noGrp="1"/>
          </p:cNvSpPr>
          <p:nvPr>
            <p:ph type="title"/>
          </p:nvPr>
        </p:nvSpPr>
        <p:spPr/>
        <p:txBody>
          <a:bodyPr/>
          <a:lstStyle/>
          <a:p>
            <a:r>
              <a:rPr lang="zh-CN" altLang="en-US" dirty="0"/>
              <a:t>流密码 设计方案</a:t>
            </a:r>
          </a:p>
        </p:txBody>
      </p:sp>
      <p:pic>
        <p:nvPicPr>
          <p:cNvPr id="5" name="图片 4">
            <a:extLst>
              <a:ext uri="{FF2B5EF4-FFF2-40B4-BE49-F238E27FC236}">
                <a16:creationId xmlns:a16="http://schemas.microsoft.com/office/drawing/2014/main" id="{9C7DE7DB-9781-0208-5ADA-B434404F0D21}"/>
              </a:ext>
            </a:extLst>
          </p:cNvPr>
          <p:cNvPicPr>
            <a:picLocks noChangeAspect="1"/>
          </p:cNvPicPr>
          <p:nvPr/>
        </p:nvPicPr>
        <p:blipFill>
          <a:blip r:embed="rId2"/>
          <a:stretch>
            <a:fillRect/>
          </a:stretch>
        </p:blipFill>
        <p:spPr>
          <a:xfrm>
            <a:off x="9142115" y="1983506"/>
            <a:ext cx="3049885" cy="3999849"/>
          </a:xfrm>
          <a:prstGeom prst="rect">
            <a:avLst/>
          </a:prstGeom>
        </p:spPr>
      </p:pic>
    </p:spTree>
    <p:extLst>
      <p:ext uri="{BB962C8B-B14F-4D97-AF65-F5344CB8AC3E}">
        <p14:creationId xmlns:p14="http://schemas.microsoft.com/office/powerpoint/2010/main" val="2756753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1488954-40BB-3364-5D8F-E749A65F20B8}"/>
              </a:ext>
            </a:extLst>
          </p:cNvPr>
          <p:cNvSpPr>
            <a:spLocks noGrp="1"/>
          </p:cNvSpPr>
          <p:nvPr>
            <p:ph idx="1"/>
          </p:nvPr>
        </p:nvSpPr>
        <p:spPr/>
        <p:txBody>
          <a:bodyPr/>
          <a:lstStyle/>
          <a:p>
            <a:r>
              <a:rPr lang="zh-CN" altLang="en-US" dirty="0"/>
              <a:t>线性反馈移位寄存器（</a:t>
            </a:r>
            <a:r>
              <a:rPr lang="en-US" altLang="zh-CN" dirty="0"/>
              <a:t>Linear Feedback Shift Register</a:t>
            </a:r>
            <a:r>
              <a:rPr lang="zh-CN" altLang="en-US" dirty="0"/>
              <a:t>，</a:t>
            </a:r>
            <a:r>
              <a:rPr lang="en-US" altLang="zh-CN" dirty="0"/>
              <a:t>LFSR</a:t>
            </a:r>
            <a:r>
              <a:rPr lang="zh-CN" altLang="en-US" dirty="0"/>
              <a:t>）曾经是很流行的流密码。但是，它们被证明非常不安全：在某种程度上，只要给定足够多字节的输出，就能够完全将密钥恢复出来。</a:t>
            </a:r>
            <a:endParaRPr lang="en-US" altLang="zh-CN" dirty="0"/>
          </a:p>
          <a:p>
            <a:r>
              <a:rPr lang="zh-CN" altLang="en-US" dirty="0"/>
              <a:t>密钥流生成器通常的构造方法是同时使用</a:t>
            </a:r>
            <a:r>
              <a:rPr lang="en-US" altLang="zh-CN" dirty="0"/>
              <a:t>LFSR</a:t>
            </a:r>
            <a:r>
              <a:rPr lang="zh-CN" altLang="en-US" dirty="0"/>
              <a:t>和非线性组合函数</a:t>
            </a:r>
            <a:r>
              <a:rPr lang="en-US" altLang="zh-CN" dirty="0"/>
              <a:t>F</a:t>
            </a:r>
            <a:r>
              <a:rPr lang="zh-CN" altLang="en-US" dirty="0"/>
              <a:t>，如图</a:t>
            </a:r>
            <a:r>
              <a:rPr lang="en-US" altLang="zh-CN" dirty="0"/>
              <a:t>2.4</a:t>
            </a:r>
            <a:r>
              <a:rPr lang="zh-CN" altLang="en-US" dirty="0"/>
              <a:t>所示。其中，非线性组合函数</a:t>
            </a:r>
            <a:r>
              <a:rPr lang="en-US" altLang="zh-CN" dirty="0"/>
              <a:t>F</a:t>
            </a:r>
            <a:r>
              <a:rPr lang="zh-CN" altLang="en-US" dirty="0"/>
              <a:t>的选择非常重要，直接关系到流密码的安全水平。 </a:t>
            </a:r>
          </a:p>
        </p:txBody>
      </p:sp>
      <p:sp>
        <p:nvSpPr>
          <p:cNvPr id="3" name="灯片编号占位符 2">
            <a:extLst>
              <a:ext uri="{FF2B5EF4-FFF2-40B4-BE49-F238E27FC236}">
                <a16:creationId xmlns:a16="http://schemas.microsoft.com/office/drawing/2014/main" id="{5E43C07C-7377-932D-7F93-1C8066EDC34D}"/>
              </a:ext>
            </a:extLst>
          </p:cNvPr>
          <p:cNvSpPr>
            <a:spLocks noGrp="1"/>
          </p:cNvSpPr>
          <p:nvPr>
            <p:ph type="sldNum" sz="quarter" idx="4"/>
          </p:nvPr>
        </p:nvSpPr>
        <p:spPr/>
        <p:txBody>
          <a:bodyPr/>
          <a:lstStyle/>
          <a:p>
            <a:fld id="{4124EDF5-87F7-4AC5-8292-B04417157FC2}" type="slidenum">
              <a:rPr lang="zh-CN" altLang="en-US" smtClean="0"/>
              <a:t>10</a:t>
            </a:fld>
            <a:endParaRPr lang="zh-CN" altLang="en-US"/>
          </a:p>
        </p:txBody>
      </p:sp>
      <p:sp>
        <p:nvSpPr>
          <p:cNvPr id="4" name="标题 3">
            <a:extLst>
              <a:ext uri="{FF2B5EF4-FFF2-40B4-BE49-F238E27FC236}">
                <a16:creationId xmlns:a16="http://schemas.microsoft.com/office/drawing/2014/main" id="{FCF22211-AE05-E3A3-A095-29459136CFFD}"/>
              </a:ext>
            </a:extLst>
          </p:cNvPr>
          <p:cNvSpPr>
            <a:spLocks noGrp="1"/>
          </p:cNvSpPr>
          <p:nvPr>
            <p:ph type="title"/>
          </p:nvPr>
        </p:nvSpPr>
        <p:spPr/>
        <p:txBody>
          <a:bodyPr/>
          <a:lstStyle/>
          <a:p>
            <a:r>
              <a:rPr lang="zh-CN" altLang="en-US" dirty="0"/>
              <a:t>流密码 设计方案</a:t>
            </a:r>
          </a:p>
        </p:txBody>
      </p:sp>
      <p:pic>
        <p:nvPicPr>
          <p:cNvPr id="5" name="图片 4">
            <a:extLst>
              <a:ext uri="{FF2B5EF4-FFF2-40B4-BE49-F238E27FC236}">
                <a16:creationId xmlns:a16="http://schemas.microsoft.com/office/drawing/2014/main" id="{3CC855B2-7325-1F02-147D-0C71CA970E93}"/>
              </a:ext>
            </a:extLst>
          </p:cNvPr>
          <p:cNvPicPr>
            <a:picLocks noChangeAspect="1"/>
          </p:cNvPicPr>
          <p:nvPr/>
        </p:nvPicPr>
        <p:blipFill>
          <a:blip r:embed="rId2"/>
          <a:stretch>
            <a:fillRect/>
          </a:stretch>
        </p:blipFill>
        <p:spPr>
          <a:xfrm>
            <a:off x="3168516" y="3572257"/>
            <a:ext cx="5854968" cy="3285743"/>
          </a:xfrm>
          <a:prstGeom prst="rect">
            <a:avLst/>
          </a:prstGeom>
        </p:spPr>
      </p:pic>
    </p:spTree>
    <p:extLst>
      <p:ext uri="{BB962C8B-B14F-4D97-AF65-F5344CB8AC3E}">
        <p14:creationId xmlns:p14="http://schemas.microsoft.com/office/powerpoint/2010/main" val="3576873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355CFA7-6911-E916-2742-C3093A4018F6}"/>
              </a:ext>
            </a:extLst>
          </p:cNvPr>
          <p:cNvSpPr>
            <a:spLocks noGrp="1"/>
          </p:cNvSpPr>
          <p:nvPr>
            <p:ph idx="1"/>
          </p:nvPr>
        </p:nvSpPr>
        <p:spPr/>
        <p:txBody>
          <a:bodyPr/>
          <a:lstStyle/>
          <a:p>
            <a:r>
              <a:rPr lang="zh-CN" altLang="en-US" dirty="0"/>
              <a:t>分组密码一般采用香农提出的利用乘积密码实现混淆（</a:t>
            </a:r>
            <a:r>
              <a:rPr lang="en-US" altLang="zh-CN" dirty="0"/>
              <a:t>Confusion</a:t>
            </a:r>
            <a:r>
              <a:rPr lang="zh-CN" altLang="en-US" dirty="0"/>
              <a:t>）和扩散（</a:t>
            </a:r>
            <a:r>
              <a:rPr lang="en-US" altLang="zh-CN" dirty="0"/>
              <a:t>Diffusion</a:t>
            </a:r>
            <a:r>
              <a:rPr lang="zh-CN" altLang="en-US" dirty="0"/>
              <a:t>）思想进行设计。</a:t>
            </a:r>
            <a:endParaRPr lang="en-US" altLang="zh-CN" dirty="0"/>
          </a:p>
          <a:p>
            <a:pPr lvl="1"/>
            <a:r>
              <a:rPr lang="zh-CN" altLang="en-US" dirty="0"/>
              <a:t>混淆使用代换技术，保证密文不会反映出明文线索，防止密码分析员从密文中找到模式，从而求出相应明文。</a:t>
            </a:r>
            <a:endParaRPr lang="en-US" altLang="zh-CN" dirty="0"/>
          </a:p>
          <a:p>
            <a:pPr lvl="1"/>
            <a:r>
              <a:rPr lang="zh-CN" altLang="en-US" dirty="0"/>
              <a:t>扩散使用置换技术，增加明文的冗余度，使其分布在行和列中。</a:t>
            </a:r>
            <a:endParaRPr lang="en-US" altLang="zh-CN" dirty="0"/>
          </a:p>
          <a:p>
            <a:pPr lvl="1"/>
            <a:r>
              <a:rPr lang="zh-CN" altLang="en-US" dirty="0"/>
              <a:t>在代换</a:t>
            </a:r>
            <a:r>
              <a:rPr lang="en-US" altLang="zh-CN" dirty="0"/>
              <a:t>-</a:t>
            </a:r>
            <a:r>
              <a:rPr lang="zh-CN" altLang="en-US" dirty="0"/>
              <a:t>置换网络（</a:t>
            </a:r>
            <a:r>
              <a:rPr lang="en-US" altLang="zh-CN" dirty="0"/>
              <a:t>Substitution-Permutation Network</a:t>
            </a:r>
            <a:r>
              <a:rPr lang="zh-CN" altLang="en-US" dirty="0"/>
              <a:t>，</a:t>
            </a:r>
            <a:r>
              <a:rPr lang="en-US" altLang="zh-CN" dirty="0"/>
              <a:t>SPN</a:t>
            </a:r>
            <a:r>
              <a:rPr lang="zh-CN" altLang="en-US" dirty="0"/>
              <a:t>）中</a:t>
            </a:r>
            <a:endParaRPr lang="en-US" altLang="zh-CN" dirty="0"/>
          </a:p>
          <a:p>
            <a:pPr lvl="2"/>
            <a:r>
              <a:rPr lang="en-US" altLang="zh-CN" dirty="0"/>
              <a:t>S </a:t>
            </a:r>
            <a:r>
              <a:rPr lang="zh-CN" altLang="en-US" dirty="0"/>
              <a:t>盒是唯一的非线性部件，</a:t>
            </a:r>
            <a:r>
              <a:rPr lang="en-US" altLang="zh-CN" dirty="0"/>
              <a:t>S </a:t>
            </a:r>
            <a:r>
              <a:rPr lang="zh-CN" altLang="en-US" dirty="0"/>
              <a:t>盒的密码强度决定了整个算法的安全强度，提供了密码算法所必需的混淆作用；</a:t>
            </a:r>
            <a:endParaRPr lang="en-US" altLang="zh-CN" dirty="0"/>
          </a:p>
          <a:p>
            <a:pPr lvl="2"/>
            <a:r>
              <a:rPr lang="en-US" altLang="zh-CN" dirty="0"/>
              <a:t>P</a:t>
            </a:r>
            <a:r>
              <a:rPr lang="zh-CN" altLang="en-US" dirty="0"/>
              <a:t>置换的目的是提供雪崩效应，使得明文或者密钥的一点变动都会引起密文的较大变化。</a:t>
            </a:r>
            <a:endParaRPr lang="en-US" altLang="zh-CN" dirty="0"/>
          </a:p>
          <a:p>
            <a:pPr lvl="1"/>
            <a:r>
              <a:rPr lang="zh-CN" altLang="en-US" dirty="0"/>
              <a:t>增大</a:t>
            </a:r>
            <a:r>
              <a:rPr lang="en-US" altLang="zh-CN" dirty="0"/>
              <a:t>SPN </a:t>
            </a:r>
            <a:r>
              <a:rPr lang="zh-CN" altLang="en-US" dirty="0"/>
              <a:t>的密钥长度和分组长度，选用更大的</a:t>
            </a:r>
            <a:r>
              <a:rPr lang="en-US" altLang="zh-CN" dirty="0"/>
              <a:t>S</a:t>
            </a:r>
            <a:r>
              <a:rPr lang="zh-CN" altLang="en-US" dirty="0"/>
              <a:t>盒，增加轮数，这些措施都能够显著提升</a:t>
            </a:r>
            <a:r>
              <a:rPr lang="en-US" altLang="zh-CN" dirty="0"/>
              <a:t>SPN</a:t>
            </a:r>
            <a:r>
              <a:rPr lang="zh-CN" altLang="en-US" dirty="0"/>
              <a:t>的安全性。</a:t>
            </a:r>
          </a:p>
        </p:txBody>
      </p:sp>
      <p:sp>
        <p:nvSpPr>
          <p:cNvPr id="3" name="灯片编号占位符 2">
            <a:extLst>
              <a:ext uri="{FF2B5EF4-FFF2-40B4-BE49-F238E27FC236}">
                <a16:creationId xmlns:a16="http://schemas.microsoft.com/office/drawing/2014/main" id="{6BE1B60B-B770-CE59-E3C6-8D428D2A77CE}"/>
              </a:ext>
            </a:extLst>
          </p:cNvPr>
          <p:cNvSpPr>
            <a:spLocks noGrp="1"/>
          </p:cNvSpPr>
          <p:nvPr>
            <p:ph type="sldNum" sz="quarter" idx="4"/>
          </p:nvPr>
        </p:nvSpPr>
        <p:spPr/>
        <p:txBody>
          <a:bodyPr/>
          <a:lstStyle/>
          <a:p>
            <a:fld id="{4124EDF5-87F7-4AC5-8292-B04417157FC2}" type="slidenum">
              <a:rPr lang="zh-CN" altLang="en-US" smtClean="0"/>
              <a:t>11</a:t>
            </a:fld>
            <a:endParaRPr lang="zh-CN" altLang="en-US"/>
          </a:p>
        </p:txBody>
      </p:sp>
      <p:sp>
        <p:nvSpPr>
          <p:cNvPr id="4" name="标题 3">
            <a:extLst>
              <a:ext uri="{FF2B5EF4-FFF2-40B4-BE49-F238E27FC236}">
                <a16:creationId xmlns:a16="http://schemas.microsoft.com/office/drawing/2014/main" id="{5B029F11-467F-F40B-DC87-364A290B45AF}"/>
              </a:ext>
            </a:extLst>
          </p:cNvPr>
          <p:cNvSpPr>
            <a:spLocks noGrp="1"/>
          </p:cNvSpPr>
          <p:nvPr>
            <p:ph type="title"/>
          </p:nvPr>
        </p:nvSpPr>
        <p:spPr/>
        <p:txBody>
          <a:bodyPr/>
          <a:lstStyle/>
          <a:p>
            <a:r>
              <a:rPr lang="zh-CN" altLang="en-US" dirty="0"/>
              <a:t>分组密码</a:t>
            </a:r>
          </a:p>
        </p:txBody>
      </p:sp>
    </p:spTree>
    <p:extLst>
      <p:ext uri="{BB962C8B-B14F-4D97-AF65-F5344CB8AC3E}">
        <p14:creationId xmlns:p14="http://schemas.microsoft.com/office/powerpoint/2010/main" val="329011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0C0EC5E-C07B-8BEE-06CC-50EFB16F1165}"/>
              </a:ext>
            </a:extLst>
          </p:cNvPr>
          <p:cNvSpPr>
            <a:spLocks noGrp="1"/>
          </p:cNvSpPr>
          <p:nvPr>
            <p:ph idx="1"/>
          </p:nvPr>
        </p:nvSpPr>
        <p:spPr>
          <a:xfrm>
            <a:off x="-52769" y="1232705"/>
            <a:ext cx="6427065" cy="5047042"/>
          </a:xfrm>
        </p:spPr>
        <p:txBody>
          <a:bodyPr/>
          <a:lstStyle/>
          <a:p>
            <a:r>
              <a:rPr lang="en-US" altLang="zh-CN" dirty="0"/>
              <a:t>DES</a:t>
            </a:r>
            <a:endParaRPr lang="zh-CN" altLang="en-US" dirty="0"/>
          </a:p>
          <a:p>
            <a:pPr lvl="1">
              <a:buFont typeface="Arial" panose="020B0604020202020204" pitchFamily="34" charset="0"/>
              <a:buChar char="–"/>
            </a:pPr>
            <a:r>
              <a:rPr lang="en-US" altLang="zh-CN" dirty="0"/>
              <a:t>IBM </a:t>
            </a:r>
            <a:r>
              <a:rPr lang="zh-CN" altLang="en-US" dirty="0"/>
              <a:t>于 </a:t>
            </a:r>
            <a:r>
              <a:rPr lang="en-US" altLang="zh-CN" dirty="0"/>
              <a:t>1970 </a:t>
            </a:r>
            <a:r>
              <a:rPr lang="zh-CN" altLang="en-US" dirty="0"/>
              <a:t>年提出，</a:t>
            </a:r>
            <a:r>
              <a:rPr lang="en-US" altLang="zh-CN" dirty="0"/>
              <a:t>1976 </a:t>
            </a:r>
            <a:r>
              <a:rPr lang="zh-CN" altLang="en-US" dirty="0"/>
              <a:t>成为联邦标准</a:t>
            </a:r>
          </a:p>
          <a:p>
            <a:pPr lvl="1">
              <a:buFont typeface="Arial" panose="020B0604020202020204" pitchFamily="34" charset="0"/>
              <a:buChar char="–"/>
            </a:pPr>
            <a:r>
              <a:rPr lang="zh-CN" altLang="en-US" dirty="0"/>
              <a:t>分组长度 </a:t>
            </a:r>
            <a:r>
              <a:rPr lang="en-US" altLang="zh-CN" dirty="0"/>
              <a:t>64 </a:t>
            </a:r>
            <a:r>
              <a:rPr lang="zh-CN" altLang="en-US" dirty="0"/>
              <a:t>位，密钥 </a:t>
            </a:r>
            <a:r>
              <a:rPr lang="en-US" altLang="zh-CN" dirty="0"/>
              <a:t>56 </a:t>
            </a:r>
            <a:r>
              <a:rPr lang="zh-CN" altLang="en-US" dirty="0"/>
              <a:t>位，基于 </a:t>
            </a:r>
            <a:r>
              <a:rPr lang="en-US" altLang="zh-CN" dirty="0"/>
              <a:t>Feistel </a:t>
            </a:r>
            <a:r>
              <a:rPr lang="zh-CN" altLang="en-US" dirty="0"/>
              <a:t>结构</a:t>
            </a:r>
          </a:p>
          <a:p>
            <a:pPr lvl="1">
              <a:buFont typeface="Arial" panose="020B0604020202020204" pitchFamily="34" charset="0"/>
              <a:buChar char="–"/>
            </a:pPr>
            <a:r>
              <a:rPr lang="zh-CN" altLang="en-US" dirty="0"/>
              <a:t>优点：实现简单，历史影响大</a:t>
            </a:r>
          </a:p>
          <a:p>
            <a:pPr lvl="1">
              <a:buFont typeface="Arial" panose="020B0604020202020204" pitchFamily="34" charset="0"/>
              <a:buChar char="–"/>
            </a:pPr>
            <a:r>
              <a:rPr lang="zh-CN" altLang="en-US" dirty="0"/>
              <a:t>缺点：密钥过短，已不再安全 → 三重 </a:t>
            </a:r>
            <a:r>
              <a:rPr lang="en-US" altLang="zh-CN" dirty="0"/>
              <a:t>DES </a:t>
            </a:r>
            <a:r>
              <a:rPr lang="zh-CN" altLang="en-US" dirty="0"/>
              <a:t>增强</a:t>
            </a:r>
          </a:p>
          <a:p>
            <a:r>
              <a:rPr lang="en-US" altLang="zh-CN" dirty="0"/>
              <a:t>IDEA</a:t>
            </a:r>
            <a:endParaRPr lang="zh-CN" altLang="en-US" dirty="0"/>
          </a:p>
          <a:p>
            <a:pPr lvl="1">
              <a:buFont typeface="Arial" panose="020B0604020202020204" pitchFamily="34" charset="0"/>
              <a:buChar char="–"/>
            </a:pPr>
            <a:r>
              <a:rPr lang="en-US" altLang="zh-CN" dirty="0"/>
              <a:t>1991 </a:t>
            </a:r>
            <a:r>
              <a:rPr lang="zh-CN" altLang="en-US" dirty="0"/>
              <a:t>改进 </a:t>
            </a:r>
            <a:r>
              <a:rPr lang="en-US" altLang="zh-CN" dirty="0"/>
              <a:t>PES</a:t>
            </a:r>
            <a:r>
              <a:rPr lang="zh-CN" altLang="en-US" dirty="0"/>
              <a:t>，</a:t>
            </a:r>
            <a:r>
              <a:rPr lang="en-US" altLang="zh-CN" dirty="0"/>
              <a:t>1992 </a:t>
            </a:r>
            <a:r>
              <a:rPr lang="zh-CN" altLang="en-US" dirty="0"/>
              <a:t>更名为 </a:t>
            </a:r>
            <a:r>
              <a:rPr lang="en-US" altLang="zh-CN" dirty="0"/>
              <a:t>IDEA</a:t>
            </a:r>
          </a:p>
          <a:p>
            <a:pPr lvl="1">
              <a:buFont typeface="Arial" panose="020B0604020202020204" pitchFamily="34" charset="0"/>
              <a:buChar char="–"/>
            </a:pPr>
            <a:r>
              <a:rPr lang="zh-CN" altLang="en-US" dirty="0"/>
              <a:t>分组 </a:t>
            </a:r>
            <a:r>
              <a:rPr lang="en-US" altLang="zh-CN" dirty="0"/>
              <a:t>64 </a:t>
            </a:r>
            <a:r>
              <a:rPr lang="zh-CN" altLang="en-US" dirty="0"/>
              <a:t>位，密钥 </a:t>
            </a:r>
            <a:r>
              <a:rPr lang="en-US" altLang="zh-CN" dirty="0"/>
              <a:t>128 </a:t>
            </a:r>
            <a:r>
              <a:rPr lang="zh-CN" altLang="en-US" dirty="0"/>
              <a:t>位</a:t>
            </a:r>
          </a:p>
          <a:p>
            <a:pPr lvl="1">
              <a:buFont typeface="Arial" panose="020B0604020202020204" pitchFamily="34" charset="0"/>
              <a:buChar char="–"/>
            </a:pPr>
            <a:r>
              <a:rPr lang="zh-CN" altLang="en-US" dirty="0"/>
              <a:t>强度高，至今无穷举破解</a:t>
            </a:r>
          </a:p>
          <a:p>
            <a:pPr lvl="1">
              <a:buFont typeface="Arial" panose="020B0604020202020204" pitchFamily="34" charset="0"/>
              <a:buChar char="–"/>
            </a:pPr>
            <a:r>
              <a:rPr lang="zh-CN" altLang="en-US" dirty="0"/>
              <a:t>局限：受专利保护，应用范围有限</a:t>
            </a:r>
          </a:p>
          <a:p>
            <a:endParaRPr lang="zh-CN" altLang="en-US" dirty="0"/>
          </a:p>
        </p:txBody>
      </p:sp>
      <p:sp>
        <p:nvSpPr>
          <p:cNvPr id="3" name="灯片编号占位符 2">
            <a:extLst>
              <a:ext uri="{FF2B5EF4-FFF2-40B4-BE49-F238E27FC236}">
                <a16:creationId xmlns:a16="http://schemas.microsoft.com/office/drawing/2014/main" id="{B2EE2E8C-A3E9-E626-23B1-822E8493EC03}"/>
              </a:ext>
            </a:extLst>
          </p:cNvPr>
          <p:cNvSpPr>
            <a:spLocks noGrp="1"/>
          </p:cNvSpPr>
          <p:nvPr>
            <p:ph type="sldNum" sz="quarter" idx="4"/>
          </p:nvPr>
        </p:nvSpPr>
        <p:spPr/>
        <p:txBody>
          <a:bodyPr/>
          <a:lstStyle/>
          <a:p>
            <a:fld id="{4124EDF5-87F7-4AC5-8292-B04417157FC2}" type="slidenum">
              <a:rPr lang="zh-CN" altLang="en-US" smtClean="0"/>
              <a:t>12</a:t>
            </a:fld>
            <a:endParaRPr lang="zh-CN" altLang="en-US"/>
          </a:p>
        </p:txBody>
      </p:sp>
      <p:sp>
        <p:nvSpPr>
          <p:cNvPr id="4" name="标题 3">
            <a:extLst>
              <a:ext uri="{FF2B5EF4-FFF2-40B4-BE49-F238E27FC236}">
                <a16:creationId xmlns:a16="http://schemas.microsoft.com/office/drawing/2014/main" id="{4C39B934-5E4C-893B-BDE3-331102F4DF14}"/>
              </a:ext>
            </a:extLst>
          </p:cNvPr>
          <p:cNvSpPr>
            <a:spLocks noGrp="1"/>
          </p:cNvSpPr>
          <p:nvPr>
            <p:ph type="title"/>
          </p:nvPr>
        </p:nvSpPr>
        <p:spPr/>
        <p:txBody>
          <a:bodyPr/>
          <a:lstStyle/>
          <a:p>
            <a:r>
              <a:rPr lang="zh-CN" altLang="en-US" dirty="0"/>
              <a:t>常用分组密码算法</a:t>
            </a:r>
          </a:p>
        </p:txBody>
      </p:sp>
      <p:sp>
        <p:nvSpPr>
          <p:cNvPr id="6" name="文本框 5">
            <a:extLst>
              <a:ext uri="{FF2B5EF4-FFF2-40B4-BE49-F238E27FC236}">
                <a16:creationId xmlns:a16="http://schemas.microsoft.com/office/drawing/2014/main" id="{4BC1D23D-AD3A-0B97-59DB-043E77A8E954}"/>
              </a:ext>
            </a:extLst>
          </p:cNvPr>
          <p:cNvSpPr txBox="1"/>
          <p:nvPr/>
        </p:nvSpPr>
        <p:spPr>
          <a:xfrm>
            <a:off x="6221893" y="1232705"/>
            <a:ext cx="6082749" cy="5435334"/>
          </a:xfrm>
          <a:prstGeom prst="rect">
            <a:avLst/>
          </a:prstGeom>
          <a:noFill/>
        </p:spPr>
        <p:txBody>
          <a:bodyPr wrap="square">
            <a:spAutoFit/>
          </a:bodyPr>
          <a:lstStyle/>
          <a:p>
            <a:pPr marL="257175" indent="-257175" algn="just" fontAlgn="base">
              <a:lnSpc>
                <a:spcPct val="120000"/>
              </a:lnSpc>
              <a:spcBef>
                <a:spcPts val="600"/>
              </a:spcBef>
              <a:spcAft>
                <a:spcPts val="600"/>
              </a:spcAft>
              <a:buClr>
                <a:srgbClr val="FF9933"/>
              </a:buClr>
              <a:buChar char="•"/>
            </a:pPr>
            <a:r>
              <a:rPr kumimoji="1" lang="en-US" altLang="zh-CN" sz="2400" b="1" dirty="0">
                <a:latin typeface="微软雅黑 Light" panose="020B0502040204020203" pitchFamily="34" charset="-122"/>
                <a:ea typeface="微软雅黑 Light" panose="020B0502040204020203" pitchFamily="34" charset="-122"/>
                <a:cs typeface="Arial" panose="020B0604020202020204" pitchFamily="34" charset="0"/>
              </a:rPr>
              <a:t>Blowfish</a:t>
            </a:r>
            <a:endParaRPr kumimoji="1" lang="zh-CN" altLang="en-US" sz="2400" b="1" dirty="0">
              <a:latin typeface="微软雅黑 Light" panose="020B0502040204020203" pitchFamily="34" charset="-122"/>
              <a:ea typeface="微软雅黑 Light" panose="020B0502040204020203" pitchFamily="34" charset="-122"/>
              <a:cs typeface="Arial" panose="020B0604020202020204" pitchFamily="34" charset="0"/>
            </a:endParaRPr>
          </a:p>
          <a:p>
            <a:pPr marL="557213" lvl="1" indent="-214313" algn="just" fontAlgn="base">
              <a:lnSpc>
                <a:spcPct val="120000"/>
              </a:lnSpc>
              <a:spcBef>
                <a:spcPts val="600"/>
              </a:spcBef>
              <a:spcAft>
                <a:spcPts val="600"/>
              </a:spcAft>
              <a:buClr>
                <a:srgbClr val="FF9933"/>
              </a:buClr>
              <a:buFont typeface="Arial" panose="020B0604020202020204" pitchFamily="34" charset="0"/>
              <a:buChar char="–"/>
            </a:pPr>
            <a:r>
              <a:rPr kumimoji="1" lang="en-US" altLang="zh-CN" sz="2100" b="1" dirty="0">
                <a:latin typeface="微软雅黑 Light" panose="020B0502040204020203" pitchFamily="34" charset="-122"/>
                <a:ea typeface="微软雅黑 Light" panose="020B0502040204020203" pitchFamily="34" charset="-122"/>
                <a:cs typeface="Arial" panose="020B0604020202020204" pitchFamily="34" charset="0"/>
              </a:rPr>
              <a:t>1993 </a:t>
            </a:r>
            <a:r>
              <a:rPr kumimoji="1" lang="zh-CN" altLang="en-US" sz="2100" b="1" dirty="0">
                <a:latin typeface="微软雅黑 Light" panose="020B0502040204020203" pitchFamily="34" charset="-122"/>
                <a:ea typeface="微软雅黑 Light" panose="020B0502040204020203" pitchFamily="34" charset="-122"/>
                <a:cs typeface="Arial" panose="020B0604020202020204" pitchFamily="34" charset="0"/>
              </a:rPr>
              <a:t>由 </a:t>
            </a:r>
            <a:r>
              <a:rPr kumimoji="1" lang="en-US" altLang="zh-CN" sz="2100" b="1" dirty="0">
                <a:latin typeface="微软雅黑 Light" panose="020B0502040204020203" pitchFamily="34" charset="-122"/>
                <a:ea typeface="微软雅黑 Light" panose="020B0502040204020203" pitchFamily="34" charset="-122"/>
                <a:cs typeface="Arial" panose="020B0604020202020204" pitchFamily="34" charset="0"/>
              </a:rPr>
              <a:t>Bruce Schneier </a:t>
            </a:r>
            <a:r>
              <a:rPr kumimoji="1" lang="zh-CN" altLang="en-US" sz="2100" b="1" dirty="0">
                <a:latin typeface="微软雅黑 Light" panose="020B0502040204020203" pitchFamily="34" charset="-122"/>
                <a:ea typeface="微软雅黑 Light" panose="020B0502040204020203" pitchFamily="34" charset="-122"/>
                <a:cs typeface="Arial" panose="020B0604020202020204" pitchFamily="34" charset="0"/>
              </a:rPr>
              <a:t>提出</a:t>
            </a:r>
          </a:p>
          <a:p>
            <a:pPr marL="557213" lvl="1" indent="-214313" algn="just" fontAlgn="base">
              <a:lnSpc>
                <a:spcPct val="120000"/>
              </a:lnSpc>
              <a:spcBef>
                <a:spcPts val="600"/>
              </a:spcBef>
              <a:spcAft>
                <a:spcPts val="600"/>
              </a:spcAft>
              <a:buClr>
                <a:srgbClr val="FF9933"/>
              </a:buClr>
              <a:buFont typeface="Arial" panose="020B0604020202020204" pitchFamily="34" charset="0"/>
              <a:buChar char="–"/>
            </a:pPr>
            <a:r>
              <a:rPr kumimoji="1" lang="zh-CN" altLang="en-US" sz="2100" b="1" dirty="0">
                <a:latin typeface="微软雅黑 Light" panose="020B0502040204020203" pitchFamily="34" charset="-122"/>
                <a:ea typeface="微软雅黑 Light" panose="020B0502040204020203" pitchFamily="34" charset="-122"/>
                <a:cs typeface="Arial" panose="020B0604020202020204" pitchFamily="34" charset="0"/>
              </a:rPr>
              <a:t>分组 </a:t>
            </a:r>
            <a:r>
              <a:rPr kumimoji="1" lang="en-US" altLang="zh-CN" sz="2100" b="1" dirty="0">
                <a:latin typeface="微软雅黑 Light" panose="020B0502040204020203" pitchFamily="34" charset="-122"/>
                <a:ea typeface="微软雅黑 Light" panose="020B0502040204020203" pitchFamily="34" charset="-122"/>
                <a:cs typeface="Arial" panose="020B0604020202020204" pitchFamily="34" charset="0"/>
              </a:rPr>
              <a:t>64 </a:t>
            </a:r>
            <a:r>
              <a:rPr kumimoji="1" lang="zh-CN" altLang="en-US" sz="2100" b="1" dirty="0">
                <a:latin typeface="微软雅黑 Light" panose="020B0502040204020203" pitchFamily="34" charset="-122"/>
                <a:ea typeface="微软雅黑 Light" panose="020B0502040204020203" pitchFamily="34" charset="-122"/>
                <a:cs typeface="Arial" panose="020B0604020202020204" pitchFamily="34" charset="0"/>
              </a:rPr>
              <a:t>位，密钥 </a:t>
            </a:r>
            <a:r>
              <a:rPr kumimoji="1" lang="en-US" altLang="zh-CN" sz="2100" b="1" dirty="0">
                <a:latin typeface="微软雅黑 Light" panose="020B0502040204020203" pitchFamily="34" charset="-122"/>
                <a:ea typeface="微软雅黑 Light" panose="020B0502040204020203" pitchFamily="34" charset="-122"/>
                <a:cs typeface="Arial" panose="020B0604020202020204" pitchFamily="34" charset="0"/>
              </a:rPr>
              <a:t>1–448 </a:t>
            </a:r>
            <a:r>
              <a:rPr kumimoji="1" lang="zh-CN" altLang="en-US" sz="2100" b="1" dirty="0">
                <a:latin typeface="微软雅黑 Light" panose="020B0502040204020203" pitchFamily="34" charset="-122"/>
                <a:ea typeface="微软雅黑 Light" panose="020B0502040204020203" pitchFamily="34" charset="-122"/>
                <a:cs typeface="Arial" panose="020B0604020202020204" pitchFamily="34" charset="0"/>
              </a:rPr>
              <a:t>位可变</a:t>
            </a:r>
          </a:p>
          <a:p>
            <a:pPr marL="557213" lvl="1" indent="-214313" algn="just" fontAlgn="base">
              <a:lnSpc>
                <a:spcPct val="120000"/>
              </a:lnSpc>
              <a:spcBef>
                <a:spcPts val="600"/>
              </a:spcBef>
              <a:spcAft>
                <a:spcPts val="600"/>
              </a:spcAft>
              <a:buClr>
                <a:srgbClr val="FF9933"/>
              </a:buClr>
              <a:buFont typeface="Arial" panose="020B0604020202020204" pitchFamily="34" charset="0"/>
              <a:buChar char="–"/>
            </a:pPr>
            <a:r>
              <a:rPr kumimoji="1" lang="zh-CN" altLang="en-US" sz="2100" b="1" dirty="0">
                <a:latin typeface="微软雅黑 Light" panose="020B0502040204020203" pitchFamily="34" charset="-122"/>
                <a:ea typeface="微软雅黑 Light" panose="020B0502040204020203" pitchFamily="34" charset="-122"/>
                <a:cs typeface="Arial" panose="020B0604020202020204" pitchFamily="34" charset="0"/>
              </a:rPr>
              <a:t>开源、速度快、无须授权</a:t>
            </a:r>
          </a:p>
          <a:p>
            <a:pPr marL="557213" lvl="1" indent="-214313" algn="just" fontAlgn="base">
              <a:lnSpc>
                <a:spcPct val="120000"/>
              </a:lnSpc>
              <a:spcBef>
                <a:spcPts val="600"/>
              </a:spcBef>
              <a:spcAft>
                <a:spcPts val="600"/>
              </a:spcAft>
              <a:buClr>
                <a:srgbClr val="FF9933"/>
              </a:buClr>
              <a:buFont typeface="Arial" panose="020B0604020202020204" pitchFamily="34" charset="0"/>
              <a:buChar char="–"/>
            </a:pPr>
            <a:r>
              <a:rPr kumimoji="1" lang="zh-CN" altLang="en-US" sz="2100" b="1" dirty="0">
                <a:latin typeface="微软雅黑 Light" panose="020B0502040204020203" pitchFamily="34" charset="-122"/>
                <a:ea typeface="微软雅黑 Light" panose="020B0502040204020203" pitchFamily="34" charset="-122"/>
                <a:cs typeface="Arial" panose="020B0604020202020204" pitchFamily="34" charset="0"/>
              </a:rPr>
              <a:t>应用：</a:t>
            </a:r>
            <a:r>
              <a:rPr kumimoji="1" lang="en-US" altLang="zh-CN" sz="2100" b="1" dirty="0">
                <a:latin typeface="微软雅黑 Light" panose="020B0502040204020203" pitchFamily="34" charset="-122"/>
                <a:ea typeface="微软雅黑 Light" panose="020B0502040204020203" pitchFamily="34" charset="-122"/>
                <a:cs typeface="Arial" panose="020B0604020202020204" pitchFamily="34" charset="0"/>
              </a:rPr>
              <a:t>SSH</a:t>
            </a:r>
            <a:r>
              <a:rPr kumimoji="1" lang="zh-CN" altLang="en-US" sz="2100" b="1" dirty="0">
                <a:latin typeface="微软雅黑 Light" panose="020B0502040204020203" pitchFamily="34" charset="-122"/>
                <a:ea typeface="微软雅黑 Light" panose="020B0502040204020203" pitchFamily="34" charset="-122"/>
                <a:cs typeface="Arial" panose="020B0604020202020204" pitchFamily="34" charset="0"/>
              </a:rPr>
              <a:t>、文件加密软件等</a:t>
            </a:r>
          </a:p>
          <a:p>
            <a:pPr marL="257175" indent="-257175" algn="just" fontAlgn="base">
              <a:lnSpc>
                <a:spcPct val="120000"/>
              </a:lnSpc>
              <a:spcBef>
                <a:spcPts val="600"/>
              </a:spcBef>
              <a:spcAft>
                <a:spcPts val="600"/>
              </a:spcAft>
              <a:buClr>
                <a:srgbClr val="FF9933"/>
              </a:buClr>
              <a:buChar char="•"/>
            </a:pPr>
            <a:r>
              <a:rPr kumimoji="1" lang="en-US" altLang="zh-CN" sz="2400" b="1" dirty="0">
                <a:latin typeface="微软雅黑 Light" panose="020B0502040204020203" pitchFamily="34" charset="-122"/>
                <a:ea typeface="微软雅黑 Light" panose="020B0502040204020203" pitchFamily="34" charset="-122"/>
                <a:cs typeface="Arial" panose="020B0604020202020204" pitchFamily="34" charset="0"/>
              </a:rPr>
              <a:t>AES</a:t>
            </a:r>
            <a:endParaRPr kumimoji="1" lang="zh-CN" altLang="en-US" sz="2400" b="1" dirty="0">
              <a:latin typeface="微软雅黑 Light" panose="020B0502040204020203" pitchFamily="34" charset="-122"/>
              <a:ea typeface="微软雅黑 Light" panose="020B0502040204020203" pitchFamily="34" charset="-122"/>
              <a:cs typeface="Arial" panose="020B0604020202020204" pitchFamily="34" charset="0"/>
            </a:endParaRPr>
          </a:p>
          <a:p>
            <a:pPr marL="557213" lvl="1" indent="-214313" algn="just" fontAlgn="base">
              <a:lnSpc>
                <a:spcPct val="120000"/>
              </a:lnSpc>
              <a:spcBef>
                <a:spcPts val="600"/>
              </a:spcBef>
              <a:spcAft>
                <a:spcPts val="600"/>
              </a:spcAft>
              <a:buClr>
                <a:srgbClr val="FF9933"/>
              </a:buClr>
              <a:buFont typeface="Arial" panose="020B0604020202020204" pitchFamily="34" charset="0"/>
              <a:buChar char="–"/>
            </a:pPr>
            <a:r>
              <a:rPr kumimoji="1" lang="en-US" altLang="zh-CN" sz="2100" b="1" dirty="0">
                <a:latin typeface="微软雅黑 Light" panose="020B0502040204020203" pitchFamily="34" charset="-122"/>
                <a:ea typeface="微软雅黑 Light" panose="020B0502040204020203" pitchFamily="34" charset="-122"/>
                <a:cs typeface="Arial" panose="020B0604020202020204" pitchFamily="34" charset="0"/>
              </a:rPr>
              <a:t>2001 NIST </a:t>
            </a:r>
            <a:r>
              <a:rPr kumimoji="1" lang="zh-CN" altLang="en-US" sz="2100" b="1" dirty="0">
                <a:latin typeface="微软雅黑 Light" panose="020B0502040204020203" pitchFamily="34" charset="-122"/>
                <a:ea typeface="微软雅黑 Light" panose="020B0502040204020203" pitchFamily="34" charset="-122"/>
                <a:cs typeface="Arial" panose="020B0604020202020204" pitchFamily="34" charset="0"/>
              </a:rPr>
              <a:t>公布，取代 </a:t>
            </a:r>
            <a:r>
              <a:rPr kumimoji="1" lang="en-US" altLang="zh-CN" sz="2100" b="1" dirty="0">
                <a:latin typeface="微软雅黑 Light" panose="020B0502040204020203" pitchFamily="34" charset="-122"/>
                <a:ea typeface="微软雅黑 Light" panose="020B0502040204020203" pitchFamily="34" charset="-122"/>
                <a:cs typeface="Arial" panose="020B0604020202020204" pitchFamily="34" charset="0"/>
              </a:rPr>
              <a:t>DES</a:t>
            </a:r>
          </a:p>
          <a:p>
            <a:pPr marL="557213" lvl="1" indent="-214313" algn="just" fontAlgn="base">
              <a:lnSpc>
                <a:spcPct val="120000"/>
              </a:lnSpc>
              <a:spcBef>
                <a:spcPts val="600"/>
              </a:spcBef>
              <a:spcAft>
                <a:spcPts val="600"/>
              </a:spcAft>
              <a:buClr>
                <a:srgbClr val="FF9933"/>
              </a:buClr>
              <a:buFont typeface="Arial" panose="020B0604020202020204" pitchFamily="34" charset="0"/>
              <a:buChar char="–"/>
            </a:pPr>
            <a:r>
              <a:rPr kumimoji="1" lang="zh-CN" altLang="en-US" sz="2100" b="1" dirty="0">
                <a:latin typeface="微软雅黑 Light" panose="020B0502040204020203" pitchFamily="34" charset="-122"/>
                <a:ea typeface="微软雅黑 Light" panose="020B0502040204020203" pitchFamily="34" charset="-122"/>
                <a:cs typeface="Arial" panose="020B0604020202020204" pitchFamily="34" charset="0"/>
              </a:rPr>
              <a:t>分组长度 </a:t>
            </a:r>
            <a:r>
              <a:rPr kumimoji="1" lang="en-US" altLang="zh-CN" sz="2100" b="1" dirty="0">
                <a:latin typeface="微软雅黑 Light" panose="020B0502040204020203" pitchFamily="34" charset="-122"/>
                <a:ea typeface="微软雅黑 Light" panose="020B0502040204020203" pitchFamily="34" charset="-122"/>
                <a:cs typeface="Arial" panose="020B0604020202020204" pitchFamily="34" charset="0"/>
              </a:rPr>
              <a:t>128 </a:t>
            </a:r>
            <a:r>
              <a:rPr kumimoji="1" lang="zh-CN" altLang="en-US" sz="2100" b="1" dirty="0">
                <a:latin typeface="微软雅黑 Light" panose="020B0502040204020203" pitchFamily="34" charset="-122"/>
                <a:ea typeface="微软雅黑 Light" panose="020B0502040204020203" pitchFamily="34" charset="-122"/>
                <a:cs typeface="Arial" panose="020B0604020202020204" pitchFamily="34" charset="0"/>
              </a:rPr>
              <a:t>位，密钥 </a:t>
            </a:r>
            <a:r>
              <a:rPr kumimoji="1" lang="en-US" altLang="zh-CN" sz="2100" b="1" dirty="0">
                <a:latin typeface="微软雅黑 Light" panose="020B0502040204020203" pitchFamily="34" charset="-122"/>
                <a:ea typeface="微软雅黑 Light" panose="020B0502040204020203" pitchFamily="34" charset="-122"/>
                <a:cs typeface="Arial" panose="020B0604020202020204" pitchFamily="34" charset="0"/>
              </a:rPr>
              <a:t>128/192/256 </a:t>
            </a:r>
            <a:r>
              <a:rPr kumimoji="1" lang="zh-CN" altLang="en-US" sz="2100" b="1" dirty="0">
                <a:latin typeface="微软雅黑 Light" panose="020B0502040204020203" pitchFamily="34" charset="-122"/>
                <a:ea typeface="微软雅黑 Light" panose="020B0502040204020203" pitchFamily="34" charset="-122"/>
                <a:cs typeface="Arial" panose="020B0604020202020204" pitchFamily="34" charset="0"/>
              </a:rPr>
              <a:t>位</a:t>
            </a:r>
          </a:p>
          <a:p>
            <a:pPr marL="557213" lvl="1" indent="-214313" algn="just" fontAlgn="base">
              <a:lnSpc>
                <a:spcPct val="120000"/>
              </a:lnSpc>
              <a:spcBef>
                <a:spcPts val="600"/>
              </a:spcBef>
              <a:spcAft>
                <a:spcPts val="600"/>
              </a:spcAft>
              <a:buClr>
                <a:srgbClr val="FF9933"/>
              </a:buClr>
              <a:buFont typeface="Arial" panose="020B0604020202020204" pitchFamily="34" charset="0"/>
              <a:buChar char="–"/>
            </a:pPr>
            <a:r>
              <a:rPr kumimoji="1" lang="zh-CN" altLang="en-US" sz="2100" b="1" dirty="0">
                <a:latin typeface="微软雅黑 Light" panose="020B0502040204020203" pitchFamily="34" charset="-122"/>
                <a:ea typeface="微软雅黑 Light" panose="020B0502040204020203" pitchFamily="34" charset="-122"/>
                <a:cs typeface="Arial" panose="020B0604020202020204" pitchFamily="34" charset="0"/>
              </a:rPr>
              <a:t>结构：字节代替、行移位、列混淆、轮密钥加</a:t>
            </a:r>
          </a:p>
          <a:p>
            <a:pPr marL="557213" lvl="1" indent="-214313" algn="just" fontAlgn="base">
              <a:lnSpc>
                <a:spcPct val="120000"/>
              </a:lnSpc>
              <a:spcBef>
                <a:spcPts val="600"/>
              </a:spcBef>
              <a:spcAft>
                <a:spcPts val="600"/>
              </a:spcAft>
              <a:buClr>
                <a:srgbClr val="FF9933"/>
              </a:buClr>
              <a:buFont typeface="Arial" panose="020B0604020202020204" pitchFamily="34" charset="0"/>
              <a:buChar char="–"/>
            </a:pPr>
            <a:r>
              <a:rPr kumimoji="1" lang="zh-CN" altLang="en-US" sz="2100" b="1" dirty="0">
                <a:latin typeface="微软雅黑 Light" panose="020B0502040204020203" pitchFamily="34" charset="-122"/>
                <a:ea typeface="微软雅黑 Light" panose="020B0502040204020203" pitchFamily="34" charset="-122"/>
                <a:cs typeface="Arial" panose="020B0604020202020204" pitchFamily="34" charset="0"/>
              </a:rPr>
              <a:t>优点：高安全性，执行效率高，全球免费使用</a:t>
            </a:r>
          </a:p>
        </p:txBody>
      </p:sp>
    </p:spTree>
    <p:extLst>
      <p:ext uri="{BB962C8B-B14F-4D97-AF65-F5344CB8AC3E}">
        <p14:creationId xmlns:p14="http://schemas.microsoft.com/office/powerpoint/2010/main" val="2949226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A9205CF-3C38-7D61-4EE8-0DCFF0ED0DC0}"/>
              </a:ext>
            </a:extLst>
          </p:cNvPr>
          <p:cNvSpPr>
            <a:spLocks noGrp="1"/>
          </p:cNvSpPr>
          <p:nvPr>
            <p:ph idx="1"/>
          </p:nvPr>
        </p:nvSpPr>
        <p:spPr/>
        <p:txBody>
          <a:bodyPr/>
          <a:lstStyle/>
          <a:p>
            <a:r>
              <a:rPr lang="zh-CN" altLang="en-US" dirty="0"/>
              <a:t>在传统加密算法中，加密密钥和解密密钥是相同的，或者说是实质上等同的，即从一个易于推出另一个。这种密码称为对称密码。</a:t>
            </a:r>
            <a:endParaRPr lang="en-US" altLang="zh-CN" dirty="0"/>
          </a:p>
          <a:p>
            <a:r>
              <a:rPr lang="zh-CN" altLang="en-US" dirty="0"/>
              <a:t>公钥密码体制的思想是 </a:t>
            </a:r>
            <a:r>
              <a:rPr lang="en-US" altLang="zh-CN" dirty="0"/>
              <a:t>1976 </a:t>
            </a:r>
            <a:r>
              <a:rPr lang="zh-CN" altLang="en-US" dirty="0"/>
              <a:t>年由 </a:t>
            </a:r>
            <a:r>
              <a:rPr lang="en-US" altLang="zh-CN" dirty="0"/>
              <a:t>Diffie </a:t>
            </a:r>
            <a:r>
              <a:rPr lang="zh-CN" altLang="en-US" dirty="0"/>
              <a:t>和 </a:t>
            </a:r>
            <a:r>
              <a:rPr lang="en-US" altLang="zh-CN" dirty="0"/>
              <a:t>Hellman </a:t>
            </a:r>
            <a:r>
              <a:rPr lang="zh-CN" altLang="en-US" dirty="0"/>
              <a:t>提出的。公钥密码体制无法提供无条件安全性。</a:t>
            </a:r>
            <a:endParaRPr lang="en-US" altLang="zh-CN" dirty="0"/>
          </a:p>
          <a:p>
            <a:r>
              <a:rPr lang="zh-CN" altLang="en-US" dirty="0"/>
              <a:t>利用公钥算法实现保密通信的步骤如下： </a:t>
            </a:r>
          </a:p>
          <a:p>
            <a:pPr lvl="1"/>
            <a:r>
              <a:rPr lang="en-US" altLang="zh-CN" dirty="0"/>
              <a:t>1</a:t>
            </a:r>
            <a:r>
              <a:rPr lang="zh-CN" altLang="en-US" dirty="0"/>
              <a:t>）每一个用户产生一对密钥，用来加密、解密消息。 </a:t>
            </a:r>
          </a:p>
          <a:p>
            <a:pPr lvl="1"/>
            <a:r>
              <a:rPr lang="en-US" altLang="zh-CN" dirty="0"/>
              <a:t>2</a:t>
            </a:r>
            <a:r>
              <a:rPr lang="zh-CN" altLang="en-US" dirty="0"/>
              <a:t>）每一个用户将其中一个密钥公开，该密钥称为公钥，另一个密钥称为私钥。每一个用户可以获得其他用户的公钥，称为该用户的公钥环。 </a:t>
            </a:r>
          </a:p>
          <a:p>
            <a:pPr lvl="1"/>
            <a:r>
              <a:rPr lang="en-US" altLang="zh-CN" dirty="0"/>
              <a:t>3</a:t>
            </a:r>
            <a:r>
              <a:rPr lang="zh-CN" altLang="en-US" dirty="0"/>
              <a:t>）若</a:t>
            </a:r>
            <a:r>
              <a:rPr lang="en-US" altLang="zh-CN" dirty="0"/>
              <a:t>Bob</a:t>
            </a:r>
            <a:r>
              <a:rPr lang="zh-CN" altLang="en-US" dirty="0"/>
              <a:t>打算发消息给</a:t>
            </a:r>
            <a:r>
              <a:rPr lang="en-US" altLang="zh-CN" dirty="0"/>
              <a:t>Alice</a:t>
            </a:r>
            <a:r>
              <a:rPr lang="zh-CN" altLang="en-US" dirty="0"/>
              <a:t>，则</a:t>
            </a:r>
            <a:r>
              <a:rPr lang="en-US" altLang="zh-CN" dirty="0"/>
              <a:t>Bob</a:t>
            </a:r>
            <a:r>
              <a:rPr lang="zh-CN" altLang="en-US" dirty="0"/>
              <a:t>使用</a:t>
            </a:r>
            <a:r>
              <a:rPr lang="en-US" altLang="zh-CN" dirty="0"/>
              <a:t>Alice</a:t>
            </a:r>
            <a:r>
              <a:rPr lang="zh-CN" altLang="en-US" dirty="0"/>
              <a:t>的公钥将消息加密。 </a:t>
            </a:r>
          </a:p>
          <a:p>
            <a:pPr lvl="1"/>
            <a:r>
              <a:rPr lang="en-US" altLang="zh-CN" dirty="0"/>
              <a:t>4</a:t>
            </a:r>
            <a:r>
              <a:rPr lang="zh-CN" altLang="en-US" dirty="0"/>
              <a:t>）</a:t>
            </a:r>
            <a:r>
              <a:rPr lang="en-US" altLang="zh-CN" dirty="0"/>
              <a:t>Alice </a:t>
            </a:r>
            <a:r>
              <a:rPr lang="zh-CN" altLang="en-US" dirty="0"/>
              <a:t>收到消息后，使用其私钥将消息解密。由于只有 </a:t>
            </a:r>
            <a:r>
              <a:rPr lang="en-US" altLang="zh-CN" dirty="0"/>
              <a:t>Alice </a:t>
            </a:r>
            <a:r>
              <a:rPr lang="zh-CN" altLang="en-US" dirty="0"/>
              <a:t>知道自己的私钥，因此其他接收者均无法成功将该消息解密。</a:t>
            </a:r>
          </a:p>
        </p:txBody>
      </p:sp>
      <p:sp>
        <p:nvSpPr>
          <p:cNvPr id="3" name="灯片编号占位符 2">
            <a:extLst>
              <a:ext uri="{FF2B5EF4-FFF2-40B4-BE49-F238E27FC236}">
                <a16:creationId xmlns:a16="http://schemas.microsoft.com/office/drawing/2014/main" id="{CA415D10-647E-2665-9CD6-2253C2F272CB}"/>
              </a:ext>
            </a:extLst>
          </p:cNvPr>
          <p:cNvSpPr>
            <a:spLocks noGrp="1"/>
          </p:cNvSpPr>
          <p:nvPr>
            <p:ph type="sldNum" sz="quarter" idx="4"/>
          </p:nvPr>
        </p:nvSpPr>
        <p:spPr/>
        <p:txBody>
          <a:bodyPr/>
          <a:lstStyle/>
          <a:p>
            <a:fld id="{4124EDF5-87F7-4AC5-8292-B04417157FC2}" type="slidenum">
              <a:rPr lang="zh-CN" altLang="en-US" smtClean="0"/>
              <a:t>13</a:t>
            </a:fld>
            <a:endParaRPr lang="zh-CN" altLang="en-US"/>
          </a:p>
        </p:txBody>
      </p:sp>
      <p:sp>
        <p:nvSpPr>
          <p:cNvPr id="4" name="标题 3">
            <a:extLst>
              <a:ext uri="{FF2B5EF4-FFF2-40B4-BE49-F238E27FC236}">
                <a16:creationId xmlns:a16="http://schemas.microsoft.com/office/drawing/2014/main" id="{D9516B84-2532-018F-AD27-43BF9E946446}"/>
              </a:ext>
            </a:extLst>
          </p:cNvPr>
          <p:cNvSpPr>
            <a:spLocks noGrp="1"/>
          </p:cNvSpPr>
          <p:nvPr>
            <p:ph type="title"/>
          </p:nvPr>
        </p:nvSpPr>
        <p:spPr/>
        <p:txBody>
          <a:bodyPr/>
          <a:lstStyle/>
          <a:p>
            <a:r>
              <a:rPr lang="zh-CN" altLang="en-US" dirty="0"/>
              <a:t>公钥密码体制</a:t>
            </a:r>
          </a:p>
        </p:txBody>
      </p:sp>
    </p:spTree>
    <p:extLst>
      <p:ext uri="{BB962C8B-B14F-4D97-AF65-F5344CB8AC3E}">
        <p14:creationId xmlns:p14="http://schemas.microsoft.com/office/powerpoint/2010/main" val="1801054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F636C54D-CDBE-7F76-AF30-A1CD56AAAECC}"/>
                  </a:ext>
                </a:extLst>
              </p:cNvPr>
              <p:cNvSpPr>
                <a:spLocks noGrp="1"/>
              </p:cNvSpPr>
              <p:nvPr>
                <p:ph idx="1"/>
              </p:nvPr>
            </p:nvSpPr>
            <p:spPr/>
            <p:txBody>
              <a:bodyPr/>
              <a:lstStyle/>
              <a:p>
                <a:r>
                  <a:rPr lang="zh-CN" altLang="en-US" dirty="0"/>
                  <a:t>一个公钥密码体制是一个五元组</a:t>
                </a:r>
                <a:r>
                  <a:rPr lang="en-US" altLang="zh-CN" dirty="0"/>
                  <a:t>{M,C,K,E,D}</a:t>
                </a:r>
                <a:r>
                  <a:rPr lang="zh-CN" altLang="en-US" dirty="0"/>
                  <a:t> </a:t>
                </a:r>
                <a:endParaRPr lang="en-US" altLang="zh-CN" dirty="0"/>
              </a:p>
              <a:p>
                <a:pPr lvl="1"/>
                <a:r>
                  <a:rPr lang="en-US" altLang="zh-CN" dirty="0"/>
                  <a:t>1</a:t>
                </a:r>
                <a:r>
                  <a:rPr lang="zh-CN" altLang="en-US" dirty="0"/>
                  <a:t>）</a:t>
                </a:r>
                <a:r>
                  <a:rPr lang="en-US" altLang="zh-CN" dirty="0"/>
                  <a:t>M</a:t>
                </a:r>
                <a:r>
                  <a:rPr lang="zh-CN" altLang="en-US" dirty="0"/>
                  <a:t>是可能消息的集合。 </a:t>
                </a:r>
                <a:endParaRPr lang="en-US" altLang="zh-CN" dirty="0"/>
              </a:p>
              <a:p>
                <a:pPr lvl="1"/>
                <a:r>
                  <a:rPr lang="en-US" altLang="zh-CN" dirty="0"/>
                  <a:t>2</a:t>
                </a:r>
                <a:r>
                  <a:rPr lang="zh-CN" altLang="en-US" dirty="0"/>
                  <a:t>）</a:t>
                </a:r>
                <a:r>
                  <a:rPr lang="en-US" altLang="zh-CN" dirty="0"/>
                  <a:t>C</a:t>
                </a:r>
                <a:r>
                  <a:rPr lang="zh-CN" altLang="en-US" dirty="0"/>
                  <a:t>是可能密文的集合。 </a:t>
                </a:r>
                <a:endParaRPr lang="en-US" altLang="zh-CN" dirty="0"/>
              </a:p>
              <a:p>
                <a:pPr lvl="1"/>
                <a:r>
                  <a:rPr lang="en-US" altLang="zh-CN" dirty="0"/>
                  <a:t>3</a:t>
                </a:r>
                <a:r>
                  <a:rPr lang="zh-CN" altLang="en-US" dirty="0"/>
                  <a:t>）密钥空间</a:t>
                </a:r>
                <a:r>
                  <a:rPr lang="en-US" altLang="zh-CN" dirty="0"/>
                  <a:t>K</a:t>
                </a:r>
                <a:r>
                  <a:rPr lang="zh-CN" altLang="en-US" dirty="0"/>
                  <a:t>是一个可能密钥的有限集。</a:t>
                </a:r>
                <a:endParaRPr lang="en-US" altLang="zh-CN" dirty="0"/>
              </a:p>
              <a:p>
                <a:pPr lvl="1"/>
                <a:r>
                  <a:rPr lang="en-US" altLang="zh-CN" dirty="0"/>
                  <a:t>4</a:t>
                </a:r>
                <a:r>
                  <a:rPr lang="zh-CN" altLang="en-US" dirty="0"/>
                  <a:t>）对每一个 </a:t>
                </a:r>
                <a14:m>
                  <m:oMath xmlns:m="http://schemas.openxmlformats.org/officeDocument/2006/math">
                    <m:r>
                      <a:rPr lang="en-US" altLang="zh-CN" b="1" i="1" smtClean="0">
                        <a:latin typeface="Cambria Math" panose="02040503050406030204" pitchFamily="18" charset="0"/>
                      </a:rPr>
                      <m:t>𝒌</m:t>
                    </m:r>
                    <m:r>
                      <a:rPr lang="en-US" altLang="zh-CN" b="1" i="1" smtClean="0">
                        <a:latin typeface="Cambria Math" panose="02040503050406030204" pitchFamily="18" charset="0"/>
                      </a:rPr>
                      <m:t>=</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𝒌</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𝒌</m:t>
                            </m:r>
                          </m:e>
                          <m:sub>
                            <m:r>
                              <a:rPr lang="en-US" altLang="zh-CN" b="1" i="1" smtClean="0">
                                <a:latin typeface="Cambria Math" panose="02040503050406030204" pitchFamily="18" charset="0"/>
                              </a:rPr>
                              <m:t>𝟐</m:t>
                            </m:r>
                          </m:sub>
                        </m:sSub>
                      </m:e>
                    </m:d>
                    <m:r>
                      <a:rPr lang="en-US" altLang="zh-CN" b="1" i="1" smtClean="0">
                        <a:latin typeface="Cambria Math" panose="02040503050406030204" pitchFamily="18" charset="0"/>
                      </a:rPr>
                      <m:t>∈</m:t>
                    </m:r>
                    <m:r>
                      <a:rPr lang="en-US" altLang="zh-CN" b="1" i="1" smtClean="0">
                        <a:latin typeface="Cambria Math" panose="02040503050406030204" pitchFamily="18" charset="0"/>
                      </a:rPr>
                      <m:t>𝑲</m:t>
                    </m:r>
                  </m:oMath>
                </a14:m>
                <a:r>
                  <a:rPr lang="en-US" altLang="zh-CN" dirty="0"/>
                  <a:t>, </a:t>
                </a:r>
                <a:r>
                  <a:rPr lang="zh-CN" altLang="en-US" dirty="0"/>
                  <a:t>都对应一个加密算法 </a:t>
                </a:r>
                <a14:m>
                  <m:oMath xmlns:m="http://schemas.openxmlformats.org/officeDocument/2006/math">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𝑬</m:t>
                        </m:r>
                      </m:e>
                      <m:sub>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𝒌</m:t>
                            </m:r>
                          </m:e>
                          <m:sub>
                            <m:r>
                              <a:rPr lang="en-US" altLang="zh-CN" b="1" i="1" smtClean="0">
                                <a:latin typeface="Cambria Math" panose="02040503050406030204" pitchFamily="18" charset="0"/>
                              </a:rPr>
                              <m:t>𝟏</m:t>
                            </m:r>
                          </m:sub>
                        </m:sSub>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𝑬</m:t>
                    </m:r>
                    <m:r>
                      <a:rPr lang="en-US" altLang="zh-CN" b="1"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𝑬</m:t>
                        </m:r>
                      </m:e>
                      <m:sub>
                        <m:sSub>
                          <m:sSubPr>
                            <m:ctrlPr>
                              <a:rPr lang="en-US" altLang="zh-CN" i="1">
                                <a:latin typeface="Cambria Math" panose="02040503050406030204" pitchFamily="18" charset="0"/>
                              </a:rPr>
                            </m:ctrlPr>
                          </m:sSubPr>
                          <m:e>
                            <m:r>
                              <a:rPr lang="en-US" altLang="zh-CN" b="1" i="1">
                                <a:latin typeface="Cambria Math" panose="02040503050406030204" pitchFamily="18" charset="0"/>
                              </a:rPr>
                              <m:t>𝒌</m:t>
                            </m:r>
                          </m:e>
                          <m:sub>
                            <m:r>
                              <a:rPr lang="en-US" altLang="zh-CN" b="1" i="1">
                                <a:latin typeface="Cambria Math" panose="02040503050406030204" pitchFamily="18" charset="0"/>
                              </a:rPr>
                              <m:t>𝟏</m:t>
                            </m:r>
                          </m:sub>
                        </m:sSub>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𝑴</m:t>
                    </m:r>
                    <m:r>
                      <a:rPr lang="zh-CN" altLang="en-US" b="1" i="1">
                        <a:latin typeface="Cambria Math" panose="02040503050406030204" pitchFamily="18" charset="0"/>
                      </a:rPr>
                      <m:t>→</m:t>
                    </m:r>
                    <m:r>
                      <a:rPr lang="en-US" altLang="zh-CN" b="1" i="1" smtClean="0">
                        <a:latin typeface="Cambria Math" panose="02040503050406030204" pitchFamily="18" charset="0"/>
                      </a:rPr>
                      <m:t>𝑪</m:t>
                    </m:r>
                  </m:oMath>
                </a14:m>
                <a:r>
                  <a:rPr lang="zh-CN" altLang="en-US" dirty="0"/>
                  <a:t>和解密算法 </a:t>
                </a:r>
                <a14:m>
                  <m:oMath xmlns:m="http://schemas.openxmlformats.org/officeDocument/2006/math">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𝑫</m:t>
                        </m:r>
                      </m:e>
                      <m:sub>
                        <m:sSub>
                          <m:sSubPr>
                            <m:ctrlPr>
                              <a:rPr lang="en-US" altLang="zh-CN" i="1">
                                <a:latin typeface="Cambria Math" panose="02040503050406030204" pitchFamily="18" charset="0"/>
                              </a:rPr>
                            </m:ctrlPr>
                          </m:sSubPr>
                          <m:e>
                            <m:r>
                              <a:rPr lang="en-US" altLang="zh-CN" b="1" i="1">
                                <a:latin typeface="Cambria Math" panose="02040503050406030204" pitchFamily="18" charset="0"/>
                              </a:rPr>
                              <m:t>𝒌</m:t>
                            </m:r>
                          </m:e>
                          <m:sub>
                            <m:r>
                              <a:rPr lang="en-US" altLang="zh-CN" b="1" i="1" smtClean="0">
                                <a:latin typeface="Cambria Math" panose="02040503050406030204" pitchFamily="18" charset="0"/>
                              </a:rPr>
                              <m:t>𝟐</m:t>
                            </m:r>
                          </m:sub>
                        </m:sSub>
                      </m:sub>
                    </m:sSub>
                    <m:r>
                      <a:rPr lang="en-US" altLang="zh-CN" b="1" i="1">
                        <a:latin typeface="Cambria Math" panose="02040503050406030204" pitchFamily="18" charset="0"/>
                      </a:rPr>
                      <m:t>∈</m:t>
                    </m:r>
                    <m:r>
                      <a:rPr lang="en-US" altLang="zh-CN" b="1" i="1" smtClean="0">
                        <a:latin typeface="Cambria Math" panose="02040503050406030204" pitchFamily="18" charset="0"/>
                      </a:rPr>
                      <m:t>𝑫</m:t>
                    </m:r>
                    <m:r>
                      <a:rPr lang="en-US" altLang="zh-CN" b="1" i="1">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𝑫</m:t>
                        </m:r>
                      </m:e>
                      <m:sub>
                        <m:sSub>
                          <m:sSubPr>
                            <m:ctrlPr>
                              <a:rPr lang="en-US" altLang="zh-CN" i="1">
                                <a:latin typeface="Cambria Math" panose="02040503050406030204" pitchFamily="18" charset="0"/>
                              </a:rPr>
                            </m:ctrlPr>
                          </m:sSubPr>
                          <m:e>
                            <m:r>
                              <a:rPr lang="en-US" altLang="zh-CN" b="1" i="1">
                                <a:latin typeface="Cambria Math" panose="02040503050406030204" pitchFamily="18" charset="0"/>
                              </a:rPr>
                              <m:t>𝒌</m:t>
                            </m:r>
                          </m:e>
                          <m:sub>
                            <m:r>
                              <a:rPr lang="en-US" altLang="zh-CN" b="1" i="1" smtClean="0">
                                <a:latin typeface="Cambria Math" panose="02040503050406030204" pitchFamily="18" charset="0"/>
                              </a:rPr>
                              <m:t>𝟐</m:t>
                            </m:r>
                          </m:sub>
                        </m:sSub>
                      </m:sub>
                    </m:sSub>
                    <m:r>
                      <a:rPr lang="en-US" altLang="zh-CN" b="1" i="1">
                        <a:latin typeface="Cambria Math" panose="02040503050406030204" pitchFamily="18" charset="0"/>
                      </a:rPr>
                      <m:t>:</m:t>
                    </m:r>
                    <m:r>
                      <a:rPr lang="en-US" altLang="zh-CN" b="1" i="1" smtClean="0">
                        <a:latin typeface="Cambria Math" panose="02040503050406030204" pitchFamily="18" charset="0"/>
                      </a:rPr>
                      <m:t>𝑪</m:t>
                    </m:r>
                    <m:r>
                      <a:rPr lang="zh-CN" altLang="en-US" b="1" i="1">
                        <a:latin typeface="Cambria Math" panose="02040503050406030204" pitchFamily="18" charset="0"/>
                      </a:rPr>
                      <m:t>→</m:t>
                    </m:r>
                    <m:r>
                      <a:rPr lang="en-US" altLang="zh-CN" b="1" i="1" smtClean="0">
                        <a:latin typeface="Cambria Math" panose="02040503050406030204" pitchFamily="18" charset="0"/>
                      </a:rPr>
                      <m:t>𝑴</m:t>
                    </m:r>
                    <m:r>
                      <a:rPr lang="en-US" altLang="zh-CN" b="1" i="1">
                        <a:latin typeface="Cambria Math" panose="02040503050406030204" pitchFamily="18" charset="0"/>
                      </a:rPr>
                      <m:t> </m:t>
                    </m:r>
                  </m:oMath>
                </a14:m>
                <a:r>
                  <a:rPr lang="zh-CN" altLang="en-US" dirty="0"/>
                  <a:t>，满足对于任意</a:t>
                </a:r>
                <a14:m>
                  <m:oMath xmlns:m="http://schemas.openxmlformats.org/officeDocument/2006/math">
                    <m:r>
                      <a:rPr lang="en-US" altLang="zh-CN" b="1" i="1" smtClean="0">
                        <a:latin typeface="Cambria Math" panose="02040503050406030204" pitchFamily="18" charset="0"/>
                      </a:rPr>
                      <m:t>𝒎</m:t>
                    </m:r>
                    <m:r>
                      <a:rPr lang="en-US" altLang="zh-CN" b="1" i="1" smtClean="0">
                        <a:latin typeface="Cambria Math" panose="02040503050406030204" pitchFamily="18" charset="0"/>
                      </a:rPr>
                      <m:t>∈</m:t>
                    </m:r>
                    <m:r>
                      <a:rPr lang="en-US" altLang="zh-CN" b="1" i="1" smtClean="0">
                        <a:latin typeface="Cambria Math" panose="02040503050406030204" pitchFamily="18" charset="0"/>
                      </a:rPr>
                      <m:t>𝑴</m:t>
                    </m:r>
                  </m:oMath>
                </a14:m>
                <a:r>
                  <a:rPr lang="en-US" altLang="zh-CN" dirty="0"/>
                  <a:t>,</a:t>
                </a:r>
                <a14:m>
                  <m:oMath xmlns:m="http://schemas.openxmlformats.org/officeDocument/2006/math">
                    <m:r>
                      <a:rPr lang="en-US" altLang="zh-CN" b="1" i="1" dirty="0" smtClean="0">
                        <a:latin typeface="Cambria Math" panose="02040503050406030204" pitchFamily="18" charset="0"/>
                      </a:rPr>
                      <m:t>𝒄</m:t>
                    </m:r>
                    <m:r>
                      <a:rPr lang="en-US" altLang="zh-CN" b="1"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b="1" i="1" dirty="0" smtClean="0">
                            <a:latin typeface="Cambria Math" panose="02040503050406030204" pitchFamily="18" charset="0"/>
                          </a:rPr>
                          <m:t>𝑬</m:t>
                        </m:r>
                      </m:e>
                      <m:sub>
                        <m:sSub>
                          <m:sSubPr>
                            <m:ctrlPr>
                              <a:rPr lang="en-US" altLang="zh-CN" i="1" dirty="0" smtClean="0">
                                <a:latin typeface="Cambria Math" panose="02040503050406030204" pitchFamily="18" charset="0"/>
                              </a:rPr>
                            </m:ctrlPr>
                          </m:sSubPr>
                          <m:e>
                            <m:r>
                              <a:rPr lang="en-US" altLang="zh-CN" b="1" i="1" dirty="0" smtClean="0">
                                <a:latin typeface="Cambria Math" panose="02040503050406030204" pitchFamily="18" charset="0"/>
                              </a:rPr>
                              <m:t>𝒌</m:t>
                            </m:r>
                          </m:e>
                          <m:sub>
                            <m:r>
                              <a:rPr lang="en-US" altLang="zh-CN" b="1" i="1" dirty="0" smtClean="0">
                                <a:latin typeface="Cambria Math" panose="02040503050406030204" pitchFamily="18" charset="0"/>
                              </a:rPr>
                              <m:t>𝟏</m:t>
                            </m:r>
                          </m:sub>
                        </m:sSub>
                      </m:sub>
                    </m:sSub>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𝒎</m:t>
                    </m:r>
                    <m:r>
                      <a:rPr lang="en-US" altLang="zh-CN" b="1" i="1" dirty="0" smtClean="0">
                        <a:latin typeface="Cambria Math" panose="02040503050406030204" pitchFamily="18" charset="0"/>
                      </a:rPr>
                      <m:t>)</m:t>
                    </m:r>
                  </m:oMath>
                </a14:m>
                <a:r>
                  <a:rPr lang="en-US" altLang="zh-CN" dirty="0"/>
                  <a:t>,</a:t>
                </a:r>
                <a:r>
                  <a:rPr lang="zh-CN" altLang="en-US" dirty="0"/>
                  <a:t>都有</a:t>
                </a:r>
                <a14:m>
                  <m:oMath xmlns:m="http://schemas.openxmlformats.org/officeDocument/2006/math">
                    <m:r>
                      <a:rPr lang="en-US" altLang="zh-CN" b="1" i="1" smtClean="0">
                        <a:latin typeface="Cambria Math" panose="02040503050406030204" pitchFamily="18" charset="0"/>
                      </a:rPr>
                      <m:t>𝒎</m:t>
                    </m:r>
                    <m:r>
                      <a:rPr lang="en-US" altLang="zh-CN" b="1"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𝑬</m:t>
                        </m:r>
                      </m:e>
                      <m:sub>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𝒌</m:t>
                            </m:r>
                          </m:e>
                          <m:sub>
                            <m:r>
                              <a:rPr lang="en-US" altLang="zh-CN" b="1" i="1" smtClean="0">
                                <a:latin typeface="Cambria Math" panose="02040503050406030204" pitchFamily="18" charset="0"/>
                              </a:rPr>
                              <m:t>𝟐</m:t>
                            </m:r>
                          </m:sub>
                        </m:sSub>
                      </m:sub>
                    </m:sSub>
                    <m:d>
                      <m:dPr>
                        <m:ctrlPr>
                          <a:rPr lang="en-US" altLang="zh-CN" i="1" smtClean="0">
                            <a:latin typeface="Cambria Math" panose="02040503050406030204" pitchFamily="18" charset="0"/>
                          </a:rPr>
                        </m:ctrlPr>
                      </m:dPr>
                      <m:e>
                        <m:r>
                          <a:rPr lang="en-US" altLang="zh-CN" b="1" i="1" smtClean="0">
                            <a:latin typeface="Cambria Math" panose="02040503050406030204" pitchFamily="18" charset="0"/>
                          </a:rPr>
                          <m:t>𝒄</m:t>
                        </m:r>
                      </m:e>
                    </m:d>
                    <m:r>
                      <a:rPr lang="en-US" altLang="zh-CN" b="1"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𝑫</m:t>
                        </m:r>
                      </m:e>
                      <m:sub>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𝒌</m:t>
                            </m:r>
                          </m:e>
                          <m:sub>
                            <m:r>
                              <a:rPr lang="en-US" altLang="zh-CN" b="1" i="1" smtClean="0">
                                <a:latin typeface="Cambria Math" panose="02040503050406030204" pitchFamily="18" charset="0"/>
                              </a:rPr>
                              <m:t>𝟐</m:t>
                            </m:r>
                          </m:sub>
                        </m:sSub>
                      </m:sub>
                    </m:sSub>
                    <m:r>
                      <a:rPr lang="en-US" altLang="zh-CN" b="1" i="1"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b="1" i="1" dirty="0">
                            <a:latin typeface="Cambria Math" panose="02040503050406030204" pitchFamily="18" charset="0"/>
                          </a:rPr>
                          <m:t>𝑬</m:t>
                        </m:r>
                      </m:e>
                      <m:sub>
                        <m:sSub>
                          <m:sSubPr>
                            <m:ctrlPr>
                              <a:rPr lang="en-US" altLang="zh-CN" i="1" dirty="0">
                                <a:latin typeface="Cambria Math" panose="02040503050406030204" pitchFamily="18" charset="0"/>
                              </a:rPr>
                            </m:ctrlPr>
                          </m:sSubPr>
                          <m:e>
                            <m:r>
                              <a:rPr lang="en-US" altLang="zh-CN" b="1" i="1" dirty="0">
                                <a:latin typeface="Cambria Math" panose="02040503050406030204" pitchFamily="18" charset="0"/>
                              </a:rPr>
                              <m:t>𝒌</m:t>
                            </m:r>
                          </m:e>
                          <m:sub>
                            <m:r>
                              <a:rPr lang="en-US" altLang="zh-CN" b="1" i="1" dirty="0">
                                <a:latin typeface="Cambria Math" panose="02040503050406030204" pitchFamily="18" charset="0"/>
                              </a:rPr>
                              <m:t>𝟏</m:t>
                            </m:r>
                          </m:sub>
                        </m:sSub>
                      </m:sub>
                    </m:sSub>
                    <m:r>
                      <a:rPr lang="en-US" altLang="zh-CN" b="1" i="1" dirty="0">
                        <a:latin typeface="Cambria Math" panose="02040503050406030204" pitchFamily="18" charset="0"/>
                      </a:rPr>
                      <m:t>(</m:t>
                    </m:r>
                    <m:r>
                      <a:rPr lang="en-US" altLang="zh-CN" b="1" i="1" dirty="0">
                        <a:latin typeface="Cambria Math" panose="02040503050406030204" pitchFamily="18" charset="0"/>
                      </a:rPr>
                      <m:t>𝒎</m:t>
                    </m:r>
                    <m:r>
                      <a:rPr lang="en-US" altLang="zh-CN" b="1" i="1" dirty="0">
                        <a:latin typeface="Cambria Math" panose="02040503050406030204" pitchFamily="18" charset="0"/>
                      </a:rPr>
                      <m:t>)]</m:t>
                    </m:r>
                  </m:oMath>
                </a14:m>
                <a:endParaRPr lang="en-US" altLang="zh-CN" dirty="0"/>
              </a:p>
              <a:p>
                <a:pPr lvl="1"/>
                <a:r>
                  <a:rPr lang="en-US" altLang="zh-CN" dirty="0"/>
                  <a:t>5) </a:t>
                </a:r>
                <a:r>
                  <a:rPr lang="zh-CN" altLang="en-US" dirty="0"/>
                  <a:t>对于所有</a:t>
                </a:r>
                <a14:m>
                  <m:oMath xmlns:m="http://schemas.openxmlformats.org/officeDocument/2006/math">
                    <m:r>
                      <a:rPr lang="en-US" altLang="zh-CN" b="1" i="1" smtClean="0">
                        <a:latin typeface="Cambria Math" panose="02040503050406030204" pitchFamily="18" charset="0"/>
                      </a:rPr>
                      <m:t>𝒌</m:t>
                    </m:r>
                    <m:r>
                      <a:rPr lang="en-US" altLang="zh-CN" b="1" i="1" smtClean="0">
                        <a:latin typeface="Cambria Math" panose="02040503050406030204" pitchFamily="18" charset="0"/>
                      </a:rPr>
                      <m:t>∈</m:t>
                    </m:r>
                    <m:r>
                      <a:rPr lang="en-US" altLang="zh-CN" b="1" i="1" smtClean="0">
                        <a:latin typeface="Cambria Math" panose="02040503050406030204" pitchFamily="18" charset="0"/>
                      </a:rPr>
                      <m:t>𝑲</m:t>
                    </m:r>
                  </m:oMath>
                </a14:m>
                <a:r>
                  <a:rPr lang="en-US" altLang="zh-CN" dirty="0"/>
                  <a:t>,</a:t>
                </a:r>
                <a:r>
                  <a:rPr lang="zh-CN" altLang="en-US" dirty="0"/>
                  <a:t>在已知</a:t>
                </a:r>
                <a14:m>
                  <m:oMath xmlns:m="http://schemas.openxmlformats.org/officeDocument/2006/math">
                    <m:sSub>
                      <m:sSubPr>
                        <m:ctrlPr>
                          <a:rPr lang="en-US" altLang="zh-CN" i="1">
                            <a:latin typeface="Cambria Math" panose="02040503050406030204" pitchFamily="18" charset="0"/>
                          </a:rPr>
                        </m:ctrlPr>
                      </m:sSubPr>
                      <m:e>
                        <m:r>
                          <a:rPr lang="en-US" altLang="zh-CN" b="1" i="1">
                            <a:latin typeface="Cambria Math" panose="02040503050406030204" pitchFamily="18" charset="0"/>
                          </a:rPr>
                          <m:t>𝑬</m:t>
                        </m:r>
                      </m:e>
                      <m:sub>
                        <m:sSub>
                          <m:sSubPr>
                            <m:ctrlPr>
                              <a:rPr lang="en-US" altLang="zh-CN" i="1">
                                <a:latin typeface="Cambria Math" panose="02040503050406030204" pitchFamily="18" charset="0"/>
                              </a:rPr>
                            </m:ctrlPr>
                          </m:sSubPr>
                          <m:e>
                            <m:r>
                              <a:rPr lang="en-US" altLang="zh-CN" b="1" i="1">
                                <a:latin typeface="Cambria Math" panose="02040503050406030204" pitchFamily="18" charset="0"/>
                              </a:rPr>
                              <m:t>𝒌</m:t>
                            </m:r>
                          </m:e>
                          <m:sub>
                            <m:r>
                              <a:rPr lang="en-US" altLang="zh-CN" b="1" i="1">
                                <a:latin typeface="Cambria Math" panose="02040503050406030204" pitchFamily="18" charset="0"/>
                              </a:rPr>
                              <m:t>𝟏</m:t>
                            </m:r>
                          </m:sub>
                        </m:sSub>
                      </m:sub>
                    </m:sSub>
                    <m:r>
                      <a:rPr lang="zh-CN" altLang="en-US" b="1" i="1">
                        <a:latin typeface="Cambria Math" panose="02040503050406030204" pitchFamily="18" charset="0"/>
                      </a:rPr>
                      <m:t>的</m:t>
                    </m:r>
                  </m:oMath>
                </a14:m>
                <a:r>
                  <a:rPr lang="zh-CN" altLang="en-US" dirty="0"/>
                  <a:t>情况下推出</a:t>
                </a:r>
                <a14:m>
                  <m:oMath xmlns:m="http://schemas.openxmlformats.org/officeDocument/2006/math">
                    <m:sSub>
                      <m:sSubPr>
                        <m:ctrlPr>
                          <a:rPr lang="en-US" altLang="zh-CN" i="1">
                            <a:latin typeface="Cambria Math" panose="02040503050406030204" pitchFamily="18" charset="0"/>
                          </a:rPr>
                        </m:ctrlPr>
                      </m:sSubPr>
                      <m:e>
                        <m:r>
                          <a:rPr lang="en-US" altLang="zh-CN" b="1" i="1">
                            <a:latin typeface="Cambria Math" panose="02040503050406030204" pitchFamily="18" charset="0"/>
                          </a:rPr>
                          <m:t>𝑫</m:t>
                        </m:r>
                      </m:e>
                      <m:sub>
                        <m:sSub>
                          <m:sSubPr>
                            <m:ctrlPr>
                              <a:rPr lang="en-US" altLang="zh-CN" i="1">
                                <a:latin typeface="Cambria Math" panose="02040503050406030204" pitchFamily="18" charset="0"/>
                              </a:rPr>
                            </m:ctrlPr>
                          </m:sSubPr>
                          <m:e>
                            <m:r>
                              <a:rPr lang="en-US" altLang="zh-CN" b="1" i="1">
                                <a:latin typeface="Cambria Math" panose="02040503050406030204" pitchFamily="18" charset="0"/>
                              </a:rPr>
                              <m:t>𝒌</m:t>
                            </m:r>
                          </m:e>
                          <m:sub>
                            <m:r>
                              <a:rPr lang="en-US" altLang="zh-CN" b="1" i="1">
                                <a:latin typeface="Cambria Math" panose="02040503050406030204" pitchFamily="18" charset="0"/>
                              </a:rPr>
                              <m:t>𝟐</m:t>
                            </m:r>
                          </m:sub>
                        </m:sSub>
                      </m:sub>
                    </m:sSub>
                    <m:r>
                      <a:rPr lang="zh-CN" altLang="en-US" b="1" i="1" smtClean="0">
                        <a:latin typeface="Cambria Math" panose="02040503050406030204" pitchFamily="18" charset="0"/>
                      </a:rPr>
                      <m:t>在</m:t>
                    </m:r>
                  </m:oMath>
                </a14:m>
                <a:r>
                  <a:rPr lang="zh-CN" altLang="en-US" dirty="0"/>
                  <a:t>计算上不可行。</a:t>
                </a:r>
                <a:endParaRPr lang="en-US" altLang="zh-CN" dirty="0"/>
              </a:p>
              <a:p>
                <a:pPr marL="257175" lvl="1" indent="-257175">
                  <a:buChar char="•"/>
                </a:pPr>
                <a:r>
                  <a:rPr lang="zh-CN" altLang="en-US" sz="2400" dirty="0"/>
                  <a:t>公钥密码算法的安全性大多基于计算复杂度上的难题，通常来自数论。这些底层问题多涉及模数乘法或指数运算，相对于分组密码需要更多计算资源。现实中使用的加密系统一般都是基于公钥密码的混合加密系统，其工作原理如图 </a:t>
                </a:r>
                <a:r>
                  <a:rPr lang="en-US" altLang="zh-CN" sz="2400" dirty="0"/>
                  <a:t>2.5</a:t>
                </a:r>
                <a:r>
                  <a:rPr lang="zh-CN" altLang="en-US" sz="2400" dirty="0"/>
                  <a:t>所示。</a:t>
                </a:r>
              </a:p>
            </p:txBody>
          </p:sp>
        </mc:Choice>
        <mc:Fallback xmlns="">
          <p:sp>
            <p:nvSpPr>
              <p:cNvPr id="2" name="内容占位符 1">
                <a:extLst>
                  <a:ext uri="{FF2B5EF4-FFF2-40B4-BE49-F238E27FC236}">
                    <a16:creationId xmlns:a16="http://schemas.microsoft.com/office/drawing/2014/main" id="{F636C54D-CDBE-7F76-AF30-A1CD56AAAECC}"/>
                  </a:ext>
                </a:extLst>
              </p:cNvPr>
              <p:cNvSpPr>
                <a:spLocks noGrp="1" noRot="1" noChangeAspect="1" noMove="1" noResize="1" noEditPoints="1" noAdjustHandles="1" noChangeArrowheads="1" noChangeShapeType="1" noTextEdit="1"/>
              </p:cNvSpPr>
              <p:nvPr>
                <p:ph idx="1"/>
              </p:nvPr>
            </p:nvSpPr>
            <p:spPr>
              <a:blipFill>
                <a:blip r:embed="rId2"/>
                <a:stretch>
                  <a:fillRect l="-957" t="-725" r="-797" b="-4469"/>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39777715-C51A-7E80-F44D-0B684E05525B}"/>
              </a:ext>
            </a:extLst>
          </p:cNvPr>
          <p:cNvSpPr>
            <a:spLocks noGrp="1"/>
          </p:cNvSpPr>
          <p:nvPr>
            <p:ph type="sldNum" sz="quarter" idx="4"/>
          </p:nvPr>
        </p:nvSpPr>
        <p:spPr/>
        <p:txBody>
          <a:bodyPr/>
          <a:lstStyle/>
          <a:p>
            <a:fld id="{4124EDF5-87F7-4AC5-8292-B04417157FC2}" type="slidenum">
              <a:rPr lang="zh-CN" altLang="en-US" smtClean="0"/>
              <a:t>14</a:t>
            </a:fld>
            <a:endParaRPr lang="zh-CN" altLang="en-US"/>
          </a:p>
        </p:txBody>
      </p:sp>
      <p:sp>
        <p:nvSpPr>
          <p:cNvPr id="4" name="标题 3">
            <a:extLst>
              <a:ext uri="{FF2B5EF4-FFF2-40B4-BE49-F238E27FC236}">
                <a16:creationId xmlns:a16="http://schemas.microsoft.com/office/drawing/2014/main" id="{4EABCD3E-5411-6812-B976-97F0AE2398B1}"/>
              </a:ext>
            </a:extLst>
          </p:cNvPr>
          <p:cNvSpPr>
            <a:spLocks noGrp="1"/>
          </p:cNvSpPr>
          <p:nvPr>
            <p:ph type="title"/>
          </p:nvPr>
        </p:nvSpPr>
        <p:spPr/>
        <p:txBody>
          <a:bodyPr/>
          <a:lstStyle/>
          <a:p>
            <a:r>
              <a:rPr lang="zh-CN" altLang="en-US" dirty="0"/>
              <a:t>公钥密码体制</a:t>
            </a:r>
          </a:p>
        </p:txBody>
      </p:sp>
      <p:pic>
        <p:nvPicPr>
          <p:cNvPr id="5" name="图片 4">
            <a:extLst>
              <a:ext uri="{FF2B5EF4-FFF2-40B4-BE49-F238E27FC236}">
                <a16:creationId xmlns:a16="http://schemas.microsoft.com/office/drawing/2014/main" id="{C757A48A-33D6-EFAA-B940-FBF87DF5B726}"/>
              </a:ext>
            </a:extLst>
          </p:cNvPr>
          <p:cNvPicPr>
            <a:picLocks noChangeAspect="1"/>
          </p:cNvPicPr>
          <p:nvPr/>
        </p:nvPicPr>
        <p:blipFill>
          <a:blip r:embed="rId3"/>
          <a:stretch>
            <a:fillRect/>
          </a:stretch>
        </p:blipFill>
        <p:spPr>
          <a:xfrm>
            <a:off x="6830801" y="503582"/>
            <a:ext cx="5361199" cy="2667649"/>
          </a:xfrm>
          <a:prstGeom prst="rect">
            <a:avLst/>
          </a:prstGeom>
        </p:spPr>
      </p:pic>
    </p:spTree>
    <p:extLst>
      <p:ext uri="{BB962C8B-B14F-4D97-AF65-F5344CB8AC3E}">
        <p14:creationId xmlns:p14="http://schemas.microsoft.com/office/powerpoint/2010/main" val="2381582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E4EB379-AF9A-E21D-634D-DE4C66B0A146}"/>
              </a:ext>
            </a:extLst>
          </p:cNvPr>
          <p:cNvSpPr>
            <a:spLocks noGrp="1"/>
          </p:cNvSpPr>
          <p:nvPr>
            <p:ph idx="1"/>
          </p:nvPr>
        </p:nvSpPr>
        <p:spPr/>
        <p:txBody>
          <a:bodyPr/>
          <a:lstStyle/>
          <a:p>
            <a:r>
              <a:rPr lang="zh-CN" altLang="en-US" dirty="0"/>
              <a:t>哈希函数又称散列函数，是现代密码体系中的一个重要组成部分，它是一种将任意长度的输入变为固定长度输出的不可逆的单向密码体制，可表示为</a:t>
            </a:r>
            <a:r>
              <a:rPr lang="en-US" altLang="zh-CN" dirty="0"/>
              <a:t>h=H(M)</a:t>
            </a:r>
            <a:r>
              <a:rPr lang="zh-CN" altLang="en-US" dirty="0"/>
              <a:t>。例：</a:t>
            </a:r>
            <a:r>
              <a:rPr lang="en-US" altLang="zh-CN" dirty="0"/>
              <a:t>MD5,SHA-1,SHA-256</a:t>
            </a:r>
            <a:r>
              <a:rPr lang="zh-CN" altLang="en-US" dirty="0"/>
              <a:t>。</a:t>
            </a:r>
            <a:endParaRPr lang="en-US" altLang="zh-CN" dirty="0"/>
          </a:p>
          <a:p>
            <a:pPr lvl="1"/>
            <a:r>
              <a:rPr lang="zh-CN" altLang="en-US" dirty="0"/>
              <a:t>哈希函数保护数据的完整性，如果哈希函数安全，那么两段不同的数据（无论是明文还是密文）应该总是具有不同的哈希值。</a:t>
            </a:r>
            <a:endParaRPr lang="en-US" altLang="zh-CN" dirty="0"/>
          </a:p>
          <a:p>
            <a:pPr lvl="1"/>
            <a:r>
              <a:rPr lang="zh-CN" altLang="en-US" dirty="0"/>
              <a:t>如果哈希函数安全，哈希值相同的两个文件就应当完全相同。</a:t>
            </a:r>
            <a:endParaRPr lang="en-US" altLang="zh-CN" dirty="0"/>
          </a:p>
          <a:p>
            <a:pPr marL="257175" lvl="1" indent="-257175">
              <a:buChar char="•"/>
            </a:pPr>
            <a:r>
              <a:rPr lang="zh-CN" altLang="en-US" sz="2400" dirty="0"/>
              <a:t>哈希函数的安全性：</a:t>
            </a:r>
            <a:endParaRPr lang="en-US" altLang="zh-CN" sz="2400" dirty="0"/>
          </a:p>
          <a:p>
            <a:pPr lvl="1"/>
            <a:r>
              <a:rPr lang="zh-CN" altLang="en-US" dirty="0"/>
              <a:t>（</a:t>
            </a:r>
            <a:r>
              <a:rPr lang="en-US" altLang="zh-CN" dirty="0"/>
              <a:t>1</a:t>
            </a:r>
            <a:r>
              <a:rPr lang="zh-CN" altLang="en-US" dirty="0"/>
              <a:t>）原像攻击抗性  原像攻击抗性又称单向性，它描述了一种安全保证，即给定随机哈希值，攻击者将永远不会找到原始消息。</a:t>
            </a:r>
            <a:endParaRPr lang="en-US" altLang="zh-CN" dirty="0"/>
          </a:p>
          <a:p>
            <a:pPr lvl="1"/>
            <a:r>
              <a:rPr lang="zh-CN" altLang="en-US" dirty="0"/>
              <a:t>（</a:t>
            </a:r>
            <a:r>
              <a:rPr lang="en-US" altLang="zh-CN" dirty="0"/>
              <a:t>2</a:t>
            </a:r>
            <a:r>
              <a:rPr lang="zh-CN" altLang="en-US" dirty="0"/>
              <a:t>）抗碰撞性  根据鸽笼原理，消息的数目远大于哈希值的数目，因此哈希函数的碰撞不可避免。 </a:t>
            </a:r>
          </a:p>
        </p:txBody>
      </p:sp>
      <p:sp>
        <p:nvSpPr>
          <p:cNvPr id="3" name="灯片编号占位符 2">
            <a:extLst>
              <a:ext uri="{FF2B5EF4-FFF2-40B4-BE49-F238E27FC236}">
                <a16:creationId xmlns:a16="http://schemas.microsoft.com/office/drawing/2014/main" id="{AA0B8E1D-DABB-1109-8393-900C59570B5F}"/>
              </a:ext>
            </a:extLst>
          </p:cNvPr>
          <p:cNvSpPr>
            <a:spLocks noGrp="1"/>
          </p:cNvSpPr>
          <p:nvPr>
            <p:ph type="sldNum" sz="quarter" idx="4"/>
          </p:nvPr>
        </p:nvSpPr>
        <p:spPr/>
        <p:txBody>
          <a:bodyPr/>
          <a:lstStyle/>
          <a:p>
            <a:fld id="{4124EDF5-87F7-4AC5-8292-B04417157FC2}" type="slidenum">
              <a:rPr lang="zh-CN" altLang="en-US" smtClean="0"/>
              <a:t>15</a:t>
            </a:fld>
            <a:endParaRPr lang="zh-CN" altLang="en-US"/>
          </a:p>
        </p:txBody>
      </p:sp>
      <p:sp>
        <p:nvSpPr>
          <p:cNvPr id="4" name="标题 3">
            <a:extLst>
              <a:ext uri="{FF2B5EF4-FFF2-40B4-BE49-F238E27FC236}">
                <a16:creationId xmlns:a16="http://schemas.microsoft.com/office/drawing/2014/main" id="{EAA7A295-5A06-E3D2-5210-468E1B58186A}"/>
              </a:ext>
            </a:extLst>
          </p:cNvPr>
          <p:cNvSpPr>
            <a:spLocks noGrp="1"/>
          </p:cNvSpPr>
          <p:nvPr>
            <p:ph type="title"/>
          </p:nvPr>
        </p:nvSpPr>
        <p:spPr/>
        <p:txBody>
          <a:bodyPr/>
          <a:lstStyle/>
          <a:p>
            <a:r>
              <a:rPr lang="zh-CN" altLang="en-US" dirty="0"/>
              <a:t>哈希函数</a:t>
            </a:r>
          </a:p>
        </p:txBody>
      </p:sp>
    </p:spTree>
    <p:extLst>
      <p:ext uri="{BB962C8B-B14F-4D97-AF65-F5344CB8AC3E}">
        <p14:creationId xmlns:p14="http://schemas.microsoft.com/office/powerpoint/2010/main" val="5832855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B5E2D40-74B2-1AFE-D10A-695949313C8A}"/>
              </a:ext>
            </a:extLst>
          </p:cNvPr>
          <p:cNvSpPr>
            <a:spLocks noGrp="1"/>
          </p:cNvSpPr>
          <p:nvPr>
            <p:ph idx="1"/>
          </p:nvPr>
        </p:nvSpPr>
        <p:spPr>
          <a:xfrm>
            <a:off x="371300" y="1232705"/>
            <a:ext cx="11472639" cy="5047042"/>
          </a:xfrm>
        </p:spPr>
        <p:txBody>
          <a:bodyPr/>
          <a:lstStyle/>
          <a:p>
            <a:r>
              <a:rPr lang="zh-CN" altLang="en-US" dirty="0"/>
              <a:t>基于压缩的哈希函数（</a:t>
            </a:r>
            <a:r>
              <a:rPr lang="en-US" altLang="zh-CN" dirty="0"/>
              <a:t>Merkle-Damgård </a:t>
            </a:r>
            <a:r>
              <a:rPr lang="zh-CN" altLang="en-US" dirty="0"/>
              <a:t>结构）</a:t>
            </a:r>
            <a:endParaRPr lang="en-US" altLang="zh-CN" dirty="0"/>
          </a:p>
          <a:p>
            <a:r>
              <a:rPr lang="zh-CN" altLang="en-US" dirty="0"/>
              <a:t>基于置换的哈希函数</a:t>
            </a:r>
            <a:endParaRPr lang="en-US" altLang="zh-CN" dirty="0"/>
          </a:p>
          <a:p>
            <a:pPr lvl="1"/>
            <a:r>
              <a:rPr lang="zh-CN" altLang="en-US" dirty="0"/>
              <a:t>这种方法利用函数将输入消息转换为相同大小的输出，以此进行迭代哈希。这样，无论输入消息是否不同，都会得到两个不同的输出，即置换。</a:t>
            </a:r>
            <a:endParaRPr lang="en-US" altLang="zh-CN" dirty="0"/>
          </a:p>
          <a:p>
            <a:pPr marL="257175" lvl="1" indent="-257175">
              <a:buChar char="•"/>
            </a:pPr>
            <a:r>
              <a:rPr lang="zh-CN" altLang="en-US" sz="2400" dirty="0"/>
              <a:t>实践中使用的哈希函数，如</a:t>
            </a:r>
            <a:r>
              <a:rPr lang="en-US" altLang="zh-CN" sz="2400" dirty="0"/>
              <a:t>SHA-256</a:t>
            </a:r>
            <a:r>
              <a:rPr lang="zh-CN" altLang="en-US" sz="2400" dirty="0"/>
              <a:t>和</a:t>
            </a:r>
            <a:r>
              <a:rPr lang="en-US" altLang="zh-CN" sz="2400" dirty="0"/>
              <a:t>BLAKE2</a:t>
            </a:r>
            <a:r>
              <a:rPr lang="zh-CN" altLang="en-US" sz="2400" dirty="0"/>
              <a:t>等使用的压缩函数都基于分组密码，这是构建压缩函数最简单的方法。</a:t>
            </a:r>
            <a:endParaRPr lang="en-US" altLang="zh-CN" sz="2400" dirty="0"/>
          </a:p>
          <a:p>
            <a:pPr marL="557212" lvl="2" indent="-257175"/>
            <a:r>
              <a:rPr lang="zh-CN" altLang="en-US" sz="2100" dirty="0"/>
              <a:t>最常见的基于分组的压缩函数是 </a:t>
            </a:r>
            <a:r>
              <a:rPr lang="en-US" altLang="zh-CN" sz="2100" dirty="0"/>
              <a:t>Davies-Meyer </a:t>
            </a:r>
            <a:r>
              <a:rPr lang="zh-CN" altLang="en-US" sz="2100" dirty="0"/>
              <a:t>结构</a:t>
            </a:r>
          </a:p>
        </p:txBody>
      </p:sp>
      <p:sp>
        <p:nvSpPr>
          <p:cNvPr id="3" name="灯片编号占位符 2">
            <a:extLst>
              <a:ext uri="{FF2B5EF4-FFF2-40B4-BE49-F238E27FC236}">
                <a16:creationId xmlns:a16="http://schemas.microsoft.com/office/drawing/2014/main" id="{0BABAC5E-5490-0C9B-F0BC-9E82321906CB}"/>
              </a:ext>
            </a:extLst>
          </p:cNvPr>
          <p:cNvSpPr>
            <a:spLocks noGrp="1"/>
          </p:cNvSpPr>
          <p:nvPr>
            <p:ph type="sldNum" sz="quarter" idx="4"/>
          </p:nvPr>
        </p:nvSpPr>
        <p:spPr/>
        <p:txBody>
          <a:bodyPr/>
          <a:lstStyle/>
          <a:p>
            <a:fld id="{4124EDF5-87F7-4AC5-8292-B04417157FC2}" type="slidenum">
              <a:rPr lang="zh-CN" altLang="en-US" smtClean="0"/>
              <a:t>16</a:t>
            </a:fld>
            <a:endParaRPr lang="zh-CN" altLang="en-US"/>
          </a:p>
        </p:txBody>
      </p:sp>
      <p:sp>
        <p:nvSpPr>
          <p:cNvPr id="4" name="标题 3">
            <a:extLst>
              <a:ext uri="{FF2B5EF4-FFF2-40B4-BE49-F238E27FC236}">
                <a16:creationId xmlns:a16="http://schemas.microsoft.com/office/drawing/2014/main" id="{44F85635-53FC-74CA-23B7-CF2D2E73724F}"/>
              </a:ext>
            </a:extLst>
          </p:cNvPr>
          <p:cNvSpPr>
            <a:spLocks noGrp="1"/>
          </p:cNvSpPr>
          <p:nvPr>
            <p:ph type="title"/>
          </p:nvPr>
        </p:nvSpPr>
        <p:spPr/>
        <p:txBody>
          <a:bodyPr/>
          <a:lstStyle/>
          <a:p>
            <a:r>
              <a:rPr lang="zh-CN" altLang="en-US" dirty="0"/>
              <a:t>哈希函数的构造</a:t>
            </a:r>
          </a:p>
        </p:txBody>
      </p:sp>
      <p:pic>
        <p:nvPicPr>
          <p:cNvPr id="5" name="图片 4">
            <a:extLst>
              <a:ext uri="{FF2B5EF4-FFF2-40B4-BE49-F238E27FC236}">
                <a16:creationId xmlns:a16="http://schemas.microsoft.com/office/drawing/2014/main" id="{8C80DF32-C94D-A4E3-2497-1CF7316D098A}"/>
              </a:ext>
            </a:extLst>
          </p:cNvPr>
          <p:cNvPicPr>
            <a:picLocks noChangeAspect="1"/>
          </p:cNvPicPr>
          <p:nvPr/>
        </p:nvPicPr>
        <p:blipFill>
          <a:blip r:embed="rId2"/>
          <a:stretch>
            <a:fillRect/>
          </a:stretch>
        </p:blipFill>
        <p:spPr>
          <a:xfrm>
            <a:off x="94386" y="5615609"/>
            <a:ext cx="2928731" cy="1013791"/>
          </a:xfrm>
          <a:prstGeom prst="rect">
            <a:avLst/>
          </a:prstGeom>
        </p:spPr>
      </p:pic>
      <p:pic>
        <p:nvPicPr>
          <p:cNvPr id="6" name="图片 5">
            <a:extLst>
              <a:ext uri="{FF2B5EF4-FFF2-40B4-BE49-F238E27FC236}">
                <a16:creationId xmlns:a16="http://schemas.microsoft.com/office/drawing/2014/main" id="{9B92B544-D0FA-6D48-581E-314A8C9D5D0B}"/>
              </a:ext>
            </a:extLst>
          </p:cNvPr>
          <p:cNvPicPr>
            <a:picLocks noChangeAspect="1"/>
          </p:cNvPicPr>
          <p:nvPr/>
        </p:nvPicPr>
        <p:blipFill>
          <a:blip r:embed="rId3"/>
          <a:stretch>
            <a:fillRect/>
          </a:stretch>
        </p:blipFill>
        <p:spPr>
          <a:xfrm>
            <a:off x="3300031" y="5232709"/>
            <a:ext cx="4056798" cy="1535907"/>
          </a:xfrm>
          <a:prstGeom prst="rect">
            <a:avLst/>
          </a:prstGeom>
        </p:spPr>
      </p:pic>
      <p:pic>
        <p:nvPicPr>
          <p:cNvPr id="7" name="图片 6">
            <a:extLst>
              <a:ext uri="{FF2B5EF4-FFF2-40B4-BE49-F238E27FC236}">
                <a16:creationId xmlns:a16="http://schemas.microsoft.com/office/drawing/2014/main" id="{A83CEF4D-3C72-5E75-5C67-8587ED1BACD1}"/>
              </a:ext>
            </a:extLst>
          </p:cNvPr>
          <p:cNvPicPr>
            <a:picLocks noChangeAspect="1"/>
          </p:cNvPicPr>
          <p:nvPr/>
        </p:nvPicPr>
        <p:blipFill>
          <a:blip r:embed="rId4"/>
          <a:stretch>
            <a:fillRect/>
          </a:stretch>
        </p:blipFill>
        <p:spPr>
          <a:xfrm>
            <a:off x="8314400" y="4940715"/>
            <a:ext cx="2571968" cy="1917285"/>
          </a:xfrm>
          <a:prstGeom prst="rect">
            <a:avLst/>
          </a:prstGeom>
        </p:spPr>
      </p:pic>
    </p:spTree>
    <p:extLst>
      <p:ext uri="{BB962C8B-B14F-4D97-AF65-F5344CB8AC3E}">
        <p14:creationId xmlns:p14="http://schemas.microsoft.com/office/powerpoint/2010/main" val="3347991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A2FDD3E-1EDC-4B91-0A4E-7D75EA2537F9}"/>
              </a:ext>
            </a:extLst>
          </p:cNvPr>
          <p:cNvSpPr>
            <a:spLocks noGrp="1"/>
          </p:cNvSpPr>
          <p:nvPr>
            <p:ph idx="1"/>
          </p:nvPr>
        </p:nvSpPr>
        <p:spPr/>
        <p:txBody>
          <a:bodyPr/>
          <a:lstStyle/>
          <a:p>
            <a:r>
              <a:rPr lang="zh-CN" altLang="en-US" dirty="0"/>
              <a:t>（</a:t>
            </a:r>
            <a:r>
              <a:rPr lang="en-US" altLang="zh-CN" dirty="0"/>
              <a:t>1</a:t>
            </a:r>
            <a:r>
              <a:rPr lang="zh-CN" altLang="en-US" dirty="0"/>
              <a:t>）混合加密技术（数字信封）</a:t>
            </a:r>
            <a:endParaRPr lang="en-US" altLang="zh-CN" dirty="0"/>
          </a:p>
          <a:p>
            <a:pPr lvl="1"/>
            <a:r>
              <a:rPr lang="zh-CN" altLang="en-US" dirty="0"/>
              <a:t>其定义为数字信封包含被加密的内容和被加密的用于加密该内容的密钥。 </a:t>
            </a:r>
          </a:p>
          <a:p>
            <a:pPr lvl="1"/>
            <a:r>
              <a:rPr lang="zh-CN" altLang="en-US" dirty="0"/>
              <a:t>由于非对称加密算法加密速度慢，混合加密将非对称加密技术和对称加密技术结合使用。密钥封装机制（</a:t>
            </a:r>
            <a:r>
              <a:rPr lang="en-US" altLang="zh-CN" dirty="0"/>
              <a:t>Key Encapsulation Mechanism</a:t>
            </a:r>
            <a:r>
              <a:rPr lang="zh-CN" altLang="en-US" dirty="0"/>
              <a:t>，</a:t>
            </a:r>
            <a:r>
              <a:rPr lang="en-US" altLang="zh-CN" dirty="0"/>
              <a:t>KEM</a:t>
            </a:r>
            <a:r>
              <a:rPr lang="zh-CN" altLang="en-US" dirty="0"/>
              <a:t>）是指用非对称加密算法加密对称密钥；数据封装机制（</a:t>
            </a:r>
            <a:r>
              <a:rPr lang="en-US" altLang="zh-CN" dirty="0"/>
              <a:t>Data Encapsulation Mechanism</a:t>
            </a:r>
            <a:r>
              <a:rPr lang="zh-CN" altLang="en-US" dirty="0"/>
              <a:t>，</a:t>
            </a:r>
            <a:r>
              <a:rPr lang="en-US" altLang="zh-CN" dirty="0"/>
              <a:t>DEM</a:t>
            </a:r>
            <a:r>
              <a:rPr lang="zh-CN" altLang="en-US" dirty="0"/>
              <a:t>）是指用对称密钥算法加密消息。混合加密过程如图</a:t>
            </a:r>
            <a:r>
              <a:rPr lang="en-US" altLang="zh-CN" dirty="0"/>
              <a:t>2.9</a:t>
            </a:r>
            <a:r>
              <a:rPr lang="zh-CN" altLang="en-US" dirty="0"/>
              <a:t>所示。</a:t>
            </a:r>
          </a:p>
        </p:txBody>
      </p:sp>
      <p:sp>
        <p:nvSpPr>
          <p:cNvPr id="3" name="灯片编号占位符 2">
            <a:extLst>
              <a:ext uri="{FF2B5EF4-FFF2-40B4-BE49-F238E27FC236}">
                <a16:creationId xmlns:a16="http://schemas.microsoft.com/office/drawing/2014/main" id="{DC30AE69-0E01-46FD-2AFB-D9B2D4AD30BD}"/>
              </a:ext>
            </a:extLst>
          </p:cNvPr>
          <p:cNvSpPr>
            <a:spLocks noGrp="1"/>
          </p:cNvSpPr>
          <p:nvPr>
            <p:ph type="sldNum" sz="quarter" idx="4"/>
          </p:nvPr>
        </p:nvSpPr>
        <p:spPr/>
        <p:txBody>
          <a:bodyPr/>
          <a:lstStyle/>
          <a:p>
            <a:fld id="{4124EDF5-87F7-4AC5-8292-B04417157FC2}" type="slidenum">
              <a:rPr lang="zh-CN" altLang="en-US" smtClean="0"/>
              <a:t>17</a:t>
            </a:fld>
            <a:endParaRPr lang="zh-CN" altLang="en-US"/>
          </a:p>
        </p:txBody>
      </p:sp>
      <p:sp>
        <p:nvSpPr>
          <p:cNvPr id="4" name="标题 3">
            <a:extLst>
              <a:ext uri="{FF2B5EF4-FFF2-40B4-BE49-F238E27FC236}">
                <a16:creationId xmlns:a16="http://schemas.microsoft.com/office/drawing/2014/main" id="{05BF5FD0-F917-B08D-6D78-5055F0E4AF36}"/>
              </a:ext>
            </a:extLst>
          </p:cNvPr>
          <p:cNvSpPr>
            <a:spLocks noGrp="1"/>
          </p:cNvSpPr>
          <p:nvPr>
            <p:ph type="title"/>
          </p:nvPr>
        </p:nvSpPr>
        <p:spPr/>
        <p:txBody>
          <a:bodyPr/>
          <a:lstStyle/>
          <a:p>
            <a:r>
              <a:rPr lang="zh-CN" altLang="en-US" dirty="0"/>
              <a:t>密码算法的应用</a:t>
            </a:r>
          </a:p>
        </p:txBody>
      </p:sp>
      <p:pic>
        <p:nvPicPr>
          <p:cNvPr id="5" name="图片 4">
            <a:extLst>
              <a:ext uri="{FF2B5EF4-FFF2-40B4-BE49-F238E27FC236}">
                <a16:creationId xmlns:a16="http://schemas.microsoft.com/office/drawing/2014/main" id="{F98F4669-592F-C05E-A70D-B671CF62DFA9}"/>
              </a:ext>
            </a:extLst>
          </p:cNvPr>
          <p:cNvPicPr>
            <a:picLocks noChangeAspect="1"/>
          </p:cNvPicPr>
          <p:nvPr/>
        </p:nvPicPr>
        <p:blipFill>
          <a:blip r:embed="rId2"/>
          <a:stretch>
            <a:fillRect/>
          </a:stretch>
        </p:blipFill>
        <p:spPr>
          <a:xfrm>
            <a:off x="1654957" y="4240896"/>
            <a:ext cx="9125687" cy="2561596"/>
          </a:xfrm>
          <a:prstGeom prst="rect">
            <a:avLst/>
          </a:prstGeom>
        </p:spPr>
      </p:pic>
    </p:spTree>
    <p:extLst>
      <p:ext uri="{BB962C8B-B14F-4D97-AF65-F5344CB8AC3E}">
        <p14:creationId xmlns:p14="http://schemas.microsoft.com/office/powerpoint/2010/main" val="1421390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D2254D9-3684-3C49-3EB7-764185A36F31}"/>
              </a:ext>
            </a:extLst>
          </p:cNvPr>
          <p:cNvSpPr>
            <a:spLocks noGrp="1"/>
          </p:cNvSpPr>
          <p:nvPr>
            <p:ph idx="1"/>
          </p:nvPr>
        </p:nvSpPr>
        <p:spPr>
          <a:xfrm>
            <a:off x="371301" y="1232705"/>
            <a:ext cx="2994751" cy="5047042"/>
          </a:xfrm>
        </p:spPr>
        <p:txBody>
          <a:bodyPr/>
          <a:lstStyle/>
          <a:p>
            <a:r>
              <a:rPr lang="zh-CN" altLang="en-US" dirty="0"/>
              <a:t>（</a:t>
            </a:r>
            <a:r>
              <a:rPr lang="en-US" altLang="zh-CN" dirty="0"/>
              <a:t>2</a:t>
            </a:r>
            <a:r>
              <a:rPr lang="zh-CN" altLang="en-US" dirty="0"/>
              <a:t>）数字签名</a:t>
            </a:r>
            <a:endParaRPr lang="en-US" altLang="zh-CN" dirty="0"/>
          </a:p>
          <a:p>
            <a:pPr lvl="1"/>
            <a:r>
              <a:rPr lang="zh-CN" altLang="en-US" dirty="0"/>
              <a:t>数字签名的算法包含签名算法和验证算法。</a:t>
            </a:r>
            <a:endParaRPr lang="en-US" altLang="zh-CN" dirty="0"/>
          </a:p>
          <a:p>
            <a:pPr lvl="1"/>
            <a:r>
              <a:rPr lang="zh-CN" altLang="en-US" dirty="0"/>
              <a:t>签名算法（见图 </a:t>
            </a:r>
            <a:r>
              <a:rPr lang="en-US" altLang="zh-CN" dirty="0"/>
              <a:t>2.10</a:t>
            </a:r>
            <a:r>
              <a:rPr lang="zh-CN" altLang="en-US" dirty="0"/>
              <a:t>）使用私钥加密信息的哈希值，从而产生签名；</a:t>
            </a:r>
            <a:endParaRPr lang="en-US" altLang="zh-CN" dirty="0"/>
          </a:p>
          <a:p>
            <a:pPr lvl="1"/>
            <a:r>
              <a:rPr lang="zh-CN" altLang="en-US" dirty="0"/>
              <a:t>验证算法（见图</a:t>
            </a:r>
            <a:r>
              <a:rPr lang="en-US" altLang="zh-CN" dirty="0"/>
              <a:t>2.11</a:t>
            </a:r>
            <a:r>
              <a:rPr lang="zh-CN" altLang="en-US" dirty="0"/>
              <a:t>），使用公钥验证签名的真实性。</a:t>
            </a:r>
          </a:p>
        </p:txBody>
      </p:sp>
      <p:sp>
        <p:nvSpPr>
          <p:cNvPr id="3" name="灯片编号占位符 2">
            <a:extLst>
              <a:ext uri="{FF2B5EF4-FFF2-40B4-BE49-F238E27FC236}">
                <a16:creationId xmlns:a16="http://schemas.microsoft.com/office/drawing/2014/main" id="{8F7CB64B-A802-5018-4C2D-BF7CA7BD93F1}"/>
              </a:ext>
            </a:extLst>
          </p:cNvPr>
          <p:cNvSpPr>
            <a:spLocks noGrp="1"/>
          </p:cNvSpPr>
          <p:nvPr>
            <p:ph type="sldNum" sz="quarter" idx="4"/>
          </p:nvPr>
        </p:nvSpPr>
        <p:spPr/>
        <p:txBody>
          <a:bodyPr/>
          <a:lstStyle/>
          <a:p>
            <a:fld id="{4124EDF5-87F7-4AC5-8292-B04417157FC2}" type="slidenum">
              <a:rPr lang="zh-CN" altLang="en-US" smtClean="0"/>
              <a:t>18</a:t>
            </a:fld>
            <a:endParaRPr lang="zh-CN" altLang="en-US"/>
          </a:p>
        </p:txBody>
      </p:sp>
      <p:sp>
        <p:nvSpPr>
          <p:cNvPr id="4" name="标题 3">
            <a:extLst>
              <a:ext uri="{FF2B5EF4-FFF2-40B4-BE49-F238E27FC236}">
                <a16:creationId xmlns:a16="http://schemas.microsoft.com/office/drawing/2014/main" id="{FD5682D2-2ADA-F969-E4E0-A5E64F9053DC}"/>
              </a:ext>
            </a:extLst>
          </p:cNvPr>
          <p:cNvSpPr>
            <a:spLocks noGrp="1"/>
          </p:cNvSpPr>
          <p:nvPr>
            <p:ph type="title"/>
          </p:nvPr>
        </p:nvSpPr>
        <p:spPr/>
        <p:txBody>
          <a:bodyPr/>
          <a:lstStyle/>
          <a:p>
            <a:r>
              <a:rPr lang="zh-CN" altLang="en-US" dirty="0"/>
              <a:t>密码算法的应用</a:t>
            </a:r>
          </a:p>
        </p:txBody>
      </p:sp>
      <p:pic>
        <p:nvPicPr>
          <p:cNvPr id="5" name="图片 4">
            <a:extLst>
              <a:ext uri="{FF2B5EF4-FFF2-40B4-BE49-F238E27FC236}">
                <a16:creationId xmlns:a16="http://schemas.microsoft.com/office/drawing/2014/main" id="{43ACD35F-69F3-BD80-D802-B6A307E00C34}"/>
              </a:ext>
            </a:extLst>
          </p:cNvPr>
          <p:cNvPicPr>
            <a:picLocks noChangeAspect="1"/>
          </p:cNvPicPr>
          <p:nvPr/>
        </p:nvPicPr>
        <p:blipFill>
          <a:blip r:embed="rId2"/>
          <a:stretch>
            <a:fillRect/>
          </a:stretch>
        </p:blipFill>
        <p:spPr>
          <a:xfrm>
            <a:off x="4064602" y="1219200"/>
            <a:ext cx="7328541" cy="5638800"/>
          </a:xfrm>
          <a:prstGeom prst="rect">
            <a:avLst/>
          </a:prstGeom>
        </p:spPr>
      </p:pic>
    </p:spTree>
    <p:extLst>
      <p:ext uri="{BB962C8B-B14F-4D97-AF65-F5344CB8AC3E}">
        <p14:creationId xmlns:p14="http://schemas.microsoft.com/office/powerpoint/2010/main" val="590813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37CD648-35F3-DA74-8305-5E19524D459C}"/>
              </a:ext>
            </a:extLst>
          </p:cNvPr>
          <p:cNvSpPr>
            <a:spLocks noGrp="1"/>
          </p:cNvSpPr>
          <p:nvPr>
            <p:ph idx="1"/>
          </p:nvPr>
        </p:nvSpPr>
        <p:spPr/>
        <p:txBody>
          <a:bodyPr/>
          <a:lstStyle/>
          <a:p>
            <a:r>
              <a:rPr lang="zh-CN" altLang="en-US" dirty="0"/>
              <a:t>核心观点</a:t>
            </a:r>
          </a:p>
          <a:p>
            <a:pPr lvl="1">
              <a:buFont typeface="Arial" panose="020B0604020202020204" pitchFamily="34" charset="0"/>
              <a:buChar char="–"/>
            </a:pPr>
            <a:r>
              <a:rPr lang="zh-CN" altLang="en-US" dirty="0"/>
              <a:t>密钥长度 ≠ 安全强度（尤其在公钥方案中）。</a:t>
            </a:r>
          </a:p>
          <a:p>
            <a:pPr lvl="1">
              <a:buFont typeface="Arial" panose="020B0604020202020204" pitchFamily="34" charset="0"/>
              <a:buChar char="–"/>
            </a:pPr>
            <a:r>
              <a:rPr lang="zh-CN" altLang="en-US" dirty="0"/>
              <a:t>安全强度常用标准：</a:t>
            </a:r>
            <a:r>
              <a:rPr lang="en-US" altLang="zh-CN" dirty="0"/>
              <a:t>128 </a:t>
            </a:r>
            <a:r>
              <a:rPr lang="zh-CN" altLang="en-US" dirty="0"/>
              <a:t>位 和 </a:t>
            </a:r>
            <a:r>
              <a:rPr lang="en-US" altLang="zh-CN" dirty="0"/>
              <a:t>256 </a:t>
            </a:r>
            <a:r>
              <a:rPr lang="zh-CN" altLang="en-US" dirty="0"/>
              <a:t>位。</a:t>
            </a:r>
          </a:p>
          <a:p>
            <a:r>
              <a:rPr lang="zh-CN" altLang="en-US" dirty="0"/>
              <a:t>选择建议</a:t>
            </a:r>
          </a:p>
          <a:p>
            <a:pPr lvl="1">
              <a:buFont typeface="Arial" panose="020B0604020202020204" pitchFamily="34" charset="0"/>
              <a:buChar char="–"/>
            </a:pPr>
            <a:r>
              <a:rPr lang="zh-CN" altLang="en-US" dirty="0"/>
              <a:t>≥</a:t>
            </a:r>
            <a:r>
              <a:rPr lang="en-US" altLang="zh-CN" dirty="0"/>
              <a:t>256 </a:t>
            </a:r>
            <a:r>
              <a:rPr lang="zh-CN" altLang="en-US" dirty="0"/>
              <a:t>位安全性：长期安全保障，未来难以攻破。</a:t>
            </a:r>
          </a:p>
          <a:p>
            <a:pPr lvl="1">
              <a:buFont typeface="Arial" panose="020B0604020202020204" pitchFamily="34" charset="0"/>
              <a:buChar char="–"/>
            </a:pPr>
            <a:r>
              <a:rPr lang="en-US" altLang="zh-CN" dirty="0"/>
              <a:t>128 </a:t>
            </a:r>
            <a:r>
              <a:rPr lang="zh-CN" altLang="en-US" dirty="0"/>
              <a:t>位安全性：主流标准，足够多数应用。</a:t>
            </a:r>
          </a:p>
          <a:p>
            <a:pPr lvl="1">
              <a:buFont typeface="Arial" panose="020B0604020202020204" pitchFamily="34" charset="0"/>
              <a:buChar char="–"/>
            </a:pPr>
            <a:r>
              <a:rPr lang="en-US" altLang="zh-CN" dirty="0"/>
              <a:t>&lt;128 </a:t>
            </a:r>
            <a:r>
              <a:rPr lang="zh-CN" altLang="en-US" dirty="0"/>
              <a:t>位安全性：一般不安全，仅适合短期或受限场景。</a:t>
            </a:r>
          </a:p>
          <a:p>
            <a:r>
              <a:rPr lang="zh-CN" altLang="en-US" dirty="0"/>
              <a:t>专家观点</a:t>
            </a:r>
          </a:p>
          <a:p>
            <a:pPr lvl="1">
              <a:buFont typeface="Arial" panose="020B0604020202020204" pitchFamily="34" charset="0"/>
              <a:buChar char="–"/>
            </a:pPr>
            <a:r>
              <a:rPr lang="en-US" altLang="zh-CN" dirty="0"/>
              <a:t>80 </a:t>
            </a:r>
            <a:r>
              <a:rPr lang="zh-CN" altLang="en-US" dirty="0"/>
              <a:t>位 </a:t>
            </a:r>
            <a:r>
              <a:rPr lang="en-US" altLang="zh-CN" dirty="0"/>
              <a:t>vs 128 </a:t>
            </a:r>
            <a:r>
              <a:rPr lang="zh-CN" altLang="en-US" dirty="0"/>
              <a:t>位：如去火星 </a:t>
            </a:r>
            <a:r>
              <a:rPr lang="en-US" altLang="zh-CN" dirty="0"/>
              <a:t>vs </a:t>
            </a:r>
            <a:r>
              <a:rPr lang="zh-CN" altLang="en-US" dirty="0"/>
              <a:t>去半人马座阿尔法星。</a:t>
            </a:r>
          </a:p>
          <a:p>
            <a:pPr lvl="1">
              <a:buFont typeface="Arial" panose="020B0604020202020204" pitchFamily="34" charset="0"/>
              <a:buChar char="–"/>
            </a:pPr>
            <a:r>
              <a:rPr lang="en-US" altLang="zh-CN" dirty="0"/>
              <a:t>192 </a:t>
            </a:r>
            <a:r>
              <a:rPr lang="zh-CN" altLang="en-US" dirty="0"/>
              <a:t>位 </a:t>
            </a:r>
            <a:r>
              <a:rPr lang="en-US" altLang="zh-CN" dirty="0"/>
              <a:t>vs 256 </a:t>
            </a:r>
            <a:r>
              <a:rPr lang="zh-CN" altLang="en-US" dirty="0"/>
              <a:t>位：暴力破解下无实际差别，“不可能就是不可能”。</a:t>
            </a:r>
          </a:p>
          <a:p>
            <a:endParaRPr lang="zh-CN" altLang="en-US" dirty="0"/>
          </a:p>
        </p:txBody>
      </p:sp>
      <p:sp>
        <p:nvSpPr>
          <p:cNvPr id="3" name="灯片编号占位符 2">
            <a:extLst>
              <a:ext uri="{FF2B5EF4-FFF2-40B4-BE49-F238E27FC236}">
                <a16:creationId xmlns:a16="http://schemas.microsoft.com/office/drawing/2014/main" id="{62E11DAA-FDA3-1B49-752F-EAE9B8FBC275}"/>
              </a:ext>
            </a:extLst>
          </p:cNvPr>
          <p:cNvSpPr>
            <a:spLocks noGrp="1"/>
          </p:cNvSpPr>
          <p:nvPr>
            <p:ph type="sldNum" sz="quarter" idx="4"/>
          </p:nvPr>
        </p:nvSpPr>
        <p:spPr/>
        <p:txBody>
          <a:bodyPr/>
          <a:lstStyle/>
          <a:p>
            <a:fld id="{4124EDF5-87F7-4AC5-8292-B04417157FC2}" type="slidenum">
              <a:rPr lang="zh-CN" altLang="en-US" smtClean="0"/>
              <a:t>19</a:t>
            </a:fld>
            <a:endParaRPr lang="zh-CN" altLang="en-US"/>
          </a:p>
        </p:txBody>
      </p:sp>
      <p:sp>
        <p:nvSpPr>
          <p:cNvPr id="4" name="标题 3">
            <a:extLst>
              <a:ext uri="{FF2B5EF4-FFF2-40B4-BE49-F238E27FC236}">
                <a16:creationId xmlns:a16="http://schemas.microsoft.com/office/drawing/2014/main" id="{CAB60336-4F51-3F93-8223-DEC5D96BBEE4}"/>
              </a:ext>
            </a:extLst>
          </p:cNvPr>
          <p:cNvSpPr>
            <a:spLocks noGrp="1"/>
          </p:cNvSpPr>
          <p:nvPr>
            <p:ph type="title"/>
          </p:nvPr>
        </p:nvSpPr>
        <p:spPr/>
        <p:txBody>
          <a:bodyPr/>
          <a:lstStyle/>
          <a:p>
            <a:r>
              <a:rPr lang="zh-CN" altLang="en-US" dirty="0"/>
              <a:t>密码算法的应用</a:t>
            </a:r>
          </a:p>
        </p:txBody>
      </p:sp>
    </p:spTree>
    <p:extLst>
      <p:ext uri="{BB962C8B-B14F-4D97-AF65-F5344CB8AC3E}">
        <p14:creationId xmlns:p14="http://schemas.microsoft.com/office/powerpoint/2010/main" val="3532806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47A8B98-E2F4-2429-E137-E40C4DB8C0D5}"/>
              </a:ext>
            </a:extLst>
          </p:cNvPr>
          <p:cNvSpPr>
            <a:spLocks noGrp="1"/>
          </p:cNvSpPr>
          <p:nvPr>
            <p:ph idx="1"/>
          </p:nvPr>
        </p:nvSpPr>
        <p:spPr/>
        <p:txBody>
          <a:bodyPr/>
          <a:lstStyle/>
          <a:p>
            <a:r>
              <a:rPr lang="zh-CN" altLang="en-US" dirty="0"/>
              <a:t>假设传送的消息是 </a:t>
            </a:r>
            <a:r>
              <a:rPr lang="en-US" altLang="zh-CN" dirty="0"/>
              <a:t>M</a:t>
            </a:r>
            <a:r>
              <a:rPr lang="zh-CN" altLang="en-US" dirty="0"/>
              <a:t>，我们可以基于前述的加密技术，设计一种消息验证码（</a:t>
            </a:r>
            <a:r>
              <a:rPr lang="en-US" altLang="zh-CN" dirty="0"/>
              <a:t>Message Authentication Code</a:t>
            </a:r>
            <a:r>
              <a:rPr lang="zh-CN" altLang="en-US" dirty="0"/>
              <a:t>，</a:t>
            </a:r>
            <a:r>
              <a:rPr lang="en-US" altLang="zh-CN" dirty="0"/>
              <a:t>MAC</a:t>
            </a:r>
            <a:r>
              <a:rPr lang="zh-CN" altLang="en-US" dirty="0"/>
              <a:t>）机制，来检测消息的完整性。例如，采用分组密码的</a:t>
            </a:r>
            <a:r>
              <a:rPr lang="en-US" altLang="zh-CN" dirty="0"/>
              <a:t>CBC</a:t>
            </a:r>
            <a:r>
              <a:rPr lang="zh-CN" altLang="en-US" dirty="0"/>
              <a:t>（密码分组链接）工作模式，最后一个分组的密文就可以作为一种消息验证码：</a:t>
            </a:r>
            <a:r>
              <a:rPr lang="en-US" altLang="zh-CN" dirty="0"/>
              <a:t>MAC= CBC(IV, M, K)</a:t>
            </a:r>
            <a:r>
              <a:rPr lang="zh-CN" altLang="en-US" dirty="0"/>
              <a:t>，</a:t>
            </a:r>
            <a:r>
              <a:rPr lang="en-US" altLang="zh-CN" dirty="0"/>
              <a:t>IV </a:t>
            </a:r>
            <a:r>
              <a:rPr lang="zh-CN" altLang="en-US" dirty="0"/>
              <a:t>是初始向量，</a:t>
            </a:r>
            <a:r>
              <a:rPr lang="en-US" altLang="zh-CN" dirty="0"/>
              <a:t>M</a:t>
            </a:r>
            <a:r>
              <a:rPr lang="zh-CN" altLang="en-US" dirty="0"/>
              <a:t>是消息，</a:t>
            </a:r>
            <a:r>
              <a:rPr lang="en-US" altLang="zh-CN" dirty="0"/>
              <a:t>K</a:t>
            </a:r>
            <a:r>
              <a:rPr lang="zh-CN" altLang="en-US" dirty="0"/>
              <a:t>是密钥。 </a:t>
            </a:r>
          </a:p>
          <a:p>
            <a:pPr lvl="1"/>
            <a:r>
              <a:rPr lang="zh-CN" altLang="en-US" dirty="0"/>
              <a:t>由于对消息</a:t>
            </a:r>
            <a:r>
              <a:rPr lang="en-US" altLang="zh-CN" dirty="0"/>
              <a:t>M</a:t>
            </a:r>
            <a:r>
              <a:rPr lang="zh-CN" altLang="en-US" dirty="0"/>
              <a:t>的任何一个分组的修改，都会被传递到最后一个分组，从而影响</a:t>
            </a:r>
            <a:r>
              <a:rPr lang="en-US" altLang="zh-CN" dirty="0"/>
              <a:t>MAC</a:t>
            </a:r>
            <a:r>
              <a:rPr lang="zh-CN" altLang="en-US" dirty="0"/>
              <a:t>值。攻击者如果想篡改消息为</a:t>
            </a:r>
            <a:r>
              <a:rPr lang="en-US" altLang="zh-CN" dirty="0"/>
              <a:t>M</a:t>
            </a:r>
            <a:r>
              <a:rPr lang="zh-CN" altLang="en-US" dirty="0"/>
              <a:t>而不被发现，就需要同时篡改消息验证码为</a:t>
            </a:r>
            <a:r>
              <a:rPr lang="en-US" altLang="zh-CN" dirty="0"/>
              <a:t>MAC</a:t>
            </a:r>
            <a:r>
              <a:rPr lang="zh-CN" altLang="en-US" dirty="0"/>
              <a:t>‘，使</a:t>
            </a:r>
          </a:p>
          <a:p>
            <a:pPr lvl="1"/>
            <a:r>
              <a:rPr lang="zh-CN" altLang="en-US" dirty="0"/>
              <a:t>得</a:t>
            </a:r>
            <a:r>
              <a:rPr lang="en-US" altLang="zh-CN" dirty="0"/>
              <a:t>MAC</a:t>
            </a:r>
            <a:r>
              <a:rPr lang="zh-CN" altLang="en-US" dirty="0"/>
              <a:t>‘</a:t>
            </a:r>
            <a:r>
              <a:rPr lang="en-US" altLang="zh-CN" dirty="0"/>
              <a:t>= CBC(M’,K)</a:t>
            </a:r>
            <a:r>
              <a:rPr lang="zh-CN" altLang="en-US" dirty="0"/>
              <a:t>但是，由于攻击者没有 </a:t>
            </a:r>
            <a:r>
              <a:rPr lang="en-US" altLang="zh-CN" dirty="0"/>
              <a:t>K</a:t>
            </a:r>
            <a:r>
              <a:rPr lang="zh-CN" altLang="en-US" dirty="0"/>
              <a:t>，因此没有办法计算出与</a:t>
            </a:r>
            <a:r>
              <a:rPr lang="en-US" altLang="zh-CN" dirty="0"/>
              <a:t>M’</a:t>
            </a:r>
            <a:r>
              <a:rPr lang="zh-CN" altLang="en-US" dirty="0"/>
              <a:t>对应的</a:t>
            </a:r>
            <a:r>
              <a:rPr lang="en-US" altLang="zh-CN" dirty="0"/>
              <a:t>MAC’</a:t>
            </a:r>
            <a:r>
              <a:rPr lang="zh-CN" altLang="en-US" dirty="0"/>
              <a:t>值。</a:t>
            </a:r>
          </a:p>
        </p:txBody>
      </p:sp>
      <p:sp>
        <p:nvSpPr>
          <p:cNvPr id="3" name="灯片编号占位符 2">
            <a:extLst>
              <a:ext uri="{FF2B5EF4-FFF2-40B4-BE49-F238E27FC236}">
                <a16:creationId xmlns:a16="http://schemas.microsoft.com/office/drawing/2014/main" id="{16B80948-ECA7-FCFC-687E-BCEF053F01D6}"/>
              </a:ext>
            </a:extLst>
          </p:cNvPr>
          <p:cNvSpPr>
            <a:spLocks noGrp="1"/>
          </p:cNvSpPr>
          <p:nvPr>
            <p:ph type="sldNum" sz="quarter" idx="4"/>
          </p:nvPr>
        </p:nvSpPr>
        <p:spPr/>
        <p:txBody>
          <a:bodyPr/>
          <a:lstStyle/>
          <a:p>
            <a:fld id="{4124EDF5-87F7-4AC5-8292-B04417157FC2}" type="slidenum">
              <a:rPr lang="zh-CN" altLang="en-US" smtClean="0"/>
              <a:t>20</a:t>
            </a:fld>
            <a:endParaRPr lang="zh-CN" altLang="en-US"/>
          </a:p>
        </p:txBody>
      </p:sp>
      <p:sp>
        <p:nvSpPr>
          <p:cNvPr id="4" name="标题 3">
            <a:extLst>
              <a:ext uri="{FF2B5EF4-FFF2-40B4-BE49-F238E27FC236}">
                <a16:creationId xmlns:a16="http://schemas.microsoft.com/office/drawing/2014/main" id="{7D96421C-6724-D1E2-7BF7-618E0D724699}"/>
              </a:ext>
            </a:extLst>
          </p:cNvPr>
          <p:cNvSpPr>
            <a:spLocks noGrp="1"/>
          </p:cNvSpPr>
          <p:nvPr>
            <p:ph type="title"/>
          </p:nvPr>
        </p:nvSpPr>
        <p:spPr/>
        <p:txBody>
          <a:bodyPr/>
          <a:lstStyle/>
          <a:p>
            <a:r>
              <a:rPr lang="zh-CN" altLang="en-US" dirty="0"/>
              <a:t>消息的完整性认证加密 </a:t>
            </a:r>
          </a:p>
        </p:txBody>
      </p:sp>
    </p:spTree>
    <p:extLst>
      <p:ext uri="{BB962C8B-B14F-4D97-AF65-F5344CB8AC3E}">
        <p14:creationId xmlns:p14="http://schemas.microsoft.com/office/powerpoint/2010/main" val="1258553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C8B5B70-63CA-9B5A-3449-97349A341904}"/>
              </a:ext>
            </a:extLst>
          </p:cNvPr>
          <p:cNvSpPr>
            <a:spLocks noGrp="1"/>
          </p:cNvSpPr>
          <p:nvPr>
            <p:ph idx="1"/>
          </p:nvPr>
        </p:nvSpPr>
        <p:spPr>
          <a:xfrm>
            <a:off x="371301" y="1232705"/>
            <a:ext cx="5499412" cy="5047042"/>
          </a:xfrm>
        </p:spPr>
        <p:txBody>
          <a:bodyPr/>
          <a:lstStyle/>
          <a:p>
            <a:r>
              <a:rPr lang="zh-CN" altLang="en-US" dirty="0"/>
              <a:t>工作模式（</a:t>
            </a:r>
            <a:r>
              <a:rPr lang="en-US" altLang="zh-CN" dirty="0"/>
              <a:t>Mode of Operation</a:t>
            </a:r>
            <a:r>
              <a:rPr lang="zh-CN" altLang="en-US" dirty="0"/>
              <a:t>，也被称为操作模式）是使用分组密码（即伪随机置换）来加密任意长度消息的基本方法。</a:t>
            </a:r>
            <a:endParaRPr lang="en-US" altLang="zh-CN" dirty="0"/>
          </a:p>
          <a:p>
            <a:pPr lvl="1"/>
            <a:r>
              <a:rPr lang="zh-CN" altLang="en-US" dirty="0"/>
              <a:t>（</a:t>
            </a:r>
            <a:r>
              <a:rPr lang="en-US" altLang="zh-CN" dirty="0"/>
              <a:t>1</a:t>
            </a:r>
            <a:r>
              <a:rPr lang="zh-CN" altLang="en-US" dirty="0"/>
              <a:t>）电码本（</a:t>
            </a:r>
            <a:r>
              <a:rPr lang="en-US" altLang="zh-CN" dirty="0"/>
              <a:t>ECB</a:t>
            </a:r>
            <a:r>
              <a:rPr lang="zh-CN" altLang="en-US" dirty="0"/>
              <a:t>）模式  最简单的模式是电码本模式，它一次处理一批明文分组，每次使用相同的密钥加密。使用此种模式时，可以利用并行处理来加速加密、解密运算，而且在网络传输时， 任一分组有任何错误发生，都不会影响到其他分组传输的结果，这是 </a:t>
            </a:r>
            <a:r>
              <a:rPr lang="en-US" altLang="zh-CN" dirty="0"/>
              <a:t>ECB </a:t>
            </a:r>
            <a:r>
              <a:rPr lang="zh-CN" altLang="en-US" dirty="0"/>
              <a:t>模式的优点。</a:t>
            </a:r>
          </a:p>
        </p:txBody>
      </p:sp>
      <p:sp>
        <p:nvSpPr>
          <p:cNvPr id="3" name="灯片编号占位符 2">
            <a:extLst>
              <a:ext uri="{FF2B5EF4-FFF2-40B4-BE49-F238E27FC236}">
                <a16:creationId xmlns:a16="http://schemas.microsoft.com/office/drawing/2014/main" id="{77E1CE48-D43F-571F-5733-14F4280C15FC}"/>
              </a:ext>
            </a:extLst>
          </p:cNvPr>
          <p:cNvSpPr>
            <a:spLocks noGrp="1"/>
          </p:cNvSpPr>
          <p:nvPr>
            <p:ph type="sldNum" sz="quarter" idx="4"/>
          </p:nvPr>
        </p:nvSpPr>
        <p:spPr/>
        <p:txBody>
          <a:bodyPr/>
          <a:lstStyle/>
          <a:p>
            <a:fld id="{4124EDF5-87F7-4AC5-8292-B04417157FC2}" type="slidenum">
              <a:rPr lang="zh-CN" altLang="en-US" smtClean="0"/>
              <a:t>21</a:t>
            </a:fld>
            <a:endParaRPr lang="zh-CN" altLang="en-US"/>
          </a:p>
        </p:txBody>
      </p:sp>
      <p:sp>
        <p:nvSpPr>
          <p:cNvPr id="4" name="标题 3">
            <a:extLst>
              <a:ext uri="{FF2B5EF4-FFF2-40B4-BE49-F238E27FC236}">
                <a16:creationId xmlns:a16="http://schemas.microsoft.com/office/drawing/2014/main" id="{EC467033-7208-C0D1-7CC5-825C9F1C1679}"/>
              </a:ext>
            </a:extLst>
          </p:cNvPr>
          <p:cNvSpPr>
            <a:spLocks noGrp="1"/>
          </p:cNvSpPr>
          <p:nvPr>
            <p:ph type="title"/>
          </p:nvPr>
        </p:nvSpPr>
        <p:spPr/>
        <p:txBody>
          <a:bodyPr/>
          <a:lstStyle/>
          <a:p>
            <a:r>
              <a:rPr lang="zh-CN" altLang="en-US" dirty="0"/>
              <a:t>分组密码的工作模式</a:t>
            </a:r>
          </a:p>
        </p:txBody>
      </p:sp>
      <p:pic>
        <p:nvPicPr>
          <p:cNvPr id="5" name="图片 4">
            <a:extLst>
              <a:ext uri="{FF2B5EF4-FFF2-40B4-BE49-F238E27FC236}">
                <a16:creationId xmlns:a16="http://schemas.microsoft.com/office/drawing/2014/main" id="{9F6F2EAC-D050-306A-3044-42358B531020}"/>
              </a:ext>
            </a:extLst>
          </p:cNvPr>
          <p:cNvPicPr>
            <a:picLocks noChangeAspect="1"/>
          </p:cNvPicPr>
          <p:nvPr/>
        </p:nvPicPr>
        <p:blipFill>
          <a:blip r:embed="rId2"/>
          <a:stretch>
            <a:fillRect/>
          </a:stretch>
        </p:blipFill>
        <p:spPr>
          <a:xfrm>
            <a:off x="6169287" y="1403828"/>
            <a:ext cx="5963078" cy="5057968"/>
          </a:xfrm>
          <a:prstGeom prst="rect">
            <a:avLst/>
          </a:prstGeom>
        </p:spPr>
      </p:pic>
    </p:spTree>
    <p:extLst>
      <p:ext uri="{BB962C8B-B14F-4D97-AF65-F5344CB8AC3E}">
        <p14:creationId xmlns:p14="http://schemas.microsoft.com/office/powerpoint/2010/main" val="3382720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A798E17-1D39-B3D1-2FC8-AAC218199688}"/>
              </a:ext>
            </a:extLst>
          </p:cNvPr>
          <p:cNvSpPr>
            <a:spLocks noGrp="1"/>
          </p:cNvSpPr>
          <p:nvPr>
            <p:ph idx="1"/>
          </p:nvPr>
        </p:nvSpPr>
        <p:spPr>
          <a:xfrm>
            <a:off x="371301" y="1232705"/>
            <a:ext cx="4399482" cy="5047042"/>
          </a:xfrm>
        </p:spPr>
        <p:txBody>
          <a:bodyPr/>
          <a:lstStyle/>
          <a:p>
            <a:r>
              <a:rPr lang="zh-CN" altLang="en-US" dirty="0"/>
              <a:t>（</a:t>
            </a:r>
            <a:r>
              <a:rPr lang="en-US" altLang="zh-CN" dirty="0"/>
              <a:t>2</a:t>
            </a:r>
            <a:r>
              <a:rPr lang="zh-CN" altLang="en-US" dirty="0"/>
              <a:t>）密码分组链接（</a:t>
            </a:r>
            <a:r>
              <a:rPr lang="en-US" altLang="zh-CN" dirty="0"/>
              <a:t>CBC</a:t>
            </a:r>
            <a:r>
              <a:rPr lang="zh-CN" altLang="en-US" dirty="0"/>
              <a:t>）模式  该模式在加密一个分组之前，先将上一次加密的结果与当前的明文分组进行异或，然后再加密。</a:t>
            </a:r>
            <a:endParaRPr lang="en-US" altLang="zh-CN" dirty="0"/>
          </a:p>
          <a:p>
            <a:pPr lvl="1"/>
            <a:r>
              <a:rPr lang="zh-CN" altLang="en-US" dirty="0"/>
              <a:t>在加密时，无法利用并行处理来加速加密运算，但其解密运算由于做异或运算的加密分组结果已存在，仍可以利用并行处理来加速，因此该工作模式的加密速度可能会比解密速度慢。</a:t>
            </a:r>
          </a:p>
        </p:txBody>
      </p:sp>
      <p:sp>
        <p:nvSpPr>
          <p:cNvPr id="3" name="灯片编号占位符 2">
            <a:extLst>
              <a:ext uri="{FF2B5EF4-FFF2-40B4-BE49-F238E27FC236}">
                <a16:creationId xmlns:a16="http://schemas.microsoft.com/office/drawing/2014/main" id="{1C335AFA-6B87-1D48-6C57-607338E1132A}"/>
              </a:ext>
            </a:extLst>
          </p:cNvPr>
          <p:cNvSpPr>
            <a:spLocks noGrp="1"/>
          </p:cNvSpPr>
          <p:nvPr>
            <p:ph type="sldNum" sz="quarter" idx="4"/>
          </p:nvPr>
        </p:nvSpPr>
        <p:spPr/>
        <p:txBody>
          <a:bodyPr/>
          <a:lstStyle/>
          <a:p>
            <a:fld id="{4124EDF5-87F7-4AC5-8292-B04417157FC2}" type="slidenum">
              <a:rPr lang="zh-CN" altLang="en-US" smtClean="0"/>
              <a:t>22</a:t>
            </a:fld>
            <a:endParaRPr lang="zh-CN" altLang="en-US"/>
          </a:p>
        </p:txBody>
      </p:sp>
      <p:sp>
        <p:nvSpPr>
          <p:cNvPr id="4" name="标题 3">
            <a:extLst>
              <a:ext uri="{FF2B5EF4-FFF2-40B4-BE49-F238E27FC236}">
                <a16:creationId xmlns:a16="http://schemas.microsoft.com/office/drawing/2014/main" id="{D0BB3124-8DF6-1E4C-4DC3-73A5CFD721FD}"/>
              </a:ext>
            </a:extLst>
          </p:cNvPr>
          <p:cNvSpPr>
            <a:spLocks noGrp="1"/>
          </p:cNvSpPr>
          <p:nvPr>
            <p:ph type="title"/>
          </p:nvPr>
        </p:nvSpPr>
        <p:spPr/>
        <p:txBody>
          <a:bodyPr/>
          <a:lstStyle/>
          <a:p>
            <a:r>
              <a:rPr lang="zh-CN" altLang="en-US" dirty="0"/>
              <a:t>分组密码的工作模式</a:t>
            </a:r>
          </a:p>
        </p:txBody>
      </p:sp>
      <p:pic>
        <p:nvPicPr>
          <p:cNvPr id="5" name="图片 4">
            <a:extLst>
              <a:ext uri="{FF2B5EF4-FFF2-40B4-BE49-F238E27FC236}">
                <a16:creationId xmlns:a16="http://schemas.microsoft.com/office/drawing/2014/main" id="{4C83829A-FA54-732D-B82B-CD046F37EC6D}"/>
              </a:ext>
            </a:extLst>
          </p:cNvPr>
          <p:cNvPicPr>
            <a:picLocks noChangeAspect="1"/>
          </p:cNvPicPr>
          <p:nvPr/>
        </p:nvPicPr>
        <p:blipFill>
          <a:blip r:embed="rId2"/>
          <a:stretch>
            <a:fillRect/>
          </a:stretch>
        </p:blipFill>
        <p:spPr>
          <a:xfrm>
            <a:off x="5189944" y="1232705"/>
            <a:ext cx="5922004" cy="5426627"/>
          </a:xfrm>
          <a:prstGeom prst="rect">
            <a:avLst/>
          </a:prstGeom>
        </p:spPr>
      </p:pic>
    </p:spTree>
    <p:extLst>
      <p:ext uri="{BB962C8B-B14F-4D97-AF65-F5344CB8AC3E}">
        <p14:creationId xmlns:p14="http://schemas.microsoft.com/office/powerpoint/2010/main" val="21223768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17A20DD-3356-E839-E720-E849518E6987}"/>
              </a:ext>
            </a:extLst>
          </p:cNvPr>
          <p:cNvSpPr>
            <a:spLocks noGrp="1"/>
          </p:cNvSpPr>
          <p:nvPr>
            <p:ph idx="1"/>
          </p:nvPr>
        </p:nvSpPr>
        <p:spPr/>
        <p:txBody>
          <a:bodyPr/>
          <a:lstStyle/>
          <a:p>
            <a:r>
              <a:rPr lang="zh-CN" altLang="en-US" dirty="0"/>
              <a:t>（</a:t>
            </a:r>
            <a:r>
              <a:rPr lang="en-US" altLang="zh-CN" dirty="0"/>
              <a:t>3</a:t>
            </a:r>
            <a:r>
              <a:rPr lang="zh-CN" altLang="en-US" dirty="0"/>
              <a:t>）密文反馈（</a:t>
            </a:r>
            <a:r>
              <a:rPr lang="en-US" altLang="zh-CN" dirty="0"/>
              <a:t>CFB</a:t>
            </a:r>
            <a:r>
              <a:rPr lang="zh-CN" altLang="en-US" dirty="0"/>
              <a:t>）模式  </a:t>
            </a:r>
            <a:endParaRPr lang="en-US" altLang="zh-CN" dirty="0"/>
          </a:p>
          <a:p>
            <a:pPr lvl="1"/>
            <a:r>
              <a:rPr lang="zh-CN" altLang="en-US" dirty="0"/>
              <a:t>该模式先将明文数据分成若干 </a:t>
            </a:r>
            <a:r>
              <a:rPr lang="en-US" altLang="zh-CN" dirty="0"/>
              <a:t>s </a:t>
            </a:r>
            <a:r>
              <a:rPr lang="zh-CN" altLang="en-US" dirty="0"/>
              <a:t>位的分组，</a:t>
            </a:r>
            <a:r>
              <a:rPr lang="en-US" altLang="zh-CN" dirty="0"/>
              <a:t>1≤s≤n</a:t>
            </a:r>
            <a:r>
              <a:rPr lang="zh-CN" altLang="en-US" dirty="0"/>
              <a:t>。其中，</a:t>
            </a:r>
            <a:r>
              <a:rPr lang="en-US" altLang="zh-CN" dirty="0"/>
              <a:t>n </a:t>
            </a:r>
            <a:r>
              <a:rPr lang="zh-CN" altLang="en-US" dirty="0"/>
              <a:t>表示所用的分组密码的分组长度。每个字符所对应的明文，可以通过将该分组和一个密钥字符相异或得到，该密钥字符是通过加密密文的前</a:t>
            </a:r>
            <a:r>
              <a:rPr lang="en-US" altLang="zh-CN" dirty="0"/>
              <a:t>n</a:t>
            </a:r>
            <a:r>
              <a:rPr lang="zh-CN" altLang="en-US" dirty="0"/>
              <a:t>位获得的。在处理开始阶段，将一个</a:t>
            </a:r>
            <a:r>
              <a:rPr lang="en-US" altLang="zh-CN" dirty="0"/>
              <a:t>n</a:t>
            </a:r>
            <a:r>
              <a:rPr lang="zh-CN" altLang="en-US" dirty="0"/>
              <a:t>位的初始向量放在密文的位置上。</a:t>
            </a:r>
            <a:endParaRPr lang="en-US" altLang="zh-CN" dirty="0"/>
          </a:p>
          <a:p>
            <a:pPr marL="257175" lvl="1" indent="-257175">
              <a:buChar char="•"/>
            </a:pPr>
            <a:r>
              <a:rPr lang="zh-CN" altLang="en-US" sz="2400" dirty="0"/>
              <a:t>（</a:t>
            </a:r>
            <a:r>
              <a:rPr lang="en-US" altLang="zh-CN" sz="2400" dirty="0"/>
              <a:t>4</a:t>
            </a:r>
            <a:r>
              <a:rPr lang="zh-CN" altLang="en-US" sz="2400" dirty="0"/>
              <a:t>）输出反馈（</a:t>
            </a:r>
            <a:r>
              <a:rPr lang="en-US" altLang="zh-CN" sz="2400" dirty="0"/>
              <a:t>OFB</a:t>
            </a:r>
            <a:r>
              <a:rPr lang="zh-CN" altLang="en-US" sz="2400" dirty="0"/>
              <a:t>）模式 </a:t>
            </a:r>
            <a:endParaRPr lang="en-US" altLang="zh-CN" sz="2400" dirty="0"/>
          </a:p>
          <a:p>
            <a:pPr lvl="1"/>
            <a:r>
              <a:rPr lang="zh-CN" altLang="en-US" dirty="0"/>
              <a:t>该模式用分组密码（如 </a:t>
            </a:r>
            <a:r>
              <a:rPr lang="en-US" altLang="zh-CN" dirty="0"/>
              <a:t>AES</a:t>
            </a:r>
            <a:r>
              <a:rPr lang="zh-CN" altLang="en-US" dirty="0"/>
              <a:t>）产生一个密钥流，将此密钥流的明文流进行异或运算可得密文流。它也需要一个初始向量。 </a:t>
            </a:r>
            <a:endParaRPr lang="en-US" altLang="zh-CN" dirty="0"/>
          </a:p>
          <a:p>
            <a:pPr marL="257175" lvl="1" indent="-257175">
              <a:buChar char="•"/>
            </a:pPr>
            <a:r>
              <a:rPr lang="zh-CN" altLang="en-US" sz="2400" dirty="0"/>
              <a:t>（</a:t>
            </a:r>
            <a:r>
              <a:rPr lang="en-US" altLang="zh-CN" sz="2400" dirty="0"/>
              <a:t>5</a:t>
            </a:r>
            <a:r>
              <a:rPr lang="zh-CN" altLang="en-US" sz="2400" dirty="0"/>
              <a:t>）计数器（</a:t>
            </a:r>
            <a:r>
              <a:rPr lang="en-US" altLang="zh-CN" sz="2400" dirty="0"/>
              <a:t>CTR</a:t>
            </a:r>
            <a:r>
              <a:rPr lang="zh-CN" altLang="en-US" sz="2400" dirty="0"/>
              <a:t>）模式  </a:t>
            </a:r>
            <a:endParaRPr lang="en-US" altLang="zh-CN" sz="2400" dirty="0"/>
          </a:p>
          <a:p>
            <a:pPr lvl="1"/>
            <a:r>
              <a:rPr lang="zh-CN" altLang="en-US" dirty="0"/>
              <a:t>计数器使用与明文分组规模相同的长度。一般地，计数器首先被初始化为某一值，然后随着消息块的增加，计数器的值增加</a:t>
            </a:r>
            <a:r>
              <a:rPr lang="en-US" altLang="zh-CN" dirty="0"/>
              <a:t>1</a:t>
            </a:r>
            <a:r>
              <a:rPr lang="zh-CN" altLang="en-US" dirty="0"/>
              <a:t>。计数器加</a:t>
            </a:r>
            <a:r>
              <a:rPr lang="en-US" altLang="zh-CN" dirty="0"/>
              <a:t>1</a:t>
            </a:r>
            <a:r>
              <a:rPr lang="zh-CN" altLang="en-US" dirty="0"/>
              <a:t>后，与明文组异或得到密文组。解密时，使用具有相同值的计数器序列，用加密后的计数器的值与密文组异或来恢复明文组。 </a:t>
            </a:r>
          </a:p>
        </p:txBody>
      </p:sp>
      <p:sp>
        <p:nvSpPr>
          <p:cNvPr id="3" name="灯片编号占位符 2">
            <a:extLst>
              <a:ext uri="{FF2B5EF4-FFF2-40B4-BE49-F238E27FC236}">
                <a16:creationId xmlns:a16="http://schemas.microsoft.com/office/drawing/2014/main" id="{F1187054-6DEF-CFFF-DD89-3D1C9DC0D7A1}"/>
              </a:ext>
            </a:extLst>
          </p:cNvPr>
          <p:cNvSpPr>
            <a:spLocks noGrp="1"/>
          </p:cNvSpPr>
          <p:nvPr>
            <p:ph type="sldNum" sz="quarter" idx="4"/>
          </p:nvPr>
        </p:nvSpPr>
        <p:spPr/>
        <p:txBody>
          <a:bodyPr/>
          <a:lstStyle/>
          <a:p>
            <a:fld id="{4124EDF5-87F7-4AC5-8292-B04417157FC2}" type="slidenum">
              <a:rPr lang="zh-CN" altLang="en-US" smtClean="0"/>
              <a:t>23</a:t>
            </a:fld>
            <a:endParaRPr lang="zh-CN" altLang="en-US"/>
          </a:p>
        </p:txBody>
      </p:sp>
      <p:sp>
        <p:nvSpPr>
          <p:cNvPr id="4" name="标题 3">
            <a:extLst>
              <a:ext uri="{FF2B5EF4-FFF2-40B4-BE49-F238E27FC236}">
                <a16:creationId xmlns:a16="http://schemas.microsoft.com/office/drawing/2014/main" id="{03458D4B-95A9-DB45-1676-A4FEFE2A788F}"/>
              </a:ext>
            </a:extLst>
          </p:cNvPr>
          <p:cNvSpPr>
            <a:spLocks noGrp="1"/>
          </p:cNvSpPr>
          <p:nvPr>
            <p:ph type="title"/>
          </p:nvPr>
        </p:nvSpPr>
        <p:spPr/>
        <p:txBody>
          <a:bodyPr/>
          <a:lstStyle/>
          <a:p>
            <a:r>
              <a:rPr lang="zh-CN" altLang="en-US" dirty="0"/>
              <a:t>分组密码的工作模式</a:t>
            </a:r>
          </a:p>
        </p:txBody>
      </p:sp>
    </p:spTree>
    <p:extLst>
      <p:ext uri="{BB962C8B-B14F-4D97-AF65-F5344CB8AC3E}">
        <p14:creationId xmlns:p14="http://schemas.microsoft.com/office/powerpoint/2010/main" val="3101292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49984-C42B-2A53-18E2-0DDD19F30027}"/>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93B1ED8B-8B82-CD17-383E-903137554E06}"/>
              </a:ext>
            </a:extLst>
          </p:cNvPr>
          <p:cNvSpPr>
            <a:spLocks noGrp="1"/>
          </p:cNvSpPr>
          <p:nvPr>
            <p:ph type="sldNum" sz="quarter" idx="4"/>
          </p:nvPr>
        </p:nvSpPr>
        <p:spPr/>
        <p:txBody>
          <a:bodyPr/>
          <a:lstStyle/>
          <a:p>
            <a:fld id="{4124EDF5-87F7-4AC5-8292-B04417157FC2}" type="slidenum">
              <a:rPr lang="zh-CN" altLang="en-US" smtClean="0"/>
              <a:t>24</a:t>
            </a:fld>
            <a:endParaRPr lang="zh-CN" altLang="en-US"/>
          </a:p>
        </p:txBody>
      </p:sp>
      <p:sp>
        <p:nvSpPr>
          <p:cNvPr id="4" name="标题 3">
            <a:extLst>
              <a:ext uri="{FF2B5EF4-FFF2-40B4-BE49-F238E27FC236}">
                <a16:creationId xmlns:a16="http://schemas.microsoft.com/office/drawing/2014/main" id="{95489B5B-FE36-1EE0-67A7-F75D736DEA3C}"/>
              </a:ext>
            </a:extLst>
          </p:cNvPr>
          <p:cNvSpPr>
            <a:spLocks noGrp="1"/>
          </p:cNvSpPr>
          <p:nvPr>
            <p:ph type="title"/>
          </p:nvPr>
        </p:nvSpPr>
        <p:spPr/>
        <p:txBody>
          <a:bodyPr/>
          <a:lstStyle/>
          <a:p>
            <a:endParaRPr lang="en-US"/>
          </a:p>
        </p:txBody>
      </p:sp>
      <p:sp>
        <p:nvSpPr>
          <p:cNvPr id="5" name="文本框 4">
            <a:extLst>
              <a:ext uri="{FF2B5EF4-FFF2-40B4-BE49-F238E27FC236}">
                <a16:creationId xmlns:a16="http://schemas.microsoft.com/office/drawing/2014/main" id="{B7AD2D98-0CDC-2CF3-8614-286F21E22B07}"/>
              </a:ext>
            </a:extLst>
          </p:cNvPr>
          <p:cNvSpPr txBox="1"/>
          <p:nvPr/>
        </p:nvSpPr>
        <p:spPr>
          <a:xfrm>
            <a:off x="2913188" y="3113465"/>
            <a:ext cx="6365619" cy="1754326"/>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lang="zh-CN" altLang="en-US" dirty="0"/>
              <a:t>攻击模型与安全性分析</a:t>
            </a:r>
            <a:endPar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endParaRPr>
          </a:p>
        </p:txBody>
      </p:sp>
    </p:spTree>
    <p:extLst>
      <p:ext uri="{BB962C8B-B14F-4D97-AF65-F5344CB8AC3E}">
        <p14:creationId xmlns:p14="http://schemas.microsoft.com/office/powerpoint/2010/main" val="17313807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CE6D332-6191-87D8-C2A1-8C6ADCB79A86}"/>
              </a:ext>
            </a:extLst>
          </p:cNvPr>
          <p:cNvSpPr>
            <a:spLocks noGrp="1"/>
          </p:cNvSpPr>
          <p:nvPr>
            <p:ph idx="1"/>
          </p:nvPr>
        </p:nvSpPr>
        <p:spPr/>
        <p:txBody>
          <a:bodyPr/>
          <a:lstStyle/>
          <a:p>
            <a:r>
              <a:rPr lang="zh-CN" altLang="en-US" dirty="0"/>
              <a:t>密码学的攻击模型（</a:t>
            </a:r>
            <a:r>
              <a:rPr lang="en-US" altLang="zh-CN" dirty="0"/>
              <a:t>Attack Model</a:t>
            </a:r>
            <a:r>
              <a:rPr lang="zh-CN" altLang="en-US" dirty="0"/>
              <a:t>）可以分为三类： </a:t>
            </a:r>
            <a:endParaRPr lang="en-US" altLang="zh-CN" dirty="0"/>
          </a:p>
          <a:p>
            <a:r>
              <a:rPr lang="zh-CN" altLang="en-US" dirty="0"/>
              <a:t>（</a:t>
            </a:r>
            <a:r>
              <a:rPr lang="en-US" altLang="zh-CN" dirty="0"/>
              <a:t>1</a:t>
            </a:r>
            <a:r>
              <a:rPr lang="zh-CN" altLang="en-US" dirty="0"/>
              <a:t>）黑盒攻击 </a:t>
            </a:r>
            <a:endParaRPr lang="en-US" altLang="zh-CN" dirty="0"/>
          </a:p>
          <a:p>
            <a:pPr lvl="1"/>
            <a:r>
              <a:rPr lang="zh-CN" altLang="en-US" dirty="0"/>
              <a:t>黑盒攻击是指攻击者只能获得程序的输入和输出，不能实质性地接触到任何内部操作和数据。</a:t>
            </a:r>
            <a:endParaRPr lang="en-US" altLang="zh-CN" dirty="0"/>
          </a:p>
          <a:p>
            <a:pPr marL="257175" lvl="1" indent="-257175">
              <a:buChar char="•"/>
            </a:pPr>
            <a:r>
              <a:rPr lang="zh-CN" altLang="en-US" sz="2400" dirty="0"/>
              <a:t>（</a:t>
            </a:r>
            <a:r>
              <a:rPr lang="en-US" altLang="zh-CN" sz="2400" dirty="0"/>
              <a:t>2</a:t>
            </a:r>
            <a:r>
              <a:rPr lang="zh-CN" altLang="en-US" sz="2400" dirty="0"/>
              <a:t>）灰盒攻击  </a:t>
            </a:r>
            <a:endParaRPr lang="en-US" altLang="zh-CN" sz="2400" dirty="0"/>
          </a:p>
          <a:p>
            <a:pPr lvl="1"/>
            <a:r>
              <a:rPr lang="zh-CN" altLang="en-US" dirty="0"/>
              <a:t>灰盒攻击（例如侧信道攻击）是指通过程序运行时泄露的物理信息（如时间信息、功率消耗、电磁辐射等），可以实质性地部分或完全获取程序运行的内部数据，从而完成对程序的破解或对数据（密钥）的窃取。</a:t>
            </a:r>
            <a:endParaRPr lang="en-US" altLang="zh-CN" dirty="0"/>
          </a:p>
          <a:p>
            <a:pPr marL="257175" lvl="1" indent="-257175">
              <a:buChar char="•"/>
            </a:pPr>
            <a:r>
              <a:rPr lang="zh-CN" altLang="en-US" sz="2400" dirty="0"/>
              <a:t>（</a:t>
            </a:r>
            <a:r>
              <a:rPr lang="en-US" altLang="zh-CN" sz="2400" dirty="0"/>
              <a:t>3</a:t>
            </a:r>
            <a:r>
              <a:rPr lang="zh-CN" altLang="en-US" sz="2400" dirty="0"/>
              <a:t>）白盒攻击 </a:t>
            </a:r>
            <a:endParaRPr lang="en-US" altLang="zh-CN" sz="2400" dirty="0"/>
          </a:p>
          <a:p>
            <a:pPr lvl="1"/>
            <a:r>
              <a:rPr lang="zh-CN" altLang="en-US" dirty="0"/>
              <a:t>白盒攻击是指攻击者对设备终端拥有完全的控制能力，能够观测和更改程序运行时的内部数据。</a:t>
            </a:r>
          </a:p>
        </p:txBody>
      </p:sp>
      <p:sp>
        <p:nvSpPr>
          <p:cNvPr id="3" name="灯片编号占位符 2">
            <a:extLst>
              <a:ext uri="{FF2B5EF4-FFF2-40B4-BE49-F238E27FC236}">
                <a16:creationId xmlns:a16="http://schemas.microsoft.com/office/drawing/2014/main" id="{CD0762D3-86C9-7BF0-BB23-04EFEA23D7E8}"/>
              </a:ext>
            </a:extLst>
          </p:cNvPr>
          <p:cNvSpPr>
            <a:spLocks noGrp="1"/>
          </p:cNvSpPr>
          <p:nvPr>
            <p:ph type="sldNum" sz="quarter" idx="4"/>
          </p:nvPr>
        </p:nvSpPr>
        <p:spPr/>
        <p:txBody>
          <a:bodyPr/>
          <a:lstStyle/>
          <a:p>
            <a:fld id="{4124EDF5-87F7-4AC5-8292-B04417157FC2}" type="slidenum">
              <a:rPr lang="zh-CN" altLang="en-US" smtClean="0"/>
              <a:t>25</a:t>
            </a:fld>
            <a:endParaRPr lang="zh-CN" altLang="en-US"/>
          </a:p>
        </p:txBody>
      </p:sp>
      <p:sp>
        <p:nvSpPr>
          <p:cNvPr id="4" name="标题 3">
            <a:extLst>
              <a:ext uri="{FF2B5EF4-FFF2-40B4-BE49-F238E27FC236}">
                <a16:creationId xmlns:a16="http://schemas.microsoft.com/office/drawing/2014/main" id="{726087BC-3926-A28C-F22F-85AD4A3993F3}"/>
              </a:ext>
            </a:extLst>
          </p:cNvPr>
          <p:cNvSpPr>
            <a:spLocks noGrp="1"/>
          </p:cNvSpPr>
          <p:nvPr>
            <p:ph type="title"/>
          </p:nvPr>
        </p:nvSpPr>
        <p:spPr/>
        <p:txBody>
          <a:bodyPr/>
          <a:lstStyle/>
          <a:p>
            <a:r>
              <a:rPr lang="zh-CN" altLang="en-US" dirty="0"/>
              <a:t>攻击模型</a:t>
            </a:r>
          </a:p>
        </p:txBody>
      </p:sp>
    </p:spTree>
    <p:extLst>
      <p:ext uri="{BB962C8B-B14F-4D97-AF65-F5344CB8AC3E}">
        <p14:creationId xmlns:p14="http://schemas.microsoft.com/office/powerpoint/2010/main" val="35490164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F50639E-F1E0-56DE-09ED-BFE878EA5039}"/>
              </a:ext>
            </a:extLst>
          </p:cNvPr>
          <p:cNvSpPr>
            <a:spLocks noGrp="1"/>
          </p:cNvSpPr>
          <p:nvPr>
            <p:ph idx="1"/>
          </p:nvPr>
        </p:nvSpPr>
        <p:spPr>
          <a:xfrm>
            <a:off x="371301" y="1232705"/>
            <a:ext cx="11464528" cy="1987573"/>
          </a:xfrm>
        </p:spPr>
        <p:txBody>
          <a:bodyPr/>
          <a:lstStyle/>
          <a:p>
            <a:r>
              <a:rPr lang="zh-CN" altLang="en-US" dirty="0"/>
              <a:t>考虑一些有用的攻击模型，这些模型根据攻击者可以观察到的内容以及他们可以对密码进行的查询来表达。</a:t>
            </a:r>
            <a:endParaRPr lang="en-US" altLang="zh-CN" dirty="0"/>
          </a:p>
          <a:p>
            <a:pPr lvl="1"/>
            <a:r>
              <a:rPr lang="zh-CN" altLang="en-US" dirty="0"/>
              <a:t>查询是一种将输入值发送到某个函数并获取输出作为返回结果的操作，这个过程并不会暴露该函数本身的细节。 </a:t>
            </a:r>
            <a:endParaRPr lang="en-US" altLang="zh-CN" dirty="0"/>
          </a:p>
        </p:txBody>
      </p:sp>
      <p:sp>
        <p:nvSpPr>
          <p:cNvPr id="3" name="灯片编号占位符 2">
            <a:extLst>
              <a:ext uri="{FF2B5EF4-FFF2-40B4-BE49-F238E27FC236}">
                <a16:creationId xmlns:a16="http://schemas.microsoft.com/office/drawing/2014/main" id="{F6F59B37-CE4D-1F02-636F-C91DF15DFCFE}"/>
              </a:ext>
            </a:extLst>
          </p:cNvPr>
          <p:cNvSpPr>
            <a:spLocks noGrp="1"/>
          </p:cNvSpPr>
          <p:nvPr>
            <p:ph type="sldNum" sz="quarter" idx="4"/>
          </p:nvPr>
        </p:nvSpPr>
        <p:spPr/>
        <p:txBody>
          <a:bodyPr/>
          <a:lstStyle/>
          <a:p>
            <a:fld id="{4124EDF5-87F7-4AC5-8292-B04417157FC2}" type="slidenum">
              <a:rPr lang="zh-CN" altLang="en-US" smtClean="0"/>
              <a:t>26</a:t>
            </a:fld>
            <a:endParaRPr lang="zh-CN" altLang="en-US"/>
          </a:p>
        </p:txBody>
      </p:sp>
      <p:sp>
        <p:nvSpPr>
          <p:cNvPr id="4" name="标题 3">
            <a:extLst>
              <a:ext uri="{FF2B5EF4-FFF2-40B4-BE49-F238E27FC236}">
                <a16:creationId xmlns:a16="http://schemas.microsoft.com/office/drawing/2014/main" id="{E6C20C4A-FA0B-A781-7C79-A439A4CFA162}"/>
              </a:ext>
            </a:extLst>
          </p:cNvPr>
          <p:cNvSpPr>
            <a:spLocks noGrp="1"/>
          </p:cNvSpPr>
          <p:nvPr>
            <p:ph type="title"/>
          </p:nvPr>
        </p:nvSpPr>
        <p:spPr/>
        <p:txBody>
          <a:bodyPr/>
          <a:lstStyle/>
          <a:p>
            <a:r>
              <a:rPr lang="zh-CN" altLang="en-US" dirty="0"/>
              <a:t>黑盒攻击</a:t>
            </a:r>
          </a:p>
        </p:txBody>
      </p:sp>
      <p:sp>
        <p:nvSpPr>
          <p:cNvPr id="6" name="文本框 5">
            <a:extLst>
              <a:ext uri="{FF2B5EF4-FFF2-40B4-BE49-F238E27FC236}">
                <a16:creationId xmlns:a16="http://schemas.microsoft.com/office/drawing/2014/main" id="{990784EA-787E-320E-561B-0168D3FC108E}"/>
              </a:ext>
            </a:extLst>
          </p:cNvPr>
          <p:cNvSpPr txBox="1"/>
          <p:nvPr/>
        </p:nvSpPr>
        <p:spPr>
          <a:xfrm>
            <a:off x="59635" y="3107636"/>
            <a:ext cx="12059478" cy="34163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57175" lvl="1" indent="-257175">
              <a:buChar char="•"/>
            </a:pPr>
            <a:r>
              <a:rPr lang="zh-CN" altLang="en-US" dirty="0"/>
              <a:t>下面从最弱到最强的顺序列出了几种黑盒攻击模型，并描述了针对每种模型攻击者的能力。 </a:t>
            </a:r>
          </a:p>
          <a:p>
            <a:pPr lvl="1"/>
            <a:r>
              <a:rPr lang="en-US" altLang="zh-CN" dirty="0"/>
              <a:t>1</a:t>
            </a:r>
            <a:r>
              <a:rPr lang="zh-CN" altLang="en-US" dirty="0"/>
              <a:t>）唯密文攻击（</a:t>
            </a:r>
            <a:r>
              <a:rPr lang="en-US" altLang="zh-CN" dirty="0"/>
              <a:t>Ciphertext-Only Attack</a:t>
            </a:r>
            <a:r>
              <a:rPr lang="zh-CN" altLang="en-US" dirty="0"/>
              <a:t>，</a:t>
            </a:r>
            <a:r>
              <a:rPr lang="en-US" altLang="zh-CN" dirty="0"/>
              <a:t>COA</a:t>
            </a:r>
            <a:r>
              <a:rPr lang="zh-CN" altLang="en-US" dirty="0"/>
              <a:t>）：</a:t>
            </a:r>
            <a:r>
              <a:rPr lang="en-US" altLang="zh-CN" dirty="0"/>
              <a:t>COA </a:t>
            </a:r>
            <a:r>
              <a:rPr lang="zh-CN" altLang="en-US" dirty="0"/>
              <a:t>模型中的攻击者可以观察到密文，但既不知道与之相关联的明文，也不知道明文是如何被选择的。</a:t>
            </a:r>
            <a:endParaRPr lang="en-US" altLang="zh-CN" dirty="0"/>
          </a:p>
          <a:p>
            <a:pPr lvl="1"/>
            <a:r>
              <a:rPr lang="en-US" altLang="zh-CN" dirty="0"/>
              <a:t>2</a:t>
            </a:r>
            <a:r>
              <a:rPr lang="zh-CN" altLang="en-US" dirty="0"/>
              <a:t>）已知明文攻击（</a:t>
            </a:r>
            <a:r>
              <a:rPr lang="en-US" altLang="zh-CN" dirty="0"/>
              <a:t>Known-Plaintext Attack</a:t>
            </a:r>
            <a:r>
              <a:rPr lang="zh-CN" altLang="en-US" dirty="0"/>
              <a:t>，</a:t>
            </a:r>
            <a:r>
              <a:rPr lang="en-US" altLang="zh-CN" dirty="0"/>
              <a:t>KPA</a:t>
            </a:r>
            <a:r>
              <a:rPr lang="zh-CN" altLang="en-US" dirty="0"/>
              <a:t>）：</a:t>
            </a:r>
            <a:r>
              <a:rPr lang="en-US" altLang="zh-CN" dirty="0"/>
              <a:t>KPA</a:t>
            </a:r>
            <a:r>
              <a:rPr lang="zh-CN" altLang="en-US" dirty="0"/>
              <a:t>模型中的攻击者观察密文并知道相关联的明文。</a:t>
            </a:r>
            <a:r>
              <a:rPr lang="en-US" altLang="zh-CN" dirty="0"/>
              <a:t>KPA</a:t>
            </a:r>
            <a:r>
              <a:rPr lang="zh-CN" altLang="en-US" dirty="0"/>
              <a:t>模型是一个被动攻击者模型。 </a:t>
            </a:r>
          </a:p>
          <a:p>
            <a:pPr lvl="1"/>
            <a:r>
              <a:rPr lang="en-US" altLang="zh-CN" dirty="0"/>
              <a:t>3</a:t>
            </a:r>
            <a:r>
              <a:rPr lang="zh-CN" altLang="en-US" dirty="0"/>
              <a:t>）选择明文攻击（</a:t>
            </a:r>
            <a:r>
              <a:rPr lang="en-US" altLang="zh-CN" dirty="0"/>
              <a:t>Chosen-Plaintext Attack</a:t>
            </a:r>
            <a:r>
              <a:rPr lang="zh-CN" altLang="en-US" dirty="0"/>
              <a:t>，</a:t>
            </a:r>
            <a:r>
              <a:rPr lang="en-US" altLang="zh-CN" dirty="0"/>
              <a:t>CPA</a:t>
            </a:r>
            <a:r>
              <a:rPr lang="zh-CN" altLang="en-US" dirty="0"/>
              <a:t>）：</a:t>
            </a:r>
            <a:r>
              <a:rPr lang="en-US" altLang="zh-CN" dirty="0"/>
              <a:t>CPA </a:t>
            </a:r>
            <a:r>
              <a:rPr lang="zh-CN" altLang="en-US" dirty="0"/>
              <a:t>模型中的攻击者可以对其选择的明文执行加密查询，并观察生成的密文。 </a:t>
            </a:r>
            <a:endParaRPr lang="en-US" altLang="zh-CN" dirty="0"/>
          </a:p>
          <a:p>
            <a:pPr lvl="1"/>
            <a:r>
              <a:rPr lang="en-US" altLang="zh-CN" dirty="0"/>
              <a:t>4</a:t>
            </a:r>
            <a:r>
              <a:rPr lang="zh-CN" altLang="en-US" dirty="0"/>
              <a:t>）选择密文攻击（</a:t>
            </a:r>
            <a:r>
              <a:rPr lang="en-US" altLang="zh-CN" dirty="0"/>
              <a:t>Chosen-Ciphertext Attack</a:t>
            </a:r>
            <a:r>
              <a:rPr lang="zh-CN" altLang="en-US" dirty="0"/>
              <a:t>，</a:t>
            </a:r>
            <a:r>
              <a:rPr lang="en-US" altLang="zh-CN" dirty="0"/>
              <a:t>CCA</a:t>
            </a:r>
            <a:r>
              <a:rPr lang="zh-CN" altLang="en-US" dirty="0"/>
              <a:t>）：</a:t>
            </a:r>
            <a:r>
              <a:rPr lang="en-US" altLang="zh-CN" dirty="0"/>
              <a:t>CCA</a:t>
            </a:r>
            <a:r>
              <a:rPr lang="zh-CN" altLang="en-US" dirty="0"/>
              <a:t>模型中的攻击者可以执行加密查询和解密查询。</a:t>
            </a:r>
            <a:r>
              <a:rPr lang="en-US" altLang="zh-CN" dirty="0"/>
              <a:t>CCA </a:t>
            </a:r>
            <a:r>
              <a:rPr lang="zh-CN" altLang="en-US" dirty="0"/>
              <a:t>模型又可以分为非自适应选择密文攻击（</a:t>
            </a:r>
            <a:r>
              <a:rPr lang="en-US" altLang="zh-CN" dirty="0"/>
              <a:t>CCA1</a:t>
            </a:r>
            <a:r>
              <a:rPr lang="zh-CN" altLang="en-US" dirty="0"/>
              <a:t>）和自适应选择密文攻击（</a:t>
            </a:r>
            <a:r>
              <a:rPr lang="en-US" altLang="zh-CN" dirty="0"/>
              <a:t>CCA2</a:t>
            </a:r>
            <a:r>
              <a:rPr lang="zh-CN" altLang="en-US" dirty="0"/>
              <a:t>）。</a:t>
            </a:r>
            <a:endParaRPr lang="en-US" altLang="zh-CN" dirty="0"/>
          </a:p>
          <a:p>
            <a:pPr lvl="1"/>
            <a:r>
              <a:rPr lang="zh-CN" altLang="en-US" dirty="0"/>
              <a:t>非自适应选择密文攻击（</a:t>
            </a:r>
            <a:r>
              <a:rPr lang="en-US" altLang="zh-CN" dirty="0"/>
              <a:t>CCA1</a:t>
            </a:r>
            <a:r>
              <a:rPr lang="zh-CN" altLang="en-US" dirty="0"/>
              <a:t>）：攻击者可以在某个时间点之前自适应地选择密文并获取解密结果，但在某个特定时刻之后，攻击者将失去这种能力。 </a:t>
            </a:r>
            <a:endParaRPr lang="en-US" altLang="zh-CN" dirty="0"/>
          </a:p>
          <a:p>
            <a:pPr lvl="1"/>
            <a:r>
              <a:rPr lang="zh-CN" altLang="en-US" dirty="0"/>
              <a:t>自适应选择密文攻击（</a:t>
            </a:r>
            <a:r>
              <a:rPr lang="en-US" altLang="zh-CN" dirty="0"/>
              <a:t>CCA2</a:t>
            </a:r>
            <a:r>
              <a:rPr lang="zh-CN" altLang="en-US" dirty="0"/>
              <a:t>）：</a:t>
            </a:r>
            <a:r>
              <a:rPr lang="en-US" altLang="zh-CN" dirty="0"/>
              <a:t>CCA2 </a:t>
            </a:r>
            <a:r>
              <a:rPr lang="zh-CN" altLang="en-US" dirty="0"/>
              <a:t>模型中的攻击者在选择密文攻击中边分析边询问。 </a:t>
            </a:r>
          </a:p>
        </p:txBody>
      </p:sp>
    </p:spTree>
    <p:extLst>
      <p:ext uri="{BB962C8B-B14F-4D97-AF65-F5344CB8AC3E}">
        <p14:creationId xmlns:p14="http://schemas.microsoft.com/office/powerpoint/2010/main" val="33437151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1DFD1C21-CAF5-7801-08AD-DACFB2124EDA}"/>
                  </a:ext>
                </a:extLst>
              </p:cNvPr>
              <p:cNvSpPr>
                <a:spLocks noGrp="1"/>
              </p:cNvSpPr>
              <p:nvPr>
                <p:ph idx="1"/>
              </p:nvPr>
            </p:nvSpPr>
            <p:spPr>
              <a:xfrm>
                <a:off x="371301" y="1232704"/>
                <a:ext cx="11464528" cy="5459643"/>
              </a:xfrm>
            </p:spPr>
            <p:txBody>
              <a:bodyPr/>
              <a:lstStyle/>
              <a:p>
                <a:pPr marL="257175" marR="0" lvl="1" indent="-257175" algn="just" defTabSz="914400" rtl="0" eaLnBrk="1" fontAlgn="base" latinLnBrk="0" hangingPunct="1">
                  <a:lnSpc>
                    <a:spcPct val="120000"/>
                  </a:lnSpc>
                  <a:spcBef>
                    <a:spcPts val="600"/>
                  </a:spcBef>
                  <a:spcAft>
                    <a:spcPts val="600"/>
                  </a:spcAft>
                  <a:buClr>
                    <a:srgbClr val="FF9933"/>
                  </a:buClr>
                  <a:buSzTx/>
                  <a:buFontTx/>
                  <a:buChar char="•"/>
                  <a:tabLst/>
                  <a:defRPr/>
                </a:pPr>
                <a:r>
                  <a:rPr kumimoji="1" lang="zh-CN" altLang="en-US" sz="2400" i="0" u="none" strike="noStrike" kern="0" cap="none" spc="0" normalizeH="0" baseline="0" noProof="0" dirty="0">
                    <a:ln>
                      <a:noFill/>
                    </a:ln>
                    <a:solidFill>
                      <a:srgbClr val="000000"/>
                    </a:solidFill>
                    <a:effectLst/>
                    <a:uLnTx/>
                    <a:uFillTx/>
                  </a:rPr>
                  <a:t>两种重要的安全目标（</a:t>
                </a:r>
                <a:r>
                  <a:rPr kumimoji="1" lang="en-US" altLang="zh-CN" sz="2400" i="0" u="none" strike="noStrike" kern="0" cap="none" spc="0" normalizeH="0" baseline="0" noProof="0" dirty="0">
                    <a:ln>
                      <a:noFill/>
                    </a:ln>
                    <a:solidFill>
                      <a:srgbClr val="000000"/>
                    </a:solidFill>
                    <a:effectLst/>
                    <a:uLnTx/>
                    <a:uFillTx/>
                  </a:rPr>
                  <a:t>Security Goal</a:t>
                </a:r>
                <a:r>
                  <a:rPr kumimoji="1" lang="zh-CN" altLang="en-US" sz="2400" i="0" u="none" strike="noStrike" kern="0" cap="none" spc="0" normalizeH="0" baseline="0" noProof="0" dirty="0">
                    <a:ln>
                      <a:noFill/>
                    </a:ln>
                    <a:solidFill>
                      <a:srgbClr val="000000"/>
                    </a:solidFill>
                    <a:effectLst/>
                    <a:uLnTx/>
                    <a:uFillTx/>
                  </a:rPr>
                  <a:t>）：不可区分性（</a:t>
                </a:r>
                <a:r>
                  <a:rPr kumimoji="1" lang="en-US" altLang="zh-CN" sz="2400" i="0" u="none" strike="noStrike" kern="0" cap="none" spc="0" normalizeH="0" baseline="0" noProof="0" dirty="0">
                    <a:ln>
                      <a:noFill/>
                    </a:ln>
                    <a:solidFill>
                      <a:srgbClr val="000000"/>
                    </a:solidFill>
                    <a:effectLst/>
                    <a:uLnTx/>
                    <a:uFillTx/>
                  </a:rPr>
                  <a:t>Indistinguishability</a:t>
                </a:r>
                <a:r>
                  <a:rPr kumimoji="1" lang="zh-CN" altLang="en-US" sz="2400" i="0" u="none" strike="noStrike" kern="0" cap="none" spc="0" normalizeH="0" baseline="0" noProof="0" dirty="0">
                    <a:ln>
                      <a:noFill/>
                    </a:ln>
                    <a:solidFill>
                      <a:srgbClr val="000000"/>
                    </a:solidFill>
                    <a:effectLst/>
                    <a:uLnTx/>
                    <a:uFillTx/>
                  </a:rPr>
                  <a:t>，</a:t>
                </a:r>
                <a:r>
                  <a:rPr kumimoji="1" lang="en-US" altLang="zh-CN" sz="2400" i="0" u="none" strike="noStrike" kern="0" cap="none" spc="0" normalizeH="0" baseline="0" noProof="0" dirty="0">
                    <a:ln>
                      <a:noFill/>
                    </a:ln>
                    <a:solidFill>
                      <a:srgbClr val="000000"/>
                    </a:solidFill>
                    <a:effectLst/>
                    <a:uLnTx/>
                    <a:uFillTx/>
                  </a:rPr>
                  <a:t>IND</a:t>
                </a:r>
                <a:r>
                  <a:rPr kumimoji="1" lang="zh-CN" altLang="en-US" sz="2400" i="0" u="none" strike="noStrike" kern="0" cap="none" spc="0" normalizeH="0" baseline="0" noProof="0" dirty="0">
                    <a:ln>
                      <a:noFill/>
                    </a:ln>
                    <a:solidFill>
                      <a:srgbClr val="000000"/>
                    </a:solidFill>
                    <a:effectLst/>
                    <a:uLnTx/>
                    <a:uFillTx/>
                  </a:rPr>
                  <a:t>）和不可塑性（</a:t>
                </a:r>
                <a:r>
                  <a:rPr kumimoji="1" lang="en-US" altLang="zh-CN" sz="2400" i="0" u="none" strike="noStrike" kern="0" cap="none" spc="0" normalizeH="0" baseline="0" noProof="0" dirty="0">
                    <a:ln>
                      <a:noFill/>
                    </a:ln>
                    <a:solidFill>
                      <a:srgbClr val="000000"/>
                    </a:solidFill>
                    <a:effectLst/>
                    <a:uLnTx/>
                    <a:uFillTx/>
                  </a:rPr>
                  <a:t>Non-malleability</a:t>
                </a:r>
                <a:r>
                  <a:rPr kumimoji="1" lang="zh-CN" altLang="en-US" sz="2400" i="0" u="none" strike="noStrike" kern="0" cap="none" spc="0" normalizeH="0" baseline="0" noProof="0" dirty="0">
                    <a:ln>
                      <a:noFill/>
                    </a:ln>
                    <a:solidFill>
                      <a:srgbClr val="000000"/>
                    </a:solidFill>
                    <a:effectLst/>
                    <a:uLnTx/>
                    <a:uFillTx/>
                  </a:rPr>
                  <a:t>，</a:t>
                </a:r>
                <a:r>
                  <a:rPr kumimoji="1" lang="en-US" altLang="zh-CN" sz="2400" i="0" u="none" strike="noStrike" kern="0" cap="none" spc="0" normalizeH="0" baseline="0" noProof="0" dirty="0">
                    <a:ln>
                      <a:noFill/>
                    </a:ln>
                    <a:solidFill>
                      <a:srgbClr val="000000"/>
                    </a:solidFill>
                    <a:effectLst/>
                    <a:uLnTx/>
                    <a:uFillTx/>
                  </a:rPr>
                  <a:t>NM</a:t>
                </a:r>
                <a:r>
                  <a:rPr kumimoji="1" lang="zh-CN" altLang="en-US" sz="2400" i="0" u="none" strike="noStrike" kern="0" cap="none" spc="0" normalizeH="0" baseline="0" noProof="0" dirty="0">
                    <a:ln>
                      <a:noFill/>
                    </a:ln>
                    <a:solidFill>
                      <a:srgbClr val="000000"/>
                    </a:solidFill>
                    <a:effectLst/>
                    <a:uLnTx/>
                    <a:uFillTx/>
                  </a:rPr>
                  <a:t>）</a:t>
                </a:r>
                <a:endParaRPr kumimoji="1" lang="en-US" altLang="zh-CN" sz="2400" i="0" u="none" strike="noStrike" kern="0" cap="none" spc="0" normalizeH="0" baseline="0" noProof="0" dirty="0">
                  <a:ln>
                    <a:noFill/>
                  </a:ln>
                  <a:solidFill>
                    <a:srgbClr val="000000"/>
                  </a:solidFill>
                  <a:effectLst/>
                  <a:uLnTx/>
                  <a:uFillTx/>
                </a:endParaRPr>
              </a:p>
              <a:p>
                <a:pPr lvl="1">
                  <a:defRPr/>
                </a:pPr>
                <a:r>
                  <a:rPr lang="zh-CN" altLang="en-US" dirty="0"/>
                  <a:t>不可区分性是指攻击者无法从密文中获得关于相应明文的任何信息。密文应该与随机字符串没有区别。</a:t>
                </a:r>
                <a:endParaRPr lang="en-US" altLang="zh-CN" dirty="0"/>
              </a:p>
              <a:p>
                <a:pPr lvl="1">
                  <a:defRPr/>
                </a:pPr>
                <a:r>
                  <a:rPr lang="zh-CN" altLang="en-US" dirty="0"/>
                  <a:t>不可塑性是指攻击者在获得挑战密文访问权限后，无法生成与挑战密文意义相关的不同密文。</a:t>
                </a:r>
                <a:endParaRPr lang="en-US" altLang="zh-CN" dirty="0"/>
              </a:p>
              <a:p>
                <a:pPr lvl="2">
                  <a:defRPr/>
                </a:pPr>
                <a:r>
                  <a:rPr lang="zh-CN" altLang="en-US" dirty="0"/>
                  <a:t>不可塑性的定义为：给定密文</a:t>
                </a:r>
                <a14:m>
                  <m:oMath xmlns:m="http://schemas.openxmlformats.org/officeDocument/2006/math">
                    <m:sSub>
                      <m:sSubPr>
                        <m:ctrlPr>
                          <a:rPr lang="en-US" altLang="zh-CN" i="1" dirty="0" smtClean="0">
                            <a:latin typeface="Cambria Math" panose="02040503050406030204" pitchFamily="18" charset="0"/>
                          </a:rPr>
                        </m:ctrlPr>
                      </m:sSubPr>
                      <m:e>
                        <m:r>
                          <a:rPr lang="en-US" altLang="zh-CN" b="1" i="1" dirty="0" smtClean="0">
                            <a:latin typeface="Cambria Math" panose="02040503050406030204" pitchFamily="18" charset="0"/>
                          </a:rPr>
                          <m:t>𝑪</m:t>
                        </m:r>
                      </m:e>
                      <m:sub>
                        <m:r>
                          <a:rPr lang="en-US" altLang="zh-CN" b="1" i="1" dirty="0" smtClean="0">
                            <a:latin typeface="Cambria Math" panose="02040503050406030204" pitchFamily="18" charset="0"/>
                          </a:rPr>
                          <m:t>𝟏</m:t>
                        </m:r>
                      </m:sub>
                    </m:sSub>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𝑬</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𝑲</m:t>
                    </m:r>
                    <m:r>
                      <a:rPr lang="en-US" altLang="zh-CN" b="1" i="1" dirty="0" smtClean="0">
                        <a:latin typeface="Cambria Math" panose="02040503050406030204" pitchFamily="18" charset="0"/>
                      </a:rPr>
                      <m:t>, </m:t>
                    </m:r>
                    <m:sSub>
                      <m:sSubPr>
                        <m:ctrlPr>
                          <a:rPr lang="en-US" altLang="zh-CN" i="1" dirty="0" smtClean="0">
                            <a:latin typeface="Cambria Math" panose="02040503050406030204" pitchFamily="18" charset="0"/>
                          </a:rPr>
                        </m:ctrlPr>
                      </m:sSubPr>
                      <m:e>
                        <m:r>
                          <a:rPr lang="en-US" altLang="zh-CN" b="1" i="1" dirty="0" smtClean="0">
                            <a:latin typeface="Cambria Math" panose="02040503050406030204" pitchFamily="18" charset="0"/>
                          </a:rPr>
                          <m:t>𝑷</m:t>
                        </m:r>
                      </m:e>
                      <m:sub>
                        <m:r>
                          <a:rPr lang="en-US" altLang="zh-CN" b="1" i="1" dirty="0" smtClean="0">
                            <a:latin typeface="Cambria Math" panose="02040503050406030204" pitchFamily="18" charset="0"/>
                          </a:rPr>
                          <m:t>𝟏</m:t>
                        </m:r>
                      </m:sub>
                    </m:sSub>
                    <m:r>
                      <a:rPr lang="en-US" altLang="zh-CN" b="1" i="1" dirty="0" smtClean="0">
                        <a:latin typeface="Cambria Math" panose="02040503050406030204" pitchFamily="18" charset="0"/>
                      </a:rPr>
                      <m:t>)</m:t>
                    </m:r>
                  </m:oMath>
                </a14:m>
                <a:r>
                  <a:rPr lang="zh-CN" altLang="en-US" dirty="0"/>
                  <a:t>，其中 </a:t>
                </a:r>
                <a:r>
                  <a:rPr lang="en-US" altLang="zh-CN" dirty="0"/>
                  <a:t>K </a:t>
                </a:r>
                <a:r>
                  <a:rPr lang="zh-CN" altLang="en-US" dirty="0"/>
                  <a:t>为密钥，</a:t>
                </a:r>
                <a14:m>
                  <m:oMath xmlns:m="http://schemas.openxmlformats.org/officeDocument/2006/math">
                    <m:sSub>
                      <m:sSubPr>
                        <m:ctrlPr>
                          <a:rPr lang="en-US" altLang="zh-CN" i="1" dirty="0" smtClean="0">
                            <a:latin typeface="Cambria Math" panose="02040503050406030204" pitchFamily="18" charset="0"/>
                          </a:rPr>
                        </m:ctrlPr>
                      </m:sSubPr>
                      <m:e>
                        <m:r>
                          <a:rPr lang="en-US" altLang="zh-CN" b="1" i="1" dirty="0" smtClean="0">
                            <a:latin typeface="Cambria Math" panose="02040503050406030204" pitchFamily="18" charset="0"/>
                          </a:rPr>
                          <m:t>𝑷</m:t>
                        </m:r>
                      </m:e>
                      <m:sub>
                        <m:r>
                          <a:rPr lang="en-US" altLang="zh-CN" b="1" i="1" dirty="0" smtClean="0">
                            <a:latin typeface="Cambria Math" panose="02040503050406030204" pitchFamily="18" charset="0"/>
                          </a:rPr>
                          <m:t>𝟏</m:t>
                        </m:r>
                      </m:sub>
                    </m:sSub>
                  </m:oMath>
                </a14:m>
                <a:r>
                  <a:rPr lang="zh-CN" altLang="en-US" dirty="0"/>
                  <a:t>是对应的明文，应该不可能创建另一个密文 </a:t>
                </a:r>
                <a14:m>
                  <m:oMath xmlns:m="http://schemas.openxmlformats.org/officeDocument/2006/math">
                    <m:sSub>
                      <m:sSubPr>
                        <m:ctrlPr>
                          <a:rPr lang="en-US" altLang="zh-CN" i="1" dirty="0" smtClean="0">
                            <a:latin typeface="Cambria Math" panose="02040503050406030204" pitchFamily="18" charset="0"/>
                          </a:rPr>
                        </m:ctrlPr>
                      </m:sSubPr>
                      <m:e>
                        <m:r>
                          <a:rPr lang="en-US" altLang="zh-CN" b="1" i="1" dirty="0" smtClean="0">
                            <a:latin typeface="Cambria Math" panose="02040503050406030204" pitchFamily="18" charset="0"/>
                          </a:rPr>
                          <m:t>𝑪</m:t>
                        </m:r>
                      </m:e>
                      <m:sub>
                        <m:r>
                          <a:rPr lang="en-US" altLang="zh-CN" b="1" i="1" dirty="0" smtClean="0">
                            <a:latin typeface="Cambria Math" panose="02040503050406030204" pitchFamily="18" charset="0"/>
                          </a:rPr>
                          <m:t>𝟐</m:t>
                        </m:r>
                      </m:sub>
                    </m:sSub>
                  </m:oMath>
                </a14:m>
                <a:r>
                  <a:rPr lang="zh-CN" altLang="en-US" dirty="0"/>
                  <a:t>，使其对应的明文 </a:t>
                </a:r>
                <a14:m>
                  <m:oMath xmlns:m="http://schemas.openxmlformats.org/officeDocument/2006/math">
                    <m:sSub>
                      <m:sSubPr>
                        <m:ctrlPr>
                          <a:rPr lang="en-US" altLang="zh-CN" i="1" dirty="0" smtClean="0">
                            <a:latin typeface="Cambria Math" panose="02040503050406030204" pitchFamily="18" charset="0"/>
                          </a:rPr>
                        </m:ctrlPr>
                      </m:sSubPr>
                      <m:e>
                        <m:r>
                          <a:rPr lang="en-US" altLang="zh-CN" b="1" i="1" dirty="0" smtClean="0">
                            <a:latin typeface="Cambria Math" panose="02040503050406030204" pitchFamily="18" charset="0"/>
                          </a:rPr>
                          <m:t>𝑷</m:t>
                        </m:r>
                      </m:e>
                      <m:sub>
                        <m:r>
                          <a:rPr lang="en-US" altLang="zh-CN" b="1" i="1" dirty="0" smtClean="0">
                            <a:latin typeface="Cambria Math" panose="02040503050406030204" pitchFamily="18" charset="0"/>
                          </a:rPr>
                          <m:t>𝟐</m:t>
                        </m:r>
                      </m:sub>
                    </m:sSub>
                  </m:oMath>
                </a14:m>
                <a:r>
                  <a:rPr lang="zh-CN" altLang="en-US" dirty="0"/>
                  <a:t>以有意义的方式与 </a:t>
                </a:r>
                <a14:m>
                  <m:oMath xmlns:m="http://schemas.openxmlformats.org/officeDocument/2006/math">
                    <m:sSub>
                      <m:sSubPr>
                        <m:ctrlPr>
                          <a:rPr lang="en-US" altLang="zh-CN" i="1" dirty="0" smtClean="0">
                            <a:latin typeface="Cambria Math" panose="02040503050406030204" pitchFamily="18" charset="0"/>
                          </a:rPr>
                        </m:ctrlPr>
                      </m:sSubPr>
                      <m:e>
                        <m:r>
                          <a:rPr lang="en-US" altLang="zh-CN" b="1" i="1" dirty="0" smtClean="0">
                            <a:latin typeface="Cambria Math" panose="02040503050406030204" pitchFamily="18" charset="0"/>
                          </a:rPr>
                          <m:t>𝑷</m:t>
                        </m:r>
                      </m:e>
                      <m:sub>
                        <m:r>
                          <a:rPr lang="en-US" altLang="zh-CN" b="1" i="1" dirty="0" smtClean="0">
                            <a:latin typeface="Cambria Math" panose="02040503050406030204" pitchFamily="18" charset="0"/>
                          </a:rPr>
                          <m:t>𝟏</m:t>
                        </m:r>
                      </m:sub>
                    </m:sSub>
                  </m:oMath>
                </a14:m>
                <a:r>
                  <a:rPr lang="zh-CN" altLang="en-US" dirty="0"/>
                  <a:t>相关。</a:t>
                </a:r>
              </a:p>
            </p:txBody>
          </p:sp>
        </mc:Choice>
        <mc:Fallback xmlns="">
          <p:sp>
            <p:nvSpPr>
              <p:cNvPr id="2" name="内容占位符 1">
                <a:extLst>
                  <a:ext uri="{FF2B5EF4-FFF2-40B4-BE49-F238E27FC236}">
                    <a16:creationId xmlns:a16="http://schemas.microsoft.com/office/drawing/2014/main" id="{1DFD1C21-CAF5-7801-08AD-DACFB2124EDA}"/>
                  </a:ext>
                </a:extLst>
              </p:cNvPr>
              <p:cNvSpPr>
                <a:spLocks noGrp="1" noRot="1" noChangeAspect="1" noMove="1" noResize="1" noEditPoints="1" noAdjustHandles="1" noChangeArrowheads="1" noChangeShapeType="1" noTextEdit="1"/>
              </p:cNvSpPr>
              <p:nvPr>
                <p:ph idx="1"/>
              </p:nvPr>
            </p:nvSpPr>
            <p:spPr>
              <a:xfrm>
                <a:off x="371301" y="1232704"/>
                <a:ext cx="11464528" cy="5459643"/>
              </a:xfrm>
              <a:blipFill>
                <a:blip r:embed="rId2"/>
                <a:stretch>
                  <a:fillRect l="-957" t="-670" r="-2924"/>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D1F06219-95F0-4786-7FAD-0D5CDD6280AB}"/>
              </a:ext>
            </a:extLst>
          </p:cNvPr>
          <p:cNvSpPr>
            <a:spLocks noGrp="1"/>
          </p:cNvSpPr>
          <p:nvPr>
            <p:ph type="sldNum" sz="quarter" idx="4"/>
          </p:nvPr>
        </p:nvSpPr>
        <p:spPr/>
        <p:txBody>
          <a:bodyPr/>
          <a:lstStyle/>
          <a:p>
            <a:fld id="{4124EDF5-87F7-4AC5-8292-B04417157FC2}" type="slidenum">
              <a:rPr lang="zh-CN" altLang="en-US" smtClean="0"/>
              <a:t>27</a:t>
            </a:fld>
            <a:endParaRPr lang="zh-CN" altLang="en-US"/>
          </a:p>
        </p:txBody>
      </p:sp>
      <p:sp>
        <p:nvSpPr>
          <p:cNvPr id="4" name="标题 3">
            <a:extLst>
              <a:ext uri="{FF2B5EF4-FFF2-40B4-BE49-F238E27FC236}">
                <a16:creationId xmlns:a16="http://schemas.microsoft.com/office/drawing/2014/main" id="{7EE62C0B-74D2-D3B6-3BF6-AF517F81AA41}"/>
              </a:ext>
            </a:extLst>
          </p:cNvPr>
          <p:cNvSpPr>
            <a:spLocks noGrp="1"/>
          </p:cNvSpPr>
          <p:nvPr>
            <p:ph type="title"/>
          </p:nvPr>
        </p:nvSpPr>
        <p:spPr/>
        <p:txBody>
          <a:bodyPr/>
          <a:lstStyle/>
          <a:p>
            <a:r>
              <a:rPr lang="zh-CN" altLang="en-US" dirty="0"/>
              <a:t>安全目标和安全概念</a:t>
            </a:r>
          </a:p>
        </p:txBody>
      </p:sp>
      <p:sp>
        <p:nvSpPr>
          <p:cNvPr id="5" name="文本框 4">
            <a:extLst>
              <a:ext uri="{FF2B5EF4-FFF2-40B4-BE49-F238E27FC236}">
                <a16:creationId xmlns:a16="http://schemas.microsoft.com/office/drawing/2014/main" id="{EE2B26CB-FF33-A1AF-926A-4D171C2A9F5D}"/>
              </a:ext>
            </a:extLst>
          </p:cNvPr>
          <p:cNvSpPr txBox="1"/>
          <p:nvPr/>
        </p:nvSpPr>
        <p:spPr>
          <a:xfrm>
            <a:off x="949964" y="4661022"/>
            <a:ext cx="10307202" cy="203132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dirty="0"/>
              <a:t>常见的安全目标有 </a:t>
            </a:r>
            <a:r>
              <a:rPr lang="en-US" altLang="zh-CN" dirty="0"/>
              <a:t>NM-CPA</a:t>
            </a:r>
            <a:r>
              <a:rPr lang="zh-CN" altLang="en-US" dirty="0"/>
              <a:t>、</a:t>
            </a:r>
            <a:r>
              <a:rPr lang="en-US" altLang="zh-CN" dirty="0"/>
              <a:t>NM-CCA</a:t>
            </a:r>
            <a:r>
              <a:rPr lang="zh-CN" altLang="en-US" dirty="0"/>
              <a:t>、</a:t>
            </a:r>
            <a:r>
              <a:rPr lang="en-US" altLang="zh-CN" dirty="0"/>
              <a:t>IND-CPA </a:t>
            </a:r>
            <a:r>
              <a:rPr lang="zh-CN" altLang="en-US" dirty="0"/>
              <a:t>和 </a:t>
            </a:r>
            <a:r>
              <a:rPr lang="en-US" altLang="zh-CN" dirty="0"/>
              <a:t>IND-CCA</a:t>
            </a:r>
            <a:r>
              <a:rPr lang="zh-CN" altLang="en-US" dirty="0"/>
              <a:t>。</a:t>
            </a:r>
            <a:endParaRPr lang="en-US" altLang="zh-CN" dirty="0"/>
          </a:p>
          <a:p>
            <a:r>
              <a:rPr lang="en-US" altLang="zh-CN" dirty="0"/>
              <a:t>IND-CCA</a:t>
            </a:r>
            <a:r>
              <a:rPr lang="zh-CN" altLang="en-US" dirty="0"/>
              <a:t>蕴含着</a:t>
            </a:r>
            <a:r>
              <a:rPr lang="en-US" altLang="zh-CN" dirty="0"/>
              <a:t>IND-CPA</a:t>
            </a:r>
            <a:r>
              <a:rPr lang="zh-CN" altLang="en-US" dirty="0"/>
              <a:t>，而</a:t>
            </a:r>
            <a:r>
              <a:rPr lang="en-US" altLang="zh-CN" dirty="0"/>
              <a:t>NM-CCA</a:t>
            </a:r>
            <a:r>
              <a:rPr lang="zh-CN" altLang="en-US" dirty="0"/>
              <a:t>蕴含着</a:t>
            </a:r>
            <a:r>
              <a:rPr lang="en-US" altLang="zh-CN" dirty="0"/>
              <a:t>NM-CPA</a:t>
            </a:r>
            <a:r>
              <a:rPr lang="zh-CN" altLang="en-US" dirty="0"/>
              <a:t>，这是因为</a:t>
            </a:r>
            <a:r>
              <a:rPr lang="en-US" altLang="zh-CN" dirty="0"/>
              <a:t>CPA</a:t>
            </a:r>
            <a:r>
              <a:rPr lang="zh-CN" altLang="en-US" dirty="0"/>
              <a:t>攻击者可以做的事情，</a:t>
            </a:r>
            <a:r>
              <a:rPr lang="en-US" altLang="zh-CN" dirty="0"/>
              <a:t>CCA</a:t>
            </a:r>
            <a:r>
              <a:rPr lang="zh-CN" altLang="en-US" dirty="0"/>
              <a:t>攻击者也可以做。</a:t>
            </a:r>
            <a:endParaRPr lang="en-US" altLang="zh-CN" dirty="0"/>
          </a:p>
          <a:p>
            <a:r>
              <a:rPr lang="zh-CN" altLang="en-US" dirty="0"/>
              <a:t>在各种安全关系中，一个不太明显的关系是</a:t>
            </a:r>
            <a:r>
              <a:rPr lang="en-US" altLang="zh-CN" dirty="0"/>
              <a:t>IND-CPA</a:t>
            </a:r>
            <a:r>
              <a:rPr lang="zh-CN" altLang="en-US" dirty="0"/>
              <a:t>并不蕴含</a:t>
            </a:r>
            <a:r>
              <a:rPr lang="en-US" altLang="zh-CN" dirty="0"/>
              <a:t>NM-CPA</a:t>
            </a:r>
            <a:r>
              <a:rPr lang="zh-CN" altLang="en-US" dirty="0"/>
              <a:t>。但</a:t>
            </a:r>
            <a:r>
              <a:rPr lang="en-US" altLang="zh-CN" dirty="0"/>
              <a:t>NM-CPA</a:t>
            </a:r>
            <a:r>
              <a:rPr lang="zh-CN" altLang="en-US" dirty="0"/>
              <a:t>蕴含</a:t>
            </a:r>
            <a:r>
              <a:rPr lang="en-US" altLang="zh-CN" dirty="0"/>
              <a:t>IND-CPA</a:t>
            </a:r>
            <a:r>
              <a:rPr lang="zh-CN" altLang="en-US" dirty="0"/>
              <a:t>。 </a:t>
            </a:r>
          </a:p>
          <a:p>
            <a:r>
              <a:rPr lang="zh-CN" altLang="en-US" dirty="0"/>
              <a:t>此外，</a:t>
            </a:r>
            <a:r>
              <a:rPr lang="en-US" altLang="zh-CN" dirty="0"/>
              <a:t>IND-CCA</a:t>
            </a:r>
            <a:r>
              <a:rPr lang="zh-CN" altLang="en-US" dirty="0"/>
              <a:t>和</a:t>
            </a:r>
            <a:r>
              <a:rPr lang="en-US" altLang="zh-CN" dirty="0"/>
              <a:t>NM-CCA</a:t>
            </a:r>
            <a:r>
              <a:rPr lang="zh-CN" altLang="en-US" dirty="0"/>
              <a:t>是等同的概念，它们相互蕴含。</a:t>
            </a:r>
            <a:endParaRPr lang="en-US" altLang="zh-CN" dirty="0"/>
          </a:p>
          <a:p>
            <a:r>
              <a:rPr lang="zh-CN" altLang="en-US" dirty="0"/>
              <a:t>最重要的安全概念是 </a:t>
            </a:r>
            <a:r>
              <a:rPr lang="en-US" altLang="zh-CN" dirty="0"/>
              <a:t>IND-CPA</a:t>
            </a:r>
            <a:r>
              <a:rPr lang="zh-CN" altLang="en-US" dirty="0"/>
              <a:t>，也称为语义安全。从直觉上理解，只要密钥保密，密文就不会泄露任何有关明文的信息。实现 </a:t>
            </a:r>
            <a:r>
              <a:rPr lang="en-US" altLang="zh-CN" dirty="0"/>
              <a:t>IND-CPA </a:t>
            </a:r>
            <a:r>
              <a:rPr lang="zh-CN" altLang="en-US" dirty="0"/>
              <a:t>安全性的一种方法是使用随机加密。</a:t>
            </a:r>
          </a:p>
        </p:txBody>
      </p:sp>
    </p:spTree>
    <p:extLst>
      <p:ext uri="{BB962C8B-B14F-4D97-AF65-F5344CB8AC3E}">
        <p14:creationId xmlns:p14="http://schemas.microsoft.com/office/powerpoint/2010/main" val="28901827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EC8AD546-FF8B-8E77-AA11-9872217CDB51}"/>
                  </a:ext>
                </a:extLst>
              </p:cNvPr>
              <p:cNvSpPr>
                <a:spLocks noGrp="1"/>
              </p:cNvSpPr>
              <p:nvPr>
                <p:ph idx="1"/>
              </p:nvPr>
            </p:nvSpPr>
            <p:spPr>
              <a:xfrm>
                <a:off x="363736" y="1100184"/>
                <a:ext cx="11464528" cy="5757816"/>
              </a:xfrm>
            </p:spPr>
            <p:txBody>
              <a:bodyPr/>
              <a:lstStyle/>
              <a:p>
                <a:pPr>
                  <a:lnSpc>
                    <a:spcPct val="100000"/>
                  </a:lnSpc>
                </a:pPr>
                <a:r>
                  <a:rPr lang="en-US" altLang="zh-CN" dirty="0"/>
                  <a:t>ElGamal </a:t>
                </a:r>
                <a:r>
                  <a:rPr lang="zh-CN" altLang="en-US" dirty="0"/>
                  <a:t>加密算法如下：</a:t>
                </a:r>
                <a:endParaRPr lang="en-US" altLang="zh-CN" dirty="0"/>
              </a:p>
              <a:p>
                <a:pPr lvl="1">
                  <a:lnSpc>
                    <a:spcPct val="100000"/>
                  </a:lnSpc>
                </a:pPr>
                <a:r>
                  <a:rPr lang="en-US" altLang="zh-CN" dirty="0"/>
                  <a:t>1</a:t>
                </a:r>
                <a:r>
                  <a:rPr lang="zh-CN" altLang="en-US" dirty="0"/>
                  <a:t>）产生一对密钥：公钥是</a:t>
                </a:r>
                <a:r>
                  <a:rPr lang="en-US" altLang="zh-CN" dirty="0"/>
                  <a:t>y</a:t>
                </a:r>
                <a:r>
                  <a:rPr lang="zh-CN" altLang="en-US" dirty="0"/>
                  <a:t>、</a:t>
                </a:r>
                <a:r>
                  <a:rPr lang="en-US" altLang="zh-CN" dirty="0"/>
                  <a:t>g</a:t>
                </a:r>
                <a:r>
                  <a:rPr lang="zh-CN" altLang="en-US" dirty="0"/>
                  <a:t>和</a:t>
                </a:r>
                <a:r>
                  <a:rPr lang="en-US" altLang="zh-CN" dirty="0"/>
                  <a:t>p</a:t>
                </a:r>
                <a:r>
                  <a:rPr lang="zh-CN" altLang="en-US" dirty="0"/>
                  <a:t>，其中生成元</a:t>
                </a:r>
                <a:r>
                  <a:rPr lang="en-US" altLang="zh-CN" dirty="0"/>
                  <a:t>g</a:t>
                </a:r>
                <a:r>
                  <a:rPr lang="zh-CN" altLang="en-US" dirty="0"/>
                  <a:t>、素数</a:t>
                </a:r>
                <a:r>
                  <a:rPr lang="en-US" altLang="zh-CN" dirty="0"/>
                  <a:t>p</a:t>
                </a:r>
                <a:r>
                  <a:rPr lang="zh-CN" altLang="en-US" dirty="0"/>
                  <a:t>可以被一组用户共享；私钥是</a:t>
                </a:r>
                <a:r>
                  <a:rPr lang="en-US" altLang="zh-CN" dirty="0"/>
                  <a:t>x</a:t>
                </a:r>
                <a:r>
                  <a:rPr lang="zh-CN" altLang="en-US" dirty="0"/>
                  <a:t>。</a:t>
                </a:r>
                <a:endParaRPr lang="en-US" altLang="zh-CN" dirty="0"/>
              </a:p>
              <a:p>
                <a:pPr lvl="1">
                  <a:lnSpc>
                    <a:spcPct val="100000"/>
                  </a:lnSpc>
                </a:pPr>
                <a:r>
                  <a:rPr lang="en-US" altLang="zh-CN" dirty="0"/>
                  <a:t>2</a:t>
                </a:r>
                <a:r>
                  <a:rPr lang="zh-CN" altLang="en-US" dirty="0"/>
                  <a:t>）加密算法：将明文信息</a:t>
                </a:r>
                <a:r>
                  <a:rPr lang="en-US" altLang="zh-CN" dirty="0"/>
                  <a:t>m</a:t>
                </a:r>
                <a:r>
                  <a:rPr lang="zh-CN" altLang="en-US" dirty="0"/>
                  <a:t>表示成</a:t>
                </a:r>
                <a:r>
                  <a:rPr lang="en-US" altLang="zh-CN" dirty="0"/>
                  <a:t>{1, …, p-1} </a:t>
                </a:r>
                <a:r>
                  <a:rPr lang="zh-CN" altLang="en-US" dirty="0"/>
                  <a:t>范围内的数。选择随机数</a:t>
                </a:r>
                <a:r>
                  <a:rPr lang="en-US" altLang="zh-CN" dirty="0"/>
                  <a:t>r</a:t>
                </a:r>
                <a:r>
                  <a:rPr lang="zh-CN" altLang="en-US" dirty="0"/>
                  <a:t>，计算</a:t>
                </a:r>
                <a14:m>
                  <m:oMath xmlns:m="http://schemas.openxmlformats.org/officeDocument/2006/math">
                    <m:r>
                      <a:rPr lang="en-US" altLang="zh-CN" b="1" i="1" smtClean="0">
                        <a:latin typeface="Cambria Math" panose="02040503050406030204" pitchFamily="18" charset="0"/>
                      </a:rPr>
                      <m:t>𝑹</m:t>
                    </m:r>
                    <m:r>
                      <a:rPr lang="en-US" altLang="zh-CN" b="1" i="1" smtClean="0">
                        <a:latin typeface="Cambria Math" panose="02040503050406030204" pitchFamily="18" charset="0"/>
                      </a:rPr>
                      <m:t>=</m:t>
                    </m:r>
                    <m:sSup>
                      <m:sSupPr>
                        <m:ctrlPr>
                          <a:rPr lang="en-US" altLang="zh-CN" i="1" smtClean="0">
                            <a:latin typeface="Cambria Math" panose="02040503050406030204" pitchFamily="18" charset="0"/>
                          </a:rPr>
                        </m:ctrlPr>
                      </m:sSupPr>
                      <m:e>
                        <m:r>
                          <a:rPr lang="en-US" altLang="zh-CN" b="1" i="1" smtClean="0">
                            <a:latin typeface="Cambria Math" panose="02040503050406030204" pitchFamily="18" charset="0"/>
                          </a:rPr>
                          <m:t>𝒚</m:t>
                        </m:r>
                      </m:e>
                      <m:sup>
                        <m:r>
                          <a:rPr lang="en-US" altLang="zh-CN" b="1" i="1" smtClean="0">
                            <a:latin typeface="Cambria Math" panose="02040503050406030204" pitchFamily="18" charset="0"/>
                          </a:rPr>
                          <m:t>𝒓</m:t>
                        </m:r>
                      </m:sup>
                    </m:sSup>
                    <m:r>
                      <a:rPr lang="en-US" altLang="zh-CN" b="1" i="1" smtClean="0">
                        <a:latin typeface="Cambria Math" panose="02040503050406030204" pitchFamily="18" charset="0"/>
                      </a:rPr>
                      <m:t>𝒎𝒐𝒅</m:t>
                    </m:r>
                    <m:r>
                      <a:rPr lang="en-US" altLang="zh-CN" b="1" i="1" smtClean="0">
                        <a:latin typeface="Cambria Math" panose="02040503050406030204" pitchFamily="18" charset="0"/>
                      </a:rPr>
                      <m:t> </m:t>
                    </m:r>
                    <m:r>
                      <a:rPr lang="en-US" altLang="zh-CN" b="1" i="1" smtClean="0">
                        <a:latin typeface="Cambria Math" panose="02040503050406030204" pitchFamily="18" charset="0"/>
                      </a:rPr>
                      <m:t>𝒑</m:t>
                    </m:r>
                  </m:oMath>
                </a14:m>
                <a:r>
                  <a:rPr lang="zh-CN" altLang="en-US" dirty="0"/>
                  <a:t>，计算共享密钥</a:t>
                </a:r>
                <a14:m>
                  <m:oMath xmlns:m="http://schemas.openxmlformats.org/officeDocument/2006/math">
                    <m:r>
                      <a:rPr lang="en-US" altLang="zh-CN" b="1" i="0" smtClean="0">
                        <a:latin typeface="Cambria Math" panose="02040503050406030204" pitchFamily="18" charset="0"/>
                      </a:rPr>
                      <m:t>𝐊</m:t>
                    </m:r>
                    <m:r>
                      <a:rPr lang="en-US" altLang="zh-CN" b="1" i="1">
                        <a:latin typeface="Cambria Math" panose="02040503050406030204" pitchFamily="18" charset="0"/>
                      </a:rPr>
                      <m:t>=</m:t>
                    </m:r>
                    <m:sSup>
                      <m:sSupPr>
                        <m:ctrlPr>
                          <a:rPr lang="en-US" altLang="zh-CN" i="1">
                            <a:latin typeface="Cambria Math" panose="02040503050406030204" pitchFamily="18" charset="0"/>
                          </a:rPr>
                        </m:ctrlPr>
                      </m:sSupPr>
                      <m:e>
                        <m:r>
                          <a:rPr lang="en-US" altLang="zh-CN" b="1" i="1">
                            <a:latin typeface="Cambria Math" panose="02040503050406030204" pitchFamily="18" charset="0"/>
                          </a:rPr>
                          <m:t>𝒚</m:t>
                        </m:r>
                      </m:e>
                      <m:sup>
                        <m:r>
                          <a:rPr lang="en-US" altLang="zh-CN" b="1" i="1">
                            <a:latin typeface="Cambria Math" panose="02040503050406030204" pitchFamily="18" charset="0"/>
                          </a:rPr>
                          <m:t>𝒓</m:t>
                        </m:r>
                      </m:sup>
                    </m:sSup>
                    <m:r>
                      <a:rPr lang="en-US" altLang="zh-CN" b="1" i="1">
                        <a:latin typeface="Cambria Math" panose="02040503050406030204" pitchFamily="18" charset="0"/>
                      </a:rPr>
                      <m:t>𝒎𝒐𝒅</m:t>
                    </m:r>
                    <m:r>
                      <a:rPr lang="en-US" altLang="zh-CN" b="1" i="1">
                        <a:latin typeface="Cambria Math" panose="02040503050406030204" pitchFamily="18" charset="0"/>
                      </a:rPr>
                      <m:t> </m:t>
                    </m:r>
                    <m:r>
                      <a:rPr lang="en-US" altLang="zh-CN" b="1" i="1">
                        <a:latin typeface="Cambria Math" panose="02040503050406030204" pitchFamily="18" charset="0"/>
                      </a:rPr>
                      <m:t>𝒑</m:t>
                    </m:r>
                    <m:r>
                      <a:rPr lang="en-US" altLang="zh-CN" b="1" i="1">
                        <a:latin typeface="Cambria Math" panose="02040503050406030204" pitchFamily="18" charset="0"/>
                      </a:rPr>
                      <m:t> </m:t>
                    </m:r>
                  </m:oMath>
                </a14:m>
                <a:r>
                  <a:rPr lang="zh-CN" altLang="en-US" dirty="0"/>
                  <a:t>，用</a:t>
                </a:r>
                <a:r>
                  <a:rPr lang="en-US" altLang="zh-CN" dirty="0"/>
                  <a:t>K</a:t>
                </a:r>
                <a:r>
                  <a:rPr lang="zh-CN" altLang="en-US" dirty="0"/>
                  <a:t>对消息</a:t>
                </a:r>
                <a:r>
                  <a:rPr lang="en-US" altLang="zh-CN" dirty="0"/>
                  <a:t>m</a:t>
                </a:r>
                <a:r>
                  <a:rPr lang="zh-CN" altLang="en-US" dirty="0"/>
                  <a:t>进行加密得到密文</a:t>
                </a:r>
                <a14:m>
                  <m:oMath xmlns:m="http://schemas.openxmlformats.org/officeDocument/2006/math">
                    <m:r>
                      <a:rPr lang="en-US" altLang="zh-CN" b="1" i="0" smtClean="0">
                        <a:latin typeface="Cambria Math" panose="02040503050406030204" pitchFamily="18" charset="0"/>
                      </a:rPr>
                      <m:t>𝐂</m:t>
                    </m:r>
                    <m:r>
                      <a:rPr lang="en-US" altLang="zh-CN" b="1" i="1" smtClean="0">
                        <a:latin typeface="Cambria Math" panose="02040503050406030204" pitchFamily="18" charset="0"/>
                      </a:rPr>
                      <m:t>=</m:t>
                    </m:r>
                    <m:r>
                      <a:rPr lang="en-US" altLang="zh-CN" b="1" i="1" smtClean="0">
                        <a:latin typeface="Cambria Math" panose="02040503050406030204" pitchFamily="18" charset="0"/>
                      </a:rPr>
                      <m:t>𝑲</m:t>
                    </m:r>
                    <m:r>
                      <a:rPr lang="en-US" altLang="zh-CN" b="1" i="1" smtClean="0">
                        <a:latin typeface="Cambria Math" panose="02040503050406030204" pitchFamily="18" charset="0"/>
                      </a:rPr>
                      <m:t>∗</m:t>
                    </m:r>
                    <m:r>
                      <a:rPr lang="en-US" altLang="zh-CN" b="1" i="1" smtClean="0">
                        <a:latin typeface="Cambria Math" panose="02040503050406030204" pitchFamily="18" charset="0"/>
                      </a:rPr>
                      <m:t>𝒎</m:t>
                    </m:r>
                    <m:r>
                      <a:rPr lang="en-US" altLang="zh-CN" b="1" i="1" smtClean="0">
                        <a:latin typeface="Cambria Math" panose="02040503050406030204" pitchFamily="18" charset="0"/>
                      </a:rPr>
                      <m:t> </m:t>
                    </m:r>
                    <m:r>
                      <a:rPr lang="en-US" altLang="zh-CN" b="1" i="1" smtClean="0">
                        <a:latin typeface="Cambria Math" panose="02040503050406030204" pitchFamily="18" charset="0"/>
                      </a:rPr>
                      <m:t>𝒎𝒐𝒅𝒑</m:t>
                    </m:r>
                  </m:oMath>
                </a14:m>
                <a:r>
                  <a:rPr lang="zh-CN" altLang="en-US" dirty="0"/>
                  <a:t>，将（</a:t>
                </a:r>
                <a:r>
                  <a:rPr lang="en-US" altLang="zh-CN" dirty="0"/>
                  <a:t>R</a:t>
                </a:r>
                <a:r>
                  <a:rPr lang="zh-CN" altLang="en-US" dirty="0"/>
                  <a:t>，</a:t>
                </a:r>
                <a:r>
                  <a:rPr lang="en-US" altLang="zh-CN" dirty="0"/>
                  <a:t>C</a:t>
                </a:r>
                <a:r>
                  <a:rPr lang="zh-CN" altLang="en-US" dirty="0"/>
                  <a:t>）作为密文传递。 </a:t>
                </a:r>
              </a:p>
              <a:p>
                <a:pPr lvl="1">
                  <a:lnSpc>
                    <a:spcPct val="100000"/>
                  </a:lnSpc>
                </a:pPr>
                <a:r>
                  <a:rPr lang="en-US" altLang="zh-CN" dirty="0"/>
                  <a:t>3</a:t>
                </a:r>
                <a:r>
                  <a:rPr lang="zh-CN" altLang="en-US" dirty="0"/>
                  <a:t>）解密算法：用</a:t>
                </a:r>
                <a:r>
                  <a:rPr lang="en-US" altLang="zh-CN" dirty="0"/>
                  <a:t>R</a:t>
                </a:r>
                <a:r>
                  <a:rPr lang="zh-CN" altLang="en-US" dirty="0"/>
                  <a:t>和私钥</a:t>
                </a:r>
                <a:r>
                  <a:rPr lang="en-US" altLang="zh-CN" dirty="0"/>
                  <a:t>x</a:t>
                </a:r>
                <a:r>
                  <a:rPr lang="zh-CN" altLang="en-US" dirty="0"/>
                  <a:t>，计算共享密钥</a:t>
                </a:r>
                <a14:m>
                  <m:oMath xmlns:m="http://schemas.openxmlformats.org/officeDocument/2006/math">
                    <m:r>
                      <a:rPr lang="en-US" altLang="zh-CN" b="1" i="1" smtClean="0">
                        <a:latin typeface="Cambria Math" panose="02040503050406030204" pitchFamily="18" charset="0"/>
                      </a:rPr>
                      <m:t>𝑲</m:t>
                    </m:r>
                    <m:r>
                      <a:rPr lang="en-US" altLang="zh-CN" b="1" i="1" smtClean="0">
                        <a:latin typeface="Cambria Math" panose="02040503050406030204" pitchFamily="18" charset="0"/>
                      </a:rPr>
                      <m:t>=</m:t>
                    </m:r>
                    <m:sSup>
                      <m:sSupPr>
                        <m:ctrlPr>
                          <a:rPr lang="en-US" altLang="zh-CN" i="1" smtClean="0">
                            <a:latin typeface="Cambria Math" panose="02040503050406030204" pitchFamily="18" charset="0"/>
                          </a:rPr>
                        </m:ctrlPr>
                      </m:sSupPr>
                      <m:e>
                        <m:r>
                          <a:rPr lang="en-US" altLang="zh-CN" b="1" i="1" smtClean="0">
                            <a:latin typeface="Cambria Math" panose="02040503050406030204" pitchFamily="18" charset="0"/>
                          </a:rPr>
                          <m:t>𝑹</m:t>
                        </m:r>
                      </m:e>
                      <m:sup>
                        <m:r>
                          <a:rPr lang="en-US" altLang="zh-CN" b="1" i="1" smtClean="0">
                            <a:latin typeface="Cambria Math" panose="02040503050406030204" pitchFamily="18" charset="0"/>
                          </a:rPr>
                          <m:t>𝒙</m:t>
                        </m:r>
                      </m:sup>
                    </m:sSup>
                    <m:r>
                      <a:rPr lang="en-US" altLang="zh-CN" b="1" i="1" smtClean="0">
                        <a:latin typeface="Cambria Math" panose="02040503050406030204" pitchFamily="18" charset="0"/>
                      </a:rPr>
                      <m:t>𝒎𝒐𝒅</m:t>
                    </m:r>
                    <m:r>
                      <a:rPr lang="en-US" altLang="zh-CN" b="1" i="1" smtClean="0">
                        <a:latin typeface="Cambria Math" panose="02040503050406030204" pitchFamily="18" charset="0"/>
                      </a:rPr>
                      <m:t> </m:t>
                    </m:r>
                    <m:r>
                      <a:rPr lang="en-US" altLang="zh-CN" b="1" i="1" smtClean="0">
                        <a:latin typeface="Cambria Math" panose="02040503050406030204" pitchFamily="18" charset="0"/>
                      </a:rPr>
                      <m:t>𝒑</m:t>
                    </m:r>
                  </m:oMath>
                </a14:m>
                <a:r>
                  <a:rPr lang="zh-CN" altLang="en-US" dirty="0"/>
                  <a:t>，用</a:t>
                </a:r>
                <a:r>
                  <a:rPr lang="en-US" altLang="zh-CN" dirty="0"/>
                  <a:t>K</a:t>
                </a:r>
                <a:r>
                  <a:rPr lang="zh-CN" altLang="en-US" dirty="0"/>
                  <a:t>解密</a:t>
                </a:r>
                <a:r>
                  <a:rPr lang="en-US" altLang="zh-CN" dirty="0"/>
                  <a:t>C</a:t>
                </a:r>
                <a:r>
                  <a:rPr lang="zh-CN" altLang="en-US" dirty="0"/>
                  <a:t>，得到明文</a:t>
                </a:r>
                <a14:m>
                  <m:oMath xmlns:m="http://schemas.openxmlformats.org/officeDocument/2006/math">
                    <m:r>
                      <a:rPr lang="en-US" altLang="zh-CN" b="1" i="1" smtClean="0">
                        <a:latin typeface="Cambria Math" panose="02040503050406030204" pitchFamily="18" charset="0"/>
                      </a:rPr>
                      <m:t>𝒎</m:t>
                    </m:r>
                    <m:r>
                      <a:rPr lang="en-US" altLang="zh-CN" b="1" i="1" smtClean="0">
                        <a:latin typeface="Cambria Math" panose="02040503050406030204" pitchFamily="18" charset="0"/>
                      </a:rPr>
                      <m:t>=</m:t>
                    </m:r>
                    <m:r>
                      <a:rPr lang="en-US" altLang="zh-CN" b="1" i="1" smtClean="0">
                        <a:latin typeface="Cambria Math" panose="02040503050406030204" pitchFamily="18" charset="0"/>
                      </a:rPr>
                      <m:t>𝑪</m:t>
                    </m:r>
                    <m:sSup>
                      <m:sSupPr>
                        <m:ctrlPr>
                          <a:rPr lang="en-US" altLang="zh-CN" i="1" smtClean="0">
                            <a:latin typeface="Cambria Math" panose="02040503050406030204" pitchFamily="18" charset="0"/>
                          </a:rPr>
                        </m:ctrlPr>
                      </m:sSupPr>
                      <m:e>
                        <m:r>
                          <a:rPr lang="en-US" altLang="zh-CN" b="1" i="1" smtClean="0">
                            <a:latin typeface="Cambria Math" panose="02040503050406030204" pitchFamily="18" charset="0"/>
                          </a:rPr>
                          <m:t>𝑲</m:t>
                        </m:r>
                      </m:e>
                      <m:sup>
                        <m:r>
                          <a:rPr lang="en-US" altLang="zh-CN" b="1" i="1" smtClean="0">
                            <a:latin typeface="Cambria Math" panose="02040503050406030204" pitchFamily="18" charset="0"/>
                          </a:rPr>
                          <m:t>−</m:t>
                        </m:r>
                        <m:r>
                          <a:rPr lang="en-US" altLang="zh-CN" b="1" i="1" smtClean="0">
                            <a:latin typeface="Cambria Math" panose="02040503050406030204" pitchFamily="18" charset="0"/>
                          </a:rPr>
                          <m:t>𝟏</m:t>
                        </m:r>
                      </m:sup>
                    </m:sSup>
                    <m:r>
                      <a:rPr lang="en-US" altLang="zh-CN" b="1" i="1" smtClean="0">
                        <a:latin typeface="Cambria Math" panose="02040503050406030204" pitchFamily="18" charset="0"/>
                      </a:rPr>
                      <m:t>𝒎𝒐𝒅</m:t>
                    </m:r>
                    <m:r>
                      <a:rPr lang="en-US" altLang="zh-CN" b="1" i="1" smtClean="0">
                        <a:latin typeface="Cambria Math" panose="02040503050406030204" pitchFamily="18" charset="0"/>
                      </a:rPr>
                      <m:t> </m:t>
                    </m:r>
                    <m:r>
                      <a:rPr lang="en-US" altLang="zh-CN" b="1" i="1" smtClean="0">
                        <a:latin typeface="Cambria Math" panose="02040503050406030204" pitchFamily="18" charset="0"/>
                      </a:rPr>
                      <m:t>𝒑</m:t>
                    </m:r>
                  </m:oMath>
                </a14:m>
                <a:r>
                  <a:rPr lang="zh-CN" altLang="en-US" dirty="0"/>
                  <a:t>。</a:t>
                </a:r>
                <a:endParaRPr lang="en-US" altLang="zh-CN" dirty="0"/>
              </a:p>
              <a:p>
                <a:pPr marL="257175" lvl="1" indent="-257175">
                  <a:lnSpc>
                    <a:spcPct val="100000"/>
                  </a:lnSpc>
                  <a:buChar char="•"/>
                </a:pPr>
                <a:r>
                  <a:rPr lang="en-US" altLang="zh-CN" sz="2400" dirty="0"/>
                  <a:t>ECC</a:t>
                </a:r>
                <a:r>
                  <a:rPr lang="zh-CN" altLang="en-US" sz="2400" dirty="0"/>
                  <a:t>算法如下：</a:t>
                </a:r>
                <a:endParaRPr lang="en-US" altLang="zh-CN" sz="2400" dirty="0"/>
              </a:p>
              <a:p>
                <a:pPr lvl="1">
                  <a:lnSpc>
                    <a:spcPct val="100000"/>
                  </a:lnSpc>
                </a:pPr>
                <a:r>
                  <a:rPr lang="en-US" altLang="zh-CN" dirty="0"/>
                  <a:t>1</a:t>
                </a:r>
                <a:r>
                  <a:rPr lang="zh-CN" altLang="en-US" dirty="0"/>
                  <a:t>）准备曲线参数</a:t>
                </a:r>
                <a:r>
                  <a:rPr lang="en-US" altLang="zh-CN" dirty="0"/>
                  <a:t>p</a:t>
                </a:r>
                <a:r>
                  <a:rPr lang="zh-CN" altLang="en-US" dirty="0"/>
                  <a:t>、</a:t>
                </a:r>
                <a:r>
                  <a:rPr lang="en-US" altLang="zh-CN" dirty="0"/>
                  <a:t>a</a:t>
                </a:r>
                <a:r>
                  <a:rPr lang="zh-CN" altLang="en-US" dirty="0"/>
                  <a:t>、</a:t>
                </a:r>
                <a:r>
                  <a:rPr lang="en-US" altLang="zh-CN" dirty="0"/>
                  <a:t>b</a:t>
                </a:r>
                <a:r>
                  <a:rPr lang="zh-CN" altLang="en-US" dirty="0"/>
                  <a:t>、</a:t>
                </a:r>
                <a:r>
                  <a:rPr lang="en-US" altLang="zh-CN" dirty="0"/>
                  <a:t>G</a:t>
                </a:r>
                <a:r>
                  <a:rPr lang="zh-CN" altLang="en-US" dirty="0"/>
                  <a:t>，</a:t>
                </a:r>
                <a14:m>
                  <m:oMath xmlns:m="http://schemas.openxmlformats.org/officeDocument/2006/math">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𝒚</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b="1" i="1" smtClean="0">
                            <a:latin typeface="Cambria Math" panose="02040503050406030204" pitchFamily="18" charset="0"/>
                          </a:rPr>
                          <m:t>𝟑</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𝒂𝒙</m:t>
                    </m:r>
                    <m:r>
                      <a:rPr lang="en-US" altLang="zh-CN" b="1" i="1" smtClean="0">
                        <a:latin typeface="Cambria Math" panose="02040503050406030204" pitchFamily="18" charset="0"/>
                      </a:rPr>
                      <m:t>+</m:t>
                    </m:r>
                    <m:r>
                      <a:rPr lang="en-US" altLang="zh-CN" b="1" i="1" smtClean="0">
                        <a:latin typeface="Cambria Math" panose="02040503050406030204" pitchFamily="18" charset="0"/>
                      </a:rPr>
                      <m:t>𝒃</m:t>
                    </m:r>
                    <m:r>
                      <a:rPr lang="en-US" altLang="zh-CN" b="1" i="1" smtClean="0">
                        <a:latin typeface="Cambria Math" panose="02040503050406030204" pitchFamily="18" charset="0"/>
                      </a:rPr>
                      <m:t>(</m:t>
                    </m:r>
                    <m:r>
                      <a:rPr lang="en-US" altLang="zh-CN" b="1" i="1" smtClean="0">
                        <a:latin typeface="Cambria Math" panose="02040503050406030204" pitchFamily="18" charset="0"/>
                      </a:rPr>
                      <m:t>𝒎𝒐𝒅</m:t>
                    </m:r>
                    <m:r>
                      <a:rPr lang="en-US" altLang="zh-CN" b="1" i="1" smtClean="0">
                        <a:latin typeface="Cambria Math" panose="02040503050406030204" pitchFamily="18" charset="0"/>
                      </a:rPr>
                      <m:t> </m:t>
                    </m:r>
                    <m:r>
                      <a:rPr lang="en-US" altLang="zh-CN" b="1" i="1" smtClean="0">
                        <a:latin typeface="Cambria Math" panose="02040503050406030204" pitchFamily="18" charset="0"/>
                      </a:rPr>
                      <m:t>𝒑</m:t>
                    </m:r>
                    <m:r>
                      <a:rPr lang="en-US" altLang="zh-CN" b="1" i="1" smtClean="0">
                        <a:latin typeface="Cambria Math" panose="02040503050406030204" pitchFamily="18" charset="0"/>
                      </a:rPr>
                      <m:t>)</m:t>
                    </m:r>
                  </m:oMath>
                </a14:m>
                <a:r>
                  <a:rPr lang="en-US" altLang="zh-CN" dirty="0"/>
                  <a:t>,Bob</a:t>
                </a:r>
                <a:r>
                  <a:rPr lang="zh-CN" altLang="en-US" dirty="0"/>
                  <a:t>有自己的私钥</a:t>
                </a:r>
                <a14:m>
                  <m:oMath xmlns:m="http://schemas.openxmlformats.org/officeDocument/2006/math">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𝑵</m:t>
                        </m:r>
                      </m:e>
                      <m:sub>
                        <m:r>
                          <a:rPr lang="en-US" altLang="zh-CN" b="1" i="1">
                            <a:latin typeface="Cambria Math" panose="02040503050406030204" pitchFamily="18" charset="0"/>
                          </a:rPr>
                          <m:t>𝒃</m:t>
                        </m:r>
                      </m:sub>
                    </m:sSub>
                  </m:oMath>
                </a14:m>
                <a:r>
                  <a:rPr lang="en-US" altLang="zh-CN" dirty="0"/>
                  <a:t>,</a:t>
                </a:r>
                <a:r>
                  <a:rPr lang="zh-CN" altLang="en-US" dirty="0"/>
                  <a:t>并产生公钥</a:t>
                </a:r>
                <a14:m>
                  <m:oMath xmlns:m="http://schemas.openxmlformats.org/officeDocument/2006/math">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𝑷</m:t>
                        </m:r>
                      </m:e>
                      <m:sub>
                        <m:r>
                          <a:rPr lang="en-US" altLang="zh-CN" b="1" i="1" smtClean="0">
                            <a:latin typeface="Cambria Math" panose="02040503050406030204" pitchFamily="18" charset="0"/>
                          </a:rPr>
                          <m:t>𝒃</m:t>
                        </m:r>
                      </m:sub>
                    </m:sSub>
                    <m:r>
                      <a:rPr lang="en-US" altLang="zh-CN" b="1"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𝑵</m:t>
                        </m:r>
                      </m:e>
                      <m:sub>
                        <m:r>
                          <a:rPr lang="en-US" altLang="zh-CN" b="1" i="1" smtClean="0">
                            <a:latin typeface="Cambria Math" panose="02040503050406030204" pitchFamily="18" charset="0"/>
                          </a:rPr>
                          <m:t>𝒃</m:t>
                        </m:r>
                      </m:sub>
                    </m:sSub>
                    <m:r>
                      <a:rPr lang="en-US" altLang="zh-CN" b="1" i="1">
                        <a:latin typeface="Cambria Math" panose="02040503050406030204" pitchFamily="18" charset="0"/>
                      </a:rPr>
                      <m:t>×</m:t>
                    </m:r>
                    <m:r>
                      <a:rPr lang="en-US" altLang="zh-CN" b="1" i="1" smtClean="0">
                        <a:latin typeface="Cambria Math" panose="02040503050406030204" pitchFamily="18" charset="0"/>
                      </a:rPr>
                      <m:t>𝑮</m:t>
                    </m:r>
                  </m:oMath>
                </a14:m>
                <a:endParaRPr lang="en-US" altLang="zh-CN" dirty="0"/>
              </a:p>
              <a:p>
                <a:pPr lvl="1">
                  <a:lnSpc>
                    <a:spcPct val="100000"/>
                  </a:lnSpc>
                </a:pPr>
                <a:r>
                  <a:rPr lang="en-US" altLang="zh-CN" dirty="0"/>
                  <a:t>2</a:t>
                </a:r>
                <a:r>
                  <a:rPr lang="zh-CN" altLang="en-US" dirty="0"/>
                  <a:t>）加密算法（</a:t>
                </a:r>
                <a:r>
                  <a:rPr lang="en-US" altLang="zh-CN" dirty="0"/>
                  <a:t>Alice</a:t>
                </a:r>
                <a:r>
                  <a:rPr lang="zh-CN" altLang="en-US" dirty="0"/>
                  <a:t>要给</a:t>
                </a:r>
                <a:r>
                  <a:rPr lang="en-US" altLang="zh-CN" dirty="0"/>
                  <a:t>Bob</a:t>
                </a:r>
                <a:r>
                  <a:rPr lang="zh-CN" altLang="en-US" dirty="0"/>
                  <a:t>发送消息）：对明文</a:t>
                </a:r>
                <a:r>
                  <a:rPr lang="en-US" altLang="zh-CN" dirty="0"/>
                  <a:t>m</a:t>
                </a:r>
                <a:r>
                  <a:rPr lang="zh-CN" altLang="en-US" dirty="0"/>
                  <a:t>的编码点</a:t>
                </a:r>
                <a14:m>
                  <m:oMath xmlns:m="http://schemas.openxmlformats.org/officeDocument/2006/math">
                    <m:sSub>
                      <m:sSubPr>
                        <m:ctrlPr>
                          <a:rPr lang="en-US" altLang="zh-CN" i="1" dirty="0" smtClean="0">
                            <a:latin typeface="Cambria Math" panose="02040503050406030204" pitchFamily="18" charset="0"/>
                          </a:rPr>
                        </m:ctrlPr>
                      </m:sSubPr>
                      <m:e>
                        <m:r>
                          <a:rPr lang="en-US" altLang="zh-CN" b="1" i="1" dirty="0" smtClean="0">
                            <a:latin typeface="Cambria Math" panose="02040503050406030204" pitchFamily="18" charset="0"/>
                          </a:rPr>
                          <m:t>𝑷</m:t>
                        </m:r>
                      </m:e>
                      <m:sub>
                        <m:r>
                          <a:rPr lang="en-US" altLang="zh-CN" b="1" i="1" dirty="0" smtClean="0">
                            <a:latin typeface="Cambria Math" panose="02040503050406030204" pitchFamily="18" charset="0"/>
                          </a:rPr>
                          <m:t>𝒎</m:t>
                        </m:r>
                      </m:sub>
                    </m:sSub>
                  </m:oMath>
                </a14:m>
                <a:r>
                  <a:rPr lang="zh-CN" altLang="en-US" dirty="0"/>
                  <a:t>，选择随机数</a:t>
                </a:r>
                <a:r>
                  <a:rPr lang="en-US" altLang="zh-CN" dirty="0"/>
                  <a:t>k</a:t>
                </a:r>
                <a:r>
                  <a:rPr lang="zh-CN" altLang="en-US" dirty="0"/>
                  <a:t>，密文</a:t>
                </a:r>
                <a14:m>
                  <m:oMath xmlns:m="http://schemas.openxmlformats.org/officeDocument/2006/math">
                    <m:r>
                      <a:rPr lang="en-US" altLang="zh-CN" b="1" i="1" smtClean="0">
                        <a:latin typeface="Cambria Math" panose="02040503050406030204" pitchFamily="18" charset="0"/>
                      </a:rPr>
                      <m:t>𝑪</m:t>
                    </m:r>
                    <m:r>
                      <a:rPr lang="en-US" altLang="zh-CN" b="1" i="1" smtClean="0">
                        <a:latin typeface="Cambria Math" panose="02040503050406030204" pitchFamily="18" charset="0"/>
                      </a:rPr>
                      <m:t>=</m:t>
                    </m:r>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𝑪</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𝑪</m:t>
                            </m:r>
                          </m:e>
                          <m:sub>
                            <m:r>
                              <a:rPr lang="en-US" altLang="zh-CN" b="1" i="1" smtClean="0">
                                <a:latin typeface="Cambria Math" panose="02040503050406030204" pitchFamily="18" charset="0"/>
                              </a:rPr>
                              <m:t>𝟐</m:t>
                            </m:r>
                          </m:sub>
                        </m:sSub>
                      </m:e>
                    </m:d>
                    <m:r>
                      <a:rPr lang="en-US" altLang="zh-CN" b="1" i="1" smtClean="0">
                        <a:latin typeface="Cambria Math" panose="02040503050406030204" pitchFamily="18" charset="0"/>
                      </a:rPr>
                      <m:t>={</m:t>
                    </m:r>
                    <m:r>
                      <a:rPr lang="en-US" altLang="zh-CN" b="1" i="1" smtClean="0">
                        <a:latin typeface="Cambria Math" panose="02040503050406030204" pitchFamily="18" charset="0"/>
                      </a:rPr>
                      <m:t>𝒌</m:t>
                    </m:r>
                    <m:r>
                      <a:rPr lang="en-US" altLang="zh-CN" b="1" i="1">
                        <a:latin typeface="Cambria Math" panose="02040503050406030204" pitchFamily="18" charset="0"/>
                      </a:rPr>
                      <m:t>×</m:t>
                    </m:r>
                    <m:r>
                      <a:rPr lang="en-US" altLang="zh-CN" b="1" i="1" smtClean="0">
                        <a:latin typeface="Cambria Math" panose="02040503050406030204" pitchFamily="18" charset="0"/>
                      </a:rPr>
                      <m:t>𝑮</m:t>
                    </m:r>
                    <m:r>
                      <a:rPr lang="en-US" altLang="zh-CN" b="1"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𝑷</m:t>
                        </m:r>
                      </m:e>
                      <m:sub>
                        <m:r>
                          <a:rPr lang="en-US" altLang="zh-CN" b="1" i="1" smtClean="0">
                            <a:latin typeface="Cambria Math" panose="02040503050406030204" pitchFamily="18" charset="0"/>
                          </a:rPr>
                          <m:t>𝒎</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𝒌</m:t>
                    </m:r>
                    <m:r>
                      <a:rPr lang="en-US" altLang="zh-CN" b="1"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𝑷</m:t>
                        </m:r>
                      </m:e>
                      <m:sub>
                        <m:r>
                          <a:rPr lang="en-US" altLang="zh-CN" b="1" i="1" smtClean="0">
                            <a:latin typeface="Cambria Math" panose="02040503050406030204" pitchFamily="18" charset="0"/>
                          </a:rPr>
                          <m:t>𝒃</m:t>
                        </m:r>
                      </m:sub>
                    </m:sSub>
                    <m:r>
                      <a:rPr lang="en-US" altLang="zh-CN" b="1" i="1" smtClean="0">
                        <a:latin typeface="Cambria Math" panose="02040503050406030204" pitchFamily="18" charset="0"/>
                      </a:rPr>
                      <m:t>}</m:t>
                    </m:r>
                  </m:oMath>
                </a14:m>
                <a:r>
                  <a:rPr lang="zh-CN" altLang="en-US" dirty="0"/>
                  <a:t>。 </a:t>
                </a:r>
                <a:endParaRPr lang="en-US" altLang="zh-CN" dirty="0"/>
              </a:p>
              <a:p>
                <a:pPr lvl="1">
                  <a:lnSpc>
                    <a:spcPct val="100000"/>
                  </a:lnSpc>
                </a:pPr>
                <a:r>
                  <a:rPr lang="en-US" altLang="zh-CN" dirty="0"/>
                  <a:t>3</a:t>
                </a:r>
                <a:r>
                  <a:rPr lang="zh-CN" altLang="en-US" dirty="0"/>
                  <a:t>）解密算法：因为</a:t>
                </a:r>
                <a14:m>
                  <m:oMath xmlns:m="http://schemas.openxmlformats.org/officeDocument/2006/math">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𝑪</m:t>
                        </m:r>
                      </m:e>
                      <m:sub>
                        <m:r>
                          <a:rPr lang="en-US" altLang="zh-CN" b="1" i="1" smtClean="0">
                            <a:latin typeface="Cambria Math" panose="02040503050406030204" pitchFamily="18" charset="0"/>
                          </a:rPr>
                          <m:t>𝟐</m:t>
                        </m:r>
                      </m:sub>
                    </m:sSub>
                    <m:r>
                      <a:rPr lang="en-US" altLang="zh-CN" b="1"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𝑵</m:t>
                        </m:r>
                      </m:e>
                      <m:sub>
                        <m:r>
                          <a:rPr lang="en-US" altLang="zh-CN" b="1" i="1" smtClean="0">
                            <a:latin typeface="Cambria Math" panose="02040503050406030204" pitchFamily="18" charset="0"/>
                          </a:rPr>
                          <m:t>𝒃</m:t>
                        </m:r>
                      </m:sub>
                    </m:sSub>
                    <m:r>
                      <a:rPr lang="en-US" altLang="zh-CN" b="1"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1" i="0" smtClean="0">
                            <a:latin typeface="Cambria Math" panose="02040503050406030204" pitchFamily="18" charset="0"/>
                          </a:rPr>
                          <m:t>𝐂</m:t>
                        </m:r>
                      </m:e>
                      <m:sub>
                        <m:r>
                          <a:rPr lang="en-US" altLang="zh-CN" b="1" i="0" smtClean="0">
                            <a:latin typeface="Cambria Math" panose="02040503050406030204" pitchFamily="18" charset="0"/>
                          </a:rPr>
                          <m:t>𝟏</m:t>
                        </m:r>
                      </m:sub>
                    </m:sSub>
                    <m:r>
                      <a:rPr lang="en-US" altLang="zh-CN" b="1" i="0" smtClean="0">
                        <a:latin typeface="Cambria Math" panose="02040503050406030204" pitchFamily="18" charset="0"/>
                      </a:rPr>
                      <m:t>=</m:t>
                    </m:r>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1" i="0" smtClean="0">
                                <a:latin typeface="Cambria Math" panose="02040503050406030204" pitchFamily="18" charset="0"/>
                              </a:rPr>
                              <m:t>𝐏</m:t>
                            </m:r>
                          </m:e>
                          <m:sub>
                            <m:r>
                              <a:rPr lang="en-US" altLang="zh-CN" b="1" i="0" smtClean="0">
                                <a:latin typeface="Cambria Math" panose="02040503050406030204" pitchFamily="18" charset="0"/>
                              </a:rPr>
                              <m:t>𝐦</m:t>
                            </m:r>
                          </m:sub>
                        </m:sSub>
                        <m:r>
                          <a:rPr lang="en-US" altLang="zh-CN" b="1" i="0" smtClean="0">
                            <a:latin typeface="Cambria Math" panose="02040503050406030204" pitchFamily="18" charset="0"/>
                          </a:rPr>
                          <m:t>+</m:t>
                        </m:r>
                        <m:r>
                          <a:rPr lang="en-US" altLang="zh-CN" b="1" i="0" smtClean="0">
                            <a:latin typeface="Cambria Math" panose="02040503050406030204" pitchFamily="18" charset="0"/>
                          </a:rPr>
                          <m:t>𝐤</m:t>
                        </m:r>
                        <m:r>
                          <a:rPr lang="en-US" altLang="zh-CN" b="1"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1" i="0" smtClean="0">
                                <a:latin typeface="Cambria Math" panose="02040503050406030204" pitchFamily="18" charset="0"/>
                              </a:rPr>
                              <m:t>𝐏</m:t>
                            </m:r>
                          </m:e>
                          <m:sub>
                            <m:r>
                              <a:rPr lang="en-US" altLang="zh-CN" b="1" i="1" smtClean="0">
                                <a:latin typeface="Cambria Math" panose="02040503050406030204" pitchFamily="18" charset="0"/>
                              </a:rPr>
                              <m:t>𝒃</m:t>
                            </m:r>
                          </m:sub>
                        </m:sSub>
                      </m:e>
                    </m:d>
                    <m:r>
                      <a:rPr lang="en-US" altLang="zh-CN" b="1" i="0"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1" i="0" smtClean="0">
                            <a:latin typeface="Cambria Math" panose="02040503050406030204" pitchFamily="18" charset="0"/>
                          </a:rPr>
                          <m:t>𝐍</m:t>
                        </m:r>
                      </m:e>
                      <m:sub>
                        <m:r>
                          <a:rPr lang="en-US" altLang="zh-CN" b="1" i="0" smtClean="0">
                            <a:latin typeface="Cambria Math" panose="02040503050406030204" pitchFamily="18" charset="0"/>
                          </a:rPr>
                          <m:t>𝐛</m:t>
                        </m:r>
                      </m:sub>
                    </m:sSub>
                    <m:r>
                      <a:rPr lang="en-US" altLang="zh-CN" b="1" i="1">
                        <a:latin typeface="Cambria Math" panose="02040503050406030204" pitchFamily="18" charset="0"/>
                      </a:rPr>
                      <m:t>×</m:t>
                    </m:r>
                    <m:r>
                      <a:rPr lang="en-US" altLang="zh-CN" b="1" i="1" smtClean="0">
                        <a:latin typeface="Cambria Math" panose="02040503050406030204" pitchFamily="18" charset="0"/>
                      </a:rPr>
                      <m:t>𝒌</m:t>
                    </m:r>
                    <m:r>
                      <a:rPr lang="en-US" altLang="zh-CN" b="1" i="1">
                        <a:latin typeface="Cambria Math" panose="02040503050406030204" pitchFamily="18" charset="0"/>
                      </a:rPr>
                      <m:t>×</m:t>
                    </m:r>
                    <m:r>
                      <a:rPr lang="en-US" altLang="zh-CN" b="1" i="1" smtClean="0">
                        <a:latin typeface="Cambria Math" panose="02040503050406030204" pitchFamily="18" charset="0"/>
                      </a:rPr>
                      <m:t>𝑮</m:t>
                    </m:r>
                    <m:r>
                      <a:rPr lang="en-US" altLang="zh-CN" b="1"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𝑷</m:t>
                        </m:r>
                      </m:e>
                      <m:sub>
                        <m:r>
                          <a:rPr lang="en-US" altLang="zh-CN" b="1" i="1" smtClean="0">
                            <a:latin typeface="Cambria Math" panose="02040503050406030204" pitchFamily="18" charset="0"/>
                          </a:rPr>
                          <m:t>𝒎</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𝒌</m:t>
                    </m:r>
                    <m:r>
                      <a:rPr lang="en-US" altLang="zh-CN" b="1"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𝑵</m:t>
                        </m:r>
                      </m:e>
                      <m:sub>
                        <m:r>
                          <a:rPr lang="en-US" altLang="zh-CN" b="1" i="1" smtClean="0">
                            <a:latin typeface="Cambria Math" panose="02040503050406030204" pitchFamily="18" charset="0"/>
                          </a:rPr>
                          <m:t>𝒃</m:t>
                        </m:r>
                      </m:sub>
                    </m:sSub>
                    <m:r>
                      <a:rPr lang="en-US" altLang="zh-CN" b="1" i="1">
                        <a:latin typeface="Cambria Math" panose="02040503050406030204" pitchFamily="18" charset="0"/>
                      </a:rPr>
                      <m:t>×</m:t>
                    </m:r>
                    <m:r>
                      <a:rPr lang="en-US" altLang="zh-CN" b="1" i="1" smtClean="0">
                        <a:latin typeface="Cambria Math" panose="02040503050406030204" pitchFamily="18" charset="0"/>
                      </a:rPr>
                      <m:t>𝑮</m:t>
                    </m:r>
                    <m:r>
                      <a:rPr lang="en-US" altLang="zh-CN" b="1"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𝑵</m:t>
                        </m:r>
                      </m:e>
                      <m:sub>
                        <m:r>
                          <a:rPr lang="en-US" altLang="zh-CN" b="1" i="1">
                            <a:latin typeface="Cambria Math" panose="02040503050406030204" pitchFamily="18" charset="0"/>
                          </a:rPr>
                          <m:t>𝒃</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𝒌</m:t>
                    </m:r>
                    <m:r>
                      <a:rPr lang="en-US" altLang="zh-CN" b="1" i="1">
                        <a:latin typeface="Cambria Math" panose="02040503050406030204" pitchFamily="18" charset="0"/>
                      </a:rPr>
                      <m:t>×</m:t>
                    </m:r>
                    <m:r>
                      <a:rPr lang="en-US" altLang="zh-CN" b="1" i="1">
                        <a:latin typeface="Cambria Math" panose="02040503050406030204" pitchFamily="18" charset="0"/>
                      </a:rPr>
                      <m:t>𝑮</m:t>
                    </m:r>
                    <m:r>
                      <a:rPr lang="en-US" altLang="zh-CN" b="1"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𝑷</m:t>
                        </m:r>
                      </m:e>
                      <m:sub>
                        <m:r>
                          <a:rPr lang="en-US" altLang="zh-CN" b="1" i="1" smtClean="0">
                            <a:latin typeface="Cambria Math" panose="02040503050406030204" pitchFamily="18" charset="0"/>
                          </a:rPr>
                          <m:t>𝒎</m:t>
                        </m:r>
                      </m:sub>
                    </m:sSub>
                  </m:oMath>
                </a14:m>
                <a:r>
                  <a:rPr lang="zh-CN" altLang="en-US" dirty="0"/>
                  <a:t>，所以编码点</a:t>
                </a:r>
                <a14:m>
                  <m:oMath xmlns:m="http://schemas.openxmlformats.org/officeDocument/2006/math">
                    <m:sSub>
                      <m:sSubPr>
                        <m:ctrlPr>
                          <a:rPr lang="en-US" altLang="zh-CN" i="1" dirty="0">
                            <a:latin typeface="Cambria Math" panose="02040503050406030204" pitchFamily="18" charset="0"/>
                          </a:rPr>
                        </m:ctrlPr>
                      </m:sSubPr>
                      <m:e>
                        <m:r>
                          <a:rPr lang="en-US" altLang="zh-CN" b="1" i="1" dirty="0">
                            <a:latin typeface="Cambria Math" panose="02040503050406030204" pitchFamily="18" charset="0"/>
                          </a:rPr>
                          <m:t>𝑷</m:t>
                        </m:r>
                      </m:e>
                      <m:sub>
                        <m:r>
                          <a:rPr lang="en-US" altLang="zh-CN" b="1" i="1" dirty="0">
                            <a:latin typeface="Cambria Math" panose="02040503050406030204" pitchFamily="18" charset="0"/>
                          </a:rPr>
                          <m:t>𝒎</m:t>
                        </m:r>
                      </m:sub>
                    </m:sSub>
                    <m:r>
                      <a:rPr lang="en-US" altLang="zh-CN" b="1" i="1" dirty="0"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𝑪</m:t>
                        </m:r>
                      </m:e>
                      <m:sub>
                        <m:r>
                          <a:rPr lang="en-US" altLang="zh-CN" b="1" i="1">
                            <a:latin typeface="Cambria Math" panose="02040503050406030204" pitchFamily="18" charset="0"/>
                          </a:rPr>
                          <m:t>𝟐</m:t>
                        </m:r>
                      </m:sub>
                    </m:sSub>
                    <m:r>
                      <a:rPr lang="en-US" altLang="zh-CN" b="1"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𝑵</m:t>
                        </m:r>
                      </m:e>
                      <m:sub>
                        <m:r>
                          <a:rPr lang="en-US" altLang="zh-CN" b="1" i="1" smtClean="0">
                            <a:latin typeface="Cambria Math" panose="02040503050406030204" pitchFamily="18" charset="0"/>
                          </a:rPr>
                          <m:t>𝒃</m:t>
                        </m:r>
                      </m:sub>
                    </m:sSub>
                    <m:r>
                      <a:rPr lang="en-US" altLang="zh-CN" b="1" i="1">
                        <a:latin typeface="Cambria Math" panose="02040503050406030204" pitchFamily="18" charset="0"/>
                      </a:rPr>
                      <m:t>×</m:t>
                    </m:r>
                    <m:sSub>
                      <m:sSubPr>
                        <m:ctrlPr>
                          <a:rPr lang="en-US" altLang="zh-CN" i="1">
                            <a:latin typeface="Cambria Math" panose="02040503050406030204" pitchFamily="18" charset="0"/>
                          </a:rPr>
                        </m:ctrlPr>
                      </m:sSubPr>
                      <m:e>
                        <m:r>
                          <a:rPr lang="en-US" altLang="zh-CN" b="1" i="1">
                            <a:latin typeface="Cambria Math" panose="02040503050406030204" pitchFamily="18" charset="0"/>
                          </a:rPr>
                          <m:t>𝑪</m:t>
                        </m:r>
                      </m:e>
                      <m:sub>
                        <m:r>
                          <a:rPr lang="en-US" altLang="zh-CN" b="1" i="1">
                            <a:latin typeface="Cambria Math" panose="02040503050406030204" pitchFamily="18" charset="0"/>
                          </a:rPr>
                          <m:t>𝟏</m:t>
                        </m:r>
                      </m:sub>
                    </m:sSub>
                  </m:oMath>
                </a14:m>
                <a:r>
                  <a:rPr lang="zh-CN" altLang="en-US" dirty="0"/>
                  <a:t>。</a:t>
                </a:r>
                <a:endParaRPr lang="en-US" altLang="zh-CN" dirty="0"/>
              </a:p>
              <a:p>
                <a:pPr marL="257175" lvl="1" indent="-257175">
                  <a:buChar char="•"/>
                </a:pPr>
                <a:endParaRPr lang="zh-CN" altLang="en-US" sz="2400" dirty="0"/>
              </a:p>
            </p:txBody>
          </p:sp>
        </mc:Choice>
        <mc:Fallback xmlns="">
          <p:sp>
            <p:nvSpPr>
              <p:cNvPr id="2" name="内容占位符 1">
                <a:extLst>
                  <a:ext uri="{FF2B5EF4-FFF2-40B4-BE49-F238E27FC236}">
                    <a16:creationId xmlns:a16="http://schemas.microsoft.com/office/drawing/2014/main" id="{EC8AD546-FF8B-8E77-AA11-9872217CDB51}"/>
                  </a:ext>
                </a:extLst>
              </p:cNvPr>
              <p:cNvSpPr>
                <a:spLocks noGrp="1" noRot="1" noChangeAspect="1" noMove="1" noResize="1" noEditPoints="1" noAdjustHandles="1" noChangeArrowheads="1" noChangeShapeType="1" noTextEdit="1"/>
              </p:cNvSpPr>
              <p:nvPr>
                <p:ph idx="1"/>
              </p:nvPr>
            </p:nvSpPr>
            <p:spPr>
              <a:xfrm>
                <a:off x="363736" y="1100184"/>
                <a:ext cx="11464528" cy="5757816"/>
              </a:xfrm>
              <a:blipFill>
                <a:blip r:embed="rId2"/>
                <a:stretch>
                  <a:fillRect l="-957" t="-1270" r="-2979" b="-1693"/>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B3220B45-C00E-7658-69EB-BF8688EF119C}"/>
              </a:ext>
            </a:extLst>
          </p:cNvPr>
          <p:cNvSpPr>
            <a:spLocks noGrp="1"/>
          </p:cNvSpPr>
          <p:nvPr>
            <p:ph type="sldNum" sz="quarter" idx="4"/>
          </p:nvPr>
        </p:nvSpPr>
        <p:spPr/>
        <p:txBody>
          <a:bodyPr/>
          <a:lstStyle/>
          <a:p>
            <a:fld id="{4124EDF5-87F7-4AC5-8292-B04417157FC2}" type="slidenum">
              <a:rPr lang="zh-CN" altLang="en-US" smtClean="0"/>
              <a:t>28</a:t>
            </a:fld>
            <a:endParaRPr lang="zh-CN" altLang="en-US"/>
          </a:p>
        </p:txBody>
      </p:sp>
      <p:sp>
        <p:nvSpPr>
          <p:cNvPr id="4" name="标题 3">
            <a:extLst>
              <a:ext uri="{FF2B5EF4-FFF2-40B4-BE49-F238E27FC236}">
                <a16:creationId xmlns:a16="http://schemas.microsoft.com/office/drawing/2014/main" id="{52852AF0-F525-84F2-E2DD-6AB61C1A3198}"/>
              </a:ext>
            </a:extLst>
          </p:cNvPr>
          <p:cNvSpPr>
            <a:spLocks noGrp="1"/>
          </p:cNvSpPr>
          <p:nvPr>
            <p:ph type="title"/>
          </p:nvPr>
        </p:nvSpPr>
        <p:spPr/>
        <p:txBody>
          <a:bodyPr/>
          <a:lstStyle/>
          <a:p>
            <a:r>
              <a:rPr lang="zh-CN" altLang="en-US" dirty="0"/>
              <a:t>语义安全的公钥密码方案</a:t>
            </a:r>
          </a:p>
        </p:txBody>
      </p:sp>
    </p:spTree>
    <p:extLst>
      <p:ext uri="{BB962C8B-B14F-4D97-AF65-F5344CB8AC3E}">
        <p14:creationId xmlns:p14="http://schemas.microsoft.com/office/powerpoint/2010/main" val="5279907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2CC110A1-EF00-1179-4CE5-20AF57980147}"/>
                  </a:ext>
                </a:extLst>
              </p:cNvPr>
              <p:cNvSpPr>
                <a:spLocks noGrp="1"/>
              </p:cNvSpPr>
              <p:nvPr>
                <p:ph idx="1"/>
              </p:nvPr>
            </p:nvSpPr>
            <p:spPr>
              <a:xfrm>
                <a:off x="371301" y="1232705"/>
                <a:ext cx="5956612" cy="5047042"/>
              </a:xfrm>
            </p:spPr>
            <p:txBody>
              <a:bodyPr/>
              <a:lstStyle/>
              <a:p>
                <a:r>
                  <a:rPr lang="zh-CN" altLang="en-US" dirty="0"/>
                  <a:t>原始</a:t>
                </a:r>
                <a:r>
                  <a:rPr lang="en-US" altLang="zh-CN" dirty="0"/>
                  <a:t>RSA</a:t>
                </a:r>
                <a:r>
                  <a:rPr lang="zh-CN" altLang="en-US" dirty="0"/>
                  <a:t>算法安全性分析</a:t>
                </a:r>
                <a:endParaRPr lang="en-US" altLang="zh-CN" dirty="0"/>
              </a:p>
              <a:p>
                <a:r>
                  <a:rPr lang="en-US" altLang="zh-CN" dirty="0"/>
                  <a:t>RSA</a:t>
                </a:r>
                <a:r>
                  <a:rPr lang="zh-CN" altLang="en-US" dirty="0"/>
                  <a:t>算法加密流程</a:t>
                </a:r>
                <a:endParaRPr lang="en-US" altLang="zh-CN" dirty="0"/>
              </a:p>
              <a:p>
                <a:pPr lvl="1"/>
                <a:r>
                  <a:rPr lang="en-US" altLang="zh-CN" dirty="0"/>
                  <a:t>1</a:t>
                </a:r>
                <a:r>
                  <a:rPr lang="zh-CN" altLang="en-US" dirty="0"/>
                  <a:t>）参数 </a:t>
                </a:r>
                <a14:m>
                  <m:oMath xmlns:m="http://schemas.openxmlformats.org/officeDocument/2006/math">
                    <m:r>
                      <a:rPr lang="en-US" altLang="zh-CN" b="1" i="1" dirty="0" smtClean="0">
                        <a:latin typeface="Cambria Math" panose="02040503050406030204" pitchFamily="18" charset="0"/>
                      </a:rPr>
                      <m:t>𝒏</m:t>
                    </m:r>
                    <m:r>
                      <a:rPr lang="en-US" altLang="zh-CN" b="1" i="1" dirty="0" smtClean="0">
                        <a:latin typeface="Cambria Math" panose="02040503050406030204" pitchFamily="18" charset="0"/>
                      </a:rPr>
                      <m:t> = </m:t>
                    </m:r>
                    <m:r>
                      <a:rPr lang="en-US" altLang="zh-CN" b="1" i="1" dirty="0" err="1" smtClean="0">
                        <a:latin typeface="Cambria Math" panose="02040503050406030204" pitchFamily="18" charset="0"/>
                      </a:rPr>
                      <m:t>𝒑𝒒</m:t>
                    </m:r>
                    <m:r>
                      <a:rPr lang="en-US" altLang="zh-CN" b="1" i="1" dirty="0" smtClean="0">
                        <a:latin typeface="Cambria Math" panose="02040503050406030204" pitchFamily="18" charset="0"/>
                      </a:rPr>
                      <m:t> </m:t>
                    </m:r>
                    <m:r>
                      <a:rPr lang="zh-CN" altLang="en-US" b="1" i="1" dirty="0" smtClean="0">
                        <a:latin typeface="Cambria Math" panose="02040503050406030204" pitchFamily="18" charset="0"/>
                      </a:rPr>
                      <m:t>，</m:t>
                    </m:r>
                    <m:r>
                      <a:rPr lang="en-US" altLang="zh-CN" b="1" i="1" dirty="0" smtClean="0">
                        <a:latin typeface="Cambria Math" panose="02040503050406030204" pitchFamily="18" charset="0"/>
                      </a:rPr>
                      <m:t> </m:t>
                    </m:r>
                    <m:r>
                      <a:rPr lang="en-US" altLang="zh-CN" b="1" i="1" dirty="0" smtClean="0">
                        <a:latin typeface="Cambria Math" panose="02040503050406030204" pitchFamily="18" charset="0"/>
                      </a:rPr>
                      <m:t>𝝋</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𝒏</m:t>
                    </m:r>
                    <m:r>
                      <a:rPr lang="en-US" altLang="zh-CN" b="1" i="1" dirty="0" smtClean="0">
                        <a:latin typeface="Cambria Math" panose="02040503050406030204" pitchFamily="18" charset="0"/>
                      </a:rPr>
                      <m:t>) = (</m:t>
                    </m:r>
                    <m:r>
                      <a:rPr lang="en-US" altLang="zh-CN" b="1" i="1" dirty="0" smtClean="0">
                        <a:latin typeface="Cambria Math" panose="02040503050406030204" pitchFamily="18" charset="0"/>
                      </a:rPr>
                      <m:t>𝒑</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𝟏</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𝒒</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𝟏</m:t>
                    </m:r>
                    <m:r>
                      <a:rPr lang="en-US" altLang="zh-CN" b="1" i="1" dirty="0" smtClean="0">
                        <a:latin typeface="Cambria Math" panose="02040503050406030204" pitchFamily="18" charset="0"/>
                      </a:rPr>
                      <m:t>) </m:t>
                    </m:r>
                  </m:oMath>
                </a14:m>
                <a:r>
                  <a:rPr lang="zh-CN" altLang="en-US" dirty="0"/>
                  <a:t>。</a:t>
                </a:r>
              </a:p>
              <a:p>
                <a:pPr lvl="1"/>
                <a:r>
                  <a:rPr lang="en-US" altLang="zh-CN" dirty="0"/>
                  <a:t>2</a:t>
                </a:r>
                <a:r>
                  <a:rPr lang="zh-CN" altLang="en-US" dirty="0"/>
                  <a:t>）公钥 </a:t>
                </a:r>
                <a14:m>
                  <m:oMath xmlns:m="http://schemas.openxmlformats.org/officeDocument/2006/math">
                    <m:r>
                      <a:rPr lang="en-US" altLang="zh-CN" b="1" i="1" dirty="0" smtClean="0">
                        <a:latin typeface="Cambria Math" panose="02040503050406030204" pitchFamily="18" charset="0"/>
                      </a:rPr>
                      <m:t> </m:t>
                    </m:r>
                    <m:r>
                      <a:rPr lang="en-US" altLang="zh-CN" b="1" i="1" dirty="0" smtClean="0">
                        <a:latin typeface="Cambria Math" panose="02040503050406030204" pitchFamily="18" charset="0"/>
                      </a:rPr>
                      <m:t>𝒆</m:t>
                    </m:r>
                    <m:r>
                      <a:rPr lang="en-US" altLang="zh-CN" b="1" i="1" dirty="0" smtClean="0">
                        <a:latin typeface="Cambria Math" panose="02040503050406030204" pitchFamily="18" charset="0"/>
                      </a:rPr>
                      <m:t>  </m:t>
                    </m:r>
                  </m:oMath>
                </a14:m>
                <a:r>
                  <a:rPr lang="zh-CN" altLang="en-US" dirty="0"/>
                  <a:t>满足 </a:t>
                </a:r>
                <a14:m>
                  <m:oMath xmlns:m="http://schemas.openxmlformats.org/officeDocument/2006/math">
                    <m:r>
                      <a:rPr lang="en-US" altLang="zh-CN" b="1" i="1" dirty="0" smtClean="0">
                        <a:latin typeface="Cambria Math" panose="02040503050406030204" pitchFamily="18" charset="0"/>
                      </a:rPr>
                      <m:t> (</m:t>
                    </m:r>
                    <m:r>
                      <a:rPr lang="en-US" altLang="zh-CN" b="1" i="1" dirty="0" smtClean="0">
                        <a:latin typeface="Cambria Math" panose="02040503050406030204" pitchFamily="18" charset="0"/>
                      </a:rPr>
                      <m:t>𝒆</m:t>
                    </m:r>
                    <m:r>
                      <a:rPr lang="en-US" altLang="zh-CN" b="1" i="1" dirty="0" smtClean="0">
                        <a:latin typeface="Cambria Math" panose="02040503050406030204" pitchFamily="18" charset="0"/>
                      </a:rPr>
                      <m:t>, </m:t>
                    </m:r>
                    <m:r>
                      <a:rPr lang="en-US" altLang="zh-CN" b="1" i="1" dirty="0" smtClean="0">
                        <a:latin typeface="Cambria Math" panose="02040503050406030204" pitchFamily="18" charset="0"/>
                      </a:rPr>
                      <m:t>𝝋</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𝒏</m:t>
                    </m:r>
                    <m:r>
                      <a:rPr lang="en-US" altLang="zh-CN" b="1" i="1" dirty="0" smtClean="0">
                        <a:latin typeface="Cambria Math" panose="02040503050406030204" pitchFamily="18" charset="0"/>
                      </a:rPr>
                      <m:t>)) = </m:t>
                    </m:r>
                    <m:r>
                      <a:rPr lang="en-US" altLang="zh-CN" b="1" i="1" dirty="0" smtClean="0">
                        <a:latin typeface="Cambria Math" panose="02040503050406030204" pitchFamily="18" charset="0"/>
                      </a:rPr>
                      <m:t>𝟏</m:t>
                    </m:r>
                    <m:r>
                      <a:rPr lang="en-US" altLang="zh-CN" b="1" i="1" dirty="0" smtClean="0">
                        <a:latin typeface="Cambria Math" panose="02040503050406030204" pitchFamily="18" charset="0"/>
                      </a:rPr>
                      <m:t> </m:t>
                    </m:r>
                  </m:oMath>
                </a14:m>
                <a:r>
                  <a:rPr lang="zh-CN" altLang="en-US" dirty="0"/>
                  <a:t>。</a:t>
                </a:r>
              </a:p>
              <a:p>
                <a:pPr lvl="1"/>
                <a:r>
                  <a:rPr lang="en-US" altLang="zh-CN" dirty="0"/>
                  <a:t>3</a:t>
                </a:r>
                <a:r>
                  <a:rPr lang="zh-CN" altLang="en-US" dirty="0"/>
                  <a:t>）私钥 </a:t>
                </a:r>
                <a14:m>
                  <m:oMath xmlns:m="http://schemas.openxmlformats.org/officeDocument/2006/math">
                    <m:r>
                      <m:rPr>
                        <m:lit/>
                      </m:rPr>
                      <a:rPr lang="en-US" altLang="zh-CN" b="1" i="1" dirty="0" smtClean="0">
                        <a:latin typeface="Cambria Math" panose="02040503050406030204" pitchFamily="18" charset="0"/>
                      </a:rPr>
                      <m:t>(</m:t>
                    </m:r>
                    <m:r>
                      <a:rPr lang="en-US" altLang="zh-CN" b="1" i="1" dirty="0" smtClean="0">
                        <a:latin typeface="Cambria Math" panose="02040503050406030204" pitchFamily="18" charset="0"/>
                      </a:rPr>
                      <m:t> </m:t>
                    </m:r>
                    <m:r>
                      <a:rPr lang="en-US" altLang="zh-CN" b="1" i="1" dirty="0" smtClean="0">
                        <a:latin typeface="Cambria Math" panose="02040503050406030204" pitchFamily="18" charset="0"/>
                      </a:rPr>
                      <m:t>𝒅</m:t>
                    </m:r>
                    <m:r>
                      <a:rPr lang="en-US" altLang="zh-CN" b="1" i="1" dirty="0" smtClean="0">
                        <a:latin typeface="Cambria Math" panose="02040503050406030204" pitchFamily="18" charset="0"/>
                      </a:rPr>
                      <m:t> = </m:t>
                    </m:r>
                    <m:sSup>
                      <m:sSupPr>
                        <m:ctrlPr>
                          <a:rPr lang="en-US" altLang="zh-CN" i="1" dirty="0" smtClean="0">
                            <a:latin typeface="Cambria Math" panose="02040503050406030204" pitchFamily="18" charset="0"/>
                          </a:rPr>
                        </m:ctrlPr>
                      </m:sSupPr>
                      <m:e>
                        <m:r>
                          <a:rPr lang="en-US" altLang="zh-CN" b="1" i="1" dirty="0" smtClean="0">
                            <a:latin typeface="Cambria Math" panose="02040503050406030204" pitchFamily="18" charset="0"/>
                          </a:rPr>
                          <m:t>𝒆</m:t>
                        </m:r>
                      </m:e>
                      <m:sup>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𝟏</m:t>
                        </m:r>
                      </m:sup>
                    </m:sSup>
                    <m:r>
                      <a:rPr lang="en-US" altLang="zh-CN" b="1" i="1" dirty="0" smtClean="0">
                        <a:latin typeface="Cambria Math" panose="02040503050406030204" pitchFamily="18" charset="0"/>
                      </a:rPr>
                      <m:t> </m:t>
                    </m:r>
                    <m:r>
                      <a:rPr lang="en-US" altLang="zh-CN" b="1" i="1" dirty="0" smtClean="0">
                        <a:latin typeface="Cambria Math" panose="02040503050406030204" pitchFamily="18" charset="0"/>
                      </a:rPr>
                      <m:t>𝒎𝒐𝒅</m:t>
                    </m:r>
                    <m:r>
                      <a:rPr lang="en-US" altLang="zh-CN" b="1" i="1" dirty="0" smtClean="0">
                        <a:latin typeface="Cambria Math" panose="02040503050406030204" pitchFamily="18" charset="0"/>
                      </a:rPr>
                      <m:t> </m:t>
                    </m:r>
                    <m:r>
                      <a:rPr lang="en-US" altLang="zh-CN" b="1" i="1" dirty="0" smtClean="0">
                        <a:latin typeface="Cambria Math" panose="02040503050406030204" pitchFamily="18" charset="0"/>
                      </a:rPr>
                      <m:t>𝝋</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𝒏</m:t>
                    </m:r>
                    <m:r>
                      <a:rPr lang="en-US" altLang="zh-CN" b="1" i="1" dirty="0" smtClean="0">
                        <a:latin typeface="Cambria Math" panose="02040503050406030204" pitchFamily="18" charset="0"/>
                      </a:rPr>
                      <m:t>) </m:t>
                    </m:r>
                    <m:r>
                      <m:rPr>
                        <m:lit/>
                      </m:rPr>
                      <a:rPr lang="en-US" altLang="zh-CN" b="1" i="1" dirty="0" smtClean="0">
                        <a:latin typeface="Cambria Math" panose="02040503050406030204" pitchFamily="18" charset="0"/>
                      </a:rPr>
                      <m:t>)</m:t>
                    </m:r>
                  </m:oMath>
                </a14:m>
                <a:r>
                  <a:rPr lang="zh-CN" altLang="en-US" dirty="0"/>
                  <a:t>。</a:t>
                </a:r>
              </a:p>
              <a:p>
                <a:pPr lvl="1"/>
                <a:r>
                  <a:rPr lang="en-US" altLang="zh-CN" dirty="0"/>
                  <a:t>4</a:t>
                </a:r>
                <a:r>
                  <a:rPr lang="zh-CN" altLang="en-US" dirty="0"/>
                  <a:t>）加密：</a:t>
                </a:r>
                <a14:m>
                  <m:oMath xmlns:m="http://schemas.openxmlformats.org/officeDocument/2006/math">
                    <m:r>
                      <m:rPr>
                        <m:lit/>
                      </m:rPr>
                      <a:rPr lang="en-US" altLang="zh-CN" b="1" i="1" dirty="0" smtClean="0">
                        <a:latin typeface="Cambria Math" panose="02040503050406030204" pitchFamily="18" charset="0"/>
                      </a:rPr>
                      <m:t>(</m:t>
                    </m:r>
                    <m:r>
                      <a:rPr lang="en-US" altLang="zh-CN" b="1" i="1" dirty="0" smtClean="0">
                        <a:latin typeface="Cambria Math" panose="02040503050406030204" pitchFamily="18" charset="0"/>
                      </a:rPr>
                      <m:t> </m:t>
                    </m:r>
                    <m:r>
                      <a:rPr lang="en-US" altLang="zh-CN" b="1" i="1" dirty="0" smtClean="0">
                        <a:latin typeface="Cambria Math" panose="02040503050406030204" pitchFamily="18" charset="0"/>
                      </a:rPr>
                      <m:t>𝒎</m:t>
                    </m:r>
                    <m:r>
                      <a:rPr lang="en-US" altLang="zh-CN" b="1" i="1" dirty="0" smtClean="0">
                        <a:latin typeface="Cambria Math" panose="02040503050406030204" pitchFamily="18" charset="0"/>
                      </a:rPr>
                      <m:t>→ </m:t>
                    </m:r>
                    <m:r>
                      <a:rPr lang="en-US" altLang="zh-CN" b="1" i="1" dirty="0" smtClean="0">
                        <a:latin typeface="Cambria Math" panose="02040503050406030204" pitchFamily="18" charset="0"/>
                      </a:rPr>
                      <m:t>𝒄</m:t>
                    </m:r>
                    <m:r>
                      <a:rPr lang="en-US" altLang="zh-CN" b="1" i="1" dirty="0" smtClean="0">
                        <a:latin typeface="Cambria Math" panose="02040503050406030204" pitchFamily="18" charset="0"/>
                      </a:rPr>
                      <m:t> = </m:t>
                    </m:r>
                    <m:sSup>
                      <m:sSupPr>
                        <m:ctrlPr>
                          <a:rPr lang="en-US" altLang="zh-CN" i="1" dirty="0" err="1" smtClean="0">
                            <a:latin typeface="Cambria Math" panose="02040503050406030204" pitchFamily="18" charset="0"/>
                          </a:rPr>
                        </m:ctrlPr>
                      </m:sSupPr>
                      <m:e>
                        <m:r>
                          <a:rPr lang="en-US" altLang="zh-CN" b="1" i="1" dirty="0" err="1" smtClean="0">
                            <a:latin typeface="Cambria Math" panose="02040503050406030204" pitchFamily="18" charset="0"/>
                          </a:rPr>
                          <m:t>𝒎</m:t>
                        </m:r>
                      </m:e>
                      <m:sup>
                        <m:r>
                          <a:rPr lang="en-US" altLang="zh-CN" b="1" i="1" dirty="0" err="1" smtClean="0">
                            <a:latin typeface="Cambria Math" panose="02040503050406030204" pitchFamily="18" charset="0"/>
                          </a:rPr>
                          <m:t>𝒆</m:t>
                        </m:r>
                      </m:sup>
                    </m:sSup>
                    <m:r>
                      <a:rPr lang="en-US" altLang="zh-CN" b="1" i="1" dirty="0" smtClean="0">
                        <a:latin typeface="Cambria Math" panose="02040503050406030204" pitchFamily="18" charset="0"/>
                      </a:rPr>
                      <m:t> </m:t>
                    </m:r>
                    <m:r>
                      <a:rPr lang="en-US" altLang="zh-CN" b="1" i="1" dirty="0" smtClean="0">
                        <a:latin typeface="Cambria Math" panose="02040503050406030204" pitchFamily="18" charset="0"/>
                      </a:rPr>
                      <m:t>𝒎𝒐𝒅</m:t>
                    </m:r>
                    <m:r>
                      <a:rPr lang="en-US" altLang="zh-CN" b="1" i="1" dirty="0" smtClean="0">
                        <a:latin typeface="Cambria Math" panose="02040503050406030204" pitchFamily="18" charset="0"/>
                      </a:rPr>
                      <m:t> </m:t>
                    </m:r>
                    <m:r>
                      <a:rPr lang="en-US" altLang="zh-CN" b="1" i="1" dirty="0" smtClean="0">
                        <a:latin typeface="Cambria Math" panose="02040503050406030204" pitchFamily="18" charset="0"/>
                      </a:rPr>
                      <m:t>𝒏</m:t>
                    </m:r>
                    <m:r>
                      <a:rPr lang="en-US" altLang="zh-CN" b="1" i="1" dirty="0" smtClean="0">
                        <a:latin typeface="Cambria Math" panose="02040503050406030204" pitchFamily="18" charset="0"/>
                      </a:rPr>
                      <m:t> </m:t>
                    </m:r>
                    <m:r>
                      <m:rPr>
                        <m:lit/>
                      </m:rPr>
                      <a:rPr lang="en-US" altLang="zh-CN" b="1" i="1" dirty="0" smtClean="0">
                        <a:latin typeface="Cambria Math" panose="02040503050406030204" pitchFamily="18" charset="0"/>
                      </a:rPr>
                      <m:t>)</m:t>
                    </m:r>
                  </m:oMath>
                </a14:m>
                <a:r>
                  <a:rPr lang="zh-CN" altLang="en-US" dirty="0"/>
                  <a:t>。</a:t>
                </a:r>
              </a:p>
              <a:p>
                <a:pPr lvl="1"/>
                <a:r>
                  <a:rPr lang="en-US" altLang="zh-CN" dirty="0"/>
                  <a:t>5</a:t>
                </a:r>
                <a:r>
                  <a:rPr lang="zh-CN" altLang="en-US" dirty="0"/>
                  <a:t>）解密：</a:t>
                </a:r>
                <a14:m>
                  <m:oMath xmlns:m="http://schemas.openxmlformats.org/officeDocument/2006/math">
                    <m:r>
                      <m:rPr>
                        <m:lit/>
                      </m:rPr>
                      <a:rPr lang="en-US" altLang="zh-CN" b="1" i="1" dirty="0" smtClean="0">
                        <a:latin typeface="Cambria Math" panose="02040503050406030204" pitchFamily="18" charset="0"/>
                      </a:rPr>
                      <m:t>(</m:t>
                    </m:r>
                    <m:r>
                      <a:rPr lang="en-US" altLang="zh-CN" b="1" i="1" dirty="0" smtClean="0">
                        <a:latin typeface="Cambria Math" panose="02040503050406030204" pitchFamily="18" charset="0"/>
                      </a:rPr>
                      <m:t> </m:t>
                    </m:r>
                    <m:r>
                      <a:rPr lang="en-US" altLang="zh-CN" b="1" i="1" dirty="0" smtClean="0">
                        <a:latin typeface="Cambria Math" panose="02040503050406030204" pitchFamily="18" charset="0"/>
                      </a:rPr>
                      <m:t>𝒄</m:t>
                    </m:r>
                    <m:r>
                      <a:rPr lang="en-US" altLang="zh-CN" b="1" i="1" dirty="0" smtClean="0">
                        <a:latin typeface="Cambria Math" panose="02040503050406030204" pitchFamily="18" charset="0"/>
                      </a:rPr>
                      <m:t>→ </m:t>
                    </m:r>
                    <m:r>
                      <a:rPr lang="en-US" altLang="zh-CN" b="1" i="1" dirty="0" smtClean="0">
                        <a:latin typeface="Cambria Math" panose="02040503050406030204" pitchFamily="18" charset="0"/>
                      </a:rPr>
                      <m:t>𝒎</m:t>
                    </m:r>
                    <m:r>
                      <a:rPr lang="en-US" altLang="zh-CN" b="1" i="1" dirty="0" smtClean="0">
                        <a:latin typeface="Cambria Math" panose="02040503050406030204" pitchFamily="18" charset="0"/>
                      </a:rPr>
                      <m:t> = </m:t>
                    </m:r>
                    <m:sSup>
                      <m:sSupPr>
                        <m:ctrlPr>
                          <a:rPr lang="en-US" altLang="zh-CN" i="1" dirty="0" err="1" smtClean="0">
                            <a:latin typeface="Cambria Math" panose="02040503050406030204" pitchFamily="18" charset="0"/>
                          </a:rPr>
                        </m:ctrlPr>
                      </m:sSupPr>
                      <m:e>
                        <m:r>
                          <a:rPr lang="en-US" altLang="zh-CN" b="1" i="1" dirty="0" err="1" smtClean="0">
                            <a:latin typeface="Cambria Math" panose="02040503050406030204" pitchFamily="18" charset="0"/>
                          </a:rPr>
                          <m:t>𝒄</m:t>
                        </m:r>
                      </m:e>
                      <m:sup>
                        <m:r>
                          <a:rPr lang="en-US" altLang="zh-CN" b="1" i="1" dirty="0" err="1" smtClean="0">
                            <a:latin typeface="Cambria Math" panose="02040503050406030204" pitchFamily="18" charset="0"/>
                          </a:rPr>
                          <m:t>𝒅</m:t>
                        </m:r>
                      </m:sup>
                    </m:sSup>
                    <m:r>
                      <a:rPr lang="en-US" altLang="zh-CN" b="1" i="1" dirty="0" smtClean="0">
                        <a:latin typeface="Cambria Math" panose="02040503050406030204" pitchFamily="18" charset="0"/>
                      </a:rPr>
                      <m:t> </m:t>
                    </m:r>
                    <m:r>
                      <a:rPr lang="en-US" altLang="zh-CN" b="1" i="1" dirty="0" smtClean="0">
                        <a:latin typeface="Cambria Math" panose="02040503050406030204" pitchFamily="18" charset="0"/>
                      </a:rPr>
                      <m:t>𝒎𝒐𝒅</m:t>
                    </m:r>
                    <m:r>
                      <a:rPr lang="en-US" altLang="zh-CN" b="1" i="1" dirty="0" smtClean="0">
                        <a:latin typeface="Cambria Math" panose="02040503050406030204" pitchFamily="18" charset="0"/>
                      </a:rPr>
                      <m:t>  </m:t>
                    </m:r>
                    <m:r>
                      <a:rPr lang="en-US" altLang="zh-CN" b="1" i="1" dirty="0" smtClean="0">
                        <a:latin typeface="Cambria Math" panose="02040503050406030204" pitchFamily="18" charset="0"/>
                      </a:rPr>
                      <m:t>𝒏</m:t>
                    </m:r>
                    <m:r>
                      <a:rPr lang="en-US" altLang="zh-CN" b="1" i="1" dirty="0" smtClean="0">
                        <a:latin typeface="Cambria Math" panose="02040503050406030204" pitchFamily="18" charset="0"/>
                      </a:rPr>
                      <m:t> </m:t>
                    </m:r>
                    <m:r>
                      <m:rPr>
                        <m:lit/>
                      </m:rPr>
                      <a:rPr lang="en-US" altLang="zh-CN" b="1" i="1" dirty="0" smtClean="0">
                        <a:latin typeface="Cambria Math" panose="02040503050406030204" pitchFamily="18" charset="0"/>
                      </a:rPr>
                      <m:t>)</m:t>
                    </m:r>
                  </m:oMath>
                </a14:m>
                <a:r>
                  <a:rPr lang="zh-CN" altLang="en-US" dirty="0"/>
                  <a:t>。</a:t>
                </a:r>
              </a:p>
              <a:p>
                <a:pPr lvl="1"/>
                <a:r>
                  <a:rPr lang="zh-CN" altLang="en-US" dirty="0"/>
                  <a:t>通常的密钥长度 </a:t>
                </a:r>
                <a14:m>
                  <m:oMath xmlns:m="http://schemas.openxmlformats.org/officeDocument/2006/math">
                    <m:r>
                      <m:rPr>
                        <m:lit/>
                      </m:rPr>
                      <a:rPr lang="en-US" altLang="zh-CN" b="1" i="1" dirty="0" smtClean="0">
                        <a:latin typeface="Cambria Math" panose="02040503050406030204" pitchFamily="18" charset="0"/>
                      </a:rPr>
                      <m:t>(</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𝟐𝟎𝟒𝟖</m:t>
                    </m:r>
                    <m:r>
                      <m:rPr>
                        <m:lit/>
                      </m:rPr>
                      <a:rPr lang="en-US" altLang="zh-CN" b="1" i="1" dirty="0" smtClean="0">
                        <a:latin typeface="Cambria Math" panose="02040503050406030204" pitchFamily="18" charset="0"/>
                      </a:rPr>
                      <m:t>)</m:t>
                    </m:r>
                  </m:oMath>
                </a14:m>
                <a:r>
                  <a:rPr lang="zh-CN" altLang="en-US" dirty="0"/>
                  <a:t>。</a:t>
                </a:r>
              </a:p>
            </p:txBody>
          </p:sp>
        </mc:Choice>
        <mc:Fallback xmlns="">
          <p:sp>
            <p:nvSpPr>
              <p:cNvPr id="2" name="内容占位符 1">
                <a:extLst>
                  <a:ext uri="{FF2B5EF4-FFF2-40B4-BE49-F238E27FC236}">
                    <a16:creationId xmlns:a16="http://schemas.microsoft.com/office/drawing/2014/main" id="{2CC110A1-EF00-1179-4CE5-20AF57980147}"/>
                  </a:ext>
                </a:extLst>
              </p:cNvPr>
              <p:cNvSpPr>
                <a:spLocks noGrp="1" noRot="1" noChangeAspect="1" noMove="1" noResize="1" noEditPoints="1" noAdjustHandles="1" noChangeArrowheads="1" noChangeShapeType="1" noTextEdit="1"/>
              </p:cNvSpPr>
              <p:nvPr>
                <p:ph idx="1"/>
              </p:nvPr>
            </p:nvSpPr>
            <p:spPr>
              <a:xfrm>
                <a:off x="371301" y="1232705"/>
                <a:ext cx="5956612" cy="5047042"/>
              </a:xfrm>
              <a:blipFill>
                <a:blip r:embed="rId3"/>
                <a:stretch>
                  <a:fillRect l="-1842" t="-725" r="-5732"/>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E19817CB-D775-2750-5677-CFBF2353D086}"/>
              </a:ext>
            </a:extLst>
          </p:cNvPr>
          <p:cNvSpPr>
            <a:spLocks noGrp="1"/>
          </p:cNvSpPr>
          <p:nvPr>
            <p:ph type="sldNum" sz="quarter" idx="4"/>
          </p:nvPr>
        </p:nvSpPr>
        <p:spPr/>
        <p:txBody>
          <a:bodyPr/>
          <a:lstStyle/>
          <a:p>
            <a:fld id="{4124EDF5-87F7-4AC5-8292-B04417157FC2}" type="slidenum">
              <a:rPr lang="zh-CN" altLang="en-US" smtClean="0"/>
              <a:t>29</a:t>
            </a:fld>
            <a:endParaRPr lang="zh-CN" altLang="en-US"/>
          </a:p>
        </p:txBody>
      </p:sp>
      <p:sp>
        <p:nvSpPr>
          <p:cNvPr id="4" name="标题 3">
            <a:extLst>
              <a:ext uri="{FF2B5EF4-FFF2-40B4-BE49-F238E27FC236}">
                <a16:creationId xmlns:a16="http://schemas.microsoft.com/office/drawing/2014/main" id="{8D2C3B4B-5676-C997-B727-9FDAEE21AA79}"/>
              </a:ext>
            </a:extLst>
          </p:cNvPr>
          <p:cNvSpPr>
            <a:spLocks noGrp="1"/>
          </p:cNvSpPr>
          <p:nvPr>
            <p:ph type="title"/>
          </p:nvPr>
        </p:nvSpPr>
        <p:spPr/>
        <p:txBody>
          <a:bodyPr/>
          <a:lstStyle/>
          <a:p>
            <a:r>
              <a:rPr lang="zh-CN" altLang="en-US" dirty="0"/>
              <a:t>语义安全的公钥密码方案</a:t>
            </a:r>
          </a:p>
        </p:txBody>
      </p:sp>
      <mc:AlternateContent xmlns:mc="http://schemas.openxmlformats.org/markup-compatibility/2006" xmlns:a14="http://schemas.microsoft.com/office/drawing/2010/main">
        <mc:Choice Requires="a14">
          <p:sp>
            <p:nvSpPr>
              <p:cNvPr id="5" name="内容占位符 1">
                <a:extLst>
                  <a:ext uri="{FF2B5EF4-FFF2-40B4-BE49-F238E27FC236}">
                    <a16:creationId xmlns:a16="http://schemas.microsoft.com/office/drawing/2014/main" id="{D4B112B5-9A03-160B-93DE-3A03B1B80462}"/>
                  </a:ext>
                </a:extLst>
              </p:cNvPr>
              <p:cNvSpPr txBox="1">
                <a:spLocks/>
              </p:cNvSpPr>
              <p:nvPr/>
            </p:nvSpPr>
            <p:spPr bwMode="auto">
              <a:xfrm>
                <a:off x="6480313" y="1232705"/>
                <a:ext cx="5459655" cy="504704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57175" indent="-257175" algn="just" rtl="0" eaLnBrk="1" fontAlgn="base" hangingPunct="1">
                  <a:lnSpc>
                    <a:spcPct val="120000"/>
                  </a:lnSpc>
                  <a:spcBef>
                    <a:spcPts val="600"/>
                  </a:spcBef>
                  <a:spcAft>
                    <a:spcPts val="600"/>
                  </a:spcAft>
                  <a:buClr>
                    <a:srgbClr val="FF9933"/>
                  </a:buClr>
                  <a:buChar char="•"/>
                  <a:defRPr kumimoji="1" sz="24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1pPr>
                <a:lvl2pPr marL="557213" indent="-214313" algn="just" rtl="0" eaLnBrk="1" fontAlgn="base" hangingPunct="1">
                  <a:lnSpc>
                    <a:spcPct val="120000"/>
                  </a:lnSpc>
                  <a:spcBef>
                    <a:spcPts val="600"/>
                  </a:spcBef>
                  <a:spcAft>
                    <a:spcPts val="600"/>
                  </a:spcAft>
                  <a:buClr>
                    <a:srgbClr val="FF9933"/>
                  </a:buClr>
                  <a:buChar char="–"/>
                  <a:defRPr kumimoji="1" sz="21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2pPr>
                <a:lvl3pPr marL="857250" indent="-171450" algn="just" rtl="0" eaLnBrk="1" fontAlgn="base" hangingPunct="1">
                  <a:lnSpc>
                    <a:spcPct val="120000"/>
                  </a:lnSpc>
                  <a:spcBef>
                    <a:spcPts val="600"/>
                  </a:spcBef>
                  <a:spcAft>
                    <a:spcPts val="600"/>
                  </a:spcAft>
                  <a:buClr>
                    <a:srgbClr val="FF9933"/>
                  </a:buClr>
                  <a:buChar char="•"/>
                  <a:defRPr kumimoji="1" sz="18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3pPr>
                <a:lvl4pPr marL="1200150" indent="-171450" algn="just" rtl="0" eaLnBrk="1" fontAlgn="base" hangingPunct="1">
                  <a:lnSpc>
                    <a:spcPct val="120000"/>
                  </a:lnSpc>
                  <a:spcBef>
                    <a:spcPts val="600"/>
                  </a:spcBef>
                  <a:spcAft>
                    <a:spcPts val="600"/>
                  </a:spcAft>
                  <a:buClr>
                    <a:srgbClr val="FF9933"/>
                  </a:buClr>
                  <a:buChar char="–"/>
                  <a:defRPr kumimoji="1" sz="15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4pPr>
                <a:lvl5pPr marL="1543050" indent="-171450" algn="just" rtl="0" eaLnBrk="1" fontAlgn="base" hangingPunct="1">
                  <a:spcBef>
                    <a:spcPct val="20000"/>
                  </a:spcBef>
                  <a:spcAft>
                    <a:spcPct val="0"/>
                  </a:spcAft>
                  <a:buChar char="»"/>
                  <a:defRPr kumimoji="1" sz="1500">
                    <a:solidFill>
                      <a:schemeClr val="tx1"/>
                    </a:solidFill>
                    <a:latin typeface="Times New Roman" panose="02020603050405020304" pitchFamily="18" charset="0"/>
                    <a:ea typeface="+mn-ea"/>
                    <a:cs typeface="Times New Roman" panose="02020603050405020304" pitchFamily="18"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zh-CN" altLang="en-US" kern="0" dirty="0"/>
                  <a:t>通过一个例子来分析原始</a:t>
                </a:r>
                <a:r>
                  <a:rPr lang="en-US" altLang="zh-CN" kern="0" dirty="0"/>
                  <a:t>RSA</a:t>
                </a:r>
                <a:r>
                  <a:rPr lang="zh-CN" altLang="en-US" kern="0" dirty="0"/>
                  <a:t>算法的安全性。</a:t>
                </a:r>
                <a:endParaRPr lang="en-US" altLang="zh-CN" kern="0" dirty="0"/>
              </a:p>
              <a:p>
                <a:pPr lvl="1"/>
                <a:r>
                  <a:rPr lang="zh-CN" altLang="en-US" kern="0" dirty="0"/>
                  <a:t>假设</a:t>
                </a:r>
                <a14:m>
                  <m:oMath xmlns:m="http://schemas.openxmlformats.org/officeDocument/2006/math">
                    <m:r>
                      <a:rPr lang="pt-BR" altLang="zh-CN" b="1" i="1" dirty="0" smtClean="0">
                        <a:solidFill>
                          <a:srgbClr val="404040"/>
                        </a:solidFill>
                        <a:latin typeface="Cambria Math" panose="02040503050406030204" pitchFamily="18" charset="0"/>
                      </a:rPr>
                      <m:t>𝒏</m:t>
                    </m:r>
                    <m:r>
                      <a:rPr lang="pt-BR" altLang="zh-CN" b="1" i="1" dirty="0" smtClean="0">
                        <a:solidFill>
                          <a:srgbClr val="404040"/>
                        </a:solidFill>
                        <a:latin typeface="Cambria Math" panose="02040503050406030204" pitchFamily="18" charset="0"/>
                      </a:rPr>
                      <m:t>=</m:t>
                    </m:r>
                    <m:r>
                      <a:rPr lang="pt-BR" altLang="zh-CN" b="1" i="1" dirty="0" smtClean="0">
                        <a:solidFill>
                          <a:srgbClr val="404040"/>
                        </a:solidFill>
                        <a:latin typeface="Cambria Math" panose="02040503050406030204" pitchFamily="18" charset="0"/>
                      </a:rPr>
                      <m:t>𝟑</m:t>
                    </m:r>
                    <m:r>
                      <a:rPr lang="pt-BR" altLang="zh-CN" b="1" i="1" dirty="0" smtClean="0">
                        <a:solidFill>
                          <a:srgbClr val="404040"/>
                        </a:solidFill>
                        <a:latin typeface="Cambria Math" panose="02040503050406030204" pitchFamily="18" charset="0"/>
                      </a:rPr>
                      <m:t>×</m:t>
                    </m:r>
                    <m:r>
                      <a:rPr lang="pt-BR" altLang="zh-CN" b="1" i="1" dirty="0" smtClean="0">
                        <a:solidFill>
                          <a:srgbClr val="404040"/>
                        </a:solidFill>
                        <a:latin typeface="Cambria Math" panose="02040503050406030204" pitchFamily="18" charset="0"/>
                      </a:rPr>
                      <m:t>𝟓</m:t>
                    </m:r>
                    <m:r>
                      <a:rPr lang="pt-BR" altLang="zh-CN" b="1" i="1" dirty="0" smtClean="0">
                        <a:solidFill>
                          <a:srgbClr val="404040"/>
                        </a:solidFill>
                        <a:latin typeface="Cambria Math" panose="02040503050406030204" pitchFamily="18" charset="0"/>
                      </a:rPr>
                      <m:t>=</m:t>
                    </m:r>
                    <m:r>
                      <a:rPr lang="pt-BR" altLang="zh-CN" b="1" i="1" dirty="0" smtClean="0">
                        <a:solidFill>
                          <a:srgbClr val="404040"/>
                        </a:solidFill>
                        <a:latin typeface="Cambria Math" panose="02040503050406030204" pitchFamily="18" charset="0"/>
                      </a:rPr>
                      <m:t>𝟏𝟓</m:t>
                    </m:r>
                    <m:r>
                      <a:rPr lang="zh-CN" altLang="pt-BR" b="1" i="1" dirty="0" smtClean="0">
                        <a:solidFill>
                          <a:srgbClr val="404040"/>
                        </a:solidFill>
                        <a:latin typeface="Cambria Math" panose="02040503050406030204" pitchFamily="18" charset="0"/>
                      </a:rPr>
                      <m:t>，</m:t>
                    </m:r>
                    <m:r>
                      <a:rPr lang="en-US" altLang="zh-CN" b="1" i="1" dirty="0">
                        <a:latin typeface="Cambria Math" panose="02040503050406030204" pitchFamily="18" charset="0"/>
                      </a:rPr>
                      <m:t>𝝋</m:t>
                    </m:r>
                    <m:r>
                      <a:rPr lang="pt-BR" altLang="zh-CN" b="1" i="1" dirty="0">
                        <a:solidFill>
                          <a:srgbClr val="404040"/>
                        </a:solidFill>
                        <a:latin typeface="Cambria Math" panose="02040503050406030204" pitchFamily="18" charset="0"/>
                      </a:rPr>
                      <m:t>=</m:t>
                    </m:r>
                    <m:r>
                      <a:rPr lang="pt-BR" altLang="zh-CN" b="1" i="1" dirty="0">
                        <a:solidFill>
                          <a:srgbClr val="404040"/>
                        </a:solidFill>
                        <a:latin typeface="Cambria Math" panose="02040503050406030204" pitchFamily="18" charset="0"/>
                      </a:rPr>
                      <m:t>𝟐</m:t>
                    </m:r>
                    <m:r>
                      <a:rPr lang="pt-BR" altLang="zh-CN" b="1" i="1" dirty="0">
                        <a:solidFill>
                          <a:srgbClr val="404040"/>
                        </a:solidFill>
                        <a:latin typeface="Cambria Math" panose="02040503050406030204" pitchFamily="18" charset="0"/>
                      </a:rPr>
                      <m:t>×</m:t>
                    </m:r>
                    <m:r>
                      <a:rPr lang="pt-BR" altLang="zh-CN" b="1" i="1" dirty="0">
                        <a:solidFill>
                          <a:srgbClr val="404040"/>
                        </a:solidFill>
                        <a:latin typeface="Cambria Math" panose="02040503050406030204" pitchFamily="18" charset="0"/>
                      </a:rPr>
                      <m:t>𝟒</m:t>
                    </m:r>
                    <m:r>
                      <a:rPr lang="pt-BR" altLang="zh-CN" b="1" i="1" dirty="0">
                        <a:solidFill>
                          <a:srgbClr val="404040"/>
                        </a:solidFill>
                        <a:latin typeface="Cambria Math" panose="02040503050406030204" pitchFamily="18" charset="0"/>
                      </a:rPr>
                      <m:t>=</m:t>
                    </m:r>
                    <m:r>
                      <a:rPr lang="pt-BR" altLang="zh-CN" b="1" i="1" dirty="0">
                        <a:solidFill>
                          <a:srgbClr val="404040"/>
                        </a:solidFill>
                        <a:latin typeface="Cambria Math" panose="02040503050406030204" pitchFamily="18" charset="0"/>
                      </a:rPr>
                      <m:t>𝟖</m:t>
                    </m:r>
                    <m:r>
                      <a:rPr lang="zh-CN" altLang="en-US" b="1" i="1" dirty="0" smtClean="0">
                        <a:solidFill>
                          <a:srgbClr val="404040"/>
                        </a:solidFill>
                        <a:latin typeface="Cambria Math" panose="02040503050406030204" pitchFamily="18" charset="0"/>
                      </a:rPr>
                      <m:t>，</m:t>
                    </m:r>
                    <m:r>
                      <a:rPr lang="en-US" altLang="zh-CN" b="1" i="1" dirty="0" smtClean="0">
                        <a:solidFill>
                          <a:srgbClr val="404040"/>
                        </a:solidFill>
                        <a:latin typeface="Cambria Math" panose="02040503050406030204" pitchFamily="18" charset="0"/>
                      </a:rPr>
                      <m:t>𝝀</m:t>
                    </m:r>
                    <m:d>
                      <m:dPr>
                        <m:ctrlPr>
                          <a:rPr lang="en-US" altLang="zh-CN" i="1" dirty="0" smtClean="0">
                            <a:solidFill>
                              <a:srgbClr val="404040"/>
                            </a:solidFill>
                            <a:latin typeface="Cambria Math" panose="02040503050406030204" pitchFamily="18" charset="0"/>
                          </a:rPr>
                        </m:ctrlPr>
                      </m:dPr>
                      <m:e>
                        <m:r>
                          <a:rPr lang="en-US" altLang="zh-CN" b="1" i="1" dirty="0" smtClean="0">
                            <a:solidFill>
                              <a:srgbClr val="404040"/>
                            </a:solidFill>
                            <a:latin typeface="Cambria Math" panose="02040503050406030204" pitchFamily="18" charset="0"/>
                          </a:rPr>
                          <m:t>𝒏</m:t>
                        </m:r>
                      </m:e>
                    </m:d>
                    <m:r>
                      <a:rPr lang="en-US" altLang="zh-CN" b="1" i="1" dirty="0" smtClean="0">
                        <a:solidFill>
                          <a:srgbClr val="404040"/>
                        </a:solidFill>
                        <a:latin typeface="Cambria Math" panose="02040503050406030204" pitchFamily="18" charset="0"/>
                      </a:rPr>
                      <m:t>=</m:t>
                    </m:r>
                    <m:r>
                      <a:rPr lang="en-US" altLang="zh-CN" b="1" i="1" dirty="0" smtClean="0">
                        <a:solidFill>
                          <a:srgbClr val="404040"/>
                        </a:solidFill>
                        <a:latin typeface="Cambria Math" panose="02040503050406030204" pitchFamily="18" charset="0"/>
                      </a:rPr>
                      <m:t>𝒍𝒄𝒎</m:t>
                    </m:r>
                    <m:d>
                      <m:dPr>
                        <m:ctrlPr>
                          <a:rPr lang="en-US" altLang="zh-CN" i="1" dirty="0" smtClean="0">
                            <a:solidFill>
                              <a:srgbClr val="404040"/>
                            </a:solidFill>
                            <a:latin typeface="Cambria Math" panose="02040503050406030204" pitchFamily="18" charset="0"/>
                          </a:rPr>
                        </m:ctrlPr>
                      </m:dPr>
                      <m:e>
                        <m:r>
                          <a:rPr lang="en-US" altLang="zh-CN" b="1" i="1" dirty="0" smtClean="0">
                            <a:solidFill>
                              <a:srgbClr val="404040"/>
                            </a:solidFill>
                            <a:latin typeface="Cambria Math" panose="02040503050406030204" pitchFamily="18" charset="0"/>
                          </a:rPr>
                          <m:t>𝟐</m:t>
                        </m:r>
                        <m:r>
                          <a:rPr lang="en-US" altLang="zh-CN" b="1" i="1" dirty="0" smtClean="0">
                            <a:solidFill>
                              <a:srgbClr val="404040"/>
                            </a:solidFill>
                            <a:latin typeface="Cambria Math" panose="02040503050406030204" pitchFamily="18" charset="0"/>
                          </a:rPr>
                          <m:t>,</m:t>
                        </m:r>
                        <m:r>
                          <a:rPr lang="en-US" altLang="zh-CN" b="1" i="1" dirty="0" smtClean="0">
                            <a:solidFill>
                              <a:srgbClr val="404040"/>
                            </a:solidFill>
                            <a:latin typeface="Cambria Math" panose="02040503050406030204" pitchFamily="18" charset="0"/>
                          </a:rPr>
                          <m:t>𝟒</m:t>
                        </m:r>
                      </m:e>
                    </m:d>
                    <m:r>
                      <a:rPr lang="en-US" altLang="zh-CN" b="1" i="1" dirty="0" smtClean="0">
                        <a:solidFill>
                          <a:srgbClr val="404040"/>
                        </a:solidFill>
                        <a:latin typeface="Cambria Math" panose="02040503050406030204" pitchFamily="18" charset="0"/>
                      </a:rPr>
                      <m:t>=</m:t>
                    </m:r>
                    <m:r>
                      <a:rPr lang="en-US" altLang="zh-CN" b="1" i="1" dirty="0" smtClean="0">
                        <a:solidFill>
                          <a:srgbClr val="404040"/>
                        </a:solidFill>
                        <a:latin typeface="Cambria Math" panose="02040503050406030204" pitchFamily="18" charset="0"/>
                      </a:rPr>
                      <m:t>𝟒</m:t>
                    </m:r>
                    <m:r>
                      <a:rPr lang="en-US" altLang="zh-CN" b="1" i="1" dirty="0" smtClean="0">
                        <a:solidFill>
                          <a:srgbClr val="404040"/>
                        </a:solidFill>
                        <a:latin typeface="Cambria Math" panose="02040503050406030204" pitchFamily="18" charset="0"/>
                      </a:rPr>
                      <m:t>,</m:t>
                    </m:r>
                    <m:r>
                      <a:rPr lang="en-US" altLang="zh-CN" b="1" i="1" dirty="0" smtClean="0">
                        <a:solidFill>
                          <a:srgbClr val="404040"/>
                        </a:solidFill>
                        <a:latin typeface="Cambria Math" panose="02040503050406030204" pitchFamily="18" charset="0"/>
                      </a:rPr>
                      <m:t>𝒆</m:t>
                    </m:r>
                    <m:r>
                      <a:rPr lang="en-US" altLang="zh-CN" b="1" i="1" dirty="0" smtClean="0">
                        <a:solidFill>
                          <a:srgbClr val="404040"/>
                        </a:solidFill>
                        <a:latin typeface="Cambria Math" panose="02040503050406030204" pitchFamily="18" charset="0"/>
                      </a:rPr>
                      <m:t>=</m:t>
                    </m:r>
                    <m:r>
                      <a:rPr lang="en-US" altLang="zh-CN" b="1" i="1" dirty="0" smtClean="0">
                        <a:solidFill>
                          <a:srgbClr val="404040"/>
                        </a:solidFill>
                        <a:latin typeface="Cambria Math" panose="02040503050406030204" pitchFamily="18" charset="0"/>
                      </a:rPr>
                      <m:t>𝟑</m:t>
                    </m:r>
                    <m:r>
                      <a:rPr lang="en-US" altLang="zh-CN" b="1" i="1" dirty="0" smtClean="0">
                        <a:solidFill>
                          <a:srgbClr val="404040"/>
                        </a:solidFill>
                        <a:latin typeface="Cambria Math" panose="02040503050406030204" pitchFamily="18" charset="0"/>
                      </a:rPr>
                      <m:t>,</m:t>
                    </m:r>
                    <m:r>
                      <a:rPr lang="en-US" altLang="zh-CN" b="1" i="1" dirty="0" smtClean="0">
                        <a:solidFill>
                          <a:srgbClr val="404040"/>
                        </a:solidFill>
                        <a:latin typeface="Cambria Math" panose="02040503050406030204" pitchFamily="18" charset="0"/>
                      </a:rPr>
                      <m:t>𝒅</m:t>
                    </m:r>
                    <m:r>
                      <a:rPr lang="en-US" altLang="zh-CN" b="1" i="1" dirty="0" smtClean="0">
                        <a:solidFill>
                          <a:srgbClr val="404040"/>
                        </a:solidFill>
                        <a:latin typeface="Cambria Math" panose="02040503050406030204" pitchFamily="18" charset="0"/>
                      </a:rPr>
                      <m:t>=</m:t>
                    </m:r>
                    <m:r>
                      <a:rPr lang="en-US" altLang="zh-CN" b="1" i="1" dirty="0" smtClean="0">
                        <a:solidFill>
                          <a:srgbClr val="404040"/>
                        </a:solidFill>
                        <a:latin typeface="Cambria Math" panose="02040503050406030204" pitchFamily="18" charset="0"/>
                      </a:rPr>
                      <m:t>𝟑</m:t>
                    </m:r>
                  </m:oMath>
                </a14:m>
                <a:r>
                  <a:rPr lang="en-US" altLang="zh-CN" dirty="0">
                    <a:solidFill>
                      <a:srgbClr val="404040"/>
                    </a:solidFill>
                  </a:rPr>
                  <a:t>,</a:t>
                </a:r>
                <a:r>
                  <a:rPr lang="zh-CN" altLang="en-US" dirty="0">
                    <a:solidFill>
                      <a:srgbClr val="404040"/>
                    </a:solidFill>
                  </a:rPr>
                  <a:t>攻击者利用公钥加密不同的明文，即</a:t>
                </a:r>
                <a14:m>
                  <m:oMath xmlns:m="http://schemas.openxmlformats.org/officeDocument/2006/math">
                    <m:sSub>
                      <m:sSubPr>
                        <m:ctrlPr>
                          <a:rPr lang="en-US" altLang="zh-CN" i="1" smtClean="0">
                            <a:solidFill>
                              <a:srgbClr val="404040"/>
                            </a:solidFill>
                            <a:latin typeface="Cambria Math" panose="02040503050406030204" pitchFamily="18" charset="0"/>
                          </a:rPr>
                        </m:ctrlPr>
                      </m:sSubPr>
                      <m:e>
                        <m:r>
                          <a:rPr lang="en-US" altLang="zh-CN" b="1" i="1" smtClean="0">
                            <a:solidFill>
                              <a:srgbClr val="404040"/>
                            </a:solidFill>
                            <a:latin typeface="Cambria Math" panose="02040503050406030204" pitchFamily="18" charset="0"/>
                          </a:rPr>
                          <m:t>𝒎</m:t>
                        </m:r>
                      </m:e>
                      <m:sub>
                        <m:r>
                          <a:rPr lang="en-US" altLang="zh-CN" b="1" i="1" smtClean="0">
                            <a:solidFill>
                              <a:srgbClr val="404040"/>
                            </a:solidFill>
                            <a:latin typeface="Cambria Math" panose="02040503050406030204" pitchFamily="18" charset="0"/>
                          </a:rPr>
                          <m:t>𝟏</m:t>
                        </m:r>
                      </m:sub>
                    </m:sSub>
                    <m:r>
                      <a:rPr lang="en-US" altLang="zh-CN" b="1" i="1" smtClean="0">
                        <a:solidFill>
                          <a:srgbClr val="404040"/>
                        </a:solidFill>
                        <a:latin typeface="Cambria Math" panose="02040503050406030204" pitchFamily="18" charset="0"/>
                      </a:rPr>
                      <m:t>=</m:t>
                    </m:r>
                    <m:r>
                      <a:rPr lang="en-US" altLang="zh-CN" b="1" i="1" smtClean="0">
                        <a:solidFill>
                          <a:srgbClr val="404040"/>
                        </a:solidFill>
                        <a:latin typeface="Cambria Math" panose="02040503050406030204" pitchFamily="18" charset="0"/>
                      </a:rPr>
                      <m:t>𝟐</m:t>
                    </m:r>
                  </m:oMath>
                </a14:m>
                <a:r>
                  <a:rPr lang="en-US" altLang="zh-CN" dirty="0">
                    <a:solidFill>
                      <a:srgbClr val="404040"/>
                    </a:solidFill>
                  </a:rPr>
                  <a:t>,</a:t>
                </a:r>
                <a14:m>
                  <m:oMath xmlns:m="http://schemas.openxmlformats.org/officeDocument/2006/math">
                    <m:sSub>
                      <m:sSubPr>
                        <m:ctrlPr>
                          <a:rPr lang="en-US" altLang="zh-CN" i="1" dirty="0" smtClean="0">
                            <a:solidFill>
                              <a:srgbClr val="404040"/>
                            </a:solidFill>
                            <a:latin typeface="Cambria Math" panose="02040503050406030204" pitchFamily="18" charset="0"/>
                          </a:rPr>
                        </m:ctrlPr>
                      </m:sSubPr>
                      <m:e>
                        <m:r>
                          <a:rPr lang="en-US" altLang="zh-CN" b="1" i="1" dirty="0" smtClean="0">
                            <a:solidFill>
                              <a:srgbClr val="404040"/>
                            </a:solidFill>
                            <a:latin typeface="Cambria Math" panose="02040503050406030204" pitchFamily="18" charset="0"/>
                          </a:rPr>
                          <m:t>𝒄</m:t>
                        </m:r>
                      </m:e>
                      <m:sub>
                        <m:r>
                          <a:rPr lang="en-US" altLang="zh-CN" b="1" i="1" dirty="0" smtClean="0">
                            <a:solidFill>
                              <a:srgbClr val="404040"/>
                            </a:solidFill>
                            <a:latin typeface="Cambria Math" panose="02040503050406030204" pitchFamily="18" charset="0"/>
                          </a:rPr>
                          <m:t>𝟏</m:t>
                        </m:r>
                      </m:sub>
                    </m:sSub>
                    <m:r>
                      <a:rPr lang="en-US" altLang="zh-CN" b="1" i="1" dirty="0" smtClean="0">
                        <a:solidFill>
                          <a:srgbClr val="404040"/>
                        </a:solidFill>
                        <a:latin typeface="Cambria Math" panose="02040503050406030204" pitchFamily="18" charset="0"/>
                      </a:rPr>
                      <m:t>=</m:t>
                    </m:r>
                    <m:sSup>
                      <m:sSupPr>
                        <m:ctrlPr>
                          <a:rPr lang="en-US" altLang="zh-CN" i="1" dirty="0" smtClean="0">
                            <a:solidFill>
                              <a:srgbClr val="404040"/>
                            </a:solidFill>
                            <a:latin typeface="Cambria Math" panose="02040503050406030204" pitchFamily="18" charset="0"/>
                          </a:rPr>
                        </m:ctrlPr>
                      </m:sSupPr>
                      <m:e>
                        <m:r>
                          <a:rPr lang="en-US" altLang="zh-CN" b="1" i="1" dirty="0" smtClean="0">
                            <a:solidFill>
                              <a:srgbClr val="404040"/>
                            </a:solidFill>
                            <a:latin typeface="Cambria Math" panose="02040503050406030204" pitchFamily="18" charset="0"/>
                          </a:rPr>
                          <m:t>𝟐</m:t>
                        </m:r>
                      </m:e>
                      <m:sup>
                        <m:r>
                          <a:rPr lang="en-US" altLang="zh-CN" b="1" i="1" dirty="0" smtClean="0">
                            <a:solidFill>
                              <a:srgbClr val="404040"/>
                            </a:solidFill>
                            <a:latin typeface="Cambria Math" panose="02040503050406030204" pitchFamily="18" charset="0"/>
                          </a:rPr>
                          <m:t>𝟑</m:t>
                        </m:r>
                      </m:sup>
                    </m:sSup>
                    <m:r>
                      <a:rPr lang="en-US" altLang="zh-CN" b="1" i="1" dirty="0" smtClean="0">
                        <a:solidFill>
                          <a:srgbClr val="404040"/>
                        </a:solidFill>
                        <a:latin typeface="Cambria Math" panose="02040503050406030204" pitchFamily="18" charset="0"/>
                      </a:rPr>
                      <m:t>=</m:t>
                    </m:r>
                    <m:r>
                      <a:rPr lang="en-US" altLang="zh-CN" b="1" i="1" dirty="0" smtClean="0">
                        <a:solidFill>
                          <a:srgbClr val="404040"/>
                        </a:solidFill>
                        <a:latin typeface="Cambria Math" panose="02040503050406030204" pitchFamily="18" charset="0"/>
                      </a:rPr>
                      <m:t>𝟖</m:t>
                    </m:r>
                    <m:r>
                      <a:rPr lang="en-US" altLang="zh-CN" b="1" i="0" dirty="0" smtClean="0">
                        <a:solidFill>
                          <a:srgbClr val="404040"/>
                        </a:solidFill>
                        <a:latin typeface="Cambria Math" panose="02040503050406030204" pitchFamily="18" charset="0"/>
                      </a:rPr>
                      <m:t>;</m:t>
                    </m:r>
                    <m:sSub>
                      <m:sSubPr>
                        <m:ctrlPr>
                          <a:rPr lang="en-US" altLang="zh-CN" i="1" dirty="0" smtClean="0">
                            <a:solidFill>
                              <a:srgbClr val="404040"/>
                            </a:solidFill>
                            <a:latin typeface="Cambria Math" panose="02040503050406030204" pitchFamily="18" charset="0"/>
                          </a:rPr>
                        </m:ctrlPr>
                      </m:sSubPr>
                      <m:e>
                        <m:r>
                          <a:rPr lang="en-US" altLang="zh-CN" b="1" i="0" dirty="0" smtClean="0">
                            <a:solidFill>
                              <a:srgbClr val="404040"/>
                            </a:solidFill>
                            <a:latin typeface="Cambria Math" panose="02040503050406030204" pitchFamily="18" charset="0"/>
                          </a:rPr>
                          <m:t>𝐦</m:t>
                        </m:r>
                      </m:e>
                      <m:sub>
                        <m:r>
                          <a:rPr lang="en-US" altLang="zh-CN" b="1" i="0" dirty="0" smtClean="0">
                            <a:solidFill>
                              <a:srgbClr val="404040"/>
                            </a:solidFill>
                            <a:latin typeface="Cambria Math" panose="02040503050406030204" pitchFamily="18" charset="0"/>
                          </a:rPr>
                          <m:t>𝟐</m:t>
                        </m:r>
                      </m:sub>
                    </m:sSub>
                    <m:r>
                      <a:rPr lang="en-US" altLang="zh-CN" b="1" i="0" dirty="0" smtClean="0">
                        <a:solidFill>
                          <a:srgbClr val="404040"/>
                        </a:solidFill>
                        <a:latin typeface="Cambria Math" panose="02040503050406030204" pitchFamily="18" charset="0"/>
                      </a:rPr>
                      <m:t>=</m:t>
                    </m:r>
                    <m:r>
                      <a:rPr lang="en-US" altLang="zh-CN" b="1" i="0" dirty="0" smtClean="0">
                        <a:solidFill>
                          <a:srgbClr val="404040"/>
                        </a:solidFill>
                        <a:latin typeface="Cambria Math" panose="02040503050406030204" pitchFamily="18" charset="0"/>
                      </a:rPr>
                      <m:t>𝟕</m:t>
                    </m:r>
                    <m:r>
                      <a:rPr lang="en-US" altLang="zh-CN" b="1" i="0" dirty="0" smtClean="0">
                        <a:solidFill>
                          <a:srgbClr val="404040"/>
                        </a:solidFill>
                        <a:latin typeface="Cambria Math" panose="02040503050406030204" pitchFamily="18" charset="0"/>
                      </a:rPr>
                      <m:t>,</m:t>
                    </m:r>
                    <m:sSub>
                      <m:sSubPr>
                        <m:ctrlPr>
                          <a:rPr lang="en-US" altLang="zh-CN" i="1" dirty="0" smtClean="0">
                            <a:solidFill>
                              <a:srgbClr val="404040"/>
                            </a:solidFill>
                            <a:latin typeface="Cambria Math" panose="02040503050406030204" pitchFamily="18" charset="0"/>
                          </a:rPr>
                        </m:ctrlPr>
                      </m:sSubPr>
                      <m:e>
                        <m:r>
                          <a:rPr lang="en-US" altLang="zh-CN" b="1" i="0" dirty="0" smtClean="0">
                            <a:solidFill>
                              <a:srgbClr val="404040"/>
                            </a:solidFill>
                            <a:latin typeface="Cambria Math" panose="02040503050406030204" pitchFamily="18" charset="0"/>
                          </a:rPr>
                          <m:t>𝐜</m:t>
                        </m:r>
                      </m:e>
                      <m:sub>
                        <m:r>
                          <a:rPr lang="en-US" altLang="zh-CN" b="1" i="0" dirty="0" smtClean="0">
                            <a:solidFill>
                              <a:srgbClr val="404040"/>
                            </a:solidFill>
                            <a:latin typeface="Cambria Math" panose="02040503050406030204" pitchFamily="18" charset="0"/>
                          </a:rPr>
                          <m:t>𝟐</m:t>
                        </m:r>
                      </m:sub>
                    </m:sSub>
                    <m:r>
                      <a:rPr lang="en-US" altLang="zh-CN" b="1" i="0" dirty="0" smtClean="0">
                        <a:solidFill>
                          <a:srgbClr val="404040"/>
                        </a:solidFill>
                        <a:latin typeface="Cambria Math" panose="02040503050406030204" pitchFamily="18" charset="0"/>
                      </a:rPr>
                      <m:t>=</m:t>
                    </m:r>
                    <m:sSup>
                      <m:sSupPr>
                        <m:ctrlPr>
                          <a:rPr lang="en-US" altLang="zh-CN" i="1" dirty="0" smtClean="0">
                            <a:solidFill>
                              <a:srgbClr val="404040"/>
                            </a:solidFill>
                            <a:latin typeface="Cambria Math" panose="02040503050406030204" pitchFamily="18" charset="0"/>
                          </a:rPr>
                        </m:ctrlPr>
                      </m:sSupPr>
                      <m:e>
                        <m:r>
                          <a:rPr lang="en-US" altLang="zh-CN" b="1" i="0" dirty="0" smtClean="0">
                            <a:solidFill>
                              <a:srgbClr val="404040"/>
                            </a:solidFill>
                            <a:latin typeface="Cambria Math" panose="02040503050406030204" pitchFamily="18" charset="0"/>
                          </a:rPr>
                          <m:t>𝟕</m:t>
                        </m:r>
                      </m:e>
                      <m:sup>
                        <m:r>
                          <a:rPr lang="en-US" altLang="zh-CN" b="1" i="0" dirty="0" smtClean="0">
                            <a:solidFill>
                              <a:srgbClr val="404040"/>
                            </a:solidFill>
                            <a:latin typeface="Cambria Math" panose="02040503050406030204" pitchFamily="18" charset="0"/>
                          </a:rPr>
                          <m:t>𝟑</m:t>
                        </m:r>
                      </m:sup>
                    </m:sSup>
                    <m:r>
                      <a:rPr lang="en-US" altLang="zh-CN" b="1" i="0" dirty="0" smtClean="0">
                        <a:solidFill>
                          <a:srgbClr val="404040"/>
                        </a:solidFill>
                        <a:latin typeface="Cambria Math" panose="02040503050406030204" pitchFamily="18" charset="0"/>
                      </a:rPr>
                      <m:t>𝐦𝐨𝐝𝟏𝟓</m:t>
                    </m:r>
                    <m:r>
                      <a:rPr lang="en-US" altLang="zh-CN" b="1" i="0" dirty="0" smtClean="0">
                        <a:solidFill>
                          <a:srgbClr val="404040"/>
                        </a:solidFill>
                        <a:latin typeface="Cambria Math" panose="02040503050406030204" pitchFamily="18" charset="0"/>
                      </a:rPr>
                      <m:t>=</m:t>
                    </m:r>
                    <m:r>
                      <a:rPr lang="en-US" altLang="zh-CN" b="1" i="0" dirty="0" smtClean="0">
                        <a:solidFill>
                          <a:srgbClr val="404040"/>
                        </a:solidFill>
                        <a:latin typeface="Cambria Math" panose="02040503050406030204" pitchFamily="18" charset="0"/>
                      </a:rPr>
                      <m:t>𝟏𝟑</m:t>
                    </m:r>
                    <m:r>
                      <a:rPr lang="zh-CN" altLang="en-US" b="1" i="1" dirty="0">
                        <a:solidFill>
                          <a:srgbClr val="404040"/>
                        </a:solidFill>
                        <a:latin typeface="Cambria Math" panose="02040503050406030204" pitchFamily="18" charset="0"/>
                      </a:rPr>
                      <m:t>。</m:t>
                    </m:r>
                  </m:oMath>
                </a14:m>
                <a:endParaRPr lang="en-US" altLang="zh-CN" dirty="0">
                  <a:solidFill>
                    <a:srgbClr val="404040"/>
                  </a:solidFill>
                </a:endParaRPr>
              </a:p>
              <a:p>
                <a:pPr lvl="1"/>
                <a:r>
                  <a:rPr lang="zh-CN" altLang="en-US" dirty="0">
                    <a:solidFill>
                      <a:srgbClr val="404040"/>
                    </a:solidFill>
                  </a:rPr>
                  <a:t>当攻击者收到密文</a:t>
                </a:r>
                <a:r>
                  <a:rPr lang="en-US" altLang="zh-CN" dirty="0">
                    <a:solidFill>
                      <a:srgbClr val="404040"/>
                    </a:solidFill>
                  </a:rPr>
                  <a:t>c=8</a:t>
                </a:r>
                <a:r>
                  <a:rPr lang="zh-CN" altLang="en-US" dirty="0">
                    <a:solidFill>
                      <a:srgbClr val="404040"/>
                    </a:solidFill>
                  </a:rPr>
                  <a:t>，就能够推断出明文</a:t>
                </a:r>
                <a:r>
                  <a:rPr lang="en-US" altLang="zh-CN" dirty="0">
                    <a:solidFill>
                      <a:srgbClr val="404040"/>
                    </a:solidFill>
                  </a:rPr>
                  <a:t>m=2</a:t>
                </a:r>
                <a:r>
                  <a:rPr lang="zh-CN" altLang="en-US" dirty="0">
                    <a:solidFill>
                      <a:srgbClr val="404040"/>
                    </a:solidFill>
                  </a:rPr>
                  <a:t>；同理，如果密文</a:t>
                </a:r>
                <a:r>
                  <a:rPr lang="en-US" altLang="zh-CN" dirty="0">
                    <a:solidFill>
                      <a:srgbClr val="404040"/>
                    </a:solidFill>
                  </a:rPr>
                  <a:t>c=13 </a:t>
                </a:r>
                <a:r>
                  <a:rPr lang="zh-CN" altLang="en-US" dirty="0">
                    <a:solidFill>
                      <a:srgbClr val="404040"/>
                    </a:solidFill>
                  </a:rPr>
                  <a:t>，就可以推断出明文</a:t>
                </a:r>
                <a:r>
                  <a:rPr lang="en-US" altLang="zh-CN" dirty="0">
                    <a:solidFill>
                      <a:srgbClr val="404040"/>
                    </a:solidFill>
                  </a:rPr>
                  <a:t>m=7</a:t>
                </a:r>
                <a:r>
                  <a:rPr lang="zh-CN" altLang="en-US" dirty="0">
                    <a:solidFill>
                      <a:srgbClr val="404040"/>
                    </a:solidFill>
                  </a:rPr>
                  <a:t>。由此可见，原始</a:t>
                </a:r>
                <a:r>
                  <a:rPr lang="en-US" altLang="zh-CN" dirty="0">
                    <a:solidFill>
                      <a:srgbClr val="404040"/>
                    </a:solidFill>
                  </a:rPr>
                  <a:t>RSA</a:t>
                </a:r>
                <a:r>
                  <a:rPr lang="zh-CN" altLang="en-US" dirty="0">
                    <a:solidFill>
                      <a:srgbClr val="404040"/>
                    </a:solidFill>
                  </a:rPr>
                  <a:t>算法在面对选择明文攻击时具有明显的安全隐患。</a:t>
                </a:r>
                <a:endParaRPr lang="en-US" altLang="zh-CN" dirty="0">
                  <a:solidFill>
                    <a:srgbClr val="404040"/>
                  </a:solidFill>
                </a:endParaRPr>
              </a:p>
            </p:txBody>
          </p:sp>
        </mc:Choice>
        <mc:Fallback xmlns="">
          <p:sp>
            <p:nvSpPr>
              <p:cNvPr id="5" name="内容占位符 1">
                <a:extLst>
                  <a:ext uri="{FF2B5EF4-FFF2-40B4-BE49-F238E27FC236}">
                    <a16:creationId xmlns:a16="http://schemas.microsoft.com/office/drawing/2014/main" id="{D4B112B5-9A03-160B-93DE-3A03B1B80462}"/>
                  </a:ext>
                </a:extLst>
              </p:cNvPr>
              <p:cNvSpPr txBox="1">
                <a:spLocks noRot="1" noChangeAspect="1" noMove="1" noResize="1" noEditPoints="1" noAdjustHandles="1" noChangeArrowheads="1" noChangeShapeType="1" noTextEdit="1"/>
              </p:cNvSpPr>
              <p:nvPr/>
            </p:nvSpPr>
            <p:spPr bwMode="auto">
              <a:xfrm>
                <a:off x="6480313" y="1232705"/>
                <a:ext cx="5459655" cy="5047042"/>
              </a:xfrm>
              <a:prstGeom prst="rect">
                <a:avLst/>
              </a:prstGeom>
              <a:blipFill>
                <a:blip r:embed="rId4"/>
                <a:stretch>
                  <a:fillRect l="-1897" t="-725" r="-1674" b="-350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16533327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14FEBF7-6A53-BAE4-D369-42F65444EFFA}"/>
              </a:ext>
            </a:extLst>
          </p:cNvPr>
          <p:cNvSpPr>
            <a:spLocks noGrp="1"/>
          </p:cNvSpPr>
          <p:nvPr>
            <p:ph idx="1"/>
          </p:nvPr>
        </p:nvSpPr>
        <p:spPr/>
        <p:txBody>
          <a:bodyPr/>
          <a:lstStyle/>
          <a:p>
            <a:r>
              <a:rPr lang="zh-CN" altLang="en-US" dirty="0"/>
              <a:t>为了满足上文提到的安全目标，首先要将</a:t>
            </a:r>
            <a:r>
              <a:rPr lang="en-US" altLang="zh-CN" dirty="0"/>
              <a:t>RSA</a:t>
            </a:r>
            <a:r>
              <a:rPr lang="zh-CN" altLang="en-US" dirty="0"/>
              <a:t>算法改造为非确定性算法，具体的做法就是将明文与某个随机数组合起来（</a:t>
            </a:r>
            <a:r>
              <a:rPr lang="en-US" altLang="zh-CN" dirty="0"/>
              <a:t>Padding</a:t>
            </a:r>
            <a:r>
              <a:rPr lang="zh-CN" altLang="en-US" dirty="0"/>
              <a:t>，即填充）。这样明文就被转移到了一个更大的明文空间上，一定程度上防止了选择明文攻击。最优非对称加密填充：</a:t>
            </a:r>
            <a:r>
              <a:rPr lang="en-US" altLang="zh-CN" dirty="0"/>
              <a:t>OAEP</a:t>
            </a:r>
            <a:r>
              <a:rPr lang="zh-CN" altLang="en-US" dirty="0"/>
              <a:t>。</a:t>
            </a:r>
          </a:p>
        </p:txBody>
      </p:sp>
      <p:sp>
        <p:nvSpPr>
          <p:cNvPr id="3" name="灯片编号占位符 2">
            <a:extLst>
              <a:ext uri="{FF2B5EF4-FFF2-40B4-BE49-F238E27FC236}">
                <a16:creationId xmlns:a16="http://schemas.microsoft.com/office/drawing/2014/main" id="{7FC8C19C-D1B0-1481-9224-65B34CA2EA9C}"/>
              </a:ext>
            </a:extLst>
          </p:cNvPr>
          <p:cNvSpPr>
            <a:spLocks noGrp="1"/>
          </p:cNvSpPr>
          <p:nvPr>
            <p:ph type="sldNum" sz="quarter" idx="4"/>
          </p:nvPr>
        </p:nvSpPr>
        <p:spPr/>
        <p:txBody>
          <a:bodyPr/>
          <a:lstStyle/>
          <a:p>
            <a:fld id="{4124EDF5-87F7-4AC5-8292-B04417157FC2}" type="slidenum">
              <a:rPr lang="zh-CN" altLang="en-US" smtClean="0"/>
              <a:t>30</a:t>
            </a:fld>
            <a:endParaRPr lang="zh-CN" altLang="en-US"/>
          </a:p>
        </p:txBody>
      </p:sp>
      <p:sp>
        <p:nvSpPr>
          <p:cNvPr id="4" name="标题 3">
            <a:extLst>
              <a:ext uri="{FF2B5EF4-FFF2-40B4-BE49-F238E27FC236}">
                <a16:creationId xmlns:a16="http://schemas.microsoft.com/office/drawing/2014/main" id="{1E295CD8-2B61-A147-4E4D-CC46B233AC5D}"/>
              </a:ext>
            </a:extLst>
          </p:cNvPr>
          <p:cNvSpPr>
            <a:spLocks noGrp="1"/>
          </p:cNvSpPr>
          <p:nvPr>
            <p:ph type="title"/>
          </p:nvPr>
        </p:nvSpPr>
        <p:spPr/>
        <p:txBody>
          <a:bodyPr/>
          <a:lstStyle/>
          <a:p>
            <a:r>
              <a:rPr lang="en-US" altLang="zh-CN" dirty="0"/>
              <a:t>RSA-OAEP</a:t>
            </a:r>
            <a:endParaRPr lang="zh-CN" altLang="en-US" dirty="0"/>
          </a:p>
        </p:txBody>
      </p:sp>
      <p:pic>
        <p:nvPicPr>
          <p:cNvPr id="5" name="图片 4">
            <a:extLst>
              <a:ext uri="{FF2B5EF4-FFF2-40B4-BE49-F238E27FC236}">
                <a16:creationId xmlns:a16="http://schemas.microsoft.com/office/drawing/2014/main" id="{BF60B3E2-87B0-1456-C842-3049E18822A8}"/>
              </a:ext>
            </a:extLst>
          </p:cNvPr>
          <p:cNvPicPr>
            <a:picLocks noChangeAspect="1"/>
          </p:cNvPicPr>
          <p:nvPr/>
        </p:nvPicPr>
        <p:blipFill>
          <a:blip r:embed="rId2"/>
          <a:stretch>
            <a:fillRect/>
          </a:stretch>
        </p:blipFill>
        <p:spPr>
          <a:xfrm>
            <a:off x="3527855" y="2824485"/>
            <a:ext cx="4980549" cy="3917627"/>
          </a:xfrm>
          <a:prstGeom prst="rect">
            <a:avLst/>
          </a:prstGeom>
        </p:spPr>
      </p:pic>
    </p:spTree>
    <p:extLst>
      <p:ext uri="{BB962C8B-B14F-4D97-AF65-F5344CB8AC3E}">
        <p14:creationId xmlns:p14="http://schemas.microsoft.com/office/powerpoint/2010/main" val="23526441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664C998-19D1-690D-237E-3BDC8FDE0D78}"/>
              </a:ext>
            </a:extLst>
          </p:cNvPr>
          <p:cNvSpPr>
            <a:spLocks noGrp="1"/>
          </p:cNvSpPr>
          <p:nvPr>
            <p:ph idx="1"/>
          </p:nvPr>
        </p:nvSpPr>
        <p:spPr>
          <a:xfrm>
            <a:off x="371301" y="1232705"/>
            <a:ext cx="11464528" cy="1967695"/>
          </a:xfrm>
        </p:spPr>
        <p:txBody>
          <a:bodyPr/>
          <a:lstStyle/>
          <a:p>
            <a:r>
              <a:rPr lang="zh-CN" altLang="en-US" dirty="0"/>
              <a:t>为了抵抗 </a:t>
            </a:r>
            <a:r>
              <a:rPr lang="en-US" altLang="zh-CN" dirty="0"/>
              <a:t>CCA2</a:t>
            </a:r>
            <a:r>
              <a:rPr lang="zh-CN" altLang="en-US" dirty="0"/>
              <a:t>，防止对密文进行修改（保证密文完整性），需要使用消息验证码（</a:t>
            </a:r>
            <a:r>
              <a:rPr lang="en-US" altLang="zh-CN" dirty="0"/>
              <a:t>MAC</a:t>
            </a:r>
            <a:r>
              <a:rPr lang="zh-CN" altLang="en-US" dirty="0"/>
              <a:t>），将加密和认证结合起来，这就是认证加密（</a:t>
            </a:r>
            <a:r>
              <a:rPr lang="en-US" altLang="zh-CN" dirty="0"/>
              <a:t>Authenticated Encryption</a:t>
            </a:r>
            <a:r>
              <a:rPr lang="zh-CN" altLang="en-US" dirty="0"/>
              <a:t>，</a:t>
            </a:r>
            <a:r>
              <a:rPr lang="en-US" altLang="zh-CN" dirty="0"/>
              <a:t>AE</a:t>
            </a:r>
            <a:r>
              <a:rPr lang="zh-CN" altLang="en-US" dirty="0"/>
              <a:t>）的概念。 对于 </a:t>
            </a:r>
            <a:r>
              <a:rPr lang="en-US" altLang="zh-CN" dirty="0"/>
              <a:t>AES-CBC</a:t>
            </a:r>
            <a:r>
              <a:rPr lang="zh-CN" altLang="en-US" dirty="0"/>
              <a:t>，我们通常使用密钥散列消息认证码（</a:t>
            </a:r>
            <a:r>
              <a:rPr lang="en-US" altLang="zh-CN" dirty="0"/>
              <a:t>Keyed-Hash Message Authentication Code</a:t>
            </a:r>
            <a:r>
              <a:rPr lang="zh-CN" altLang="en-US" dirty="0"/>
              <a:t>，</a:t>
            </a:r>
            <a:r>
              <a:rPr lang="en-US" altLang="zh-CN" dirty="0"/>
              <a:t>HMAC</a:t>
            </a:r>
            <a:r>
              <a:rPr lang="zh-CN" altLang="en-US" dirty="0"/>
              <a:t>）结合</a:t>
            </a:r>
            <a:r>
              <a:rPr lang="en-US" altLang="zh-CN" dirty="0"/>
              <a:t>SHA-256</a:t>
            </a:r>
            <a:r>
              <a:rPr lang="zh-CN" altLang="en-US" dirty="0"/>
              <a:t>哈希函数来提供完整性。</a:t>
            </a:r>
            <a:endParaRPr lang="en-US" altLang="zh-CN" dirty="0"/>
          </a:p>
        </p:txBody>
      </p:sp>
      <p:sp>
        <p:nvSpPr>
          <p:cNvPr id="3" name="灯片编号占位符 2">
            <a:extLst>
              <a:ext uri="{FF2B5EF4-FFF2-40B4-BE49-F238E27FC236}">
                <a16:creationId xmlns:a16="http://schemas.microsoft.com/office/drawing/2014/main" id="{4BC88244-D7C5-024A-5B75-BF42A97F1984}"/>
              </a:ext>
            </a:extLst>
          </p:cNvPr>
          <p:cNvSpPr>
            <a:spLocks noGrp="1"/>
          </p:cNvSpPr>
          <p:nvPr>
            <p:ph type="sldNum" sz="quarter" idx="4"/>
          </p:nvPr>
        </p:nvSpPr>
        <p:spPr/>
        <p:txBody>
          <a:bodyPr/>
          <a:lstStyle/>
          <a:p>
            <a:fld id="{4124EDF5-87F7-4AC5-8292-B04417157FC2}" type="slidenum">
              <a:rPr lang="zh-CN" altLang="en-US" smtClean="0"/>
              <a:t>31</a:t>
            </a:fld>
            <a:endParaRPr lang="zh-CN" altLang="en-US"/>
          </a:p>
        </p:txBody>
      </p:sp>
      <p:sp>
        <p:nvSpPr>
          <p:cNvPr id="4" name="标题 3">
            <a:extLst>
              <a:ext uri="{FF2B5EF4-FFF2-40B4-BE49-F238E27FC236}">
                <a16:creationId xmlns:a16="http://schemas.microsoft.com/office/drawing/2014/main" id="{8518BE91-13F7-E768-C44E-1DB937CFF9F9}"/>
              </a:ext>
            </a:extLst>
          </p:cNvPr>
          <p:cNvSpPr>
            <a:spLocks noGrp="1"/>
          </p:cNvSpPr>
          <p:nvPr>
            <p:ph type="title"/>
          </p:nvPr>
        </p:nvSpPr>
        <p:spPr/>
        <p:txBody>
          <a:bodyPr/>
          <a:lstStyle/>
          <a:p>
            <a:r>
              <a:rPr lang="zh-CN" altLang="en-US" dirty="0"/>
              <a:t>语义安全的对称加密方案</a:t>
            </a:r>
          </a:p>
        </p:txBody>
      </p:sp>
      <p:sp>
        <p:nvSpPr>
          <p:cNvPr id="5" name="文本框 4">
            <a:extLst>
              <a:ext uri="{FF2B5EF4-FFF2-40B4-BE49-F238E27FC236}">
                <a16:creationId xmlns:a16="http://schemas.microsoft.com/office/drawing/2014/main" id="{45F56538-94F4-5B0E-E2F3-BD4F805810A1}"/>
              </a:ext>
            </a:extLst>
          </p:cNvPr>
          <p:cNvSpPr txBox="1"/>
          <p:nvPr/>
        </p:nvSpPr>
        <p:spPr>
          <a:xfrm>
            <a:off x="143483" y="3039972"/>
            <a:ext cx="3944814" cy="370214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dirty="0"/>
              <a:t>认证加密有三种方案，分别是： </a:t>
            </a:r>
            <a:endParaRPr lang="en-US" altLang="zh-CN" dirty="0"/>
          </a:p>
          <a:p>
            <a:r>
              <a:rPr lang="en-US" altLang="zh-CN" dirty="0"/>
              <a:t>1</a:t>
            </a:r>
            <a:r>
              <a:rPr lang="zh-CN" altLang="en-US" dirty="0"/>
              <a:t>）</a:t>
            </a:r>
            <a:r>
              <a:rPr lang="en-US" altLang="zh-CN" dirty="0"/>
              <a:t>Encrypt-then-MAC</a:t>
            </a:r>
            <a:r>
              <a:rPr lang="zh-CN" altLang="en-US" dirty="0"/>
              <a:t>（</a:t>
            </a:r>
            <a:r>
              <a:rPr lang="en-US" altLang="zh-CN" dirty="0" err="1"/>
              <a:t>EtM</a:t>
            </a:r>
            <a:r>
              <a:rPr lang="zh-CN" altLang="en-US" dirty="0"/>
              <a:t>，见图 </a:t>
            </a:r>
            <a:r>
              <a:rPr lang="en-US" altLang="zh-CN" dirty="0"/>
              <a:t>2.20</a:t>
            </a:r>
            <a:r>
              <a:rPr lang="zh-CN" altLang="en-US" dirty="0"/>
              <a:t>），先加密再对密文计算 </a:t>
            </a:r>
            <a:r>
              <a:rPr lang="en-US" altLang="zh-CN" dirty="0"/>
              <a:t>MAC</a:t>
            </a:r>
            <a:r>
              <a:rPr lang="zh-CN" altLang="en-US" dirty="0"/>
              <a:t>。</a:t>
            </a:r>
            <a:r>
              <a:rPr lang="en-US" altLang="zh-CN" dirty="0"/>
              <a:t>TLS 1.3 </a:t>
            </a:r>
            <a:r>
              <a:rPr lang="zh-CN" altLang="en-US" dirty="0"/>
              <a:t>推荐三种相关算法：</a:t>
            </a:r>
            <a:r>
              <a:rPr lang="en-US" altLang="zh-CN" dirty="0"/>
              <a:t>AES-GCM</a:t>
            </a:r>
            <a:r>
              <a:rPr lang="zh-CN" altLang="en-US" dirty="0"/>
              <a:t>，</a:t>
            </a:r>
            <a:r>
              <a:rPr lang="en-US" altLang="zh-CN" dirty="0"/>
              <a:t>AES-CCM</a:t>
            </a:r>
            <a:r>
              <a:rPr lang="zh-CN" altLang="en-US" dirty="0"/>
              <a:t>，</a:t>
            </a:r>
            <a:r>
              <a:rPr lang="en-US" altLang="zh-CN" dirty="0"/>
              <a:t>ChaCha20-Poly1305</a:t>
            </a:r>
            <a:r>
              <a:rPr lang="zh-CN" altLang="en-US" dirty="0"/>
              <a:t>。 </a:t>
            </a:r>
            <a:endParaRPr lang="en-US" altLang="zh-CN" dirty="0"/>
          </a:p>
          <a:p>
            <a:r>
              <a:rPr lang="en-US" altLang="zh-CN" dirty="0"/>
              <a:t>2</a:t>
            </a:r>
            <a:r>
              <a:rPr lang="zh-CN" altLang="en-US" dirty="0"/>
              <a:t>）</a:t>
            </a:r>
            <a:r>
              <a:rPr lang="en-US" altLang="zh-CN" dirty="0"/>
              <a:t>Encrypt-and-MAC</a:t>
            </a:r>
            <a:r>
              <a:rPr lang="zh-CN" altLang="en-US" dirty="0"/>
              <a:t>（</a:t>
            </a:r>
            <a:r>
              <a:rPr lang="en-US" altLang="zh-CN" dirty="0"/>
              <a:t>E&amp;M</a:t>
            </a:r>
            <a:r>
              <a:rPr lang="zh-CN" altLang="en-US" dirty="0"/>
              <a:t>，见图 </a:t>
            </a:r>
            <a:r>
              <a:rPr lang="en-US" altLang="zh-CN" dirty="0"/>
              <a:t>2.21</a:t>
            </a:r>
            <a:r>
              <a:rPr lang="zh-CN" altLang="en-US" dirty="0"/>
              <a:t>），分别对明文计算密文和 </a:t>
            </a:r>
            <a:r>
              <a:rPr lang="en-US" altLang="zh-CN" dirty="0"/>
              <a:t>MAC</a:t>
            </a:r>
            <a:r>
              <a:rPr lang="zh-CN" altLang="en-US" dirty="0"/>
              <a:t>，例如安全外壳（</a:t>
            </a:r>
            <a:r>
              <a:rPr lang="en-US" altLang="zh-CN" dirty="0"/>
              <a:t>SSH</a:t>
            </a:r>
            <a:r>
              <a:rPr lang="zh-CN" altLang="en-US" dirty="0"/>
              <a:t>）协议。 </a:t>
            </a:r>
            <a:endParaRPr lang="en-US" altLang="zh-CN" dirty="0"/>
          </a:p>
          <a:p>
            <a:r>
              <a:rPr lang="en-US" altLang="zh-CN" dirty="0"/>
              <a:t>3</a:t>
            </a:r>
            <a:r>
              <a:rPr lang="zh-CN" altLang="en-US" dirty="0"/>
              <a:t>）</a:t>
            </a:r>
            <a:r>
              <a:rPr lang="en-US" altLang="zh-CN" dirty="0"/>
              <a:t>MAC-then-Encrypt</a:t>
            </a:r>
            <a:r>
              <a:rPr lang="zh-CN" altLang="en-US" dirty="0"/>
              <a:t>（</a:t>
            </a:r>
            <a:r>
              <a:rPr lang="en-US" altLang="zh-CN" dirty="0" err="1"/>
              <a:t>MtE</a:t>
            </a:r>
            <a:r>
              <a:rPr lang="zh-CN" altLang="en-US" dirty="0"/>
              <a:t>，见图 </a:t>
            </a:r>
            <a:r>
              <a:rPr lang="en-US" altLang="zh-CN" dirty="0"/>
              <a:t>2.22</a:t>
            </a:r>
            <a:r>
              <a:rPr lang="zh-CN" altLang="en-US" dirty="0"/>
              <a:t>），先对明文计算 </a:t>
            </a:r>
            <a:r>
              <a:rPr lang="en-US" altLang="zh-CN" dirty="0"/>
              <a:t>MAC</a:t>
            </a:r>
            <a:r>
              <a:rPr lang="zh-CN" altLang="en-US" dirty="0"/>
              <a:t>，再对明文加密，例如 互联网络层安全协议（</a:t>
            </a:r>
            <a:r>
              <a:rPr lang="en-US" altLang="zh-CN" dirty="0"/>
              <a:t>IPsec</a:t>
            </a:r>
            <a:r>
              <a:rPr lang="zh-CN" altLang="en-US" dirty="0"/>
              <a:t>）。</a:t>
            </a:r>
          </a:p>
        </p:txBody>
      </p:sp>
      <p:pic>
        <p:nvPicPr>
          <p:cNvPr id="6" name="图片 5">
            <a:extLst>
              <a:ext uri="{FF2B5EF4-FFF2-40B4-BE49-F238E27FC236}">
                <a16:creationId xmlns:a16="http://schemas.microsoft.com/office/drawing/2014/main" id="{12B4F450-6F14-AFFC-681D-7FA97C645ACE}"/>
              </a:ext>
            </a:extLst>
          </p:cNvPr>
          <p:cNvPicPr>
            <a:picLocks noChangeAspect="1"/>
          </p:cNvPicPr>
          <p:nvPr/>
        </p:nvPicPr>
        <p:blipFill>
          <a:blip r:embed="rId2"/>
          <a:stretch>
            <a:fillRect/>
          </a:stretch>
        </p:blipFill>
        <p:spPr>
          <a:xfrm>
            <a:off x="4310158" y="3442505"/>
            <a:ext cx="2732099" cy="2490854"/>
          </a:xfrm>
          <a:prstGeom prst="rect">
            <a:avLst/>
          </a:prstGeom>
        </p:spPr>
      </p:pic>
      <p:pic>
        <p:nvPicPr>
          <p:cNvPr id="7" name="图片 6">
            <a:extLst>
              <a:ext uri="{FF2B5EF4-FFF2-40B4-BE49-F238E27FC236}">
                <a16:creationId xmlns:a16="http://schemas.microsoft.com/office/drawing/2014/main" id="{02DEA179-4F83-F692-6755-11F8B20A7401}"/>
              </a:ext>
            </a:extLst>
          </p:cNvPr>
          <p:cNvPicPr>
            <a:picLocks noChangeAspect="1"/>
          </p:cNvPicPr>
          <p:nvPr/>
        </p:nvPicPr>
        <p:blipFill>
          <a:blip r:embed="rId3"/>
          <a:stretch>
            <a:fillRect/>
          </a:stretch>
        </p:blipFill>
        <p:spPr>
          <a:xfrm>
            <a:off x="7042257" y="3442505"/>
            <a:ext cx="2526953" cy="2490854"/>
          </a:xfrm>
          <a:prstGeom prst="rect">
            <a:avLst/>
          </a:prstGeom>
        </p:spPr>
      </p:pic>
      <p:pic>
        <p:nvPicPr>
          <p:cNvPr id="8" name="图片 7">
            <a:extLst>
              <a:ext uri="{FF2B5EF4-FFF2-40B4-BE49-F238E27FC236}">
                <a16:creationId xmlns:a16="http://schemas.microsoft.com/office/drawing/2014/main" id="{FEF06A10-177F-6125-425E-59A82F49FE69}"/>
              </a:ext>
            </a:extLst>
          </p:cNvPr>
          <p:cNvPicPr>
            <a:picLocks noChangeAspect="1"/>
          </p:cNvPicPr>
          <p:nvPr/>
        </p:nvPicPr>
        <p:blipFill>
          <a:blip r:embed="rId4"/>
          <a:stretch>
            <a:fillRect/>
          </a:stretch>
        </p:blipFill>
        <p:spPr>
          <a:xfrm>
            <a:off x="9774356" y="3158115"/>
            <a:ext cx="2383471" cy="3059634"/>
          </a:xfrm>
          <a:prstGeom prst="rect">
            <a:avLst/>
          </a:prstGeom>
        </p:spPr>
      </p:pic>
    </p:spTree>
    <p:extLst>
      <p:ext uri="{BB962C8B-B14F-4D97-AF65-F5344CB8AC3E}">
        <p14:creationId xmlns:p14="http://schemas.microsoft.com/office/powerpoint/2010/main" val="8526684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7B38FF5-D392-3498-8609-C7FA48CD44AE}"/>
              </a:ext>
            </a:extLst>
          </p:cNvPr>
          <p:cNvSpPr>
            <a:spLocks noGrp="1"/>
          </p:cNvSpPr>
          <p:nvPr>
            <p:ph idx="1"/>
          </p:nvPr>
        </p:nvSpPr>
        <p:spPr/>
        <p:txBody>
          <a:bodyPr/>
          <a:lstStyle/>
          <a:p>
            <a:r>
              <a:rPr lang="zh-CN" altLang="en-US" dirty="0"/>
              <a:t>传统的工作模式不提供消息完整性的保证，新的工作模式</a:t>
            </a:r>
            <a:r>
              <a:rPr lang="en-US" altLang="zh-CN" dirty="0"/>
              <a:t>—</a:t>
            </a:r>
            <a:r>
              <a:rPr lang="zh-CN" altLang="en-US" dirty="0"/>
              <a:t>用于带关联数据的认证加密（</a:t>
            </a:r>
            <a:r>
              <a:rPr lang="en-US" altLang="zh-CN" dirty="0"/>
              <a:t>Authenticated Encryption with Associated Data</a:t>
            </a:r>
            <a:r>
              <a:rPr lang="zh-CN" altLang="en-US" dirty="0"/>
              <a:t>，</a:t>
            </a:r>
            <a:r>
              <a:rPr lang="en-US" altLang="zh-CN" dirty="0"/>
              <a:t>AEAD</a:t>
            </a:r>
            <a:r>
              <a:rPr lang="zh-CN" altLang="en-US" dirty="0"/>
              <a:t>）模式被设计成将加密和身份验证结合成一个单一的、高效的原语。</a:t>
            </a:r>
            <a:r>
              <a:rPr lang="en-US" altLang="zh-CN" dirty="0"/>
              <a:t>AEAD </a:t>
            </a:r>
            <a:r>
              <a:rPr lang="zh-CN" altLang="en-US" dirty="0"/>
              <a:t>模式的通用状态图如图</a:t>
            </a:r>
            <a:r>
              <a:rPr lang="en-US" altLang="zh-CN" dirty="0"/>
              <a:t>2.23</a:t>
            </a:r>
            <a:r>
              <a:rPr lang="zh-CN" altLang="en-US" dirty="0"/>
              <a:t>所示。</a:t>
            </a:r>
          </a:p>
        </p:txBody>
      </p:sp>
      <p:sp>
        <p:nvSpPr>
          <p:cNvPr id="3" name="灯片编号占位符 2">
            <a:extLst>
              <a:ext uri="{FF2B5EF4-FFF2-40B4-BE49-F238E27FC236}">
                <a16:creationId xmlns:a16="http://schemas.microsoft.com/office/drawing/2014/main" id="{F47749C6-DEE7-78FE-1583-94CF2A0AC72E}"/>
              </a:ext>
            </a:extLst>
          </p:cNvPr>
          <p:cNvSpPr>
            <a:spLocks noGrp="1"/>
          </p:cNvSpPr>
          <p:nvPr>
            <p:ph type="sldNum" sz="quarter" idx="4"/>
          </p:nvPr>
        </p:nvSpPr>
        <p:spPr/>
        <p:txBody>
          <a:bodyPr/>
          <a:lstStyle/>
          <a:p>
            <a:fld id="{4124EDF5-87F7-4AC5-8292-B04417157FC2}" type="slidenum">
              <a:rPr lang="zh-CN" altLang="en-US" smtClean="0"/>
              <a:t>32</a:t>
            </a:fld>
            <a:endParaRPr lang="zh-CN" altLang="en-US"/>
          </a:p>
        </p:txBody>
      </p:sp>
      <p:sp>
        <p:nvSpPr>
          <p:cNvPr id="4" name="标题 3">
            <a:extLst>
              <a:ext uri="{FF2B5EF4-FFF2-40B4-BE49-F238E27FC236}">
                <a16:creationId xmlns:a16="http://schemas.microsoft.com/office/drawing/2014/main" id="{DD80378E-6425-7CB6-7DFB-0614C22CA204}"/>
              </a:ext>
            </a:extLst>
          </p:cNvPr>
          <p:cNvSpPr>
            <a:spLocks noGrp="1"/>
          </p:cNvSpPr>
          <p:nvPr>
            <p:ph type="title"/>
          </p:nvPr>
        </p:nvSpPr>
        <p:spPr/>
        <p:txBody>
          <a:bodyPr/>
          <a:lstStyle/>
          <a:p>
            <a:r>
              <a:rPr lang="zh-CN" altLang="en-US" dirty="0"/>
              <a:t>语义安全的对称加密方案</a:t>
            </a:r>
          </a:p>
        </p:txBody>
      </p:sp>
      <p:pic>
        <p:nvPicPr>
          <p:cNvPr id="5" name="图片 4">
            <a:extLst>
              <a:ext uri="{FF2B5EF4-FFF2-40B4-BE49-F238E27FC236}">
                <a16:creationId xmlns:a16="http://schemas.microsoft.com/office/drawing/2014/main" id="{0D73284D-D53E-0190-4B11-10B6AE486E54}"/>
              </a:ext>
            </a:extLst>
          </p:cNvPr>
          <p:cNvPicPr>
            <a:picLocks noChangeAspect="1"/>
          </p:cNvPicPr>
          <p:nvPr/>
        </p:nvPicPr>
        <p:blipFill>
          <a:blip r:embed="rId2"/>
          <a:stretch>
            <a:fillRect/>
          </a:stretch>
        </p:blipFill>
        <p:spPr>
          <a:xfrm>
            <a:off x="3165902" y="2842307"/>
            <a:ext cx="5315489" cy="3883172"/>
          </a:xfrm>
          <a:prstGeom prst="rect">
            <a:avLst/>
          </a:prstGeom>
        </p:spPr>
      </p:pic>
    </p:spTree>
    <p:extLst>
      <p:ext uri="{BB962C8B-B14F-4D97-AF65-F5344CB8AC3E}">
        <p14:creationId xmlns:p14="http://schemas.microsoft.com/office/powerpoint/2010/main" val="34339362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CCEA6-60BF-1C7D-C242-E30AFABCFF37}"/>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EBA750C5-A2C0-1DD3-B03E-4969F9A649CF}"/>
              </a:ext>
            </a:extLst>
          </p:cNvPr>
          <p:cNvSpPr>
            <a:spLocks noGrp="1"/>
          </p:cNvSpPr>
          <p:nvPr>
            <p:ph type="sldNum" sz="quarter" idx="4"/>
          </p:nvPr>
        </p:nvSpPr>
        <p:spPr/>
        <p:txBody>
          <a:bodyPr/>
          <a:lstStyle/>
          <a:p>
            <a:fld id="{4124EDF5-87F7-4AC5-8292-B04417157FC2}" type="slidenum">
              <a:rPr lang="zh-CN" altLang="en-US" smtClean="0"/>
              <a:t>33</a:t>
            </a:fld>
            <a:endParaRPr lang="zh-CN" altLang="en-US"/>
          </a:p>
        </p:txBody>
      </p:sp>
      <p:sp>
        <p:nvSpPr>
          <p:cNvPr id="4" name="标题 3">
            <a:extLst>
              <a:ext uri="{FF2B5EF4-FFF2-40B4-BE49-F238E27FC236}">
                <a16:creationId xmlns:a16="http://schemas.microsoft.com/office/drawing/2014/main" id="{F7BE8EBF-8AEE-74BF-7F2D-FECFA09E3551}"/>
              </a:ext>
            </a:extLst>
          </p:cNvPr>
          <p:cNvSpPr>
            <a:spLocks noGrp="1"/>
          </p:cNvSpPr>
          <p:nvPr>
            <p:ph type="title"/>
          </p:nvPr>
        </p:nvSpPr>
        <p:spPr/>
        <p:txBody>
          <a:bodyPr/>
          <a:lstStyle/>
          <a:p>
            <a:endParaRPr lang="en-US"/>
          </a:p>
        </p:txBody>
      </p:sp>
      <p:sp>
        <p:nvSpPr>
          <p:cNvPr id="5" name="文本框 4">
            <a:extLst>
              <a:ext uri="{FF2B5EF4-FFF2-40B4-BE49-F238E27FC236}">
                <a16:creationId xmlns:a16="http://schemas.microsoft.com/office/drawing/2014/main" id="{B6B77CCC-F24B-4A2E-A622-0F77399C5092}"/>
              </a:ext>
            </a:extLst>
          </p:cNvPr>
          <p:cNvSpPr txBox="1"/>
          <p:nvPr/>
        </p:nvSpPr>
        <p:spPr>
          <a:xfrm>
            <a:off x="2913188" y="3113465"/>
            <a:ext cx="6365619" cy="92333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lang="zh-CN" altLang="en-US" dirty="0"/>
              <a:t>后量子密码</a:t>
            </a:r>
            <a:endPar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endParaRPr>
          </a:p>
        </p:txBody>
      </p:sp>
    </p:spTree>
    <p:extLst>
      <p:ext uri="{BB962C8B-B14F-4D97-AF65-F5344CB8AC3E}">
        <p14:creationId xmlns:p14="http://schemas.microsoft.com/office/powerpoint/2010/main" val="30057860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7441012-60EC-A1C2-A95B-741EC0B3EE77}"/>
              </a:ext>
            </a:extLst>
          </p:cNvPr>
          <p:cNvSpPr>
            <a:spLocks noGrp="1"/>
          </p:cNvSpPr>
          <p:nvPr>
            <p:ph idx="1"/>
          </p:nvPr>
        </p:nvSpPr>
        <p:spPr>
          <a:xfrm>
            <a:off x="379412" y="1080304"/>
            <a:ext cx="11464528" cy="5777695"/>
          </a:xfrm>
        </p:spPr>
        <p:txBody>
          <a:bodyPr/>
          <a:lstStyle/>
          <a:p>
            <a:pPr>
              <a:lnSpc>
                <a:spcPct val="100000"/>
              </a:lnSpc>
            </a:pPr>
            <a:r>
              <a:rPr lang="zh-CN" altLang="en-US" dirty="0"/>
              <a:t>量子算法威胁</a:t>
            </a:r>
          </a:p>
          <a:p>
            <a:pPr lvl="1">
              <a:lnSpc>
                <a:spcPct val="100000"/>
              </a:lnSpc>
              <a:buFont typeface="Arial" panose="020B0604020202020204" pitchFamily="34" charset="0"/>
              <a:buChar char="–"/>
            </a:pPr>
            <a:r>
              <a:rPr lang="en-US" altLang="zh-CN" dirty="0"/>
              <a:t>Shor</a:t>
            </a:r>
            <a:r>
              <a:rPr lang="zh-CN" altLang="en-US" dirty="0"/>
              <a:t>算法：可分解大整数 → 使</a:t>
            </a:r>
            <a:r>
              <a:rPr lang="en-US" altLang="zh-CN" dirty="0"/>
              <a:t>RSA</a:t>
            </a:r>
            <a:r>
              <a:rPr lang="zh-CN" altLang="en-US" dirty="0"/>
              <a:t>、</a:t>
            </a:r>
            <a:r>
              <a:rPr lang="en-US" altLang="zh-CN" dirty="0"/>
              <a:t>Diffie-Hellman</a:t>
            </a:r>
            <a:r>
              <a:rPr lang="zh-CN" altLang="en-US" dirty="0"/>
              <a:t>等公钥算法失效</a:t>
            </a:r>
          </a:p>
          <a:p>
            <a:pPr lvl="1">
              <a:lnSpc>
                <a:spcPct val="100000"/>
              </a:lnSpc>
              <a:buFont typeface="Arial" panose="020B0604020202020204" pitchFamily="34" charset="0"/>
              <a:buChar char="–"/>
            </a:pPr>
            <a:r>
              <a:rPr lang="en-US" altLang="zh-CN" dirty="0"/>
              <a:t>Grover</a:t>
            </a:r>
            <a:r>
              <a:rPr lang="zh-CN" altLang="en-US" dirty="0"/>
              <a:t>算法：等效于密钥长度减半 → 加速对称加密攻击</a:t>
            </a:r>
          </a:p>
          <a:p>
            <a:pPr>
              <a:lnSpc>
                <a:spcPct val="100000"/>
              </a:lnSpc>
            </a:pPr>
            <a:r>
              <a:rPr lang="zh-CN" altLang="en-US" dirty="0"/>
              <a:t>安全影响</a:t>
            </a:r>
          </a:p>
          <a:p>
            <a:pPr lvl="1">
              <a:lnSpc>
                <a:spcPct val="100000"/>
              </a:lnSpc>
              <a:buFont typeface="Arial" panose="020B0604020202020204" pitchFamily="34" charset="0"/>
              <a:buChar char="–"/>
            </a:pPr>
            <a:r>
              <a:rPr lang="zh-CN" altLang="en-US" dirty="0"/>
              <a:t>公钥密码体系几乎全部失效</a:t>
            </a:r>
          </a:p>
          <a:p>
            <a:pPr lvl="1">
              <a:lnSpc>
                <a:spcPct val="100000"/>
              </a:lnSpc>
              <a:buFont typeface="Arial" panose="020B0604020202020204" pitchFamily="34" charset="0"/>
              <a:buChar char="–"/>
            </a:pPr>
            <a:r>
              <a:rPr lang="zh-CN" altLang="en-US" dirty="0"/>
              <a:t>对称密码与哈希算法需更长密钥或输出长度才能保持安全</a:t>
            </a:r>
          </a:p>
          <a:p>
            <a:pPr lvl="1">
              <a:lnSpc>
                <a:spcPct val="100000"/>
              </a:lnSpc>
              <a:buFont typeface="Arial" panose="020B0604020202020204" pitchFamily="34" charset="0"/>
              <a:buChar char="–"/>
            </a:pPr>
            <a:r>
              <a:rPr lang="zh-CN" altLang="en-US" dirty="0"/>
              <a:t>若无改进，量子计算实用化将导致全球网络安全体系崩溃</a:t>
            </a:r>
          </a:p>
          <a:p>
            <a:pPr>
              <a:lnSpc>
                <a:spcPct val="100000"/>
              </a:lnSpc>
            </a:pPr>
            <a:r>
              <a:rPr lang="zh-CN" altLang="en-US" dirty="0"/>
              <a:t>后量子密码学（</a:t>
            </a:r>
            <a:r>
              <a:rPr lang="en-US" altLang="zh-CN" dirty="0"/>
              <a:t>PQC</a:t>
            </a:r>
            <a:r>
              <a:rPr lang="zh-CN" altLang="en-US" dirty="0"/>
              <a:t>）</a:t>
            </a:r>
          </a:p>
          <a:p>
            <a:pPr lvl="1">
              <a:lnSpc>
                <a:spcPct val="100000"/>
              </a:lnSpc>
              <a:buFont typeface="Arial" panose="020B0604020202020204" pitchFamily="34" charset="0"/>
              <a:buChar char="–"/>
            </a:pPr>
            <a:r>
              <a:rPr lang="zh-CN" altLang="en-US" dirty="0"/>
              <a:t>基于量子计算难以高效解决的数学问题</a:t>
            </a:r>
          </a:p>
          <a:p>
            <a:pPr lvl="1">
              <a:lnSpc>
                <a:spcPct val="100000"/>
              </a:lnSpc>
              <a:buFont typeface="Arial" panose="020B0604020202020204" pitchFamily="34" charset="0"/>
              <a:buChar char="–"/>
            </a:pPr>
            <a:r>
              <a:rPr lang="zh-CN" altLang="en-US" dirty="0"/>
              <a:t>研究重点：公钥密码体制</a:t>
            </a:r>
          </a:p>
          <a:p>
            <a:pPr lvl="1">
              <a:lnSpc>
                <a:spcPct val="100000"/>
              </a:lnSpc>
              <a:buFont typeface="Arial" panose="020B0604020202020204" pitchFamily="34" charset="0"/>
              <a:buChar char="–"/>
            </a:pPr>
            <a:r>
              <a:rPr lang="zh-CN" altLang="en-US" dirty="0"/>
              <a:t>各国政府与机构积极推进，逐步替代现有算法</a:t>
            </a:r>
          </a:p>
          <a:p>
            <a:pPr lvl="1">
              <a:lnSpc>
                <a:spcPct val="100000"/>
              </a:lnSpc>
              <a:buFont typeface="Arial" panose="020B0604020202020204" pitchFamily="34" charset="0"/>
              <a:buChar char="–"/>
            </a:pPr>
            <a:r>
              <a:rPr lang="zh-CN" altLang="en-US" dirty="0"/>
              <a:t>目标：构建能够抵御量子计算威胁的安全体系</a:t>
            </a:r>
          </a:p>
          <a:p>
            <a:pPr marL="0" indent="0">
              <a:lnSpc>
                <a:spcPct val="100000"/>
              </a:lnSpc>
              <a:buNone/>
            </a:pPr>
            <a:endParaRPr lang="zh-CN" altLang="en-US" dirty="0"/>
          </a:p>
        </p:txBody>
      </p:sp>
      <p:sp>
        <p:nvSpPr>
          <p:cNvPr id="3" name="灯片编号占位符 2">
            <a:extLst>
              <a:ext uri="{FF2B5EF4-FFF2-40B4-BE49-F238E27FC236}">
                <a16:creationId xmlns:a16="http://schemas.microsoft.com/office/drawing/2014/main" id="{D111AF06-3BEC-D6AE-F100-7CBA9F02AED2}"/>
              </a:ext>
            </a:extLst>
          </p:cNvPr>
          <p:cNvSpPr>
            <a:spLocks noGrp="1"/>
          </p:cNvSpPr>
          <p:nvPr>
            <p:ph type="sldNum" sz="quarter" idx="4"/>
          </p:nvPr>
        </p:nvSpPr>
        <p:spPr/>
        <p:txBody>
          <a:bodyPr/>
          <a:lstStyle/>
          <a:p>
            <a:fld id="{4124EDF5-87F7-4AC5-8292-B04417157FC2}" type="slidenum">
              <a:rPr lang="zh-CN" altLang="en-US" smtClean="0"/>
              <a:t>34</a:t>
            </a:fld>
            <a:endParaRPr lang="zh-CN" altLang="en-US"/>
          </a:p>
        </p:txBody>
      </p:sp>
      <p:sp>
        <p:nvSpPr>
          <p:cNvPr id="4" name="标题 3">
            <a:extLst>
              <a:ext uri="{FF2B5EF4-FFF2-40B4-BE49-F238E27FC236}">
                <a16:creationId xmlns:a16="http://schemas.microsoft.com/office/drawing/2014/main" id="{A0F0E583-5F39-2A2A-530C-1DBBA2BB2009}"/>
              </a:ext>
            </a:extLst>
          </p:cNvPr>
          <p:cNvSpPr>
            <a:spLocks noGrp="1"/>
          </p:cNvSpPr>
          <p:nvPr>
            <p:ph type="title"/>
          </p:nvPr>
        </p:nvSpPr>
        <p:spPr/>
        <p:txBody>
          <a:bodyPr/>
          <a:lstStyle/>
          <a:p>
            <a:r>
              <a:rPr lang="zh-CN" altLang="en-US" dirty="0"/>
              <a:t>后量子密码简介 </a:t>
            </a:r>
          </a:p>
        </p:txBody>
      </p:sp>
    </p:spTree>
    <p:extLst>
      <p:ext uri="{BB962C8B-B14F-4D97-AF65-F5344CB8AC3E}">
        <p14:creationId xmlns:p14="http://schemas.microsoft.com/office/powerpoint/2010/main" val="27963717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7F9F0125-3741-D54B-1E28-659C86382097}"/>
                  </a:ext>
                </a:extLst>
              </p:cNvPr>
              <p:cNvSpPr>
                <a:spLocks noGrp="1"/>
              </p:cNvSpPr>
              <p:nvPr>
                <p:ph idx="1"/>
              </p:nvPr>
            </p:nvSpPr>
            <p:spPr>
              <a:xfrm>
                <a:off x="371301" y="1232704"/>
                <a:ext cx="11464528" cy="5509407"/>
              </a:xfrm>
            </p:spPr>
            <p:txBody>
              <a:bodyPr/>
              <a:lstStyle/>
              <a:p>
                <a:r>
                  <a:rPr lang="zh-CN" altLang="en-US" dirty="0"/>
                  <a:t>基于格的后量子密码</a:t>
                </a:r>
                <a:endParaRPr lang="en-US" altLang="zh-CN" dirty="0"/>
              </a:p>
              <a:p>
                <a:pPr lvl="1"/>
                <a:r>
                  <a:rPr lang="zh-CN" altLang="en-US" dirty="0"/>
                  <a:t>由于基于格的密码具有良好的可拓展性，因此它是目前最通用的一类后量子密码。其中最知名的密码体制为数论研究单元（</a:t>
                </a:r>
                <a:r>
                  <a:rPr lang="en-US" altLang="zh-CN" dirty="0"/>
                  <a:t>Number Theory Research Unit</a:t>
                </a:r>
                <a:r>
                  <a:rPr lang="zh-CN" altLang="en-US" dirty="0"/>
                  <a:t>，</a:t>
                </a:r>
                <a:r>
                  <a:rPr lang="en-US" altLang="zh-CN" dirty="0"/>
                  <a:t>NTRU</a:t>
                </a:r>
                <a:r>
                  <a:rPr lang="zh-CN" altLang="en-US" dirty="0"/>
                  <a:t>）</a:t>
                </a:r>
                <a:endParaRPr lang="en-US" altLang="zh-CN" dirty="0"/>
              </a:p>
              <a:p>
                <a:pPr lvl="1"/>
                <a:r>
                  <a:rPr lang="en-US" altLang="zh-CN" dirty="0"/>
                  <a:t>NTRU</a:t>
                </a:r>
                <a:r>
                  <a:rPr lang="zh-CN" altLang="en-US" dirty="0"/>
                  <a:t>的工作原理如下：公钥是</a:t>
                </a:r>
                <a:r>
                  <a:rPr lang="en-US" altLang="zh-CN" dirty="0"/>
                  <a:t>p-</a:t>
                </a:r>
                <a:r>
                  <a:rPr lang="zh-CN" altLang="en-US" dirty="0"/>
                  <a:t>系数多项式</a:t>
                </a:r>
                <a14:m>
                  <m:oMath xmlns:m="http://schemas.openxmlformats.org/officeDocument/2006/math">
                    <m:r>
                      <a:rPr lang="en-US" altLang="zh-CN" b="1" i="1" smtClean="0">
                        <a:latin typeface="Cambria Math" panose="02040503050406030204" pitchFamily="18" charset="0"/>
                      </a:rPr>
                      <m:t>𝒉</m:t>
                    </m:r>
                    <m:r>
                      <a:rPr lang="en-US" altLang="zh-CN" b="1"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𝒉</m:t>
                        </m:r>
                      </m:e>
                      <m:sub>
                        <m:r>
                          <a:rPr lang="en-US" altLang="zh-CN" b="1" i="1" smtClean="0">
                            <a:latin typeface="Cambria Math" panose="02040503050406030204" pitchFamily="18" charset="0"/>
                          </a:rPr>
                          <m:t>𝟎</m:t>
                        </m:r>
                      </m:sub>
                    </m:sSub>
                    <m:r>
                      <a:rPr lang="en-US" altLang="zh-CN" b="1"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𝒉</m:t>
                        </m:r>
                      </m:e>
                      <m:sub>
                        <m:r>
                          <a:rPr lang="en-US" altLang="zh-CN" b="1" i="1" smtClean="0">
                            <a:latin typeface="Cambria Math" panose="02040503050406030204" pitchFamily="18" charset="0"/>
                          </a:rPr>
                          <m:t>𝟏</m:t>
                        </m:r>
                      </m:sub>
                    </m:sSub>
                    <m:r>
                      <a:rPr lang="en-US" altLang="zh-CN" b="1" i="1" smtClean="0">
                        <a:latin typeface="Cambria Math" panose="02040503050406030204" pitchFamily="18" charset="0"/>
                      </a:rPr>
                      <m:t>𝒙</m:t>
                    </m:r>
                    <m:r>
                      <a:rPr lang="en-US" altLang="zh-CN" b="1"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𝒉</m:t>
                        </m:r>
                      </m:e>
                      <m:sub>
                        <m:r>
                          <a:rPr lang="en-US" altLang="zh-CN" b="1" i="1" smtClean="0">
                            <a:latin typeface="Cambria Math" panose="02040503050406030204" pitchFamily="18" charset="0"/>
                          </a:rPr>
                          <m:t>𝒑</m:t>
                        </m:r>
                        <m:r>
                          <a:rPr lang="en-US" altLang="zh-CN" b="1" i="1" smtClean="0">
                            <a:latin typeface="Cambria Math" panose="02040503050406030204" pitchFamily="18" charset="0"/>
                          </a:rPr>
                          <m:t>−</m:t>
                        </m:r>
                        <m:r>
                          <a:rPr lang="en-US" altLang="zh-CN" b="1" i="1" smtClean="0">
                            <a:latin typeface="Cambria Math" panose="02040503050406030204" pitchFamily="18" charset="0"/>
                          </a:rPr>
                          <m:t>𝟏</m:t>
                        </m:r>
                      </m:sub>
                    </m:sSub>
                    <m:sSup>
                      <m:sSupPr>
                        <m:ctrlPr>
                          <a:rPr lang="en-US" altLang="zh-CN" i="1" smtClean="0">
                            <a:latin typeface="Cambria Math" panose="02040503050406030204" pitchFamily="18" charset="0"/>
                          </a:rPr>
                        </m:ctrlPr>
                      </m:sSupPr>
                      <m:e>
                        <m:r>
                          <a:rPr lang="en-US" altLang="zh-CN" b="1" i="1" smtClean="0">
                            <a:latin typeface="Cambria Math" panose="02040503050406030204" pitchFamily="18" charset="0"/>
                          </a:rPr>
                          <m:t>𝒙</m:t>
                        </m:r>
                      </m:e>
                      <m:sup>
                        <m:r>
                          <a:rPr lang="en-US" altLang="zh-CN" b="1" i="1" smtClean="0">
                            <a:latin typeface="Cambria Math" panose="02040503050406030204" pitchFamily="18" charset="0"/>
                          </a:rPr>
                          <m:t>𝒑</m:t>
                        </m:r>
                        <m:r>
                          <a:rPr lang="en-US" altLang="zh-CN" b="1" i="1" smtClean="0">
                            <a:latin typeface="Cambria Math" panose="02040503050406030204" pitchFamily="18" charset="0"/>
                          </a:rPr>
                          <m:t>−</m:t>
                        </m:r>
                        <m:r>
                          <a:rPr lang="en-US" altLang="zh-CN" b="1" i="1" smtClean="0">
                            <a:latin typeface="Cambria Math" panose="02040503050406030204" pitchFamily="18" charset="0"/>
                          </a:rPr>
                          <m:t>𝟏</m:t>
                        </m:r>
                      </m:sup>
                    </m:sSup>
                    <m:r>
                      <a:rPr lang="en-US" altLang="zh-CN" b="1" i="1" smtClean="0">
                        <a:latin typeface="Cambria Math" panose="02040503050406030204" pitchFamily="18" charset="0"/>
                      </a:rPr>
                      <m:t> ,</m:t>
                    </m:r>
                    <m:r>
                      <a:rPr lang="zh-CN" altLang="en-US" b="1" i="1">
                        <a:latin typeface="Cambria Math" panose="02040503050406030204" pitchFamily="18" charset="0"/>
                      </a:rPr>
                      <m:t>其中</m:t>
                    </m:r>
                    <m:sSub>
                      <m:sSubPr>
                        <m:ctrlPr>
                          <a:rPr lang="en-US" altLang="zh-CN" i="1" smtClean="0">
                            <a:latin typeface="Cambria Math" panose="02040503050406030204" pitchFamily="18" charset="0"/>
                          </a:rPr>
                        </m:ctrlPr>
                      </m:sSubPr>
                      <m:e>
                        <m:r>
                          <a:rPr lang="en-US" altLang="zh-CN" b="1" i="1" smtClean="0">
                            <a:latin typeface="Cambria Math" panose="02040503050406030204" pitchFamily="18" charset="0"/>
                          </a:rPr>
                          <m:t>𝒉</m:t>
                        </m:r>
                      </m:e>
                      <m:sub>
                        <m:r>
                          <a:rPr lang="en-US" altLang="zh-CN" b="1" i="1" smtClean="0">
                            <a:latin typeface="Cambria Math" panose="02040503050406030204" pitchFamily="18" charset="0"/>
                          </a:rPr>
                          <m:t>𝒊</m:t>
                        </m:r>
                      </m:sub>
                    </m:sSub>
                    <m:r>
                      <a:rPr lang="en-US" altLang="zh-CN" b="1" i="1" smtClean="0">
                        <a:latin typeface="Cambria Math" panose="02040503050406030204" pitchFamily="18" charset="0"/>
                      </a:rPr>
                      <m:t>∈{</m:t>
                    </m:r>
                    <m:r>
                      <a:rPr lang="en-US" altLang="zh-CN" b="1" i="1" smtClean="0">
                        <a:latin typeface="Cambria Math" panose="02040503050406030204" pitchFamily="18" charset="0"/>
                      </a:rPr>
                      <m:t>𝟎</m:t>
                    </m:r>
                    <m:r>
                      <a:rPr lang="en-US" altLang="zh-CN" b="1" i="1" smtClean="0">
                        <a:latin typeface="Cambria Math" panose="02040503050406030204" pitchFamily="18" charset="0"/>
                      </a:rPr>
                      <m:t>,</m:t>
                    </m:r>
                    <m:r>
                      <a:rPr lang="en-US" altLang="zh-CN" b="1" i="1" smtClean="0">
                        <a:latin typeface="Cambria Math" panose="02040503050406030204" pitchFamily="18" charset="0"/>
                      </a:rPr>
                      <m:t>𝟏</m:t>
                    </m:r>
                    <m:r>
                      <a:rPr lang="en-US" altLang="zh-CN" b="1" i="1" smtClean="0">
                        <a:latin typeface="Cambria Math" panose="02040503050406030204" pitchFamily="18" charset="0"/>
                      </a:rPr>
                      <m:t>,…,</m:t>
                    </m:r>
                    <m:r>
                      <a:rPr lang="en-US" altLang="zh-CN" b="1" i="1" smtClean="0">
                        <a:latin typeface="Cambria Math" panose="02040503050406030204" pitchFamily="18" charset="0"/>
                      </a:rPr>
                      <m:t>𝒒</m:t>
                    </m:r>
                    <m:r>
                      <a:rPr lang="en-US" altLang="zh-CN" b="1" i="1" smtClean="0">
                        <a:latin typeface="Cambria Math" panose="02040503050406030204" pitchFamily="18" charset="0"/>
                      </a:rPr>
                      <m:t>−</m:t>
                    </m:r>
                    <m:r>
                      <a:rPr lang="en-US" altLang="zh-CN" b="1" i="1" smtClean="0">
                        <a:latin typeface="Cambria Math" panose="02040503050406030204" pitchFamily="18" charset="0"/>
                      </a:rPr>
                      <m:t>𝟏</m:t>
                    </m:r>
                    <m:r>
                      <a:rPr lang="en-US" altLang="zh-CN" b="1" i="1" smtClean="0">
                        <a:latin typeface="Cambria Math" panose="02040503050406030204" pitchFamily="18" charset="0"/>
                      </a:rPr>
                      <m:t>}</m:t>
                    </m:r>
                    <m:r>
                      <a:rPr lang="zh-CN" altLang="en-US" b="1" i="1">
                        <a:latin typeface="Cambria Math" panose="02040503050406030204" pitchFamily="18" charset="0"/>
                      </a:rPr>
                      <m:t>。</m:t>
                    </m:r>
                  </m:oMath>
                </a14:m>
                <a:r>
                  <a:rPr lang="zh-CN" altLang="en-US" dirty="0"/>
                  <a:t>加密时，选择两个秘密多项式</a:t>
                </a:r>
                <a:r>
                  <a:rPr lang="en-US" altLang="zh-CN" dirty="0"/>
                  <a:t>d</a:t>
                </a:r>
                <a:r>
                  <a:rPr lang="zh-CN" altLang="en-US" dirty="0"/>
                  <a:t>和</a:t>
                </a:r>
                <a:r>
                  <a:rPr lang="en-US" altLang="zh-CN" dirty="0"/>
                  <a:t>e</a:t>
                </a:r>
                <a:r>
                  <a:rPr lang="zh-CN" altLang="en-US" dirty="0"/>
                  <a:t>，密文</a:t>
                </a:r>
                <a:r>
                  <a:rPr lang="en-US" altLang="zh-CN" dirty="0"/>
                  <a:t>c</a:t>
                </a:r>
                <a:r>
                  <a:rPr lang="zh-CN" altLang="en-US" dirty="0"/>
                  <a:t>是同范围的另一个多项式，</a:t>
                </a:r>
                <a14:m>
                  <m:oMath xmlns:m="http://schemas.openxmlformats.org/officeDocument/2006/math">
                    <m:r>
                      <a:rPr lang="en-US" altLang="zh-CN" b="1" i="1">
                        <a:latin typeface="Cambria Math" panose="02040503050406030204" pitchFamily="18" charset="0"/>
                      </a:rPr>
                      <m:t>𝒄</m:t>
                    </m:r>
                    <m:r>
                      <a:rPr lang="zh-CN" altLang="en-US" b="1" i="1" smtClean="0">
                        <a:latin typeface="Cambria Math" panose="02040503050406030204" pitchFamily="18" charset="0"/>
                      </a:rPr>
                      <m:t>通过</m:t>
                    </m:r>
                    <m:r>
                      <a:rPr lang="en-US" altLang="zh-CN" b="1" i="1">
                        <a:latin typeface="Cambria Math" panose="02040503050406030204" pitchFamily="18" charset="0"/>
                      </a:rPr>
                      <m:t>𝒄</m:t>
                    </m:r>
                    <m:r>
                      <a:rPr lang="en-US" altLang="zh-CN" b="1" i="1" smtClean="0">
                        <a:latin typeface="Cambria Math" panose="02040503050406030204" pitchFamily="18" charset="0"/>
                      </a:rPr>
                      <m:t>=</m:t>
                    </m:r>
                    <m:d>
                      <m:dPr>
                        <m:ctrlPr>
                          <a:rPr lang="en-US" altLang="zh-CN" i="1" smtClean="0">
                            <a:latin typeface="Cambria Math" panose="02040503050406030204" pitchFamily="18" charset="0"/>
                          </a:rPr>
                        </m:ctrlPr>
                      </m:dPr>
                      <m:e>
                        <m:d>
                          <m:dPr>
                            <m:ctrlPr>
                              <a:rPr lang="en-US" altLang="zh-CN" i="1" smtClean="0">
                                <a:latin typeface="Cambria Math" panose="02040503050406030204" pitchFamily="18" charset="0"/>
                              </a:rPr>
                            </m:ctrlPr>
                          </m:dPr>
                          <m:e>
                            <m:r>
                              <a:rPr lang="en-US" altLang="zh-CN" b="1" i="1" smtClean="0">
                                <a:latin typeface="Cambria Math" panose="02040503050406030204" pitchFamily="18" charset="0"/>
                              </a:rPr>
                              <m:t>𝒉𝒅</m:t>
                            </m:r>
                            <m:r>
                              <a:rPr lang="en-US" altLang="zh-CN" b="1" i="1" smtClean="0">
                                <a:latin typeface="Cambria Math" panose="02040503050406030204" pitchFamily="18" charset="0"/>
                              </a:rPr>
                              <m:t>+</m:t>
                            </m:r>
                            <m:r>
                              <a:rPr lang="en-US" altLang="zh-CN" b="1" i="1" smtClean="0">
                                <a:latin typeface="Cambria Math" panose="02040503050406030204" pitchFamily="18" charset="0"/>
                              </a:rPr>
                              <m:t>𝒆</m:t>
                            </m:r>
                          </m:e>
                        </m:d>
                        <m:r>
                          <a:rPr lang="en-US" altLang="zh-CN" b="1" i="1" smtClean="0">
                            <a:latin typeface="Cambria Math" panose="02040503050406030204" pitchFamily="18" charset="0"/>
                          </a:rPr>
                          <m:t>𝒎𝒐𝒅</m:t>
                        </m:r>
                        <m:r>
                          <a:rPr lang="en-US" altLang="zh-CN" b="1" i="1" smtClean="0">
                            <a:latin typeface="Cambria Math" panose="02040503050406030204" pitchFamily="18" charset="0"/>
                          </a:rPr>
                          <m:t> </m:t>
                        </m:r>
                        <m:sSup>
                          <m:sSupPr>
                            <m:ctrlPr>
                              <a:rPr lang="en-US" altLang="zh-CN" i="1" smtClean="0">
                                <a:latin typeface="Cambria Math" panose="02040503050406030204" pitchFamily="18" charset="0"/>
                              </a:rPr>
                            </m:ctrlPr>
                          </m:sSupPr>
                          <m:e>
                            <m:r>
                              <a:rPr lang="en-US" altLang="zh-CN" b="1" i="1" smtClean="0">
                                <a:latin typeface="Cambria Math" panose="02040503050406030204" pitchFamily="18" charset="0"/>
                              </a:rPr>
                              <m:t>𝒙</m:t>
                            </m:r>
                          </m:e>
                          <m:sup>
                            <m:r>
                              <a:rPr lang="en-US" altLang="zh-CN" b="1" i="1" smtClean="0">
                                <a:latin typeface="Cambria Math" panose="02040503050406030204" pitchFamily="18" charset="0"/>
                              </a:rPr>
                              <m:t>𝒑</m:t>
                            </m:r>
                          </m:sup>
                        </m:sSup>
                        <m:r>
                          <a:rPr lang="en-US" altLang="zh-CN" b="1" i="1" smtClean="0">
                            <a:latin typeface="Cambria Math" panose="02040503050406030204" pitchFamily="18" charset="0"/>
                          </a:rPr>
                          <m:t>−</m:t>
                        </m:r>
                        <m:r>
                          <a:rPr lang="en-US" altLang="zh-CN" b="1" i="1" smtClean="0">
                            <a:latin typeface="Cambria Math" panose="02040503050406030204" pitchFamily="18" charset="0"/>
                          </a:rPr>
                          <m:t>𝟏</m:t>
                        </m:r>
                      </m:e>
                    </m:d>
                    <m:r>
                      <a:rPr lang="en-US" altLang="zh-CN" b="1" i="1" smtClean="0">
                        <a:latin typeface="Cambria Math" panose="02040503050406030204" pitchFamily="18" charset="0"/>
                      </a:rPr>
                      <m:t>𝒎𝒐𝒅</m:t>
                    </m:r>
                    <m:r>
                      <a:rPr lang="en-US" altLang="zh-CN" b="1" i="1" smtClean="0">
                        <a:latin typeface="Cambria Math" panose="02040503050406030204" pitchFamily="18" charset="0"/>
                      </a:rPr>
                      <m:t> </m:t>
                    </m:r>
                    <m:r>
                      <a:rPr lang="en-US" altLang="zh-CN" b="1" i="1" smtClean="0">
                        <a:latin typeface="Cambria Math" panose="02040503050406030204" pitchFamily="18" charset="0"/>
                      </a:rPr>
                      <m:t>𝒒</m:t>
                    </m:r>
                  </m:oMath>
                </a14:m>
                <a:r>
                  <a:rPr lang="zh-CN" altLang="en-US" dirty="0"/>
                  <a:t>得到。</a:t>
                </a:r>
                <a:endParaRPr lang="en-US" altLang="zh-CN" dirty="0"/>
              </a:p>
              <a:p>
                <a:r>
                  <a:rPr lang="zh-CN" altLang="en-US" dirty="0"/>
                  <a:t>基于编码的后量子密码</a:t>
                </a:r>
                <a:endParaRPr lang="en-US" altLang="zh-CN" dirty="0"/>
              </a:p>
              <a:p>
                <a:pPr lvl="1"/>
                <a:r>
                  <a:rPr lang="zh-CN" altLang="en-US" dirty="0"/>
                  <a:t>基于编码的后量子密码使用纠错码等对加入的随机性错误进行纠正和计算。</a:t>
                </a:r>
                <a:endParaRPr lang="en-US" altLang="zh-CN" dirty="0"/>
              </a:p>
              <a:p>
                <a:r>
                  <a:rPr lang="zh-CN" altLang="en-US" dirty="0"/>
                  <a:t>基于哈希算法的后量子密码</a:t>
                </a:r>
                <a:endParaRPr lang="en-US" altLang="zh-CN" dirty="0"/>
              </a:p>
              <a:p>
                <a:pPr lvl="1"/>
                <a:r>
                  <a:rPr lang="zh-CN" altLang="en-US" dirty="0"/>
                  <a:t>基于哈希算法的密码体制的安全核心是运用了哈希算法的抗碰撞性，由传统的哈希函数构造并实现数字签名。</a:t>
                </a:r>
              </a:p>
            </p:txBody>
          </p:sp>
        </mc:Choice>
        <mc:Fallback xmlns="">
          <p:sp>
            <p:nvSpPr>
              <p:cNvPr id="2" name="内容占位符 1">
                <a:extLst>
                  <a:ext uri="{FF2B5EF4-FFF2-40B4-BE49-F238E27FC236}">
                    <a16:creationId xmlns:a16="http://schemas.microsoft.com/office/drawing/2014/main" id="{7F9F0125-3741-D54B-1E28-659C86382097}"/>
                  </a:ext>
                </a:extLst>
              </p:cNvPr>
              <p:cNvSpPr>
                <a:spLocks noGrp="1" noRot="1" noChangeAspect="1" noMove="1" noResize="1" noEditPoints="1" noAdjustHandles="1" noChangeArrowheads="1" noChangeShapeType="1" noTextEdit="1"/>
              </p:cNvSpPr>
              <p:nvPr>
                <p:ph idx="1"/>
              </p:nvPr>
            </p:nvSpPr>
            <p:spPr>
              <a:xfrm>
                <a:off x="371301" y="1232704"/>
                <a:ext cx="11464528" cy="5509407"/>
              </a:xfrm>
              <a:blipFill>
                <a:blip r:embed="rId2"/>
                <a:stretch>
                  <a:fillRect l="-957" t="-664" r="-638" b="-1438"/>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49B28FD3-2CDA-B13F-36E0-4132366A7F37}"/>
              </a:ext>
            </a:extLst>
          </p:cNvPr>
          <p:cNvSpPr>
            <a:spLocks noGrp="1"/>
          </p:cNvSpPr>
          <p:nvPr>
            <p:ph type="sldNum" sz="quarter" idx="4"/>
          </p:nvPr>
        </p:nvSpPr>
        <p:spPr/>
        <p:txBody>
          <a:bodyPr/>
          <a:lstStyle/>
          <a:p>
            <a:fld id="{4124EDF5-87F7-4AC5-8292-B04417157FC2}" type="slidenum">
              <a:rPr lang="zh-CN" altLang="en-US" smtClean="0"/>
              <a:t>35</a:t>
            </a:fld>
            <a:endParaRPr lang="zh-CN" altLang="en-US"/>
          </a:p>
        </p:txBody>
      </p:sp>
      <p:sp>
        <p:nvSpPr>
          <p:cNvPr id="4" name="标题 3">
            <a:extLst>
              <a:ext uri="{FF2B5EF4-FFF2-40B4-BE49-F238E27FC236}">
                <a16:creationId xmlns:a16="http://schemas.microsoft.com/office/drawing/2014/main" id="{B181F1C4-8A49-0D5A-75C2-A74E4B3417D9}"/>
              </a:ext>
            </a:extLst>
          </p:cNvPr>
          <p:cNvSpPr>
            <a:spLocks noGrp="1"/>
          </p:cNvSpPr>
          <p:nvPr>
            <p:ph type="title"/>
          </p:nvPr>
        </p:nvSpPr>
        <p:spPr/>
        <p:txBody>
          <a:bodyPr/>
          <a:lstStyle/>
          <a:p>
            <a:r>
              <a:rPr lang="zh-CN" altLang="en-US" dirty="0"/>
              <a:t>常见的后量子密码体制</a:t>
            </a:r>
          </a:p>
        </p:txBody>
      </p:sp>
    </p:spTree>
    <p:extLst>
      <p:ext uri="{BB962C8B-B14F-4D97-AF65-F5344CB8AC3E}">
        <p14:creationId xmlns:p14="http://schemas.microsoft.com/office/powerpoint/2010/main" val="1350471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6421EB6-D484-697B-0466-94994544B27A}"/>
              </a:ext>
            </a:extLst>
          </p:cNvPr>
          <p:cNvSpPr>
            <a:spLocks noGrp="1"/>
          </p:cNvSpPr>
          <p:nvPr>
            <p:ph idx="1"/>
          </p:nvPr>
        </p:nvSpPr>
        <p:spPr>
          <a:xfrm>
            <a:off x="371303" y="1353758"/>
            <a:ext cx="11596716" cy="5047042"/>
          </a:xfrm>
        </p:spPr>
        <p:txBody>
          <a:bodyPr/>
          <a:lstStyle/>
          <a:p>
            <a:pPr>
              <a:lnSpc>
                <a:spcPts val="2200"/>
              </a:lnSpc>
              <a:buFont typeface="Arial" panose="020B0604020202020204" pitchFamily="34" charset="0"/>
              <a:buChar char="•"/>
            </a:pPr>
            <a:r>
              <a:rPr lang="en-US" altLang="zh-CN" sz="2000" dirty="0"/>
              <a:t>NIST </a:t>
            </a:r>
            <a:r>
              <a:rPr lang="zh-CN" altLang="en-US" sz="2000" dirty="0"/>
              <a:t>标准（</a:t>
            </a:r>
            <a:r>
              <a:rPr lang="en-US" altLang="zh-CN" sz="2000" dirty="0"/>
              <a:t>2024</a:t>
            </a:r>
            <a:r>
              <a:rPr lang="zh-CN" altLang="en-US" sz="2000" dirty="0"/>
              <a:t>）发布首批 </a:t>
            </a:r>
            <a:r>
              <a:rPr lang="en-US" altLang="zh-CN" sz="2000" dirty="0"/>
              <a:t>PQC </a:t>
            </a:r>
            <a:r>
              <a:rPr lang="zh-CN" altLang="en-US" sz="2000" dirty="0"/>
              <a:t>标准：</a:t>
            </a:r>
            <a:r>
              <a:rPr lang="en-US" altLang="zh-CN" sz="2000" dirty="0"/>
              <a:t>ML-KEM (FIPS 203)</a:t>
            </a:r>
            <a:r>
              <a:rPr lang="zh-CN" altLang="en-US" sz="2000" dirty="0"/>
              <a:t>；</a:t>
            </a:r>
            <a:r>
              <a:rPr lang="en-US" altLang="zh-CN" sz="2000" dirty="0"/>
              <a:t>ML-DSA (FIPS 204)</a:t>
            </a:r>
            <a:r>
              <a:rPr lang="zh-CN" altLang="en-US" sz="2000" dirty="0"/>
              <a:t>；</a:t>
            </a:r>
            <a:r>
              <a:rPr lang="en-US" altLang="zh-CN" sz="2000" dirty="0"/>
              <a:t>SLH-DSA (FIPS 205)</a:t>
            </a:r>
            <a:r>
              <a:rPr lang="zh-CN" altLang="en-US" sz="2000" dirty="0"/>
              <a:t>。补充标准：</a:t>
            </a:r>
            <a:r>
              <a:rPr lang="en-US" altLang="zh-CN" sz="2000" dirty="0"/>
              <a:t>LMS </a:t>
            </a:r>
            <a:r>
              <a:rPr lang="zh-CN" altLang="en-US" sz="2000" dirty="0"/>
              <a:t>与 </a:t>
            </a:r>
            <a:r>
              <a:rPr lang="en-US" altLang="zh-CN" sz="2000" dirty="0"/>
              <a:t>XMSS</a:t>
            </a:r>
            <a:r>
              <a:rPr lang="zh-CN" altLang="en-US" sz="2000" dirty="0"/>
              <a:t>（</a:t>
            </a:r>
            <a:r>
              <a:rPr lang="en-US" altLang="zh-CN" sz="2000" dirty="0"/>
              <a:t>SP 800-208</a:t>
            </a:r>
            <a:r>
              <a:rPr lang="zh-CN" altLang="en-US" sz="2000" dirty="0"/>
              <a:t>），应用有限</a:t>
            </a:r>
          </a:p>
          <a:p>
            <a:pPr>
              <a:lnSpc>
                <a:spcPts val="2200"/>
              </a:lnSpc>
              <a:buFont typeface="Arial" panose="020B0604020202020204" pitchFamily="34" charset="0"/>
              <a:buChar char="•"/>
            </a:pPr>
            <a:r>
              <a:rPr lang="zh-CN" altLang="en-US" sz="2000" dirty="0"/>
              <a:t>全球应用趋势</a:t>
            </a:r>
          </a:p>
          <a:p>
            <a:pPr lvl="1">
              <a:lnSpc>
                <a:spcPts val="2200"/>
              </a:lnSpc>
              <a:buFont typeface="Arial" panose="020B0604020202020204" pitchFamily="34" charset="0"/>
              <a:buChar char="–"/>
            </a:pPr>
            <a:r>
              <a:rPr lang="zh-CN" altLang="en-US" sz="1800" dirty="0"/>
              <a:t>云服务商、浏览器厂商、大型企业将 </a:t>
            </a:r>
            <a:r>
              <a:rPr lang="en-US" altLang="zh-CN" sz="1800" dirty="0"/>
              <a:t>PQC </a:t>
            </a:r>
            <a:r>
              <a:rPr lang="zh-CN" altLang="en-US" sz="1800" dirty="0"/>
              <a:t>纳入安全路线图</a:t>
            </a:r>
          </a:p>
          <a:p>
            <a:pPr lvl="1">
              <a:lnSpc>
                <a:spcPts val="2200"/>
              </a:lnSpc>
              <a:buFont typeface="Arial" panose="020B0604020202020204" pitchFamily="34" charset="0"/>
              <a:buChar char="–"/>
            </a:pPr>
            <a:r>
              <a:rPr lang="en-US" altLang="zh-CN" sz="1800" dirty="0"/>
              <a:t>NIST </a:t>
            </a:r>
            <a:r>
              <a:rPr lang="zh-CN" altLang="en-US" sz="1800" dirty="0"/>
              <a:t>认证测试加速，部分厂商已用 </a:t>
            </a:r>
            <a:r>
              <a:rPr lang="en-US" altLang="zh-CN" sz="1800" dirty="0"/>
              <a:t>LMS/XMSS </a:t>
            </a:r>
            <a:r>
              <a:rPr lang="zh-CN" altLang="en-US" sz="1800" dirty="0"/>
              <a:t>做安全启动</a:t>
            </a:r>
          </a:p>
          <a:p>
            <a:pPr lvl="1">
              <a:lnSpc>
                <a:spcPts val="2200"/>
              </a:lnSpc>
              <a:buFont typeface="Arial" panose="020B0604020202020204" pitchFamily="34" charset="0"/>
              <a:buChar char="–"/>
            </a:pPr>
            <a:r>
              <a:rPr lang="zh-CN" altLang="en-US" sz="1800" dirty="0"/>
              <a:t>英国 </a:t>
            </a:r>
            <a:r>
              <a:rPr lang="en-US" altLang="zh-CN" sz="1800" dirty="0"/>
              <a:t>NCSC</a:t>
            </a:r>
            <a:r>
              <a:rPr lang="zh-CN" altLang="en-US" sz="1800" dirty="0"/>
              <a:t>：</a:t>
            </a:r>
            <a:r>
              <a:rPr lang="en-US" altLang="zh-CN" sz="1800" dirty="0"/>
              <a:t>2025 </a:t>
            </a:r>
            <a:r>
              <a:rPr lang="zh-CN" altLang="en-US" sz="1800" dirty="0"/>
              <a:t>年将出现基于 </a:t>
            </a:r>
            <a:r>
              <a:rPr lang="en-US" altLang="zh-CN" sz="1800" dirty="0"/>
              <a:t>PQC </a:t>
            </a:r>
            <a:r>
              <a:rPr lang="zh-CN" altLang="en-US" sz="1800" dirty="0"/>
              <a:t>的硬件信任根（</a:t>
            </a:r>
            <a:r>
              <a:rPr lang="en-US" altLang="zh-CN" sz="1800" dirty="0"/>
              <a:t>HSM</a:t>
            </a:r>
            <a:r>
              <a:rPr lang="zh-CN" altLang="en-US" sz="1800" dirty="0"/>
              <a:t>、安全启动）</a:t>
            </a:r>
          </a:p>
          <a:p>
            <a:pPr lvl="1">
              <a:lnSpc>
                <a:spcPts val="2200"/>
              </a:lnSpc>
              <a:buFont typeface="Arial" panose="020B0604020202020204" pitchFamily="34" charset="0"/>
              <a:buChar char="–"/>
            </a:pPr>
            <a:r>
              <a:rPr lang="en-US" altLang="zh-CN" sz="1800" dirty="0"/>
              <a:t>2026–2027 </a:t>
            </a:r>
            <a:r>
              <a:rPr lang="zh-CN" altLang="en-US" sz="1800" dirty="0"/>
              <a:t>年：</a:t>
            </a:r>
            <a:r>
              <a:rPr lang="en-US" altLang="zh-CN" sz="1800" dirty="0"/>
              <a:t>PQC </a:t>
            </a:r>
            <a:r>
              <a:rPr lang="zh-CN" altLang="en-US" sz="1800" dirty="0"/>
              <a:t>硬件加速与实现效率提升</a:t>
            </a:r>
          </a:p>
          <a:p>
            <a:pPr>
              <a:lnSpc>
                <a:spcPts val="2200"/>
              </a:lnSpc>
            </a:pPr>
            <a:r>
              <a:rPr lang="zh-CN" altLang="en-US" sz="2000" dirty="0"/>
              <a:t>协议与标准化进展</a:t>
            </a:r>
          </a:p>
          <a:p>
            <a:pPr lvl="1">
              <a:lnSpc>
                <a:spcPts val="2200"/>
              </a:lnSpc>
            </a:pPr>
            <a:r>
              <a:rPr lang="zh-CN" altLang="en-US" sz="1800" dirty="0"/>
              <a:t>浏览器支持 混合密钥交换（传统 </a:t>
            </a:r>
            <a:r>
              <a:rPr lang="en-US" altLang="zh-CN" sz="1800" dirty="0"/>
              <a:t>+ ML-KEM</a:t>
            </a:r>
            <a:r>
              <a:rPr lang="zh-CN" altLang="en-US" sz="1800" dirty="0"/>
              <a:t>）</a:t>
            </a:r>
          </a:p>
          <a:p>
            <a:pPr lvl="1">
              <a:lnSpc>
                <a:spcPts val="2200"/>
              </a:lnSpc>
            </a:pPr>
            <a:r>
              <a:rPr lang="en-US" altLang="zh-CN" sz="1800" dirty="0"/>
              <a:t>IETF </a:t>
            </a:r>
            <a:r>
              <a:rPr lang="zh-CN" altLang="en-US" sz="1800" dirty="0"/>
              <a:t>正在推进 </a:t>
            </a:r>
            <a:r>
              <a:rPr lang="en-US" altLang="zh-CN" sz="1800" dirty="0"/>
              <a:t>PQC </a:t>
            </a:r>
            <a:r>
              <a:rPr lang="zh-CN" altLang="en-US" sz="1800" dirty="0"/>
              <a:t>在 </a:t>
            </a:r>
            <a:r>
              <a:rPr lang="en-US" altLang="zh-CN" sz="1800" dirty="0"/>
              <a:t>TLS </a:t>
            </a:r>
            <a:r>
              <a:rPr lang="zh-CN" altLang="en-US" sz="1800" dirty="0"/>
              <a:t>等协议中的标准化，预计 </a:t>
            </a:r>
            <a:r>
              <a:rPr lang="en-US" altLang="zh-CN" sz="1800" dirty="0"/>
              <a:t>2027</a:t>
            </a:r>
          </a:p>
          <a:p>
            <a:pPr lvl="1">
              <a:lnSpc>
                <a:spcPts val="2200"/>
              </a:lnSpc>
            </a:pPr>
            <a:r>
              <a:rPr lang="zh-CN" altLang="en-US" sz="1800" dirty="0"/>
              <a:t>其他 </a:t>
            </a:r>
            <a:r>
              <a:rPr lang="en-US" altLang="zh-CN" sz="1800" dirty="0"/>
              <a:t>SDO</a:t>
            </a:r>
            <a:r>
              <a:rPr lang="zh-CN" altLang="en-US" sz="1800" dirty="0"/>
              <a:t>（</a:t>
            </a:r>
            <a:r>
              <a:rPr lang="en-US" altLang="zh-CN" sz="1800" dirty="0"/>
              <a:t>FIDO </a:t>
            </a:r>
            <a:r>
              <a:rPr lang="zh-CN" altLang="en-US" sz="1800" dirty="0"/>
              <a:t>联盟、</a:t>
            </a:r>
            <a:r>
              <a:rPr lang="en-US" altLang="zh-CN" sz="1800" dirty="0"/>
              <a:t>TPM</a:t>
            </a:r>
            <a:r>
              <a:rPr lang="zh-CN" altLang="en-US" sz="1800" dirty="0"/>
              <a:t>、</a:t>
            </a:r>
            <a:r>
              <a:rPr lang="en-US" altLang="zh-CN" sz="1800" dirty="0"/>
              <a:t>X.509 PKI</a:t>
            </a:r>
            <a:r>
              <a:rPr lang="zh-CN" altLang="en-US" sz="1800" dirty="0"/>
              <a:t>、</a:t>
            </a:r>
            <a:r>
              <a:rPr lang="en-US" altLang="zh-CN" sz="1800" dirty="0"/>
              <a:t>UEFI</a:t>
            </a:r>
            <a:r>
              <a:rPr lang="zh-CN" altLang="en-US" sz="1800" dirty="0"/>
              <a:t>、</a:t>
            </a:r>
            <a:r>
              <a:rPr lang="en-US" altLang="zh-CN" sz="1800" dirty="0"/>
              <a:t>6G </a:t>
            </a:r>
            <a:r>
              <a:rPr lang="zh-CN" altLang="en-US" sz="1800" dirty="0"/>
              <a:t>通信）正在逐步引入</a:t>
            </a:r>
          </a:p>
          <a:p>
            <a:pPr lvl="1">
              <a:lnSpc>
                <a:spcPts val="2200"/>
              </a:lnSpc>
            </a:pPr>
            <a:r>
              <a:rPr lang="zh-CN" altLang="en-US" sz="1800" dirty="0"/>
              <a:t>预计 </a:t>
            </a:r>
            <a:r>
              <a:rPr lang="en-US" altLang="zh-CN" sz="1800" dirty="0"/>
              <a:t>2028 </a:t>
            </a:r>
            <a:r>
              <a:rPr lang="zh-CN" altLang="en-US" sz="1800" dirty="0"/>
              <a:t>年出现更完整标准体系</a:t>
            </a:r>
          </a:p>
        </p:txBody>
      </p:sp>
      <p:sp>
        <p:nvSpPr>
          <p:cNvPr id="3" name="灯片编号占位符 2">
            <a:extLst>
              <a:ext uri="{FF2B5EF4-FFF2-40B4-BE49-F238E27FC236}">
                <a16:creationId xmlns:a16="http://schemas.microsoft.com/office/drawing/2014/main" id="{182373A0-3160-5E52-CC51-28C0D9305FD1}"/>
              </a:ext>
            </a:extLst>
          </p:cNvPr>
          <p:cNvSpPr>
            <a:spLocks noGrp="1"/>
          </p:cNvSpPr>
          <p:nvPr>
            <p:ph type="sldNum" sz="quarter" idx="4"/>
          </p:nvPr>
        </p:nvSpPr>
        <p:spPr/>
        <p:txBody>
          <a:bodyPr/>
          <a:lstStyle/>
          <a:p>
            <a:fld id="{4124EDF5-87F7-4AC5-8292-B04417157FC2}" type="slidenum">
              <a:rPr lang="zh-CN" altLang="en-US" smtClean="0"/>
              <a:t>36</a:t>
            </a:fld>
            <a:endParaRPr lang="zh-CN" altLang="en-US"/>
          </a:p>
        </p:txBody>
      </p:sp>
      <p:sp>
        <p:nvSpPr>
          <p:cNvPr id="4" name="标题 3">
            <a:extLst>
              <a:ext uri="{FF2B5EF4-FFF2-40B4-BE49-F238E27FC236}">
                <a16:creationId xmlns:a16="http://schemas.microsoft.com/office/drawing/2014/main" id="{C2849C45-1288-67B8-5F70-BE146AF16EEC}"/>
              </a:ext>
            </a:extLst>
          </p:cNvPr>
          <p:cNvSpPr>
            <a:spLocks noGrp="1"/>
          </p:cNvSpPr>
          <p:nvPr>
            <p:ph type="title"/>
          </p:nvPr>
        </p:nvSpPr>
        <p:spPr/>
        <p:txBody>
          <a:bodyPr/>
          <a:lstStyle/>
          <a:p>
            <a:r>
              <a:rPr lang="zh-CN" altLang="en-US" dirty="0"/>
              <a:t>后量子密码标准化 </a:t>
            </a:r>
          </a:p>
        </p:txBody>
      </p:sp>
      <p:sp>
        <p:nvSpPr>
          <p:cNvPr id="8" name="文本框 7">
            <a:extLst>
              <a:ext uri="{FF2B5EF4-FFF2-40B4-BE49-F238E27FC236}">
                <a16:creationId xmlns:a16="http://schemas.microsoft.com/office/drawing/2014/main" id="{E7C32DB2-C1A8-B84E-439E-47E2754895DA}"/>
              </a:ext>
            </a:extLst>
          </p:cNvPr>
          <p:cNvSpPr txBox="1"/>
          <p:nvPr/>
        </p:nvSpPr>
        <p:spPr>
          <a:xfrm>
            <a:off x="8921122" y="3940632"/>
            <a:ext cx="3145398" cy="122084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ts val="2200"/>
              </a:lnSpc>
            </a:pPr>
            <a:r>
              <a:rPr lang="zh-CN" altLang="en-US" sz="2000" b="0" dirty="0"/>
              <a:t>挑战：</a:t>
            </a:r>
            <a:endParaRPr lang="en-US" altLang="zh-CN" sz="2000" dirty="0"/>
          </a:p>
          <a:p>
            <a:pPr>
              <a:lnSpc>
                <a:spcPts val="2200"/>
              </a:lnSpc>
            </a:pPr>
            <a:r>
              <a:rPr lang="zh-CN" altLang="en-US" sz="2000" b="0" dirty="0"/>
              <a:t>行业机制尚未统一，标准仍可能调整；</a:t>
            </a:r>
            <a:endParaRPr lang="en-US" altLang="zh-CN" sz="2000" dirty="0"/>
          </a:p>
          <a:p>
            <a:pPr>
              <a:lnSpc>
                <a:spcPts val="2200"/>
              </a:lnSpc>
            </a:pPr>
            <a:r>
              <a:rPr lang="zh-CN" altLang="en-US" sz="2000" b="0" dirty="0"/>
              <a:t>大规模推广需数年过渡；</a:t>
            </a:r>
          </a:p>
        </p:txBody>
      </p:sp>
    </p:spTree>
    <p:extLst>
      <p:ext uri="{BB962C8B-B14F-4D97-AF65-F5344CB8AC3E}">
        <p14:creationId xmlns:p14="http://schemas.microsoft.com/office/powerpoint/2010/main" val="33408628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nSpc>
                <a:spcPct val="100000"/>
              </a:lnSpc>
            </a:pPr>
            <a:r>
              <a:rPr lang="zh-CN" altLang="en-US" dirty="0"/>
              <a:t>密码学基础</a:t>
            </a:r>
          </a:p>
          <a:p>
            <a:pPr lvl="1">
              <a:lnSpc>
                <a:spcPct val="100000"/>
              </a:lnSpc>
              <a:buFont typeface="Arial" panose="020B0604020202020204" pitchFamily="34" charset="0"/>
              <a:buChar char="–"/>
            </a:pPr>
            <a:r>
              <a:rPr lang="zh-CN" altLang="en-US" dirty="0"/>
              <a:t>理论基石：</a:t>
            </a:r>
            <a:r>
              <a:rPr lang="en-US" altLang="zh-CN" dirty="0"/>
              <a:t>Kerckhoff </a:t>
            </a:r>
            <a:r>
              <a:rPr lang="zh-CN" altLang="en-US" dirty="0"/>
              <a:t>假设、香农的密码设计思想</a:t>
            </a:r>
          </a:p>
          <a:p>
            <a:pPr lvl="1">
              <a:lnSpc>
                <a:spcPct val="100000"/>
              </a:lnSpc>
              <a:buFont typeface="Arial" panose="020B0604020202020204" pitchFamily="34" charset="0"/>
              <a:buChar char="–"/>
            </a:pPr>
            <a:r>
              <a:rPr lang="zh-CN" altLang="en-US" dirty="0"/>
              <a:t>常用算法：流密码、分组密码、公钥加密；哈希函数与应用；认证加密 </a:t>
            </a:r>
            <a:r>
              <a:rPr lang="en-US" altLang="zh-CN" dirty="0"/>
              <a:t>&amp; </a:t>
            </a:r>
            <a:r>
              <a:rPr lang="zh-CN" altLang="en-US" dirty="0"/>
              <a:t>分组密码工作模式</a:t>
            </a:r>
          </a:p>
          <a:p>
            <a:pPr>
              <a:lnSpc>
                <a:spcPct val="100000"/>
              </a:lnSpc>
            </a:pPr>
            <a:r>
              <a:rPr lang="zh-CN" altLang="en-US" dirty="0"/>
              <a:t>攻击模型与安全性分析</a:t>
            </a:r>
          </a:p>
          <a:p>
            <a:pPr lvl="1">
              <a:lnSpc>
                <a:spcPct val="100000"/>
              </a:lnSpc>
              <a:buFont typeface="Arial" panose="020B0604020202020204" pitchFamily="34" charset="0"/>
              <a:buChar char="–"/>
            </a:pPr>
            <a:r>
              <a:rPr lang="zh-CN" altLang="en-US" dirty="0"/>
              <a:t>攻击模型：黑盒、灰盒、白盒</a:t>
            </a:r>
          </a:p>
          <a:p>
            <a:pPr lvl="1">
              <a:lnSpc>
                <a:spcPct val="100000"/>
              </a:lnSpc>
              <a:buFont typeface="Arial" panose="020B0604020202020204" pitchFamily="34" charset="0"/>
              <a:buChar char="–"/>
            </a:pPr>
            <a:r>
              <a:rPr lang="zh-CN" altLang="en-US" dirty="0"/>
              <a:t>安全目标：不可区分性、不可塑性</a:t>
            </a:r>
          </a:p>
          <a:p>
            <a:pPr lvl="1">
              <a:lnSpc>
                <a:spcPct val="100000"/>
              </a:lnSpc>
              <a:buFont typeface="Arial" panose="020B0604020202020204" pitchFamily="34" charset="0"/>
              <a:buChar char="–"/>
            </a:pPr>
            <a:r>
              <a:rPr lang="zh-CN" altLang="en-US" dirty="0"/>
              <a:t>语义安全（</a:t>
            </a:r>
            <a:r>
              <a:rPr lang="en-US" altLang="zh-CN" dirty="0"/>
              <a:t>IND-CPA</a:t>
            </a:r>
            <a:r>
              <a:rPr lang="zh-CN" altLang="en-US" dirty="0"/>
              <a:t>）：公钥方案：</a:t>
            </a:r>
            <a:r>
              <a:rPr lang="en-US" altLang="zh-CN" dirty="0"/>
              <a:t>ElGamal</a:t>
            </a:r>
            <a:r>
              <a:rPr lang="zh-CN" altLang="en-US" dirty="0"/>
              <a:t>、</a:t>
            </a:r>
            <a:r>
              <a:rPr lang="en-US" altLang="zh-CN" dirty="0"/>
              <a:t>ECC</a:t>
            </a:r>
            <a:r>
              <a:rPr lang="zh-CN" altLang="en-US" dirty="0"/>
              <a:t>、</a:t>
            </a:r>
            <a:r>
              <a:rPr lang="en-US" altLang="zh-CN" dirty="0"/>
              <a:t>RSA</a:t>
            </a:r>
            <a:r>
              <a:rPr lang="zh-CN" altLang="en-US" dirty="0"/>
              <a:t>安全性与</a:t>
            </a:r>
            <a:r>
              <a:rPr lang="en-US" altLang="zh-CN" dirty="0"/>
              <a:t>RSA-OAEP</a:t>
            </a:r>
            <a:r>
              <a:rPr lang="zh-CN" altLang="en-US" dirty="0"/>
              <a:t>；对称方案：分组密码工作模式，抵御 </a:t>
            </a:r>
            <a:r>
              <a:rPr lang="en-US" altLang="zh-CN" dirty="0"/>
              <a:t>CCA2 </a:t>
            </a:r>
            <a:r>
              <a:rPr lang="zh-CN" altLang="en-US" dirty="0"/>
              <a:t>的认证加密</a:t>
            </a:r>
          </a:p>
          <a:p>
            <a:pPr>
              <a:lnSpc>
                <a:spcPct val="100000"/>
              </a:lnSpc>
            </a:pPr>
            <a:r>
              <a:rPr lang="zh-CN" altLang="en-US" dirty="0"/>
              <a:t>后量子密码（</a:t>
            </a:r>
            <a:r>
              <a:rPr lang="en-US" altLang="zh-CN" dirty="0"/>
              <a:t>PQC</a:t>
            </a:r>
            <a:r>
              <a:rPr lang="zh-CN" altLang="en-US" dirty="0"/>
              <a:t>）</a:t>
            </a:r>
          </a:p>
          <a:p>
            <a:pPr lvl="1">
              <a:lnSpc>
                <a:spcPct val="100000"/>
              </a:lnSpc>
              <a:buFont typeface="Arial" panose="020B0604020202020204" pitchFamily="34" charset="0"/>
              <a:buChar char="–"/>
            </a:pPr>
            <a:r>
              <a:rPr lang="zh-CN" altLang="en-US" dirty="0"/>
              <a:t>主要方向：基于格、基于编码、基于哈希</a:t>
            </a:r>
          </a:p>
          <a:p>
            <a:pPr lvl="1">
              <a:lnSpc>
                <a:spcPct val="100000"/>
              </a:lnSpc>
              <a:buFont typeface="Arial" panose="020B0604020202020204" pitchFamily="34" charset="0"/>
              <a:buChar char="–"/>
            </a:pPr>
            <a:r>
              <a:rPr lang="en-US" altLang="zh-CN" dirty="0"/>
              <a:t>NIST </a:t>
            </a:r>
            <a:r>
              <a:rPr lang="zh-CN" altLang="en-US" dirty="0"/>
              <a:t>标准化进展与应用展望</a:t>
            </a:r>
          </a:p>
        </p:txBody>
      </p:sp>
      <p:sp>
        <p:nvSpPr>
          <p:cNvPr id="3" name="灯片编号占位符 2"/>
          <p:cNvSpPr>
            <a:spLocks noGrp="1"/>
          </p:cNvSpPr>
          <p:nvPr>
            <p:ph type="sldNum" sz="quarter" idx="4"/>
          </p:nvPr>
        </p:nvSpPr>
        <p:spPr/>
        <p:txBody>
          <a:bodyPr/>
          <a:lstStyle/>
          <a:p>
            <a:fld id="{4124EDF5-87F7-4AC5-8292-B04417157FC2}" type="slidenum">
              <a:rPr lang="zh-CN" altLang="en-US" smtClean="0"/>
              <a:t>37</a:t>
            </a:fld>
            <a:endParaRPr lang="zh-CN" altLang="en-US"/>
          </a:p>
        </p:txBody>
      </p:sp>
      <p:sp>
        <p:nvSpPr>
          <p:cNvPr id="4" name="标题 3"/>
          <p:cNvSpPr>
            <a:spLocks noGrp="1"/>
          </p:cNvSpPr>
          <p:nvPr>
            <p:ph type="title"/>
          </p:nvPr>
        </p:nvSpPr>
        <p:spPr/>
        <p:txBody>
          <a:bodyPr/>
          <a:lstStyle/>
          <a:p>
            <a:r>
              <a:rPr lang="zh-CN" altLang="en-US" dirty="0"/>
              <a:t>小结</a:t>
            </a:r>
            <a:endParaRPr lang="en-US" dirty="0"/>
          </a:p>
        </p:txBody>
      </p:sp>
    </p:spTree>
    <p:extLst>
      <p:ext uri="{BB962C8B-B14F-4D97-AF65-F5344CB8AC3E}">
        <p14:creationId xmlns:p14="http://schemas.microsoft.com/office/powerpoint/2010/main" val="2919880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感谢聆听！</a:t>
            </a:r>
          </a:p>
        </p:txBody>
      </p:sp>
      <p:sp>
        <p:nvSpPr>
          <p:cNvPr id="3" name="副标题 2"/>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24620098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1_ITTC_template">
  <a:themeElements>
    <a:clrScheme name="自定义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3333CC"/>
      </a:folHlink>
    </a:clrScheme>
    <a:fontScheme name="实验室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实验室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实验室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实验室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实验室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实验室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实验室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实验室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北邮模板-简洁.potx" id="{39B92645-6DE8-4953-96CF-0CF18AB890D9}" vid="{BE7556B3-04B8-423A-9E3D-6FFFE38E519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北邮模板-简洁</Template>
  <TotalTime>8263</TotalTime>
  <Words>7648</Words>
  <Application>Microsoft Office PowerPoint</Application>
  <PresentationFormat>宽屏</PresentationFormat>
  <Paragraphs>297</Paragraphs>
  <Slides>38</Slides>
  <Notes>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38</vt:i4>
      </vt:variant>
    </vt:vector>
  </HeadingPairs>
  <TitlesOfParts>
    <vt:vector size="46" baseType="lpstr">
      <vt:lpstr>等线</vt:lpstr>
      <vt:lpstr>微软雅黑</vt:lpstr>
      <vt:lpstr>微软雅黑 Light</vt:lpstr>
      <vt:lpstr>Arial</vt:lpstr>
      <vt:lpstr>Cambria Math</vt:lpstr>
      <vt:lpstr>Times New Roman</vt:lpstr>
      <vt:lpstr>Verdana</vt:lpstr>
      <vt:lpstr>1_ITTC_template</vt:lpstr>
      <vt:lpstr>大数据安全与隐私保护</vt:lpstr>
      <vt:lpstr>内容提纲</vt:lpstr>
      <vt:lpstr>PowerPoint 演示文稿</vt:lpstr>
      <vt:lpstr>密码学的历史</vt:lpstr>
      <vt:lpstr>基于密钥的加密算法 </vt:lpstr>
      <vt:lpstr>香农的密码设计思想</vt:lpstr>
      <vt:lpstr>香农的密码设计思想</vt:lpstr>
      <vt:lpstr>流密码</vt:lpstr>
      <vt:lpstr>流密码 设计方案</vt:lpstr>
      <vt:lpstr>流密码 设计方案</vt:lpstr>
      <vt:lpstr>分组密码</vt:lpstr>
      <vt:lpstr>常用分组密码算法</vt:lpstr>
      <vt:lpstr>公钥密码体制</vt:lpstr>
      <vt:lpstr>公钥密码体制</vt:lpstr>
      <vt:lpstr>哈希函数</vt:lpstr>
      <vt:lpstr>哈希函数的构造</vt:lpstr>
      <vt:lpstr>密码算法的应用</vt:lpstr>
      <vt:lpstr>密码算法的应用</vt:lpstr>
      <vt:lpstr>密码算法的应用</vt:lpstr>
      <vt:lpstr>消息的完整性认证加密 </vt:lpstr>
      <vt:lpstr>分组密码的工作模式</vt:lpstr>
      <vt:lpstr>分组密码的工作模式</vt:lpstr>
      <vt:lpstr>分组密码的工作模式</vt:lpstr>
      <vt:lpstr>PowerPoint 演示文稿</vt:lpstr>
      <vt:lpstr>攻击模型</vt:lpstr>
      <vt:lpstr>黑盒攻击</vt:lpstr>
      <vt:lpstr>安全目标和安全概念</vt:lpstr>
      <vt:lpstr>语义安全的公钥密码方案</vt:lpstr>
      <vt:lpstr>语义安全的公钥密码方案</vt:lpstr>
      <vt:lpstr>RSA-OAEP</vt:lpstr>
      <vt:lpstr>语义安全的对称加密方案</vt:lpstr>
      <vt:lpstr>语义安全的对称加密方案</vt:lpstr>
      <vt:lpstr>PowerPoint 演示文稿</vt:lpstr>
      <vt:lpstr>后量子密码简介 </vt:lpstr>
      <vt:lpstr>常见的后量子密码体制</vt:lpstr>
      <vt:lpstr>后量子密码标准化 </vt:lpstr>
      <vt:lpstr>小结</vt:lpstr>
      <vt:lpstr>感谢聆听！</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大数据安全与隐私保护 - 电子课件</dc:title>
  <dc:subject>大数据安全与隐私保护 - 课件</dc:subject>
  <dc:creator>北邮石瑞生</dc:creator>
  <cp:lastModifiedBy>bing han</cp:lastModifiedBy>
  <cp:revision>295</cp:revision>
  <cp:lastPrinted>2019-05-30T07:25:17Z</cp:lastPrinted>
  <dcterms:created xsi:type="dcterms:W3CDTF">2019-05-28T11:51:25Z</dcterms:created>
  <dcterms:modified xsi:type="dcterms:W3CDTF">2025-09-06T03:28:15Z</dcterms:modified>
</cp:coreProperties>
</file>