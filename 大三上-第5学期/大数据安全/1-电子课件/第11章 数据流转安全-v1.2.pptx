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329" r:id="rId4"/>
    <p:sldId id="332" r:id="rId5"/>
    <p:sldId id="328" r:id="rId6"/>
    <p:sldId id="315" r:id="rId7"/>
    <p:sldId id="345" r:id="rId8"/>
    <p:sldId id="346" r:id="rId9"/>
    <p:sldId id="347" r:id="rId10"/>
    <p:sldId id="348" r:id="rId11"/>
    <p:sldId id="349" r:id="rId12"/>
    <p:sldId id="334" r:id="rId13"/>
    <p:sldId id="350" r:id="rId14"/>
    <p:sldId id="351" r:id="rId15"/>
    <p:sldId id="352" r:id="rId16"/>
    <p:sldId id="353" r:id="rId17"/>
    <p:sldId id="354" r:id="rId18"/>
    <p:sldId id="355" r:id="rId19"/>
    <p:sldId id="356" r:id="rId20"/>
    <p:sldId id="333" r:id="rId21"/>
    <p:sldId id="316" r:id="rId22"/>
    <p:sldId id="357" r:id="rId23"/>
    <p:sldId id="358" r:id="rId24"/>
    <p:sldId id="359" r:id="rId25"/>
    <p:sldId id="335" r:id="rId26"/>
    <p:sldId id="336" r:id="rId27"/>
    <p:sldId id="309" r:id="rId28"/>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63" autoAdjust="0"/>
    <p:restoredTop sz="81333" autoAdjust="0"/>
  </p:normalViewPr>
  <p:slideViewPr>
    <p:cSldViewPr snapToGrid="0">
      <p:cViewPr varScale="1">
        <p:scale>
          <a:sx n="89" d="100"/>
          <a:sy n="89" d="100"/>
        </p:scale>
        <p:origin x="5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hasCustomPrompt="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1" name="Rectangle 17"/>
          <p:cNvSpPr>
            <a:spLocks noGrp="1" noChangeArrowheads="1"/>
          </p:cNvSpPr>
          <p:nvPr>
            <p:ph idx="1" hasCustomPrompt="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4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F5FD63C8-53BE-4D22-844B-8317250BA1AB}" type="datetime1">
              <a:rPr lang="zh-CN" altLang="en-US" smtClean="0"/>
              <a:t>2025/9/7</a:t>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mn-lt"/>
                <a:ea typeface="黑体" panose="02010609060101010101" pitchFamily="49" charset="-122"/>
                <a:cs typeface="Arial" panose="020B060402020209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t>‹#›</a:t>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503050405090304" pitchFamily="18" charset="0"/>
              </a:defRPr>
            </a:lvl1pPr>
            <a:lvl2pPr marL="557530" indent="-214630" algn="just" rtl="0" eaLnBrk="1" fontAlgn="base" hangingPunct="1">
              <a:spcBef>
                <a:spcPct val="20000"/>
              </a:spcBef>
              <a:spcAft>
                <a:spcPct val="0"/>
              </a:spcAft>
              <a:buClr>
                <a:srgbClr val="FF9933"/>
              </a:buClr>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p>
          <a:p>
            <a:pPr lvl="1"/>
            <a:r>
              <a:rPr lang="zh-CN" altLang="en-US" sz="2100" kern="0" dirty="0">
                <a:latin typeface="+mn-lt"/>
              </a:rPr>
              <a:t>第二级</a:t>
            </a:r>
          </a:p>
          <a:p>
            <a:pPr lvl="2"/>
            <a:r>
              <a:rPr lang="zh-CN" altLang="en-US" sz="1800" kern="0" dirty="0">
                <a:latin typeface="+mn-lt"/>
              </a:rPr>
              <a:t>第三级</a:t>
            </a:r>
          </a:p>
          <a:p>
            <a:pPr lvl="3"/>
            <a:r>
              <a:rPr lang="zh-CN" altLang="en-US" sz="1500" kern="0" dirty="0">
                <a:latin typeface="+mn-lt"/>
              </a:rPr>
              <a:t>第四级</a:t>
            </a: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C234528-C7A7-48E8-BE96-15E7A6625678}" type="datetime1">
              <a:rPr lang="zh-CN" altLang="en-US" smtClean="0"/>
              <a:t>2025/9/7</a:t>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t>‹#›</a:t>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a:lstStyle>
          <a:p>
            <a:r>
              <a:rPr lang="zh-CN" altLang="en-US" sz="2800" kern="0" dirty="0"/>
              <a:t>单击此处编辑母版标题样式</a:t>
            </a:r>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503050405090304" pitchFamily="18" charset="0"/>
          <a:ea typeface="+mn-ea"/>
          <a:cs typeface="Times New Roman" panose="02020503050405090304" pitchFamily="18" charset="0"/>
        </a:defRPr>
      </a:lvl1pPr>
      <a:lvl2pPr marL="557530" indent="-214630" algn="just" rtl="0" eaLnBrk="1" fontAlgn="base" hangingPunct="1">
        <a:spcBef>
          <a:spcPct val="20000"/>
        </a:spcBef>
        <a:spcAft>
          <a:spcPct val="0"/>
        </a:spcAft>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数据流转安全</a:t>
            </a:r>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sz="2800" dirty="0"/>
              <a:t>11.1 </a:t>
            </a:r>
            <a:r>
              <a:rPr lang="zh-CN" altLang="en-US" sz="2800" dirty="0"/>
              <a:t>引言</a:t>
            </a:r>
            <a:endParaRPr lang="en-US" altLang="zh-CN" sz="2800" dirty="0"/>
          </a:p>
          <a:p>
            <a:pPr>
              <a:defRPr/>
            </a:pPr>
            <a:r>
              <a:rPr lang="en-US" altLang="zh-CN" sz="2800" dirty="0"/>
              <a:t>11.2 </a:t>
            </a:r>
            <a:r>
              <a:rPr lang="zh-CN" altLang="en-US" sz="2800" dirty="0"/>
              <a:t>数据水印技术</a:t>
            </a:r>
            <a:endParaRPr lang="en-US" altLang="zh-CN" sz="2800" dirty="0"/>
          </a:p>
          <a:p>
            <a:pPr>
              <a:defRPr/>
            </a:pPr>
            <a:r>
              <a:rPr lang="en-US" altLang="zh-CN" sz="2800" dirty="0"/>
              <a:t>11.3 </a:t>
            </a:r>
            <a:r>
              <a:rPr lang="zh-CN" altLang="en-US" sz="2800" dirty="0"/>
              <a:t>区块链存正技术</a:t>
            </a:r>
            <a:endParaRPr lang="en-US" altLang="zh-CN" sz="2800" dirty="0"/>
          </a:p>
          <a:p>
            <a:pPr>
              <a:defRPr/>
            </a:pPr>
            <a:r>
              <a:rPr lang="en-US" altLang="zh-CN" sz="2800" dirty="0"/>
              <a:t>11.4 </a:t>
            </a:r>
            <a:r>
              <a:rPr lang="zh-CN" altLang="en-US" sz="2800" dirty="0"/>
              <a:t>数据访问控制</a:t>
            </a:r>
            <a:endParaRPr lang="en-US" altLang="zh-CN" sz="2800" dirty="0"/>
          </a:p>
          <a:p>
            <a:pPr>
              <a:defRPr/>
            </a:pPr>
            <a:r>
              <a:rPr lang="en-US" altLang="zh-CN" sz="2800" dirty="0"/>
              <a:t>11.5 </a:t>
            </a:r>
            <a:r>
              <a:rPr lang="zh-CN" altLang="en-US" sz="2800" dirty="0"/>
              <a:t>本章小结</a:t>
            </a:r>
            <a:endParaRPr lang="en-US" altLang="zh-CN" sz="2800" dirty="0"/>
          </a:p>
          <a:p>
            <a:pPr>
              <a:defRPr/>
            </a:pPr>
            <a:endParaRPr lang="en-US" altLang="zh-CN" sz="28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2</a:t>
            </a:fld>
            <a:endParaRPr lang="zh-CN" altLang="en-US"/>
          </a:p>
        </p:txBody>
      </p:sp>
      <p:sp>
        <p:nvSpPr>
          <p:cNvPr id="4" name="标题 3"/>
          <p:cNvSpPr>
            <a:spLocks noGrp="1"/>
          </p:cNvSpPr>
          <p:nvPr>
            <p:ph type="title"/>
          </p:nvPr>
        </p:nvSpPr>
        <p:spPr/>
        <p:txBody>
          <a:bodyPr/>
          <a:lstStyle/>
          <a:p>
            <a:r>
              <a:rPr lang="zh-CN" altLang="en-US" dirty="0"/>
              <a:t>内容提纲</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3</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引言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5446701"/>
          </a:xfrm>
        </p:spPr>
        <p:txBody>
          <a:bodyPr/>
          <a:lstStyle/>
          <a:p>
            <a:r>
              <a:rPr lang="zh-CN" altLang="en-US" dirty="0"/>
              <a:t>数据安全与网络安全密切相关，是国家主权、国家安全的重要组成部分。数据作为新型生产要素，对生产方式变革具有重大影响。数据安全应保证数据生产、存储、传输、访问、使用、销毁、公开等全过程的安全，并保证数据处理过程的保密性、完整性、可用性。保证数据流转过程中的安全性至关重要。</a:t>
            </a:r>
          </a:p>
        </p:txBody>
      </p:sp>
      <p:sp>
        <p:nvSpPr>
          <p:cNvPr id="3" name="灯片编号占位符 2"/>
          <p:cNvSpPr>
            <a:spLocks noGrp="1"/>
          </p:cNvSpPr>
          <p:nvPr>
            <p:ph type="sldNum" sz="quarter" idx="4"/>
          </p:nvPr>
        </p:nvSpPr>
        <p:spPr/>
        <p:txBody>
          <a:bodyPr/>
          <a:lstStyle/>
          <a:p>
            <a:fld id="{4124EDF5-87F7-4AC5-8292-B04417157FC2}" type="slidenum">
              <a:rPr lang="zh-CN" altLang="en-US" smtClean="0"/>
              <a:t>4</a:t>
            </a:fld>
            <a:endParaRPr lang="zh-CN" altLang="en-US"/>
          </a:p>
        </p:txBody>
      </p:sp>
      <p:sp>
        <p:nvSpPr>
          <p:cNvPr id="4" name="标题 3"/>
          <p:cNvSpPr>
            <a:spLocks noGrp="1"/>
          </p:cNvSpPr>
          <p:nvPr>
            <p:ph type="title"/>
          </p:nvPr>
        </p:nvSpPr>
        <p:spPr/>
        <p:txBody>
          <a:bodyPr/>
          <a:lstStyle/>
          <a:p>
            <a:r>
              <a:rPr lang="zh-CN" altLang="en-US" dirty="0"/>
              <a:t>引言</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5</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数据水印技术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dirty="0"/>
              <a:t>简单的数字水印技术是一种利用适当的算法将水印（秘密信息）隐藏在数字媒体中的技术，用于对产品的原始所有者进行认证和识别。简单的数字水印技术由两个模块组成：水印嵌入模块，水印检测与提取模块。水印嵌入模块使用密钥将水印嵌入原始图像。水印嵌入如图</a:t>
            </a:r>
            <a:r>
              <a:rPr lang="en-US" altLang="zh-CN" dirty="0"/>
              <a:t> 11.1 </a:t>
            </a:r>
            <a:r>
              <a:rPr lang="zh-CN" altLang="en-US" dirty="0"/>
              <a:t>所示。</a:t>
            </a:r>
          </a:p>
          <a:p>
            <a:pPr marL="0" indent="0">
              <a:buNone/>
            </a:pPr>
            <a:endParaRPr lang="zh-CN" alt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6</a:t>
            </a:fld>
            <a:endParaRPr lang="zh-CN" altLang="en-US"/>
          </a:p>
        </p:txBody>
      </p:sp>
      <p:sp>
        <p:nvSpPr>
          <p:cNvPr id="4" name="标题 3"/>
          <p:cNvSpPr>
            <a:spLocks noGrp="1"/>
          </p:cNvSpPr>
          <p:nvPr>
            <p:ph type="title"/>
          </p:nvPr>
        </p:nvSpPr>
        <p:spPr/>
        <p:txBody>
          <a:bodyPr/>
          <a:lstStyle/>
          <a:p>
            <a:r>
              <a:rPr lang="zh-CN" altLang="en-US" dirty="0"/>
              <a:t>概述</a:t>
            </a:r>
          </a:p>
        </p:txBody>
      </p:sp>
      <p:pic>
        <p:nvPicPr>
          <p:cNvPr id="5" name="图片 4"/>
          <p:cNvPicPr>
            <a:picLocks noChangeAspect="1"/>
          </p:cNvPicPr>
          <p:nvPr/>
        </p:nvPicPr>
        <p:blipFill>
          <a:blip r:embed="rId2"/>
          <a:stretch>
            <a:fillRect/>
          </a:stretch>
        </p:blipFill>
        <p:spPr>
          <a:xfrm>
            <a:off x="2393950" y="3051175"/>
            <a:ext cx="6910070" cy="3478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水印检测与提取模块用于判断数据中是否含有指定的水印或者是否可以提取水印。水印检测与提取如图</a:t>
            </a:r>
            <a:r>
              <a:rPr lang="en-US" altLang="zh-CN"/>
              <a:t> 11.2 </a:t>
            </a:r>
            <a:r>
              <a:rPr lang="zh-CN" altLang="en-US"/>
              <a:t>所示。</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t>概述</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7</a:t>
            </a:fld>
            <a:endParaRPr lang="zh-CN" altLang="en-US"/>
          </a:p>
        </p:txBody>
      </p:sp>
      <p:pic>
        <p:nvPicPr>
          <p:cNvPr id="6" name="图片 5"/>
          <p:cNvPicPr>
            <a:picLocks noChangeAspect="1"/>
          </p:cNvPicPr>
          <p:nvPr/>
        </p:nvPicPr>
        <p:blipFill>
          <a:blip r:embed="rId2"/>
          <a:stretch>
            <a:fillRect/>
          </a:stretch>
        </p:blipFill>
        <p:spPr>
          <a:xfrm>
            <a:off x="2367280" y="2252345"/>
            <a:ext cx="7473315" cy="41484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sz="2000"/>
              <a:t>接下来对水印技术进行分类：</a:t>
            </a:r>
          </a:p>
          <a:p>
            <a:r>
              <a:rPr lang="zh-CN" altLang="en-US" sz="2000"/>
              <a:t>（</a:t>
            </a:r>
            <a:r>
              <a:rPr lang="en-US" altLang="zh-CN" sz="2000"/>
              <a:t>1</a:t>
            </a:r>
            <a:r>
              <a:rPr lang="zh-CN" altLang="en-US" sz="2000"/>
              <a:t>）根据密钥的使用</a:t>
            </a:r>
          </a:p>
          <a:p>
            <a:pPr marL="800100" lvl="1" indent="-342900"/>
            <a:r>
              <a:rPr lang="en-US" altLang="zh-CN"/>
              <a:t>1</a:t>
            </a:r>
            <a:r>
              <a:rPr lang="zh-CN" altLang="en-US"/>
              <a:t>）非对称水印：使用非对称密钥来嵌入和检测水印。</a:t>
            </a:r>
          </a:p>
          <a:p>
            <a:pPr marL="800100" lvl="1" indent="-342900"/>
            <a:r>
              <a:rPr lang="en-US" altLang="zh-CN"/>
              <a:t>2）</a:t>
            </a:r>
            <a:r>
              <a:rPr lang="zh-CN" altLang="en-US"/>
              <a:t>对称水印：使用相同的密钥来嵌入和检测水印。</a:t>
            </a:r>
          </a:p>
          <a:p>
            <a:pPr lvl="0"/>
            <a:r>
              <a:rPr lang="zh-CN" altLang="en-US" sz="2000">
                <a:sym typeface="+mn-ea"/>
              </a:rPr>
              <a:t>（</a:t>
            </a:r>
            <a:r>
              <a:rPr lang="en-US" altLang="zh-CN" sz="2000">
                <a:sym typeface="+mn-ea"/>
              </a:rPr>
              <a:t>1</a:t>
            </a:r>
            <a:r>
              <a:rPr lang="zh-CN" altLang="en-US" sz="2000">
                <a:sym typeface="+mn-ea"/>
              </a:rPr>
              <a:t>）根据密钥的使用</a:t>
            </a:r>
          </a:p>
          <a:p>
            <a:pPr lvl="1"/>
            <a:r>
              <a:rPr lang="en-US" altLang="zh-CN"/>
              <a:t>  1</a:t>
            </a:r>
            <a:r>
              <a:rPr lang="zh-CN" altLang="en-US"/>
              <a:t>）鲁棒性水印：鲁棒性水印主要用于对数字作品的版权信息进行签名。嵌入的水印可以抵抗常见的编辑处理、图像处理和有损压缩，水印在受到某种攻击后不被破坏，仍然可以被检测到以提供证明。鲁棒性水印可以抵抗各种几何或非几何的攻击，其嵌入的水印不受影响。</a:t>
            </a:r>
          </a:p>
          <a:p>
            <a:pPr lvl="1"/>
            <a:r>
              <a:rPr lang="en-US" altLang="zh-CN"/>
              <a:t>  2</a:t>
            </a:r>
            <a:r>
              <a:rPr lang="zh-CN" altLang="en-US"/>
              <a:t>）易碎性水印：易碎性水印主要用于完整性保护，必须对信号的变化非常敏感。我们可以根据易碎性水印的状态来判断数据是否被篡改过。</a:t>
            </a:r>
          </a:p>
          <a:p>
            <a:pPr lvl="1"/>
            <a:r>
              <a:rPr lang="en-US" altLang="zh-CN"/>
              <a:t>  3</a:t>
            </a:r>
            <a:r>
              <a:rPr lang="zh-CN" altLang="en-US"/>
              <a:t>）半脆弱水印：半脆弱水印能够容忍水印图像某种程度的变化，例如有损压缩带来的量化噪声的增加。</a:t>
            </a:r>
          </a:p>
          <a:p>
            <a:pPr lvl="0"/>
            <a:endParaRPr lang="en-US" altLang="zh-CN"/>
          </a:p>
        </p:txBody>
      </p:sp>
      <p:sp>
        <p:nvSpPr>
          <p:cNvPr id="3" name="标题 2"/>
          <p:cNvSpPr>
            <a:spLocks noGrp="1" noChangeArrowheads="1"/>
          </p:cNvSpPr>
          <p:nvPr>
            <p:ph type="title"/>
          </p:nvPr>
        </p:nvSpPr>
        <p:spPr/>
        <p:txBody>
          <a:bodyPr/>
          <a:lstStyle/>
          <a:p>
            <a:r>
              <a:rPr lang="zh-CN" altLang="en-US"/>
              <a:t>概述</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水印技术是利用一些强大而适当的算法将秘密信息隐藏到数字媒体中的方法。算法在水印中起着至关重要的作用：如果使用的水印技术是高效和强大的，那么使用该技术嵌入的水印就不容易被检测到。攻击者只有知道算法才能破坏或检测到秘密信息。在当今的场景中，有各种各样的算法用于隐藏信息。这些算法分为两个领域，即空间域和频率域。</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t>技术原理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（1）</a:t>
            </a:r>
            <a:r>
              <a:rPr lang="zh-CN" altLang="en-US"/>
              <a:t>空间域</a:t>
            </a:r>
            <a:r>
              <a:rPr lang="en-US" altLang="zh-CN"/>
              <a:t> </a:t>
            </a:r>
            <a:r>
              <a:rPr lang="zh-CN" altLang="en-US"/>
              <a:t>空间域数字水印算法直接将数据加载到原始图像中。空间域技术通过对图像像素值的直接操作来实现水印的嵌入，通常用于增强图像在特定应用中的表现。一些主要算法如下：</a:t>
            </a:r>
          </a:p>
          <a:p>
            <a:pPr lvl="1"/>
            <a:r>
              <a:rPr lang="en-US" altLang="zh-CN"/>
              <a:t>1</a:t>
            </a:r>
            <a:r>
              <a:rPr lang="zh-CN" altLang="en-US"/>
              <a:t>）加性水印：在空间域中嵌入水印最直接的方法是在图像像素的强度上加入伪随机噪声。噪声信号通常是</a:t>
            </a:r>
            <a:r>
              <a:rPr lang="en-US" altLang="zh-CN"/>
              <a:t>-1</a:t>
            </a:r>
            <a:r>
              <a:rPr lang="zh-CN" altLang="en-US"/>
              <a:t>，</a:t>
            </a:r>
            <a:r>
              <a:rPr lang="en-US" altLang="zh-CN"/>
              <a:t>0</a:t>
            </a:r>
            <a:r>
              <a:rPr lang="zh-CN" altLang="en-US"/>
              <a:t>，</a:t>
            </a:r>
            <a:r>
              <a:rPr lang="en-US" altLang="zh-CN"/>
              <a:t>1 </a:t>
            </a:r>
            <a:r>
              <a:rPr lang="zh-CN" altLang="en-US"/>
              <a:t>这样的整数，有时也会是浮点数。为了保证水印可以被检测到，噪声是由一个密钥产生的，这样不同密钥的数字之间的相关性就会很低。</a:t>
            </a:r>
          </a:p>
          <a:p>
            <a:pPr lvl="1"/>
            <a:r>
              <a:rPr lang="en-US" altLang="zh-CN"/>
              <a:t>2</a:t>
            </a:r>
            <a:r>
              <a:rPr lang="zh-CN" altLang="en-US"/>
              <a:t>）最低有效位（</a:t>
            </a:r>
            <a:r>
              <a:rPr lang="en-US" altLang="zh-CN"/>
              <a:t>Least Significant Bit</a:t>
            </a:r>
            <a:r>
              <a:rPr lang="zh-CN" altLang="en-US"/>
              <a:t>，</a:t>
            </a:r>
            <a:r>
              <a:rPr lang="en-US" altLang="zh-CN"/>
              <a:t>LSB</a:t>
            </a:r>
            <a:r>
              <a:rPr lang="zh-CN" altLang="en-US"/>
              <a:t>）：传统技术将水印嵌入像素的</a:t>
            </a:r>
            <a:r>
              <a:rPr lang="en-US" altLang="zh-CN"/>
              <a:t> LSB </a:t>
            </a:r>
            <a:r>
              <a:rPr lang="zh-CN" altLang="en-US"/>
              <a:t>中。这种方法容易实现，不会使图像产生严重的失真；但是它对攻击的鲁棒性不太好。水印的嵌入是指选择图像像素的一个子集，并用水印位替换每个所选像素的最低有效位。水印既可以散布在整个图像中，也可以位于图像的选定位置。但是这些传统的技术很容易受到攻击，水印很容易被破坏。这样的方法对噪声和普通信号处理非常敏感，无法在实际中使用。</a:t>
            </a:r>
          </a:p>
        </p:txBody>
      </p:sp>
      <p:sp>
        <p:nvSpPr>
          <p:cNvPr id="3" name="标题 2"/>
          <p:cNvSpPr>
            <a:spLocks noGrp="1" noChangeArrowheads="1"/>
          </p:cNvSpPr>
          <p:nvPr>
            <p:ph type="title"/>
          </p:nvPr>
        </p:nvSpPr>
        <p:spPr/>
        <p:txBody>
          <a:bodyPr/>
          <a:lstStyle/>
          <a:p>
            <a:r>
              <a:rPr lang="zh-CN" altLang="en-US"/>
              <a:t>技术原理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（2）</a:t>
            </a:r>
            <a:r>
              <a:rPr lang="zh-CN" altLang="en-US"/>
              <a:t>频率域</a:t>
            </a:r>
          </a:p>
          <a:p>
            <a:pPr marL="0" indent="457200">
              <a:buNone/>
            </a:pPr>
            <a:r>
              <a:rPr lang="zh-CN" altLang="en-US"/>
              <a:t>与空间域方法相比，频率域方法的应用更为广泛。其目的是将水印嵌入图像的频谱系数。最常用的变换是离散余弦变换（</a:t>
            </a:r>
            <a:r>
              <a:rPr lang="en-US" altLang="zh-CN"/>
              <a:t>Discrete Cosine Transform</a:t>
            </a:r>
            <a:r>
              <a:rPr lang="zh-CN" altLang="en-US"/>
              <a:t>，</a:t>
            </a:r>
            <a:r>
              <a:rPr lang="en-US" altLang="zh-CN"/>
              <a:t>DCT</a:t>
            </a:r>
            <a:r>
              <a:rPr lang="zh-CN" altLang="en-US"/>
              <a:t>）、离散傅里叶变换（</a:t>
            </a:r>
            <a:r>
              <a:rPr lang="en-US" altLang="zh-CN"/>
              <a:t> Discrete Fourier Transform </a:t>
            </a:r>
            <a:r>
              <a:rPr lang="zh-CN" altLang="en-US"/>
              <a:t>，</a:t>
            </a:r>
            <a:r>
              <a:rPr lang="en-US" altLang="zh-CN"/>
              <a:t> DFT </a:t>
            </a:r>
            <a:r>
              <a:rPr lang="zh-CN" altLang="en-US"/>
              <a:t>）、离散小波变换（</a:t>
            </a:r>
            <a:r>
              <a:rPr lang="en-US" altLang="zh-CN"/>
              <a:t> Discrete Wavelet Transform</a:t>
            </a:r>
            <a:r>
              <a:rPr lang="zh-CN" altLang="en-US"/>
              <a:t>，</a:t>
            </a:r>
            <a:r>
              <a:rPr lang="en-US" altLang="zh-CN"/>
              <a:t>DWT</a:t>
            </a:r>
            <a:r>
              <a:rPr lang="zh-CN" altLang="en-US"/>
              <a:t>），之所以要在频域中嵌入水印，是因为频谱系数能更好地捕捉人类视觉系统（</a:t>
            </a:r>
            <a:r>
              <a:rPr lang="en-US" altLang="zh-CN"/>
              <a:t>Human Visual System</a:t>
            </a:r>
            <a:r>
              <a:rPr lang="zh-CN" altLang="en-US"/>
              <a:t>，</a:t>
            </a:r>
            <a:r>
              <a:rPr lang="en-US" altLang="zh-CN"/>
              <a:t>HVS</a:t>
            </a:r>
            <a:r>
              <a:rPr lang="zh-CN" altLang="en-US"/>
              <a:t>）的特征。</a:t>
            </a:r>
          </a:p>
        </p:txBody>
      </p:sp>
      <p:sp>
        <p:nvSpPr>
          <p:cNvPr id="3" name="标题 2"/>
          <p:cNvSpPr>
            <a:spLocks noGrp="1" noChangeArrowheads="1"/>
          </p:cNvSpPr>
          <p:nvPr>
            <p:ph type="title"/>
          </p:nvPr>
        </p:nvSpPr>
        <p:spPr/>
        <p:txBody>
          <a:bodyPr/>
          <a:lstStyle/>
          <a:p>
            <a:r>
              <a:rPr lang="zh-CN" altLang="en-US"/>
              <a:t>技术原理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342900" indent="-342900"/>
            <a:r>
              <a:rPr lang="zh-CN" altLang="en-US" dirty="0"/>
              <a:t>数字水印技术常应用于版权保护。数字水印可用于识别和保护版权。数字内容可以嵌入描绘识别版权所有者的元数据的水印。现在，数字水印技术也广泛应用于数据流转安全，实现对数据的防止篡改、访问控制、注释和隐私控制、图像和内容认证、媒体取证等功能。</a:t>
            </a:r>
          </a:p>
          <a:p>
            <a:pPr marL="800100" lvl="1" indent="-342900"/>
            <a:r>
              <a:rPr lang="zh-CN" altLang="en-US" dirty="0"/>
              <a:t>（</a:t>
            </a:r>
            <a:r>
              <a:rPr lang="en-US" altLang="zh-CN" dirty="0"/>
              <a:t>1</a:t>
            </a:r>
            <a:r>
              <a:rPr lang="zh-CN" altLang="en-US" dirty="0"/>
              <a:t>）防止篡改</a:t>
            </a:r>
            <a:r>
              <a:rPr lang="en-US" altLang="zh-CN" dirty="0"/>
              <a:t> </a:t>
            </a:r>
            <a:r>
              <a:rPr lang="zh-CN" altLang="en-US" dirty="0"/>
              <a:t>数字水印本质上是脆弱的，可用于防篡改。数字内容中嵌入易碎的水印，只要对内容进行任何修改，这些水印就会被破坏。这样的水印可以用来对内容进行认证。</a:t>
            </a:r>
          </a:p>
          <a:p>
            <a:pPr marL="800100" lvl="1" indent="-342900"/>
            <a:r>
              <a:rPr lang="zh-CN" altLang="en-US" dirty="0"/>
              <a:t>（</a:t>
            </a:r>
            <a:r>
              <a:rPr lang="en-US" altLang="zh-CN" dirty="0"/>
              <a:t>2</a:t>
            </a:r>
            <a:r>
              <a:rPr lang="zh-CN" altLang="en-US" dirty="0"/>
              <a:t>）访问控制</a:t>
            </a:r>
            <a:r>
              <a:rPr lang="en-US" altLang="zh-CN" dirty="0"/>
              <a:t> </a:t>
            </a:r>
            <a:r>
              <a:rPr lang="zh-CN" altLang="en-US" dirty="0"/>
              <a:t>不同的支付方式赋予用户对对象的不同权限（如播放</a:t>
            </a:r>
            <a:r>
              <a:rPr lang="en-US" altLang="zh-CN" dirty="0"/>
              <a:t>/</a:t>
            </a:r>
            <a:r>
              <a:rPr lang="zh-CN" altLang="en-US" dirty="0"/>
              <a:t>复制权限）。在某些系统中，希望拥有复制和使用控制机制，以防止非法复制内容或限制复制次数。鲁棒性水印可用于此目的。</a:t>
            </a:r>
          </a:p>
          <a:p>
            <a:pPr marL="342900" indent="-342900"/>
            <a:endParaRPr lang="zh-CN" altLang="en-US" dirty="0"/>
          </a:p>
          <a:p>
            <a:endParaRPr lang="zh-CN" alt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12</a:t>
            </a:fld>
            <a:endParaRPr lang="zh-CN" altLang="en-US"/>
          </a:p>
        </p:txBody>
      </p:sp>
      <p:sp>
        <p:nvSpPr>
          <p:cNvPr id="4" name="标题 3"/>
          <p:cNvSpPr>
            <a:spLocks noGrp="1"/>
          </p:cNvSpPr>
          <p:nvPr>
            <p:ph type="title"/>
          </p:nvPr>
        </p:nvSpPr>
        <p:spPr/>
        <p:txBody>
          <a:bodyPr/>
          <a:lstStyle/>
          <a:p>
            <a:r>
              <a:rPr lang="zh-CN" altLang="en-US" dirty="0"/>
              <a:t>应用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800100" lvl="1" indent="-342900"/>
            <a:r>
              <a:rPr lang="zh-CN" altLang="en-US"/>
              <a:t>（</a:t>
            </a:r>
            <a:r>
              <a:rPr lang="en-US" altLang="zh-CN"/>
              <a:t>3</a:t>
            </a:r>
            <a:r>
              <a:rPr lang="zh-CN" altLang="en-US"/>
              <a:t>）注释和隐私控制</a:t>
            </a:r>
            <a:r>
              <a:rPr lang="en-US" altLang="zh-CN"/>
              <a:t> </a:t>
            </a:r>
            <a:r>
              <a:rPr lang="zh-CN" altLang="en-US"/>
              <a:t>多位水印可用于对图像进行注释。例如，可以将与医学图像相关的患者记录和成像细节小心地插入图像。这不仅可以减少存储空间，还可以在图像及其细节之间提供紧密的联系。通过将敏感信息以人类不可读形式保存和传输，可以保护患者隐私安全，水印可以通过加密提供进一步的保护。注释水印的其他用法包括电子文档索引和自动信息检索。</a:t>
            </a:r>
          </a:p>
          <a:p>
            <a:pPr marL="800100" lvl="1" indent="-342900"/>
            <a:r>
              <a:rPr lang="zh-CN" altLang="en-US"/>
              <a:t>（</a:t>
            </a:r>
            <a:r>
              <a:rPr lang="en-US" altLang="zh-CN"/>
              <a:t>4</a:t>
            </a:r>
            <a:r>
              <a:rPr lang="zh-CN" altLang="en-US"/>
              <a:t>）图像和内容认证</a:t>
            </a:r>
            <a:r>
              <a:rPr lang="en-US" altLang="zh-CN"/>
              <a:t> </a:t>
            </a:r>
            <a:r>
              <a:rPr lang="zh-CN" altLang="en-US"/>
              <a:t>在图像认证应用程序中，数字水印用于检测对数据的修改。将图像的特征（例如其边缘）嵌入，并与当前图像进行比较以寻找差异。将数字水印用于图像和内容认证，可以借鉴密码学的经验，其已经将数字签名作为一种消息认证方法进行了研究。将数字签名技术用于图像认证的一个例子是可信赖的数码相机。</a:t>
            </a:r>
          </a:p>
          <a:p>
            <a:pPr marL="800100" lvl="1" indent="-342900"/>
            <a:r>
              <a:rPr lang="zh-CN" altLang="en-US"/>
              <a:t>（</a:t>
            </a:r>
            <a:r>
              <a:rPr lang="en-US" altLang="zh-CN"/>
              <a:t>5</a:t>
            </a:r>
            <a:r>
              <a:rPr lang="zh-CN" altLang="en-US"/>
              <a:t>）媒体取证</a:t>
            </a:r>
            <a:r>
              <a:rPr lang="en-US" altLang="zh-CN"/>
              <a:t> </a:t>
            </a:r>
            <a:r>
              <a:rPr lang="zh-CN" altLang="en-US"/>
              <a:t>取证水印的应用增强了内容所有者检测和应对其资产滥用的能力。水印不仅可用于为刑事诉讼提供证据，还可用于确保内容所有者与共享其内容的个人或公司之间的合同使用协议得以执行。</a:t>
            </a:r>
          </a:p>
        </p:txBody>
      </p:sp>
      <p:sp>
        <p:nvSpPr>
          <p:cNvPr id="3" name="标题 2"/>
          <p:cNvSpPr>
            <a:spLocks noGrp="1" noChangeArrowheads="1"/>
          </p:cNvSpPr>
          <p:nvPr>
            <p:ph type="title"/>
          </p:nvPr>
        </p:nvSpPr>
        <p:spPr/>
        <p:txBody>
          <a:bodyPr/>
          <a:lstStyle/>
          <a:p>
            <a:r>
              <a:rPr lang="zh-CN" altLang="en-US"/>
              <a:t>应用</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有水印的对象很可能受到各种恶意、有意或无意的攻击。广泛的图像处理软件的可用性使得对水印系统的鲁棒性进行攻击成为可能。这些攻击的目的是阻止水印执行其预期目的。对各种类型的水印攻击的简要介绍如下：</a:t>
            </a:r>
          </a:p>
          <a:p>
            <a:pPr lvl="1"/>
            <a:r>
              <a:rPr lang="zh-CN" altLang="en-US"/>
              <a:t>移除攻击（</a:t>
            </a:r>
            <a:r>
              <a:rPr lang="en-US" altLang="zh-CN"/>
              <a:t>Removal Attack</a:t>
            </a:r>
            <a:r>
              <a:rPr lang="zh-CN" altLang="en-US"/>
              <a:t>）</a:t>
            </a:r>
            <a:r>
              <a:rPr lang="en-US" altLang="zh-CN"/>
              <a:t> </a:t>
            </a:r>
            <a:r>
              <a:rPr lang="zh-CN" altLang="en-US"/>
              <a:t>移除攻击的目的是将水印数据从被水印对象中移除。这类攻击利用了水印通常是主机信号中存在的加性噪声信号这一事实。</a:t>
            </a:r>
          </a:p>
          <a:p>
            <a:pPr lvl="1"/>
            <a:r>
              <a:rPr lang="zh-CN" altLang="en-US"/>
              <a:t>干扰攻击</a:t>
            </a:r>
            <a:r>
              <a:rPr lang="en-US" altLang="zh-CN"/>
              <a:t> </a:t>
            </a:r>
            <a:r>
              <a:rPr lang="zh-CN" altLang="en-US"/>
              <a:t>干扰攻击是向被水印对象添加额外噪声的攻击。有损压缩、量化、共谋、去噪、重调制、平均和噪声风暴是这类攻击的一些例子。</a:t>
            </a:r>
          </a:p>
          <a:p>
            <a:pPr lvl="1"/>
            <a:r>
              <a:rPr lang="zh-CN" altLang="en-US"/>
              <a:t>几何攻击</a:t>
            </a:r>
            <a:r>
              <a:rPr lang="en-US" altLang="zh-CN"/>
              <a:t> </a:t>
            </a:r>
            <a:r>
              <a:rPr lang="zh-CN" altLang="en-US"/>
              <a:t>所有影响图像几何形状的操作，如翻转、旋转、裁剪等，都应该是可检测的。从图像的右侧和底部进行裁剪攻击就是这类攻击的一个例子。</a:t>
            </a:r>
          </a:p>
        </p:txBody>
      </p:sp>
      <p:sp>
        <p:nvSpPr>
          <p:cNvPr id="3" name="标题 2"/>
          <p:cNvSpPr>
            <a:spLocks noGrp="1" noChangeArrowheads="1"/>
          </p:cNvSpPr>
          <p:nvPr>
            <p:ph type="title"/>
          </p:nvPr>
        </p:nvSpPr>
        <p:spPr/>
        <p:txBody>
          <a:bodyPr/>
          <a:lstStyle/>
          <a:p>
            <a:r>
              <a:rPr lang="zh-CN" altLang="en-US"/>
              <a:t>攻击手段</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800100" lvl="1" indent="-342900"/>
            <a:r>
              <a:rPr lang="zh-CN" altLang="en-US"/>
              <a:t>安全攻击</a:t>
            </a:r>
            <a:r>
              <a:rPr lang="en-US" altLang="zh-CN"/>
              <a:t> </a:t>
            </a:r>
            <a:r>
              <a:rPr lang="zh-CN" altLang="en-US"/>
              <a:t>特别是，如果水印算法已知，攻击者可以不断尝试以使水印无效或破解水印。在这种情况下，我们谈论的就是对安全性的攻击，即安全攻击。如果嵌入的信息不能被破坏、检测或伪造，则认为水印算法是安全的。</a:t>
            </a:r>
          </a:p>
          <a:p>
            <a:pPr marL="800100" lvl="1" indent="-342900"/>
            <a:r>
              <a:rPr lang="zh-CN" altLang="en-US"/>
              <a:t>密码攻击</a:t>
            </a:r>
            <a:r>
              <a:rPr lang="en-US" altLang="zh-CN"/>
              <a:t> </a:t>
            </a:r>
            <a:r>
              <a:rPr lang="zh-CN" altLang="en-US"/>
              <a:t>密码攻击处理的是对安全的破解。例如，使用穷举暴力破解方法找到秘密的水印密钥就是一种密码攻击。这类攻击的另一个例子是</a:t>
            </a:r>
            <a:r>
              <a:rPr lang="en-US" altLang="zh-CN"/>
              <a:t> Oracle </a:t>
            </a:r>
            <a:r>
              <a:rPr lang="zh-CN" altLang="en-US"/>
              <a:t>攻击。在</a:t>
            </a:r>
            <a:r>
              <a:rPr lang="en-US" altLang="zh-CN"/>
              <a:t> Oracle </a:t>
            </a:r>
            <a:r>
              <a:rPr lang="zh-CN" altLang="en-US"/>
              <a:t>攻击中，当有公共水印检测设备可用时，就会创建一个非水印对象。这类攻击与密码学中使用的攻击类似。</a:t>
            </a:r>
          </a:p>
          <a:p>
            <a:pPr marL="800100" lvl="1" indent="-342900"/>
            <a:r>
              <a:rPr lang="zh-CN" altLang="en-US"/>
              <a:t>主动攻击</a:t>
            </a:r>
            <a:r>
              <a:rPr lang="en-US" altLang="zh-CN"/>
              <a:t> </a:t>
            </a:r>
            <a:r>
              <a:rPr lang="zh-CN" altLang="en-US"/>
              <a:t>主动攻击是指黑客试图故意删除水印或使其无法检测到。这在版权保护、指纹识别或复制控制等方面都是一个大问题。</a:t>
            </a:r>
          </a:p>
        </p:txBody>
      </p:sp>
      <p:sp>
        <p:nvSpPr>
          <p:cNvPr id="3" name="标题 2"/>
          <p:cNvSpPr>
            <a:spLocks noGrp="1" noChangeArrowheads="1"/>
          </p:cNvSpPr>
          <p:nvPr>
            <p:ph type="title"/>
          </p:nvPr>
        </p:nvSpPr>
        <p:spPr/>
        <p:txBody>
          <a:bodyPr/>
          <a:lstStyle/>
          <a:p>
            <a:r>
              <a:rPr lang="zh-CN" altLang="en-US"/>
              <a:t>攻击手段</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随着信息技术的快速发展，数据的生成、存储和传播速度前所未有。然而，这也使得数据篡改、伪造等问题日益突出。为了确保数据的真实性和可信度，区块链存证技术应运而生。区块链存证技术利用区块链技术的去中心化、不可篡改等特性，为数据提供了一种全新的存证方式。本节将对区块链存证技术的原理和应用进行探讨。</a:t>
            </a:r>
          </a:p>
        </p:txBody>
      </p:sp>
      <p:sp>
        <p:nvSpPr>
          <p:cNvPr id="3" name="标题 2"/>
          <p:cNvSpPr>
            <a:spLocks noGrp="1" noChangeArrowheads="1"/>
          </p:cNvSpPr>
          <p:nvPr>
            <p:ph type="title"/>
          </p:nvPr>
        </p:nvSpPr>
        <p:spPr/>
        <p:txBody>
          <a:bodyPr/>
          <a:lstStyle/>
          <a:p>
            <a:r>
              <a:rPr lang="zh-CN" altLang="en-US"/>
              <a:t>区块链存证技术</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区块链存证技术的核心原理在于利用区块链的去中心化特性，将数据存储在多个节点上，确保数据不会被篡改。具体来说，区块链存证技术的工作原理可以概括为以下几个步骤：</a:t>
            </a:r>
          </a:p>
          <a:p>
            <a:pPr lvl="1"/>
            <a:r>
              <a:rPr lang="zh-CN" altLang="en-US"/>
              <a:t>数据哈希：首先，需要对原始数据进行哈希处理，生成一个固定长度的哈希值。哈希值具有唯一性，即不同的原始数据会生成不同的哈希值。同时，哈希值还具有不可逆性，即无法通过哈希值还原出原始数据。</a:t>
            </a:r>
          </a:p>
          <a:p>
            <a:pPr lvl="1"/>
            <a:r>
              <a:rPr lang="zh-CN" altLang="en-US"/>
              <a:t>数据上链：将生成的哈希值作为区块链上的一个交易记录，通过共识算法将其写入区块链。一旦数据被写入区块链，就无法被篡改或删除。</a:t>
            </a:r>
          </a:p>
          <a:p>
            <a:pPr lvl="1"/>
            <a:r>
              <a:rPr lang="zh-CN" altLang="en-US"/>
              <a:t>数据验证：当需要验证数据的真实性时，可以通过对原始数据再次进行哈希处理，生成新的哈希值。然后，将这个新的哈希值与区块链上的哈希值进行对比。如果两者一致，说明原始数据自被写入区块链以来未被篡改，从而验证了数据的真实性。</a:t>
            </a:r>
          </a:p>
        </p:txBody>
      </p:sp>
      <p:sp>
        <p:nvSpPr>
          <p:cNvPr id="3" name="标题 2"/>
          <p:cNvSpPr>
            <a:spLocks noGrp="1" noChangeArrowheads="1"/>
          </p:cNvSpPr>
          <p:nvPr>
            <p:ph type="title"/>
          </p:nvPr>
        </p:nvSpPr>
        <p:spPr/>
        <p:txBody>
          <a:bodyPr/>
          <a:lstStyle/>
          <a:p>
            <a:r>
              <a:rPr lang="zh-CN" altLang="en-US"/>
              <a:t>技术原理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区块链存证技术由于其独特的优势，在众多领域得到了广泛的应用。以下是几个典型的应用场景。</a:t>
            </a:r>
          </a:p>
          <a:p>
            <a:pPr marL="342900" indent="-342900"/>
            <a:r>
              <a:rPr lang="zh-CN" altLang="en-US"/>
              <a:t>（</a:t>
            </a:r>
            <a:r>
              <a:rPr lang="en-US" altLang="zh-CN"/>
              <a:t>1</a:t>
            </a:r>
            <a:r>
              <a:rPr lang="zh-CN" altLang="en-US"/>
              <a:t>）版权保护</a:t>
            </a:r>
            <a:r>
              <a:rPr lang="en-US" altLang="zh-CN"/>
              <a:t> </a:t>
            </a:r>
            <a:r>
              <a:rPr lang="zh-CN" altLang="en-US"/>
              <a:t>区块链技术在版权保护领域具有不可篡改、透明可追溯、去中心化等特性，能有效解决传统版权保护中存在的确权难、维权慢、交易不透明等痛点。《中华人民共和国民事诉讼法》已经认可了</a:t>
            </a:r>
            <a:r>
              <a:rPr lang="en-US" altLang="zh-CN"/>
              <a:t>“</a:t>
            </a:r>
            <a:r>
              <a:rPr lang="zh-CN" altLang="en-US"/>
              <a:t>电子证据</a:t>
            </a:r>
            <a:r>
              <a:rPr lang="en-US" altLang="zh-CN"/>
              <a:t>”</a:t>
            </a:r>
            <a:r>
              <a:rPr lang="zh-CN" altLang="en-US"/>
              <a:t>这一证据类别。虽然将区块链存证技术运用在版权领域有其可能性与实用性，为版权取证提供了新的方向，但区块链技术并不完美，仍存在着一些局限性。例如，链下数据真实性验证难、存储效率低及跨链兼容性差；存在法律与监管挑战，包括全球法律体系不统一、智能合约难以适配复杂版权权益；还面临市场接受度问题，传统版权主体惯性强且技术推广成本较高。</a:t>
            </a:r>
          </a:p>
        </p:txBody>
      </p:sp>
      <p:sp>
        <p:nvSpPr>
          <p:cNvPr id="3" name="标题 2"/>
          <p:cNvSpPr>
            <a:spLocks noGrp="1" noChangeArrowheads="1"/>
          </p:cNvSpPr>
          <p:nvPr>
            <p:ph type="title"/>
          </p:nvPr>
        </p:nvSpPr>
        <p:spPr/>
        <p:txBody>
          <a:bodyPr/>
          <a:lstStyle/>
          <a:p>
            <a:r>
              <a:rPr lang="zh-CN" altLang="en-US"/>
              <a:t>应用</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a:t>
            </a:r>
            <a:r>
              <a:rPr lang="en-US" altLang="zh-CN"/>
              <a:t>2</a:t>
            </a:r>
            <a:r>
              <a:rPr lang="zh-CN" altLang="en-US"/>
              <a:t>）供应链管理</a:t>
            </a:r>
            <a:r>
              <a:rPr lang="en-US" altLang="zh-CN"/>
              <a:t> </a:t>
            </a:r>
            <a:r>
              <a:rPr lang="zh-CN" altLang="en-US"/>
              <a:t>在供应链管理中，区块链存证技术可以记录产品的生产、流通、销售等全过程信息，确保产品的来源和品质可信。这有助于提高供应链的透明度和可追溯性，降低假冒伪劣产品的风险。</a:t>
            </a:r>
          </a:p>
          <a:p>
            <a:r>
              <a:rPr lang="zh-CN" altLang="en-US"/>
              <a:t>（</a:t>
            </a:r>
            <a:r>
              <a:rPr lang="en-US" altLang="zh-CN"/>
              <a:t>3</a:t>
            </a:r>
            <a:r>
              <a:rPr lang="zh-CN" altLang="en-US"/>
              <a:t>）电子取证</a:t>
            </a:r>
            <a:r>
              <a:rPr lang="en-US" altLang="zh-CN"/>
              <a:t> </a:t>
            </a:r>
            <a:r>
              <a:rPr lang="zh-CN" altLang="en-US"/>
              <a:t>在电子取证领域，区块链存证技术可以确保电子数据的真实性和可信度。当发生纠纷或犯罪行为时，可以通过区块链存证技术获取关键证据，为司法公正提供有力支持。</a:t>
            </a:r>
          </a:p>
          <a:p>
            <a:r>
              <a:rPr lang="zh-CN" altLang="en-US"/>
              <a:t>（</a:t>
            </a:r>
            <a:r>
              <a:rPr lang="en-US" altLang="zh-CN"/>
              <a:t>4</a:t>
            </a:r>
            <a:r>
              <a:rPr lang="zh-CN" altLang="en-US"/>
              <a:t>）身份认证</a:t>
            </a:r>
            <a:r>
              <a:rPr lang="en-US" altLang="zh-CN"/>
              <a:t> </a:t>
            </a:r>
            <a:r>
              <a:rPr lang="zh-CN" altLang="en-US"/>
              <a:t>在身份认证领域，区块链存证技术可以为个人身份提供一个不可篡改的数字身份证明。这有助于保护个人隐私和安全，防止身份被盗用或冒用。</a:t>
            </a:r>
          </a:p>
        </p:txBody>
      </p:sp>
      <p:sp>
        <p:nvSpPr>
          <p:cNvPr id="3" name="标题 2"/>
          <p:cNvSpPr>
            <a:spLocks noGrp="1" noChangeArrowheads="1"/>
          </p:cNvSpPr>
          <p:nvPr>
            <p:ph type="title"/>
          </p:nvPr>
        </p:nvSpPr>
        <p:spPr/>
        <p:txBody>
          <a:bodyPr/>
          <a:lstStyle/>
          <a:p>
            <a:r>
              <a:rPr lang="zh-CN" altLang="en-US"/>
              <a:t>应用</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20</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数据访问控制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dirty="0"/>
              <a:t>（</a:t>
            </a:r>
            <a:r>
              <a:rPr lang="en-US" altLang="zh-CN" dirty="0"/>
              <a:t>1</a:t>
            </a:r>
            <a:r>
              <a:rPr lang="zh-CN" altLang="en-US" dirty="0"/>
              <a:t>）密钥策略属性基加密（</a:t>
            </a:r>
            <a:r>
              <a:rPr lang="en-US" altLang="zh-CN" dirty="0"/>
              <a:t>KP-ABE</a:t>
            </a:r>
            <a:r>
              <a:rPr lang="zh-CN" altLang="en-US" dirty="0"/>
              <a:t>）</a:t>
            </a:r>
            <a:r>
              <a:rPr lang="en-US" altLang="zh-CN" dirty="0"/>
              <a:t> </a:t>
            </a:r>
            <a:r>
              <a:rPr lang="zh-CN" altLang="en-US" dirty="0"/>
              <a:t>在</a:t>
            </a:r>
            <a:r>
              <a:rPr lang="en-US" altLang="zh-CN" dirty="0"/>
              <a:t> KP-ABE </a:t>
            </a:r>
            <a:r>
              <a:rPr lang="zh-CN" altLang="en-US" dirty="0"/>
              <a:t>中，私钥与访问策略相关联，密文则与一组属性相关联。只有私钥的访问策略与密文的属性相匹配的用户才能解密数据。具体过程如下。</a:t>
            </a:r>
          </a:p>
          <a:p>
            <a:pPr marL="342900" indent="-342900"/>
            <a:r>
              <a:rPr lang="en-US" altLang="zh-CN" dirty="0"/>
              <a:t>1</a:t>
            </a:r>
            <a:r>
              <a:rPr lang="zh-CN" altLang="en-US" dirty="0"/>
              <a:t>）密钥生成：系统首先定义一组属性和相应的访问策略。用户的私钥根据所选择的访问策略生成，策略中包含了用户能够解密的属性集合。</a:t>
            </a:r>
          </a:p>
          <a:p>
            <a:pPr marL="342900" indent="-342900"/>
            <a:r>
              <a:rPr lang="en-US" altLang="zh-CN" dirty="0"/>
              <a:t>2</a:t>
            </a:r>
            <a:r>
              <a:rPr lang="zh-CN" altLang="en-US" dirty="0"/>
              <a:t>）加密：加密者选择一组属性来描述密文，并生成与这些属性相关联的密文。</a:t>
            </a:r>
          </a:p>
          <a:p>
            <a:pPr marL="342900" indent="-342900"/>
            <a:r>
              <a:rPr lang="en-US" altLang="zh-CN" dirty="0"/>
              <a:t>3</a:t>
            </a:r>
            <a:r>
              <a:rPr lang="zh-CN" altLang="en-US" dirty="0"/>
              <a:t>）解密：解密者使用自己的私钥尝试解密密文。只有当私钥中的访问策略与密文的属性匹配时，解密操作才会成功。</a:t>
            </a:r>
          </a:p>
        </p:txBody>
      </p:sp>
      <p:sp>
        <p:nvSpPr>
          <p:cNvPr id="3" name="灯片编号占位符 2"/>
          <p:cNvSpPr>
            <a:spLocks noGrp="1"/>
          </p:cNvSpPr>
          <p:nvPr>
            <p:ph type="sldNum" sz="quarter" idx="4"/>
          </p:nvPr>
        </p:nvSpPr>
        <p:spPr/>
        <p:txBody>
          <a:bodyPr/>
          <a:lstStyle/>
          <a:p>
            <a:fld id="{4124EDF5-87F7-4AC5-8292-B04417157FC2}" type="slidenum">
              <a:rPr lang="zh-CN" altLang="en-US" smtClean="0"/>
              <a:t>21</a:t>
            </a:fld>
            <a:endParaRPr lang="zh-CN" altLang="en-US"/>
          </a:p>
        </p:txBody>
      </p:sp>
      <p:sp>
        <p:nvSpPr>
          <p:cNvPr id="4" name="标题 3"/>
          <p:cNvSpPr>
            <a:spLocks noGrp="1"/>
          </p:cNvSpPr>
          <p:nvPr>
            <p:ph type="title"/>
          </p:nvPr>
        </p:nvSpPr>
        <p:spPr/>
        <p:txBody>
          <a:bodyPr/>
          <a:lstStyle/>
          <a:p>
            <a:r>
              <a:rPr lang="zh-CN" altLang="en-US" dirty="0"/>
              <a:t>技术原理</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a:t>
            </a:r>
            <a:r>
              <a:rPr lang="en-US" altLang="zh-CN"/>
              <a:t>2</a:t>
            </a:r>
            <a:r>
              <a:rPr lang="zh-CN" altLang="en-US"/>
              <a:t>）密文策略属性基加密（</a:t>
            </a:r>
            <a:r>
              <a:rPr lang="en-US" altLang="zh-CN"/>
              <a:t>CP-ABE</a:t>
            </a:r>
            <a:r>
              <a:rPr lang="zh-CN" altLang="en-US"/>
              <a:t>）</a:t>
            </a:r>
          </a:p>
          <a:p>
            <a:pPr marL="0" indent="0">
              <a:buNone/>
            </a:pPr>
            <a:r>
              <a:rPr lang="zh-CN" altLang="en-US"/>
              <a:t>在</a:t>
            </a:r>
            <a:r>
              <a:rPr lang="en-US" altLang="zh-CN"/>
              <a:t> CP-ABE </a:t>
            </a:r>
            <a:r>
              <a:rPr lang="zh-CN" altLang="en-US"/>
              <a:t>中，密文与访问策略相关联，私钥则与一组属性相关联。只有私钥的属性满足密文的访问策略的用户才能解密数据。具体过程如下：</a:t>
            </a:r>
          </a:p>
          <a:p>
            <a:pPr marL="342900" indent="-342900"/>
            <a:r>
              <a:rPr lang="en-US" altLang="zh-CN"/>
              <a:t>1</a:t>
            </a:r>
            <a:r>
              <a:rPr lang="zh-CN" altLang="en-US"/>
              <a:t>）密钥生成：用户选择一组属性来生成私钥，这些属性描述了用户能够解密的策略。</a:t>
            </a:r>
          </a:p>
          <a:p>
            <a:pPr marL="342900" indent="-342900"/>
            <a:r>
              <a:rPr lang="en-US" altLang="zh-CN"/>
              <a:t>2</a:t>
            </a:r>
            <a:r>
              <a:rPr lang="zh-CN" altLang="en-US"/>
              <a:t>）加密：加密者定义一个访问策略，并将策略与密文相关联。策略中包含了能够解密密文的属性条件。</a:t>
            </a:r>
          </a:p>
          <a:p>
            <a:pPr marL="342900" indent="-342900"/>
            <a:r>
              <a:rPr lang="en-US" altLang="zh-CN"/>
              <a:t>3</a:t>
            </a:r>
            <a:r>
              <a:rPr lang="zh-CN" altLang="en-US"/>
              <a:t>）解密：解密者使用自己的私钥尝试解密密文。只有当私钥的属性满足密文的访问策略时，解密操作才会成功。</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t>技术原理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属性基加密技术由于其灵活性和细粒度的访问控制特性，在许多领域得到了广泛的应用。以下是几个典型的应用场景。</a:t>
            </a:r>
          </a:p>
          <a:p>
            <a:pPr marL="342900" indent="-342900"/>
            <a:r>
              <a:rPr lang="zh-CN" altLang="en-US"/>
              <a:t>（</a:t>
            </a:r>
            <a:r>
              <a:rPr lang="en-US" altLang="zh-CN"/>
              <a:t>1</a:t>
            </a:r>
            <a:r>
              <a:rPr lang="zh-CN" altLang="en-US"/>
              <a:t>）云计算</a:t>
            </a:r>
            <a:r>
              <a:rPr lang="en-US" altLang="zh-CN"/>
              <a:t> </a:t>
            </a:r>
            <a:r>
              <a:rPr lang="zh-CN" altLang="en-US"/>
              <a:t>在云计算环境中，数据访问控制是一项关键任务。通过属性基加密技术，云服务提供商可以在不泄露数据内容的情况下，实现数据的细粒度访问控制。例如，可以根据用户的角色、部门或地理位置等属性，控制用户对存储在云中的数据的访问权限。</a:t>
            </a:r>
          </a:p>
          <a:p>
            <a:pPr marL="342900" indent="-342900"/>
            <a:r>
              <a:rPr lang="zh-CN" altLang="en-US"/>
              <a:t>（</a:t>
            </a:r>
            <a:r>
              <a:rPr lang="en-US" altLang="zh-CN"/>
              <a:t>2</a:t>
            </a:r>
            <a:r>
              <a:rPr lang="zh-CN" altLang="en-US"/>
              <a:t>）社交网络</a:t>
            </a:r>
            <a:r>
              <a:rPr lang="en-US" altLang="zh-CN"/>
              <a:t> </a:t>
            </a:r>
            <a:r>
              <a:rPr lang="zh-CN" altLang="en-US"/>
              <a:t>社交网络中的用户数据保护同样需要高效的访问控制机制。属性基加密技术可以帮助社交网络平台实现基于用户属性的数据访问控制，如根据用户的年龄、性别、兴趣等属性，控制用户对特定数据的访问权限。</a:t>
            </a:r>
          </a:p>
        </p:txBody>
      </p:sp>
      <p:sp>
        <p:nvSpPr>
          <p:cNvPr id="3" name="标题 2"/>
          <p:cNvSpPr>
            <a:spLocks noGrp="1" noChangeArrowheads="1"/>
          </p:cNvSpPr>
          <p:nvPr>
            <p:ph type="title"/>
          </p:nvPr>
        </p:nvSpPr>
        <p:spPr/>
        <p:txBody>
          <a:bodyPr/>
          <a:lstStyle/>
          <a:p>
            <a:r>
              <a:rPr lang="zh-CN" altLang="en-US"/>
              <a:t>应用</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a:t>
            </a:r>
            <a:r>
              <a:rPr lang="en-US" altLang="zh-CN"/>
              <a:t>3</a:t>
            </a:r>
            <a:r>
              <a:rPr lang="zh-CN" altLang="en-US"/>
              <a:t>）物联网</a:t>
            </a:r>
            <a:r>
              <a:rPr lang="en-US" altLang="zh-CN"/>
              <a:t> </a:t>
            </a:r>
            <a:r>
              <a:rPr lang="zh-CN" altLang="en-US"/>
              <a:t>在物联网中，大量的设备生成和共享数据，数据的安全性和隐私性至关重要。属性基加密技术可以用于实现设备之间的安全通信和数据共享。例如，可以根据设备的类型、所有者或位置等属性，控制设备对数据的访问权限。</a:t>
            </a:r>
          </a:p>
          <a:p>
            <a:pPr marL="0" indent="0">
              <a:buNone/>
            </a:pPr>
            <a:r>
              <a:rPr lang="zh-CN" altLang="en-US"/>
              <a:t>（</a:t>
            </a:r>
            <a:r>
              <a:rPr lang="en-US" altLang="zh-CN"/>
              <a:t>4</a:t>
            </a:r>
            <a:r>
              <a:rPr lang="zh-CN" altLang="en-US"/>
              <a:t>）电子商务</a:t>
            </a:r>
            <a:r>
              <a:rPr lang="en-US" altLang="zh-CN"/>
              <a:t> </a:t>
            </a:r>
            <a:r>
              <a:rPr lang="zh-CN" altLang="en-US"/>
              <a:t>在电子商务领域，保护交易数据和用户隐私同样重要。属性基加密技术可以用于实现基于用户属性的数据访问控制，如根据用户的购买历史、信用等级或地理位置等属性，控制用户对特定交易数据的访问权限。</a:t>
            </a:r>
          </a:p>
        </p:txBody>
      </p:sp>
      <p:sp>
        <p:nvSpPr>
          <p:cNvPr id="3" name="标题 2"/>
          <p:cNvSpPr>
            <a:spLocks noGrp="1" noChangeArrowheads="1"/>
          </p:cNvSpPr>
          <p:nvPr>
            <p:ph type="title"/>
          </p:nvPr>
        </p:nvSpPr>
        <p:spPr/>
        <p:txBody>
          <a:bodyPr/>
          <a:lstStyle/>
          <a:p>
            <a:r>
              <a:rPr lang="zh-CN" altLang="en-US"/>
              <a:t>应用</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25</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a:defRPr/>
            </a:pPr>
            <a:r>
              <a:rPr lang="zh-CN" altLang="en-US" dirty="0"/>
              <a:t>本章小结</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dirty="0"/>
              <a:t>数据流转安全是信息安全领域的一个重要部分，主要关注的是数据在生成、传输、存储和使用过程中的安全问题。在当前的大数据和云计算环境下，数据流转安全的重要性日益凸显。</a:t>
            </a:r>
          </a:p>
          <a:p>
            <a:pPr marL="0" indent="0">
              <a:buNone/>
            </a:pPr>
            <a:r>
              <a:rPr lang="zh-CN" altLang="en-US" dirty="0"/>
              <a:t>数字水印技术利用标记数据，实现对数据流转的全过程追踪。它最初用于版权保护，通过将秘密信息嵌入需要保护的数字媒体，然后检测和提取这些信息，揭示数字媒体的真实所有者。随着技术的发展和对数据安全需求的增长，数字水印技术广泛应用于数字媒体的保护、认证、分发和防伪溯源等领域。</a:t>
            </a:r>
          </a:p>
          <a:p>
            <a:pPr marL="0" indent="0">
              <a:buNone/>
            </a:pPr>
            <a:r>
              <a:rPr lang="zh-CN" altLang="en-US" dirty="0"/>
              <a:t>总的来说，数据流转安全是一个复杂而重要的议题，需要从多个角度和阶段来考虑和处理。只有这样，才能真正保护好我们的数据，防止数据泄露、篡改和丢失。</a:t>
            </a:r>
          </a:p>
        </p:txBody>
      </p:sp>
      <p:sp>
        <p:nvSpPr>
          <p:cNvPr id="3" name="灯片编号占位符 2"/>
          <p:cNvSpPr>
            <a:spLocks noGrp="1"/>
          </p:cNvSpPr>
          <p:nvPr>
            <p:ph type="sldNum" sz="quarter" idx="4"/>
          </p:nvPr>
        </p:nvSpPr>
        <p:spPr/>
        <p:txBody>
          <a:bodyPr/>
          <a:lstStyle/>
          <a:p>
            <a:fld id="{4124EDF5-87F7-4AC5-8292-B04417157FC2}" type="slidenum">
              <a:rPr lang="zh-CN" altLang="en-US" smtClean="0"/>
              <a:t>26</a:t>
            </a:fld>
            <a:endParaRPr lang="zh-CN" altLang="en-US"/>
          </a:p>
        </p:txBody>
      </p:sp>
      <p:sp>
        <p:nvSpPr>
          <p:cNvPr id="4" name="标题 3"/>
          <p:cNvSpPr>
            <a:spLocks noGrp="1"/>
          </p:cNvSpPr>
          <p:nvPr>
            <p:ph type="title"/>
          </p:nvPr>
        </p:nvSpPr>
        <p:spPr/>
        <p:txBody>
          <a:bodyPr/>
          <a:lstStyle/>
          <a:p>
            <a:r>
              <a:rPr lang="zh-CN" altLang="en-US" dirty="0"/>
              <a:t>本章小结</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0</TotalTime>
  <Words>3056</Words>
  <Application>Microsoft Office PowerPoint</Application>
  <PresentationFormat>宽屏</PresentationFormat>
  <Paragraphs>116</Paragraphs>
  <Slides>27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等线</vt:lpstr>
      <vt:lpstr>微软雅黑</vt:lpstr>
      <vt:lpstr>微软雅黑 Light</vt:lpstr>
      <vt:lpstr>Arial</vt:lpstr>
      <vt:lpstr>Times New Roman</vt:lpstr>
      <vt:lpstr>Verdana</vt:lpstr>
      <vt:lpstr>1_ITTC_template</vt:lpstr>
      <vt:lpstr>数据流转安全</vt:lpstr>
      <vt:lpstr>内容提纲</vt:lpstr>
      <vt:lpstr>PowerPoint 演示文稿</vt:lpstr>
      <vt:lpstr>引言</vt:lpstr>
      <vt:lpstr>PowerPoint 演示文稿</vt:lpstr>
      <vt:lpstr>概述</vt:lpstr>
      <vt:lpstr>概述</vt:lpstr>
      <vt:lpstr>概述</vt:lpstr>
      <vt:lpstr>技术原理</vt:lpstr>
      <vt:lpstr>技术原理</vt:lpstr>
      <vt:lpstr>技术原理</vt:lpstr>
      <vt:lpstr>应用</vt:lpstr>
      <vt:lpstr>应用</vt:lpstr>
      <vt:lpstr>攻击手段</vt:lpstr>
      <vt:lpstr>攻击手段</vt:lpstr>
      <vt:lpstr>区块链存证技术</vt:lpstr>
      <vt:lpstr>技术原理</vt:lpstr>
      <vt:lpstr>应用</vt:lpstr>
      <vt:lpstr>应用</vt:lpstr>
      <vt:lpstr>PowerPoint 演示文稿</vt:lpstr>
      <vt:lpstr>技术原理</vt:lpstr>
      <vt:lpstr>技术原理</vt:lpstr>
      <vt:lpstr>应用</vt:lpstr>
      <vt:lpstr>应用</vt:lpstr>
      <vt:lpstr>PowerPoint 演示文稿</vt:lpstr>
      <vt:lpstr>本章小结</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subject>大数据安全与隐私保护 - 课件</dc:subject>
  <dc:creator>北邮石瑞生</dc:creator>
  <cp:lastModifiedBy>bing han</cp:lastModifiedBy>
  <cp:revision>253</cp:revision>
  <cp:lastPrinted>2025-09-06T02:18:38Z</cp:lastPrinted>
  <dcterms:created xsi:type="dcterms:W3CDTF">2025-09-06T02:18:38Z</dcterms:created>
  <dcterms:modified xsi:type="dcterms:W3CDTF">2025-09-07T01:59:54Z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24AFB091049FBE34FE99BB683331BC00_43</vt:lpwstr>
  </property>
  <property fmtid="{D5CDD505-2E9C-101B-9397-08002B2CF9AE}" pid="3" name="KSOProductBuildVer">
    <vt:lpwstr>2052-7.3.1.8967</vt:lpwstr>
  </property>
</Properties>
</file>