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256" r:id="rId2"/>
    <p:sldId id="257" r:id="rId3"/>
    <p:sldId id="333" r:id="rId4"/>
    <p:sldId id="329" r:id="rId5"/>
    <p:sldId id="332" r:id="rId6"/>
    <p:sldId id="330" r:id="rId7"/>
    <p:sldId id="328" r:id="rId8"/>
    <p:sldId id="334" r:id="rId9"/>
    <p:sldId id="335" r:id="rId10"/>
    <p:sldId id="315" r:id="rId11"/>
    <p:sldId id="316" r:id="rId12"/>
    <p:sldId id="317" r:id="rId13"/>
    <p:sldId id="336" r:id="rId14"/>
    <p:sldId id="337" r:id="rId15"/>
    <p:sldId id="338" r:id="rId16"/>
    <p:sldId id="341" r:id="rId17"/>
    <p:sldId id="340" r:id="rId18"/>
    <p:sldId id="339" r:id="rId19"/>
    <p:sldId id="342" r:id="rId20"/>
    <p:sldId id="343" r:id="rId21"/>
    <p:sldId id="344" r:id="rId22"/>
    <p:sldId id="345" r:id="rId23"/>
    <p:sldId id="346" r:id="rId24"/>
    <p:sldId id="348" r:id="rId25"/>
    <p:sldId id="347" r:id="rId26"/>
    <p:sldId id="349" r:id="rId27"/>
    <p:sldId id="350" r:id="rId28"/>
    <p:sldId id="351" r:id="rId29"/>
    <p:sldId id="352" r:id="rId30"/>
    <p:sldId id="353" r:id="rId31"/>
    <p:sldId id="354" r:id="rId32"/>
    <p:sldId id="355" r:id="rId33"/>
    <p:sldId id="357" r:id="rId34"/>
    <p:sldId id="358" r:id="rId35"/>
    <p:sldId id="359" r:id="rId36"/>
    <p:sldId id="362" r:id="rId37"/>
    <p:sldId id="361" r:id="rId38"/>
    <p:sldId id="360" r:id="rId39"/>
    <p:sldId id="356" r:id="rId40"/>
    <p:sldId id="363" r:id="rId41"/>
    <p:sldId id="364" r:id="rId42"/>
    <p:sldId id="365" r:id="rId43"/>
    <p:sldId id="367" r:id="rId44"/>
    <p:sldId id="366" r:id="rId45"/>
    <p:sldId id="368" r:id="rId46"/>
    <p:sldId id="369" r:id="rId47"/>
    <p:sldId id="370" r:id="rId48"/>
    <p:sldId id="372" r:id="rId49"/>
    <p:sldId id="371" r:id="rId50"/>
    <p:sldId id="373" r:id="rId51"/>
    <p:sldId id="376" r:id="rId52"/>
    <p:sldId id="374" r:id="rId53"/>
    <p:sldId id="375" r:id="rId54"/>
    <p:sldId id="318" r:id="rId55"/>
    <p:sldId id="309" r:id="rId56"/>
  </p:sldIdLst>
  <p:sldSz cx="12192000" cy="6858000"/>
  <p:notesSz cx="6797675" cy="9926638"/>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AE2CA"/>
    <a:srgbClr val="DDF3EA"/>
    <a:srgbClr val="D5ECF7"/>
    <a:srgbClr val="B2F0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91" autoAdjust="0"/>
    <p:restoredTop sz="81333" autoAdjust="0"/>
  </p:normalViewPr>
  <p:slideViewPr>
    <p:cSldViewPr snapToGrid="0">
      <p:cViewPr varScale="1">
        <p:scale>
          <a:sx n="68" d="100"/>
          <a:sy n="68" d="100"/>
        </p:scale>
        <p:origin x="84"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1C832037-4A49-4415-832B-B2AFC6447A04}" type="datetimeFigureOut">
              <a:rPr lang="zh-CN" altLang="en-US" smtClean="0"/>
              <a:t>2025/9/10</a:t>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9683F9F3-619C-4ECD-A17C-F9C2275B028F}" type="slidenum">
              <a:rPr lang="zh-CN" altLang="en-US" smtClean="0"/>
              <a:t>‹#›</a:t>
            </a:fld>
            <a:endParaRPr lang="zh-CN" altLang="en-US"/>
          </a:p>
        </p:txBody>
      </p:sp>
    </p:spTree>
    <p:extLst>
      <p:ext uri="{BB962C8B-B14F-4D97-AF65-F5344CB8AC3E}">
        <p14:creationId xmlns:p14="http://schemas.microsoft.com/office/powerpoint/2010/main" val="4286556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83F9F3-619C-4ECD-A17C-F9C2275B028F}" type="slidenum">
              <a:rPr lang="zh-CN" altLang="en-US" smtClean="0"/>
              <a:t>19</a:t>
            </a:fld>
            <a:endParaRPr lang="zh-CN" altLang="en-US"/>
          </a:p>
        </p:txBody>
      </p:sp>
    </p:spTree>
    <p:extLst>
      <p:ext uri="{BB962C8B-B14F-4D97-AF65-F5344CB8AC3E}">
        <p14:creationId xmlns:p14="http://schemas.microsoft.com/office/powerpoint/2010/main" val="437772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83F9F3-619C-4ECD-A17C-F9C2275B028F}" type="slidenum">
              <a:rPr lang="zh-CN" altLang="en-US" smtClean="0"/>
              <a:t>29</a:t>
            </a:fld>
            <a:endParaRPr lang="zh-CN" altLang="en-US"/>
          </a:p>
        </p:txBody>
      </p:sp>
    </p:spTree>
    <p:extLst>
      <p:ext uri="{BB962C8B-B14F-4D97-AF65-F5344CB8AC3E}">
        <p14:creationId xmlns:p14="http://schemas.microsoft.com/office/powerpoint/2010/main" val="3982721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83F9F3-619C-4ECD-A17C-F9C2275B028F}" type="slidenum">
              <a:rPr lang="zh-CN" altLang="en-US" smtClean="0"/>
              <a:t>33</a:t>
            </a:fld>
            <a:endParaRPr lang="zh-CN" altLang="en-US"/>
          </a:p>
        </p:txBody>
      </p:sp>
    </p:spTree>
    <p:extLst>
      <p:ext uri="{BB962C8B-B14F-4D97-AF65-F5344CB8AC3E}">
        <p14:creationId xmlns:p14="http://schemas.microsoft.com/office/powerpoint/2010/main" val="1789464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683F9F3-619C-4ECD-A17C-F9C2275B028F}" type="slidenum">
              <a:rPr lang="zh-CN" altLang="en-US" smtClean="0"/>
              <a:t>41</a:t>
            </a:fld>
            <a:endParaRPr lang="zh-CN" altLang="en-US"/>
          </a:p>
        </p:txBody>
      </p:sp>
    </p:spTree>
    <p:extLst>
      <p:ext uri="{BB962C8B-B14F-4D97-AF65-F5344CB8AC3E}">
        <p14:creationId xmlns:p14="http://schemas.microsoft.com/office/powerpoint/2010/main" val="16837836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gradFill flip="none" rotWithShape="1">
          <a:gsLst>
            <a:gs pos="0">
              <a:srgbClr val="002060"/>
            </a:gs>
            <a:gs pos="50000">
              <a:srgbClr val="00577B"/>
            </a:gs>
            <a:gs pos="100000">
              <a:srgbClr val="002060"/>
            </a:gs>
          </a:gsLst>
          <a:lin ang="5400000" scaled="0"/>
          <a:tileRect/>
        </a:gradFill>
        <a:effectLst/>
      </p:bgPr>
    </p:bg>
    <p:spTree>
      <p:nvGrpSpPr>
        <p:cNvPr id="1" name=""/>
        <p:cNvGrpSpPr/>
        <p:nvPr/>
      </p:nvGrpSpPr>
      <p:grpSpPr>
        <a:xfrm>
          <a:off x="0" y="0"/>
          <a:ext cx="0" cy="0"/>
          <a:chOff x="0" y="0"/>
          <a:chExt cx="0" cy="0"/>
        </a:xfrm>
      </p:grpSpPr>
      <p:sp>
        <p:nvSpPr>
          <p:cNvPr id="18460" name="Rectangle 28"/>
          <p:cNvSpPr>
            <a:spLocks noGrp="1" noChangeArrowheads="1"/>
          </p:cNvSpPr>
          <p:nvPr>
            <p:ph type="ctrTitle"/>
          </p:nvPr>
        </p:nvSpPr>
        <p:spPr>
          <a:xfrm>
            <a:off x="398457" y="1722476"/>
            <a:ext cx="11419479" cy="1758356"/>
          </a:xfrm>
          <a:prstGeom prst="rect">
            <a:avLst/>
          </a:prstGeom>
        </p:spPr>
        <p:txBody>
          <a:bodyPr anchor="ctr"/>
          <a:lstStyle>
            <a:lvl1pPr algn="ctr">
              <a:defRPr sz="4400" b="1">
                <a:solidFill>
                  <a:schemeClr val="bg1"/>
                </a:solidFill>
                <a:latin typeface="Arial" panose="020B0604020202020204" pitchFamily="34" charset="0"/>
                <a:ea typeface="黑体" panose="02010609060101010101" pitchFamily="49" charset="-122"/>
                <a:cs typeface="Arial" panose="020B0604020202020204" pitchFamily="34" charset="0"/>
              </a:defRPr>
            </a:lvl1pPr>
          </a:lstStyle>
          <a:p>
            <a:r>
              <a:rPr lang="zh-CN" altLang="en-US"/>
              <a:t>单击此处编辑母版标题样式</a:t>
            </a:r>
            <a:endParaRPr lang="zh-CN" altLang="en-US" dirty="0"/>
          </a:p>
        </p:txBody>
      </p:sp>
      <p:sp>
        <p:nvSpPr>
          <p:cNvPr id="18461" name="Rectangle 29"/>
          <p:cNvSpPr>
            <a:spLocks noGrp="1" noChangeArrowheads="1"/>
          </p:cNvSpPr>
          <p:nvPr>
            <p:ph type="subTitle" idx="1"/>
          </p:nvPr>
        </p:nvSpPr>
        <p:spPr>
          <a:xfrm>
            <a:off x="3252374" y="4627597"/>
            <a:ext cx="5689600" cy="762000"/>
          </a:xfrm>
          <a:prstGeom prst="rect">
            <a:avLst/>
          </a:prstGeom>
        </p:spPr>
        <p:txBody>
          <a:bodyPr/>
          <a:lstStyle>
            <a:lvl1pPr marL="0" indent="0" algn="ctr">
              <a:buFontTx/>
              <a:buNone/>
              <a:defRPr>
                <a:solidFill>
                  <a:schemeClr val="bg1"/>
                </a:solidFill>
                <a:latin typeface="Arial" panose="020B0604020202020204" pitchFamily="34" charset="0"/>
                <a:ea typeface="黑体" panose="02010609060101010101" pitchFamily="49" charset="-122"/>
                <a:cs typeface="Arial" panose="020B0604020202020204" pitchFamily="34" charset="0"/>
              </a:defRPr>
            </a:lvl1pPr>
          </a:lstStyle>
          <a:p>
            <a:r>
              <a:rPr lang="zh-CN" altLang="en-US"/>
              <a:t>单击以编辑母版副标题样式</a:t>
            </a:r>
            <a:endParaRPr lang="zh-CN" altLang="en-US" dirty="0"/>
          </a:p>
        </p:txBody>
      </p:sp>
      <p:grpSp>
        <p:nvGrpSpPr>
          <p:cNvPr id="32" name="Group 68"/>
          <p:cNvGrpSpPr/>
          <p:nvPr/>
        </p:nvGrpSpPr>
        <p:grpSpPr>
          <a:xfrm>
            <a:off x="398451" y="1526023"/>
            <a:ext cx="11420820" cy="2098525"/>
            <a:chOff x="383249" y="1567586"/>
            <a:chExt cx="6803935" cy="1936642"/>
          </a:xfrm>
        </p:grpSpPr>
        <p:cxnSp>
          <p:nvCxnSpPr>
            <p:cNvPr id="33" name="Straight Connector 69"/>
            <p:cNvCxnSpPr/>
            <p:nvPr/>
          </p:nvCxnSpPr>
          <p:spPr>
            <a:xfrm>
              <a:off x="383249" y="1567586"/>
              <a:ext cx="6803136" cy="0"/>
            </a:xfrm>
            <a:prstGeom prst="line">
              <a:avLst/>
            </a:prstGeom>
            <a:ln w="476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70"/>
            <p:cNvCxnSpPr/>
            <p:nvPr/>
          </p:nvCxnSpPr>
          <p:spPr>
            <a:xfrm>
              <a:off x="384048" y="3504228"/>
              <a:ext cx="6803136"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2930" y="359110"/>
            <a:ext cx="3408737" cy="1023198"/>
          </a:xfrm>
          <a:prstGeom prst="rect">
            <a:avLst/>
          </a:prstGeom>
        </p:spPr>
      </p:pic>
    </p:spTree>
    <p:extLst>
      <p:ext uri="{BB962C8B-B14F-4D97-AF65-F5344CB8AC3E}">
        <p14:creationId xmlns:p14="http://schemas.microsoft.com/office/powerpoint/2010/main" val="6760111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10" name="Rectangle 9"/>
          <p:cNvSpPr>
            <a:spLocks noChangeArrowheads="1"/>
          </p:cNvSpPr>
          <p:nvPr/>
        </p:nvSpPr>
        <p:spPr bwMode="auto">
          <a:xfrm>
            <a:off x="812800" y="0"/>
            <a:ext cx="11379200" cy="6858000"/>
          </a:xfrm>
          <a:prstGeom prst="rect">
            <a:avLst/>
          </a:prstGeom>
          <a:solidFill>
            <a:schemeClr val="bg1"/>
          </a:solidFill>
          <a:ln w="9525">
            <a:noFill/>
            <a:miter lim="800000"/>
            <a:headEnd/>
            <a:tailEnd/>
          </a:ln>
        </p:spPr>
        <p:txBody>
          <a:bodyPr wrap="none" anchor="ctr"/>
          <a:lstStyle/>
          <a:p>
            <a:pPr algn="ctr">
              <a:defRPr/>
            </a:pPr>
            <a:endParaRPr lang="zh-CN" altLang="en-US" sz="1350" b="0">
              <a:latin typeface="Arial" charset="0"/>
            </a:endParaRPr>
          </a:p>
        </p:txBody>
      </p:sp>
      <p:sp>
        <p:nvSpPr>
          <p:cNvPr id="11" name="Rectangle 17"/>
          <p:cNvSpPr>
            <a:spLocks noGrp="1" noChangeArrowheads="1"/>
          </p:cNvSpPr>
          <p:nvPr>
            <p:ph idx="1"/>
          </p:nvPr>
        </p:nvSpPr>
        <p:spPr bwMode="auto">
          <a:xfrm>
            <a:off x="371301" y="1232705"/>
            <a:ext cx="11464528" cy="50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20204" pitchFamily="34" charset="0"/>
              </a:defRPr>
            </a:lvl1pPr>
            <a:lvl2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20204" pitchFamily="34" charset="0"/>
              </a:defRPr>
            </a:lvl2pPr>
            <a:lvl3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20204" pitchFamily="34" charset="0"/>
              </a:defRPr>
            </a:lvl3pPr>
            <a:lvl4pPr>
              <a:lnSpc>
                <a:spcPct val="120000"/>
              </a:lnSpc>
              <a:spcBef>
                <a:spcPts val="600"/>
              </a:spcBef>
              <a:spcAft>
                <a:spcPts val="600"/>
              </a:spcAft>
              <a:buClr>
                <a:srgbClr val="FF9933"/>
              </a:buClr>
              <a:defRPr b="1" i="0">
                <a:latin typeface="微软雅黑 Light" panose="020B0502040204020203" pitchFamily="34" charset="-122"/>
                <a:ea typeface="微软雅黑 Light" panose="020B0502040204020203" pitchFamily="34" charset="-122"/>
                <a:cs typeface="Arial" panose="020B0604020202020204" pitchFamily="34" charset="0"/>
              </a:defRPr>
            </a:lvl4p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12" name="Rectangle 18"/>
          <p:cNvSpPr>
            <a:spLocks noGrp="1" noChangeArrowheads="1"/>
          </p:cNvSpPr>
          <p:nvPr>
            <p:ph type="dt" sz="half" idx="2"/>
          </p:nvPr>
        </p:nvSpPr>
        <p:spPr bwMode="auto">
          <a:xfrm>
            <a:off x="371301" y="64008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100" b="0">
                <a:latin typeface="Times New Roman" panose="02020603050405020304" pitchFamily="18" charset="0"/>
                <a:ea typeface="黑体" panose="02010609060101010101" pitchFamily="49" charset="-122"/>
                <a:cs typeface="Times New Roman" panose="02020603050405020304" pitchFamily="18" charset="0"/>
              </a:defRPr>
            </a:lvl1pPr>
          </a:lstStyle>
          <a:p>
            <a:fld id="{F5FD63C8-53BE-4D22-844B-8317250BA1AB}" type="datetime1">
              <a:rPr lang="zh-CN" altLang="en-US" smtClean="0"/>
              <a:t>2025/9/10</a:t>
            </a:fld>
            <a:endParaRPr lang="zh-CN" altLang="en-US"/>
          </a:p>
        </p:txBody>
      </p:sp>
      <p:sp>
        <p:nvSpPr>
          <p:cNvPr id="13" name="Rectangle 19"/>
          <p:cNvSpPr>
            <a:spLocks noGrp="1" noChangeArrowheads="1"/>
          </p:cNvSpPr>
          <p:nvPr>
            <p:ph type="ftr" sz="quarter" idx="3"/>
          </p:nvPr>
        </p:nvSpPr>
        <p:spPr bwMode="auto">
          <a:xfrm>
            <a:off x="4132349" y="64008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100" b="0">
                <a:latin typeface="+mn-lt"/>
                <a:ea typeface="黑体" panose="02010609060101010101" pitchFamily="49" charset="-122"/>
                <a:cs typeface="Arial" panose="020B0604020202020204" pitchFamily="34" charset="0"/>
              </a:defRPr>
            </a:lvl1pPr>
          </a:lstStyle>
          <a:p>
            <a:endParaRPr lang="zh-CN" altLang="en-US"/>
          </a:p>
        </p:txBody>
      </p:sp>
      <p:sp>
        <p:nvSpPr>
          <p:cNvPr id="14" name="Rectangle 20"/>
          <p:cNvSpPr>
            <a:spLocks noGrp="1" noChangeArrowheads="1"/>
          </p:cNvSpPr>
          <p:nvPr>
            <p:ph type="sldNum" sz="quarter" idx="4"/>
          </p:nvPr>
        </p:nvSpPr>
        <p:spPr bwMode="auto">
          <a:xfrm>
            <a:off x="9303940" y="64008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100" b="0">
                <a:latin typeface="Times New Roman" panose="02020603050405020304" pitchFamily="18" charset="0"/>
                <a:ea typeface="黑体" panose="02010609060101010101" pitchFamily="49" charset="-122"/>
                <a:cs typeface="Times New Roman" panose="02020603050405020304" pitchFamily="18" charset="0"/>
              </a:defRPr>
            </a:lvl1pPr>
          </a:lstStyle>
          <a:p>
            <a:fld id="{4124EDF5-87F7-4AC5-8292-B04417157FC2}" type="slidenum">
              <a:rPr lang="zh-CN" altLang="en-US" smtClean="0"/>
              <a:t>‹#›</a:t>
            </a:fld>
            <a:endParaRPr lang="zh-CN" altLang="en-US"/>
          </a:p>
        </p:txBody>
      </p:sp>
      <p:sp>
        <p:nvSpPr>
          <p:cNvPr id="15" name="Rectangle 25"/>
          <p:cNvSpPr>
            <a:spLocks noGrp="1" noChangeArrowheads="1"/>
          </p:cNvSpPr>
          <p:nvPr>
            <p:ph type="title"/>
          </p:nvPr>
        </p:nvSpPr>
        <p:spPr bwMode="auto">
          <a:xfrm>
            <a:off x="371303" y="115888"/>
            <a:ext cx="10609810"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zh-CN" altLang="en-US" dirty="0"/>
          </a:p>
        </p:txBody>
      </p:sp>
      <p:cxnSp>
        <p:nvCxnSpPr>
          <p:cNvPr id="16" name="Straight Connector 9"/>
          <p:cNvCxnSpPr/>
          <p:nvPr/>
        </p:nvCxnSpPr>
        <p:spPr>
          <a:xfrm>
            <a:off x="0" y="1111652"/>
            <a:ext cx="12192000" cy="0"/>
          </a:xfrm>
          <a:prstGeom prst="line">
            <a:avLst/>
          </a:prstGeom>
          <a:ln w="47625">
            <a:gradFill flip="none" rotWithShape="1">
              <a:gsLst>
                <a:gs pos="100000">
                  <a:srgbClr val="004274"/>
                </a:gs>
                <a:gs pos="0">
                  <a:srgbClr val="008E95"/>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7" name="图片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29221" y="57944"/>
            <a:ext cx="990599" cy="990599"/>
          </a:xfrm>
          <a:prstGeom prst="rect">
            <a:avLst/>
          </a:prstGeom>
        </p:spPr>
      </p:pic>
    </p:spTree>
    <p:extLst>
      <p:ext uri="{BB962C8B-B14F-4D97-AF65-F5344CB8AC3E}">
        <p14:creationId xmlns:p14="http://schemas.microsoft.com/office/powerpoint/2010/main" val="33328286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 name="Rectangle 9"/>
          <p:cNvSpPr>
            <a:spLocks noChangeArrowheads="1"/>
          </p:cNvSpPr>
          <p:nvPr/>
        </p:nvSpPr>
        <p:spPr bwMode="auto">
          <a:xfrm>
            <a:off x="812800" y="0"/>
            <a:ext cx="11379200" cy="6858000"/>
          </a:xfrm>
          <a:prstGeom prst="rect">
            <a:avLst/>
          </a:prstGeom>
          <a:solidFill>
            <a:schemeClr val="bg1"/>
          </a:solidFill>
          <a:ln w="9525">
            <a:noFill/>
            <a:miter lim="800000"/>
            <a:headEnd/>
            <a:tailEnd/>
          </a:ln>
        </p:spPr>
        <p:txBody>
          <a:bodyPr wrap="none" anchor="ctr"/>
          <a:lstStyle/>
          <a:p>
            <a:pPr algn="ctr">
              <a:defRPr/>
            </a:pPr>
            <a:endParaRPr lang="zh-CN" altLang="en-US" sz="1350" b="0">
              <a:latin typeface="Arial" charset="0"/>
            </a:endParaRPr>
          </a:p>
        </p:txBody>
      </p:sp>
      <p:sp>
        <p:nvSpPr>
          <p:cNvPr id="13" name="Rectangle 17"/>
          <p:cNvSpPr txBox="1">
            <a:spLocks noChangeArrowheads="1"/>
          </p:cNvSpPr>
          <p:nvPr/>
        </p:nvSpPr>
        <p:spPr bwMode="auto">
          <a:xfrm>
            <a:off x="371301" y="1232705"/>
            <a:ext cx="11464528" cy="5047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just" rtl="0" eaLnBrk="1" fontAlgn="base" hangingPunct="1">
              <a:spcBef>
                <a:spcPct val="20000"/>
              </a:spcBef>
              <a:spcAft>
                <a:spcPct val="0"/>
              </a:spcAft>
              <a:buClr>
                <a:srgbClr val="FF9933"/>
              </a:buClr>
              <a:buChar char="•"/>
              <a:defRPr kumimoji="1" sz="2400">
                <a:solidFill>
                  <a:schemeClr val="tx1"/>
                </a:solidFill>
                <a:latin typeface="+mn-lt"/>
                <a:ea typeface="+mn-ea"/>
                <a:cs typeface="Times New Roman" panose="02020603050405020304" pitchFamily="18" charset="0"/>
              </a:defRPr>
            </a:lvl1pPr>
            <a:lvl2pPr marL="557213" indent="-214313" algn="just" rtl="0" eaLnBrk="1" fontAlgn="base" hangingPunct="1">
              <a:spcBef>
                <a:spcPct val="20000"/>
              </a:spcBef>
              <a:spcAft>
                <a:spcPct val="0"/>
              </a:spcAft>
              <a:buClr>
                <a:srgbClr val="FF9933"/>
              </a:buClr>
              <a:buChar char="–"/>
              <a:defRPr kumimoji="1" sz="2100">
                <a:solidFill>
                  <a:schemeClr val="tx1"/>
                </a:solidFill>
                <a:latin typeface="Times New Roman" panose="02020603050405020304" pitchFamily="18" charset="0"/>
                <a:ea typeface="+mn-ea"/>
                <a:cs typeface="Times New Roman" panose="02020603050405020304" pitchFamily="18" charset="0"/>
              </a:defRPr>
            </a:lvl2pPr>
            <a:lvl3pPr marL="857250" indent="-171450" algn="just" rtl="0" eaLnBrk="1" fontAlgn="base" hangingPunct="1">
              <a:spcBef>
                <a:spcPct val="20000"/>
              </a:spcBef>
              <a:spcAft>
                <a:spcPct val="0"/>
              </a:spcAft>
              <a:buClr>
                <a:srgbClr val="FF9933"/>
              </a:buClr>
              <a:buChar char="•"/>
              <a:defRPr kumimoji="1" sz="1800">
                <a:solidFill>
                  <a:schemeClr val="tx1"/>
                </a:solidFill>
                <a:latin typeface="Times New Roman" panose="02020603050405020304" pitchFamily="18" charset="0"/>
                <a:ea typeface="+mn-ea"/>
                <a:cs typeface="Times New Roman" panose="02020603050405020304" pitchFamily="18" charset="0"/>
              </a:defRPr>
            </a:lvl3pPr>
            <a:lvl4pPr marL="1200150" indent="-171450" algn="just" rtl="0" eaLnBrk="1" fontAlgn="base" hangingPunct="1">
              <a:spcBef>
                <a:spcPct val="20000"/>
              </a:spcBef>
              <a:spcAft>
                <a:spcPct val="0"/>
              </a:spcAft>
              <a:buClr>
                <a:srgbClr val="FF9933"/>
              </a:buClr>
              <a:buChar char="–"/>
              <a:defRPr kumimoji="1" sz="1500">
                <a:solidFill>
                  <a:schemeClr val="tx1"/>
                </a:solidFill>
                <a:latin typeface="Times New Roman" panose="02020603050405020304" pitchFamily="18" charset="0"/>
                <a:ea typeface="+mn-ea"/>
                <a:cs typeface="Times New Roman" panose="02020603050405020304" pitchFamily="18"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603050405020304" pitchFamily="18" charset="0"/>
                <a:ea typeface="+mn-ea"/>
                <a:cs typeface="Times New Roman" panose="0202060305040502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zh-CN" altLang="en-US" sz="2400" kern="0" dirty="0">
                <a:latin typeface="+mn-lt"/>
              </a:rPr>
              <a:t>编辑母版文本样式</a:t>
            </a:r>
          </a:p>
          <a:p>
            <a:pPr lvl="1"/>
            <a:r>
              <a:rPr lang="zh-CN" altLang="en-US" sz="2100" kern="0" dirty="0">
                <a:latin typeface="+mn-lt"/>
              </a:rPr>
              <a:t>第二级</a:t>
            </a:r>
          </a:p>
          <a:p>
            <a:pPr lvl="2"/>
            <a:r>
              <a:rPr lang="zh-CN" altLang="en-US" sz="1800" kern="0" dirty="0">
                <a:latin typeface="+mn-lt"/>
              </a:rPr>
              <a:t>第三级</a:t>
            </a:r>
          </a:p>
          <a:p>
            <a:pPr lvl="3"/>
            <a:r>
              <a:rPr lang="zh-CN" altLang="en-US" sz="1500" kern="0" dirty="0">
                <a:latin typeface="+mn-lt"/>
              </a:rPr>
              <a:t>第四级</a:t>
            </a:r>
          </a:p>
        </p:txBody>
      </p:sp>
      <p:sp>
        <p:nvSpPr>
          <p:cNvPr id="14" name="Rectangle 18"/>
          <p:cNvSpPr>
            <a:spLocks noGrp="1" noChangeArrowheads="1"/>
          </p:cNvSpPr>
          <p:nvPr>
            <p:ph type="dt" sz="half" idx="2"/>
          </p:nvPr>
        </p:nvSpPr>
        <p:spPr bwMode="auto">
          <a:xfrm>
            <a:off x="371301" y="64008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100" b="0">
                <a:latin typeface="Times New Roman" panose="02020603050405020304" pitchFamily="18" charset="0"/>
                <a:ea typeface="黑体" panose="02010609060101010101" pitchFamily="49" charset="-122"/>
                <a:cs typeface="Times New Roman" panose="02020603050405020304" pitchFamily="18" charset="0"/>
              </a:defRPr>
            </a:lvl1pPr>
          </a:lstStyle>
          <a:p>
            <a:fld id="{4C234528-C7A7-48E8-BE96-15E7A6625678}" type="datetime1">
              <a:rPr lang="zh-CN" altLang="en-US" smtClean="0"/>
              <a:t>2025/9/10</a:t>
            </a:fld>
            <a:endParaRPr lang="zh-CN" altLang="en-US"/>
          </a:p>
        </p:txBody>
      </p:sp>
      <p:sp>
        <p:nvSpPr>
          <p:cNvPr id="15" name="Rectangle 19"/>
          <p:cNvSpPr>
            <a:spLocks noGrp="1" noChangeArrowheads="1"/>
          </p:cNvSpPr>
          <p:nvPr>
            <p:ph type="ftr" sz="quarter" idx="3"/>
          </p:nvPr>
        </p:nvSpPr>
        <p:spPr bwMode="auto">
          <a:xfrm>
            <a:off x="4132349" y="64008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100" b="0">
                <a:latin typeface="Times New Roman" panose="02020603050405020304" pitchFamily="18" charset="0"/>
                <a:ea typeface="黑体" panose="02010609060101010101" pitchFamily="49" charset="-122"/>
                <a:cs typeface="Times New Roman" panose="02020603050405020304" pitchFamily="18" charset="0"/>
              </a:defRPr>
            </a:lvl1pPr>
          </a:lstStyle>
          <a:p>
            <a:endParaRPr lang="zh-CN" altLang="en-US"/>
          </a:p>
        </p:txBody>
      </p:sp>
      <p:sp>
        <p:nvSpPr>
          <p:cNvPr id="16" name="Rectangle 20"/>
          <p:cNvSpPr>
            <a:spLocks noGrp="1" noChangeArrowheads="1"/>
          </p:cNvSpPr>
          <p:nvPr>
            <p:ph type="sldNum" sz="quarter" idx="4"/>
          </p:nvPr>
        </p:nvSpPr>
        <p:spPr bwMode="auto">
          <a:xfrm>
            <a:off x="9303940" y="64008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100" b="0">
                <a:latin typeface="Times New Roman" panose="02020603050405020304" pitchFamily="18" charset="0"/>
                <a:ea typeface="黑体" panose="02010609060101010101" pitchFamily="49" charset="-122"/>
                <a:cs typeface="Times New Roman" panose="02020603050405020304" pitchFamily="18" charset="0"/>
              </a:defRPr>
            </a:lvl1pPr>
          </a:lstStyle>
          <a:p>
            <a:fld id="{4124EDF5-87F7-4AC5-8292-B04417157FC2}" type="slidenum">
              <a:rPr lang="zh-CN" altLang="en-US" smtClean="0"/>
              <a:t>‹#›</a:t>
            </a:fld>
            <a:endParaRPr lang="zh-CN" altLang="en-US"/>
          </a:p>
        </p:txBody>
      </p:sp>
      <p:sp>
        <p:nvSpPr>
          <p:cNvPr id="17" name="Rectangle 25"/>
          <p:cNvSpPr txBox="1">
            <a:spLocks noChangeArrowheads="1"/>
          </p:cNvSpPr>
          <p:nvPr/>
        </p:nvSpPr>
        <p:spPr bwMode="auto">
          <a:xfrm>
            <a:off x="371303" y="115888"/>
            <a:ext cx="10618122"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kumimoji="1" sz="2800" b="1">
                <a:solidFill>
                  <a:srgbClr val="003366"/>
                </a:solidFill>
                <a:latin typeface="Arial" panose="020B0604020202020204" pitchFamily="34" charset="0"/>
                <a:ea typeface="黑体" panose="02010609060101010101" pitchFamily="49" charset="-122"/>
                <a:cs typeface="Arial" panose="020B0604020202020204" pitchFamily="34" charset="0"/>
              </a:defRPr>
            </a:lvl1pPr>
            <a:lvl2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2pPr>
            <a:lvl3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3pPr>
            <a:lvl4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4pPr>
            <a:lvl5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5pPr>
            <a:lvl6pPr marL="3429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6pPr>
            <a:lvl7pPr marL="6858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7pPr>
            <a:lvl8pPr marL="10287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8pPr>
            <a:lvl9pPr marL="13716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9pPr>
          </a:lstStyle>
          <a:p>
            <a:r>
              <a:rPr lang="zh-CN" altLang="en-US" sz="2800" kern="0" dirty="0"/>
              <a:t>单击此处编辑母版标题样式</a:t>
            </a:r>
          </a:p>
        </p:txBody>
      </p:sp>
      <p:cxnSp>
        <p:nvCxnSpPr>
          <p:cNvPr id="18" name="Straight Connector 9"/>
          <p:cNvCxnSpPr/>
          <p:nvPr/>
        </p:nvCxnSpPr>
        <p:spPr>
          <a:xfrm>
            <a:off x="0" y="1111652"/>
            <a:ext cx="12192000" cy="0"/>
          </a:xfrm>
          <a:prstGeom prst="line">
            <a:avLst/>
          </a:prstGeom>
          <a:ln w="47625">
            <a:gradFill flip="none" rotWithShape="1">
              <a:gsLst>
                <a:gs pos="100000">
                  <a:srgbClr val="004274"/>
                </a:gs>
                <a:gs pos="0">
                  <a:srgbClr val="008E95"/>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129221" y="57944"/>
            <a:ext cx="990599" cy="990599"/>
          </a:xfrm>
          <a:prstGeom prst="rect">
            <a:avLst/>
          </a:prstGeom>
        </p:spPr>
      </p:pic>
    </p:spTree>
    <p:extLst>
      <p:ext uri="{BB962C8B-B14F-4D97-AF65-F5344CB8AC3E}">
        <p14:creationId xmlns:p14="http://schemas.microsoft.com/office/powerpoint/2010/main" val="3325630893"/>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rtl="0" eaLnBrk="1" fontAlgn="base" hangingPunct="1">
        <a:spcBef>
          <a:spcPct val="0"/>
        </a:spcBef>
        <a:spcAft>
          <a:spcPct val="0"/>
        </a:spcAft>
        <a:defRPr kumimoji="1" sz="2800" b="1">
          <a:solidFill>
            <a:srgbClr val="003366"/>
          </a:solidFill>
          <a:latin typeface="Arial" panose="020B0604020202020204" pitchFamily="34" charset="0"/>
          <a:ea typeface="黑体" panose="02010609060101010101" pitchFamily="49" charset="-122"/>
          <a:cs typeface="Arial" panose="020B0604020202020204" pitchFamily="34" charset="0"/>
        </a:defRPr>
      </a:lvl1pPr>
      <a:lvl2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2pPr>
      <a:lvl3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3pPr>
      <a:lvl4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4pPr>
      <a:lvl5pPr algn="l" rtl="0" eaLnBrk="1" fontAlgn="base" hangingPunct="1">
        <a:spcBef>
          <a:spcPct val="0"/>
        </a:spcBef>
        <a:spcAft>
          <a:spcPct val="0"/>
        </a:spcAft>
        <a:defRPr kumimoji="1" sz="2400">
          <a:solidFill>
            <a:srgbClr val="333399"/>
          </a:solidFill>
          <a:latin typeface="Verdana" pitchFamily="34" charset="0"/>
          <a:ea typeface="宋体" pitchFamily="2" charset="-122"/>
          <a:cs typeface="Verdana" pitchFamily="34" charset="0"/>
        </a:defRPr>
      </a:lvl5pPr>
      <a:lvl6pPr marL="3429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6pPr>
      <a:lvl7pPr marL="6858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7pPr>
      <a:lvl8pPr marL="10287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8pPr>
      <a:lvl9pPr marL="1371600" algn="l" rtl="0" eaLnBrk="1" fontAlgn="base" hangingPunct="1">
        <a:spcBef>
          <a:spcPct val="0"/>
        </a:spcBef>
        <a:spcAft>
          <a:spcPct val="0"/>
        </a:spcAft>
        <a:defRPr kumimoji="1" sz="3300">
          <a:solidFill>
            <a:srgbClr val="333399"/>
          </a:solidFill>
          <a:latin typeface="Times New Roman" pitchFamily="18" charset="0"/>
          <a:ea typeface="宋体" pitchFamily="2" charset="-122"/>
        </a:defRPr>
      </a:lvl9pPr>
    </p:titleStyle>
    <p:bodyStyle>
      <a:lvl1pPr marL="257175" indent="-257175" algn="just" rtl="0" eaLnBrk="1" fontAlgn="base" hangingPunct="1">
        <a:spcBef>
          <a:spcPct val="20000"/>
        </a:spcBef>
        <a:spcAft>
          <a:spcPct val="0"/>
        </a:spcAft>
        <a:buChar char="•"/>
        <a:defRPr kumimoji="1" sz="2400">
          <a:solidFill>
            <a:schemeClr val="tx1"/>
          </a:solidFill>
          <a:latin typeface="Times New Roman" panose="02020603050405020304" pitchFamily="18" charset="0"/>
          <a:ea typeface="+mn-ea"/>
          <a:cs typeface="Times New Roman" panose="02020603050405020304" pitchFamily="18" charset="0"/>
        </a:defRPr>
      </a:lvl1pPr>
      <a:lvl2pPr marL="557213" indent="-214313" algn="just" rtl="0" eaLnBrk="1" fontAlgn="base" hangingPunct="1">
        <a:spcBef>
          <a:spcPct val="20000"/>
        </a:spcBef>
        <a:spcAft>
          <a:spcPct val="0"/>
        </a:spcAft>
        <a:buChar char="–"/>
        <a:defRPr kumimoji="1" sz="2100">
          <a:solidFill>
            <a:schemeClr val="tx1"/>
          </a:solidFill>
          <a:latin typeface="Times New Roman" panose="02020603050405020304" pitchFamily="18" charset="0"/>
          <a:ea typeface="+mn-ea"/>
          <a:cs typeface="Times New Roman" panose="02020603050405020304" pitchFamily="18" charset="0"/>
        </a:defRPr>
      </a:lvl2pPr>
      <a:lvl3pPr marL="857250" indent="-171450" algn="just" rtl="0" eaLnBrk="1" fontAlgn="base" hangingPunct="1">
        <a:spcBef>
          <a:spcPct val="20000"/>
        </a:spcBef>
        <a:spcAft>
          <a:spcPct val="0"/>
        </a:spcAft>
        <a:buChar char="•"/>
        <a:defRPr kumimoji="1" sz="1800">
          <a:solidFill>
            <a:schemeClr val="tx1"/>
          </a:solidFill>
          <a:latin typeface="Times New Roman" panose="02020603050405020304" pitchFamily="18" charset="0"/>
          <a:ea typeface="+mn-ea"/>
          <a:cs typeface="Times New Roman" panose="02020603050405020304" pitchFamily="18" charset="0"/>
        </a:defRPr>
      </a:lvl3pPr>
      <a:lvl4pPr marL="1200150" indent="-171450" algn="just" rtl="0" eaLnBrk="1" fontAlgn="base" hangingPunct="1">
        <a:spcBef>
          <a:spcPct val="20000"/>
        </a:spcBef>
        <a:spcAft>
          <a:spcPct val="0"/>
        </a:spcAft>
        <a:buChar char="–"/>
        <a:defRPr kumimoji="1" sz="1500">
          <a:solidFill>
            <a:schemeClr val="tx1"/>
          </a:solidFill>
          <a:latin typeface="Times New Roman" panose="02020603050405020304" pitchFamily="18" charset="0"/>
          <a:ea typeface="+mn-ea"/>
          <a:cs typeface="Times New Roman" panose="02020603050405020304" pitchFamily="18"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603050405020304" pitchFamily="18" charset="0"/>
          <a:ea typeface="+mn-ea"/>
          <a:cs typeface="Times New Roman" panose="0202060305040502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a:t>大数据安全</a:t>
            </a:r>
            <a:r>
              <a:rPr lang="zh-CN" altLang="en-US" dirty="0"/>
              <a:t>与隐私保护</a:t>
            </a:r>
          </a:p>
        </p:txBody>
      </p:sp>
      <p:sp>
        <p:nvSpPr>
          <p:cNvPr id="3" name="副标题 2"/>
          <p:cNvSpPr>
            <a:spLocks noGrp="1"/>
          </p:cNvSpPr>
          <p:nvPr>
            <p:ph type="subTitle" idx="1"/>
          </p:nvPr>
        </p:nvSpPr>
        <p:spPr/>
        <p:txBody>
          <a:bodyPr/>
          <a:lstStyle/>
          <a:p>
            <a:r>
              <a:rPr lang="zh-CN" altLang="en-US" sz="3200" dirty="0">
                <a:latin typeface="微软雅黑" panose="020B0503020204020204" pitchFamily="34" charset="-122"/>
                <a:ea typeface="微软雅黑" panose="020B0503020204020204" pitchFamily="34" charset="-122"/>
              </a:rPr>
              <a:t>石瑞生</a:t>
            </a:r>
            <a:endParaRPr lang="en-US" altLang="zh-CN" sz="3200" dirty="0">
              <a:latin typeface="微软雅黑" panose="020B0503020204020204" pitchFamily="34" charset="-122"/>
              <a:ea typeface="微软雅黑" panose="020B0503020204020204" pitchFamily="34" charset="-122"/>
            </a:endParaRPr>
          </a:p>
          <a:p>
            <a:r>
              <a:rPr lang="zh-CN" altLang="en-US" sz="3200" dirty="0">
                <a:latin typeface="微软雅黑" panose="020B0503020204020204" pitchFamily="34" charset="-122"/>
                <a:ea typeface="微软雅黑" panose="020B0503020204020204" pitchFamily="34" charset="-122"/>
              </a:rPr>
              <a:t>网络空间安全学院</a:t>
            </a:r>
            <a:endParaRPr lang="en-US" altLang="zh-CN" sz="3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129941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defRPr/>
            </a:pPr>
            <a:r>
              <a:rPr lang="en-US" altLang="zh-CN" sz="2800" dirty="0"/>
              <a:t>7.1 </a:t>
            </a:r>
            <a:r>
              <a:rPr lang="zh-CN" altLang="en-US" sz="2800" dirty="0"/>
              <a:t>引言</a:t>
            </a:r>
            <a:endParaRPr lang="en-US" altLang="zh-CN" sz="2800" dirty="0"/>
          </a:p>
          <a:p>
            <a:pPr>
              <a:defRPr/>
            </a:pPr>
            <a:r>
              <a:rPr lang="en-US" altLang="zh-CN" sz="2800" dirty="0"/>
              <a:t>7.2 </a:t>
            </a:r>
            <a:r>
              <a:rPr lang="zh-CN" altLang="en-US" sz="2800" dirty="0"/>
              <a:t>隐私</a:t>
            </a:r>
            <a:endParaRPr lang="en-US" altLang="zh-CN" sz="2800" dirty="0"/>
          </a:p>
          <a:p>
            <a:pPr>
              <a:defRPr/>
            </a:pPr>
            <a:r>
              <a:rPr lang="en-US" altLang="zh-CN" sz="2800" dirty="0"/>
              <a:t>7.3 </a:t>
            </a:r>
            <a:r>
              <a:rPr lang="zh-CN" altLang="en-US" sz="2800" dirty="0"/>
              <a:t>案例分析：用户隐私泄露时间</a:t>
            </a:r>
            <a:endParaRPr lang="en-US" altLang="zh-CN" sz="2800" dirty="0"/>
          </a:p>
          <a:p>
            <a:pPr>
              <a:defRPr/>
            </a:pPr>
            <a:r>
              <a:rPr lang="en-US" altLang="zh-CN" sz="2800" dirty="0"/>
              <a:t>7.4 </a:t>
            </a:r>
            <a:r>
              <a:rPr lang="zh-CN" altLang="en-US" sz="2800" dirty="0"/>
              <a:t>数据匿名化技术</a:t>
            </a:r>
            <a:endParaRPr lang="en-US" altLang="zh-CN" sz="2800" dirty="0"/>
          </a:p>
          <a:p>
            <a:pPr>
              <a:defRPr/>
            </a:pPr>
            <a:r>
              <a:rPr lang="en-US" altLang="zh-CN" sz="2800" dirty="0"/>
              <a:t>7.5 </a:t>
            </a:r>
            <a:r>
              <a:rPr lang="zh-CN" altLang="en-US" sz="2800" dirty="0"/>
              <a:t>匿名化技术与反匿名化技术的博弈</a:t>
            </a:r>
            <a:endParaRPr lang="en-US" altLang="zh-CN" sz="2800" dirty="0"/>
          </a:p>
          <a:p>
            <a:pPr>
              <a:defRPr/>
            </a:pPr>
            <a:r>
              <a:rPr lang="en-US" altLang="zh-CN" sz="2800" dirty="0"/>
              <a:t>7.6 </a:t>
            </a:r>
            <a:r>
              <a:rPr lang="zh-CN" altLang="en-US" sz="2800" dirty="0"/>
              <a:t>差分隐私技术</a:t>
            </a:r>
            <a:endParaRPr lang="en-US" altLang="zh-CN" sz="2800" dirty="0"/>
          </a:p>
          <a:p>
            <a:pPr>
              <a:defRPr/>
            </a:pPr>
            <a:r>
              <a:rPr lang="en-US" altLang="zh-CN" sz="2800" dirty="0"/>
              <a:t>7.7 </a:t>
            </a:r>
            <a:r>
              <a:rPr lang="zh-CN" altLang="en-US" sz="2800" dirty="0"/>
              <a:t>本地化差分隐私</a:t>
            </a:r>
            <a:endParaRPr lang="en-US" altLang="zh-CN" sz="2800" dirty="0"/>
          </a:p>
          <a:p>
            <a:pPr>
              <a:defRPr/>
            </a:pPr>
            <a:r>
              <a:rPr lang="en-US" altLang="zh-CN" sz="2800" dirty="0"/>
              <a:t>7.8 </a:t>
            </a:r>
            <a:r>
              <a:rPr lang="zh-CN" altLang="en-US" sz="2800" dirty="0"/>
              <a:t>差分隐私</a:t>
            </a:r>
            <a:r>
              <a:rPr lang="zh-CN" altLang="en-US" sz="2800"/>
              <a:t>应用</a:t>
            </a:r>
            <a:endParaRPr lang="en-US" altLang="zh-CN" sz="2800"/>
          </a:p>
        </p:txBody>
      </p:sp>
      <p:sp>
        <p:nvSpPr>
          <p:cNvPr id="3" name="灯片编号占位符 2"/>
          <p:cNvSpPr>
            <a:spLocks noGrp="1"/>
          </p:cNvSpPr>
          <p:nvPr>
            <p:ph type="sldNum" sz="quarter" idx="4"/>
          </p:nvPr>
        </p:nvSpPr>
        <p:spPr/>
        <p:txBody>
          <a:bodyPr/>
          <a:lstStyle/>
          <a:p>
            <a:fld id="{4124EDF5-87F7-4AC5-8292-B04417157FC2}" type="slidenum">
              <a:rPr lang="zh-CN" altLang="en-US" smtClean="0"/>
              <a:t>2</a:t>
            </a:fld>
            <a:endParaRPr lang="zh-CN" altLang="en-US"/>
          </a:p>
        </p:txBody>
      </p:sp>
      <p:sp>
        <p:nvSpPr>
          <p:cNvPr id="4" name="标题 3"/>
          <p:cNvSpPr>
            <a:spLocks noGrp="1"/>
          </p:cNvSpPr>
          <p:nvPr>
            <p:ph type="title"/>
          </p:nvPr>
        </p:nvSpPr>
        <p:spPr/>
        <p:txBody>
          <a:bodyPr/>
          <a:lstStyle/>
          <a:p>
            <a:r>
              <a:rPr lang="zh-CN" altLang="en-US" dirty="0"/>
              <a:t>内容提纲</a:t>
            </a:r>
          </a:p>
        </p:txBody>
      </p:sp>
    </p:spTree>
    <p:extLst>
      <p:ext uri="{BB962C8B-B14F-4D97-AF65-F5344CB8AC3E}">
        <p14:creationId xmlns:p14="http://schemas.microsoft.com/office/powerpoint/2010/main" val="3842452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C695554-7AD6-4427-285C-5EBC9570FDCF}"/>
              </a:ext>
            </a:extLst>
          </p:cNvPr>
          <p:cNvSpPr>
            <a:spLocks noGrp="1"/>
          </p:cNvSpPr>
          <p:nvPr>
            <p:ph idx="1"/>
          </p:nvPr>
        </p:nvSpPr>
        <p:spPr/>
        <p:txBody>
          <a:bodyPr/>
          <a:lstStyle/>
          <a:p>
            <a:r>
              <a:rPr lang="zh-CN" altLang="en-US" dirty="0"/>
              <a:t>随着大数据的发展，数据共享联盟将逐渐壮大成为产业的核心一环。阻碍数据大规模共享的一个重要问题就是隐私保护问题。 </a:t>
            </a:r>
          </a:p>
          <a:p>
            <a:r>
              <a:rPr lang="zh-CN" altLang="en-US" dirty="0"/>
              <a:t>为了保护隐私，已经提出了很多计算方法，包括同态加密、安全多方计算、函数加密等。加密能够解决很多安全隐私泄露的问题，但仅依靠加密技术是不够的。</a:t>
            </a:r>
            <a:endParaRPr lang="en-US" altLang="zh-CN" dirty="0"/>
          </a:p>
          <a:p>
            <a:pPr lvl="1"/>
            <a:r>
              <a:rPr lang="zh-CN" altLang="en-US" dirty="0"/>
              <a:t>差分隐私保护技术在保护隐私方面做出贡献。这种技术使用一个自动化数据管理系统，可以在提供给数据请求者有用信息的同时，保护数据集中的个人隐私。</a:t>
            </a:r>
            <a:endParaRPr lang="en-US" altLang="zh-CN" dirty="0"/>
          </a:p>
          <a:p>
            <a:pPr lvl="1"/>
            <a:r>
              <a:rPr lang="zh-CN" altLang="en-US" dirty="0"/>
              <a:t>该技术允许研究人员提出关于存储了敏感信息的数据库的任何问题，同时提供经过模糊化处理的答案，因此不会暴露任何私人数据。</a:t>
            </a:r>
          </a:p>
        </p:txBody>
      </p:sp>
      <p:sp>
        <p:nvSpPr>
          <p:cNvPr id="3" name="灯片编号占位符 2">
            <a:extLst>
              <a:ext uri="{FF2B5EF4-FFF2-40B4-BE49-F238E27FC236}">
                <a16:creationId xmlns:a16="http://schemas.microsoft.com/office/drawing/2014/main" id="{A7B327B6-C5FE-7BB3-B302-2D542683CCA2}"/>
              </a:ext>
            </a:extLst>
          </p:cNvPr>
          <p:cNvSpPr>
            <a:spLocks noGrp="1"/>
          </p:cNvSpPr>
          <p:nvPr>
            <p:ph type="sldNum" sz="quarter" idx="4"/>
          </p:nvPr>
        </p:nvSpPr>
        <p:spPr/>
        <p:txBody>
          <a:bodyPr/>
          <a:lstStyle/>
          <a:p>
            <a:fld id="{4124EDF5-87F7-4AC5-8292-B04417157FC2}" type="slidenum">
              <a:rPr lang="zh-CN" altLang="en-US" smtClean="0"/>
              <a:t>3</a:t>
            </a:fld>
            <a:endParaRPr lang="zh-CN" altLang="en-US"/>
          </a:p>
        </p:txBody>
      </p:sp>
      <p:sp>
        <p:nvSpPr>
          <p:cNvPr id="4" name="标题 3">
            <a:extLst>
              <a:ext uri="{FF2B5EF4-FFF2-40B4-BE49-F238E27FC236}">
                <a16:creationId xmlns:a16="http://schemas.microsoft.com/office/drawing/2014/main" id="{E80EC6E7-A7F5-7AB3-A095-161476004AA5}"/>
              </a:ext>
            </a:extLst>
          </p:cNvPr>
          <p:cNvSpPr>
            <a:spLocks noGrp="1"/>
          </p:cNvSpPr>
          <p:nvPr>
            <p:ph type="title"/>
          </p:nvPr>
        </p:nvSpPr>
        <p:spPr/>
        <p:txBody>
          <a:bodyPr/>
          <a:lstStyle/>
          <a:p>
            <a:r>
              <a:rPr lang="zh-CN" altLang="en-US" dirty="0"/>
              <a:t>引言</a:t>
            </a:r>
          </a:p>
        </p:txBody>
      </p:sp>
    </p:spTree>
    <p:extLst>
      <p:ext uri="{BB962C8B-B14F-4D97-AF65-F5344CB8AC3E}">
        <p14:creationId xmlns:p14="http://schemas.microsoft.com/office/powerpoint/2010/main" val="3964551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t>4</a:t>
            </a:fld>
            <a:endParaRPr lang="zh-CN" altLang="en-US"/>
          </a:p>
        </p:txBody>
      </p:sp>
      <p:sp>
        <p:nvSpPr>
          <p:cNvPr id="4" name="标题 3"/>
          <p:cNvSpPr>
            <a:spLocks noGrp="1"/>
          </p:cNvSpPr>
          <p:nvPr>
            <p:ph type="title"/>
          </p:nvPr>
        </p:nvSpPr>
        <p:spPr/>
        <p:txBody>
          <a:bodyPr/>
          <a:lstStyle/>
          <a:p>
            <a:endParaRPr lang="en-US"/>
          </a:p>
        </p:txBody>
      </p:sp>
      <p:sp>
        <p:nvSpPr>
          <p:cNvPr id="5" name="文本框 4">
            <a:extLst>
              <a:ext uri="{FF2B5EF4-FFF2-40B4-BE49-F238E27FC236}">
                <a16:creationId xmlns:a16="http://schemas.microsoft.com/office/drawing/2014/main" id="{E77AFF17-A899-4AE3-97F4-8D1AAC05361B}"/>
              </a:ext>
            </a:extLst>
          </p:cNvPr>
          <p:cNvSpPr txBox="1"/>
          <p:nvPr/>
        </p:nvSpPr>
        <p:spPr>
          <a:xfrm>
            <a:off x="2913188" y="3113465"/>
            <a:ext cx="6365619" cy="92333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lang="zh-CN" altLang="en-US" dirty="0"/>
              <a:t>隐私</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extLst>
      <p:ext uri="{BB962C8B-B14F-4D97-AF65-F5344CB8AC3E}">
        <p14:creationId xmlns:p14="http://schemas.microsoft.com/office/powerpoint/2010/main" val="979542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p:cNvSpPr>
                <a:spLocks noGrp="1"/>
              </p:cNvSpPr>
              <p:nvPr>
                <p:ph idx="1"/>
              </p:nvPr>
            </p:nvSpPr>
            <p:spPr>
              <a:xfrm>
                <a:off x="363736" y="1119993"/>
                <a:ext cx="11464528" cy="5738007"/>
              </a:xfrm>
            </p:spPr>
            <p:txBody>
              <a:bodyPr/>
              <a:lstStyle/>
              <a:p>
                <a:pPr>
                  <a:spcBef>
                    <a:spcPts val="200"/>
                  </a:spcBef>
                  <a:spcAft>
                    <a:spcPts val="200"/>
                  </a:spcAft>
                </a:pPr>
                <a:r>
                  <a:rPr lang="zh-CN" altLang="en-US" dirty="0"/>
                  <a:t>隐私的定义</a:t>
                </a:r>
                <a:endParaRPr lang="en-US" altLang="zh-CN" dirty="0"/>
              </a:p>
              <a:p>
                <a:pPr lvl="1">
                  <a:spcBef>
                    <a:spcPts val="200"/>
                  </a:spcBef>
                  <a:spcAft>
                    <a:spcPts val="200"/>
                  </a:spcAft>
                </a:pPr>
                <a:r>
                  <a:rPr lang="zh-CN" altLang="en-US" dirty="0"/>
                  <a:t>隐私：个人、机构等实体不愿意被外部世界知晓的信息。</a:t>
                </a:r>
                <a:endParaRPr lang="en-US" altLang="zh-CN" dirty="0"/>
              </a:p>
              <a:p>
                <a:pPr lvl="1">
                  <a:spcBef>
                    <a:spcPts val="200"/>
                  </a:spcBef>
                  <a:spcAft>
                    <a:spcPts val="200"/>
                  </a:spcAft>
                </a:pPr>
                <a:r>
                  <a:rPr lang="zh-CN" altLang="en-US" dirty="0"/>
                  <a:t>敏感数据：并非所有人都能够获得的公开数据。</a:t>
                </a:r>
                <a:endParaRPr lang="en-US" altLang="zh-CN" dirty="0"/>
              </a:p>
              <a:p>
                <a:pPr>
                  <a:spcBef>
                    <a:spcPts val="200"/>
                  </a:spcBef>
                  <a:spcAft>
                    <a:spcPts val="200"/>
                  </a:spcAft>
                </a:pPr>
                <a:r>
                  <a:rPr lang="zh-CN" altLang="en-US" dirty="0"/>
                  <a:t>隐私的分类：从隐私所有者的角度，隐私可以分为两类</a:t>
                </a:r>
                <a:endParaRPr lang="en-US" altLang="zh-CN" dirty="0"/>
              </a:p>
              <a:p>
                <a:pPr lvl="1">
                  <a:spcBef>
                    <a:spcPts val="200"/>
                  </a:spcBef>
                  <a:spcAft>
                    <a:spcPts val="200"/>
                  </a:spcAft>
                </a:pPr>
                <a:r>
                  <a:rPr lang="en-US" altLang="zh-CN" dirty="0"/>
                  <a:t>1</a:t>
                </a:r>
                <a:r>
                  <a:rPr lang="zh-CN" altLang="en-US" dirty="0"/>
                  <a:t>）个人隐私（</a:t>
                </a:r>
                <a:r>
                  <a:rPr lang="en-US" altLang="zh-CN" dirty="0"/>
                  <a:t>Individual Privacy</a:t>
                </a:r>
                <a:r>
                  <a:rPr lang="zh-CN" altLang="en-US" dirty="0"/>
                  <a:t>）：任何可以确认特定个人或者与可确认的个人相关，但个人不愿暴露的信息，都叫作个人隐私，如身份证号、就诊记录等。 </a:t>
                </a:r>
              </a:p>
              <a:p>
                <a:pPr lvl="1">
                  <a:spcBef>
                    <a:spcPts val="200"/>
                  </a:spcBef>
                  <a:spcAft>
                    <a:spcPts val="200"/>
                  </a:spcAft>
                </a:pPr>
                <a:r>
                  <a:rPr lang="en-US" altLang="zh-CN" dirty="0"/>
                  <a:t>2</a:t>
                </a:r>
                <a:r>
                  <a:rPr lang="zh-CN" altLang="en-US" dirty="0"/>
                  <a:t>）共同隐私（</a:t>
                </a:r>
                <a:r>
                  <a:rPr lang="en-US" altLang="zh-CN" dirty="0"/>
                  <a:t>Corporate Privacy</a:t>
                </a:r>
                <a:r>
                  <a:rPr lang="zh-CN" altLang="en-US" dirty="0"/>
                  <a:t>）：共同隐私不仅包含个人的隐私，还包含所有个人共同表现出但不愿暴露的信息。例如公司员工的平均薪资、薪资分布等信息，两个人之间的关系信息等。 </a:t>
                </a:r>
                <a:endParaRPr lang="en-US" altLang="zh-CN" dirty="0"/>
              </a:p>
              <a:p>
                <a:pPr marL="257175" lvl="1" indent="-257175">
                  <a:spcBef>
                    <a:spcPts val="200"/>
                  </a:spcBef>
                  <a:spcAft>
                    <a:spcPts val="200"/>
                  </a:spcAft>
                  <a:buChar char="•"/>
                </a:pPr>
                <a:r>
                  <a:rPr lang="zh-CN" altLang="en-US" sz="2400" dirty="0"/>
                  <a:t>隐私的度量与量化表示</a:t>
                </a:r>
                <a:endParaRPr lang="en-US" altLang="zh-CN" sz="2400" dirty="0"/>
              </a:p>
              <a:p>
                <a:pPr lvl="1">
                  <a:spcBef>
                    <a:spcPts val="200"/>
                  </a:spcBef>
                  <a:spcAft>
                    <a:spcPts val="200"/>
                  </a:spcAft>
                </a:pPr>
                <a:r>
                  <a:rPr lang="zh-CN" altLang="en-US" dirty="0"/>
                  <a:t>若</a:t>
                </a:r>
                <a14:m>
                  <m:oMath xmlns:m="http://schemas.openxmlformats.org/officeDocument/2006/math">
                    <m:r>
                      <a:rPr lang="en-US" altLang="zh-CN" b="1" i="1" dirty="0">
                        <a:latin typeface="Cambria Math" panose="02040503050406030204" pitchFamily="18" charset="0"/>
                      </a:rPr>
                      <m:t>𝐬</m:t>
                    </m:r>
                  </m:oMath>
                </a14:m>
                <a:r>
                  <a:rPr lang="zh-CN" altLang="en-US" dirty="0"/>
                  <a:t>表示敏感数据，事件</a:t>
                </a:r>
                <a14:m>
                  <m:oMath xmlns:m="http://schemas.openxmlformats.org/officeDocument/2006/math">
                    <m:sSub>
                      <m:sSubPr>
                        <m:ctrlPr>
                          <a:rPr lang="en-US" altLang="zh-CN" i="1" dirty="0">
                            <a:latin typeface="Cambria Math" panose="02040503050406030204" pitchFamily="18" charset="0"/>
                          </a:rPr>
                        </m:ctrlPr>
                      </m:sSubPr>
                      <m:e>
                        <m:r>
                          <a:rPr lang="en-US" altLang="zh-CN" b="1" i="1" dirty="0">
                            <a:latin typeface="Cambria Math" panose="02040503050406030204" pitchFamily="18" charset="0"/>
                          </a:rPr>
                          <m:t>𝐒</m:t>
                        </m:r>
                      </m:e>
                      <m:sub>
                        <m:r>
                          <a:rPr lang="en-US" altLang="zh-CN" b="1" i="1" dirty="0">
                            <a:latin typeface="Cambria Math" panose="02040503050406030204" pitchFamily="18" charset="0"/>
                          </a:rPr>
                          <m:t>𝐤</m:t>
                        </m:r>
                      </m:sub>
                    </m:sSub>
                  </m:oMath>
                </a14:m>
                <a:r>
                  <a:rPr lang="zh-CN" altLang="en-US" dirty="0"/>
                  <a:t>表示“攻击者在背景知识</a:t>
                </a:r>
                <a14:m>
                  <m:oMath xmlns:m="http://schemas.openxmlformats.org/officeDocument/2006/math">
                    <m:r>
                      <a:rPr lang="en-US" altLang="zh-CN" b="1" i="1" dirty="0">
                        <a:latin typeface="Cambria Math" panose="02040503050406030204" pitchFamily="18" charset="0"/>
                      </a:rPr>
                      <m:t>𝐊</m:t>
                    </m:r>
                  </m:oMath>
                </a14:m>
                <a:r>
                  <a:rPr lang="zh-CN" altLang="en-US" dirty="0"/>
                  <a:t>的帮助下揭露敏感数据</a:t>
                </a:r>
                <a14:m>
                  <m:oMath xmlns:m="http://schemas.openxmlformats.org/officeDocument/2006/math">
                    <m:r>
                      <a:rPr lang="en-US" altLang="zh-CN" b="1" i="1" dirty="0">
                        <a:latin typeface="Cambria Math" panose="02040503050406030204" pitchFamily="18" charset="0"/>
                      </a:rPr>
                      <m:t>𝐬</m:t>
                    </m:r>
                  </m:oMath>
                </a14:m>
                <a:r>
                  <a:rPr lang="en-US" altLang="zh-CN" dirty="0"/>
                  <a:t>”</a:t>
                </a:r>
                <a:r>
                  <a:rPr lang="zh-CN" altLang="en-US" dirty="0"/>
                  <a:t>，则披露风险</a:t>
                </a:r>
                <a14:m>
                  <m:oMath xmlns:m="http://schemas.openxmlformats.org/officeDocument/2006/math">
                    <m:r>
                      <a:rPr lang="en-US" altLang="zh-CN" b="1" i="1" dirty="0">
                        <a:latin typeface="Cambria Math" panose="02040503050406030204" pitchFamily="18" charset="0"/>
                      </a:rPr>
                      <m:t>𝐫</m:t>
                    </m:r>
                    <m:r>
                      <a:rPr lang="en-US" altLang="zh-CN" b="1" dirty="0">
                        <a:latin typeface="Cambria Math" panose="02040503050406030204" pitchFamily="18" charset="0"/>
                      </a:rPr>
                      <m:t>(</m:t>
                    </m:r>
                    <m:r>
                      <a:rPr lang="en-US" altLang="zh-CN" b="1" i="1" dirty="0" err="1">
                        <a:latin typeface="Cambria Math" panose="02040503050406030204" pitchFamily="18" charset="0"/>
                      </a:rPr>
                      <m:t>𝐬</m:t>
                    </m:r>
                    <m:r>
                      <a:rPr lang="en-US" altLang="zh-CN" b="1" dirty="0" err="1">
                        <a:latin typeface="Cambria Math" panose="02040503050406030204" pitchFamily="18" charset="0"/>
                      </a:rPr>
                      <m:t>,</m:t>
                    </m:r>
                    <m:r>
                      <a:rPr lang="en-US" altLang="zh-CN" b="1" i="1" dirty="0" err="1">
                        <a:latin typeface="Cambria Math" panose="02040503050406030204" pitchFamily="18" charset="0"/>
                      </a:rPr>
                      <m:t>𝐊</m:t>
                    </m:r>
                    <m:r>
                      <a:rPr lang="en-US" altLang="zh-CN" b="1" dirty="0">
                        <a:latin typeface="Cambria Math" panose="02040503050406030204" pitchFamily="18" charset="0"/>
                      </a:rPr>
                      <m:t>)</m:t>
                    </m:r>
                  </m:oMath>
                </a14:m>
                <a:r>
                  <a:rPr lang="zh-CN" altLang="en-US" dirty="0"/>
                  <a:t>表示为 </a:t>
                </a:r>
                <a14:m>
                  <m:oMath xmlns:m="http://schemas.openxmlformats.org/officeDocument/2006/math">
                    <m:r>
                      <a:rPr lang="pt-BR" altLang="zh-CN" b="1" i="1" dirty="0">
                        <a:latin typeface="Cambria Math" panose="02040503050406030204" pitchFamily="18" charset="0"/>
                      </a:rPr>
                      <m:t>𝐫</m:t>
                    </m:r>
                    <m:r>
                      <a:rPr lang="pt-BR" altLang="zh-CN" b="1" dirty="0">
                        <a:latin typeface="Cambria Math" panose="02040503050406030204" pitchFamily="18" charset="0"/>
                      </a:rPr>
                      <m:t>(</m:t>
                    </m:r>
                    <m:r>
                      <a:rPr lang="pt-BR" altLang="zh-CN" b="1" i="1" dirty="0">
                        <a:latin typeface="Cambria Math" panose="02040503050406030204" pitchFamily="18" charset="0"/>
                      </a:rPr>
                      <m:t>𝐬</m:t>
                    </m:r>
                    <m:r>
                      <a:rPr lang="pt-BR" altLang="zh-CN" b="1" dirty="0">
                        <a:latin typeface="Cambria Math" panose="02040503050406030204" pitchFamily="18" charset="0"/>
                      </a:rPr>
                      <m:t>, </m:t>
                    </m:r>
                    <m:r>
                      <a:rPr lang="pt-BR" altLang="zh-CN" b="1" i="1" dirty="0">
                        <a:latin typeface="Cambria Math" panose="02040503050406030204" pitchFamily="18" charset="0"/>
                      </a:rPr>
                      <m:t>𝐊</m:t>
                    </m:r>
                    <m:r>
                      <a:rPr lang="pt-BR" altLang="zh-CN" b="1" dirty="0">
                        <a:latin typeface="Cambria Math" panose="02040503050406030204" pitchFamily="18" charset="0"/>
                      </a:rPr>
                      <m:t>)=</m:t>
                    </m:r>
                    <m:r>
                      <a:rPr lang="pt-BR" altLang="zh-CN" b="1" i="1" dirty="0">
                        <a:latin typeface="Cambria Math" panose="02040503050406030204" pitchFamily="18" charset="0"/>
                      </a:rPr>
                      <m:t>𝐏𝐫</m:t>
                    </m:r>
                    <m:r>
                      <a:rPr lang="pt-BR" altLang="zh-CN" b="1" dirty="0">
                        <a:latin typeface="Cambria Math" panose="02040503050406030204" pitchFamily="18" charset="0"/>
                      </a:rPr>
                      <m:t>(</m:t>
                    </m:r>
                    <m:sSub>
                      <m:sSubPr>
                        <m:ctrlPr>
                          <a:rPr lang="en-US" altLang="zh-CN" i="1" dirty="0">
                            <a:latin typeface="Cambria Math" panose="02040503050406030204" pitchFamily="18" charset="0"/>
                          </a:rPr>
                        </m:ctrlPr>
                      </m:sSubPr>
                      <m:e>
                        <m:r>
                          <a:rPr lang="pt-BR" altLang="zh-CN" b="1" i="1" dirty="0">
                            <a:latin typeface="Cambria Math" panose="02040503050406030204" pitchFamily="18" charset="0"/>
                          </a:rPr>
                          <m:t>𝐒</m:t>
                        </m:r>
                      </m:e>
                      <m:sub>
                        <m:r>
                          <a:rPr lang="pt-BR" altLang="zh-CN" b="1" i="1" dirty="0">
                            <a:latin typeface="Cambria Math" panose="02040503050406030204" pitchFamily="18" charset="0"/>
                          </a:rPr>
                          <m:t>𝐤</m:t>
                        </m:r>
                      </m:sub>
                    </m:sSub>
                    <m:r>
                      <a:rPr lang="pt-BR" altLang="zh-CN" b="1" dirty="0">
                        <a:latin typeface="Cambria Math" panose="02040503050406030204" pitchFamily="18" charset="0"/>
                      </a:rPr>
                      <m:t>) </m:t>
                    </m:r>
                  </m:oMath>
                </a14:m>
                <a:r>
                  <a:rPr lang="en-US" altLang="zh-CN" dirty="0"/>
                  <a:t>;</a:t>
                </a:r>
                <a:r>
                  <a:rPr lang="zh-CN" altLang="en-US" dirty="0"/>
                  <a:t>若数据所有者最终发布数据集 </a:t>
                </a:r>
                <a:r>
                  <a:rPr lang="en-US" altLang="zh-CN" dirty="0"/>
                  <a:t>D </a:t>
                </a:r>
                <a:r>
                  <a:rPr lang="zh-CN" altLang="en-US" dirty="0"/>
                  <a:t>的所有敏感数据的披露风险都小于阈值</a:t>
                </a:r>
                <a:r>
                  <a:rPr lang="en-US" altLang="zh-CN" dirty="0"/>
                  <a:t>α</a:t>
                </a:r>
                <a:r>
                  <a:rPr lang="zh-CN" altLang="en-US" dirty="0"/>
                  <a:t>，</a:t>
                </a:r>
                <a:r>
                  <a:rPr lang="en-US" altLang="zh-CN" dirty="0"/>
                  <a:t>α∈[0, 1]</a:t>
                </a:r>
                <a:r>
                  <a:rPr lang="zh-CN" altLang="en-US" dirty="0"/>
                  <a:t>，则称该数据集的披露风险为</a:t>
                </a:r>
                <a:r>
                  <a:rPr lang="en-US" altLang="zh-CN" dirty="0"/>
                  <a:t>α</a:t>
                </a:r>
                <a:r>
                  <a:rPr lang="zh-CN" altLang="en-US" dirty="0"/>
                  <a:t>。</a:t>
                </a:r>
                <a:endParaRPr lang="en-US" dirty="0"/>
              </a:p>
            </p:txBody>
          </p:sp>
        </mc:Choice>
        <mc:Fallback xmlns="">
          <p:sp>
            <p:nvSpPr>
              <p:cNvPr id="2" name="内容占位符 1"/>
              <p:cNvSpPr>
                <a:spLocks noGrp="1" noRot="1" noChangeAspect="1" noMove="1" noResize="1" noEditPoints="1" noAdjustHandles="1" noChangeArrowheads="1" noChangeShapeType="1" noTextEdit="1"/>
              </p:cNvSpPr>
              <p:nvPr>
                <p:ph idx="1"/>
              </p:nvPr>
            </p:nvSpPr>
            <p:spPr>
              <a:xfrm>
                <a:off x="363736" y="1119993"/>
                <a:ext cx="11464528" cy="5738007"/>
              </a:xfrm>
              <a:blipFill>
                <a:blip r:embed="rId2"/>
                <a:stretch>
                  <a:fillRect l="-957" t="-638" r="-691"/>
                </a:stretch>
              </a:blipFill>
            </p:spPr>
            <p:txBody>
              <a:bodyPr/>
              <a:lstStyle/>
              <a:p>
                <a:r>
                  <a:rPr lang="zh-CN" altLang="en-US">
                    <a:noFill/>
                  </a:rPr>
                  <a:t> </a:t>
                </a:r>
              </a:p>
            </p:txBody>
          </p:sp>
        </mc:Fallback>
      </mc:AlternateContent>
      <p:sp>
        <p:nvSpPr>
          <p:cNvPr id="3" name="灯片编号占位符 2"/>
          <p:cNvSpPr>
            <a:spLocks noGrp="1"/>
          </p:cNvSpPr>
          <p:nvPr>
            <p:ph type="sldNum" sz="quarter" idx="4"/>
          </p:nvPr>
        </p:nvSpPr>
        <p:spPr/>
        <p:txBody>
          <a:bodyPr/>
          <a:lstStyle/>
          <a:p>
            <a:fld id="{4124EDF5-87F7-4AC5-8292-B04417157FC2}" type="slidenum">
              <a:rPr lang="zh-CN" altLang="en-US" smtClean="0"/>
              <a:t>5</a:t>
            </a:fld>
            <a:endParaRPr lang="zh-CN" altLang="en-US"/>
          </a:p>
        </p:txBody>
      </p:sp>
      <p:sp>
        <p:nvSpPr>
          <p:cNvPr id="4" name="标题 3"/>
          <p:cNvSpPr>
            <a:spLocks noGrp="1"/>
          </p:cNvSpPr>
          <p:nvPr>
            <p:ph type="title"/>
          </p:nvPr>
        </p:nvSpPr>
        <p:spPr/>
        <p:txBody>
          <a:bodyPr/>
          <a:lstStyle/>
          <a:p>
            <a:r>
              <a:rPr lang="zh-CN" altLang="en-US" dirty="0"/>
              <a:t>隐私</a:t>
            </a:r>
            <a:endParaRPr lang="en-US" dirty="0"/>
          </a:p>
        </p:txBody>
      </p:sp>
    </p:spTree>
    <p:extLst>
      <p:ext uri="{BB962C8B-B14F-4D97-AF65-F5344CB8AC3E}">
        <p14:creationId xmlns:p14="http://schemas.microsoft.com/office/powerpoint/2010/main" val="1522198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完美隐私</a:t>
            </a:r>
            <a:endParaRPr lang="en-US" altLang="zh-CN" dirty="0"/>
          </a:p>
          <a:p>
            <a:pPr lvl="1"/>
            <a:r>
              <a:rPr lang="zh-CN" altLang="en-US" dirty="0"/>
              <a:t>不做任何处理而发布数据集的披露风险为</a:t>
            </a:r>
            <a:r>
              <a:rPr lang="en-US" altLang="zh-CN" dirty="0"/>
              <a:t>1</a:t>
            </a:r>
            <a:r>
              <a:rPr lang="zh-CN" altLang="en-US" dirty="0"/>
              <a:t>；当所发布数据集的披露风险为</a:t>
            </a:r>
            <a:r>
              <a:rPr lang="en-US" altLang="zh-CN" dirty="0"/>
              <a:t>0</a:t>
            </a:r>
            <a:r>
              <a:rPr lang="zh-CN" altLang="en-US" dirty="0"/>
              <a:t>时，发布的数据被称为实现了完美隐私（</a:t>
            </a:r>
            <a:r>
              <a:rPr lang="en-US" altLang="zh-CN" dirty="0"/>
              <a:t>Perfect Privacy</a:t>
            </a:r>
            <a:r>
              <a:rPr lang="zh-CN" altLang="en-US" dirty="0"/>
              <a:t>）</a:t>
            </a:r>
            <a:endParaRPr lang="en-US" altLang="zh-CN" dirty="0"/>
          </a:p>
          <a:p>
            <a:pPr lvl="1"/>
            <a:r>
              <a:rPr lang="zh-CN" altLang="en-US" dirty="0"/>
              <a:t>对隐私的完美保护只在具体假设、特定场景下才能实现，真正的完美保护并不存在。 </a:t>
            </a:r>
            <a:endParaRPr lang="en-US" altLang="zh-CN" dirty="0"/>
          </a:p>
          <a:p>
            <a:pPr marL="257175" lvl="1" indent="-257175">
              <a:buChar char="•"/>
            </a:pPr>
            <a:r>
              <a:rPr lang="zh-CN" altLang="en-US" sz="2400" dirty="0"/>
              <a:t>威胁分析：谁有可能侵犯大众的隐私？</a:t>
            </a:r>
            <a:endParaRPr lang="en-US" altLang="zh-CN" sz="2400" dirty="0"/>
          </a:p>
          <a:p>
            <a:pPr lvl="1"/>
            <a:r>
              <a:rPr lang="zh-CN" altLang="en-US" dirty="0"/>
              <a:t>（</a:t>
            </a:r>
            <a:r>
              <a:rPr lang="en-US" altLang="zh-CN" dirty="0"/>
              <a:t>1</a:t>
            </a:r>
            <a:r>
              <a:rPr lang="zh-CN" altLang="en-US" dirty="0"/>
              <a:t>）政府  </a:t>
            </a:r>
            <a:r>
              <a:rPr lang="en-US" altLang="zh-CN" dirty="0"/>
              <a:t>2013 </a:t>
            </a:r>
            <a:r>
              <a:rPr lang="zh-CN" altLang="en-US" dirty="0"/>
              <a:t>年 </a:t>
            </a:r>
            <a:r>
              <a:rPr lang="en-US" altLang="zh-CN" dirty="0"/>
              <a:t>7 </a:t>
            </a:r>
            <a:r>
              <a:rPr lang="zh-CN" altLang="en-US" dirty="0"/>
              <a:t>月，美国国家安全局（</a:t>
            </a:r>
            <a:r>
              <a:rPr lang="en-US" altLang="zh-CN" dirty="0"/>
              <a:t>NSA</a:t>
            </a:r>
            <a:r>
              <a:rPr lang="zh-CN" altLang="en-US" dirty="0"/>
              <a:t>）前雇员斯诺登曝光了该局的“棱镜计划”（</a:t>
            </a:r>
            <a:r>
              <a:rPr lang="en-US" altLang="zh-CN" dirty="0"/>
              <a:t>PRISM</a:t>
            </a:r>
            <a:r>
              <a:rPr lang="zh-CN" altLang="en-US" dirty="0"/>
              <a:t>）监听项目</a:t>
            </a:r>
            <a:r>
              <a:rPr lang="zh-CN" altLang="en-US"/>
              <a:t>。  </a:t>
            </a:r>
            <a:endParaRPr lang="en-US" dirty="0"/>
          </a:p>
          <a:p>
            <a:pPr lvl="1"/>
            <a:r>
              <a:rPr lang="zh-CN" altLang="en-US" dirty="0"/>
              <a:t>（</a:t>
            </a:r>
            <a:r>
              <a:rPr lang="en-US" altLang="zh-CN" dirty="0"/>
              <a:t>2</a:t>
            </a:r>
            <a:r>
              <a:rPr lang="zh-CN" altLang="en-US" dirty="0"/>
              <a:t>）企业  苹果、谷歌、百度、阿里巴巴、腾讯等互联网公司掌握了大量个人隐私数据。</a:t>
            </a:r>
            <a:endParaRPr lang="en-US" altLang="zh-CN" dirty="0"/>
          </a:p>
          <a:p>
            <a:pPr lvl="1"/>
            <a:r>
              <a:rPr lang="zh-CN" altLang="en-US" dirty="0"/>
              <a:t>（</a:t>
            </a:r>
            <a:r>
              <a:rPr lang="en-US" altLang="zh-CN" dirty="0"/>
              <a:t>3</a:t>
            </a:r>
            <a:r>
              <a:rPr lang="zh-CN" altLang="en-US" dirty="0"/>
              <a:t>）黑客及一些犯罪组织</a:t>
            </a:r>
            <a:endParaRPr lang="en-US"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t>6</a:t>
            </a:fld>
            <a:endParaRPr lang="zh-CN" altLang="en-US"/>
          </a:p>
        </p:txBody>
      </p:sp>
      <p:sp>
        <p:nvSpPr>
          <p:cNvPr id="4" name="标题 3"/>
          <p:cNvSpPr>
            <a:spLocks noGrp="1"/>
          </p:cNvSpPr>
          <p:nvPr>
            <p:ph type="title"/>
          </p:nvPr>
        </p:nvSpPr>
        <p:spPr/>
        <p:txBody>
          <a:bodyPr/>
          <a:lstStyle/>
          <a:p>
            <a:r>
              <a:rPr lang="zh-CN" altLang="en-US" dirty="0"/>
              <a:t>隐私</a:t>
            </a:r>
            <a:endParaRPr lang="en-US" dirty="0"/>
          </a:p>
        </p:txBody>
      </p:sp>
    </p:spTree>
    <p:extLst>
      <p:ext uri="{BB962C8B-B14F-4D97-AF65-F5344CB8AC3E}">
        <p14:creationId xmlns:p14="http://schemas.microsoft.com/office/powerpoint/2010/main" val="3849983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4"/>
          </p:nvPr>
        </p:nvSpPr>
        <p:spPr/>
        <p:txBody>
          <a:bodyPr/>
          <a:lstStyle/>
          <a:p>
            <a:fld id="{4124EDF5-87F7-4AC5-8292-B04417157FC2}" type="slidenum">
              <a:rPr lang="zh-CN" altLang="en-US" smtClean="0"/>
              <a:t>7</a:t>
            </a:fld>
            <a:endParaRPr lang="zh-CN" altLang="en-US"/>
          </a:p>
        </p:txBody>
      </p:sp>
      <p:sp>
        <p:nvSpPr>
          <p:cNvPr id="4" name="标题 3"/>
          <p:cNvSpPr>
            <a:spLocks noGrp="1"/>
          </p:cNvSpPr>
          <p:nvPr>
            <p:ph type="title"/>
          </p:nvPr>
        </p:nvSpPr>
        <p:spPr/>
        <p:txBody>
          <a:bodyPr/>
          <a:lstStyle/>
          <a:p>
            <a:endParaRPr lang="en-US"/>
          </a:p>
        </p:txBody>
      </p:sp>
      <p:sp>
        <p:nvSpPr>
          <p:cNvPr id="5" name="文本框 4">
            <a:extLst>
              <a:ext uri="{FF2B5EF4-FFF2-40B4-BE49-F238E27FC236}">
                <a16:creationId xmlns:a16="http://schemas.microsoft.com/office/drawing/2014/main" id="{E77AFF17-A899-4AE3-97F4-8D1AAC05361B}"/>
              </a:ext>
            </a:extLst>
          </p:cNvPr>
          <p:cNvSpPr txBox="1"/>
          <p:nvPr/>
        </p:nvSpPr>
        <p:spPr>
          <a:xfrm>
            <a:off x="2913188" y="3113465"/>
            <a:ext cx="6365619" cy="1754326"/>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lang="zh-CN" altLang="en-US" dirty="0"/>
              <a:t>案例分析：用户隐私泄露事件</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extLst>
      <p:ext uri="{BB962C8B-B14F-4D97-AF65-F5344CB8AC3E}">
        <p14:creationId xmlns:p14="http://schemas.microsoft.com/office/powerpoint/2010/main" val="4189172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0CA80E9C-B8FB-6109-D33C-D078F170B721}"/>
              </a:ext>
            </a:extLst>
          </p:cNvPr>
          <p:cNvSpPr>
            <a:spLocks noGrp="1"/>
          </p:cNvSpPr>
          <p:nvPr>
            <p:ph type="sldNum" sz="quarter" idx="4"/>
          </p:nvPr>
        </p:nvSpPr>
        <p:spPr/>
        <p:txBody>
          <a:bodyPr/>
          <a:lstStyle/>
          <a:p>
            <a:fld id="{4124EDF5-87F7-4AC5-8292-B04417157FC2}" type="slidenum">
              <a:rPr lang="zh-CN" altLang="en-US" smtClean="0"/>
              <a:t>8</a:t>
            </a:fld>
            <a:endParaRPr lang="zh-CN" altLang="en-US"/>
          </a:p>
        </p:txBody>
      </p:sp>
      <p:sp>
        <p:nvSpPr>
          <p:cNvPr id="4" name="标题 3">
            <a:extLst>
              <a:ext uri="{FF2B5EF4-FFF2-40B4-BE49-F238E27FC236}">
                <a16:creationId xmlns:a16="http://schemas.microsoft.com/office/drawing/2014/main" id="{00C17635-2109-9EB2-A2FC-03EAD5561B26}"/>
              </a:ext>
            </a:extLst>
          </p:cNvPr>
          <p:cNvSpPr>
            <a:spLocks noGrp="1"/>
          </p:cNvSpPr>
          <p:nvPr>
            <p:ph type="title"/>
          </p:nvPr>
        </p:nvSpPr>
        <p:spPr/>
        <p:txBody>
          <a:bodyPr/>
          <a:lstStyle/>
          <a:p>
            <a:r>
              <a:rPr lang="zh-CN" altLang="en-US" dirty="0"/>
              <a:t>案例分析：用户隐私泄露事件</a:t>
            </a:r>
          </a:p>
        </p:txBody>
      </p:sp>
      <p:sp>
        <p:nvSpPr>
          <p:cNvPr id="5" name="文本框 4">
            <a:extLst>
              <a:ext uri="{FF2B5EF4-FFF2-40B4-BE49-F238E27FC236}">
                <a16:creationId xmlns:a16="http://schemas.microsoft.com/office/drawing/2014/main" id="{BEE53EE5-899C-B033-C441-CA0E3F6569AC}"/>
              </a:ext>
            </a:extLst>
          </p:cNvPr>
          <p:cNvSpPr txBox="1"/>
          <p:nvPr/>
        </p:nvSpPr>
        <p:spPr>
          <a:xfrm>
            <a:off x="649639" y="1393501"/>
            <a:ext cx="2031325"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b="1" dirty="0">
                <a:latin typeface="微软雅黑" panose="020B0503020204020204" pitchFamily="34" charset="-122"/>
                <a:ea typeface="微软雅黑" panose="020B0503020204020204" pitchFamily="34" charset="-122"/>
              </a:rPr>
              <a:t>美国在线数据发布</a:t>
            </a:r>
          </a:p>
        </p:txBody>
      </p:sp>
      <p:sp>
        <p:nvSpPr>
          <p:cNvPr id="7" name="文本框 6">
            <a:extLst>
              <a:ext uri="{FF2B5EF4-FFF2-40B4-BE49-F238E27FC236}">
                <a16:creationId xmlns:a16="http://schemas.microsoft.com/office/drawing/2014/main" id="{5DFDAA25-EA13-1A0E-3E5D-4D1A4BBA91E4}"/>
              </a:ext>
            </a:extLst>
          </p:cNvPr>
          <p:cNvSpPr txBox="1"/>
          <p:nvPr/>
        </p:nvSpPr>
        <p:spPr>
          <a:xfrm rot="10800000" flipV="1">
            <a:off x="150019" y="1936194"/>
            <a:ext cx="3284877" cy="438171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nSpc>
                <a:spcPct val="120000"/>
              </a:lnSpc>
            </a:pPr>
            <a:r>
              <a:rPr lang="en-US" altLang="zh-CN" dirty="0"/>
              <a:t>2006</a:t>
            </a:r>
            <a:r>
              <a:rPr lang="zh-CN" altLang="en-US" dirty="0"/>
              <a:t>年，美国在线为推动开放研究发布了</a:t>
            </a:r>
            <a:r>
              <a:rPr lang="en-US" altLang="zh-CN" dirty="0"/>
              <a:t>65</a:t>
            </a:r>
            <a:r>
              <a:rPr lang="zh-CN" altLang="en-US" dirty="0"/>
              <a:t>万用户约</a:t>
            </a:r>
            <a:r>
              <a:rPr lang="en-US" altLang="zh-CN" dirty="0"/>
              <a:t>2000</a:t>
            </a:r>
            <a:r>
              <a:rPr lang="zh-CN" altLang="en-US" dirty="0"/>
              <a:t>万条搜索数据，并以随机号码替代账号匿名化。但因未处理搜索关键词，研究者仍可将搜索与单一用户关联，甚至反向识别身份。</a:t>
            </a:r>
            <a:r>
              <a:rPr lang="en-US" altLang="zh-CN" dirty="0"/>
              <a:t>《</a:t>
            </a:r>
            <a:r>
              <a:rPr lang="zh-CN" altLang="en-US" dirty="0"/>
              <a:t>纽约时报</a:t>
            </a:r>
            <a:r>
              <a:rPr lang="en-US" altLang="zh-CN" dirty="0"/>
              <a:t>》</a:t>
            </a:r>
            <a:r>
              <a:rPr lang="zh-CN" altLang="en-US" dirty="0"/>
              <a:t>成功追踪到一名用户，揭示了隐私泄露的严重性。事件引发舆论震动，相关责任人被解雇，首席技术官辞职，美国在线最终被起诉，成为数据匿名化不足导致隐私风险的典型案例。</a:t>
            </a:r>
          </a:p>
        </p:txBody>
      </p:sp>
      <p:sp>
        <p:nvSpPr>
          <p:cNvPr id="8" name="文本框 7">
            <a:extLst>
              <a:ext uri="{FF2B5EF4-FFF2-40B4-BE49-F238E27FC236}">
                <a16:creationId xmlns:a16="http://schemas.microsoft.com/office/drawing/2014/main" id="{3B74DBC7-EB54-C3C1-AE7D-82C950A1B3F1}"/>
              </a:ext>
            </a:extLst>
          </p:cNvPr>
          <p:cNvSpPr txBox="1"/>
          <p:nvPr/>
        </p:nvSpPr>
        <p:spPr>
          <a:xfrm>
            <a:off x="4761945" y="1393500"/>
            <a:ext cx="2262158" cy="369332"/>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zh-CN" altLang="en-US" b="1" dirty="0">
                <a:latin typeface="微软雅黑" panose="020B0503020204020204" pitchFamily="34" charset="-122"/>
                <a:ea typeface="微软雅黑" panose="020B0503020204020204" pitchFamily="34" charset="-122"/>
              </a:rPr>
              <a:t>“网飞奖”数据研究</a:t>
            </a:r>
          </a:p>
        </p:txBody>
      </p:sp>
      <p:sp>
        <p:nvSpPr>
          <p:cNvPr id="9" name="文本框 8">
            <a:extLst>
              <a:ext uri="{FF2B5EF4-FFF2-40B4-BE49-F238E27FC236}">
                <a16:creationId xmlns:a16="http://schemas.microsoft.com/office/drawing/2014/main" id="{878E70BA-1A27-D52F-698D-8F25E437B48D}"/>
              </a:ext>
            </a:extLst>
          </p:cNvPr>
          <p:cNvSpPr txBox="1"/>
          <p:nvPr/>
        </p:nvSpPr>
        <p:spPr>
          <a:xfrm>
            <a:off x="3782646" y="1921006"/>
            <a:ext cx="4371994" cy="438171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nSpc>
                <a:spcPct val="120000"/>
              </a:lnSpc>
            </a:pPr>
            <a:r>
              <a:rPr lang="en-US" altLang="zh-CN" dirty="0"/>
              <a:t>2006</a:t>
            </a:r>
            <a:r>
              <a:rPr lang="zh-CN" altLang="en-US" dirty="0"/>
              <a:t>年，网飞为提升推荐算法举办“网飞奖”，向研究人员公开了近</a:t>
            </a:r>
            <a:r>
              <a:rPr lang="en-US" altLang="zh-CN" dirty="0"/>
              <a:t>50</a:t>
            </a:r>
            <a:r>
              <a:rPr lang="zh-CN" altLang="en-US" dirty="0"/>
              <a:t>万用户的一亿条匿名化影评数据，号称已去除用户身份信息。然而不久德州大学的研究人员发现，即使只掌握用户极少量的评分和时间信息，也能在数据中以极高概率重新识别出具体用户，并与</a:t>
            </a:r>
            <a:r>
              <a:rPr lang="en-US" altLang="zh-CN" dirty="0"/>
              <a:t>IMDb</a:t>
            </a:r>
            <a:r>
              <a:rPr lang="zh-CN" altLang="en-US" dirty="0"/>
              <a:t>等公开数据库交叉比对，从而实现“去匿名化”。这样不仅暴露了用户真实身份，还可能泄露其政治立场、宗教信仰和性取向等高度敏感的隐私。该事件引发了学界与公众的广泛担忧和激烈讨论，最终使网飞因隐私诉讼与舆论压力而放弃了原本计划的第二轮竞赛。</a:t>
            </a:r>
          </a:p>
        </p:txBody>
      </p:sp>
      <p:sp>
        <p:nvSpPr>
          <p:cNvPr id="10" name="文本框 9">
            <a:extLst>
              <a:ext uri="{FF2B5EF4-FFF2-40B4-BE49-F238E27FC236}">
                <a16:creationId xmlns:a16="http://schemas.microsoft.com/office/drawing/2014/main" id="{2D044AB8-CE1F-A4CB-02E0-DEC1A9ECA890}"/>
              </a:ext>
            </a:extLst>
          </p:cNvPr>
          <p:cNvSpPr txBox="1"/>
          <p:nvPr/>
        </p:nvSpPr>
        <p:spPr>
          <a:xfrm>
            <a:off x="8671452" y="1393500"/>
            <a:ext cx="2800351"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b="1" dirty="0">
                <a:latin typeface="微软雅黑" panose="020B0503020204020204" pitchFamily="34" charset="-122"/>
                <a:ea typeface="微软雅黑" panose="020B0503020204020204" pitchFamily="34" charset="-122"/>
              </a:rPr>
              <a:t>社交网络上隐私泄露事件</a:t>
            </a:r>
          </a:p>
        </p:txBody>
      </p:sp>
      <p:sp>
        <p:nvSpPr>
          <p:cNvPr id="11" name="文本框 10">
            <a:extLst>
              <a:ext uri="{FF2B5EF4-FFF2-40B4-BE49-F238E27FC236}">
                <a16:creationId xmlns:a16="http://schemas.microsoft.com/office/drawing/2014/main" id="{D25B0CB6-BCF9-2D04-00D4-61CF201D78F4}"/>
              </a:ext>
            </a:extLst>
          </p:cNvPr>
          <p:cNvSpPr txBox="1"/>
          <p:nvPr/>
        </p:nvSpPr>
        <p:spPr>
          <a:xfrm>
            <a:off x="8367649" y="1952986"/>
            <a:ext cx="3476291" cy="438171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nSpc>
                <a:spcPct val="120000"/>
              </a:lnSpc>
            </a:pPr>
            <a:r>
              <a:rPr lang="zh-CN" altLang="en-US" dirty="0"/>
              <a:t>社交网络为人们带来便捷的交流与信息获取，但其开放性也使其成为隐私泄露和社会工程学攻击的高风险场所。用户日常的行为，如发照片、更新状态、评论互动等，都可能无意中暴露时间、地点及人际关系等敏感信息。即使应用程序过滤了照片的</a:t>
            </a:r>
            <a:r>
              <a:rPr lang="en-US" altLang="zh-CN" dirty="0"/>
              <a:t>EXIF</a:t>
            </a:r>
            <a:r>
              <a:rPr lang="zh-CN" altLang="en-US" dirty="0"/>
              <a:t>信息，仍可通过图像内容推断地理位置。结合互动频率、时间和地点分布，大数据分析能够描绘个人画像，甚至揭示用户的生活轨迹与隐秘关系，凸显隐私保护的重要性。</a:t>
            </a:r>
          </a:p>
        </p:txBody>
      </p:sp>
    </p:spTree>
    <p:extLst>
      <p:ext uri="{BB962C8B-B14F-4D97-AF65-F5344CB8AC3E}">
        <p14:creationId xmlns:p14="http://schemas.microsoft.com/office/powerpoint/2010/main" val="3485291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24B53-2331-CE62-31BC-29508020F63F}"/>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15636822-1D40-E508-48A4-91AD31E02572}"/>
              </a:ext>
            </a:extLst>
          </p:cNvPr>
          <p:cNvSpPr>
            <a:spLocks noGrp="1"/>
          </p:cNvSpPr>
          <p:nvPr>
            <p:ph type="sldNum" sz="quarter" idx="4"/>
          </p:nvPr>
        </p:nvSpPr>
        <p:spPr/>
        <p:txBody>
          <a:bodyPr/>
          <a:lstStyle/>
          <a:p>
            <a:fld id="{4124EDF5-87F7-4AC5-8292-B04417157FC2}" type="slidenum">
              <a:rPr lang="zh-CN" altLang="en-US" smtClean="0"/>
              <a:t>9</a:t>
            </a:fld>
            <a:endParaRPr lang="zh-CN" altLang="en-US"/>
          </a:p>
        </p:txBody>
      </p:sp>
      <p:sp>
        <p:nvSpPr>
          <p:cNvPr id="4" name="标题 3">
            <a:extLst>
              <a:ext uri="{FF2B5EF4-FFF2-40B4-BE49-F238E27FC236}">
                <a16:creationId xmlns:a16="http://schemas.microsoft.com/office/drawing/2014/main" id="{4D209EED-9D73-4AFF-C63E-29D64667BBB2}"/>
              </a:ext>
            </a:extLst>
          </p:cNvPr>
          <p:cNvSpPr>
            <a:spLocks noGrp="1"/>
          </p:cNvSpPr>
          <p:nvPr>
            <p:ph type="title"/>
          </p:nvPr>
        </p:nvSpPr>
        <p:spPr/>
        <p:txBody>
          <a:bodyPr/>
          <a:lstStyle/>
          <a:p>
            <a:endParaRPr lang="en-US"/>
          </a:p>
        </p:txBody>
      </p:sp>
      <p:sp>
        <p:nvSpPr>
          <p:cNvPr id="5" name="文本框 4">
            <a:extLst>
              <a:ext uri="{FF2B5EF4-FFF2-40B4-BE49-F238E27FC236}">
                <a16:creationId xmlns:a16="http://schemas.microsoft.com/office/drawing/2014/main" id="{FBC9EE85-C5FD-0BF8-5131-6CB409B57E7B}"/>
              </a:ext>
            </a:extLst>
          </p:cNvPr>
          <p:cNvSpPr txBox="1"/>
          <p:nvPr/>
        </p:nvSpPr>
        <p:spPr>
          <a:xfrm>
            <a:off x="2913188" y="3113465"/>
            <a:ext cx="6365619" cy="92333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lang="zh-CN" altLang="en-US" dirty="0"/>
              <a:t>数据匿名化技术</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extLst>
      <p:ext uri="{BB962C8B-B14F-4D97-AF65-F5344CB8AC3E}">
        <p14:creationId xmlns:p14="http://schemas.microsoft.com/office/powerpoint/2010/main" val="2286478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什么是数据匿名化</a:t>
            </a:r>
            <a:endParaRPr lang="en-US" altLang="zh-CN" dirty="0"/>
          </a:p>
          <a:p>
            <a:pPr lvl="1"/>
            <a:r>
              <a:rPr lang="zh-CN" altLang="en-US" dirty="0"/>
              <a:t>数据匿名化（</a:t>
            </a:r>
            <a:r>
              <a:rPr lang="en-US" altLang="zh-CN" dirty="0"/>
              <a:t>Anonymization</a:t>
            </a:r>
            <a:r>
              <a:rPr lang="zh-CN" altLang="en-US" dirty="0"/>
              <a:t>）是一个过程，通过这个过程将数据库中的部分信息隐匿，使得数据主体难以被识别。</a:t>
            </a:r>
            <a:endParaRPr lang="en-US" altLang="zh-CN" dirty="0"/>
          </a:p>
          <a:p>
            <a:pPr lvl="1"/>
            <a:r>
              <a:rPr lang="zh-CN" altLang="en-US" dirty="0"/>
              <a:t>个人信息的属主被称为数据主体（</a:t>
            </a:r>
            <a:r>
              <a:rPr lang="en-US" altLang="zh-CN" dirty="0"/>
              <a:t>Data Subject</a:t>
            </a:r>
            <a:r>
              <a:rPr lang="zh-CN" altLang="en-US" dirty="0"/>
              <a:t>）。数据主体既可以是一个人，也可以是一个实体。数据管理员试图通过数据匿名化来保护数据主体的隐私。</a:t>
            </a:r>
            <a:endParaRPr lang="en-US" altLang="zh-CN" dirty="0"/>
          </a:p>
          <a:p>
            <a:pPr lvl="1"/>
            <a:r>
              <a:rPr lang="zh-CN" altLang="en-US" dirty="0"/>
              <a:t>抑制（</a:t>
            </a:r>
            <a:r>
              <a:rPr lang="en-US" altLang="zh-CN" dirty="0"/>
              <a:t>Suppression</a:t>
            </a:r>
            <a:r>
              <a:rPr lang="zh-CN" altLang="en-US" dirty="0"/>
              <a:t>）：数据管理员通过删除或完全省略部分数据，实现对数据主体的身份保护。例如，医院的数据管理员在跟踪处方时，会在共享数据之前先删除患者的姓名从而将其匿名化。</a:t>
            </a:r>
            <a:endParaRPr lang="en-US" altLang="zh-CN" dirty="0"/>
          </a:p>
          <a:p>
            <a:pPr lvl="1"/>
            <a:r>
              <a:rPr lang="zh-CN" altLang="en-US" dirty="0"/>
              <a:t>匿名化的反面是再识别（</a:t>
            </a:r>
            <a:r>
              <a:rPr lang="en-US" altLang="zh-CN" dirty="0"/>
              <a:t>Reidentification</a:t>
            </a:r>
            <a:r>
              <a:rPr lang="zh-CN" altLang="en-US" dirty="0"/>
              <a:t>）或去匿名化（</a:t>
            </a:r>
            <a:r>
              <a:rPr lang="en-US" altLang="zh-CN" dirty="0"/>
              <a:t>Deanonymization</a:t>
            </a:r>
            <a:r>
              <a:rPr lang="zh-CN" altLang="en-US" dirty="0"/>
              <a:t>）：攻击者通过将匿名记录与外部信息关联起来再识别匿名后的数据，并希望能够发现数据主体的真实身份。 </a:t>
            </a:r>
            <a:endParaRPr lang="en-US"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t>10</a:t>
            </a:fld>
            <a:endParaRPr lang="zh-CN" altLang="en-US"/>
          </a:p>
        </p:txBody>
      </p:sp>
      <p:sp>
        <p:nvSpPr>
          <p:cNvPr id="4" name="标题 3"/>
          <p:cNvSpPr>
            <a:spLocks noGrp="1"/>
          </p:cNvSpPr>
          <p:nvPr>
            <p:ph type="title"/>
          </p:nvPr>
        </p:nvSpPr>
        <p:spPr/>
        <p:txBody>
          <a:bodyPr/>
          <a:lstStyle/>
          <a:p>
            <a:r>
              <a:rPr lang="zh-CN" altLang="en-US" dirty="0"/>
              <a:t>数据匿名化技术</a:t>
            </a:r>
            <a:endParaRPr lang="en-US" dirty="0"/>
          </a:p>
        </p:txBody>
      </p:sp>
    </p:spTree>
    <p:extLst>
      <p:ext uri="{BB962C8B-B14F-4D97-AF65-F5344CB8AC3E}">
        <p14:creationId xmlns:p14="http://schemas.microsoft.com/office/powerpoint/2010/main" val="2318307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71301" y="1232704"/>
            <a:ext cx="11464528" cy="5509407"/>
          </a:xfrm>
        </p:spPr>
        <p:txBody>
          <a:bodyPr/>
          <a:lstStyle/>
          <a:p>
            <a:r>
              <a:rPr lang="zh-CN" altLang="en-US" dirty="0"/>
              <a:t>匿名化的原因</a:t>
            </a:r>
            <a:endParaRPr lang="en-US" altLang="zh-CN" dirty="0"/>
          </a:p>
          <a:p>
            <a:pPr lvl="1"/>
            <a:r>
              <a:rPr lang="zh-CN" altLang="en-US" dirty="0"/>
              <a:t>数据如果不共享和进一步开发利用，其存储价值将大大降低。 </a:t>
            </a:r>
          </a:p>
          <a:p>
            <a:pPr lvl="1"/>
            <a:r>
              <a:rPr lang="zh-CN" altLang="en-US" dirty="0"/>
              <a:t>数据管理者在存储或公开数据时，需要对数据进行匿名化处理，以保护数据主体的隐私。 </a:t>
            </a:r>
            <a:endParaRPr lang="en-US" altLang="zh-CN" dirty="0"/>
          </a:p>
          <a:p>
            <a:pPr lvl="1"/>
            <a:r>
              <a:rPr lang="zh-CN" altLang="en-US" dirty="0"/>
              <a:t>披露数据常见的三种情况</a:t>
            </a:r>
            <a:r>
              <a:rPr lang="en-US" altLang="zh-CN" dirty="0"/>
              <a:t>:1</a:t>
            </a:r>
            <a:r>
              <a:rPr lang="zh-CN" altLang="en-US" dirty="0"/>
              <a:t>）管理员向第三方发布数据。</a:t>
            </a:r>
            <a:r>
              <a:rPr lang="en-US" altLang="zh-CN" dirty="0"/>
              <a:t>2</a:t>
            </a:r>
            <a:r>
              <a:rPr lang="zh-CN" altLang="en-US" dirty="0"/>
              <a:t>）管理员有时会向公众发布匿名数据。</a:t>
            </a:r>
            <a:r>
              <a:rPr lang="en-US" altLang="zh-CN" dirty="0"/>
              <a:t>3</a:t>
            </a:r>
            <a:r>
              <a:rPr lang="zh-CN" altLang="en-US" dirty="0"/>
              <a:t>）管理员向组织内的其他人披露匿名数据，特别是在大型组织中。</a:t>
            </a:r>
            <a:endParaRPr lang="en-US" altLang="zh-CN" dirty="0"/>
          </a:p>
          <a:p>
            <a:pPr marL="257175" lvl="1" indent="-257175">
              <a:buChar char="•"/>
            </a:pPr>
            <a:r>
              <a:rPr lang="zh-CN" altLang="en-US" sz="2400" dirty="0"/>
              <a:t>数据匿名化的广泛使用</a:t>
            </a:r>
            <a:endParaRPr lang="en-US" altLang="zh-CN" sz="2400" dirty="0"/>
          </a:p>
          <a:p>
            <a:pPr lvl="1"/>
            <a:r>
              <a:rPr lang="zh-CN" altLang="en-US" dirty="0"/>
              <a:t>道德规范约束经常要求通过匿名化来保护人们的隐私。例如，生物医学指南通常建议编码遗传数据，将存储的基因与随机数字相关联以保护隐私。</a:t>
            </a:r>
            <a:endParaRPr lang="en-US" altLang="zh-CN" dirty="0"/>
          </a:p>
          <a:p>
            <a:pPr lvl="1"/>
            <a:r>
              <a:rPr lang="zh-CN" altLang="en-US" dirty="0"/>
              <a:t>市场压力有时会迫使企业匿名化数据。</a:t>
            </a:r>
            <a:endParaRPr lang="en-US" altLang="zh-CN" dirty="0"/>
          </a:p>
          <a:p>
            <a:pPr lvl="1"/>
            <a:r>
              <a:rPr lang="zh-CN" altLang="en-US" dirty="0"/>
              <a:t>在设计技术架构时，匿名化通常是默认的选择。</a:t>
            </a:r>
            <a:endParaRPr lang="en-US" altLang="zh-CN" dirty="0"/>
          </a:p>
          <a:p>
            <a:pPr marL="257175" lvl="1" indent="-257175">
              <a:buChar char="•"/>
            </a:pPr>
            <a:endParaRPr lang="en-US" sz="2400"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t>11</a:t>
            </a:fld>
            <a:endParaRPr lang="zh-CN" altLang="en-US"/>
          </a:p>
        </p:txBody>
      </p:sp>
      <p:sp>
        <p:nvSpPr>
          <p:cNvPr id="4" name="标题 3"/>
          <p:cNvSpPr>
            <a:spLocks noGrp="1"/>
          </p:cNvSpPr>
          <p:nvPr>
            <p:ph type="title"/>
          </p:nvPr>
        </p:nvSpPr>
        <p:spPr/>
        <p:txBody>
          <a:bodyPr/>
          <a:lstStyle/>
          <a:p>
            <a:r>
              <a:rPr lang="zh-CN" altLang="en-US" dirty="0"/>
              <a:t>数据匿名化技术</a:t>
            </a:r>
            <a:endParaRPr lang="en-US" dirty="0"/>
          </a:p>
        </p:txBody>
      </p:sp>
    </p:spTree>
    <p:extLst>
      <p:ext uri="{BB962C8B-B14F-4D97-AF65-F5344CB8AC3E}">
        <p14:creationId xmlns:p14="http://schemas.microsoft.com/office/powerpoint/2010/main" val="2457866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发布</a:t>
            </a:r>
            <a:r>
              <a:rPr lang="en-US" altLang="zh-CN" dirty="0"/>
              <a:t>-</a:t>
            </a:r>
            <a:r>
              <a:rPr lang="zh-CN" altLang="en-US" dirty="0"/>
              <a:t>遗忘模型包含两部分内容：</a:t>
            </a:r>
            <a:endParaRPr lang="en-US" altLang="zh-CN" dirty="0"/>
          </a:p>
          <a:p>
            <a:pPr lvl="1"/>
            <a:r>
              <a:rPr lang="en-US" altLang="zh-CN" dirty="0"/>
              <a:t>1</a:t>
            </a:r>
            <a:r>
              <a:rPr lang="zh-CN" altLang="en-US" dirty="0"/>
              <a:t>）发布：数据管理员对数据进行匿名化处理后发布数据，包括公开发布数据，秘密地向第三方发布数据，或者在自己的组织内部发布数据。</a:t>
            </a:r>
            <a:endParaRPr lang="en-US" altLang="zh-CN" dirty="0"/>
          </a:p>
          <a:p>
            <a:pPr lvl="1"/>
            <a:r>
              <a:rPr lang="en-US" altLang="zh-CN" dirty="0"/>
              <a:t>2</a:t>
            </a:r>
            <a:r>
              <a:rPr lang="zh-CN" altLang="en-US" dirty="0"/>
              <a:t>）遗忘：然后数据管理者会忘记，这意味着他不会试图在发布后追踪记录的情况。</a:t>
            </a:r>
            <a:endParaRPr lang="en-US" altLang="zh-CN" dirty="0"/>
          </a:p>
          <a:p>
            <a:r>
              <a:rPr lang="zh-CN" altLang="en-US" dirty="0"/>
              <a:t>下面介绍一些常见的发布</a:t>
            </a:r>
            <a:r>
              <a:rPr lang="en-US" altLang="zh-CN" dirty="0"/>
              <a:t>-</a:t>
            </a:r>
            <a:r>
              <a:rPr lang="zh-CN" altLang="en-US" dirty="0"/>
              <a:t>遗忘技术。我们处理一个简化的医院数据库，原始（非匿名）数据见表</a:t>
            </a:r>
            <a:r>
              <a:rPr lang="en-US" altLang="zh-CN" dirty="0"/>
              <a:t>7.1</a:t>
            </a:r>
            <a:endParaRPr lang="en-US"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t>12</a:t>
            </a:fld>
            <a:endParaRPr lang="zh-CN" altLang="en-US"/>
          </a:p>
        </p:txBody>
      </p:sp>
      <p:sp>
        <p:nvSpPr>
          <p:cNvPr id="4" name="标题 3"/>
          <p:cNvSpPr>
            <a:spLocks noGrp="1"/>
          </p:cNvSpPr>
          <p:nvPr>
            <p:ph type="title"/>
          </p:nvPr>
        </p:nvSpPr>
        <p:spPr/>
        <p:txBody>
          <a:bodyPr/>
          <a:lstStyle/>
          <a:p>
            <a:r>
              <a:rPr lang="zh-CN" altLang="en-US" dirty="0"/>
              <a:t>匿名技术：发布</a:t>
            </a:r>
            <a:r>
              <a:rPr lang="en-US" altLang="zh-CN" dirty="0"/>
              <a:t>-</a:t>
            </a:r>
            <a:r>
              <a:rPr lang="zh-CN" altLang="en-US" dirty="0"/>
              <a:t>遗忘模型 </a:t>
            </a:r>
            <a:endParaRPr lang="en-US" dirty="0"/>
          </a:p>
        </p:txBody>
      </p:sp>
      <p:pic>
        <p:nvPicPr>
          <p:cNvPr id="5" name="图片 4">
            <a:extLst>
              <a:ext uri="{FF2B5EF4-FFF2-40B4-BE49-F238E27FC236}">
                <a16:creationId xmlns:a16="http://schemas.microsoft.com/office/drawing/2014/main" id="{DDD0E2CF-1F92-05C6-3063-23010703F7A8}"/>
              </a:ext>
            </a:extLst>
          </p:cNvPr>
          <p:cNvPicPr>
            <a:picLocks noChangeAspect="1"/>
          </p:cNvPicPr>
          <p:nvPr/>
        </p:nvPicPr>
        <p:blipFill>
          <a:blip r:embed="rId2"/>
          <a:stretch>
            <a:fillRect/>
          </a:stretch>
        </p:blipFill>
        <p:spPr>
          <a:xfrm>
            <a:off x="835819" y="4408108"/>
            <a:ext cx="10672763" cy="2334004"/>
          </a:xfrm>
          <a:prstGeom prst="rect">
            <a:avLst/>
          </a:prstGeom>
        </p:spPr>
      </p:pic>
    </p:spTree>
    <p:extLst>
      <p:ext uri="{BB962C8B-B14F-4D97-AF65-F5344CB8AC3E}">
        <p14:creationId xmlns:p14="http://schemas.microsoft.com/office/powerpoint/2010/main" val="34671359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3B3D803-695E-34AE-07AF-FFE5AC0C3709}"/>
              </a:ext>
            </a:extLst>
          </p:cNvPr>
          <p:cNvSpPr>
            <a:spLocks noGrp="1"/>
          </p:cNvSpPr>
          <p:nvPr>
            <p:ph idx="1"/>
          </p:nvPr>
        </p:nvSpPr>
        <p:spPr/>
        <p:txBody>
          <a:bodyPr/>
          <a:lstStyle/>
          <a:p>
            <a:r>
              <a:rPr lang="zh-CN" altLang="en-US" dirty="0"/>
              <a:t>把这个数据集合称为表格。每行被称为一条记录。每列被称为一个字段或属性，由一个称为字段名称或属性名称的标签来标识。对于一个给定的属性，每条记录都有一个特定的值。</a:t>
            </a:r>
            <a:endParaRPr lang="en-US" altLang="zh-CN" dirty="0"/>
          </a:p>
          <a:p>
            <a:r>
              <a:rPr lang="zh-CN" altLang="en-US" dirty="0"/>
              <a:t>为了保护本表中的人员隐私，医院数据库管理员将在发布此数据之前采取以下步骤：</a:t>
            </a:r>
            <a:endParaRPr lang="en-US" altLang="zh-CN" dirty="0"/>
          </a:p>
          <a:p>
            <a:pPr lvl="1"/>
            <a:r>
              <a:rPr lang="en-US" altLang="zh-CN" dirty="0"/>
              <a:t>1.</a:t>
            </a:r>
            <a:r>
              <a:rPr lang="zh-CN" altLang="en-US" dirty="0"/>
              <a:t>识别身份信息。管理员将挑选出他认为可以用来识别个人的任何字段，如姓名。</a:t>
            </a:r>
            <a:endParaRPr lang="en-US" altLang="zh-CN" dirty="0"/>
          </a:p>
          <a:p>
            <a:pPr lvl="1"/>
            <a:r>
              <a:rPr lang="en-US" altLang="zh-CN" dirty="0"/>
              <a:t>2.</a:t>
            </a:r>
            <a:r>
              <a:rPr lang="zh-CN" altLang="en-US" dirty="0"/>
              <a:t>有时管理员会自己选择潜在的标识字段，直观地（通过隔离可能识别的数据类型）或分析后（通过在特定数据中寻找唯一性）选择。例如，医院数据库中没有两个人的出生日期是一样的，则管理员必须将出生日期作为标识符。</a:t>
            </a:r>
            <a:endParaRPr lang="en-US" altLang="zh-CN" dirty="0"/>
          </a:p>
          <a:p>
            <a:pPr lvl="1"/>
            <a:r>
              <a:rPr lang="en-US" altLang="zh-CN" dirty="0"/>
              <a:t>3.</a:t>
            </a:r>
            <a:r>
              <a:rPr lang="zh-CN" altLang="en-US" dirty="0"/>
              <a:t>考虑另外的数据来源（如统计研究、公司政策或政府法规）来决定是否将特定字段用作身份识别。在本例中，假定管理员根据这些来源之一，决定将以下四个字段视为潜在的标识符：姓名，出生日期，性别和邮政编码（简称邮编）</a:t>
            </a:r>
            <a:endParaRPr lang="en-US" altLang="zh-CN" dirty="0"/>
          </a:p>
          <a:p>
            <a:pPr lvl="1"/>
            <a:r>
              <a:rPr lang="en-US" altLang="zh-CN" dirty="0"/>
              <a:t>4.</a:t>
            </a:r>
            <a:r>
              <a:rPr lang="zh-CN" altLang="en-US" dirty="0"/>
              <a:t>后续将采用抑制、泛化和聚合三步进行数据脱敏。 </a:t>
            </a:r>
          </a:p>
        </p:txBody>
      </p:sp>
      <p:sp>
        <p:nvSpPr>
          <p:cNvPr id="3" name="灯片编号占位符 2">
            <a:extLst>
              <a:ext uri="{FF2B5EF4-FFF2-40B4-BE49-F238E27FC236}">
                <a16:creationId xmlns:a16="http://schemas.microsoft.com/office/drawing/2014/main" id="{F165C70B-FB9F-6AB5-369F-632C42712EB8}"/>
              </a:ext>
            </a:extLst>
          </p:cNvPr>
          <p:cNvSpPr>
            <a:spLocks noGrp="1"/>
          </p:cNvSpPr>
          <p:nvPr>
            <p:ph type="sldNum" sz="quarter" idx="4"/>
          </p:nvPr>
        </p:nvSpPr>
        <p:spPr/>
        <p:txBody>
          <a:bodyPr/>
          <a:lstStyle/>
          <a:p>
            <a:fld id="{4124EDF5-87F7-4AC5-8292-B04417157FC2}" type="slidenum">
              <a:rPr lang="zh-CN" altLang="en-US" smtClean="0"/>
              <a:t>13</a:t>
            </a:fld>
            <a:endParaRPr lang="zh-CN" altLang="en-US"/>
          </a:p>
        </p:txBody>
      </p:sp>
      <p:sp>
        <p:nvSpPr>
          <p:cNvPr id="4" name="标题 3">
            <a:extLst>
              <a:ext uri="{FF2B5EF4-FFF2-40B4-BE49-F238E27FC236}">
                <a16:creationId xmlns:a16="http://schemas.microsoft.com/office/drawing/2014/main" id="{6CBEBA36-05CA-7C96-D159-30F046076E7C}"/>
              </a:ext>
            </a:extLst>
          </p:cNvPr>
          <p:cNvSpPr>
            <a:spLocks noGrp="1"/>
          </p:cNvSpPr>
          <p:nvPr>
            <p:ph type="title"/>
          </p:nvPr>
        </p:nvSpPr>
        <p:spPr/>
        <p:txBody>
          <a:bodyPr/>
          <a:lstStyle/>
          <a:p>
            <a:r>
              <a:rPr lang="zh-CN" altLang="en-US" dirty="0"/>
              <a:t>匿名技术：发布</a:t>
            </a:r>
            <a:r>
              <a:rPr lang="en-US" altLang="zh-CN" dirty="0"/>
              <a:t>-</a:t>
            </a:r>
            <a:r>
              <a:rPr lang="zh-CN" altLang="en-US" dirty="0"/>
              <a:t>遗忘模型 </a:t>
            </a:r>
          </a:p>
        </p:txBody>
      </p:sp>
    </p:spTree>
    <p:extLst>
      <p:ext uri="{BB962C8B-B14F-4D97-AF65-F5344CB8AC3E}">
        <p14:creationId xmlns:p14="http://schemas.microsoft.com/office/powerpoint/2010/main" val="2453023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65C63CA-4708-340B-751F-75911CF8CF4F}"/>
              </a:ext>
            </a:extLst>
          </p:cNvPr>
          <p:cNvSpPr>
            <a:spLocks noGrp="1"/>
          </p:cNvSpPr>
          <p:nvPr>
            <p:ph idx="1"/>
          </p:nvPr>
        </p:nvSpPr>
        <p:spPr>
          <a:xfrm>
            <a:off x="371301" y="1232705"/>
            <a:ext cx="11464528" cy="938737"/>
          </a:xfrm>
        </p:spPr>
        <p:txBody>
          <a:bodyPr/>
          <a:lstStyle/>
          <a:p>
            <a:pPr marL="257175" lvl="1" indent="-257175">
              <a:buChar char="•"/>
            </a:pPr>
            <a:r>
              <a:rPr lang="zh-CN" altLang="en-US" sz="2400" dirty="0"/>
              <a:t>抑制：管理员修改识别字段。他可能会抑制这些识别字段，把表中的字段完全删除。在本例中，管理员可能删除所有四个潜在的标识符，生成表格</a:t>
            </a:r>
            <a:r>
              <a:rPr lang="en-US" altLang="zh-CN" sz="2400" dirty="0"/>
              <a:t>7.2</a:t>
            </a:r>
            <a:r>
              <a:rPr lang="zh-CN" altLang="en-US" sz="2400" dirty="0"/>
              <a:t>。</a:t>
            </a:r>
          </a:p>
        </p:txBody>
      </p:sp>
      <p:sp>
        <p:nvSpPr>
          <p:cNvPr id="3" name="灯片编号占位符 2">
            <a:extLst>
              <a:ext uri="{FF2B5EF4-FFF2-40B4-BE49-F238E27FC236}">
                <a16:creationId xmlns:a16="http://schemas.microsoft.com/office/drawing/2014/main" id="{D3986FC4-5028-F2E1-EBCD-B67D879A69C7}"/>
              </a:ext>
            </a:extLst>
          </p:cNvPr>
          <p:cNvSpPr>
            <a:spLocks noGrp="1"/>
          </p:cNvSpPr>
          <p:nvPr>
            <p:ph type="sldNum" sz="quarter" idx="4"/>
          </p:nvPr>
        </p:nvSpPr>
        <p:spPr/>
        <p:txBody>
          <a:bodyPr/>
          <a:lstStyle/>
          <a:p>
            <a:fld id="{4124EDF5-87F7-4AC5-8292-B04417157FC2}" type="slidenum">
              <a:rPr lang="zh-CN" altLang="en-US" smtClean="0"/>
              <a:t>14</a:t>
            </a:fld>
            <a:endParaRPr lang="zh-CN" altLang="en-US"/>
          </a:p>
        </p:txBody>
      </p:sp>
      <p:sp>
        <p:nvSpPr>
          <p:cNvPr id="4" name="标题 3">
            <a:extLst>
              <a:ext uri="{FF2B5EF4-FFF2-40B4-BE49-F238E27FC236}">
                <a16:creationId xmlns:a16="http://schemas.microsoft.com/office/drawing/2014/main" id="{BAE84CF4-903B-BF87-A314-F9975A63C6C6}"/>
              </a:ext>
            </a:extLst>
          </p:cNvPr>
          <p:cNvSpPr>
            <a:spLocks noGrp="1"/>
          </p:cNvSpPr>
          <p:nvPr>
            <p:ph type="title"/>
          </p:nvPr>
        </p:nvSpPr>
        <p:spPr/>
        <p:txBody>
          <a:bodyPr/>
          <a:lstStyle/>
          <a:p>
            <a:r>
              <a:rPr lang="zh-CN" altLang="en-US" dirty="0"/>
              <a:t>数据脱敏技术：抑制、泛化、聚合 </a:t>
            </a:r>
            <a:endParaRPr lang="en-US" altLang="zh-CN" dirty="0"/>
          </a:p>
        </p:txBody>
      </p:sp>
      <p:pic>
        <p:nvPicPr>
          <p:cNvPr id="5" name="图片 4">
            <a:extLst>
              <a:ext uri="{FF2B5EF4-FFF2-40B4-BE49-F238E27FC236}">
                <a16:creationId xmlns:a16="http://schemas.microsoft.com/office/drawing/2014/main" id="{3F9BAE26-F8EC-90FA-CA9A-4D1936AD8BEB}"/>
              </a:ext>
            </a:extLst>
          </p:cNvPr>
          <p:cNvPicPr>
            <a:picLocks noChangeAspect="1"/>
          </p:cNvPicPr>
          <p:nvPr/>
        </p:nvPicPr>
        <p:blipFill>
          <a:blip r:embed="rId2"/>
          <a:stretch>
            <a:fillRect/>
          </a:stretch>
        </p:blipFill>
        <p:spPr>
          <a:xfrm>
            <a:off x="1541859" y="2171442"/>
            <a:ext cx="9108281" cy="2199182"/>
          </a:xfrm>
          <a:prstGeom prst="rect">
            <a:avLst/>
          </a:prstGeom>
        </p:spPr>
      </p:pic>
      <p:sp>
        <p:nvSpPr>
          <p:cNvPr id="6" name="内容占位符 1">
            <a:extLst>
              <a:ext uri="{FF2B5EF4-FFF2-40B4-BE49-F238E27FC236}">
                <a16:creationId xmlns:a16="http://schemas.microsoft.com/office/drawing/2014/main" id="{905F7D19-80C4-3A07-056F-A10A1780F050}"/>
              </a:ext>
            </a:extLst>
          </p:cNvPr>
          <p:cNvSpPr txBox="1">
            <a:spLocks/>
          </p:cNvSpPr>
          <p:nvPr/>
        </p:nvSpPr>
        <p:spPr bwMode="auto">
          <a:xfrm>
            <a:off x="307008" y="4446974"/>
            <a:ext cx="11464528" cy="235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just" rtl="0" eaLnBrk="1" fontAlgn="base" hangingPunct="1">
              <a:lnSpc>
                <a:spcPct val="120000"/>
              </a:lnSpc>
              <a:spcBef>
                <a:spcPts val="600"/>
              </a:spcBef>
              <a:spcAft>
                <a:spcPts val="600"/>
              </a:spcAft>
              <a:buClr>
                <a:srgbClr val="FF9933"/>
              </a:buClr>
              <a:buChar char="•"/>
              <a:defRPr kumimoji="1" sz="24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1pPr>
            <a:lvl2pPr marL="557213" indent="-214313" algn="just" rtl="0" eaLnBrk="1" fontAlgn="base" hangingPunct="1">
              <a:lnSpc>
                <a:spcPct val="120000"/>
              </a:lnSpc>
              <a:spcBef>
                <a:spcPts val="600"/>
              </a:spcBef>
              <a:spcAft>
                <a:spcPts val="600"/>
              </a:spcAft>
              <a:buClr>
                <a:srgbClr val="FF9933"/>
              </a:buClr>
              <a:buChar char="–"/>
              <a:defRPr kumimoji="1" sz="21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2pPr>
            <a:lvl3pPr marL="857250" indent="-171450" algn="just" rtl="0" eaLnBrk="1" fontAlgn="base" hangingPunct="1">
              <a:lnSpc>
                <a:spcPct val="120000"/>
              </a:lnSpc>
              <a:spcBef>
                <a:spcPts val="600"/>
              </a:spcBef>
              <a:spcAft>
                <a:spcPts val="600"/>
              </a:spcAft>
              <a:buClr>
                <a:srgbClr val="FF9933"/>
              </a:buClr>
              <a:buChar char="•"/>
              <a:defRPr kumimoji="1" sz="18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3pPr>
            <a:lvl4pPr marL="1200150" indent="-171450" algn="just" rtl="0" eaLnBrk="1" fontAlgn="base" hangingPunct="1">
              <a:lnSpc>
                <a:spcPct val="120000"/>
              </a:lnSpc>
              <a:spcBef>
                <a:spcPts val="600"/>
              </a:spcBef>
              <a:spcAft>
                <a:spcPts val="600"/>
              </a:spcAft>
              <a:buClr>
                <a:srgbClr val="FF9933"/>
              </a:buClr>
              <a:buChar char="–"/>
              <a:defRPr kumimoji="1" sz="15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603050405020304" pitchFamily="18" charset="0"/>
                <a:ea typeface="+mn-ea"/>
                <a:cs typeface="Times New Roman" panose="0202060305040502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257175" lvl="1" indent="-257175">
              <a:buFontTx/>
              <a:buChar char="•"/>
            </a:pPr>
            <a:r>
              <a:rPr lang="zh-CN" altLang="en-US" sz="2400" kern="0" dirty="0"/>
              <a:t>管理者会面对矛盾。</a:t>
            </a:r>
            <a:endParaRPr lang="en-US" altLang="zh-CN" sz="2400" kern="0" dirty="0"/>
          </a:p>
          <a:p>
            <a:pPr lvl="1"/>
            <a:r>
              <a:rPr lang="zh-CN" altLang="en-US" dirty="0"/>
              <a:t>一方面，有了这个版本的数据，管理者无须担心隐私问题</a:t>
            </a:r>
            <a:endParaRPr lang="en-US" altLang="zh-CN" dirty="0"/>
          </a:p>
          <a:p>
            <a:pPr lvl="1"/>
            <a:r>
              <a:rPr lang="zh-CN" altLang="en-US" dirty="0"/>
              <a:t>另一方面，严重的抑制使数据对研究几乎毫无用处。虽然研究人员可以使用剩余的数据来跟踪疾病的发生率，但由于年龄、性别信息已经被删除，研究人员将无法得出许多其他有趣和有用的结论。</a:t>
            </a:r>
          </a:p>
        </p:txBody>
      </p:sp>
    </p:spTree>
    <p:extLst>
      <p:ext uri="{BB962C8B-B14F-4D97-AF65-F5344CB8AC3E}">
        <p14:creationId xmlns:p14="http://schemas.microsoft.com/office/powerpoint/2010/main" val="879294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AC28D0D-D22F-97E4-DE5B-3A6BA80B4397}"/>
              </a:ext>
            </a:extLst>
          </p:cNvPr>
          <p:cNvSpPr>
            <a:spLocks noGrp="1"/>
          </p:cNvSpPr>
          <p:nvPr>
            <p:ph idx="1"/>
          </p:nvPr>
        </p:nvSpPr>
        <p:spPr>
          <a:xfrm>
            <a:off x="371303" y="1058548"/>
            <a:ext cx="11464528" cy="2367745"/>
          </a:xfrm>
        </p:spPr>
        <p:txBody>
          <a:bodyPr/>
          <a:lstStyle/>
          <a:p>
            <a:r>
              <a:rPr lang="zh-CN" altLang="en-US" dirty="0"/>
              <a:t>泛化（</a:t>
            </a:r>
            <a:r>
              <a:rPr lang="en-US" altLang="zh-CN" dirty="0"/>
              <a:t>Generalization</a:t>
            </a:r>
            <a:r>
              <a:rPr lang="zh-CN" altLang="en-US" dirty="0"/>
              <a:t>）：为了更好地实现效用和隐私之间的平衡，管理者可能会泛化而不是抑制标识符。这意味着他将改变而不是删除标识符值以增强隐私，同时保持数据的实用性。</a:t>
            </a:r>
            <a:endParaRPr lang="en-US" altLang="zh-CN" dirty="0"/>
          </a:p>
          <a:p>
            <a:pPr lvl="1"/>
            <a:r>
              <a:rPr lang="zh-CN" altLang="en-US" dirty="0"/>
              <a:t>例如，管理者可以选择简化姓名字段，将出生日期归纳为出生年份，并通过只保留前三个数字来概括邮政编码。</a:t>
            </a:r>
          </a:p>
        </p:txBody>
      </p:sp>
      <p:sp>
        <p:nvSpPr>
          <p:cNvPr id="3" name="灯片编号占位符 2">
            <a:extLst>
              <a:ext uri="{FF2B5EF4-FFF2-40B4-BE49-F238E27FC236}">
                <a16:creationId xmlns:a16="http://schemas.microsoft.com/office/drawing/2014/main" id="{9E9896FC-EB55-82DB-F768-C358A73D35AB}"/>
              </a:ext>
            </a:extLst>
          </p:cNvPr>
          <p:cNvSpPr>
            <a:spLocks noGrp="1"/>
          </p:cNvSpPr>
          <p:nvPr>
            <p:ph type="sldNum" sz="quarter" idx="4"/>
          </p:nvPr>
        </p:nvSpPr>
        <p:spPr/>
        <p:txBody>
          <a:bodyPr/>
          <a:lstStyle/>
          <a:p>
            <a:fld id="{4124EDF5-87F7-4AC5-8292-B04417157FC2}" type="slidenum">
              <a:rPr lang="zh-CN" altLang="en-US" smtClean="0"/>
              <a:t>15</a:t>
            </a:fld>
            <a:endParaRPr lang="zh-CN" altLang="en-US"/>
          </a:p>
        </p:txBody>
      </p:sp>
      <p:sp>
        <p:nvSpPr>
          <p:cNvPr id="4" name="标题 3">
            <a:extLst>
              <a:ext uri="{FF2B5EF4-FFF2-40B4-BE49-F238E27FC236}">
                <a16:creationId xmlns:a16="http://schemas.microsoft.com/office/drawing/2014/main" id="{430EABB9-04F1-B8D5-D5A1-4F0842016D1E}"/>
              </a:ext>
            </a:extLst>
          </p:cNvPr>
          <p:cNvSpPr>
            <a:spLocks noGrp="1"/>
          </p:cNvSpPr>
          <p:nvPr>
            <p:ph type="title"/>
          </p:nvPr>
        </p:nvSpPr>
        <p:spPr/>
        <p:txBody>
          <a:bodyPr/>
          <a:lstStyle/>
          <a:p>
            <a:r>
              <a:rPr lang="zh-CN" altLang="en-US" dirty="0"/>
              <a:t>数据脱敏技术：抑制、泛化、聚合</a:t>
            </a:r>
          </a:p>
        </p:txBody>
      </p:sp>
      <p:pic>
        <p:nvPicPr>
          <p:cNvPr id="5" name="图片 4">
            <a:extLst>
              <a:ext uri="{FF2B5EF4-FFF2-40B4-BE49-F238E27FC236}">
                <a16:creationId xmlns:a16="http://schemas.microsoft.com/office/drawing/2014/main" id="{05E5A407-82D2-B5B8-DA26-69F79E4681E5}"/>
              </a:ext>
            </a:extLst>
          </p:cNvPr>
          <p:cNvPicPr>
            <a:picLocks noChangeAspect="1"/>
          </p:cNvPicPr>
          <p:nvPr/>
        </p:nvPicPr>
        <p:blipFill>
          <a:blip r:embed="rId2"/>
          <a:stretch>
            <a:fillRect/>
          </a:stretch>
        </p:blipFill>
        <p:spPr>
          <a:xfrm>
            <a:off x="1698329" y="3373964"/>
            <a:ext cx="7955758" cy="1671513"/>
          </a:xfrm>
          <a:prstGeom prst="rect">
            <a:avLst/>
          </a:prstGeom>
        </p:spPr>
      </p:pic>
      <p:sp>
        <p:nvSpPr>
          <p:cNvPr id="6" name="内容占位符 1">
            <a:extLst>
              <a:ext uri="{FF2B5EF4-FFF2-40B4-BE49-F238E27FC236}">
                <a16:creationId xmlns:a16="http://schemas.microsoft.com/office/drawing/2014/main" id="{7330B075-52F9-1006-0C45-D2D85B8D0301}"/>
              </a:ext>
            </a:extLst>
          </p:cNvPr>
          <p:cNvSpPr txBox="1">
            <a:spLocks/>
          </p:cNvSpPr>
          <p:nvPr/>
        </p:nvSpPr>
        <p:spPr bwMode="auto">
          <a:xfrm>
            <a:off x="371303" y="5095484"/>
            <a:ext cx="11464528" cy="555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just" rtl="0" eaLnBrk="1" fontAlgn="base" hangingPunct="1">
              <a:lnSpc>
                <a:spcPct val="120000"/>
              </a:lnSpc>
              <a:spcBef>
                <a:spcPts val="600"/>
              </a:spcBef>
              <a:spcAft>
                <a:spcPts val="600"/>
              </a:spcAft>
              <a:buClr>
                <a:srgbClr val="FF9933"/>
              </a:buClr>
              <a:buChar char="•"/>
              <a:defRPr kumimoji="1" sz="24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1pPr>
            <a:lvl2pPr marL="557213" indent="-214313" algn="just" rtl="0" eaLnBrk="1" fontAlgn="base" hangingPunct="1">
              <a:lnSpc>
                <a:spcPct val="120000"/>
              </a:lnSpc>
              <a:spcBef>
                <a:spcPts val="600"/>
              </a:spcBef>
              <a:spcAft>
                <a:spcPts val="600"/>
              </a:spcAft>
              <a:buClr>
                <a:srgbClr val="FF9933"/>
              </a:buClr>
              <a:buChar char="–"/>
              <a:defRPr kumimoji="1" sz="21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2pPr>
            <a:lvl3pPr marL="857250" indent="-171450" algn="just" rtl="0" eaLnBrk="1" fontAlgn="base" hangingPunct="1">
              <a:lnSpc>
                <a:spcPct val="120000"/>
              </a:lnSpc>
              <a:spcBef>
                <a:spcPts val="600"/>
              </a:spcBef>
              <a:spcAft>
                <a:spcPts val="600"/>
              </a:spcAft>
              <a:buClr>
                <a:srgbClr val="FF9933"/>
              </a:buClr>
              <a:buChar char="•"/>
              <a:defRPr kumimoji="1" sz="18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3pPr>
            <a:lvl4pPr marL="1200150" indent="-171450" algn="just" rtl="0" eaLnBrk="1" fontAlgn="base" hangingPunct="1">
              <a:lnSpc>
                <a:spcPct val="120000"/>
              </a:lnSpc>
              <a:spcBef>
                <a:spcPts val="600"/>
              </a:spcBef>
              <a:spcAft>
                <a:spcPts val="600"/>
              </a:spcAft>
              <a:buClr>
                <a:srgbClr val="FF9933"/>
              </a:buClr>
              <a:buChar char="–"/>
              <a:defRPr kumimoji="1" sz="15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603050405020304" pitchFamily="18" charset="0"/>
                <a:ea typeface="+mn-ea"/>
                <a:cs typeface="Times New Roman" panose="0202060305040502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zh-CN" altLang="en-US" kern="0" dirty="0"/>
              <a:t>聚合（</a:t>
            </a:r>
            <a:r>
              <a:rPr lang="en-US" altLang="zh-CN" kern="0" dirty="0"/>
              <a:t>Aggregation</a:t>
            </a:r>
            <a:r>
              <a:rPr lang="zh-CN" altLang="en-US" kern="0" dirty="0"/>
              <a:t>）：通常，分析师只需要汇总统计数据，而不是原始数据</a:t>
            </a:r>
          </a:p>
        </p:txBody>
      </p:sp>
      <p:pic>
        <p:nvPicPr>
          <p:cNvPr id="7" name="图片 6">
            <a:extLst>
              <a:ext uri="{FF2B5EF4-FFF2-40B4-BE49-F238E27FC236}">
                <a16:creationId xmlns:a16="http://schemas.microsoft.com/office/drawing/2014/main" id="{41B93D16-AA76-1ADB-4178-BC15F7FA64E9}"/>
              </a:ext>
            </a:extLst>
          </p:cNvPr>
          <p:cNvPicPr>
            <a:picLocks noChangeAspect="1"/>
          </p:cNvPicPr>
          <p:nvPr/>
        </p:nvPicPr>
        <p:blipFill>
          <a:blip r:embed="rId3"/>
          <a:stretch>
            <a:fillRect/>
          </a:stretch>
        </p:blipFill>
        <p:spPr>
          <a:xfrm>
            <a:off x="3147733" y="5650707"/>
            <a:ext cx="5060436" cy="920079"/>
          </a:xfrm>
          <a:prstGeom prst="rect">
            <a:avLst/>
          </a:prstGeom>
        </p:spPr>
      </p:pic>
    </p:spTree>
    <p:extLst>
      <p:ext uri="{BB962C8B-B14F-4D97-AF65-F5344CB8AC3E}">
        <p14:creationId xmlns:p14="http://schemas.microsoft.com/office/powerpoint/2010/main" val="30710385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D381AD3-5ED1-E9AC-03AD-A23DF4FAE5FA}"/>
              </a:ext>
            </a:extLst>
          </p:cNvPr>
          <p:cNvSpPr>
            <a:spLocks noGrp="1"/>
          </p:cNvSpPr>
          <p:nvPr>
            <p:ph idx="1"/>
          </p:nvPr>
        </p:nvSpPr>
        <p:spPr/>
        <p:txBody>
          <a:bodyPr/>
          <a:lstStyle/>
          <a:p>
            <a:r>
              <a:rPr lang="zh-CN" altLang="en-US" dirty="0"/>
              <a:t>数据管理员在与第三方共享数据时保护用户隐私，数据主体可以放心，他们的秘密将继续保持私密性；</a:t>
            </a:r>
            <a:endParaRPr lang="en-US" altLang="zh-CN" dirty="0"/>
          </a:p>
          <a:p>
            <a:r>
              <a:rPr lang="zh-CN" altLang="en-US" dirty="0"/>
              <a:t>立法者可以通过解除对匿名记录交易的管制来平衡隐私和其他利益（例如 知识的进步）；</a:t>
            </a:r>
            <a:endParaRPr lang="en-US" altLang="zh-CN" dirty="0"/>
          </a:p>
          <a:p>
            <a:r>
              <a:rPr lang="zh-CN" altLang="en-US" dirty="0"/>
              <a:t>监管者很容易将数据处理人员分成两类，即负责任者（匿名者）和不负责任者（未保密者）。 </a:t>
            </a:r>
            <a:endParaRPr lang="en-US" altLang="zh-CN" dirty="0"/>
          </a:p>
          <a:p>
            <a:r>
              <a:rPr lang="zh-CN" altLang="en-US" dirty="0"/>
              <a:t>然而，一系列经过匿名化处理的脱敏数据导致的隐私泄露事件，使人们对匿名化的效 用产生了严重的怀疑。</a:t>
            </a:r>
          </a:p>
        </p:txBody>
      </p:sp>
      <p:sp>
        <p:nvSpPr>
          <p:cNvPr id="3" name="灯片编号占位符 2">
            <a:extLst>
              <a:ext uri="{FF2B5EF4-FFF2-40B4-BE49-F238E27FC236}">
                <a16:creationId xmlns:a16="http://schemas.microsoft.com/office/drawing/2014/main" id="{3FCF37F3-355B-9B89-C35A-D8373439D046}"/>
              </a:ext>
            </a:extLst>
          </p:cNvPr>
          <p:cNvSpPr>
            <a:spLocks noGrp="1"/>
          </p:cNvSpPr>
          <p:nvPr>
            <p:ph type="sldNum" sz="quarter" idx="4"/>
          </p:nvPr>
        </p:nvSpPr>
        <p:spPr/>
        <p:txBody>
          <a:bodyPr/>
          <a:lstStyle/>
          <a:p>
            <a:fld id="{4124EDF5-87F7-4AC5-8292-B04417157FC2}" type="slidenum">
              <a:rPr lang="zh-CN" altLang="en-US" smtClean="0"/>
              <a:t>16</a:t>
            </a:fld>
            <a:endParaRPr lang="zh-CN" altLang="en-US"/>
          </a:p>
        </p:txBody>
      </p:sp>
      <p:sp>
        <p:nvSpPr>
          <p:cNvPr id="4" name="标题 3">
            <a:extLst>
              <a:ext uri="{FF2B5EF4-FFF2-40B4-BE49-F238E27FC236}">
                <a16:creationId xmlns:a16="http://schemas.microsoft.com/office/drawing/2014/main" id="{B37D73CA-24C3-3DF1-07C9-9071052A6ABE}"/>
              </a:ext>
            </a:extLst>
          </p:cNvPr>
          <p:cNvSpPr>
            <a:spLocks noGrp="1"/>
          </p:cNvSpPr>
          <p:nvPr>
            <p:ph type="title"/>
          </p:nvPr>
        </p:nvSpPr>
        <p:spPr/>
        <p:txBody>
          <a:bodyPr/>
          <a:lstStyle/>
          <a:p>
            <a:r>
              <a:rPr lang="zh-CN" altLang="en-US" dirty="0"/>
              <a:t>技术挑战</a:t>
            </a:r>
          </a:p>
        </p:txBody>
      </p:sp>
    </p:spTree>
    <p:extLst>
      <p:ext uri="{BB962C8B-B14F-4D97-AF65-F5344CB8AC3E}">
        <p14:creationId xmlns:p14="http://schemas.microsoft.com/office/powerpoint/2010/main" val="3346961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27BEA-0E37-AE49-6160-A0F82220105F}"/>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D8BDF393-73D6-7FB2-8F19-FE706CC33EDF}"/>
              </a:ext>
            </a:extLst>
          </p:cNvPr>
          <p:cNvSpPr>
            <a:spLocks noGrp="1"/>
          </p:cNvSpPr>
          <p:nvPr>
            <p:ph type="sldNum" sz="quarter" idx="4"/>
          </p:nvPr>
        </p:nvSpPr>
        <p:spPr/>
        <p:txBody>
          <a:bodyPr/>
          <a:lstStyle/>
          <a:p>
            <a:fld id="{4124EDF5-87F7-4AC5-8292-B04417157FC2}" type="slidenum">
              <a:rPr lang="zh-CN" altLang="en-US" smtClean="0"/>
              <a:t>17</a:t>
            </a:fld>
            <a:endParaRPr lang="zh-CN" altLang="en-US"/>
          </a:p>
        </p:txBody>
      </p:sp>
      <p:sp>
        <p:nvSpPr>
          <p:cNvPr id="4" name="标题 3">
            <a:extLst>
              <a:ext uri="{FF2B5EF4-FFF2-40B4-BE49-F238E27FC236}">
                <a16:creationId xmlns:a16="http://schemas.microsoft.com/office/drawing/2014/main" id="{77F0C84E-1EEB-822A-B030-CEE665CB3F3D}"/>
              </a:ext>
            </a:extLst>
          </p:cNvPr>
          <p:cNvSpPr>
            <a:spLocks noGrp="1"/>
          </p:cNvSpPr>
          <p:nvPr>
            <p:ph type="title"/>
          </p:nvPr>
        </p:nvSpPr>
        <p:spPr/>
        <p:txBody>
          <a:bodyPr/>
          <a:lstStyle/>
          <a:p>
            <a:endParaRPr lang="en-US"/>
          </a:p>
        </p:txBody>
      </p:sp>
      <p:sp>
        <p:nvSpPr>
          <p:cNvPr id="5" name="文本框 4">
            <a:extLst>
              <a:ext uri="{FF2B5EF4-FFF2-40B4-BE49-F238E27FC236}">
                <a16:creationId xmlns:a16="http://schemas.microsoft.com/office/drawing/2014/main" id="{2F6FA3B8-30F0-F225-B452-C2DCA6AEC511}"/>
              </a:ext>
            </a:extLst>
          </p:cNvPr>
          <p:cNvSpPr txBox="1"/>
          <p:nvPr/>
        </p:nvSpPr>
        <p:spPr>
          <a:xfrm>
            <a:off x="2913188" y="3113465"/>
            <a:ext cx="6365619" cy="1754326"/>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lang="zh-CN" altLang="en-US" dirty="0"/>
              <a:t>匿名化技术与反匿名化技术的博弈</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extLst>
      <p:ext uri="{BB962C8B-B14F-4D97-AF65-F5344CB8AC3E}">
        <p14:creationId xmlns:p14="http://schemas.microsoft.com/office/powerpoint/2010/main" val="31026862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33375CF3-3DCA-1EF3-746B-D3E727F5502C}"/>
              </a:ext>
            </a:extLst>
          </p:cNvPr>
          <p:cNvSpPr>
            <a:spLocks noGrp="1"/>
          </p:cNvSpPr>
          <p:nvPr>
            <p:ph idx="1"/>
          </p:nvPr>
        </p:nvSpPr>
        <p:spPr/>
        <p:txBody>
          <a:bodyPr/>
          <a:lstStyle/>
          <a:p>
            <a:r>
              <a:rPr lang="zh-CN" altLang="en-US" dirty="0"/>
              <a:t>数据记录的属性可以分为三类： </a:t>
            </a:r>
          </a:p>
          <a:p>
            <a:pPr lvl="1"/>
            <a:r>
              <a:rPr lang="en-US" altLang="zh-CN" dirty="0"/>
              <a:t>1</a:t>
            </a:r>
            <a:r>
              <a:rPr lang="zh-CN" altLang="en-US" dirty="0"/>
              <a:t>）显式标识符（</a:t>
            </a:r>
            <a:r>
              <a:rPr lang="en-US" altLang="zh-CN" dirty="0"/>
              <a:t>Explicit Identifier</a:t>
            </a:r>
            <a:r>
              <a:rPr lang="zh-CN" altLang="en-US" dirty="0"/>
              <a:t>）：能唯一标识单一个体的属性，如身份证号码、姓名等。 </a:t>
            </a:r>
          </a:p>
          <a:p>
            <a:pPr lvl="1"/>
            <a:r>
              <a:rPr lang="en-US" altLang="zh-CN" dirty="0"/>
              <a:t>2</a:t>
            </a:r>
            <a:r>
              <a:rPr lang="zh-CN" altLang="en-US" dirty="0"/>
              <a:t>）准标识符（</a:t>
            </a:r>
            <a:r>
              <a:rPr lang="en-US" altLang="zh-CN" dirty="0"/>
              <a:t>Quasi-Identifier</a:t>
            </a:r>
            <a:r>
              <a:rPr lang="zh-CN" altLang="en-US" dirty="0"/>
              <a:t>）：联合起来能唯一标识一个人的多个属性，如邮编、生日、性别等联合起来则可能是准标识符。 </a:t>
            </a:r>
          </a:p>
          <a:p>
            <a:pPr lvl="1"/>
            <a:r>
              <a:rPr lang="en-US" altLang="zh-CN" dirty="0"/>
              <a:t>3</a:t>
            </a:r>
            <a:r>
              <a:rPr lang="zh-CN" altLang="en-US" dirty="0"/>
              <a:t>）敏感属性（</a:t>
            </a:r>
            <a:r>
              <a:rPr lang="en-US" altLang="zh-CN" dirty="0"/>
              <a:t>Sensitive Attribute</a:t>
            </a:r>
            <a:r>
              <a:rPr lang="zh-CN" altLang="en-US" dirty="0"/>
              <a:t>）：包含隐私数据的属性，如疾病、薪资等。</a:t>
            </a:r>
            <a:endParaRPr lang="en-US" altLang="zh-CN" dirty="0"/>
          </a:p>
          <a:p>
            <a:pPr marL="257175" lvl="1" indent="-257175">
              <a:buChar char="•"/>
            </a:pPr>
            <a:r>
              <a:rPr lang="zh-CN" altLang="en-US" sz="2400" dirty="0"/>
              <a:t>简单的匿名化处理，只是把显式标识符过滤掉。但是，一个人还是可以通过他的准标 识符数据而被识别出来。若要执行相关攻击，攻击者需要两个前提：泄露数据中包含被攻击者的信息和被攻击者的准标识符。</a:t>
            </a:r>
            <a:endParaRPr lang="en-US" altLang="zh-CN" sz="2400" dirty="0"/>
          </a:p>
          <a:p>
            <a:pPr marL="257175" lvl="1" indent="-257175">
              <a:buChar char="•"/>
            </a:pPr>
            <a:endParaRPr lang="zh-CN" altLang="en-US" sz="2400" dirty="0"/>
          </a:p>
        </p:txBody>
      </p:sp>
      <p:sp>
        <p:nvSpPr>
          <p:cNvPr id="3" name="灯片编号占位符 2">
            <a:extLst>
              <a:ext uri="{FF2B5EF4-FFF2-40B4-BE49-F238E27FC236}">
                <a16:creationId xmlns:a16="http://schemas.microsoft.com/office/drawing/2014/main" id="{5A3C3DF9-D930-3FFA-6F10-524365F36DC7}"/>
              </a:ext>
            </a:extLst>
          </p:cNvPr>
          <p:cNvSpPr>
            <a:spLocks noGrp="1"/>
          </p:cNvSpPr>
          <p:nvPr>
            <p:ph type="sldNum" sz="quarter" idx="4"/>
          </p:nvPr>
        </p:nvSpPr>
        <p:spPr/>
        <p:txBody>
          <a:bodyPr/>
          <a:lstStyle/>
          <a:p>
            <a:fld id="{4124EDF5-87F7-4AC5-8292-B04417157FC2}" type="slidenum">
              <a:rPr lang="zh-CN" altLang="en-US" smtClean="0"/>
              <a:t>18</a:t>
            </a:fld>
            <a:endParaRPr lang="zh-CN" altLang="en-US"/>
          </a:p>
        </p:txBody>
      </p:sp>
      <p:sp>
        <p:nvSpPr>
          <p:cNvPr id="4" name="标题 3">
            <a:extLst>
              <a:ext uri="{FF2B5EF4-FFF2-40B4-BE49-F238E27FC236}">
                <a16:creationId xmlns:a16="http://schemas.microsoft.com/office/drawing/2014/main" id="{36743B59-10D0-E0DC-08EA-6DEB205950BA}"/>
              </a:ext>
            </a:extLst>
          </p:cNvPr>
          <p:cNvSpPr>
            <a:spLocks noGrp="1"/>
          </p:cNvSpPr>
          <p:nvPr>
            <p:ph type="title"/>
          </p:nvPr>
        </p:nvSpPr>
        <p:spPr/>
        <p:txBody>
          <a:bodyPr/>
          <a:lstStyle/>
          <a:p>
            <a:r>
              <a:rPr lang="en-US" altLang="zh-CN" dirty="0"/>
              <a:t>k </a:t>
            </a:r>
            <a:r>
              <a:rPr lang="zh-CN" altLang="en-US" dirty="0"/>
              <a:t>重匿名隐私保护模型</a:t>
            </a:r>
          </a:p>
        </p:txBody>
      </p:sp>
    </p:spTree>
    <p:extLst>
      <p:ext uri="{BB962C8B-B14F-4D97-AF65-F5344CB8AC3E}">
        <p14:creationId xmlns:p14="http://schemas.microsoft.com/office/powerpoint/2010/main" val="3601434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D26CD3A-2C7D-04E3-0315-A63822066810}"/>
              </a:ext>
            </a:extLst>
          </p:cNvPr>
          <p:cNvSpPr>
            <a:spLocks noGrp="1"/>
          </p:cNvSpPr>
          <p:nvPr>
            <p:ph idx="1"/>
          </p:nvPr>
        </p:nvSpPr>
        <p:spPr/>
        <p:txBody>
          <a:bodyPr/>
          <a:lstStyle/>
          <a:p>
            <a:r>
              <a:rPr lang="zh-CN" altLang="en-US" dirty="0"/>
              <a:t>以表</a:t>
            </a:r>
            <a:r>
              <a:rPr lang="en-US" altLang="zh-CN" dirty="0"/>
              <a:t>7.5</a:t>
            </a:r>
            <a:r>
              <a:rPr lang="zh-CN" altLang="en-US" dirty="0"/>
              <a:t>所示原始数据集为例，去除显式标识符得到表</a:t>
            </a:r>
            <a:r>
              <a:rPr lang="en-US" altLang="zh-CN" dirty="0"/>
              <a:t>7.6</a:t>
            </a:r>
            <a:r>
              <a:rPr lang="zh-CN" altLang="en-US" dirty="0"/>
              <a:t>。攻击者知道</a:t>
            </a:r>
            <a:r>
              <a:rPr lang="en-US" altLang="zh-CN" dirty="0"/>
              <a:t>Frank</a:t>
            </a:r>
            <a:r>
              <a:rPr lang="zh-CN" altLang="en-US" dirty="0"/>
              <a:t>是一 位</a:t>
            </a:r>
            <a:r>
              <a:rPr lang="en-US" altLang="zh-CN" dirty="0"/>
              <a:t>38</a:t>
            </a:r>
            <a:r>
              <a:rPr lang="zh-CN" altLang="en-US" dirty="0"/>
              <a:t>岁的男律师，并且知道数据集中包含</a:t>
            </a:r>
            <a:r>
              <a:rPr lang="en-US" altLang="zh-CN" dirty="0"/>
              <a:t>Frank</a:t>
            </a:r>
            <a:r>
              <a:rPr lang="zh-CN" altLang="en-US" dirty="0"/>
              <a:t>的数据，从而能够推断出</a:t>
            </a:r>
            <a:r>
              <a:rPr lang="en-US" altLang="zh-CN" dirty="0"/>
              <a:t>Frank</a:t>
            </a:r>
            <a:r>
              <a:rPr lang="zh-CN" altLang="en-US" dirty="0"/>
              <a:t>的疾病 是</a:t>
            </a:r>
            <a:r>
              <a:rPr lang="en-US" altLang="zh-CN" dirty="0"/>
              <a:t>HIV</a:t>
            </a:r>
            <a:r>
              <a:rPr lang="zh-CN" altLang="en-US" dirty="0"/>
              <a:t>。 这种攻击方式被称为记录链接式攻击（</a:t>
            </a:r>
            <a:r>
              <a:rPr lang="en-US" altLang="zh-CN" dirty="0"/>
              <a:t>Attack of Record Link</a:t>
            </a:r>
            <a:r>
              <a:rPr lang="zh-CN" altLang="en-US" dirty="0"/>
              <a:t>）</a:t>
            </a:r>
          </a:p>
        </p:txBody>
      </p:sp>
      <p:sp>
        <p:nvSpPr>
          <p:cNvPr id="3" name="灯片编号占位符 2">
            <a:extLst>
              <a:ext uri="{FF2B5EF4-FFF2-40B4-BE49-F238E27FC236}">
                <a16:creationId xmlns:a16="http://schemas.microsoft.com/office/drawing/2014/main" id="{65E0E3ED-A867-E443-CF32-D40D4E4E0207}"/>
              </a:ext>
            </a:extLst>
          </p:cNvPr>
          <p:cNvSpPr>
            <a:spLocks noGrp="1"/>
          </p:cNvSpPr>
          <p:nvPr>
            <p:ph type="sldNum" sz="quarter" idx="4"/>
          </p:nvPr>
        </p:nvSpPr>
        <p:spPr/>
        <p:txBody>
          <a:bodyPr/>
          <a:lstStyle/>
          <a:p>
            <a:fld id="{4124EDF5-87F7-4AC5-8292-B04417157FC2}" type="slidenum">
              <a:rPr lang="zh-CN" altLang="en-US" smtClean="0"/>
              <a:t>19</a:t>
            </a:fld>
            <a:endParaRPr lang="zh-CN" altLang="en-US"/>
          </a:p>
        </p:txBody>
      </p:sp>
      <p:sp>
        <p:nvSpPr>
          <p:cNvPr id="4" name="标题 3">
            <a:extLst>
              <a:ext uri="{FF2B5EF4-FFF2-40B4-BE49-F238E27FC236}">
                <a16:creationId xmlns:a16="http://schemas.microsoft.com/office/drawing/2014/main" id="{F197CD62-7DFD-B84E-10FA-C66119215A1D}"/>
              </a:ext>
            </a:extLst>
          </p:cNvPr>
          <p:cNvSpPr>
            <a:spLocks noGrp="1"/>
          </p:cNvSpPr>
          <p:nvPr>
            <p:ph type="title"/>
          </p:nvPr>
        </p:nvSpPr>
        <p:spPr/>
        <p:txBody>
          <a:bodyPr/>
          <a:lstStyle/>
          <a:p>
            <a:r>
              <a:rPr lang="en-US" altLang="zh-CN" dirty="0"/>
              <a:t>k </a:t>
            </a:r>
            <a:r>
              <a:rPr lang="zh-CN" altLang="en-US" dirty="0"/>
              <a:t>重匿名隐私保护模型</a:t>
            </a:r>
          </a:p>
        </p:txBody>
      </p:sp>
      <p:pic>
        <p:nvPicPr>
          <p:cNvPr id="5" name="图片 4">
            <a:extLst>
              <a:ext uri="{FF2B5EF4-FFF2-40B4-BE49-F238E27FC236}">
                <a16:creationId xmlns:a16="http://schemas.microsoft.com/office/drawing/2014/main" id="{29B55C32-41CB-E592-AFB3-8B6A61EEB4B6}"/>
              </a:ext>
            </a:extLst>
          </p:cNvPr>
          <p:cNvPicPr>
            <a:picLocks noChangeAspect="1"/>
          </p:cNvPicPr>
          <p:nvPr/>
        </p:nvPicPr>
        <p:blipFill>
          <a:blip r:embed="rId3"/>
          <a:stretch>
            <a:fillRect/>
          </a:stretch>
        </p:blipFill>
        <p:spPr>
          <a:xfrm>
            <a:off x="1690364" y="2696297"/>
            <a:ext cx="8694766" cy="1910745"/>
          </a:xfrm>
          <a:prstGeom prst="rect">
            <a:avLst/>
          </a:prstGeom>
        </p:spPr>
      </p:pic>
      <p:pic>
        <p:nvPicPr>
          <p:cNvPr id="6" name="图片 5">
            <a:extLst>
              <a:ext uri="{FF2B5EF4-FFF2-40B4-BE49-F238E27FC236}">
                <a16:creationId xmlns:a16="http://schemas.microsoft.com/office/drawing/2014/main" id="{57021911-ED4C-6E10-69BC-B2050EF617FA}"/>
              </a:ext>
            </a:extLst>
          </p:cNvPr>
          <p:cNvPicPr>
            <a:picLocks noChangeAspect="1"/>
          </p:cNvPicPr>
          <p:nvPr/>
        </p:nvPicPr>
        <p:blipFill>
          <a:blip r:embed="rId4"/>
          <a:stretch>
            <a:fillRect/>
          </a:stretch>
        </p:blipFill>
        <p:spPr>
          <a:xfrm>
            <a:off x="1685925" y="4887840"/>
            <a:ext cx="8820150" cy="1854272"/>
          </a:xfrm>
          <a:prstGeom prst="rect">
            <a:avLst/>
          </a:prstGeom>
        </p:spPr>
      </p:pic>
    </p:spTree>
    <p:extLst>
      <p:ext uri="{BB962C8B-B14F-4D97-AF65-F5344CB8AC3E}">
        <p14:creationId xmlns:p14="http://schemas.microsoft.com/office/powerpoint/2010/main" val="629198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90084D8-D7E5-77BD-1801-CB350D567C35}"/>
              </a:ext>
            </a:extLst>
          </p:cNvPr>
          <p:cNvSpPr>
            <a:spLocks noGrp="1"/>
          </p:cNvSpPr>
          <p:nvPr>
            <p:ph idx="1"/>
          </p:nvPr>
        </p:nvSpPr>
        <p:spPr>
          <a:xfrm>
            <a:off x="371303" y="1102089"/>
            <a:ext cx="7715422" cy="5047042"/>
          </a:xfrm>
        </p:spPr>
        <p:txBody>
          <a:bodyPr/>
          <a:lstStyle/>
          <a:p>
            <a:pPr>
              <a:spcBef>
                <a:spcPts val="200"/>
              </a:spcBef>
              <a:spcAft>
                <a:spcPts val="200"/>
              </a:spcAft>
            </a:pPr>
            <a:r>
              <a:rPr lang="zh-CN" altLang="en-US" dirty="0"/>
              <a:t>匿名化目标</a:t>
            </a:r>
            <a:endParaRPr lang="en-US" altLang="zh-CN" dirty="0"/>
          </a:p>
          <a:p>
            <a:pPr lvl="1">
              <a:spcBef>
                <a:spcPts val="200"/>
              </a:spcBef>
              <a:spcAft>
                <a:spcPts val="200"/>
              </a:spcAft>
            </a:pPr>
            <a:r>
              <a:rPr lang="zh-CN" altLang="en-US" dirty="0"/>
              <a:t>生成匿名表 </a:t>
            </a:r>
            <a:r>
              <a:rPr lang="en-US" altLang="zh-CN" dirty="0"/>
              <a:t>T</a:t>
            </a:r>
            <a:r>
              <a:rPr lang="zh-CN" altLang="en-US" dirty="0"/>
              <a:t>，既满足隐私模型要求，又保证数据可用性。</a:t>
            </a:r>
            <a:endParaRPr lang="en-US" altLang="zh-CN" dirty="0"/>
          </a:p>
          <a:p>
            <a:pPr lvl="2">
              <a:spcBef>
                <a:spcPts val="200"/>
              </a:spcBef>
              <a:spcAft>
                <a:spcPts val="200"/>
              </a:spcAft>
            </a:pPr>
            <a:r>
              <a:rPr lang="zh-CN" altLang="en-US" dirty="0"/>
              <a:t>匿名操作可以通过原始表</a:t>
            </a:r>
            <a:r>
              <a:rPr lang="en-US" altLang="zh-CN" dirty="0"/>
              <a:t>D</a:t>
            </a:r>
            <a:r>
              <a:rPr lang="zh-CN" altLang="en-US" dirty="0"/>
              <a:t>的统计性质得到一个综合的数据表</a:t>
            </a:r>
            <a:r>
              <a:rPr lang="en-US" altLang="zh-CN" dirty="0"/>
              <a:t>T</a:t>
            </a:r>
            <a:r>
              <a:rPr lang="zh-CN" altLang="en-US" dirty="0"/>
              <a:t>，或者在原始表</a:t>
            </a:r>
            <a:r>
              <a:rPr lang="en-US" altLang="zh-CN" dirty="0"/>
              <a:t>D</a:t>
            </a:r>
            <a:r>
              <a:rPr lang="zh-CN" altLang="en-US" dirty="0"/>
              <a:t>中加入干扰噪声来形成表</a:t>
            </a:r>
            <a:r>
              <a:rPr lang="en-US" altLang="zh-CN" dirty="0"/>
              <a:t>T</a:t>
            </a:r>
            <a:r>
              <a:rPr lang="zh-CN" altLang="en-US" dirty="0"/>
              <a:t>。</a:t>
            </a:r>
            <a:endParaRPr lang="en-US" altLang="zh-CN" dirty="0"/>
          </a:p>
          <a:p>
            <a:pPr lvl="1">
              <a:spcBef>
                <a:spcPts val="200"/>
              </a:spcBef>
              <a:spcAft>
                <a:spcPts val="200"/>
              </a:spcAft>
            </a:pPr>
            <a:r>
              <a:rPr lang="zh-CN" altLang="en-US" dirty="0"/>
              <a:t>信息衡量标准：评价匿名表的可用程度。</a:t>
            </a:r>
            <a:endParaRPr lang="en-US" altLang="zh-CN" dirty="0"/>
          </a:p>
          <a:p>
            <a:pPr lvl="1">
              <a:spcBef>
                <a:spcPts val="200"/>
              </a:spcBef>
              <a:spcAft>
                <a:spcPts val="200"/>
              </a:spcAft>
            </a:pPr>
            <a:r>
              <a:rPr lang="zh-CN" altLang="en-US" dirty="0"/>
              <a:t>非敏感属性若对任务重要，可公开。</a:t>
            </a:r>
            <a:endParaRPr lang="en-US" altLang="zh-CN" dirty="0"/>
          </a:p>
          <a:p>
            <a:pPr>
              <a:spcBef>
                <a:spcPts val="200"/>
              </a:spcBef>
              <a:spcAft>
                <a:spcPts val="200"/>
              </a:spcAft>
            </a:pPr>
            <a:r>
              <a:rPr lang="zh-CN" altLang="en-US" dirty="0"/>
              <a:t>主要方法</a:t>
            </a:r>
            <a:endParaRPr lang="en-US" altLang="zh-CN" dirty="0"/>
          </a:p>
          <a:p>
            <a:pPr lvl="1">
              <a:spcBef>
                <a:spcPts val="200"/>
              </a:spcBef>
              <a:spcAft>
                <a:spcPts val="200"/>
              </a:spcAft>
            </a:pPr>
            <a:r>
              <a:rPr lang="zh-CN" altLang="en-US" dirty="0"/>
              <a:t>泛化（</a:t>
            </a:r>
            <a:r>
              <a:rPr lang="en-US" altLang="zh-CN" dirty="0"/>
              <a:t>Generalization</a:t>
            </a:r>
            <a:r>
              <a:rPr lang="zh-CN" altLang="en-US" dirty="0"/>
              <a:t>）</a:t>
            </a:r>
            <a:endParaRPr lang="en-US" altLang="zh-CN" dirty="0"/>
          </a:p>
          <a:p>
            <a:pPr lvl="2">
              <a:spcBef>
                <a:spcPts val="200"/>
              </a:spcBef>
              <a:spcAft>
                <a:spcPts val="200"/>
              </a:spcAft>
            </a:pPr>
            <a:r>
              <a:rPr lang="zh-CN" altLang="en-US" dirty="0"/>
              <a:t>用抽象值替代具体值（如：年龄 </a:t>
            </a:r>
            <a:r>
              <a:rPr lang="en-US" altLang="zh-CN" dirty="0"/>
              <a:t>35-50 → </a:t>
            </a:r>
            <a:r>
              <a:rPr lang="zh-CN" altLang="en-US" dirty="0"/>
              <a:t>中年；地级市 → 省）。</a:t>
            </a:r>
            <a:endParaRPr lang="en-US" altLang="zh-CN" dirty="0"/>
          </a:p>
          <a:p>
            <a:pPr lvl="2">
              <a:spcBef>
                <a:spcPts val="200"/>
              </a:spcBef>
              <a:spcAft>
                <a:spcPts val="200"/>
              </a:spcAft>
            </a:pPr>
            <a:r>
              <a:rPr lang="zh-CN" altLang="en-US" dirty="0"/>
              <a:t>从低层概念抽象到高层概念，自底向上的“概念综合”。</a:t>
            </a:r>
            <a:endParaRPr lang="en-US" altLang="zh-CN" dirty="0"/>
          </a:p>
          <a:p>
            <a:pPr lvl="2">
              <a:spcBef>
                <a:spcPts val="200"/>
              </a:spcBef>
              <a:spcAft>
                <a:spcPts val="200"/>
              </a:spcAft>
            </a:pPr>
            <a:r>
              <a:rPr lang="zh-CN" altLang="en-US" dirty="0"/>
              <a:t>与子类</a:t>
            </a:r>
            <a:r>
              <a:rPr lang="en-US" altLang="zh-CN" dirty="0"/>
              <a:t>/</a:t>
            </a:r>
            <a:r>
              <a:rPr lang="zh-CN" altLang="en-US" dirty="0"/>
              <a:t>超类关系类似：子类继承超类属性，但可包含更多信息。</a:t>
            </a:r>
            <a:endParaRPr lang="en-US" altLang="zh-CN" dirty="0"/>
          </a:p>
          <a:p>
            <a:pPr lvl="1">
              <a:spcBef>
                <a:spcPts val="200"/>
              </a:spcBef>
              <a:spcAft>
                <a:spcPts val="200"/>
              </a:spcAft>
            </a:pPr>
            <a:r>
              <a:rPr lang="zh-CN" altLang="en-US" dirty="0"/>
              <a:t>抑制（</a:t>
            </a:r>
            <a:r>
              <a:rPr lang="en-US" altLang="zh-CN" dirty="0"/>
              <a:t>Suppression</a:t>
            </a:r>
            <a:r>
              <a:rPr lang="zh-CN" altLang="en-US" dirty="0"/>
              <a:t>）</a:t>
            </a:r>
            <a:endParaRPr lang="en-US" altLang="zh-CN" dirty="0"/>
          </a:p>
          <a:p>
            <a:pPr lvl="2">
              <a:spcBef>
                <a:spcPts val="200"/>
              </a:spcBef>
              <a:spcAft>
                <a:spcPts val="200"/>
              </a:spcAft>
            </a:pPr>
            <a:r>
              <a:rPr lang="zh-CN" altLang="en-US" dirty="0"/>
              <a:t>针对标识符或敏感属性直接隐藏</a:t>
            </a:r>
            <a:r>
              <a:rPr lang="en-US" altLang="zh-CN" dirty="0"/>
              <a:t>/</a:t>
            </a:r>
            <a:r>
              <a:rPr lang="zh-CN" altLang="en-US" dirty="0"/>
              <a:t>不发布。可降低过度泛化带来的数据损失。</a:t>
            </a:r>
          </a:p>
        </p:txBody>
      </p:sp>
      <p:sp>
        <p:nvSpPr>
          <p:cNvPr id="3" name="灯片编号占位符 2">
            <a:extLst>
              <a:ext uri="{FF2B5EF4-FFF2-40B4-BE49-F238E27FC236}">
                <a16:creationId xmlns:a16="http://schemas.microsoft.com/office/drawing/2014/main" id="{CCED5B9D-4D96-2CE5-EB19-100C1A1DDD90}"/>
              </a:ext>
            </a:extLst>
          </p:cNvPr>
          <p:cNvSpPr>
            <a:spLocks noGrp="1"/>
          </p:cNvSpPr>
          <p:nvPr>
            <p:ph type="sldNum" sz="quarter" idx="4"/>
          </p:nvPr>
        </p:nvSpPr>
        <p:spPr/>
        <p:txBody>
          <a:bodyPr/>
          <a:lstStyle/>
          <a:p>
            <a:fld id="{4124EDF5-87F7-4AC5-8292-B04417157FC2}" type="slidenum">
              <a:rPr lang="zh-CN" altLang="en-US" smtClean="0"/>
              <a:t>20</a:t>
            </a:fld>
            <a:endParaRPr lang="zh-CN" altLang="en-US" dirty="0"/>
          </a:p>
        </p:txBody>
      </p:sp>
      <p:sp>
        <p:nvSpPr>
          <p:cNvPr id="4" name="标题 3">
            <a:extLst>
              <a:ext uri="{FF2B5EF4-FFF2-40B4-BE49-F238E27FC236}">
                <a16:creationId xmlns:a16="http://schemas.microsoft.com/office/drawing/2014/main" id="{A3C5E00B-359E-0B5D-7C88-EB302BF325A5}"/>
              </a:ext>
            </a:extLst>
          </p:cNvPr>
          <p:cNvSpPr>
            <a:spLocks noGrp="1"/>
          </p:cNvSpPr>
          <p:nvPr>
            <p:ph type="title"/>
          </p:nvPr>
        </p:nvSpPr>
        <p:spPr/>
        <p:txBody>
          <a:bodyPr/>
          <a:lstStyle/>
          <a:p>
            <a:r>
              <a:rPr lang="en-US" altLang="zh-CN" dirty="0"/>
              <a:t>k </a:t>
            </a:r>
            <a:r>
              <a:rPr lang="zh-CN" altLang="en-US" dirty="0"/>
              <a:t>重匿名隐私保护模型</a:t>
            </a:r>
          </a:p>
        </p:txBody>
      </p:sp>
      <p:pic>
        <p:nvPicPr>
          <p:cNvPr id="8" name="图片 7">
            <a:extLst>
              <a:ext uri="{FF2B5EF4-FFF2-40B4-BE49-F238E27FC236}">
                <a16:creationId xmlns:a16="http://schemas.microsoft.com/office/drawing/2014/main" id="{DE50AA65-2943-B606-3D3B-DD2862CCC1DB}"/>
              </a:ext>
            </a:extLst>
          </p:cNvPr>
          <p:cNvPicPr>
            <a:picLocks noChangeAspect="1"/>
          </p:cNvPicPr>
          <p:nvPr/>
        </p:nvPicPr>
        <p:blipFill>
          <a:blip r:embed="rId2"/>
          <a:stretch>
            <a:fillRect/>
          </a:stretch>
        </p:blipFill>
        <p:spPr>
          <a:xfrm>
            <a:off x="8572674" y="0"/>
            <a:ext cx="3619326" cy="2248694"/>
          </a:xfrm>
          <a:prstGeom prst="rect">
            <a:avLst/>
          </a:prstGeom>
        </p:spPr>
      </p:pic>
      <p:pic>
        <p:nvPicPr>
          <p:cNvPr id="9" name="图片 8">
            <a:extLst>
              <a:ext uri="{FF2B5EF4-FFF2-40B4-BE49-F238E27FC236}">
                <a16:creationId xmlns:a16="http://schemas.microsoft.com/office/drawing/2014/main" id="{678BE82A-8B38-A4A8-05C8-A04291C7B7F8}"/>
              </a:ext>
            </a:extLst>
          </p:cNvPr>
          <p:cNvPicPr>
            <a:picLocks noChangeAspect="1"/>
          </p:cNvPicPr>
          <p:nvPr/>
        </p:nvPicPr>
        <p:blipFill>
          <a:blip r:embed="rId3"/>
          <a:stretch>
            <a:fillRect/>
          </a:stretch>
        </p:blipFill>
        <p:spPr>
          <a:xfrm>
            <a:off x="9474240" y="2678080"/>
            <a:ext cx="1816193" cy="1244664"/>
          </a:xfrm>
          <a:prstGeom prst="rect">
            <a:avLst/>
          </a:prstGeom>
        </p:spPr>
      </p:pic>
      <p:pic>
        <p:nvPicPr>
          <p:cNvPr id="10" name="图片 9">
            <a:extLst>
              <a:ext uri="{FF2B5EF4-FFF2-40B4-BE49-F238E27FC236}">
                <a16:creationId xmlns:a16="http://schemas.microsoft.com/office/drawing/2014/main" id="{4A113BB9-EC6C-E0E4-1452-9146C4E6A30B}"/>
              </a:ext>
            </a:extLst>
          </p:cNvPr>
          <p:cNvPicPr>
            <a:picLocks noChangeAspect="1"/>
          </p:cNvPicPr>
          <p:nvPr/>
        </p:nvPicPr>
        <p:blipFill>
          <a:blip r:embed="rId4"/>
          <a:stretch>
            <a:fillRect/>
          </a:stretch>
        </p:blipFill>
        <p:spPr>
          <a:xfrm>
            <a:off x="9149094" y="3922744"/>
            <a:ext cx="2466484" cy="1757168"/>
          </a:xfrm>
          <a:prstGeom prst="rect">
            <a:avLst/>
          </a:prstGeom>
        </p:spPr>
      </p:pic>
      <p:sp>
        <p:nvSpPr>
          <p:cNvPr id="11" name="文本框 10">
            <a:extLst>
              <a:ext uri="{FF2B5EF4-FFF2-40B4-BE49-F238E27FC236}">
                <a16:creationId xmlns:a16="http://schemas.microsoft.com/office/drawing/2014/main" id="{DB09F251-2FFA-D74B-A702-155F9E4536C7}"/>
              </a:ext>
            </a:extLst>
          </p:cNvPr>
          <p:cNvSpPr txBox="1"/>
          <p:nvPr/>
        </p:nvSpPr>
        <p:spPr>
          <a:xfrm>
            <a:off x="9160055" y="5915025"/>
            <a:ext cx="2435282" cy="369332"/>
          </a:xfrm>
          <a:prstGeom prst="rect">
            <a:avLst/>
          </a:prstGeom>
          <a:noFill/>
        </p:spPr>
        <p:txBody>
          <a:bodyPr wrap="none" rtlCol="0">
            <a:spAutoFit/>
          </a:bodyPr>
          <a:lstStyle/>
          <a:p>
            <a:r>
              <a:rPr lang="zh-CN" altLang="en-US" dirty="0"/>
              <a:t>图</a:t>
            </a:r>
            <a:r>
              <a:rPr lang="en-US" altLang="zh-CN" dirty="0"/>
              <a:t>7.2 </a:t>
            </a:r>
            <a:r>
              <a:rPr lang="zh-CN" altLang="en-US" dirty="0"/>
              <a:t>泛化和抑制方法 </a:t>
            </a:r>
          </a:p>
        </p:txBody>
      </p:sp>
    </p:spTree>
    <p:extLst>
      <p:ext uri="{BB962C8B-B14F-4D97-AF65-F5344CB8AC3E}">
        <p14:creationId xmlns:p14="http://schemas.microsoft.com/office/powerpoint/2010/main" val="10779130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6E2E965-099F-E002-1F06-B258B05C4A11}"/>
              </a:ext>
            </a:extLst>
          </p:cNvPr>
          <p:cNvSpPr>
            <a:spLocks noGrp="1"/>
          </p:cNvSpPr>
          <p:nvPr>
            <p:ph idx="1"/>
          </p:nvPr>
        </p:nvSpPr>
        <p:spPr/>
        <p:txBody>
          <a:bodyPr/>
          <a:lstStyle/>
          <a:p>
            <a:r>
              <a:rPr lang="zh-CN" altLang="en-US" dirty="0"/>
              <a:t>经过泛化和抑制处理的数据集见表 </a:t>
            </a:r>
            <a:r>
              <a:rPr lang="en-US" altLang="zh-CN" dirty="0"/>
              <a:t>7.7</a:t>
            </a:r>
            <a:r>
              <a:rPr lang="zh-CN" altLang="en-US" dirty="0"/>
              <a:t>，工程师和律师被泛化为技术人员，作家和舞者 被泛化为艺术家；前面三条记录的年龄被泛化为一个区间</a:t>
            </a:r>
            <a:r>
              <a:rPr lang="en-US" altLang="zh-CN" dirty="0"/>
              <a:t>[30, 40</a:t>
            </a:r>
            <a:r>
              <a:rPr lang="zh-CN" altLang="en-US" dirty="0"/>
              <a:t>）。经过匿名化处理的数据集（见表</a:t>
            </a:r>
            <a:r>
              <a:rPr lang="en-US" altLang="zh-CN" dirty="0"/>
              <a:t>7.7</a:t>
            </a:r>
            <a:r>
              <a:rPr lang="zh-CN" altLang="en-US" dirty="0"/>
              <a:t>）可以抵御前述的记录链接式攻击。 </a:t>
            </a:r>
            <a:endParaRPr lang="en-US" altLang="zh-CN" dirty="0"/>
          </a:p>
          <a:p>
            <a:pPr lvl="1"/>
            <a:r>
              <a:rPr lang="zh-CN" altLang="en-US" dirty="0"/>
              <a:t>但是，通过观察表</a:t>
            </a:r>
            <a:r>
              <a:rPr lang="en-US" altLang="zh-CN" dirty="0"/>
              <a:t>7.7</a:t>
            </a:r>
            <a:r>
              <a:rPr lang="zh-CN" altLang="en-US" dirty="0"/>
              <a:t>，我们很容易发现一个新的问题，如果攻击者知道</a:t>
            </a:r>
            <a:r>
              <a:rPr lang="en-US" altLang="zh-CN" dirty="0"/>
              <a:t>Lily</a:t>
            </a:r>
            <a:r>
              <a:rPr lang="zh-CN" altLang="en-US" dirty="0"/>
              <a:t>是一名</a:t>
            </a:r>
            <a:r>
              <a:rPr lang="en-US" altLang="zh-CN" dirty="0"/>
              <a:t>30 </a:t>
            </a:r>
            <a:r>
              <a:rPr lang="zh-CN" altLang="en-US" dirty="0"/>
              <a:t>岁的女性舞者，并且该数据集中包含 </a:t>
            </a:r>
            <a:r>
              <a:rPr lang="en-US" altLang="zh-CN" dirty="0"/>
              <a:t>Lily </a:t>
            </a:r>
            <a:r>
              <a:rPr lang="zh-CN" altLang="en-US" dirty="0"/>
              <a:t>的数据，从公开的数据集中能够推断出 </a:t>
            </a:r>
            <a:r>
              <a:rPr lang="en-US" altLang="zh-CN" dirty="0"/>
              <a:t>Lily </a:t>
            </a:r>
            <a:r>
              <a:rPr lang="zh-CN" altLang="en-US" dirty="0"/>
              <a:t>的疾病是</a:t>
            </a:r>
            <a:r>
              <a:rPr lang="en-US" altLang="zh-CN" dirty="0"/>
              <a:t>HIV</a:t>
            </a:r>
            <a:r>
              <a:rPr lang="zh-CN" altLang="en-US" dirty="0"/>
              <a:t>。这种攻击方式被称为属性链接式（</a:t>
            </a:r>
            <a:r>
              <a:rPr lang="en-US" altLang="zh-CN" dirty="0"/>
              <a:t>Attack of Attribute Link</a:t>
            </a:r>
            <a:r>
              <a:rPr lang="zh-CN" altLang="en-US" dirty="0"/>
              <a:t>）攻击。</a:t>
            </a:r>
          </a:p>
        </p:txBody>
      </p:sp>
      <p:sp>
        <p:nvSpPr>
          <p:cNvPr id="3" name="灯片编号占位符 2">
            <a:extLst>
              <a:ext uri="{FF2B5EF4-FFF2-40B4-BE49-F238E27FC236}">
                <a16:creationId xmlns:a16="http://schemas.microsoft.com/office/drawing/2014/main" id="{E96D0B37-70F7-8039-8992-F5C2F9E0B9EC}"/>
              </a:ext>
            </a:extLst>
          </p:cNvPr>
          <p:cNvSpPr>
            <a:spLocks noGrp="1"/>
          </p:cNvSpPr>
          <p:nvPr>
            <p:ph type="sldNum" sz="quarter" idx="4"/>
          </p:nvPr>
        </p:nvSpPr>
        <p:spPr/>
        <p:txBody>
          <a:bodyPr/>
          <a:lstStyle/>
          <a:p>
            <a:fld id="{4124EDF5-87F7-4AC5-8292-B04417157FC2}" type="slidenum">
              <a:rPr lang="zh-CN" altLang="en-US" smtClean="0"/>
              <a:t>21</a:t>
            </a:fld>
            <a:endParaRPr lang="zh-CN" altLang="en-US"/>
          </a:p>
        </p:txBody>
      </p:sp>
      <p:sp>
        <p:nvSpPr>
          <p:cNvPr id="4" name="标题 3">
            <a:extLst>
              <a:ext uri="{FF2B5EF4-FFF2-40B4-BE49-F238E27FC236}">
                <a16:creationId xmlns:a16="http://schemas.microsoft.com/office/drawing/2014/main" id="{9ECB33F5-4FF0-F9A4-87A0-13334B2A2668}"/>
              </a:ext>
            </a:extLst>
          </p:cNvPr>
          <p:cNvSpPr>
            <a:spLocks noGrp="1"/>
          </p:cNvSpPr>
          <p:nvPr>
            <p:ph type="title"/>
          </p:nvPr>
        </p:nvSpPr>
        <p:spPr/>
        <p:txBody>
          <a:bodyPr/>
          <a:lstStyle/>
          <a:p>
            <a:r>
              <a:rPr lang="en-US" altLang="zh-CN" dirty="0">
                <a:latin typeface="Pristina" panose="03060402040406080204" pitchFamily="66" charset="0"/>
              </a:rPr>
              <a:t>l</a:t>
            </a:r>
            <a:r>
              <a:rPr lang="en-US" altLang="zh-CN" dirty="0"/>
              <a:t>-</a:t>
            </a:r>
            <a:r>
              <a:rPr lang="zh-CN" altLang="en-US" dirty="0"/>
              <a:t>多样性隐私保护模型</a:t>
            </a:r>
          </a:p>
        </p:txBody>
      </p:sp>
      <p:pic>
        <p:nvPicPr>
          <p:cNvPr id="5" name="图片 4">
            <a:extLst>
              <a:ext uri="{FF2B5EF4-FFF2-40B4-BE49-F238E27FC236}">
                <a16:creationId xmlns:a16="http://schemas.microsoft.com/office/drawing/2014/main" id="{0359A9FC-AE05-E2D3-8CF8-0A3DC2D0A79B}"/>
              </a:ext>
            </a:extLst>
          </p:cNvPr>
          <p:cNvPicPr>
            <a:picLocks noChangeAspect="1"/>
          </p:cNvPicPr>
          <p:nvPr/>
        </p:nvPicPr>
        <p:blipFill>
          <a:blip r:embed="rId2"/>
          <a:stretch>
            <a:fillRect/>
          </a:stretch>
        </p:blipFill>
        <p:spPr>
          <a:xfrm>
            <a:off x="931599" y="4050600"/>
            <a:ext cx="10343932" cy="2578800"/>
          </a:xfrm>
          <a:prstGeom prst="rect">
            <a:avLst/>
          </a:prstGeom>
        </p:spPr>
      </p:pic>
    </p:spTree>
    <p:extLst>
      <p:ext uri="{BB962C8B-B14F-4D97-AF65-F5344CB8AC3E}">
        <p14:creationId xmlns:p14="http://schemas.microsoft.com/office/powerpoint/2010/main" val="3479292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4ADB8CC2-6521-9D95-68A7-4637BFA6FC1E}"/>
              </a:ext>
            </a:extLst>
          </p:cNvPr>
          <p:cNvSpPr>
            <a:spLocks noGrp="1"/>
          </p:cNvSpPr>
          <p:nvPr>
            <p:ph idx="1"/>
          </p:nvPr>
        </p:nvSpPr>
        <p:spPr/>
        <p:txBody>
          <a:bodyPr/>
          <a:lstStyle/>
          <a:p>
            <a:pPr>
              <a:spcBef>
                <a:spcPts val="200"/>
              </a:spcBef>
              <a:spcAft>
                <a:spcPts val="200"/>
              </a:spcAft>
            </a:pPr>
            <a:r>
              <a:rPr lang="zh-CN" altLang="en-US" dirty="0"/>
              <a:t>属性链接攻击与 </a:t>
            </a:r>
            <a:r>
              <a:rPr lang="en-US" altLang="zh-CN" dirty="0"/>
              <a:t>l-</a:t>
            </a:r>
            <a:r>
              <a:rPr lang="zh-CN" altLang="en-US" dirty="0"/>
              <a:t>多样性</a:t>
            </a:r>
          </a:p>
          <a:p>
            <a:pPr lvl="1">
              <a:spcBef>
                <a:spcPts val="200"/>
              </a:spcBef>
              <a:spcAft>
                <a:spcPts val="200"/>
              </a:spcAft>
            </a:pPr>
            <a:r>
              <a:rPr lang="zh-CN" altLang="en-US" dirty="0"/>
              <a:t>风险：攻击者虽不能直接识别个体，但可通过群体敏感值分布推测受害者隐私</a:t>
            </a:r>
          </a:p>
          <a:p>
            <a:pPr lvl="1">
              <a:spcBef>
                <a:spcPts val="200"/>
              </a:spcBef>
              <a:spcAft>
                <a:spcPts val="200"/>
              </a:spcAft>
            </a:pPr>
            <a:r>
              <a:rPr lang="zh-CN" altLang="en-US" dirty="0"/>
              <a:t>问题：若某敏感值在群组中过于集中，即使满足 </a:t>
            </a:r>
            <a:r>
              <a:rPr lang="en-US" altLang="zh-CN" i="1" dirty="0"/>
              <a:t>k-</a:t>
            </a:r>
            <a:r>
              <a:rPr lang="zh-CN" altLang="en-US" i="1" dirty="0"/>
              <a:t>匿名</a:t>
            </a:r>
            <a:r>
              <a:rPr lang="zh-CN" altLang="en-US" dirty="0"/>
              <a:t> 仍可能被推断</a:t>
            </a:r>
          </a:p>
          <a:p>
            <a:pPr lvl="1">
              <a:spcBef>
                <a:spcPts val="200"/>
              </a:spcBef>
              <a:spcAft>
                <a:spcPts val="200"/>
              </a:spcAft>
            </a:pPr>
            <a:r>
              <a:rPr lang="zh-CN" altLang="en-US" dirty="0"/>
              <a:t>对策：提出 </a:t>
            </a:r>
            <a:r>
              <a:rPr lang="en-US" altLang="zh-CN" dirty="0"/>
              <a:t>l-</a:t>
            </a:r>
            <a:r>
              <a:rPr lang="zh-CN" altLang="en-US" dirty="0"/>
              <a:t>多样性原则</a:t>
            </a:r>
          </a:p>
          <a:p>
            <a:pPr lvl="2">
              <a:spcBef>
                <a:spcPts val="200"/>
              </a:spcBef>
              <a:spcAft>
                <a:spcPts val="200"/>
              </a:spcAft>
            </a:pPr>
            <a:r>
              <a:rPr lang="zh-CN" altLang="en-US" dirty="0"/>
              <a:t>每个准标识符组至少包含 </a:t>
            </a:r>
            <a:r>
              <a:rPr lang="en-US" altLang="zh-CN" i="1" dirty="0"/>
              <a:t>l </a:t>
            </a:r>
            <a:r>
              <a:rPr lang="zh-CN" altLang="en-US" dirty="0"/>
              <a:t>个不同的敏感值</a:t>
            </a:r>
          </a:p>
          <a:p>
            <a:pPr lvl="2">
              <a:spcBef>
                <a:spcPts val="200"/>
              </a:spcBef>
              <a:spcAft>
                <a:spcPts val="200"/>
              </a:spcAft>
            </a:pPr>
            <a:r>
              <a:rPr lang="zh-CN" altLang="en-US" dirty="0"/>
              <a:t>保证敏感值的多样性与代表性，降低推断风险</a:t>
            </a:r>
          </a:p>
          <a:p>
            <a:pPr>
              <a:spcBef>
                <a:spcPts val="200"/>
              </a:spcBef>
              <a:spcAft>
                <a:spcPts val="200"/>
              </a:spcAft>
            </a:pPr>
            <a:endParaRPr lang="zh-CN" altLang="en-US" dirty="0"/>
          </a:p>
        </p:txBody>
      </p:sp>
      <p:sp>
        <p:nvSpPr>
          <p:cNvPr id="3" name="灯片编号占位符 2">
            <a:extLst>
              <a:ext uri="{FF2B5EF4-FFF2-40B4-BE49-F238E27FC236}">
                <a16:creationId xmlns:a16="http://schemas.microsoft.com/office/drawing/2014/main" id="{36E432EF-047F-6C47-6136-7D879EB66424}"/>
              </a:ext>
            </a:extLst>
          </p:cNvPr>
          <p:cNvSpPr>
            <a:spLocks noGrp="1"/>
          </p:cNvSpPr>
          <p:nvPr>
            <p:ph type="sldNum" sz="quarter" idx="4"/>
          </p:nvPr>
        </p:nvSpPr>
        <p:spPr/>
        <p:txBody>
          <a:bodyPr/>
          <a:lstStyle/>
          <a:p>
            <a:fld id="{4124EDF5-87F7-4AC5-8292-B04417157FC2}" type="slidenum">
              <a:rPr lang="zh-CN" altLang="en-US" smtClean="0"/>
              <a:t>22</a:t>
            </a:fld>
            <a:endParaRPr lang="zh-CN" altLang="en-US"/>
          </a:p>
        </p:txBody>
      </p:sp>
      <p:sp>
        <p:nvSpPr>
          <p:cNvPr id="4" name="标题 3">
            <a:extLst>
              <a:ext uri="{FF2B5EF4-FFF2-40B4-BE49-F238E27FC236}">
                <a16:creationId xmlns:a16="http://schemas.microsoft.com/office/drawing/2014/main" id="{77D09226-D794-B46D-8125-D42B894AF414}"/>
              </a:ext>
            </a:extLst>
          </p:cNvPr>
          <p:cNvSpPr>
            <a:spLocks noGrp="1"/>
          </p:cNvSpPr>
          <p:nvPr>
            <p:ph type="title"/>
          </p:nvPr>
        </p:nvSpPr>
        <p:spPr/>
        <p:txBody>
          <a:bodyPr/>
          <a:lstStyle/>
          <a:p>
            <a:r>
              <a:rPr lang="en-US" altLang="zh-CN" dirty="0">
                <a:latin typeface="Pristina" panose="03060402040406080204" pitchFamily="66" charset="0"/>
              </a:rPr>
              <a:t>l</a:t>
            </a:r>
            <a:r>
              <a:rPr lang="en-US" altLang="zh-CN" dirty="0"/>
              <a:t>-</a:t>
            </a:r>
            <a:r>
              <a:rPr lang="zh-CN" altLang="en-US" dirty="0"/>
              <a:t>多样性隐私保护模型</a:t>
            </a:r>
          </a:p>
        </p:txBody>
      </p:sp>
      <p:pic>
        <p:nvPicPr>
          <p:cNvPr id="6" name="图片 5">
            <a:extLst>
              <a:ext uri="{FF2B5EF4-FFF2-40B4-BE49-F238E27FC236}">
                <a16:creationId xmlns:a16="http://schemas.microsoft.com/office/drawing/2014/main" id="{76BFF410-61E4-EEC3-DD46-7D93A76CBCD8}"/>
              </a:ext>
            </a:extLst>
          </p:cNvPr>
          <p:cNvPicPr>
            <a:picLocks noChangeAspect="1"/>
          </p:cNvPicPr>
          <p:nvPr/>
        </p:nvPicPr>
        <p:blipFill>
          <a:blip r:embed="rId2"/>
          <a:stretch>
            <a:fillRect/>
          </a:stretch>
        </p:blipFill>
        <p:spPr>
          <a:xfrm>
            <a:off x="1636417" y="3907118"/>
            <a:ext cx="8216526" cy="2950882"/>
          </a:xfrm>
          <a:prstGeom prst="rect">
            <a:avLst/>
          </a:prstGeom>
        </p:spPr>
      </p:pic>
    </p:spTree>
    <p:extLst>
      <p:ext uri="{BB962C8B-B14F-4D97-AF65-F5344CB8AC3E}">
        <p14:creationId xmlns:p14="http://schemas.microsoft.com/office/powerpoint/2010/main" val="9982641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42B6F5A-6EE0-615F-5600-8022F6FC99EE}"/>
              </a:ext>
            </a:extLst>
          </p:cNvPr>
          <p:cNvSpPr>
            <a:spLocks noGrp="1"/>
          </p:cNvSpPr>
          <p:nvPr>
            <p:ph idx="1"/>
          </p:nvPr>
        </p:nvSpPr>
        <p:spPr/>
        <p:txBody>
          <a:bodyPr/>
          <a:lstStyle/>
          <a:p>
            <a:pPr>
              <a:spcBef>
                <a:spcPts val="200"/>
              </a:spcBef>
              <a:spcAft>
                <a:spcPts val="200"/>
              </a:spcAft>
            </a:pPr>
            <a:r>
              <a:rPr lang="zh-CN" altLang="en-US" dirty="0"/>
              <a:t>问题：</a:t>
            </a:r>
          </a:p>
          <a:p>
            <a:pPr lvl="1">
              <a:spcBef>
                <a:spcPts val="200"/>
              </a:spcBef>
              <a:spcAft>
                <a:spcPts val="200"/>
              </a:spcAft>
            </a:pPr>
            <a:r>
              <a:rPr lang="zh-CN" altLang="en-US" dirty="0"/>
              <a:t>满足 </a:t>
            </a:r>
            <a:r>
              <a:rPr lang="en-US" altLang="zh-CN" i="1" dirty="0"/>
              <a:t>k-</a:t>
            </a:r>
            <a:r>
              <a:rPr lang="zh-CN" altLang="en-US" i="1" dirty="0"/>
              <a:t>匿名</a:t>
            </a:r>
            <a:r>
              <a:rPr lang="zh-CN" altLang="en-US" dirty="0"/>
              <a:t> 与 </a:t>
            </a:r>
            <a:r>
              <a:rPr lang="en-US" altLang="zh-CN" i="1" dirty="0"/>
              <a:t>l-</a:t>
            </a:r>
            <a:r>
              <a:rPr lang="zh-CN" altLang="en-US" i="1" dirty="0"/>
              <a:t>多样性</a:t>
            </a:r>
            <a:r>
              <a:rPr lang="zh-CN" altLang="en-US" dirty="0"/>
              <a:t> 仍可能泄露信息</a:t>
            </a:r>
          </a:p>
          <a:p>
            <a:pPr lvl="1">
              <a:spcBef>
                <a:spcPts val="200"/>
              </a:spcBef>
              <a:spcAft>
                <a:spcPts val="200"/>
              </a:spcAft>
            </a:pPr>
            <a:r>
              <a:rPr lang="zh-CN" altLang="en-US" dirty="0"/>
              <a:t>示例：表</a:t>
            </a:r>
            <a:r>
              <a:rPr lang="en-US" altLang="zh-CN" dirty="0"/>
              <a:t>7.8</a:t>
            </a:r>
            <a:r>
              <a:rPr lang="zh-CN" altLang="en-US" dirty="0"/>
              <a:t>中，</a:t>
            </a:r>
            <a:r>
              <a:rPr lang="en-US" altLang="zh-CN" dirty="0"/>
              <a:t>30</a:t>
            </a:r>
            <a:r>
              <a:rPr lang="zh-CN" altLang="en-US" dirty="0"/>
              <a:t>岁女舞者</a:t>
            </a:r>
            <a:r>
              <a:rPr lang="en-US" altLang="zh-CN" dirty="0"/>
              <a:t>Ellen → </a:t>
            </a:r>
            <a:r>
              <a:rPr lang="zh-CN" altLang="en-US" dirty="0"/>
              <a:t>收入≈</a:t>
            </a:r>
            <a:r>
              <a:rPr lang="en-US" altLang="zh-CN" dirty="0"/>
              <a:t>1.99</a:t>
            </a:r>
            <a:r>
              <a:rPr lang="zh-CN" altLang="en-US" dirty="0"/>
              <a:t>万或</a:t>
            </a:r>
            <a:r>
              <a:rPr lang="en-US" altLang="zh-CN" dirty="0"/>
              <a:t>2</a:t>
            </a:r>
            <a:r>
              <a:rPr lang="zh-CN" altLang="en-US" dirty="0"/>
              <a:t>万，敏感值范围过小</a:t>
            </a:r>
          </a:p>
          <a:p>
            <a:pPr>
              <a:spcBef>
                <a:spcPts val="200"/>
              </a:spcBef>
              <a:spcAft>
                <a:spcPts val="200"/>
              </a:spcAft>
            </a:pPr>
            <a:r>
              <a:rPr lang="zh-CN" altLang="en-US" dirty="0"/>
              <a:t>提出：</a:t>
            </a:r>
          </a:p>
          <a:p>
            <a:pPr lvl="1">
              <a:spcBef>
                <a:spcPts val="200"/>
              </a:spcBef>
              <a:spcAft>
                <a:spcPts val="200"/>
              </a:spcAft>
            </a:pPr>
            <a:r>
              <a:rPr lang="en-US" altLang="zh-CN" dirty="0"/>
              <a:t>t-</a:t>
            </a:r>
            <a:r>
              <a:rPr lang="zh-CN" altLang="en-US" dirty="0"/>
              <a:t>相近性 </a:t>
            </a:r>
            <a:r>
              <a:rPr lang="en-US" altLang="zh-CN" dirty="0"/>
              <a:t>—— </a:t>
            </a:r>
            <a:r>
              <a:rPr lang="zh-CN" altLang="en-US" dirty="0"/>
              <a:t>群组内敏感值分布需接近整体分布</a:t>
            </a:r>
          </a:p>
          <a:p>
            <a:pPr>
              <a:spcBef>
                <a:spcPts val="200"/>
              </a:spcBef>
              <a:spcAft>
                <a:spcPts val="200"/>
              </a:spcAft>
            </a:pPr>
            <a:r>
              <a:rPr lang="zh-CN" altLang="en-US" dirty="0"/>
              <a:t>缺点：</a:t>
            </a:r>
          </a:p>
          <a:p>
            <a:pPr lvl="1">
              <a:spcBef>
                <a:spcPts val="200"/>
              </a:spcBef>
              <a:spcAft>
                <a:spcPts val="200"/>
              </a:spcAft>
            </a:pPr>
            <a:r>
              <a:rPr lang="zh-CN" altLang="en-US" dirty="0"/>
              <a:t>缺乏对不同敏感值的灵活保护</a:t>
            </a:r>
          </a:p>
          <a:p>
            <a:pPr lvl="1">
              <a:spcBef>
                <a:spcPts val="200"/>
              </a:spcBef>
              <a:spcAft>
                <a:spcPts val="200"/>
              </a:spcAft>
            </a:pPr>
            <a:r>
              <a:rPr lang="zh-CN" altLang="en-US" dirty="0"/>
              <a:t>难以抑制数值型敏感属性的链接攻击</a:t>
            </a:r>
          </a:p>
          <a:p>
            <a:pPr lvl="1">
              <a:spcBef>
                <a:spcPts val="200"/>
              </a:spcBef>
              <a:spcAft>
                <a:spcPts val="200"/>
              </a:spcAft>
            </a:pPr>
            <a:r>
              <a:rPr lang="zh-CN" altLang="en-US" dirty="0"/>
              <a:t>降低数据实用性，破坏属性间关联</a:t>
            </a:r>
          </a:p>
          <a:p>
            <a:pPr>
              <a:spcBef>
                <a:spcPts val="200"/>
              </a:spcBef>
              <a:spcAft>
                <a:spcPts val="200"/>
              </a:spcAft>
            </a:pPr>
            <a:r>
              <a:rPr lang="zh-CN" altLang="en-US" dirty="0"/>
              <a:t>改进思路：</a:t>
            </a:r>
          </a:p>
          <a:p>
            <a:pPr lvl="1">
              <a:spcBef>
                <a:spcPts val="200"/>
              </a:spcBef>
              <a:spcAft>
                <a:spcPts val="200"/>
              </a:spcAft>
            </a:pPr>
            <a:r>
              <a:rPr lang="zh-CN" altLang="en-US" dirty="0"/>
              <a:t>调整偏斜性攻击的阈值</a:t>
            </a:r>
          </a:p>
          <a:p>
            <a:pPr lvl="1">
              <a:spcBef>
                <a:spcPts val="200"/>
              </a:spcBef>
              <a:spcAft>
                <a:spcPts val="200"/>
              </a:spcAft>
            </a:pPr>
            <a:r>
              <a:rPr lang="zh-CN" altLang="en-US" dirty="0"/>
              <a:t>使用概率性隐私模型</a:t>
            </a:r>
          </a:p>
          <a:p>
            <a:pPr>
              <a:spcBef>
                <a:spcPts val="200"/>
              </a:spcBef>
              <a:spcAft>
                <a:spcPts val="200"/>
              </a:spcAft>
            </a:pPr>
            <a:endParaRPr lang="zh-CN" altLang="en-US" dirty="0"/>
          </a:p>
        </p:txBody>
      </p:sp>
      <p:sp>
        <p:nvSpPr>
          <p:cNvPr id="3" name="灯片编号占位符 2">
            <a:extLst>
              <a:ext uri="{FF2B5EF4-FFF2-40B4-BE49-F238E27FC236}">
                <a16:creationId xmlns:a16="http://schemas.microsoft.com/office/drawing/2014/main" id="{83924A1A-037F-2F89-BDB3-115391F800B6}"/>
              </a:ext>
            </a:extLst>
          </p:cNvPr>
          <p:cNvSpPr>
            <a:spLocks noGrp="1"/>
          </p:cNvSpPr>
          <p:nvPr>
            <p:ph type="sldNum" sz="quarter" idx="4"/>
          </p:nvPr>
        </p:nvSpPr>
        <p:spPr/>
        <p:txBody>
          <a:bodyPr/>
          <a:lstStyle/>
          <a:p>
            <a:fld id="{4124EDF5-87F7-4AC5-8292-B04417157FC2}" type="slidenum">
              <a:rPr lang="zh-CN" altLang="en-US" smtClean="0"/>
              <a:t>23</a:t>
            </a:fld>
            <a:endParaRPr lang="zh-CN" altLang="en-US"/>
          </a:p>
        </p:txBody>
      </p:sp>
      <p:sp>
        <p:nvSpPr>
          <p:cNvPr id="4" name="标题 3">
            <a:extLst>
              <a:ext uri="{FF2B5EF4-FFF2-40B4-BE49-F238E27FC236}">
                <a16:creationId xmlns:a16="http://schemas.microsoft.com/office/drawing/2014/main" id="{AB7E102A-C894-4F60-9C34-DB4DBBC83B8D}"/>
              </a:ext>
            </a:extLst>
          </p:cNvPr>
          <p:cNvSpPr>
            <a:spLocks noGrp="1"/>
          </p:cNvSpPr>
          <p:nvPr>
            <p:ph type="title"/>
          </p:nvPr>
        </p:nvSpPr>
        <p:spPr/>
        <p:txBody>
          <a:bodyPr/>
          <a:lstStyle/>
          <a:p>
            <a:r>
              <a:rPr lang="en-US" altLang="zh-CN" dirty="0"/>
              <a:t>t-</a:t>
            </a:r>
            <a:r>
              <a:rPr lang="zh-CN" altLang="en-US" dirty="0"/>
              <a:t>相近性隐私保护模型 </a:t>
            </a:r>
          </a:p>
        </p:txBody>
      </p:sp>
    </p:spTree>
    <p:extLst>
      <p:ext uri="{BB962C8B-B14F-4D97-AF65-F5344CB8AC3E}">
        <p14:creationId xmlns:p14="http://schemas.microsoft.com/office/powerpoint/2010/main" val="31915338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D30DA-E7CB-0635-F2CB-D5EBCE8353EE}"/>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4117D24-7EE3-F902-3640-F2999222D40B}"/>
              </a:ext>
            </a:extLst>
          </p:cNvPr>
          <p:cNvSpPr>
            <a:spLocks noGrp="1"/>
          </p:cNvSpPr>
          <p:nvPr>
            <p:ph type="sldNum" sz="quarter" idx="4"/>
          </p:nvPr>
        </p:nvSpPr>
        <p:spPr/>
        <p:txBody>
          <a:bodyPr/>
          <a:lstStyle/>
          <a:p>
            <a:fld id="{4124EDF5-87F7-4AC5-8292-B04417157FC2}" type="slidenum">
              <a:rPr lang="zh-CN" altLang="en-US" smtClean="0"/>
              <a:t>24</a:t>
            </a:fld>
            <a:endParaRPr lang="zh-CN" altLang="en-US"/>
          </a:p>
        </p:txBody>
      </p:sp>
      <p:sp>
        <p:nvSpPr>
          <p:cNvPr id="4" name="标题 3">
            <a:extLst>
              <a:ext uri="{FF2B5EF4-FFF2-40B4-BE49-F238E27FC236}">
                <a16:creationId xmlns:a16="http://schemas.microsoft.com/office/drawing/2014/main" id="{FC02138E-9FC1-B0B3-2E1B-68F07B8A38DE}"/>
              </a:ext>
            </a:extLst>
          </p:cNvPr>
          <p:cNvSpPr>
            <a:spLocks noGrp="1"/>
          </p:cNvSpPr>
          <p:nvPr>
            <p:ph type="title"/>
          </p:nvPr>
        </p:nvSpPr>
        <p:spPr/>
        <p:txBody>
          <a:bodyPr/>
          <a:lstStyle/>
          <a:p>
            <a:endParaRPr lang="en-US"/>
          </a:p>
        </p:txBody>
      </p:sp>
      <p:sp>
        <p:nvSpPr>
          <p:cNvPr id="5" name="文本框 4">
            <a:extLst>
              <a:ext uri="{FF2B5EF4-FFF2-40B4-BE49-F238E27FC236}">
                <a16:creationId xmlns:a16="http://schemas.microsoft.com/office/drawing/2014/main" id="{CFA2FB26-5D3B-0E60-C075-5AD53CBDD8AD}"/>
              </a:ext>
            </a:extLst>
          </p:cNvPr>
          <p:cNvSpPr txBox="1"/>
          <p:nvPr/>
        </p:nvSpPr>
        <p:spPr>
          <a:xfrm>
            <a:off x="2913188" y="3113465"/>
            <a:ext cx="6365619" cy="92333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lang="zh-CN" altLang="en-US" dirty="0"/>
              <a:t>差分隐私技术</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extLst>
      <p:ext uri="{BB962C8B-B14F-4D97-AF65-F5344CB8AC3E}">
        <p14:creationId xmlns:p14="http://schemas.microsoft.com/office/powerpoint/2010/main" val="41029072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F827360-E79E-0F00-0702-2EA2AB178F70}"/>
              </a:ext>
            </a:extLst>
          </p:cNvPr>
          <p:cNvSpPr>
            <a:spLocks noGrp="1"/>
          </p:cNvSpPr>
          <p:nvPr>
            <p:ph idx="1"/>
          </p:nvPr>
        </p:nvSpPr>
        <p:spPr/>
        <p:txBody>
          <a:bodyPr/>
          <a:lstStyle/>
          <a:p>
            <a:r>
              <a:rPr lang="en-US" altLang="zh-CN" dirty="0"/>
              <a:t>k-</a:t>
            </a:r>
            <a:r>
              <a:rPr lang="zh-CN" altLang="en-US" dirty="0"/>
              <a:t>匿名、</a:t>
            </a:r>
            <a:r>
              <a:rPr lang="en-US" altLang="zh-CN" dirty="0"/>
              <a:t>l-</a:t>
            </a:r>
            <a:r>
              <a:rPr lang="zh-CN" altLang="en-US" dirty="0"/>
              <a:t>多样性、</a:t>
            </a:r>
            <a:r>
              <a:rPr lang="en-US" altLang="zh-CN" dirty="0"/>
              <a:t>t-</a:t>
            </a:r>
            <a:r>
              <a:rPr lang="zh-CN" altLang="en-US" dirty="0"/>
              <a:t>相近性等模型因假设过多，不断被攻破，陷入循环。差分隐私被提出后这一问题得到了解决。</a:t>
            </a:r>
            <a:endParaRPr lang="en-US" altLang="zh-CN" dirty="0"/>
          </a:p>
          <a:p>
            <a:r>
              <a:rPr lang="zh-CN" altLang="en-US" dirty="0"/>
              <a:t>差分隐私是一种通用且具有坚实数学理论支持的隐私保护框架，可以在攻击者掌握任意背景知识的情况 下对发布数据提供隐私保护。</a:t>
            </a:r>
            <a:endParaRPr lang="en-US" altLang="zh-CN" dirty="0"/>
          </a:p>
          <a:p>
            <a:r>
              <a:rPr lang="zh-CN" altLang="en-US" dirty="0"/>
              <a:t>差分隐私具有两个最重要的优点：</a:t>
            </a:r>
            <a:endParaRPr lang="en-US" altLang="zh-CN" dirty="0"/>
          </a:p>
          <a:p>
            <a:pPr lvl="1"/>
            <a:r>
              <a:rPr lang="zh-CN" altLang="en-US" dirty="0"/>
              <a:t>①差分隐私严格定义了攻击者的背景知识：除了某 一条记录，攻击者知晓原数据中其他所有信息。这样的攻击者几乎是最强大的，而差分隐私在这种情况下依然能有效保护隐私信息。</a:t>
            </a:r>
            <a:endParaRPr lang="en-US" altLang="zh-CN" dirty="0"/>
          </a:p>
          <a:p>
            <a:pPr lvl="1"/>
            <a:r>
              <a:rPr lang="zh-CN" altLang="en-US" dirty="0"/>
              <a:t>②差分隐私拥有严谨的统计学模型，极大地方便了数学工具的使用以及定量分析和证明。</a:t>
            </a:r>
          </a:p>
        </p:txBody>
      </p:sp>
      <p:sp>
        <p:nvSpPr>
          <p:cNvPr id="3" name="灯片编号占位符 2">
            <a:extLst>
              <a:ext uri="{FF2B5EF4-FFF2-40B4-BE49-F238E27FC236}">
                <a16:creationId xmlns:a16="http://schemas.microsoft.com/office/drawing/2014/main" id="{6D03605A-25B9-4B53-806B-B8223B78A273}"/>
              </a:ext>
            </a:extLst>
          </p:cNvPr>
          <p:cNvSpPr>
            <a:spLocks noGrp="1"/>
          </p:cNvSpPr>
          <p:nvPr>
            <p:ph type="sldNum" sz="quarter" idx="4"/>
          </p:nvPr>
        </p:nvSpPr>
        <p:spPr/>
        <p:txBody>
          <a:bodyPr/>
          <a:lstStyle/>
          <a:p>
            <a:fld id="{4124EDF5-87F7-4AC5-8292-B04417157FC2}" type="slidenum">
              <a:rPr lang="zh-CN" altLang="en-US" smtClean="0"/>
              <a:t>25</a:t>
            </a:fld>
            <a:endParaRPr lang="zh-CN" altLang="en-US"/>
          </a:p>
        </p:txBody>
      </p:sp>
      <p:sp>
        <p:nvSpPr>
          <p:cNvPr id="4" name="标题 3">
            <a:extLst>
              <a:ext uri="{FF2B5EF4-FFF2-40B4-BE49-F238E27FC236}">
                <a16:creationId xmlns:a16="http://schemas.microsoft.com/office/drawing/2014/main" id="{87BA0990-7A3D-78B8-044E-272EF944E940}"/>
              </a:ext>
            </a:extLst>
          </p:cNvPr>
          <p:cNvSpPr>
            <a:spLocks noGrp="1"/>
          </p:cNvSpPr>
          <p:nvPr>
            <p:ph type="title"/>
          </p:nvPr>
        </p:nvSpPr>
        <p:spPr/>
        <p:txBody>
          <a:bodyPr/>
          <a:lstStyle/>
          <a:p>
            <a:r>
              <a:rPr lang="zh-CN" altLang="en-US" dirty="0"/>
              <a:t>差分隐私模型简介 </a:t>
            </a:r>
          </a:p>
        </p:txBody>
      </p:sp>
    </p:spTree>
    <p:extLst>
      <p:ext uri="{BB962C8B-B14F-4D97-AF65-F5344CB8AC3E}">
        <p14:creationId xmlns:p14="http://schemas.microsoft.com/office/powerpoint/2010/main" val="5595450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9ED0BD6-1E1C-306D-7CC3-C4C3CAAAAD5A}"/>
              </a:ext>
            </a:extLst>
          </p:cNvPr>
          <p:cNvSpPr>
            <a:spLocks noGrp="1"/>
          </p:cNvSpPr>
          <p:nvPr>
            <p:ph idx="1"/>
          </p:nvPr>
        </p:nvSpPr>
        <p:spPr>
          <a:xfrm>
            <a:off x="371303" y="1089830"/>
            <a:ext cx="11464528" cy="5047042"/>
          </a:xfrm>
        </p:spPr>
        <p:txBody>
          <a:bodyPr/>
          <a:lstStyle/>
          <a:p>
            <a:pPr>
              <a:spcBef>
                <a:spcPts val="200"/>
              </a:spcBef>
              <a:spcAft>
                <a:spcPts val="200"/>
              </a:spcAft>
            </a:pPr>
            <a:r>
              <a:rPr lang="zh-CN" altLang="en-US" dirty="0"/>
              <a:t>差分隐私技术的基本思路如下：</a:t>
            </a:r>
            <a:endParaRPr lang="en-US" altLang="zh-CN" dirty="0"/>
          </a:p>
          <a:p>
            <a:pPr lvl="1">
              <a:spcBef>
                <a:spcPts val="200"/>
              </a:spcBef>
              <a:spcAft>
                <a:spcPts val="200"/>
              </a:spcAft>
            </a:pPr>
            <a:r>
              <a:rPr lang="zh-CN" altLang="en-US" dirty="0"/>
              <a:t>当用户（也可能是潜藏的攻击者）向数据提供者提交一个查询请求时，如果数据提供者直接发布准确的查询结果，则可能导致隐私泄露，用户可能会通过查询结果来反推出隐私信息。</a:t>
            </a:r>
            <a:endParaRPr lang="en-US" altLang="zh-CN" dirty="0"/>
          </a:p>
          <a:p>
            <a:pPr lvl="1">
              <a:spcBef>
                <a:spcPts val="200"/>
              </a:spcBef>
              <a:spcAft>
                <a:spcPts val="200"/>
              </a:spcAft>
            </a:pPr>
            <a:r>
              <a:rPr lang="zh-CN" altLang="en-US" dirty="0"/>
              <a:t>为了避免这一问题，差分隐私系统要求从数据库中提炼出一个中间件，用特别设计的随机算法对中间件注入适量的噪声，得到一个带噪中间件；再由带噪中间件推导出一个带噪的查询结果，并返回给用户。</a:t>
            </a:r>
          </a:p>
        </p:txBody>
      </p:sp>
      <p:sp>
        <p:nvSpPr>
          <p:cNvPr id="3" name="灯片编号占位符 2">
            <a:extLst>
              <a:ext uri="{FF2B5EF4-FFF2-40B4-BE49-F238E27FC236}">
                <a16:creationId xmlns:a16="http://schemas.microsoft.com/office/drawing/2014/main" id="{8C614A1B-0AD2-F95C-7BD8-1F2AD8D26317}"/>
              </a:ext>
            </a:extLst>
          </p:cNvPr>
          <p:cNvSpPr>
            <a:spLocks noGrp="1"/>
          </p:cNvSpPr>
          <p:nvPr>
            <p:ph type="sldNum" sz="quarter" idx="4"/>
          </p:nvPr>
        </p:nvSpPr>
        <p:spPr/>
        <p:txBody>
          <a:bodyPr/>
          <a:lstStyle/>
          <a:p>
            <a:fld id="{4124EDF5-87F7-4AC5-8292-B04417157FC2}" type="slidenum">
              <a:rPr lang="zh-CN" altLang="en-US" smtClean="0"/>
              <a:t>26</a:t>
            </a:fld>
            <a:endParaRPr lang="zh-CN" altLang="en-US"/>
          </a:p>
        </p:txBody>
      </p:sp>
      <p:sp>
        <p:nvSpPr>
          <p:cNvPr id="4" name="标题 3">
            <a:extLst>
              <a:ext uri="{FF2B5EF4-FFF2-40B4-BE49-F238E27FC236}">
                <a16:creationId xmlns:a16="http://schemas.microsoft.com/office/drawing/2014/main" id="{0109C908-5570-1763-5F4A-9A6DA46CF4CF}"/>
              </a:ext>
            </a:extLst>
          </p:cNvPr>
          <p:cNvSpPr>
            <a:spLocks noGrp="1"/>
          </p:cNvSpPr>
          <p:nvPr>
            <p:ph type="title"/>
          </p:nvPr>
        </p:nvSpPr>
        <p:spPr/>
        <p:txBody>
          <a:bodyPr/>
          <a:lstStyle/>
          <a:p>
            <a:r>
              <a:rPr lang="zh-CN" altLang="en-US" dirty="0"/>
              <a:t>差分隐私的原理</a:t>
            </a:r>
          </a:p>
        </p:txBody>
      </p:sp>
      <p:pic>
        <p:nvPicPr>
          <p:cNvPr id="5" name="图片 4">
            <a:extLst>
              <a:ext uri="{FF2B5EF4-FFF2-40B4-BE49-F238E27FC236}">
                <a16:creationId xmlns:a16="http://schemas.microsoft.com/office/drawing/2014/main" id="{60C868A5-DF77-CC52-F75F-2856A36F9B6E}"/>
              </a:ext>
            </a:extLst>
          </p:cNvPr>
          <p:cNvPicPr>
            <a:picLocks noChangeAspect="1"/>
          </p:cNvPicPr>
          <p:nvPr/>
        </p:nvPicPr>
        <p:blipFill>
          <a:blip r:embed="rId2"/>
          <a:stretch>
            <a:fillRect/>
          </a:stretch>
        </p:blipFill>
        <p:spPr>
          <a:xfrm>
            <a:off x="3746255" y="3253593"/>
            <a:ext cx="5492181" cy="3488519"/>
          </a:xfrm>
          <a:prstGeom prst="rect">
            <a:avLst/>
          </a:prstGeom>
        </p:spPr>
      </p:pic>
    </p:spTree>
    <p:extLst>
      <p:ext uri="{BB962C8B-B14F-4D97-AF65-F5344CB8AC3E}">
        <p14:creationId xmlns:p14="http://schemas.microsoft.com/office/powerpoint/2010/main" val="3993066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5D50CEEB-EBC0-1DA6-62C2-D97D5775C8EF}"/>
                  </a:ext>
                </a:extLst>
              </p:cNvPr>
              <p:cNvSpPr>
                <a:spLocks noGrp="1"/>
              </p:cNvSpPr>
              <p:nvPr>
                <p:ph idx="1"/>
              </p:nvPr>
            </p:nvSpPr>
            <p:spPr/>
            <p:txBody>
              <a:bodyPr/>
              <a:lstStyle/>
              <a:p>
                <a:r>
                  <a:rPr lang="zh-CN" altLang="en-US" dirty="0"/>
                  <a:t>定义：对于任意一对相邻数据库（定义为差别最多有一个记录的两个数据库）</a:t>
                </a:r>
                <a14:m>
                  <m:oMath xmlns:m="http://schemas.openxmlformats.org/officeDocument/2006/math">
                    <m:sSub>
                      <m:sSubPr>
                        <m:ctrlPr>
                          <a:rPr lang="en-US" altLang="zh-CN" b="1"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1</m:t>
                        </m:r>
                      </m:sub>
                    </m:sSub>
                  </m:oMath>
                </a14:m>
                <a:r>
                  <a:rPr lang="zh-CN" altLang="en-US" dirty="0"/>
                  <a:t>和 </a:t>
                </a:r>
                <a14:m>
                  <m:oMath xmlns:m="http://schemas.openxmlformats.org/officeDocument/2006/math">
                    <m:sSub>
                      <m:sSubPr>
                        <m:ctrlPr>
                          <a:rPr lang="en-US" altLang="zh-CN" b="1" i="1" dirty="0" smtClean="0">
                            <a:latin typeface="Cambria Math" panose="02040503050406030204" pitchFamily="18" charset="0"/>
                          </a:rPr>
                        </m:ctrlPr>
                      </m:sSubPr>
                      <m:e>
                        <m:r>
                          <a:rPr lang="en-US" altLang="zh-CN" i="1" dirty="0" smtClean="0">
                            <a:latin typeface="Cambria Math" panose="02040503050406030204" pitchFamily="18" charset="0"/>
                          </a:rPr>
                          <m:t>𝐷</m:t>
                        </m:r>
                      </m:e>
                      <m:sub>
                        <m:r>
                          <a:rPr lang="en-US" altLang="zh-CN" i="1" dirty="0" smtClean="0">
                            <a:latin typeface="Cambria Math" panose="02040503050406030204" pitchFamily="18" charset="0"/>
                          </a:rPr>
                          <m:t>2</m:t>
                        </m:r>
                      </m:sub>
                    </m:sSub>
                  </m:oMath>
                </a14:m>
                <a:r>
                  <a:rPr lang="zh-CN" altLang="en-US" dirty="0"/>
                  <a:t>，任意一个可能的带噪中间件</a:t>
                </a:r>
                <a14:m>
                  <m:oMath xmlns:m="http://schemas.openxmlformats.org/officeDocument/2006/math">
                    <m:r>
                      <a:rPr lang="en-US" altLang="zh-CN" i="1" dirty="0" smtClean="0">
                        <a:latin typeface="Cambria Math" panose="02040503050406030204" pitchFamily="18" charset="0"/>
                      </a:rPr>
                      <m:t>𝑆</m:t>
                    </m:r>
                  </m:oMath>
                </a14:m>
                <a:r>
                  <a:rPr lang="zh-CN" altLang="en-US" dirty="0"/>
                  <a:t>，一个提供</a:t>
                </a:r>
                <a14:m>
                  <m:oMath xmlns:m="http://schemas.openxmlformats.org/officeDocument/2006/math">
                    <m:r>
                      <a:rPr lang="en-US" altLang="zh-CN" b="1" i="1" smtClean="0">
                        <a:latin typeface="Cambria Math" panose="02040503050406030204" pitchFamily="18" charset="0"/>
                      </a:rPr>
                      <m:t>𝝐</m:t>
                    </m:r>
                  </m:oMath>
                </a14:m>
                <a:r>
                  <a:rPr lang="en-US" altLang="zh-CN" dirty="0"/>
                  <a:t>-</a:t>
                </a:r>
                <a:r>
                  <a:rPr lang="zh-CN" altLang="en-US" dirty="0"/>
                  <a:t>差分隐私保护的算法 </a:t>
                </a:r>
                <a:r>
                  <a:rPr lang="en-US" altLang="zh-CN" dirty="0"/>
                  <a:t>M </a:t>
                </a:r>
                <a:r>
                  <a:rPr lang="zh-CN" altLang="en-US" dirty="0"/>
                  <a:t>必须满足： </a:t>
                </a:r>
                <a14:m>
                  <m:oMath xmlns:m="http://schemas.openxmlformats.org/officeDocument/2006/math">
                    <m:r>
                      <m:rPr>
                        <m:sty m:val="p"/>
                      </m:rPr>
                      <a:rPr lang="en-US" altLang="zh-CN" i="1" dirty="0" smtClean="0">
                        <a:latin typeface="Cambria Math" panose="02040503050406030204" pitchFamily="18" charset="0"/>
                      </a:rPr>
                      <m:t>Pr</m:t>
                    </m:r>
                    <m:r>
                      <a:rPr lang="en-US" altLang="zh-CN" i="1" dirty="0">
                        <a:latin typeface="Cambria Math" panose="02040503050406030204" pitchFamily="18" charset="0"/>
                      </a:rPr>
                      <m:t>⁡[</m:t>
                    </m:r>
                    <m:r>
                      <a:rPr lang="en-US" altLang="zh-CN" i="1" dirty="0">
                        <a:latin typeface="Cambria Math" panose="02040503050406030204" pitchFamily="18" charset="0"/>
                      </a:rPr>
                      <m:t>𝑀</m:t>
                    </m:r>
                    <m:r>
                      <a:rPr lang="en-US" altLang="zh-CN" i="1" dirty="0">
                        <a:latin typeface="Cambria Math" panose="02040503050406030204" pitchFamily="18" charset="0"/>
                      </a:rPr>
                      <m:t>(</m:t>
                    </m:r>
                    <m:sSub>
                      <m:sSubPr>
                        <m:ctrlPr>
                          <a:rPr lang="en-US" altLang="zh-CN" b="1" i="1" dirty="0" smtClean="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i="1" dirty="0">
                        <a:latin typeface="Cambria Math" panose="02040503050406030204" pitchFamily="18" charset="0"/>
                      </a:rPr>
                      <m:t>𝑆</m:t>
                    </m:r>
                    <m:r>
                      <a:rPr lang="en-US" altLang="zh-CN" i="1" dirty="0">
                        <a:latin typeface="Cambria Math" panose="02040503050406030204" pitchFamily="18" charset="0"/>
                      </a:rPr>
                      <m:t>]≤</m:t>
                    </m:r>
                    <m:r>
                      <m:rPr>
                        <m:sty m:val="p"/>
                      </m:rPr>
                      <a:rPr lang="en-US" altLang="zh-CN" i="1" dirty="0">
                        <a:latin typeface="Cambria Math" panose="02040503050406030204" pitchFamily="18" charset="0"/>
                      </a:rPr>
                      <m:t>exp</m:t>
                    </m:r>
                    <m:r>
                      <a:rPr lang="en-US" altLang="zh-CN" i="1" dirty="0">
                        <a:latin typeface="Cambria Math" panose="02040503050406030204" pitchFamily="18" charset="0"/>
                      </a:rPr>
                      <m:t>⁡(</m:t>
                    </m:r>
                    <m:r>
                      <a:rPr lang="en-US" altLang="zh-CN" i="1">
                        <a:latin typeface="Cambria Math" panose="02040503050406030204" pitchFamily="18" charset="0"/>
                      </a:rPr>
                      <m:t>𝝐</m:t>
                    </m:r>
                    <m:r>
                      <a:rPr lang="en-US" altLang="zh-CN" i="1" dirty="0">
                        <a:latin typeface="Cambria Math" panose="02040503050406030204" pitchFamily="18" charset="0"/>
                      </a:rPr>
                      <m:t>) · </m:t>
                    </m:r>
                    <m:r>
                      <m:rPr>
                        <m:sty m:val="p"/>
                      </m:rPr>
                      <a:rPr lang="en-US" altLang="zh-CN" i="1" dirty="0" err="1">
                        <a:latin typeface="Cambria Math" panose="02040503050406030204" pitchFamily="18" charset="0"/>
                      </a:rPr>
                      <m:t>Pr</m:t>
                    </m:r>
                    <m:r>
                      <a:rPr lang="en-US" altLang="zh-CN" i="1" dirty="0">
                        <a:latin typeface="Cambria Math" panose="02040503050406030204" pitchFamily="18" charset="0"/>
                      </a:rPr>
                      <m:t>⁡[</m:t>
                    </m:r>
                    <m:r>
                      <a:rPr lang="en-US" altLang="zh-CN" i="1" dirty="0">
                        <a:latin typeface="Cambria Math" panose="02040503050406030204" pitchFamily="18" charset="0"/>
                      </a:rPr>
                      <m:t>𝑀</m:t>
                    </m:r>
                    <m:r>
                      <a:rPr lang="en-US" altLang="zh-CN" i="1" dirty="0">
                        <a:latin typeface="Cambria Math" panose="02040503050406030204" pitchFamily="18" charset="0"/>
                      </a:rPr>
                      <m:t>(</m:t>
                    </m:r>
                    <m:sSub>
                      <m:sSubPr>
                        <m:ctrlPr>
                          <a:rPr lang="en-US" altLang="zh-CN" b="1" i="1" dirty="0" smtClean="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2</m:t>
                        </m:r>
                      </m:sub>
                    </m:sSub>
                    <m:r>
                      <a:rPr lang="en-US" altLang="zh-CN" i="1" dirty="0">
                        <a:latin typeface="Cambria Math" panose="02040503050406030204" pitchFamily="18" charset="0"/>
                      </a:rPr>
                      <m:t>)=</m:t>
                    </m:r>
                    <m:r>
                      <a:rPr lang="en-US" altLang="zh-CN" i="1" dirty="0">
                        <a:latin typeface="Cambria Math" panose="02040503050406030204" pitchFamily="18" charset="0"/>
                      </a:rPr>
                      <m:t>𝑆</m:t>
                    </m:r>
                    <m:r>
                      <a:rPr lang="en-US" altLang="zh-CN" i="1" dirty="0">
                        <a:latin typeface="Cambria Math" panose="02040503050406030204" pitchFamily="18" charset="0"/>
                      </a:rPr>
                      <m:t>]</m:t>
                    </m:r>
                  </m:oMath>
                </a14:m>
                <a:r>
                  <a:rPr lang="zh-CN" altLang="en-US" dirty="0"/>
                  <a:t>。</a:t>
                </a:r>
                <a:endParaRPr lang="en-US" altLang="zh-CN" dirty="0"/>
              </a:p>
              <a:p>
                <a:pPr lvl="1"/>
                <a:r>
                  <a:rPr lang="zh-CN" altLang="en-US" dirty="0"/>
                  <a:t>对于任意一个可能的带噪中间件</a:t>
                </a:r>
                <a:r>
                  <a:rPr lang="en-US" altLang="zh-CN" dirty="0"/>
                  <a:t>S</a:t>
                </a:r>
                <a:r>
                  <a:rPr lang="zh-CN" altLang="en-US" dirty="0"/>
                  <a:t>，</a:t>
                </a:r>
                <a14:m>
                  <m:oMath xmlns:m="http://schemas.openxmlformats.org/officeDocument/2006/math">
                    <m:r>
                      <m:rPr>
                        <m:sty m:val="p"/>
                      </m:rPr>
                      <a:rPr lang="en-US" altLang="zh-CN" i="1" dirty="0" smtClean="0">
                        <a:latin typeface="Cambria Math" panose="02040503050406030204" pitchFamily="18" charset="0"/>
                      </a:rPr>
                      <m:t>Pr</m:t>
                    </m:r>
                    <m:r>
                      <a:rPr lang="en-US" altLang="zh-CN" i="1" dirty="0">
                        <a:latin typeface="Cambria Math" panose="02040503050406030204" pitchFamily="18" charset="0"/>
                      </a:rPr>
                      <m:t>⁡[</m:t>
                    </m:r>
                    <m:r>
                      <a:rPr lang="en-US" altLang="zh-CN" i="1" dirty="0">
                        <a:latin typeface="Cambria Math" panose="02040503050406030204" pitchFamily="18" charset="0"/>
                      </a:rPr>
                      <m:t>𝑀</m:t>
                    </m:r>
                    <m:r>
                      <a:rPr lang="en-US" altLang="zh-CN" i="1" dirty="0">
                        <a:latin typeface="Cambria Math" panose="02040503050406030204" pitchFamily="18" charset="0"/>
                      </a:rPr>
                      <m:t>(</m:t>
                    </m:r>
                    <m:sSub>
                      <m:sSubPr>
                        <m:ctrlPr>
                          <a:rPr lang="en-US" altLang="zh-CN" b="1" i="1" dirty="0" smtClean="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1</m:t>
                        </m:r>
                      </m:sub>
                    </m:sSub>
                    <m:r>
                      <a:rPr lang="en-US" altLang="zh-CN" i="1" dirty="0">
                        <a:latin typeface="Cambria Math" panose="02040503050406030204" pitchFamily="18" charset="0"/>
                      </a:rPr>
                      <m:t>)=</m:t>
                    </m:r>
                    <m:r>
                      <a:rPr lang="en-US" altLang="zh-CN" i="1" dirty="0">
                        <a:latin typeface="Cambria Math" panose="02040503050406030204" pitchFamily="18" charset="0"/>
                      </a:rPr>
                      <m:t>𝑆</m:t>
                    </m:r>
                    <m:r>
                      <a:rPr lang="en-US" altLang="zh-CN" i="1" dirty="0">
                        <a:latin typeface="Cambria Math" panose="02040503050406030204" pitchFamily="18" charset="0"/>
                      </a:rPr>
                      <m:t>]</m:t>
                    </m:r>
                  </m:oMath>
                </a14:m>
                <a:r>
                  <a:rPr lang="zh-CN" altLang="en-US" dirty="0"/>
                  <a:t>和 </a:t>
                </a:r>
                <a14:m>
                  <m:oMath xmlns:m="http://schemas.openxmlformats.org/officeDocument/2006/math">
                    <m:r>
                      <m:rPr>
                        <m:sty m:val="p"/>
                      </m:rPr>
                      <a:rPr lang="en-US" altLang="zh-CN" i="1" dirty="0" smtClean="0">
                        <a:latin typeface="Cambria Math" panose="02040503050406030204" pitchFamily="18" charset="0"/>
                      </a:rPr>
                      <m:t>Pr</m:t>
                    </m:r>
                    <m:r>
                      <a:rPr lang="en-US" altLang="zh-CN" i="1" dirty="0">
                        <a:latin typeface="Cambria Math" panose="02040503050406030204" pitchFamily="18" charset="0"/>
                      </a:rPr>
                      <m:t>⁡[</m:t>
                    </m:r>
                    <m:r>
                      <a:rPr lang="en-US" altLang="zh-CN" i="1" dirty="0">
                        <a:latin typeface="Cambria Math" panose="02040503050406030204" pitchFamily="18" charset="0"/>
                      </a:rPr>
                      <m:t>𝑀</m:t>
                    </m:r>
                    <m:r>
                      <a:rPr lang="en-US" altLang="zh-CN" i="1" dirty="0">
                        <a:latin typeface="Cambria Math" panose="02040503050406030204" pitchFamily="18" charset="0"/>
                      </a:rPr>
                      <m:t>(</m:t>
                    </m:r>
                    <m:sSub>
                      <m:sSubPr>
                        <m:ctrlPr>
                          <a:rPr lang="en-US" altLang="zh-CN" b="1" i="1" dirty="0" smtClean="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2</m:t>
                        </m:r>
                      </m:sub>
                    </m:sSub>
                    <m:r>
                      <a:rPr lang="en-US" altLang="zh-CN" i="1" dirty="0">
                        <a:latin typeface="Cambria Math" panose="02040503050406030204" pitchFamily="18" charset="0"/>
                      </a:rPr>
                      <m:t>)=</m:t>
                    </m:r>
                    <m:r>
                      <a:rPr lang="en-US" altLang="zh-CN" i="1" dirty="0">
                        <a:latin typeface="Cambria Math" panose="02040503050406030204" pitchFamily="18" charset="0"/>
                      </a:rPr>
                      <m:t>𝑆</m:t>
                    </m:r>
                    <m:r>
                      <a:rPr lang="en-US" altLang="zh-CN" i="1" dirty="0">
                        <a:latin typeface="Cambria Math" panose="02040503050406030204" pitchFamily="18" charset="0"/>
                      </a:rPr>
                      <m:t>]</m:t>
                    </m:r>
                  </m:oMath>
                </a14:m>
                <a:r>
                  <a:rPr lang="zh-CN" altLang="en-US" dirty="0"/>
                  <a:t>的概率总是被约束在 </a:t>
                </a:r>
                <a14:m>
                  <m:oMath xmlns:m="http://schemas.openxmlformats.org/officeDocument/2006/math">
                    <m:r>
                      <a:rPr lang="en-US" altLang="zh-CN" i="1" dirty="0" smtClean="0">
                        <a:latin typeface="Cambria Math" panose="02040503050406030204" pitchFamily="18" charset="0"/>
                      </a:rPr>
                      <m:t>[</m:t>
                    </m:r>
                    <m:r>
                      <m:rPr>
                        <m:sty m:val="p"/>
                      </m:rPr>
                      <a:rPr lang="en-US" altLang="zh-CN" i="1" dirty="0" smtClean="0">
                        <a:latin typeface="Cambria Math" panose="02040503050406030204" pitchFamily="18" charset="0"/>
                      </a:rPr>
                      <m:t>exp</m:t>
                    </m:r>
                    <m:r>
                      <a:rPr lang="en-US" altLang="zh-CN" i="1" dirty="0" smtClean="0">
                        <a:latin typeface="Cambria Math" panose="02040503050406030204" pitchFamily="18" charset="0"/>
                      </a:rPr>
                      <m:t>⁡(−</m:t>
                    </m:r>
                    <m:r>
                      <a:rPr lang="en-US" altLang="zh-CN" i="1">
                        <a:latin typeface="Cambria Math" panose="02040503050406030204" pitchFamily="18" charset="0"/>
                      </a:rPr>
                      <m:t>𝝐</m:t>
                    </m:r>
                    <m:r>
                      <a:rPr lang="en-US" altLang="zh-CN" i="1" dirty="0" smtClean="0">
                        <a:latin typeface="Cambria Math" panose="02040503050406030204" pitchFamily="18" charset="0"/>
                      </a:rPr>
                      <m:t>)</m:t>
                    </m:r>
                    <m:r>
                      <a:rPr lang="zh-CN" altLang="en-US" i="1" dirty="0">
                        <a:latin typeface="Cambria Math" panose="02040503050406030204" pitchFamily="18" charset="0"/>
                      </a:rPr>
                      <m:t>，</m:t>
                    </m:r>
                    <m:r>
                      <m:rPr>
                        <m:sty m:val="p"/>
                      </m:rPr>
                      <a:rPr lang="en-US" altLang="zh-CN" i="1" dirty="0">
                        <a:latin typeface="Cambria Math" panose="02040503050406030204" pitchFamily="18" charset="0"/>
                      </a:rPr>
                      <m:t>exp</m:t>
                    </m:r>
                    <m:r>
                      <a:rPr lang="en-US" altLang="zh-CN" i="1" dirty="0">
                        <a:latin typeface="Cambria Math" panose="02040503050406030204" pitchFamily="18" charset="0"/>
                      </a:rPr>
                      <m:t>⁡(</m:t>
                    </m:r>
                    <m:r>
                      <a:rPr lang="en-US" altLang="zh-CN" i="1">
                        <a:latin typeface="Cambria Math" panose="02040503050406030204" pitchFamily="18" charset="0"/>
                      </a:rPr>
                      <m:t>𝝐</m:t>
                    </m:r>
                    <m:r>
                      <a:rPr lang="en-US" altLang="zh-CN" i="1" dirty="0">
                        <a:latin typeface="Cambria Math" panose="02040503050406030204" pitchFamily="18" charset="0"/>
                      </a:rPr>
                      <m:t>)]</m:t>
                    </m:r>
                  </m:oMath>
                </a14:m>
                <a:r>
                  <a:rPr lang="zh-CN" altLang="en-US" dirty="0"/>
                  <a:t>之间。</a:t>
                </a:r>
                <a:endParaRPr lang="en-US" altLang="zh-CN" dirty="0"/>
              </a:p>
              <a:p>
                <a:pPr lvl="1"/>
                <a:r>
                  <a:rPr lang="zh-CN" altLang="en-US" dirty="0"/>
                  <a:t>差分隐私的参数</a:t>
                </a:r>
                <a14:m>
                  <m:oMath xmlns:m="http://schemas.openxmlformats.org/officeDocument/2006/math">
                    <m:r>
                      <a:rPr lang="en-US" altLang="zh-CN" i="1">
                        <a:latin typeface="Cambria Math" panose="02040503050406030204" pitchFamily="18" charset="0"/>
                      </a:rPr>
                      <m:t>𝝐</m:t>
                    </m:r>
                  </m:oMath>
                </a14:m>
                <a:r>
                  <a:rPr lang="zh-CN" altLang="en-US" dirty="0"/>
                  <a:t>描述了上述两个概率分布的相似性。</a:t>
                </a:r>
                <a:r>
                  <a:rPr lang="en-US" altLang="zh-CN" dirty="0"/>
                  <a:t> </a:t>
                </a:r>
                <a14:m>
                  <m:oMath xmlns:m="http://schemas.openxmlformats.org/officeDocument/2006/math">
                    <m:r>
                      <a:rPr lang="en-US" altLang="zh-CN" i="1">
                        <a:latin typeface="Cambria Math" panose="02040503050406030204" pitchFamily="18" charset="0"/>
                      </a:rPr>
                      <m:t>𝝐</m:t>
                    </m:r>
                  </m:oMath>
                </a14:m>
                <a:r>
                  <a:rPr lang="zh-CN" altLang="en-US" dirty="0"/>
                  <a:t>越小，概率的相似性越高，就越难区分</a:t>
                </a:r>
                <a:r>
                  <a:rPr lang="en-US" altLang="zh-CN" dirty="0"/>
                  <a:t>D1</a:t>
                </a:r>
                <a:r>
                  <a:rPr lang="zh-CN" altLang="en-US" dirty="0"/>
                  <a:t>和</a:t>
                </a:r>
                <a:r>
                  <a:rPr lang="en-US" altLang="zh-CN" dirty="0"/>
                  <a:t>D2</a:t>
                </a:r>
                <a:r>
                  <a:rPr lang="zh-CN" altLang="en-US" dirty="0"/>
                  <a:t>，从而达到更高程度的隐私保护。在实际应用中，选取多大的参数 </a:t>
                </a:r>
                <a14:m>
                  <m:oMath xmlns:m="http://schemas.openxmlformats.org/officeDocument/2006/math">
                    <m:r>
                      <a:rPr lang="en-US" altLang="zh-CN" i="1">
                        <a:latin typeface="Cambria Math" panose="02040503050406030204" pitchFamily="18" charset="0"/>
                      </a:rPr>
                      <m:t>𝝐</m:t>
                    </m:r>
                  </m:oMath>
                </a14:m>
                <a:r>
                  <a:rPr lang="zh-CN" altLang="en-US" dirty="0"/>
                  <a:t>仍然是一个未解决的问题。</a:t>
                </a:r>
                <a:endParaRPr lang="en-US" altLang="zh-CN" dirty="0"/>
              </a:p>
              <a:p>
                <a:pPr lvl="1"/>
                <a:r>
                  <a:rPr lang="zh-CN" altLang="en-US" dirty="0"/>
                  <a:t>差分隐私的核心在于其随机算法的设计：设计者首先需要证明算法输出的带噪中间件满足定义，然后在满足上述要求的情况下尽量少地加入噪声。</a:t>
                </a:r>
              </a:p>
            </p:txBody>
          </p:sp>
        </mc:Choice>
        <mc:Fallback xmlns="">
          <p:sp>
            <p:nvSpPr>
              <p:cNvPr id="2" name="内容占位符 1">
                <a:extLst>
                  <a:ext uri="{FF2B5EF4-FFF2-40B4-BE49-F238E27FC236}">
                    <a16:creationId xmlns:a16="http://schemas.microsoft.com/office/drawing/2014/main" id="{5D50CEEB-EBC0-1DA6-62C2-D97D5775C8EF}"/>
                  </a:ext>
                </a:extLst>
              </p:cNvPr>
              <p:cNvSpPr>
                <a:spLocks noGrp="1" noRot="1" noChangeAspect="1" noMove="1" noResize="1" noEditPoints="1" noAdjustHandles="1" noChangeArrowheads="1" noChangeShapeType="1" noTextEdit="1"/>
              </p:cNvSpPr>
              <p:nvPr>
                <p:ph idx="1"/>
              </p:nvPr>
            </p:nvSpPr>
            <p:spPr>
              <a:blipFill>
                <a:blip r:embed="rId2"/>
                <a:stretch>
                  <a:fillRect l="-957" t="-725" r="-797"/>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34F60634-E9E9-6EF0-994B-29650F56C94D}"/>
              </a:ext>
            </a:extLst>
          </p:cNvPr>
          <p:cNvSpPr>
            <a:spLocks noGrp="1"/>
          </p:cNvSpPr>
          <p:nvPr>
            <p:ph type="sldNum" sz="quarter" idx="4"/>
          </p:nvPr>
        </p:nvSpPr>
        <p:spPr/>
        <p:txBody>
          <a:bodyPr/>
          <a:lstStyle/>
          <a:p>
            <a:fld id="{4124EDF5-87F7-4AC5-8292-B04417157FC2}" type="slidenum">
              <a:rPr lang="zh-CN" altLang="en-US" smtClean="0"/>
              <a:t>27</a:t>
            </a:fld>
            <a:endParaRPr lang="zh-CN" altLang="en-US"/>
          </a:p>
        </p:txBody>
      </p:sp>
      <p:sp>
        <p:nvSpPr>
          <p:cNvPr id="4" name="标题 3">
            <a:extLst>
              <a:ext uri="{FF2B5EF4-FFF2-40B4-BE49-F238E27FC236}">
                <a16:creationId xmlns:a16="http://schemas.microsoft.com/office/drawing/2014/main" id="{9B9B7CB2-54C4-9EB7-35FF-B7FD49168127}"/>
              </a:ext>
            </a:extLst>
          </p:cNvPr>
          <p:cNvSpPr>
            <a:spLocks noGrp="1"/>
          </p:cNvSpPr>
          <p:nvPr>
            <p:ph type="title"/>
          </p:nvPr>
        </p:nvSpPr>
        <p:spPr/>
        <p:txBody>
          <a:bodyPr/>
          <a:lstStyle/>
          <a:p>
            <a:r>
              <a:rPr lang="zh-CN" altLang="en-US" dirty="0"/>
              <a:t>差分隐私的原理</a:t>
            </a:r>
          </a:p>
        </p:txBody>
      </p:sp>
    </p:spTree>
    <p:extLst>
      <p:ext uri="{BB962C8B-B14F-4D97-AF65-F5344CB8AC3E}">
        <p14:creationId xmlns:p14="http://schemas.microsoft.com/office/powerpoint/2010/main" val="38213406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189C277-149C-72DE-ABD5-4C7DB303FBB7}"/>
              </a:ext>
            </a:extLst>
          </p:cNvPr>
          <p:cNvSpPr>
            <a:spLocks noGrp="1"/>
          </p:cNvSpPr>
          <p:nvPr>
            <p:ph idx="1"/>
          </p:nvPr>
        </p:nvSpPr>
        <p:spPr>
          <a:xfrm>
            <a:off x="159370" y="1232705"/>
            <a:ext cx="5936630" cy="5509407"/>
          </a:xfrm>
        </p:spPr>
        <p:txBody>
          <a:bodyPr/>
          <a:lstStyle/>
          <a:p>
            <a:r>
              <a:rPr lang="zh-CN" altLang="en-US" dirty="0"/>
              <a:t>使查询满足差分隐私的方法就是：在回复结果中增加随机噪声。这里的关键挑战是：既需要增加足够大的噪声，使查询满足差分隐私，噪声又不能加得太多，否则查询结果就没有意义了。拉普拉斯机制 （</a:t>
            </a:r>
            <a:r>
              <a:rPr lang="en-US" altLang="zh-CN" dirty="0"/>
              <a:t>Laplace Mechanism</a:t>
            </a:r>
            <a:r>
              <a:rPr lang="zh-CN" altLang="en-US" dirty="0"/>
              <a:t>）可以简化这一过程。</a:t>
            </a:r>
            <a:endParaRPr lang="en-US" altLang="zh-CN" dirty="0"/>
          </a:p>
          <a:p>
            <a:pPr lvl="1"/>
            <a:r>
              <a:rPr lang="zh-CN" altLang="en-US" dirty="0"/>
              <a:t>对于一个数据查询 </a:t>
            </a:r>
            <a:r>
              <a:rPr lang="en-US" altLang="zh-CN" dirty="0"/>
              <a:t>f</a:t>
            </a:r>
            <a:r>
              <a:rPr lang="zh-CN" altLang="en-US" dirty="0"/>
              <a:t>，拉普拉斯机制首先生成真实结果 </a:t>
            </a:r>
            <a:r>
              <a:rPr lang="en-US" altLang="zh-CN" dirty="0"/>
              <a:t>f (D)</a:t>
            </a:r>
            <a:r>
              <a:rPr lang="zh-CN" altLang="en-US" dirty="0"/>
              <a:t>作为中间件，然后通过发布带噪结果 </a:t>
            </a:r>
            <a:r>
              <a:rPr lang="en-US" altLang="zh-CN" dirty="0"/>
              <a:t>f (D)+Y </a:t>
            </a:r>
            <a:r>
              <a:rPr lang="zh-CN" altLang="en-US" dirty="0"/>
              <a:t>来回答查询，其中噪声 </a:t>
            </a:r>
            <a:r>
              <a:rPr lang="en-US" altLang="zh-CN" dirty="0"/>
              <a:t>Y </a:t>
            </a:r>
            <a:r>
              <a:rPr lang="zh-CN" altLang="en-US" dirty="0"/>
              <a:t>服从拉普拉斯分布。</a:t>
            </a:r>
            <a:endParaRPr lang="en-US" altLang="zh-CN" dirty="0"/>
          </a:p>
          <a:p>
            <a:pPr lvl="1"/>
            <a:r>
              <a:rPr lang="zh-CN" altLang="en-US" dirty="0"/>
              <a:t>通常会用</a:t>
            </a:r>
            <a:r>
              <a:rPr lang="en-US" altLang="zh-CN" dirty="0"/>
              <a:t>Lap(b)</a:t>
            </a:r>
            <a:r>
              <a:rPr lang="zh-CN" altLang="en-US" dirty="0"/>
              <a:t>表示尺度为</a:t>
            </a:r>
            <a:r>
              <a:rPr lang="en-US" altLang="zh-CN" dirty="0"/>
              <a:t>b</a:t>
            </a:r>
            <a:r>
              <a:rPr lang="zh-CN" altLang="en-US" dirty="0"/>
              <a:t>的拉普拉斯分布。</a:t>
            </a:r>
          </a:p>
        </p:txBody>
      </p:sp>
      <p:sp>
        <p:nvSpPr>
          <p:cNvPr id="3" name="灯片编号占位符 2">
            <a:extLst>
              <a:ext uri="{FF2B5EF4-FFF2-40B4-BE49-F238E27FC236}">
                <a16:creationId xmlns:a16="http://schemas.microsoft.com/office/drawing/2014/main" id="{45D42BEE-E663-79FD-F42A-643CC7AA83F9}"/>
              </a:ext>
            </a:extLst>
          </p:cNvPr>
          <p:cNvSpPr>
            <a:spLocks noGrp="1"/>
          </p:cNvSpPr>
          <p:nvPr>
            <p:ph type="sldNum" sz="quarter" idx="4"/>
          </p:nvPr>
        </p:nvSpPr>
        <p:spPr/>
        <p:txBody>
          <a:bodyPr/>
          <a:lstStyle/>
          <a:p>
            <a:fld id="{4124EDF5-87F7-4AC5-8292-B04417157FC2}" type="slidenum">
              <a:rPr lang="zh-CN" altLang="en-US" smtClean="0"/>
              <a:t>28</a:t>
            </a:fld>
            <a:endParaRPr lang="zh-CN" altLang="en-US"/>
          </a:p>
        </p:txBody>
      </p:sp>
      <p:sp>
        <p:nvSpPr>
          <p:cNvPr id="4" name="标题 3">
            <a:extLst>
              <a:ext uri="{FF2B5EF4-FFF2-40B4-BE49-F238E27FC236}">
                <a16:creationId xmlns:a16="http://schemas.microsoft.com/office/drawing/2014/main" id="{663A2CCD-60DC-0365-081B-45E119C0D832}"/>
              </a:ext>
            </a:extLst>
          </p:cNvPr>
          <p:cNvSpPr>
            <a:spLocks noGrp="1"/>
          </p:cNvSpPr>
          <p:nvPr>
            <p:ph type="title"/>
          </p:nvPr>
        </p:nvSpPr>
        <p:spPr/>
        <p:txBody>
          <a:bodyPr/>
          <a:lstStyle/>
          <a:p>
            <a:r>
              <a:rPr lang="zh-CN" altLang="en-US" dirty="0"/>
              <a:t>拉普拉斯机制</a:t>
            </a:r>
          </a:p>
        </p:txBody>
      </p:sp>
      <p:pic>
        <p:nvPicPr>
          <p:cNvPr id="5" name="图片 4">
            <a:extLst>
              <a:ext uri="{FF2B5EF4-FFF2-40B4-BE49-F238E27FC236}">
                <a16:creationId xmlns:a16="http://schemas.microsoft.com/office/drawing/2014/main" id="{3867CD7F-77D5-182C-FFD4-A1DE4F51D6EE}"/>
              </a:ext>
            </a:extLst>
          </p:cNvPr>
          <p:cNvPicPr>
            <a:picLocks noChangeAspect="1"/>
          </p:cNvPicPr>
          <p:nvPr/>
        </p:nvPicPr>
        <p:blipFill>
          <a:blip r:embed="rId2"/>
          <a:stretch>
            <a:fillRect/>
          </a:stretch>
        </p:blipFill>
        <p:spPr>
          <a:xfrm>
            <a:off x="6360549" y="115888"/>
            <a:ext cx="5705246" cy="6168280"/>
          </a:xfrm>
          <a:prstGeom prst="rect">
            <a:avLst/>
          </a:prstGeom>
        </p:spPr>
      </p:pic>
    </p:spTree>
    <p:extLst>
      <p:ext uri="{BB962C8B-B14F-4D97-AF65-F5344CB8AC3E}">
        <p14:creationId xmlns:p14="http://schemas.microsoft.com/office/powerpoint/2010/main" val="13973307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E5434E6A-9AD4-9EAA-2D21-7B345D7EB8CB}"/>
                  </a:ext>
                </a:extLst>
              </p:cNvPr>
              <p:cNvSpPr>
                <a:spLocks noGrp="1"/>
              </p:cNvSpPr>
              <p:nvPr>
                <p:ph idx="1"/>
              </p:nvPr>
            </p:nvSpPr>
            <p:spPr/>
            <p:txBody>
              <a:bodyPr/>
              <a:lstStyle/>
              <a:p>
                <a:r>
                  <a:rPr lang="zh-CN" altLang="en-US" dirty="0"/>
                  <a:t>根据拉普拉斯机制，对于可以输出一个数值型结果的函数 </a:t>
                </a:r>
                <a:r>
                  <a:rPr lang="en-US" altLang="zh-CN" dirty="0"/>
                  <a:t>f (D)</a:t>
                </a:r>
                <a:r>
                  <a:rPr lang="zh-CN" altLang="en-US" dirty="0"/>
                  <a:t>，按下述方法定义的</a:t>
                </a:r>
                <a:r>
                  <a:rPr lang="en-US" altLang="zh-CN" dirty="0"/>
                  <a:t>M(D)</a:t>
                </a:r>
                <a:r>
                  <a:rPr lang="zh-CN" altLang="en-US" dirty="0"/>
                  <a:t>满足</a:t>
                </a:r>
                <a14:m>
                  <m:oMath xmlns:m="http://schemas.openxmlformats.org/officeDocument/2006/math">
                    <m:r>
                      <a:rPr lang="en-US" altLang="zh-CN" i="1">
                        <a:latin typeface="Cambria Math" panose="02040503050406030204" pitchFamily="18" charset="0"/>
                      </a:rPr>
                      <m:t>𝝐</m:t>
                    </m:r>
                  </m:oMath>
                </a14:m>
                <a:r>
                  <a:rPr lang="en-US" altLang="zh-CN" dirty="0"/>
                  <a:t>-</a:t>
                </a:r>
                <a:r>
                  <a:rPr lang="zh-CN" altLang="en-US" dirty="0"/>
                  <a:t>差分隐私：</a:t>
                </a:r>
                <a14:m>
                  <m:oMath xmlns:m="http://schemas.openxmlformats.org/officeDocument/2006/math">
                    <m:r>
                      <a:rPr lang="en-US" altLang="zh-CN" i="1" dirty="0" smtClean="0">
                        <a:latin typeface="Cambria Math" panose="02040503050406030204" pitchFamily="18" charset="0"/>
                      </a:rPr>
                      <m:t>𝑀</m:t>
                    </m:r>
                    <m:d>
                      <m:dPr>
                        <m:ctrlPr>
                          <a:rPr lang="en-US" altLang="zh-CN" b="1" i="1" dirty="0" smtClean="0">
                            <a:latin typeface="Cambria Math" panose="02040503050406030204" pitchFamily="18" charset="0"/>
                          </a:rPr>
                        </m:ctrlPr>
                      </m:dPr>
                      <m:e>
                        <m:r>
                          <a:rPr lang="en-US" altLang="zh-CN" i="1" dirty="0" smtClean="0">
                            <a:latin typeface="Cambria Math" panose="02040503050406030204" pitchFamily="18" charset="0"/>
                          </a:rPr>
                          <m:t>𝐷</m:t>
                        </m:r>
                      </m:e>
                    </m:d>
                    <m:r>
                      <a:rPr lang="en-US" altLang="zh-CN" b="1" i="1" dirty="0" smtClean="0">
                        <a:latin typeface="Cambria Math" panose="02040503050406030204" pitchFamily="18" charset="0"/>
                      </a:rPr>
                      <m:t>=</m:t>
                    </m:r>
                    <m:r>
                      <a:rPr lang="en-US" altLang="zh-CN" b="0" i="1" dirty="0" smtClean="0">
                        <a:latin typeface="Cambria Math" panose="02040503050406030204" pitchFamily="18" charset="0"/>
                      </a:rPr>
                      <m:t>𝑓</m:t>
                    </m:r>
                    <m:d>
                      <m:dPr>
                        <m:ctrlPr>
                          <a:rPr lang="en-US" altLang="zh-CN" b="0" i="1" dirty="0" smtClean="0">
                            <a:latin typeface="Cambria Math" panose="02040503050406030204" pitchFamily="18" charset="0"/>
                          </a:rPr>
                        </m:ctrlPr>
                      </m:dPr>
                      <m:e>
                        <m:r>
                          <a:rPr lang="en-US" altLang="zh-CN" b="0" i="1" dirty="0" smtClean="0">
                            <a:latin typeface="Cambria Math" panose="02040503050406030204" pitchFamily="18" charset="0"/>
                          </a:rPr>
                          <m:t>𝐷</m:t>
                        </m:r>
                      </m:e>
                    </m:d>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𝐿𝑎𝑝</m:t>
                    </m:r>
                    <m:r>
                      <a:rPr lang="en-US" altLang="zh-CN" b="0" i="1" dirty="0" smtClean="0">
                        <a:latin typeface="Cambria Math" panose="02040503050406030204" pitchFamily="18" charset="0"/>
                      </a:rPr>
                      <m:t>(</m:t>
                    </m:r>
                    <m:f>
                      <m:fPr>
                        <m:ctrlPr>
                          <a:rPr lang="en-US" altLang="zh-CN" b="0" i="1" dirty="0" smtClean="0">
                            <a:latin typeface="Cambria Math" panose="02040503050406030204" pitchFamily="18" charset="0"/>
                          </a:rPr>
                        </m:ctrlPr>
                      </m:fPr>
                      <m:num>
                        <m:r>
                          <m:rPr>
                            <m:sty m:val="p"/>
                          </m:rPr>
                          <a:rPr lang="en-US" altLang="zh-CN" b="0" i="1" dirty="0">
                            <a:latin typeface="Cambria Math" panose="02040503050406030204" pitchFamily="18" charset="0"/>
                          </a:rPr>
                          <m:t>Δ</m:t>
                        </m:r>
                        <m:r>
                          <m:rPr>
                            <m:sty m:val="p"/>
                          </m:rPr>
                          <a:rPr lang="en-US" altLang="zh-CN" b="0" i="1" dirty="0" smtClean="0">
                            <a:latin typeface="Cambria Math" panose="02040503050406030204" pitchFamily="18" charset="0"/>
                          </a:rPr>
                          <m:t>f</m:t>
                        </m:r>
                      </m:num>
                      <m:den>
                        <m:r>
                          <a:rPr lang="en-US" altLang="zh-CN" b="0" i="1" dirty="0" smtClean="0">
                            <a:latin typeface="Cambria Math" panose="02040503050406030204" pitchFamily="18" charset="0"/>
                          </a:rPr>
                          <m:t>𝜖</m:t>
                        </m:r>
                      </m:den>
                    </m:f>
                    <m:r>
                      <a:rPr lang="en-US" altLang="zh-CN" b="0" i="1" dirty="0" smtClean="0">
                        <a:latin typeface="Cambria Math" panose="02040503050406030204" pitchFamily="18" charset="0"/>
                      </a:rPr>
                      <m:t>)</m:t>
                    </m:r>
                  </m:oMath>
                </a14:m>
                <a:endParaRPr lang="en-US" altLang="zh-CN" b="0" i="1" dirty="0"/>
              </a:p>
              <a:p>
                <a:pPr lvl="1"/>
                <a14:m>
                  <m:oMath xmlns:m="http://schemas.openxmlformats.org/officeDocument/2006/math">
                    <m:r>
                      <a:rPr lang="en-US" altLang="zh-CN" i="1" dirty="0" smtClean="0">
                        <a:latin typeface="Cambria Math" panose="02040503050406030204" pitchFamily="18" charset="0"/>
                      </a:rPr>
                      <m:t>𝑀</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𝐷</m:t>
                    </m:r>
                    <m:r>
                      <a:rPr lang="en-US" altLang="zh-CN" i="1" dirty="0" smtClean="0">
                        <a:latin typeface="Cambria Math" panose="02040503050406030204" pitchFamily="18" charset="0"/>
                      </a:rPr>
                      <m:t>)</m:t>
                    </m:r>
                  </m:oMath>
                </a14:m>
                <a:r>
                  <a:rPr lang="zh-CN" altLang="en-US" dirty="0"/>
                  <a:t>表示对集合</a:t>
                </a:r>
                <a14:m>
                  <m:oMath xmlns:m="http://schemas.openxmlformats.org/officeDocument/2006/math">
                    <m:r>
                      <a:rPr lang="en-US" altLang="zh-CN" i="1" dirty="0" smtClean="0">
                        <a:latin typeface="Cambria Math" panose="02040503050406030204" pitchFamily="18" charset="0"/>
                      </a:rPr>
                      <m:t>𝐷</m:t>
                    </m:r>
                  </m:oMath>
                </a14:m>
                <a:r>
                  <a:rPr lang="zh-CN" altLang="en-US" dirty="0"/>
                  <a:t>实际进行查询所返回的结果，</a:t>
                </a:r>
                <a14:m>
                  <m:oMath xmlns:m="http://schemas.openxmlformats.org/officeDocument/2006/math">
                    <m:r>
                      <a:rPr lang="en-US" altLang="zh-CN" i="1" dirty="0" smtClean="0">
                        <a:latin typeface="Cambria Math" panose="02040503050406030204" pitchFamily="18" charset="0"/>
                      </a:rPr>
                      <m:t>𝑓</m:t>
                    </m:r>
                    <m:r>
                      <a:rPr lang="en-US" altLang="zh-CN" i="1" dirty="0" smtClean="0">
                        <a:latin typeface="Cambria Math" panose="02040503050406030204" pitchFamily="18" charset="0"/>
                      </a:rPr>
                      <m:t>(</m:t>
                    </m:r>
                    <m:r>
                      <a:rPr lang="en-US" altLang="zh-CN" i="1" dirty="0">
                        <a:latin typeface="Cambria Math" panose="02040503050406030204" pitchFamily="18" charset="0"/>
                      </a:rPr>
                      <m:t>𝐷</m:t>
                    </m:r>
                    <m:r>
                      <a:rPr lang="en-US" altLang="zh-CN" i="1" dirty="0">
                        <a:latin typeface="Cambria Math" panose="02040503050406030204" pitchFamily="18" charset="0"/>
                      </a:rPr>
                      <m:t>)</m:t>
                    </m:r>
                  </m:oMath>
                </a14:m>
                <a:r>
                  <a:rPr lang="zh-CN" altLang="en-US" dirty="0"/>
                  <a:t>表示对集合</a:t>
                </a:r>
                <a14:m>
                  <m:oMath xmlns:m="http://schemas.openxmlformats.org/officeDocument/2006/math">
                    <m:r>
                      <a:rPr lang="en-US" altLang="zh-CN" i="1" dirty="0" smtClean="0">
                        <a:latin typeface="Cambria Math" panose="02040503050406030204" pitchFamily="18" charset="0"/>
                      </a:rPr>
                      <m:t>𝐷</m:t>
                    </m:r>
                  </m:oMath>
                </a14:m>
                <a:r>
                  <a:rPr lang="zh-CN" altLang="en-US" dirty="0"/>
                  <a:t>执行查询函数</a:t>
                </a:r>
                <a:r>
                  <a:rPr lang="en-US" altLang="zh-CN" dirty="0"/>
                  <a:t>f </a:t>
                </a:r>
                <a:r>
                  <a:rPr lang="zh-CN" altLang="en-US" dirty="0"/>
                  <a:t>返回的结果，</a:t>
                </a:r>
                <a14:m>
                  <m:oMath xmlns:m="http://schemas.openxmlformats.org/officeDocument/2006/math">
                    <m:r>
                      <m:rPr>
                        <m:sty m:val="p"/>
                      </m:rPr>
                      <a:rPr lang="en-US" altLang="zh-CN" b="0" i="1" dirty="0">
                        <a:latin typeface="Cambria Math" panose="02040503050406030204" pitchFamily="18" charset="0"/>
                      </a:rPr>
                      <m:t>Δf</m:t>
                    </m:r>
                  </m:oMath>
                </a14:m>
                <a:r>
                  <a:rPr lang="zh-CN" altLang="en-US" dirty="0"/>
                  <a:t>是查询</a:t>
                </a:r>
                <a:r>
                  <a:rPr lang="en-US" altLang="zh-CN" dirty="0"/>
                  <a:t>f</a:t>
                </a:r>
                <a:r>
                  <a:rPr lang="zh-CN" altLang="en-US" dirty="0"/>
                  <a:t>的敏感度（</a:t>
                </a:r>
                <a:r>
                  <a:rPr lang="en-US" altLang="zh-CN" dirty="0"/>
                  <a:t>Sensitivity</a:t>
                </a:r>
                <a:r>
                  <a:rPr lang="zh-CN" altLang="en-US" dirty="0"/>
                  <a:t>），</a:t>
                </a:r>
                <a14:m>
                  <m:oMath xmlns:m="http://schemas.openxmlformats.org/officeDocument/2006/math">
                    <m:r>
                      <a:rPr lang="en-US" altLang="zh-CN" b="1" i="1" dirty="0" smtClean="0">
                        <a:latin typeface="Cambria Math" panose="02040503050406030204" pitchFamily="18" charset="0"/>
                      </a:rPr>
                      <m:t>𝝐</m:t>
                    </m:r>
                  </m:oMath>
                </a14:m>
                <a:r>
                  <a:rPr lang="zh-CN" altLang="en-US" dirty="0"/>
                  <a:t>是隐私预算参数，</a:t>
                </a:r>
                <a14:m>
                  <m:oMath xmlns:m="http://schemas.openxmlformats.org/officeDocument/2006/math">
                    <m:r>
                      <a:rPr lang="en-US" altLang="zh-CN" i="1" dirty="0" smtClean="0">
                        <a:latin typeface="Cambria Math" panose="02040503050406030204" pitchFamily="18" charset="0"/>
                      </a:rPr>
                      <m:t>𝐿𝑎𝑝</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𝑆</m:t>
                    </m:r>
                    <m:r>
                      <a:rPr lang="en-US" altLang="zh-CN" i="1" dirty="0" smtClean="0">
                        <a:latin typeface="Cambria Math" panose="02040503050406030204" pitchFamily="18" charset="0"/>
                      </a:rPr>
                      <m:t>)</m:t>
                    </m:r>
                  </m:oMath>
                </a14:m>
                <a:r>
                  <a:rPr lang="zh-CN" altLang="en-US" dirty="0"/>
                  <a:t>表示以均值为</a:t>
                </a:r>
                <a:r>
                  <a:rPr lang="en-US" altLang="zh-CN" dirty="0"/>
                  <a:t>0</a:t>
                </a:r>
                <a:r>
                  <a:rPr lang="zh-CN" altLang="en-US" dirty="0"/>
                  <a:t>、放缩系数为</a:t>
                </a:r>
                <a:r>
                  <a:rPr lang="en-US" altLang="zh-CN" dirty="0"/>
                  <a:t>S</a:t>
                </a:r>
                <a:r>
                  <a:rPr lang="zh-CN" altLang="en-US" dirty="0"/>
                  <a:t>的拉普拉斯分布采样。</a:t>
                </a:r>
                <a:endParaRPr lang="en-US" altLang="zh-CN" dirty="0"/>
              </a:p>
              <a:p>
                <a:pPr lvl="1"/>
                <a:r>
                  <a:rPr lang="zh-CN" altLang="en-US" dirty="0"/>
                  <a:t>敏感度表示为对于任意一对相邻数据库（定义为差别最多有一个记录的两个数据库）</a:t>
                </a:r>
                <a:r>
                  <a:rPr lang="en-US" altLang="zh-CN" dirty="0"/>
                  <a:t>x </a:t>
                </a:r>
                <a:r>
                  <a:rPr lang="zh-CN" altLang="en-US" dirty="0"/>
                  <a:t>和</a:t>
                </a:r>
                <a:r>
                  <a:rPr lang="en-US" altLang="zh-CN" dirty="0"/>
                  <a:t>y</a:t>
                </a:r>
                <a:r>
                  <a:rPr lang="zh-CN" altLang="en-US" dirty="0"/>
                  <a:t>，在未加入噪声时，对于查询函数</a:t>
                </a:r>
                <a:r>
                  <a:rPr lang="en-US" altLang="zh-CN" dirty="0"/>
                  <a:t>f</a:t>
                </a:r>
                <a:r>
                  <a:rPr lang="zh-CN" altLang="en-US" dirty="0"/>
                  <a:t>，输出结果的最大变化范围，即</a:t>
                </a:r>
                <a14:m>
                  <m:oMath xmlns:m="http://schemas.openxmlformats.org/officeDocument/2006/math">
                    <m:r>
                      <a:rPr lang="en-US" altLang="zh-CN" b="1" i="1" smtClean="0">
                        <a:latin typeface="Cambria Math" panose="02040503050406030204" pitchFamily="18" charset="0"/>
                        <a:ea typeface="Cambria Math" panose="02040503050406030204" pitchFamily="18" charset="0"/>
                      </a:rPr>
                      <m:t>∆</m:t>
                    </m:r>
                    <m:r>
                      <m:rPr>
                        <m:sty m:val="p"/>
                      </m:rPr>
                      <a:rPr lang="en-US" altLang="zh-CN" i="1">
                        <a:latin typeface="Cambria Math" panose="02040503050406030204" pitchFamily="18" charset="0"/>
                        <a:ea typeface="Cambria Math" panose="02040503050406030204" pitchFamily="18" charset="0"/>
                      </a:rPr>
                      <m:t>f</m:t>
                    </m:r>
                    <m:r>
                      <a:rPr lang="en-US" altLang="zh-CN" b="1" i="1"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max</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𝑓</m:t>
                    </m:r>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𝑥</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𝑓</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oMath>
                </a14:m>
                <a:r>
                  <a:rPr lang="zh-CN" altLang="en-US" b="0" dirty="0"/>
                  <a:t>。</a:t>
                </a:r>
              </a:p>
            </p:txBody>
          </p:sp>
        </mc:Choice>
        <mc:Fallback xmlns="">
          <p:sp>
            <p:nvSpPr>
              <p:cNvPr id="2" name="内容占位符 1">
                <a:extLst>
                  <a:ext uri="{FF2B5EF4-FFF2-40B4-BE49-F238E27FC236}">
                    <a16:creationId xmlns:a16="http://schemas.microsoft.com/office/drawing/2014/main" id="{E5434E6A-9AD4-9EAA-2D21-7B345D7EB8CB}"/>
                  </a:ext>
                </a:extLst>
              </p:cNvPr>
              <p:cNvSpPr>
                <a:spLocks noGrp="1" noRot="1" noChangeAspect="1" noMove="1" noResize="1" noEditPoints="1" noAdjustHandles="1" noChangeArrowheads="1" noChangeShapeType="1" noTextEdit="1"/>
              </p:cNvSpPr>
              <p:nvPr>
                <p:ph idx="1"/>
              </p:nvPr>
            </p:nvSpPr>
            <p:spPr>
              <a:blipFill>
                <a:blip r:embed="rId3"/>
                <a:stretch>
                  <a:fillRect l="-957" t="-725" r="-2924"/>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A2ABEC31-0760-C892-4D9F-BCAD76372430}"/>
              </a:ext>
            </a:extLst>
          </p:cNvPr>
          <p:cNvSpPr>
            <a:spLocks noGrp="1"/>
          </p:cNvSpPr>
          <p:nvPr>
            <p:ph type="sldNum" sz="quarter" idx="4"/>
          </p:nvPr>
        </p:nvSpPr>
        <p:spPr/>
        <p:txBody>
          <a:bodyPr/>
          <a:lstStyle/>
          <a:p>
            <a:fld id="{4124EDF5-87F7-4AC5-8292-B04417157FC2}" type="slidenum">
              <a:rPr lang="zh-CN" altLang="en-US" smtClean="0"/>
              <a:t>29</a:t>
            </a:fld>
            <a:endParaRPr lang="zh-CN" altLang="en-US"/>
          </a:p>
        </p:txBody>
      </p:sp>
      <p:sp>
        <p:nvSpPr>
          <p:cNvPr id="4" name="标题 3">
            <a:extLst>
              <a:ext uri="{FF2B5EF4-FFF2-40B4-BE49-F238E27FC236}">
                <a16:creationId xmlns:a16="http://schemas.microsoft.com/office/drawing/2014/main" id="{15D168D9-6DB3-C6A1-2574-1666B211007E}"/>
              </a:ext>
            </a:extLst>
          </p:cNvPr>
          <p:cNvSpPr>
            <a:spLocks noGrp="1"/>
          </p:cNvSpPr>
          <p:nvPr>
            <p:ph type="title"/>
          </p:nvPr>
        </p:nvSpPr>
        <p:spPr/>
        <p:txBody>
          <a:bodyPr/>
          <a:lstStyle/>
          <a:p>
            <a:r>
              <a:rPr lang="zh-CN" altLang="en-US" dirty="0"/>
              <a:t>拉普拉斯机制定义</a:t>
            </a:r>
          </a:p>
        </p:txBody>
      </p:sp>
    </p:spTree>
    <p:extLst>
      <p:ext uri="{BB962C8B-B14F-4D97-AF65-F5344CB8AC3E}">
        <p14:creationId xmlns:p14="http://schemas.microsoft.com/office/powerpoint/2010/main" val="1601793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5D2B4EE-2260-35A8-380E-0B1DEBF9AC10}"/>
              </a:ext>
            </a:extLst>
          </p:cNvPr>
          <p:cNvSpPr>
            <a:spLocks noGrp="1"/>
          </p:cNvSpPr>
          <p:nvPr>
            <p:ph idx="1"/>
          </p:nvPr>
        </p:nvSpPr>
        <p:spPr>
          <a:xfrm>
            <a:off x="371301" y="1232705"/>
            <a:ext cx="5322268" cy="5047042"/>
          </a:xfrm>
        </p:spPr>
        <p:txBody>
          <a:bodyPr/>
          <a:lstStyle/>
          <a:p>
            <a:r>
              <a:rPr lang="zh-CN" altLang="en-US" dirty="0"/>
              <a:t>在美国人口普查数据上应用拉普拉斯机制，通过查询“销售员”职业的数量（真实值</a:t>
            </a:r>
            <a:r>
              <a:rPr lang="en-US" altLang="zh-CN" dirty="0"/>
              <a:t>3650</a:t>
            </a:r>
            <a:r>
              <a:rPr lang="zh-CN" altLang="en-US" dirty="0"/>
              <a:t>）展示隐私保护效果。该查询的敏感度为</a:t>
            </a:r>
            <a:r>
              <a:rPr lang="en-US" altLang="zh-CN" dirty="0"/>
              <a:t>1</a:t>
            </a:r>
            <a:r>
              <a:rPr lang="zh-CN" altLang="en-US" dirty="0"/>
              <a:t>。分别在隐私预算</a:t>
            </a:r>
            <a:r>
              <a:rPr lang="en-US" altLang="zh-CN" dirty="0"/>
              <a:t>ε=0.1</a:t>
            </a:r>
            <a:r>
              <a:rPr lang="zh-CN" altLang="en-US" dirty="0"/>
              <a:t>和</a:t>
            </a:r>
            <a:r>
              <a:rPr lang="en-US" altLang="zh-CN" dirty="0"/>
              <a:t>ε=1</a:t>
            </a:r>
            <a:r>
              <a:rPr lang="zh-CN" altLang="en-US" dirty="0"/>
              <a:t>时添加拉普拉斯噪声（</a:t>
            </a:r>
            <a:r>
              <a:rPr lang="en-US" altLang="zh-CN" dirty="0"/>
              <a:t>Lap(10)</a:t>
            </a:r>
            <a:r>
              <a:rPr lang="zh-CN" altLang="en-US" dirty="0"/>
              <a:t>和</a:t>
            </a:r>
            <a:r>
              <a:rPr lang="en-US" altLang="zh-CN" dirty="0"/>
              <a:t>Lap(1)</a:t>
            </a:r>
            <a:r>
              <a:rPr lang="zh-CN" altLang="en-US" dirty="0"/>
              <a:t>）。</a:t>
            </a:r>
            <a:endParaRPr lang="en-US" altLang="zh-CN" dirty="0"/>
          </a:p>
          <a:p>
            <a:pPr lvl="1"/>
            <a:r>
              <a:rPr lang="zh-CN" altLang="en-US" dirty="0"/>
              <a:t>实验表明：</a:t>
            </a:r>
            <a:r>
              <a:rPr lang="en-US" altLang="zh-CN" dirty="0"/>
              <a:t>ε</a:t>
            </a:r>
            <a:r>
              <a:rPr lang="zh-CN" altLang="en-US" dirty="0"/>
              <a:t>值越大，噪声越小，查询结果越集中接近真实值，数据可用性越高，但隐私保护强度越低。因此，隐私预算</a:t>
            </a:r>
            <a:r>
              <a:rPr lang="en-US" altLang="zh-CN" dirty="0"/>
              <a:t>ε</a:t>
            </a:r>
            <a:r>
              <a:rPr lang="zh-CN" altLang="en-US" dirty="0"/>
              <a:t>直接权衡了数据可用性与隐私保护程度。</a:t>
            </a:r>
          </a:p>
        </p:txBody>
      </p:sp>
      <p:sp>
        <p:nvSpPr>
          <p:cNvPr id="3" name="灯片编号占位符 2">
            <a:extLst>
              <a:ext uri="{FF2B5EF4-FFF2-40B4-BE49-F238E27FC236}">
                <a16:creationId xmlns:a16="http://schemas.microsoft.com/office/drawing/2014/main" id="{332E8383-3EA2-B65F-D543-893AC421C6C7}"/>
              </a:ext>
            </a:extLst>
          </p:cNvPr>
          <p:cNvSpPr>
            <a:spLocks noGrp="1"/>
          </p:cNvSpPr>
          <p:nvPr>
            <p:ph type="sldNum" sz="quarter" idx="4"/>
          </p:nvPr>
        </p:nvSpPr>
        <p:spPr/>
        <p:txBody>
          <a:bodyPr/>
          <a:lstStyle/>
          <a:p>
            <a:fld id="{4124EDF5-87F7-4AC5-8292-B04417157FC2}" type="slidenum">
              <a:rPr lang="zh-CN" altLang="en-US" smtClean="0"/>
              <a:t>30</a:t>
            </a:fld>
            <a:endParaRPr lang="zh-CN" altLang="en-US"/>
          </a:p>
        </p:txBody>
      </p:sp>
      <p:sp>
        <p:nvSpPr>
          <p:cNvPr id="4" name="标题 3">
            <a:extLst>
              <a:ext uri="{FF2B5EF4-FFF2-40B4-BE49-F238E27FC236}">
                <a16:creationId xmlns:a16="http://schemas.microsoft.com/office/drawing/2014/main" id="{5D6A4373-94F6-9EE1-F4CC-6E5BC825FBDC}"/>
              </a:ext>
            </a:extLst>
          </p:cNvPr>
          <p:cNvSpPr>
            <a:spLocks noGrp="1"/>
          </p:cNvSpPr>
          <p:nvPr>
            <p:ph type="title"/>
          </p:nvPr>
        </p:nvSpPr>
        <p:spPr/>
        <p:txBody>
          <a:bodyPr/>
          <a:lstStyle/>
          <a:p>
            <a:r>
              <a:rPr lang="zh-CN" altLang="en-US" dirty="0"/>
              <a:t>拉普拉斯机制用例</a:t>
            </a:r>
          </a:p>
        </p:txBody>
      </p:sp>
      <p:pic>
        <p:nvPicPr>
          <p:cNvPr id="5" name="图片 4">
            <a:extLst>
              <a:ext uri="{FF2B5EF4-FFF2-40B4-BE49-F238E27FC236}">
                <a16:creationId xmlns:a16="http://schemas.microsoft.com/office/drawing/2014/main" id="{EA8C9EB9-6842-808F-ED2E-231914C8BD1C}"/>
              </a:ext>
            </a:extLst>
          </p:cNvPr>
          <p:cNvPicPr>
            <a:picLocks noChangeAspect="1"/>
          </p:cNvPicPr>
          <p:nvPr/>
        </p:nvPicPr>
        <p:blipFill>
          <a:blip r:embed="rId2"/>
          <a:stretch>
            <a:fillRect/>
          </a:stretch>
        </p:blipFill>
        <p:spPr>
          <a:xfrm>
            <a:off x="5932166" y="1399883"/>
            <a:ext cx="6012183" cy="4877809"/>
          </a:xfrm>
          <a:prstGeom prst="rect">
            <a:avLst/>
          </a:prstGeom>
        </p:spPr>
      </p:pic>
    </p:spTree>
    <p:extLst>
      <p:ext uri="{BB962C8B-B14F-4D97-AF65-F5344CB8AC3E}">
        <p14:creationId xmlns:p14="http://schemas.microsoft.com/office/powerpoint/2010/main" val="1634303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1911F137-084B-5A75-1C5B-2697F10EE193}"/>
                  </a:ext>
                </a:extLst>
              </p:cNvPr>
              <p:cNvSpPr>
                <a:spLocks noGrp="1"/>
              </p:cNvSpPr>
              <p:nvPr>
                <p:ph idx="1"/>
              </p:nvPr>
            </p:nvSpPr>
            <p:spPr/>
            <p:txBody>
              <a:bodyPr/>
              <a:lstStyle/>
              <a:p>
                <a:r>
                  <a:rPr lang="zh-CN" altLang="en-US" dirty="0"/>
                  <a:t>高斯机制和拉普拉斯机制相似，高斯机制增加的是高斯噪声。高斯机制提供的是一种松弛差分隐私，即</a:t>
                </a:r>
                <a14:m>
                  <m:oMath xmlns:m="http://schemas.openxmlformats.org/officeDocument/2006/math">
                    <m:r>
                      <a:rPr lang="en-US" altLang="zh-CN" b="0" i="1">
                        <a:latin typeface="Cambria Math" panose="02040503050406030204" pitchFamily="18" charset="0"/>
                      </a:rPr>
                      <m:t>(</m:t>
                    </m:r>
                    <m:r>
                      <a:rPr lang="en-US" altLang="zh-CN" b="0" i="1">
                        <a:latin typeface="Cambria Math" panose="02040503050406030204" pitchFamily="18" charset="0"/>
                      </a:rPr>
                      <m:t>𝜖</m:t>
                    </m:r>
                    <m:r>
                      <a:rPr lang="en-US" altLang="zh-CN" b="0" i="1">
                        <a:latin typeface="Cambria Math" panose="02040503050406030204" pitchFamily="18" charset="0"/>
                      </a:rPr>
                      <m:t>,</m:t>
                    </m:r>
                    <m:r>
                      <a:rPr lang="en-US" altLang="zh-CN" b="0" i="1">
                        <a:latin typeface="Cambria Math" panose="02040503050406030204" pitchFamily="18" charset="0"/>
                      </a:rPr>
                      <m:t>𝛿</m:t>
                    </m:r>
                    <m:r>
                      <a:rPr lang="en-US" altLang="zh-CN" b="0" i="1">
                        <a:latin typeface="Cambria Math" panose="02040503050406030204" pitchFamily="18" charset="0"/>
                      </a:rPr>
                      <m:t>)</m:t>
                    </m:r>
                  </m:oMath>
                </a14:m>
                <a:r>
                  <a:rPr lang="en-US" altLang="zh-CN" b="0" dirty="0"/>
                  <a:t>-</a:t>
                </a:r>
                <a:r>
                  <a:rPr lang="zh-CN" altLang="en-US" dirty="0"/>
                  <a:t>差分隐私</a:t>
                </a:r>
                <a:endParaRPr lang="en-US" altLang="zh-CN" dirty="0"/>
              </a:p>
              <a:p>
                <a:r>
                  <a:rPr lang="zh-CN" altLang="en-US" dirty="0"/>
                  <a:t>高斯机制定义：</a:t>
                </a:r>
                <a:endParaRPr lang="en-US" altLang="zh-CN" dirty="0"/>
              </a:p>
              <a:p>
                <a:pPr lvl="1"/>
                <a:r>
                  <a:rPr lang="zh-CN" altLang="en-US" dirty="0"/>
                  <a:t>根据高斯机制，对于可以输出一个数值型结果的函数</a:t>
                </a:r>
                <a14:m>
                  <m:oMath xmlns:m="http://schemas.openxmlformats.org/officeDocument/2006/math">
                    <m:r>
                      <a:rPr lang="en-US" altLang="zh-CN" i="1" dirty="0" smtClean="0">
                        <a:latin typeface="Cambria Math" panose="02040503050406030204" pitchFamily="18" charset="0"/>
                      </a:rPr>
                      <m:t>𝑓</m:t>
                    </m:r>
                    <m:r>
                      <a:rPr lang="en-US" altLang="zh-CN" i="1" dirty="0" smtClean="0">
                        <a:latin typeface="Cambria Math" panose="02040503050406030204" pitchFamily="18" charset="0"/>
                      </a:rPr>
                      <m:t>(</m:t>
                    </m:r>
                    <m:r>
                      <a:rPr lang="en-US" altLang="zh-CN" i="1" dirty="0">
                        <a:latin typeface="Cambria Math" panose="02040503050406030204" pitchFamily="18" charset="0"/>
                      </a:rPr>
                      <m:t>𝐷</m:t>
                    </m:r>
                    <m:r>
                      <a:rPr lang="en-US" altLang="zh-CN" i="1" dirty="0">
                        <a:latin typeface="Cambria Math" panose="02040503050406030204" pitchFamily="18" charset="0"/>
                      </a:rPr>
                      <m:t>)</m:t>
                    </m:r>
                  </m:oMath>
                </a14:m>
                <a:r>
                  <a:rPr lang="zh-CN" altLang="en-US" dirty="0"/>
                  <a:t>，按下述方法定义的</a:t>
                </a:r>
                <a14:m>
                  <m:oMath xmlns:m="http://schemas.openxmlformats.org/officeDocument/2006/math">
                    <m:r>
                      <a:rPr lang="en-US" altLang="zh-CN" i="1" dirty="0" smtClean="0">
                        <a:latin typeface="Cambria Math" panose="02040503050406030204" pitchFamily="18" charset="0"/>
                      </a:rPr>
                      <m:t>𝑀</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𝐷</m:t>
                    </m:r>
                    <m:r>
                      <a:rPr lang="en-US" altLang="zh-CN" i="1" dirty="0" smtClean="0">
                        <a:latin typeface="Cambria Math" panose="02040503050406030204" pitchFamily="18" charset="0"/>
                      </a:rPr>
                      <m:t>)</m:t>
                    </m:r>
                  </m:oMath>
                </a14:m>
                <a:r>
                  <a:rPr lang="zh-CN" altLang="en-US" dirty="0"/>
                  <a:t>满足</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𝜖</m:t>
                    </m:r>
                    <m:r>
                      <a:rPr lang="en-US" altLang="zh-CN" b="0" i="1" smtClean="0">
                        <a:latin typeface="Cambria Math" panose="02040503050406030204" pitchFamily="18" charset="0"/>
                      </a:rPr>
                      <m:t>,</m:t>
                    </m:r>
                    <m:r>
                      <a:rPr lang="en-US" altLang="zh-CN" b="0" i="1" smtClean="0">
                        <a:latin typeface="Cambria Math" panose="02040503050406030204" pitchFamily="18" charset="0"/>
                      </a:rPr>
                      <m:t>𝛿</m:t>
                    </m:r>
                    <m:r>
                      <a:rPr lang="en-US" altLang="zh-CN" b="0" i="1" smtClean="0">
                        <a:latin typeface="Cambria Math" panose="02040503050406030204" pitchFamily="18" charset="0"/>
                      </a:rPr>
                      <m:t>)</m:t>
                    </m:r>
                  </m:oMath>
                </a14:m>
                <a:r>
                  <a:rPr lang="en-US" altLang="zh-CN" b="0" dirty="0"/>
                  <a:t>-</a:t>
                </a:r>
                <a:r>
                  <a:rPr lang="zh-CN" altLang="en-US" dirty="0"/>
                  <a:t>差分隐私</a:t>
                </a:r>
                <a:r>
                  <a:rPr lang="en-US" altLang="zh-CN" dirty="0"/>
                  <a:t>:</a:t>
                </a:r>
              </a:p>
              <a:p>
                <a:pPr marL="342900" lvl="1" indent="0">
                  <a:buNone/>
                </a:pPr>
                <a14:m>
                  <m:oMathPara xmlns:m="http://schemas.openxmlformats.org/officeDocument/2006/math">
                    <m:oMathParaPr>
                      <m:jc m:val="center"/>
                    </m:oMathParaPr>
                    <m:oMath xmlns:m="http://schemas.openxmlformats.org/officeDocument/2006/math">
                      <m:r>
                        <a:rPr lang="en-US" altLang="zh-CN" b="0" i="1" smtClean="0">
                          <a:latin typeface="Cambria Math" panose="02040503050406030204" pitchFamily="18" charset="0"/>
                        </a:rPr>
                        <m:t>𝑀</m:t>
                      </m:r>
                      <m:d>
                        <m:dPr>
                          <m:ctrlPr>
                            <a:rPr lang="en-US" altLang="zh-CN" b="0" i="1">
                              <a:latin typeface="Cambria Math" panose="02040503050406030204" pitchFamily="18" charset="0"/>
                            </a:rPr>
                          </m:ctrlPr>
                        </m:dPr>
                        <m:e>
                          <m:r>
                            <a:rPr lang="en-US" altLang="zh-CN" b="0" i="1">
                              <a:latin typeface="Cambria Math" panose="02040503050406030204" pitchFamily="18" charset="0"/>
                            </a:rPr>
                            <m:t>𝐷</m:t>
                          </m:r>
                        </m:e>
                      </m:d>
                      <m:r>
                        <a:rPr lang="en-US" altLang="zh-CN" b="0" i="1">
                          <a:latin typeface="Cambria Math" panose="02040503050406030204" pitchFamily="18" charset="0"/>
                        </a:rPr>
                        <m:t>= </m:t>
                      </m:r>
                      <m:r>
                        <a:rPr lang="en-US" altLang="zh-CN" b="0" i="1">
                          <a:latin typeface="Cambria Math" panose="02040503050406030204" pitchFamily="18" charset="0"/>
                        </a:rPr>
                        <m:t>𝑓</m:t>
                      </m:r>
                      <m:d>
                        <m:dPr>
                          <m:ctrlPr>
                            <a:rPr lang="en-US" altLang="zh-CN" b="0" i="1">
                              <a:latin typeface="Cambria Math" panose="02040503050406030204" pitchFamily="18" charset="0"/>
                            </a:rPr>
                          </m:ctrlPr>
                        </m:dPr>
                        <m:e>
                          <m:r>
                            <a:rPr lang="en-US" altLang="zh-CN" b="0" i="1">
                              <a:latin typeface="Cambria Math" panose="02040503050406030204" pitchFamily="18" charset="0"/>
                            </a:rPr>
                            <m:t>𝐷</m:t>
                          </m:r>
                        </m:e>
                      </m:d>
                      <m:r>
                        <a:rPr lang="en-US" altLang="zh-CN" b="0" i="1">
                          <a:latin typeface="Cambria Math" panose="02040503050406030204" pitchFamily="18" charset="0"/>
                        </a:rPr>
                        <m:t>+</m:t>
                      </m:r>
                      <m:r>
                        <a:rPr lang="en-US" altLang="zh-CN" b="0" i="1" smtClean="0">
                          <a:latin typeface="Cambria Math" panose="02040503050406030204" pitchFamily="18" charset="0"/>
                        </a:rPr>
                        <m:t>𝑁</m:t>
                      </m:r>
                      <m:d>
                        <m:dPr>
                          <m:begChr m:val=""/>
                          <m:ctrlPr>
                            <a:rPr lang="en-US" altLang="zh-CN" b="0" i="1">
                              <a:latin typeface="Cambria Math" panose="02040503050406030204" pitchFamily="18" charset="0"/>
                            </a:rPr>
                          </m:ctrlPr>
                        </m:dPr>
                        <m:e>
                          <m:d>
                            <m:dPr>
                              <m:endChr m:val=""/>
                              <m:ctrlPr>
                                <a:rPr lang="en-US" altLang="zh-CN" b="0" i="1">
                                  <a:latin typeface="Cambria Math" panose="02040503050406030204" pitchFamily="18" charset="0"/>
                                </a:rPr>
                              </m:ctrlPr>
                            </m:dPr>
                            <m:e>
                              <m:sSup>
                                <m:sSupPr>
                                  <m:ctrlPr>
                                    <a:rPr lang="en-US" altLang="zh-CN" b="0" i="1">
                                      <a:latin typeface="Cambria Math" panose="02040503050406030204" pitchFamily="18" charset="0"/>
                                    </a:rPr>
                                  </m:ctrlPr>
                                </m:sSupPr>
                                <m:e>
                                  <m:r>
                                    <a:rPr lang="en-US" altLang="zh-CN" b="0" i="1" smtClean="0">
                                      <a:latin typeface="Cambria Math" panose="02040503050406030204" pitchFamily="18" charset="0"/>
                                    </a:rPr>
                                    <m:t>𝛿</m:t>
                                  </m:r>
                                </m:e>
                                <m:sup>
                                  <m:r>
                                    <a:rPr lang="en-US" altLang="zh-CN" b="0" i="1">
                                      <a:latin typeface="Cambria Math" panose="02040503050406030204" pitchFamily="18" charset="0"/>
                                    </a:rPr>
                                    <m:t>2</m:t>
                                  </m:r>
                                </m:sup>
                              </m:sSup>
                            </m:e>
                          </m:d>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𝛿</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m:t>
                          </m:r>
                          <m:r>
                            <a:rPr lang="en-US" altLang="zh-CN" b="0" i="1" smtClean="0">
                              <a:latin typeface="Cambria Math" panose="02040503050406030204" pitchFamily="18" charset="0"/>
                            </a:rPr>
                            <m:t>𝑠</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𝑓</m:t>
                              </m:r>
                            </m:e>
                            <m:sup>
                              <m:r>
                                <a:rPr lang="en-US" altLang="zh-CN" b="0" i="1" smtClean="0">
                                  <a:latin typeface="Cambria Math" panose="02040503050406030204" pitchFamily="18" charset="0"/>
                                  <a:ea typeface="Cambria Math" panose="02040503050406030204" pitchFamily="18" charset="0"/>
                                </a:rPr>
                                <m:t>2</m:t>
                              </m:r>
                            </m:sup>
                          </m:sSup>
                          <m:r>
                            <m:rPr>
                              <m:sty m:val="p"/>
                            </m:rPr>
                            <a:rPr lang="en-US" altLang="zh-CN" b="0" i="0" smtClean="0">
                              <a:latin typeface="Cambria Math" panose="02040503050406030204" pitchFamily="18" charset="0"/>
                              <a:ea typeface="Cambria Math" panose="02040503050406030204" pitchFamily="18" charset="0"/>
                            </a:rPr>
                            <m:t>log</m:t>
                          </m:r>
                          <m:r>
                            <a:rPr lang="en-US" altLang="zh-CN" b="0" i="1" smtClean="0">
                              <a:latin typeface="Cambria Math" panose="02040503050406030204" pitchFamily="18" charset="0"/>
                              <a:ea typeface="Cambria Math" panose="02040503050406030204" pitchFamily="18" charset="0"/>
                            </a:rPr>
                            <m:t>⁡(1.25/</m:t>
                          </m:r>
                          <m:r>
                            <a:rPr lang="en-US" altLang="zh-CN" b="0" i="1" smtClean="0">
                              <a:latin typeface="Cambria Math" panose="02040503050406030204" pitchFamily="18" charset="0"/>
                              <a:ea typeface="Cambria Math" panose="02040503050406030204" pitchFamily="18" charset="0"/>
                            </a:rPr>
                            <m:t>𝛿</m:t>
                          </m:r>
                          <m:r>
                            <a:rPr lang="en-US" altLang="zh-CN" b="0" i="1" smtClean="0">
                              <a:latin typeface="Cambria Math" panose="02040503050406030204" pitchFamily="18" charset="0"/>
                              <a:ea typeface="Cambria Math" panose="02040503050406030204" pitchFamily="18" charset="0"/>
                            </a:rPr>
                            <m:t>)</m:t>
                          </m:r>
                        </m:num>
                        <m:den>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𝜖</m:t>
                              </m:r>
                            </m:e>
                            <m:sup>
                              <m:r>
                                <a:rPr lang="en-US" altLang="zh-CN" b="0" i="1" smtClean="0">
                                  <a:latin typeface="Cambria Math" panose="02040503050406030204" pitchFamily="18" charset="0"/>
                                </a:rPr>
                                <m:t>2</m:t>
                              </m:r>
                            </m:sup>
                          </m:sSup>
                        </m:den>
                      </m:f>
                    </m:oMath>
                  </m:oMathPara>
                </a14:m>
                <a:endParaRPr lang="en-US" altLang="zh-CN" dirty="0"/>
              </a:p>
              <a:p>
                <a:pPr lvl="1"/>
                <a14:m>
                  <m:oMath xmlns:m="http://schemas.openxmlformats.org/officeDocument/2006/math">
                    <m:r>
                      <a:rPr lang="en-US" altLang="zh-CN" i="1" dirty="0" smtClean="0">
                        <a:latin typeface="Cambria Math" panose="02040503050406030204" pitchFamily="18" charset="0"/>
                      </a:rPr>
                      <m:t>𝑀</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𝐷</m:t>
                    </m:r>
                    <m:r>
                      <a:rPr lang="en-US" altLang="zh-CN" i="1" dirty="0" smtClean="0">
                        <a:latin typeface="Cambria Math" panose="02040503050406030204" pitchFamily="18" charset="0"/>
                      </a:rPr>
                      <m:t>)</m:t>
                    </m:r>
                  </m:oMath>
                </a14:m>
                <a:r>
                  <a:rPr lang="zh-CN" altLang="en-US" dirty="0"/>
                  <a:t>表示对集合</a:t>
                </a:r>
                <a14:m>
                  <m:oMath xmlns:m="http://schemas.openxmlformats.org/officeDocument/2006/math">
                    <m:r>
                      <a:rPr lang="en-US" altLang="zh-CN" i="1" dirty="0" smtClean="0">
                        <a:latin typeface="Cambria Math" panose="02040503050406030204" pitchFamily="18" charset="0"/>
                      </a:rPr>
                      <m:t>𝐷</m:t>
                    </m:r>
                  </m:oMath>
                </a14:m>
                <a:r>
                  <a:rPr lang="zh-CN" altLang="en-US" dirty="0"/>
                  <a:t>实际进行查询所返回的结果，</a:t>
                </a:r>
                <a14:m>
                  <m:oMath xmlns:m="http://schemas.openxmlformats.org/officeDocument/2006/math">
                    <m:r>
                      <a:rPr lang="en-US" altLang="zh-CN" i="1" dirty="0" smtClean="0">
                        <a:latin typeface="Cambria Math" panose="02040503050406030204" pitchFamily="18" charset="0"/>
                      </a:rPr>
                      <m:t>𝑓</m:t>
                    </m:r>
                    <m:r>
                      <a:rPr lang="en-US" altLang="zh-CN" i="1" dirty="0" smtClean="0">
                        <a:latin typeface="Cambria Math" panose="02040503050406030204" pitchFamily="18" charset="0"/>
                      </a:rPr>
                      <m:t>(</m:t>
                    </m:r>
                    <m:r>
                      <a:rPr lang="en-US" altLang="zh-CN" i="1" dirty="0">
                        <a:latin typeface="Cambria Math" panose="02040503050406030204" pitchFamily="18" charset="0"/>
                      </a:rPr>
                      <m:t>𝐷</m:t>
                    </m:r>
                    <m:r>
                      <a:rPr lang="en-US" altLang="zh-CN" i="1" dirty="0">
                        <a:latin typeface="Cambria Math" panose="02040503050406030204" pitchFamily="18" charset="0"/>
                      </a:rPr>
                      <m:t>)</m:t>
                    </m:r>
                  </m:oMath>
                </a14:m>
                <a:r>
                  <a:rPr lang="zh-CN" altLang="en-US" dirty="0"/>
                  <a:t>表示对集合</a:t>
                </a:r>
                <a14:m>
                  <m:oMath xmlns:m="http://schemas.openxmlformats.org/officeDocument/2006/math">
                    <m:r>
                      <a:rPr lang="en-US" altLang="zh-CN" i="1" dirty="0" smtClean="0">
                        <a:latin typeface="Cambria Math" panose="02040503050406030204" pitchFamily="18" charset="0"/>
                      </a:rPr>
                      <m:t>𝐷</m:t>
                    </m:r>
                  </m:oMath>
                </a14:m>
                <a:r>
                  <a:rPr lang="zh-CN" altLang="en-US" dirty="0"/>
                  <a:t>执行查询函数</a:t>
                </a:r>
                <a14:m>
                  <m:oMath xmlns:m="http://schemas.openxmlformats.org/officeDocument/2006/math">
                    <m:r>
                      <a:rPr lang="en-US" altLang="zh-CN" i="1" dirty="0" smtClean="0">
                        <a:latin typeface="Cambria Math" panose="02040503050406030204" pitchFamily="18" charset="0"/>
                      </a:rPr>
                      <m:t>𝑓</m:t>
                    </m:r>
                  </m:oMath>
                </a14:m>
                <a:r>
                  <a:rPr lang="zh-CN" altLang="en-US" dirty="0"/>
                  <a:t>返回的结果，</a:t>
                </a:r>
                <a:r>
                  <a:rPr lang="en-US" altLang="zh-CN" b="0" dirty="0"/>
                  <a:t> </a:t>
                </a:r>
                <a14:m>
                  <m:oMath xmlns:m="http://schemas.openxmlformats.org/officeDocument/2006/math">
                    <m:r>
                      <a:rPr lang="en-US" altLang="zh-CN" b="0" i="1">
                        <a:latin typeface="Cambria Math" panose="02040503050406030204" pitchFamily="18" charset="0"/>
                      </a:rPr>
                      <m:t>𝑁</m:t>
                    </m:r>
                    <m:d>
                      <m:dPr>
                        <m:begChr m:val=""/>
                        <m:ctrlPr>
                          <a:rPr lang="en-US" altLang="zh-CN" b="0" i="1">
                            <a:latin typeface="Cambria Math" panose="02040503050406030204" pitchFamily="18" charset="0"/>
                          </a:rPr>
                        </m:ctrlPr>
                      </m:dPr>
                      <m:e>
                        <m:d>
                          <m:dPr>
                            <m:endChr m:val=""/>
                            <m:ctrlPr>
                              <a:rPr lang="en-US" altLang="zh-CN" b="0" i="1">
                                <a:latin typeface="Cambria Math" panose="02040503050406030204" pitchFamily="18" charset="0"/>
                              </a:rPr>
                            </m:ctrlPr>
                          </m:dPr>
                          <m:e>
                            <m:sSup>
                              <m:sSupPr>
                                <m:ctrlPr>
                                  <a:rPr lang="en-US" altLang="zh-CN" b="0" i="1">
                                    <a:latin typeface="Cambria Math" panose="02040503050406030204" pitchFamily="18" charset="0"/>
                                  </a:rPr>
                                </m:ctrlPr>
                              </m:sSupPr>
                              <m:e>
                                <m:r>
                                  <a:rPr lang="en-US" altLang="zh-CN" b="0" i="1">
                                    <a:latin typeface="Cambria Math" panose="02040503050406030204" pitchFamily="18" charset="0"/>
                                  </a:rPr>
                                  <m:t>𝛿</m:t>
                                </m:r>
                              </m:e>
                              <m:sup>
                                <m:r>
                                  <a:rPr lang="en-US" altLang="zh-CN" b="0" i="1">
                                    <a:latin typeface="Cambria Math" panose="02040503050406030204" pitchFamily="18" charset="0"/>
                                  </a:rPr>
                                  <m:t>2</m:t>
                                </m:r>
                              </m:sup>
                            </m:sSup>
                          </m:e>
                        </m:d>
                      </m:e>
                    </m:d>
                  </m:oMath>
                </a14:m>
                <a:r>
                  <a:rPr lang="zh-CN" altLang="en-US" dirty="0"/>
                  <a:t>表示以均值为</a:t>
                </a:r>
                <a:r>
                  <a:rPr lang="en-US" altLang="zh-CN" dirty="0"/>
                  <a:t>0</a:t>
                </a:r>
                <a:r>
                  <a:rPr lang="zh-CN" altLang="en-US" dirty="0"/>
                  <a:t>、方差为</a:t>
                </a:r>
                <a14:m>
                  <m:oMath xmlns:m="http://schemas.openxmlformats.org/officeDocument/2006/math">
                    <m:sSup>
                      <m:sSupPr>
                        <m:ctrlPr>
                          <a:rPr lang="en-US" altLang="zh-CN" b="0" i="1">
                            <a:latin typeface="Cambria Math" panose="02040503050406030204" pitchFamily="18" charset="0"/>
                          </a:rPr>
                        </m:ctrlPr>
                      </m:sSupPr>
                      <m:e>
                        <m:r>
                          <a:rPr lang="en-US" altLang="zh-CN" b="0" i="1">
                            <a:latin typeface="Cambria Math" panose="02040503050406030204" pitchFamily="18" charset="0"/>
                          </a:rPr>
                          <m:t>𝛿</m:t>
                        </m:r>
                      </m:e>
                      <m:sup>
                        <m:r>
                          <a:rPr lang="en-US" altLang="zh-CN" b="0" i="1">
                            <a:latin typeface="Cambria Math" panose="02040503050406030204" pitchFamily="18" charset="0"/>
                          </a:rPr>
                          <m:t>2</m:t>
                        </m:r>
                      </m:sup>
                    </m:sSup>
                  </m:oMath>
                </a14:m>
                <a:r>
                  <a:rPr lang="zh-CN" altLang="en-US" dirty="0"/>
                  <a:t>的高斯（正态）分布采样的结果，</a:t>
                </a:r>
                <a:r>
                  <a:rPr lang="en-US" altLang="zh-CN" dirty="0"/>
                  <a:t> </a:t>
                </a:r>
                <a14:m>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r>
                      <a:rPr lang="en-US" altLang="zh-CN" i="1" dirty="0">
                        <a:latin typeface="Cambria Math" panose="02040503050406030204" pitchFamily="18" charset="0"/>
                      </a:rPr>
                      <m:t>𝑓</m:t>
                    </m:r>
                  </m:oMath>
                </a14:m>
                <a:r>
                  <a:rPr lang="zh-CN" altLang="en-US" dirty="0"/>
                  <a:t>是查询</a:t>
                </a:r>
                <a14:m>
                  <m:oMath xmlns:m="http://schemas.openxmlformats.org/officeDocument/2006/math">
                    <m:r>
                      <a:rPr lang="en-US" altLang="zh-CN" i="1" dirty="0" smtClean="0">
                        <a:latin typeface="Cambria Math" panose="02040503050406030204" pitchFamily="18" charset="0"/>
                      </a:rPr>
                      <m:t>𝑓</m:t>
                    </m:r>
                  </m:oMath>
                </a14:m>
                <a:r>
                  <a:rPr lang="zh-CN" altLang="en-US" dirty="0"/>
                  <a:t>的敏感度，</a:t>
                </a:r>
                <a14:m>
                  <m:oMath xmlns:m="http://schemas.openxmlformats.org/officeDocument/2006/math">
                    <m:r>
                      <a:rPr lang="en-US" altLang="zh-CN" b="0" i="1" smtClean="0">
                        <a:latin typeface="Cambria Math" panose="02040503050406030204" pitchFamily="18" charset="0"/>
                      </a:rPr>
                      <m:t>𝜖</m:t>
                    </m:r>
                  </m:oMath>
                </a14:m>
                <a:r>
                  <a:rPr lang="zh-CN" altLang="en-US" dirty="0"/>
                  <a:t>和</a:t>
                </a:r>
                <a14:m>
                  <m:oMath xmlns:m="http://schemas.openxmlformats.org/officeDocument/2006/math">
                    <m:r>
                      <a:rPr lang="en-US" altLang="zh-CN" b="0" i="1">
                        <a:latin typeface="Cambria Math" panose="02040503050406030204" pitchFamily="18" charset="0"/>
                      </a:rPr>
                      <m:t>𝛿</m:t>
                    </m:r>
                  </m:oMath>
                </a14:m>
                <a:r>
                  <a:rPr lang="zh-CN" altLang="en-US" dirty="0"/>
                  <a:t>是隐私预算参数。</a:t>
                </a:r>
              </a:p>
            </p:txBody>
          </p:sp>
        </mc:Choice>
        <mc:Fallback xmlns="">
          <p:sp>
            <p:nvSpPr>
              <p:cNvPr id="2" name="内容占位符 1">
                <a:extLst>
                  <a:ext uri="{FF2B5EF4-FFF2-40B4-BE49-F238E27FC236}">
                    <a16:creationId xmlns:a16="http://schemas.microsoft.com/office/drawing/2014/main" id="{1911F137-084B-5A75-1C5B-2697F10EE193}"/>
                  </a:ext>
                </a:extLst>
              </p:cNvPr>
              <p:cNvSpPr>
                <a:spLocks noGrp="1" noRot="1" noChangeAspect="1" noMove="1" noResize="1" noEditPoints="1" noAdjustHandles="1" noChangeArrowheads="1" noChangeShapeType="1" noTextEdit="1"/>
              </p:cNvSpPr>
              <p:nvPr>
                <p:ph idx="1"/>
              </p:nvPr>
            </p:nvSpPr>
            <p:spPr>
              <a:blipFill>
                <a:blip r:embed="rId2"/>
                <a:stretch>
                  <a:fillRect l="-957" t="-725" r="-797" b="-6280"/>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A3239029-47B1-5C69-CA1F-775A7846AB3E}"/>
              </a:ext>
            </a:extLst>
          </p:cNvPr>
          <p:cNvSpPr>
            <a:spLocks noGrp="1"/>
          </p:cNvSpPr>
          <p:nvPr>
            <p:ph type="sldNum" sz="quarter" idx="4"/>
          </p:nvPr>
        </p:nvSpPr>
        <p:spPr/>
        <p:txBody>
          <a:bodyPr/>
          <a:lstStyle/>
          <a:p>
            <a:fld id="{4124EDF5-87F7-4AC5-8292-B04417157FC2}" type="slidenum">
              <a:rPr lang="zh-CN" altLang="en-US" smtClean="0"/>
              <a:t>31</a:t>
            </a:fld>
            <a:endParaRPr lang="zh-CN" altLang="en-US"/>
          </a:p>
        </p:txBody>
      </p:sp>
      <p:sp>
        <p:nvSpPr>
          <p:cNvPr id="4" name="标题 3">
            <a:extLst>
              <a:ext uri="{FF2B5EF4-FFF2-40B4-BE49-F238E27FC236}">
                <a16:creationId xmlns:a16="http://schemas.microsoft.com/office/drawing/2014/main" id="{1EA70AAD-1006-09C8-671A-D1A534A4C18D}"/>
              </a:ext>
            </a:extLst>
          </p:cNvPr>
          <p:cNvSpPr>
            <a:spLocks noGrp="1"/>
          </p:cNvSpPr>
          <p:nvPr>
            <p:ph type="title"/>
          </p:nvPr>
        </p:nvSpPr>
        <p:spPr/>
        <p:txBody>
          <a:bodyPr/>
          <a:lstStyle/>
          <a:p>
            <a:r>
              <a:rPr lang="zh-CN" altLang="en-US" dirty="0"/>
              <a:t>高斯机制</a:t>
            </a:r>
          </a:p>
        </p:txBody>
      </p:sp>
    </p:spTree>
    <p:extLst>
      <p:ext uri="{BB962C8B-B14F-4D97-AF65-F5344CB8AC3E}">
        <p14:creationId xmlns:p14="http://schemas.microsoft.com/office/powerpoint/2010/main" val="42270726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C174DB3C-71D3-2CD9-B0D7-9265345474E1}"/>
                  </a:ext>
                </a:extLst>
              </p:cNvPr>
              <p:cNvSpPr>
                <a:spLocks noGrp="1"/>
              </p:cNvSpPr>
              <p:nvPr>
                <p:ph idx="1"/>
              </p:nvPr>
            </p:nvSpPr>
            <p:spPr/>
            <p:txBody>
              <a:bodyPr/>
              <a:lstStyle/>
              <a:p>
                <a:r>
                  <a:rPr lang="zh-CN" altLang="en-US" dirty="0"/>
                  <a:t>拉普拉斯机制和高斯机制都可以扩展到向量值函数。然而，这两种机制的扩展结果之间有一个关键差异：向量值拉普拉斯机制只能使用</a:t>
                </a:r>
                <a:r>
                  <a:rPr lang="en-US" altLang="zh-CN" dirty="0"/>
                  <a:t>L1</a:t>
                </a:r>
                <a:r>
                  <a:rPr lang="zh-CN" altLang="en-US" dirty="0"/>
                  <a:t>敏感度；向量值高斯机制既可以使用</a:t>
                </a:r>
                <a:r>
                  <a:rPr lang="en-US" altLang="zh-CN" dirty="0"/>
                  <a:t>L1</a:t>
                </a:r>
                <a:r>
                  <a:rPr lang="zh-CN" altLang="en-US" dirty="0"/>
                  <a:t>敏感度，也可以使用</a:t>
                </a:r>
                <a:r>
                  <a:rPr lang="en-US" altLang="zh-CN" dirty="0"/>
                  <a:t>L2</a:t>
                </a:r>
                <a:r>
                  <a:rPr lang="zh-CN" altLang="en-US" dirty="0"/>
                  <a:t>敏感度。这是高斯机制的一个重要优势。对于</a:t>
                </a:r>
                <a:r>
                  <a:rPr lang="en-US" altLang="zh-CN" dirty="0"/>
                  <a:t>L2</a:t>
                </a:r>
                <a:r>
                  <a:rPr lang="zh-CN" altLang="en-US" dirty="0"/>
                  <a:t>敏感度远低于</a:t>
                </a:r>
                <a:r>
                  <a:rPr lang="en-US" altLang="zh-CN" dirty="0"/>
                  <a:t>L1</a:t>
                </a:r>
                <a:r>
                  <a:rPr lang="zh-CN" altLang="en-US" dirty="0"/>
                  <a:t>敏感度的应用来说，高斯机制添加的噪声要小得多。</a:t>
                </a:r>
                <a:endParaRPr lang="en-US" altLang="zh-CN" dirty="0"/>
              </a:p>
              <a:p>
                <a:pPr lvl="1"/>
                <a:r>
                  <a:rPr lang="zh-CN" altLang="en-US" dirty="0"/>
                  <a:t>给定长度为</a:t>
                </a:r>
                <a14:m>
                  <m:oMath xmlns:m="http://schemas.openxmlformats.org/officeDocument/2006/math">
                    <m:r>
                      <a:rPr lang="en-US" altLang="zh-CN" i="1" dirty="0" smtClean="0">
                        <a:latin typeface="Cambria Math" panose="02040503050406030204" pitchFamily="18" charset="0"/>
                      </a:rPr>
                      <m:t>𝑘</m:t>
                    </m:r>
                  </m:oMath>
                </a14:m>
                <a:r>
                  <a:rPr lang="zh-CN" altLang="en-US" dirty="0"/>
                  <a:t>的向量</a:t>
                </a:r>
                <a14:m>
                  <m:oMath xmlns:m="http://schemas.openxmlformats.org/officeDocument/2006/math">
                    <m:r>
                      <a:rPr lang="en-US" altLang="zh-CN" i="1" dirty="0" smtClean="0">
                        <a:latin typeface="Cambria Math" panose="02040503050406030204" pitchFamily="18" charset="0"/>
                      </a:rPr>
                      <m:t>𝑉</m:t>
                    </m:r>
                  </m:oMath>
                </a14:m>
                <a:r>
                  <a:rPr lang="zh-CN" altLang="en-US" dirty="0"/>
                  <a:t>，其范数定义为</a:t>
                </a:r>
                <a14:m>
                  <m:oMath xmlns:m="http://schemas.openxmlformats.org/officeDocument/2006/math">
                    <m:sSub>
                      <m:sSubPr>
                        <m:ctrlPr>
                          <a:rPr lang="en-US" altLang="zh-CN" b="0" i="1" smtClean="0">
                            <a:latin typeface="Cambria Math" panose="02040503050406030204" pitchFamily="18" charset="0"/>
                          </a:rPr>
                        </m:ctrlPr>
                      </m:sSubPr>
                      <m:e>
                        <m:d>
                          <m:dPr>
                            <m:begChr m:val="|"/>
                            <m:endChr m:val="|"/>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𝑉</m:t>
                                </m:r>
                              </m:e>
                            </m:d>
                          </m:e>
                        </m:d>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nary>
                      <m:naryPr>
                        <m:chr m:val="∑"/>
                        <m:ctrlPr>
                          <a:rPr lang="pt-BR" altLang="zh-CN" b="0" i="1" smtClean="0">
                            <a:latin typeface="Cambria Math" panose="02040503050406030204" pitchFamily="18" charset="0"/>
                          </a:rPr>
                        </m:ctrlPr>
                      </m:naryPr>
                      <m:sub>
                        <m:r>
                          <m:rPr>
                            <m:brk m:alnAt="23"/>
                          </m:rPr>
                          <a:rPr lang="en-US" altLang="zh-CN" b="0" i="1" smtClean="0">
                            <a:latin typeface="Cambria Math" panose="02040503050406030204" pitchFamily="18" charset="0"/>
                          </a:rPr>
                          <m:t>𝑖</m:t>
                        </m:r>
                        <m:r>
                          <a:rPr lang="pt-BR" altLang="zh-CN" b="0" i="1" smtClean="0">
                            <a:latin typeface="Cambria Math" panose="02040503050406030204" pitchFamily="18" charset="0"/>
                          </a:rPr>
                          <m:t>=</m:t>
                        </m:r>
                        <m:r>
                          <a:rPr lang="en-US" altLang="zh-CN" b="0" i="1" smtClean="0">
                            <a:latin typeface="Cambria Math" panose="02040503050406030204" pitchFamily="18" charset="0"/>
                          </a:rPr>
                          <m:t>1</m:t>
                        </m:r>
                      </m:sub>
                      <m:sup>
                        <m:r>
                          <a:rPr lang="en-US" altLang="zh-CN" b="0" i="1" smtClean="0">
                            <a:latin typeface="Cambria Math" panose="02040503050406030204" pitchFamily="18" charset="0"/>
                          </a:rPr>
                          <m:t>𝑘</m:t>
                        </m:r>
                      </m:sup>
                      <m:e>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m:t>
                        </m:r>
                      </m:e>
                    </m:nary>
                  </m:oMath>
                </a14:m>
                <a:r>
                  <a:rPr lang="zh-CN" altLang="en-US" dirty="0"/>
                  <a:t> （即求向量各个元素的和）</a:t>
                </a:r>
                <a:endParaRPr lang="en-US" altLang="zh-CN" dirty="0"/>
              </a:p>
              <a:p>
                <a:pPr lvl="1"/>
                <a:r>
                  <a:rPr lang="zh-CN" altLang="en-US" dirty="0"/>
                  <a:t>给定长度为</a:t>
                </a:r>
                <a14:m>
                  <m:oMath xmlns:m="http://schemas.openxmlformats.org/officeDocument/2006/math">
                    <m:r>
                      <a:rPr lang="en-US" altLang="zh-CN" i="1" dirty="0">
                        <a:latin typeface="Cambria Math" panose="02040503050406030204" pitchFamily="18" charset="0"/>
                      </a:rPr>
                      <m:t>𝑘</m:t>
                    </m:r>
                  </m:oMath>
                </a14:m>
                <a:r>
                  <a:rPr lang="zh-CN" altLang="en-US" dirty="0"/>
                  <a:t>的向量</a:t>
                </a:r>
                <a14:m>
                  <m:oMath xmlns:m="http://schemas.openxmlformats.org/officeDocument/2006/math">
                    <m:r>
                      <a:rPr lang="en-US" altLang="zh-CN" i="1" dirty="0">
                        <a:latin typeface="Cambria Math" panose="02040503050406030204" pitchFamily="18" charset="0"/>
                      </a:rPr>
                      <m:t>𝑉</m:t>
                    </m:r>
                  </m:oMath>
                </a14:m>
                <a:r>
                  <a:rPr lang="zh-CN" altLang="en-US" dirty="0"/>
                  <a:t>，其范数定义为</a:t>
                </a:r>
                <a14:m>
                  <m:oMath xmlns:m="http://schemas.openxmlformats.org/officeDocument/2006/math">
                    <m:sSub>
                      <m:sSubPr>
                        <m:ctrlPr>
                          <a:rPr lang="en-US" altLang="zh-CN" b="0" i="1">
                            <a:latin typeface="Cambria Math" panose="02040503050406030204" pitchFamily="18" charset="0"/>
                          </a:rPr>
                        </m:ctrlPr>
                      </m:sSubPr>
                      <m:e>
                        <m:d>
                          <m:dPr>
                            <m:begChr m:val="|"/>
                            <m:endChr m:val="|"/>
                            <m:ctrlPr>
                              <a:rPr lang="en-US" altLang="zh-CN" b="0" i="1">
                                <a:latin typeface="Cambria Math" panose="02040503050406030204" pitchFamily="18" charset="0"/>
                              </a:rPr>
                            </m:ctrlPr>
                          </m:dPr>
                          <m:e>
                            <m:d>
                              <m:dPr>
                                <m:begChr m:val="|"/>
                                <m:endChr m:val="|"/>
                                <m:ctrlPr>
                                  <a:rPr lang="en-US" altLang="zh-CN" b="0" i="1">
                                    <a:latin typeface="Cambria Math" panose="02040503050406030204" pitchFamily="18" charset="0"/>
                                  </a:rPr>
                                </m:ctrlPr>
                              </m:dPr>
                              <m:e>
                                <m:r>
                                  <a:rPr lang="en-US" altLang="zh-CN" b="0" i="1">
                                    <a:latin typeface="Cambria Math" panose="02040503050406030204" pitchFamily="18" charset="0"/>
                                  </a:rPr>
                                  <m:t>𝑉</m:t>
                                </m:r>
                              </m:e>
                            </m:d>
                          </m:e>
                        </m:d>
                      </m:e>
                      <m:sub>
                        <m:r>
                          <a:rPr lang="en-US" altLang="zh-CN" b="0" i="1" smtClean="0">
                            <a:latin typeface="Cambria Math" panose="02040503050406030204" pitchFamily="18" charset="0"/>
                          </a:rPr>
                          <m:t>2</m:t>
                        </m:r>
                      </m:sub>
                    </m:sSub>
                    <m:r>
                      <a:rPr lang="en-US" altLang="zh-CN" b="0" i="1">
                        <a:latin typeface="Cambria Math" panose="02040503050406030204" pitchFamily="18" charset="0"/>
                      </a:rPr>
                      <m:t>=</m:t>
                    </m:r>
                    <m:rad>
                      <m:radPr>
                        <m:degHide m:val="on"/>
                        <m:ctrlPr>
                          <a:rPr lang="en-US" altLang="zh-CN" b="0" i="1" smtClean="0">
                            <a:latin typeface="Cambria Math" panose="02040503050406030204" pitchFamily="18" charset="0"/>
                          </a:rPr>
                        </m:ctrlPr>
                      </m:radPr>
                      <m:deg/>
                      <m:e>
                        <m:nary>
                          <m:naryPr>
                            <m:chr m:val="∑"/>
                            <m:ctrlPr>
                              <a:rPr lang="pt-BR" altLang="zh-CN" b="0" i="1">
                                <a:latin typeface="Cambria Math" panose="02040503050406030204" pitchFamily="18" charset="0"/>
                              </a:rPr>
                            </m:ctrlPr>
                          </m:naryPr>
                          <m:sub>
                            <m:r>
                              <m:rPr>
                                <m:brk m:alnAt="23"/>
                              </m:rPr>
                              <a:rPr lang="en-US" altLang="zh-CN" b="0" i="1">
                                <a:latin typeface="Cambria Math" panose="02040503050406030204" pitchFamily="18" charset="0"/>
                              </a:rPr>
                              <m:t>𝑖</m:t>
                            </m:r>
                            <m:r>
                              <a:rPr lang="pt-BR" altLang="zh-CN" b="0" i="1">
                                <a:latin typeface="Cambria Math" panose="02040503050406030204" pitchFamily="18" charset="0"/>
                              </a:rPr>
                              <m:t>=</m:t>
                            </m:r>
                            <m:r>
                              <a:rPr lang="en-US" altLang="zh-CN" b="0" i="1">
                                <a:latin typeface="Cambria Math" panose="02040503050406030204" pitchFamily="18" charset="0"/>
                              </a:rPr>
                              <m:t>1</m:t>
                            </m:r>
                          </m:sub>
                          <m:sup>
                            <m:r>
                              <a:rPr lang="en-US" altLang="zh-CN" b="0" i="1">
                                <a:latin typeface="Cambria Math" panose="02040503050406030204" pitchFamily="18" charset="0"/>
                              </a:rPr>
                              <m:t>𝑘</m:t>
                            </m:r>
                          </m:sup>
                          <m:e>
                            <m:sSubSup>
                              <m:sSubSupPr>
                                <m:ctrlPr>
                                  <a:rPr lang="en-US" altLang="zh-CN" b="0" i="1" smtClean="0">
                                    <a:latin typeface="Cambria Math" panose="02040503050406030204" pitchFamily="18" charset="0"/>
                                  </a:rPr>
                                </m:ctrlPr>
                              </m:sSubSupPr>
                              <m:e>
                                <m:r>
                                  <a:rPr lang="en-US" altLang="zh-CN" b="0" i="1">
                                    <a:latin typeface="Cambria Math" panose="02040503050406030204" pitchFamily="18" charset="0"/>
                                  </a:rPr>
                                  <m:t>𝑉</m:t>
                                </m:r>
                              </m:e>
                              <m:sub>
                                <m:r>
                                  <a:rPr lang="en-US" altLang="zh-CN" b="0" i="1">
                                    <a:latin typeface="Cambria Math" panose="02040503050406030204" pitchFamily="18" charset="0"/>
                                  </a:rPr>
                                  <m:t>𝑖</m:t>
                                </m:r>
                              </m:sub>
                              <m:sup>
                                <m:r>
                                  <a:rPr lang="en-US" altLang="zh-CN" b="0" i="1" smtClean="0">
                                    <a:latin typeface="Cambria Math" panose="02040503050406030204" pitchFamily="18" charset="0"/>
                                  </a:rPr>
                                  <m:t>2</m:t>
                                </m:r>
                              </m:sup>
                            </m:sSubSup>
                          </m:e>
                        </m:nary>
                      </m:e>
                    </m:rad>
                  </m:oMath>
                </a14:m>
                <a:r>
                  <a:rPr lang="zh-CN" altLang="en-US" dirty="0"/>
                  <a:t> （即先求向量各个元素平方和再求平方根）</a:t>
                </a:r>
                <a:endParaRPr lang="en-US" altLang="zh-CN" dirty="0"/>
              </a:p>
              <a:p>
                <a:pPr lvl="1"/>
                <a:r>
                  <a:rPr lang="zh-CN" altLang="en-US" dirty="0"/>
                  <a:t>向量值函数</a:t>
                </a:r>
                <a:r>
                  <a:rPr lang="en-US" altLang="zh-CN" dirty="0"/>
                  <a:t>f</a:t>
                </a:r>
                <a:r>
                  <a:rPr lang="zh-CN" altLang="en-US" dirty="0"/>
                  <a:t>的</a:t>
                </a:r>
                <a:r>
                  <a:rPr lang="en-US" altLang="zh-CN" dirty="0"/>
                  <a:t>L1</a:t>
                </a:r>
                <a:r>
                  <a:rPr lang="zh-CN" altLang="en-US" dirty="0"/>
                  <a:t>敏感度为：</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m:t>
                    </m:r>
                    <m:r>
                      <m:rPr>
                        <m:sty m:val="p"/>
                      </m:rPr>
                      <a:rPr lang="en-US" altLang="zh-CN" i="1">
                        <a:latin typeface="Cambria Math" panose="02040503050406030204" pitchFamily="18" charset="0"/>
                        <a:ea typeface="Cambria Math" panose="02040503050406030204" pitchFamily="18" charset="0"/>
                      </a:rPr>
                      <m:t>f</m:t>
                    </m:r>
                    <m:r>
                      <a:rPr lang="en-US" altLang="zh-CN" i="1">
                        <a:latin typeface="Cambria Math" panose="02040503050406030204" pitchFamily="18" charset="0"/>
                        <a:ea typeface="Cambria Math" panose="02040503050406030204" pitchFamily="18" charset="0"/>
                      </a:rPr>
                      <m:t>=</m:t>
                    </m:r>
                    <m:func>
                      <m:funcPr>
                        <m:ctrlPr>
                          <a:rPr lang="en-US" altLang="zh-CN" b="0" i="1">
                            <a:latin typeface="Cambria Math" panose="02040503050406030204" pitchFamily="18" charset="0"/>
                            <a:ea typeface="Cambria Math" panose="02040503050406030204" pitchFamily="18" charset="0"/>
                          </a:rPr>
                        </m:ctrlPr>
                      </m:funcPr>
                      <m:fName>
                        <m:r>
                          <m:rPr>
                            <m:sty m:val="p"/>
                          </m:rPr>
                          <a:rPr lang="en-US" altLang="zh-CN" b="0">
                            <a:latin typeface="Cambria Math" panose="02040503050406030204" pitchFamily="18" charset="0"/>
                            <a:ea typeface="Cambria Math" panose="02040503050406030204" pitchFamily="18" charset="0"/>
                          </a:rPr>
                          <m:t>max</m:t>
                        </m:r>
                      </m:fName>
                      <m:e>
                        <m:d>
                          <m:dPr>
                            <m:begChr m:val="|"/>
                            <m:endChr m:val="|"/>
                            <m:ctrlPr>
                              <a:rPr lang="en-US" altLang="zh-CN" b="0" i="1">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m:t>
                            </m:r>
                            <m:r>
                              <a:rPr lang="en-US" altLang="zh-CN" b="0" i="1">
                                <a:latin typeface="Cambria Math" panose="02040503050406030204" pitchFamily="18" charset="0"/>
                                <a:ea typeface="Cambria Math" panose="02040503050406030204" pitchFamily="18" charset="0"/>
                              </a:rPr>
                              <m:t>𝑓</m:t>
                            </m:r>
                            <m:d>
                              <m:dPr>
                                <m:ctrlPr>
                                  <a:rPr lang="en-US" altLang="zh-CN" b="0" i="1">
                                    <a:latin typeface="Cambria Math" panose="02040503050406030204" pitchFamily="18" charset="0"/>
                                    <a:ea typeface="Cambria Math" panose="02040503050406030204" pitchFamily="18" charset="0"/>
                                  </a:rPr>
                                </m:ctrlPr>
                              </m:dPr>
                              <m:e>
                                <m:r>
                                  <a:rPr lang="en-US" altLang="zh-CN" b="0" i="1">
                                    <a:latin typeface="Cambria Math" panose="02040503050406030204" pitchFamily="18" charset="0"/>
                                    <a:ea typeface="Cambria Math" panose="02040503050406030204" pitchFamily="18" charset="0"/>
                                  </a:rPr>
                                  <m:t>𝑥</m:t>
                                </m:r>
                              </m:e>
                            </m:d>
                            <m:r>
                              <a:rPr lang="en-US" altLang="zh-CN" b="0" i="1">
                                <a:latin typeface="Cambria Math" panose="02040503050406030204" pitchFamily="18" charset="0"/>
                                <a:ea typeface="Cambria Math" panose="02040503050406030204" pitchFamily="18" charset="0"/>
                              </a:rPr>
                              <m:t>−</m:t>
                            </m:r>
                            <m:r>
                              <a:rPr lang="en-US" altLang="zh-CN" b="0" i="1">
                                <a:latin typeface="Cambria Math" panose="02040503050406030204" pitchFamily="18" charset="0"/>
                                <a:ea typeface="Cambria Math" panose="02040503050406030204" pitchFamily="18" charset="0"/>
                              </a:rPr>
                              <m:t>𝑓</m:t>
                            </m:r>
                            <m:d>
                              <m:dPr>
                                <m:ctrlPr>
                                  <a:rPr lang="en-US" altLang="zh-CN" b="0" i="1">
                                    <a:latin typeface="Cambria Math" panose="02040503050406030204" pitchFamily="18" charset="0"/>
                                    <a:ea typeface="Cambria Math" panose="02040503050406030204" pitchFamily="18" charset="0"/>
                                  </a:rPr>
                                </m:ctrlPr>
                              </m:dPr>
                              <m:e>
                                <m:sSup>
                                  <m:sSupPr>
                                    <m:ctrlPr>
                                      <a:rPr lang="en-US" altLang="zh-CN" b="0" i="1" smtClean="0">
                                        <a:latin typeface="Cambria Math" panose="02040503050406030204" pitchFamily="18" charset="0"/>
                                        <a:ea typeface="Cambria Math" panose="02040503050406030204" pitchFamily="18" charset="0"/>
                                      </a:rPr>
                                    </m:ctrlPr>
                                  </m:sSupPr>
                                  <m:e>
                                    <m:r>
                                      <m:rPr>
                                        <m:sty m:val="p"/>
                                      </m:rPr>
                                      <a:rPr lang="en-US" altLang="zh-CN" b="0" i="1" smtClean="0">
                                        <a:latin typeface="Cambria Math" panose="02040503050406030204" pitchFamily="18" charset="0"/>
                                        <a:ea typeface="Cambria Math" panose="02040503050406030204" pitchFamily="18" charset="0"/>
                                      </a:rPr>
                                      <m:t>x</m:t>
                                    </m:r>
                                  </m:e>
                                  <m:sup>
                                    <m:r>
                                      <a:rPr lang="en-US" altLang="zh-CN" b="0" i="1" smtClean="0">
                                        <a:latin typeface="Cambria Math" panose="02040503050406030204" pitchFamily="18" charset="0"/>
                                        <a:ea typeface="Cambria Math" panose="02040503050406030204" pitchFamily="18" charset="0"/>
                                      </a:rPr>
                                      <m:t>′</m:t>
                                    </m:r>
                                  </m:sup>
                                </m:sSup>
                              </m:e>
                            </m:d>
                          </m:e>
                        </m:d>
                        <m:sSub>
                          <m:sSubPr>
                            <m:ctrlPr>
                              <a:rPr lang="en-US" altLang="zh-CN" b="0" i="1" smtClean="0">
                                <a:latin typeface="Cambria Math" panose="02040503050406030204" pitchFamily="18" charset="0"/>
                                <a:ea typeface="Cambria Math" panose="02040503050406030204" pitchFamily="18" charset="0"/>
                              </a:rPr>
                            </m:ctrlPr>
                          </m:sSubPr>
                          <m:e>
                            <m:d>
                              <m:dPr>
                                <m:begChr m:val=""/>
                                <m:endChr m:val="|"/>
                                <m:ctrlPr>
                                  <a:rPr lang="en-US" altLang="zh-CN" b="0" i="1" smtClean="0">
                                    <a:latin typeface="Cambria Math" panose="02040503050406030204" pitchFamily="18" charset="0"/>
                                    <a:ea typeface="Cambria Math" panose="02040503050406030204" pitchFamily="18" charset="0"/>
                                  </a:rPr>
                                </m:ctrlPr>
                              </m:dPr>
                              <m:e>
                                <m:r>
                                  <a:rPr lang="zh-CN" altLang="en-US">
                                    <a:latin typeface="Cambria Math" panose="02040503050406030204" pitchFamily="18" charset="0"/>
                                  </a:rPr>
                                  <m:t>​</m:t>
                                </m:r>
                              </m:e>
                            </m:d>
                          </m:e>
                          <m:sub>
                            <m:r>
                              <a:rPr lang="en-US" altLang="zh-CN" b="0" i="1" smtClean="0">
                                <a:latin typeface="Cambria Math" panose="02040503050406030204" pitchFamily="18" charset="0"/>
                                <a:ea typeface="Cambria Math" panose="02040503050406030204" pitchFamily="18" charset="0"/>
                              </a:rPr>
                              <m:t>1</m:t>
                            </m:r>
                          </m:sub>
                        </m:sSub>
                      </m:e>
                    </m:func>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𝑑</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𝑥</m:t>
                    </m:r>
                    <m:r>
                      <a:rPr lang="en-US" altLang="zh-CN" b="0" i="1" smtClean="0">
                        <a:latin typeface="Cambria Math" panose="02040503050406030204" pitchFamily="18" charset="0"/>
                        <a:ea typeface="Cambria Math" panose="02040503050406030204" pitchFamily="18" charset="0"/>
                      </a:rPr>
                      <m:t>′)≤1</m:t>
                    </m:r>
                  </m:oMath>
                </a14:m>
                <a:endParaRPr lang="en-US" altLang="zh-CN" dirty="0"/>
              </a:p>
              <a:p>
                <a:pPr lvl="1"/>
                <a:r>
                  <a:rPr lang="zh-CN" altLang="en-US" dirty="0"/>
                  <a:t>向量值函数</a:t>
                </a:r>
                <a:r>
                  <a:rPr lang="en-US" altLang="zh-CN" dirty="0"/>
                  <a:t>f</a:t>
                </a:r>
                <a:r>
                  <a:rPr lang="zh-CN" altLang="en-US" dirty="0"/>
                  <a:t>的</a:t>
                </a:r>
                <a:r>
                  <a:rPr lang="en-US" altLang="zh-CN" dirty="0"/>
                  <a:t>L2</a:t>
                </a:r>
                <a:r>
                  <a:rPr lang="zh-CN" altLang="en-US" dirty="0"/>
                  <a:t>敏感度为：</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m:t>
                    </m:r>
                    <m:r>
                      <m:rPr>
                        <m:sty m:val="p"/>
                      </m:rPr>
                      <a:rPr lang="en-US" altLang="zh-CN" i="1">
                        <a:latin typeface="Cambria Math" panose="02040503050406030204" pitchFamily="18" charset="0"/>
                        <a:ea typeface="Cambria Math" panose="02040503050406030204" pitchFamily="18" charset="0"/>
                      </a:rPr>
                      <m:t>f</m:t>
                    </m:r>
                    <m:r>
                      <a:rPr lang="en-US" altLang="zh-CN" i="1">
                        <a:latin typeface="Cambria Math" panose="02040503050406030204" pitchFamily="18" charset="0"/>
                        <a:ea typeface="Cambria Math" panose="02040503050406030204" pitchFamily="18" charset="0"/>
                      </a:rPr>
                      <m:t>=</m:t>
                    </m:r>
                    <m:func>
                      <m:funcPr>
                        <m:ctrlPr>
                          <a:rPr lang="en-US" altLang="zh-CN" b="0" i="1">
                            <a:latin typeface="Cambria Math" panose="02040503050406030204" pitchFamily="18" charset="0"/>
                            <a:ea typeface="Cambria Math" panose="02040503050406030204" pitchFamily="18" charset="0"/>
                          </a:rPr>
                        </m:ctrlPr>
                      </m:funcPr>
                      <m:fName>
                        <m:r>
                          <m:rPr>
                            <m:sty m:val="p"/>
                          </m:rPr>
                          <a:rPr lang="en-US" altLang="zh-CN" b="0">
                            <a:latin typeface="Cambria Math" panose="02040503050406030204" pitchFamily="18" charset="0"/>
                            <a:ea typeface="Cambria Math" panose="02040503050406030204" pitchFamily="18" charset="0"/>
                          </a:rPr>
                          <m:t>max</m:t>
                        </m:r>
                      </m:fName>
                      <m:e>
                        <m:sSub>
                          <m:sSubPr>
                            <m:ctrlPr>
                              <a:rPr lang="en-US" altLang="zh-CN" b="0" i="1" smtClean="0">
                                <a:latin typeface="Cambria Math" panose="02040503050406030204" pitchFamily="18" charset="0"/>
                                <a:ea typeface="Cambria Math" panose="02040503050406030204" pitchFamily="18" charset="0"/>
                              </a:rPr>
                            </m:ctrlPr>
                          </m:sSubPr>
                          <m:e>
                            <m:d>
                              <m:dPr>
                                <m:begChr m:val="|"/>
                                <m:endChr m:val="|"/>
                                <m:ctrlPr>
                                  <a:rPr lang="en-US" altLang="zh-CN" b="0" i="1">
                                    <a:latin typeface="Cambria Math" panose="02040503050406030204" pitchFamily="18" charset="0"/>
                                    <a:ea typeface="Cambria Math" panose="02040503050406030204" pitchFamily="18" charset="0"/>
                                  </a:rPr>
                                </m:ctrlPr>
                              </m:dPr>
                              <m:e>
                                <m:d>
                                  <m:dPr>
                                    <m:begChr m:val="|"/>
                                    <m:endChr m:val="|"/>
                                    <m:ctrlPr>
                                      <a:rPr lang="en-US" altLang="zh-CN" b="0" i="1" smtClean="0">
                                        <a:latin typeface="Cambria Math" panose="02040503050406030204" pitchFamily="18" charset="0"/>
                                        <a:ea typeface="Cambria Math" panose="02040503050406030204" pitchFamily="18" charset="0"/>
                                      </a:rPr>
                                    </m:ctrlPr>
                                  </m:dPr>
                                  <m:e>
                                    <m:r>
                                      <a:rPr lang="en-US" altLang="zh-CN" b="0" i="1">
                                        <a:latin typeface="Cambria Math" panose="02040503050406030204" pitchFamily="18" charset="0"/>
                                        <a:ea typeface="Cambria Math" panose="02040503050406030204" pitchFamily="18" charset="0"/>
                                      </a:rPr>
                                      <m:t>𝑓</m:t>
                                    </m:r>
                                    <m:d>
                                      <m:dPr>
                                        <m:ctrlPr>
                                          <a:rPr lang="en-US" altLang="zh-CN" b="0" i="1">
                                            <a:latin typeface="Cambria Math" panose="02040503050406030204" pitchFamily="18" charset="0"/>
                                            <a:ea typeface="Cambria Math" panose="02040503050406030204" pitchFamily="18" charset="0"/>
                                          </a:rPr>
                                        </m:ctrlPr>
                                      </m:dPr>
                                      <m:e>
                                        <m:r>
                                          <a:rPr lang="en-US" altLang="zh-CN" b="0" i="1">
                                            <a:latin typeface="Cambria Math" panose="02040503050406030204" pitchFamily="18" charset="0"/>
                                            <a:ea typeface="Cambria Math" panose="02040503050406030204" pitchFamily="18" charset="0"/>
                                          </a:rPr>
                                          <m:t>𝑥</m:t>
                                        </m:r>
                                      </m:e>
                                    </m:d>
                                    <m:r>
                                      <a:rPr lang="en-US" altLang="zh-CN" b="0" i="1">
                                        <a:latin typeface="Cambria Math" panose="02040503050406030204" pitchFamily="18" charset="0"/>
                                        <a:ea typeface="Cambria Math" panose="02040503050406030204" pitchFamily="18" charset="0"/>
                                      </a:rPr>
                                      <m:t>−</m:t>
                                    </m:r>
                                    <m:r>
                                      <a:rPr lang="en-US" altLang="zh-CN" b="0" i="1">
                                        <a:latin typeface="Cambria Math" panose="02040503050406030204" pitchFamily="18" charset="0"/>
                                        <a:ea typeface="Cambria Math" panose="02040503050406030204" pitchFamily="18" charset="0"/>
                                      </a:rPr>
                                      <m:t>𝑓</m:t>
                                    </m:r>
                                    <m:d>
                                      <m:dPr>
                                        <m:ctrlPr>
                                          <a:rPr lang="en-US" altLang="zh-CN" b="0" i="1">
                                            <a:latin typeface="Cambria Math" panose="02040503050406030204" pitchFamily="18" charset="0"/>
                                            <a:ea typeface="Cambria Math" panose="02040503050406030204" pitchFamily="18" charset="0"/>
                                          </a:rPr>
                                        </m:ctrlPr>
                                      </m:dPr>
                                      <m:e>
                                        <m:sSup>
                                          <m:sSupPr>
                                            <m:ctrlPr>
                                              <a:rPr lang="en-US" altLang="zh-CN" b="0" i="1">
                                                <a:latin typeface="Cambria Math" panose="02040503050406030204" pitchFamily="18" charset="0"/>
                                                <a:ea typeface="Cambria Math" panose="02040503050406030204" pitchFamily="18" charset="0"/>
                                              </a:rPr>
                                            </m:ctrlPr>
                                          </m:sSupPr>
                                          <m:e>
                                            <m:r>
                                              <m:rPr>
                                                <m:sty m:val="p"/>
                                              </m:rPr>
                                              <a:rPr lang="en-US" altLang="zh-CN" b="0" i="1">
                                                <a:latin typeface="Cambria Math" panose="02040503050406030204" pitchFamily="18" charset="0"/>
                                                <a:ea typeface="Cambria Math" panose="02040503050406030204" pitchFamily="18" charset="0"/>
                                              </a:rPr>
                                              <m:t>x</m:t>
                                            </m:r>
                                          </m:e>
                                          <m:sup>
                                            <m:r>
                                              <a:rPr lang="en-US" altLang="zh-CN" b="0" i="1">
                                                <a:latin typeface="Cambria Math" panose="02040503050406030204" pitchFamily="18" charset="0"/>
                                                <a:ea typeface="Cambria Math" panose="02040503050406030204" pitchFamily="18" charset="0"/>
                                              </a:rPr>
                                              <m:t>′</m:t>
                                            </m:r>
                                          </m:sup>
                                        </m:sSup>
                                      </m:e>
                                    </m:d>
                                  </m:e>
                                </m:d>
                              </m:e>
                            </m:d>
                          </m:e>
                          <m:sub>
                            <m:r>
                              <a:rPr lang="en-US" altLang="zh-CN" b="0" i="1" smtClean="0">
                                <a:latin typeface="Cambria Math" panose="02040503050406030204" pitchFamily="18" charset="0"/>
                                <a:ea typeface="Cambria Math" panose="02040503050406030204" pitchFamily="18" charset="0"/>
                              </a:rPr>
                              <m:t>2</m:t>
                            </m:r>
                          </m:sub>
                        </m:sSub>
                      </m:e>
                    </m:func>
                    <m:r>
                      <a:rPr lang="en-US" altLang="zh-CN" b="0" i="1">
                        <a:latin typeface="Cambria Math" panose="02040503050406030204" pitchFamily="18" charset="0"/>
                        <a:ea typeface="Cambria Math" panose="02040503050406030204" pitchFamily="18" charset="0"/>
                      </a:rPr>
                      <m:t>,</m:t>
                    </m:r>
                    <m:r>
                      <a:rPr lang="en-US" altLang="zh-CN" b="0" i="1">
                        <a:latin typeface="Cambria Math" panose="02040503050406030204" pitchFamily="18" charset="0"/>
                        <a:ea typeface="Cambria Math" panose="02040503050406030204" pitchFamily="18" charset="0"/>
                      </a:rPr>
                      <m:t>𝑑</m:t>
                    </m:r>
                    <m:r>
                      <a:rPr lang="en-US" altLang="zh-CN" b="0" i="1">
                        <a:latin typeface="Cambria Math" panose="02040503050406030204" pitchFamily="18" charset="0"/>
                        <a:ea typeface="Cambria Math" panose="02040503050406030204" pitchFamily="18" charset="0"/>
                      </a:rPr>
                      <m:t>(</m:t>
                    </m:r>
                    <m:r>
                      <a:rPr lang="en-US" altLang="zh-CN" b="0" i="1">
                        <a:latin typeface="Cambria Math" panose="02040503050406030204" pitchFamily="18" charset="0"/>
                        <a:ea typeface="Cambria Math" panose="02040503050406030204" pitchFamily="18" charset="0"/>
                      </a:rPr>
                      <m:t>𝑥</m:t>
                    </m:r>
                    <m:r>
                      <a:rPr lang="en-US" altLang="zh-CN" b="0" i="1">
                        <a:latin typeface="Cambria Math" panose="02040503050406030204" pitchFamily="18" charset="0"/>
                        <a:ea typeface="Cambria Math" panose="02040503050406030204" pitchFamily="18" charset="0"/>
                      </a:rPr>
                      <m:t>,</m:t>
                    </m:r>
                    <m:r>
                      <a:rPr lang="en-US" altLang="zh-CN" b="0" i="1">
                        <a:latin typeface="Cambria Math" panose="02040503050406030204" pitchFamily="18" charset="0"/>
                        <a:ea typeface="Cambria Math" panose="02040503050406030204" pitchFamily="18" charset="0"/>
                      </a:rPr>
                      <m:t>𝑥</m:t>
                    </m:r>
                    <m:r>
                      <a:rPr lang="en-US" altLang="zh-CN" b="0" i="1">
                        <a:latin typeface="Cambria Math" panose="02040503050406030204" pitchFamily="18" charset="0"/>
                        <a:ea typeface="Cambria Math" panose="02040503050406030204" pitchFamily="18" charset="0"/>
                      </a:rPr>
                      <m:t>′)≤1</m:t>
                    </m:r>
                  </m:oMath>
                </a14:m>
                <a:endParaRPr lang="en-US" altLang="zh-CN" dirty="0"/>
              </a:p>
              <a:p>
                <a:endParaRPr lang="zh-CN" altLang="en-US" b="0" dirty="0"/>
              </a:p>
            </p:txBody>
          </p:sp>
        </mc:Choice>
        <mc:Fallback xmlns="">
          <p:sp>
            <p:nvSpPr>
              <p:cNvPr id="2" name="内容占位符 1">
                <a:extLst>
                  <a:ext uri="{FF2B5EF4-FFF2-40B4-BE49-F238E27FC236}">
                    <a16:creationId xmlns:a16="http://schemas.microsoft.com/office/drawing/2014/main" id="{C174DB3C-71D3-2CD9-B0D7-9265345474E1}"/>
                  </a:ext>
                </a:extLst>
              </p:cNvPr>
              <p:cNvSpPr>
                <a:spLocks noGrp="1" noRot="1" noChangeAspect="1" noMove="1" noResize="1" noEditPoints="1" noAdjustHandles="1" noChangeArrowheads="1" noChangeShapeType="1" noTextEdit="1"/>
              </p:cNvSpPr>
              <p:nvPr>
                <p:ph idx="1"/>
              </p:nvPr>
            </p:nvSpPr>
            <p:spPr>
              <a:blipFill>
                <a:blip r:embed="rId2"/>
                <a:stretch>
                  <a:fillRect l="-957" t="-725" r="-797" b="-966"/>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C523DF71-E3A6-A20C-E021-E88CD3440EEC}"/>
              </a:ext>
            </a:extLst>
          </p:cNvPr>
          <p:cNvSpPr>
            <a:spLocks noGrp="1"/>
          </p:cNvSpPr>
          <p:nvPr>
            <p:ph type="sldNum" sz="quarter" idx="4"/>
          </p:nvPr>
        </p:nvSpPr>
        <p:spPr/>
        <p:txBody>
          <a:bodyPr/>
          <a:lstStyle/>
          <a:p>
            <a:fld id="{4124EDF5-87F7-4AC5-8292-B04417157FC2}" type="slidenum">
              <a:rPr lang="zh-CN" altLang="en-US" smtClean="0"/>
              <a:t>32</a:t>
            </a:fld>
            <a:endParaRPr lang="zh-CN" altLang="en-US"/>
          </a:p>
        </p:txBody>
      </p:sp>
      <p:sp>
        <p:nvSpPr>
          <p:cNvPr id="4" name="标题 3">
            <a:extLst>
              <a:ext uri="{FF2B5EF4-FFF2-40B4-BE49-F238E27FC236}">
                <a16:creationId xmlns:a16="http://schemas.microsoft.com/office/drawing/2014/main" id="{4228134E-D8D2-02A8-EEA4-87126D23C2D3}"/>
              </a:ext>
            </a:extLst>
          </p:cNvPr>
          <p:cNvSpPr>
            <a:spLocks noGrp="1"/>
          </p:cNvSpPr>
          <p:nvPr>
            <p:ph type="title"/>
          </p:nvPr>
        </p:nvSpPr>
        <p:spPr/>
        <p:txBody>
          <a:bodyPr/>
          <a:lstStyle/>
          <a:p>
            <a:r>
              <a:rPr lang="zh-CN" altLang="en-US" dirty="0"/>
              <a:t>为什么需要高斯机制</a:t>
            </a:r>
          </a:p>
        </p:txBody>
      </p:sp>
    </p:spTree>
    <p:extLst>
      <p:ext uri="{BB962C8B-B14F-4D97-AF65-F5344CB8AC3E}">
        <p14:creationId xmlns:p14="http://schemas.microsoft.com/office/powerpoint/2010/main" val="1959379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A1C21C6E-1F2C-86B6-1C7F-F6008FB7A73C}"/>
                  </a:ext>
                </a:extLst>
              </p:cNvPr>
              <p:cNvSpPr>
                <a:spLocks noGrp="1"/>
              </p:cNvSpPr>
              <p:nvPr>
                <p:ph idx="1"/>
              </p:nvPr>
            </p:nvSpPr>
            <p:spPr>
              <a:xfrm>
                <a:off x="348060" y="1061254"/>
                <a:ext cx="11464528" cy="5625295"/>
              </a:xfrm>
            </p:spPr>
            <p:txBody>
              <a:bodyPr/>
              <a:lstStyle/>
              <a:p>
                <a:pPr>
                  <a:spcBef>
                    <a:spcPts val="0"/>
                  </a:spcBef>
                  <a:spcAft>
                    <a:spcPts val="0"/>
                  </a:spcAft>
                </a:pPr>
                <a:r>
                  <a:rPr lang="zh-CN" altLang="en-US" dirty="0"/>
                  <a:t>指数机制针对离散型数据进行数据保护。指数机制是为了我们希望选择“最佳”响应，但直接向计算数量添加噪声会完全破坏其价值的情况而设计的。</a:t>
                </a:r>
                <a:endParaRPr lang="en-US" altLang="zh-CN" dirty="0"/>
              </a:p>
              <a:p>
                <a:pPr lvl="1">
                  <a:spcBef>
                    <a:spcPts val="0"/>
                  </a:spcBef>
                  <a:spcAft>
                    <a:spcPts val="0"/>
                  </a:spcAft>
                </a:pPr>
                <a:r>
                  <a:rPr lang="zh-CN" altLang="en-US" dirty="0"/>
                  <a:t>指数机制整体的思想就是，当接收到一个查询之后，不是确定性地输出一个结果，而是以一定的概率值返回结果，从而实现差分隐私。这个概率是由打分函数确定的，得分高的输出概率高，得分低的输出概率低。 </a:t>
                </a:r>
                <a:endParaRPr lang="en-US" altLang="zh-CN" dirty="0"/>
              </a:p>
              <a:p>
                <a:pPr marL="257175" lvl="1" indent="-257175">
                  <a:spcBef>
                    <a:spcPts val="0"/>
                  </a:spcBef>
                  <a:spcAft>
                    <a:spcPts val="0"/>
                  </a:spcAft>
                  <a:buChar char="•"/>
                </a:pPr>
                <a:r>
                  <a:rPr lang="zh-CN" altLang="en-US" sz="2400" dirty="0"/>
                  <a:t>指数机制定义</a:t>
                </a:r>
                <a:r>
                  <a:rPr lang="en-US" altLang="zh-CN" sz="2400" dirty="0"/>
                  <a:t>:</a:t>
                </a:r>
                <a:r>
                  <a:rPr lang="zh-CN" altLang="en-US" sz="2400" dirty="0"/>
                  <a:t>指数机制</a:t>
                </a:r>
                <a14:m>
                  <m:oMath xmlns:m="http://schemas.openxmlformats.org/officeDocument/2006/math">
                    <m:r>
                      <a:rPr lang="en-US" altLang="zh-CN" sz="2400" b="0" i="1" smtClean="0">
                        <a:latin typeface="Cambria Math" panose="02040503050406030204" pitchFamily="18" charset="0"/>
                      </a:rPr>
                      <m:t>𝑀</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𝑥</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𝑢</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𝑅</m:t>
                    </m:r>
                    <m:r>
                      <a:rPr lang="en-US" altLang="zh-CN" sz="2400" b="0" i="1" smtClean="0">
                        <a:latin typeface="Cambria Math" panose="02040503050406030204" pitchFamily="18" charset="0"/>
                      </a:rPr>
                      <m:t>)</m:t>
                    </m:r>
                  </m:oMath>
                </a14:m>
                <a:r>
                  <a:rPr lang="en-US" altLang="zh-CN" sz="2400" b="0" dirty="0"/>
                  <a:t>,</a:t>
                </a:r>
                <a:r>
                  <a:rPr lang="zh-CN" altLang="en-US" sz="2400" dirty="0"/>
                  <a:t>以与</a:t>
                </a:r>
                <a14:m>
                  <m:oMath xmlns:m="http://schemas.openxmlformats.org/officeDocument/2006/math">
                    <m:r>
                      <a:rPr lang="en-US" altLang="zh-CN" sz="2400" b="0" i="1" dirty="0" smtClean="0">
                        <a:latin typeface="Cambria Math" panose="02040503050406030204" pitchFamily="18" charset="0"/>
                      </a:rPr>
                      <m:t>𝑒𝑥𝑝</m:t>
                    </m:r>
                    <m:r>
                      <a:rPr lang="en-US" altLang="zh-CN" sz="2400" b="0" i="1" dirty="0" smtClean="0">
                        <a:latin typeface="Cambria Math" panose="02040503050406030204" pitchFamily="18" charset="0"/>
                      </a:rPr>
                      <m:t>(</m:t>
                    </m:r>
                    <m:f>
                      <m:fPr>
                        <m:ctrlPr>
                          <a:rPr lang="en-US" altLang="zh-CN" sz="2400" b="0" i="1" dirty="0" smtClean="0">
                            <a:latin typeface="Cambria Math" panose="02040503050406030204" pitchFamily="18" charset="0"/>
                          </a:rPr>
                        </m:ctrlPr>
                      </m:fPr>
                      <m:num>
                        <m:r>
                          <a:rPr lang="en-US" altLang="zh-CN" sz="2400" b="0" i="1" dirty="0" smtClean="0">
                            <a:latin typeface="Cambria Math" panose="02040503050406030204" pitchFamily="18" charset="0"/>
                          </a:rPr>
                          <m:t>𝜖</m:t>
                        </m:r>
                        <m:r>
                          <a:rPr lang="en-US" altLang="zh-CN" sz="2400" b="0" i="1" dirty="0" smtClean="0">
                            <a:latin typeface="Cambria Math" panose="02040503050406030204" pitchFamily="18" charset="0"/>
                          </a:rPr>
                          <m:t>𝑢</m:t>
                        </m:r>
                        <m:r>
                          <a:rPr lang="en-US" altLang="zh-CN" sz="2400" b="0" i="1" dirty="0" smtClean="0">
                            <a:latin typeface="Cambria Math" panose="02040503050406030204" pitchFamily="18" charset="0"/>
                          </a:rPr>
                          <m:t>(</m:t>
                        </m:r>
                        <m:r>
                          <a:rPr lang="en-US" altLang="zh-CN" sz="2400" b="0" i="1" dirty="0" smtClean="0">
                            <a:latin typeface="Cambria Math" panose="02040503050406030204" pitchFamily="18" charset="0"/>
                          </a:rPr>
                          <m:t>𝑥</m:t>
                        </m:r>
                        <m:r>
                          <a:rPr lang="en-US" altLang="zh-CN" sz="2400" b="0" i="1" dirty="0" smtClean="0">
                            <a:latin typeface="Cambria Math" panose="02040503050406030204" pitchFamily="18" charset="0"/>
                          </a:rPr>
                          <m:t>,</m:t>
                        </m:r>
                        <m:sSub>
                          <m:sSubPr>
                            <m:ctrlPr>
                              <a:rPr lang="en-US" altLang="zh-CN" sz="2400" b="0" i="1" dirty="0" smtClean="0">
                                <a:latin typeface="Cambria Math" panose="02040503050406030204" pitchFamily="18" charset="0"/>
                              </a:rPr>
                            </m:ctrlPr>
                          </m:sSubPr>
                          <m:e>
                            <m:r>
                              <a:rPr lang="en-US" altLang="zh-CN" sz="2400" b="0" i="1" dirty="0" smtClean="0">
                                <a:latin typeface="Cambria Math" panose="02040503050406030204" pitchFamily="18" charset="0"/>
                              </a:rPr>
                              <m:t>𝑟</m:t>
                            </m:r>
                          </m:e>
                          <m:sub>
                            <m:r>
                              <a:rPr lang="en-US" altLang="zh-CN" sz="2400" b="0" i="1" dirty="0" smtClean="0">
                                <a:latin typeface="Cambria Math" panose="02040503050406030204" pitchFamily="18" charset="0"/>
                              </a:rPr>
                              <m:t>𝑖</m:t>
                            </m:r>
                          </m:sub>
                        </m:sSub>
                        <m:r>
                          <a:rPr lang="en-US" altLang="zh-CN" sz="2400" b="0" i="1" dirty="0" smtClean="0">
                            <a:latin typeface="Cambria Math" panose="02040503050406030204" pitchFamily="18" charset="0"/>
                          </a:rPr>
                          <m:t>)</m:t>
                        </m:r>
                      </m:num>
                      <m:den>
                        <m:r>
                          <a:rPr lang="en-US" altLang="zh-CN" sz="2400" b="0" i="1" dirty="0" smtClean="0">
                            <a:latin typeface="Cambria Math" panose="02040503050406030204" pitchFamily="18" charset="0"/>
                          </a:rPr>
                          <m:t>2</m:t>
                        </m:r>
                        <m:r>
                          <a:rPr lang="en-US" altLang="zh-CN" sz="2400" b="0" i="1" dirty="0" smtClean="0">
                            <a:latin typeface="Cambria Math" panose="02040503050406030204" pitchFamily="18" charset="0"/>
                            <a:ea typeface="Cambria Math" panose="02040503050406030204" pitchFamily="18" charset="0"/>
                          </a:rPr>
                          <m:t>∆</m:t>
                        </m:r>
                        <m:r>
                          <a:rPr lang="en-US" altLang="zh-CN" sz="2400" b="0" i="1" dirty="0" smtClean="0">
                            <a:latin typeface="Cambria Math" panose="02040503050406030204" pitchFamily="18" charset="0"/>
                            <a:ea typeface="Cambria Math" panose="02040503050406030204" pitchFamily="18" charset="0"/>
                          </a:rPr>
                          <m:t>𝑢</m:t>
                        </m:r>
                      </m:den>
                    </m:f>
                    <m:r>
                      <a:rPr lang="en-US" altLang="zh-CN" sz="2400" b="0" i="1" dirty="0" smtClean="0">
                        <a:latin typeface="Cambria Math" panose="02040503050406030204" pitchFamily="18" charset="0"/>
                      </a:rPr>
                      <m:t>)⁡</m:t>
                    </m:r>
                  </m:oMath>
                </a14:m>
                <a:r>
                  <a:rPr lang="zh-CN" altLang="en-US" sz="2400" dirty="0"/>
                  <a:t>成比例的概率选择和输出一个结果</a:t>
                </a:r>
                <a14:m>
                  <m:oMath xmlns:m="http://schemas.openxmlformats.org/officeDocument/2006/math">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𝑟</m:t>
                        </m:r>
                      </m:e>
                      <m:sub>
                        <m:r>
                          <a:rPr lang="en-US" altLang="zh-CN" sz="2400" b="0" i="1" smtClean="0">
                            <a:latin typeface="Cambria Math" panose="02040503050406030204" pitchFamily="18" charset="0"/>
                          </a:rPr>
                          <m:t>𝑖</m:t>
                        </m:r>
                      </m:sub>
                    </m:sSub>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𝑅</m:t>
                    </m:r>
                    <m:r>
                      <a:rPr lang="en-US" altLang="zh-CN" sz="2400" b="0" i="0" smtClean="0">
                        <a:latin typeface="Cambria Math" panose="02040503050406030204" pitchFamily="18" charset="0"/>
                      </a:rPr>
                      <m:t>.</m:t>
                    </m:r>
                  </m:oMath>
                </a14:m>
                <a:endParaRPr lang="en-US" altLang="zh-CN" sz="2400" b="0" dirty="0"/>
              </a:p>
              <a:p>
                <a:pPr lvl="1">
                  <a:spcBef>
                    <a:spcPts val="0"/>
                  </a:spcBef>
                  <a:spcAft>
                    <a:spcPts val="0"/>
                  </a:spcAft>
                </a:pPr>
                <a:r>
                  <a:rPr lang="en-US" altLang="zh-CN" dirty="0"/>
                  <a:t>u</a:t>
                </a:r>
                <a:r>
                  <a:rPr lang="zh-CN" altLang="en-US" dirty="0"/>
                  <a:t>是打分函数，由分析者自己决定，</a:t>
                </a:r>
                <a:r>
                  <a:rPr lang="en-US" altLang="zh-CN" dirty="0"/>
                  <a:t> </a:t>
                </a:r>
                <a14:m>
                  <m:oMath xmlns:m="http://schemas.openxmlformats.org/officeDocument/2006/math">
                    <m:r>
                      <a:rPr lang="en-US" altLang="zh-CN">
                        <a:latin typeface="Cambria Math" panose="02040503050406030204" pitchFamily="18" charset="0"/>
                      </a:rPr>
                      <m:t>∆</m:t>
                    </m:r>
                    <m:r>
                      <m:rPr>
                        <m:sty m:val="p"/>
                      </m:rPr>
                      <a:rPr lang="en-US" altLang="zh-CN">
                        <a:latin typeface="Cambria Math" panose="02040503050406030204" pitchFamily="18" charset="0"/>
                      </a:rPr>
                      <m:t>u</m:t>
                    </m:r>
                    <m:r>
                      <a:rPr lang="en-US" altLang="zh-CN">
                        <a:latin typeface="Cambria Math" panose="02040503050406030204" pitchFamily="18" charset="0"/>
                      </a:rPr>
                      <m:t>=</m:t>
                    </m:r>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max</m:t>
                            </m:r>
                          </m:e>
                          <m:lim>
                            <m:sSub>
                              <m:sSubPr>
                                <m:ctrlPr>
                                  <a:rPr lang="en-US" altLang="zh-CN" i="1">
                                    <a:latin typeface="Cambria Math" panose="02040503050406030204" pitchFamily="18" charset="0"/>
                                  </a:rPr>
                                </m:ctrlPr>
                              </m:sSubPr>
                              <m:e>
                                <m:r>
                                  <a:rPr lang="en-US" altLang="zh-CN">
                                    <a:latin typeface="Cambria Math" panose="02040503050406030204" pitchFamily="18" charset="0"/>
                                  </a:rPr>
                                  <m:t>𝑟</m:t>
                                </m:r>
                              </m:e>
                              <m:sub>
                                <m:r>
                                  <a:rPr lang="en-US" altLang="zh-CN">
                                    <a:latin typeface="Cambria Math" panose="02040503050406030204" pitchFamily="18" charset="0"/>
                                  </a:rPr>
                                  <m:t>𝑖</m:t>
                                </m:r>
                              </m:sub>
                            </m:sSub>
                            <m:r>
                              <a:rPr lang="en-US" altLang="zh-CN">
                                <a:latin typeface="Cambria Math" panose="02040503050406030204" pitchFamily="18" charset="0"/>
                              </a:rPr>
                              <m:t>∈</m:t>
                            </m:r>
                            <m:r>
                              <a:rPr lang="en-US" altLang="zh-CN">
                                <a:latin typeface="Cambria Math" panose="02040503050406030204" pitchFamily="18" charset="0"/>
                              </a:rPr>
                              <m:t>𝑅</m:t>
                            </m:r>
                            <m:r>
                              <a:rPr lang="en-US" altLang="zh-CN">
                                <a:latin typeface="Cambria Math" panose="02040503050406030204" pitchFamily="18" charset="0"/>
                              </a:rPr>
                              <m:t>,</m:t>
                            </m:r>
                            <m:sSub>
                              <m:sSubPr>
                                <m:ctrlPr>
                                  <a:rPr lang="en-US" altLang="zh-CN" i="1">
                                    <a:latin typeface="Cambria Math" panose="02040503050406030204" pitchFamily="18" charset="0"/>
                                  </a:rPr>
                                </m:ctrlPr>
                              </m:sSubPr>
                              <m:e>
                                <m:d>
                                  <m:dPr>
                                    <m:begChr m:val="|"/>
                                    <m:endChr m:val="|"/>
                                    <m:ctrlPr>
                                      <a:rPr lang="en-US" altLang="zh-CN" i="1">
                                        <a:latin typeface="Cambria Math" panose="02040503050406030204" pitchFamily="18" charset="0"/>
                                      </a:rPr>
                                    </m:ctrlPr>
                                  </m:dPr>
                                  <m:e>
                                    <m:d>
                                      <m:dPr>
                                        <m:begChr m:val="|"/>
                                        <m:endChr m:val="|"/>
                                        <m:ctrlPr>
                                          <a:rPr lang="en-US" altLang="zh-CN" i="1">
                                            <a:latin typeface="Cambria Math" panose="02040503050406030204" pitchFamily="18" charset="0"/>
                                          </a:rPr>
                                        </m:ctrlPr>
                                      </m:dPr>
                                      <m:e>
                                        <m:r>
                                          <a:rPr lang="en-US" altLang="zh-CN">
                                            <a:latin typeface="Cambria Math" panose="02040503050406030204" pitchFamily="18" charset="0"/>
                                          </a:rPr>
                                          <m:t>𝑥</m:t>
                                        </m:r>
                                        <m:r>
                                          <a:rPr lang="en-US" altLang="zh-CN">
                                            <a:latin typeface="Cambria Math" panose="02040503050406030204" pitchFamily="18" charset="0"/>
                                          </a:rPr>
                                          <m:t>−</m:t>
                                        </m:r>
                                        <m:r>
                                          <a:rPr lang="en-US" altLang="zh-CN">
                                            <a:latin typeface="Cambria Math" panose="02040503050406030204" pitchFamily="18" charset="0"/>
                                          </a:rPr>
                                          <m:t>𝑦</m:t>
                                        </m:r>
                                      </m:e>
                                    </m:d>
                                  </m:e>
                                </m:d>
                              </m:e>
                              <m:sub>
                                <m:r>
                                  <a:rPr lang="en-US" altLang="zh-CN">
                                    <a:latin typeface="Cambria Math" panose="02040503050406030204" pitchFamily="18" charset="0"/>
                                  </a:rPr>
                                  <m:t>1</m:t>
                                </m:r>
                              </m:sub>
                            </m:sSub>
                          </m:lim>
                        </m:limLow>
                      </m:fName>
                      <m:e>
                        <m:d>
                          <m:dPr>
                            <m:begChr m:val="|"/>
                            <m:endChr m:val="|"/>
                            <m:ctrlPr>
                              <a:rPr lang="en-US" altLang="zh-CN" i="1">
                                <a:latin typeface="Cambria Math" panose="02040503050406030204" pitchFamily="18" charset="0"/>
                              </a:rPr>
                            </m:ctrlPr>
                          </m:dPr>
                          <m:e>
                            <m:r>
                              <a:rPr lang="en-US" altLang="zh-CN">
                                <a:latin typeface="Cambria Math" panose="02040503050406030204" pitchFamily="18" charset="0"/>
                              </a:rPr>
                              <m:t>|</m:t>
                            </m:r>
                            <m:r>
                              <a:rPr lang="en-US" altLang="zh-CN">
                                <a:latin typeface="Cambria Math" panose="02040503050406030204" pitchFamily="18" charset="0"/>
                              </a:rPr>
                              <m:t>𝑢</m:t>
                            </m:r>
                            <m:r>
                              <a:rPr lang="en-US" altLang="zh-CN">
                                <a:latin typeface="Cambria Math" panose="02040503050406030204" pitchFamily="18" charset="0"/>
                              </a:rPr>
                              <m:t>(</m:t>
                            </m:r>
                            <m:r>
                              <a:rPr lang="en-US" altLang="zh-CN">
                                <a:latin typeface="Cambria Math" panose="02040503050406030204" pitchFamily="18" charset="0"/>
                              </a:rPr>
                              <m:t>𝑥</m:t>
                            </m:r>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𝑟</m:t>
                                </m:r>
                              </m:e>
                              <m:sub>
                                <m:r>
                                  <a:rPr lang="en-US" altLang="zh-CN">
                                    <a:latin typeface="Cambria Math" panose="02040503050406030204" pitchFamily="18" charset="0"/>
                                  </a:rPr>
                                  <m:t>𝑖</m:t>
                                </m:r>
                              </m:sub>
                            </m:sSub>
                            <m:r>
                              <a:rPr lang="en-US" altLang="zh-CN">
                                <a:latin typeface="Cambria Math" panose="02040503050406030204" pitchFamily="18" charset="0"/>
                              </a:rPr>
                              <m:t>)−</m:t>
                            </m:r>
                            <m:r>
                              <a:rPr lang="en-US" altLang="zh-CN">
                                <a:latin typeface="Cambria Math" panose="02040503050406030204" pitchFamily="18" charset="0"/>
                              </a:rPr>
                              <m:t>𝑢</m:t>
                            </m:r>
                            <m:r>
                              <a:rPr lang="en-US" altLang="zh-CN">
                                <a:latin typeface="Cambria Math" panose="02040503050406030204" pitchFamily="18" charset="0"/>
                              </a:rPr>
                              <m:t>(</m:t>
                            </m:r>
                            <m:r>
                              <a:rPr lang="en-US" altLang="zh-CN">
                                <a:latin typeface="Cambria Math" panose="02040503050406030204" pitchFamily="18" charset="0"/>
                              </a:rPr>
                              <m:t>𝑦</m:t>
                            </m:r>
                            <m:r>
                              <a:rPr lang="en-US" altLang="zh-CN">
                                <a:latin typeface="Cambria Math" panose="02040503050406030204" pitchFamily="18" charset="0"/>
                              </a:rPr>
                              <m:t>,</m:t>
                            </m:r>
                            <m:sSub>
                              <m:sSubPr>
                                <m:ctrlPr>
                                  <a:rPr lang="en-US" altLang="zh-CN" i="1">
                                    <a:latin typeface="Cambria Math" panose="02040503050406030204" pitchFamily="18" charset="0"/>
                                  </a:rPr>
                                </m:ctrlPr>
                              </m:sSubPr>
                              <m:e>
                                <m:r>
                                  <a:rPr lang="en-US" altLang="zh-CN">
                                    <a:latin typeface="Cambria Math" panose="02040503050406030204" pitchFamily="18" charset="0"/>
                                  </a:rPr>
                                  <m:t>𝑟</m:t>
                                </m:r>
                              </m:e>
                              <m:sub>
                                <m:r>
                                  <a:rPr lang="en-US" altLang="zh-CN">
                                    <a:latin typeface="Cambria Math" panose="02040503050406030204" pitchFamily="18" charset="0"/>
                                  </a:rPr>
                                  <m:t>𝑖</m:t>
                                </m:r>
                              </m:sub>
                            </m:sSub>
                            <m:r>
                              <a:rPr lang="en-US" altLang="zh-CN">
                                <a:latin typeface="Cambria Math" panose="02040503050406030204" pitchFamily="18" charset="0"/>
                              </a:rPr>
                              <m:t>)</m:t>
                            </m:r>
                          </m:e>
                        </m:d>
                        <m:sSub>
                          <m:sSubPr>
                            <m:ctrlPr>
                              <a:rPr lang="en-US" altLang="zh-CN" i="1">
                                <a:latin typeface="Cambria Math" panose="02040503050406030204" pitchFamily="18" charset="0"/>
                              </a:rPr>
                            </m:ctrlPr>
                          </m:sSubPr>
                          <m:e>
                            <m:d>
                              <m:dPr>
                                <m:begChr m:val=""/>
                                <m:endChr m:val="|"/>
                                <m:ctrlPr>
                                  <a:rPr lang="en-US" altLang="zh-CN" i="1">
                                    <a:latin typeface="Cambria Math" panose="02040503050406030204" pitchFamily="18" charset="0"/>
                                  </a:rPr>
                                </m:ctrlPr>
                              </m:dPr>
                              <m:e>
                                <m:r>
                                  <a:rPr lang="zh-CN" altLang="en-US">
                                    <a:latin typeface="Cambria Math" panose="02040503050406030204" pitchFamily="18" charset="0"/>
                                  </a:rPr>
                                  <m:t>​</m:t>
                                </m:r>
                              </m:e>
                            </m:d>
                          </m:e>
                          <m:sub>
                            <m:r>
                              <a:rPr lang="en-US" altLang="zh-CN">
                                <a:latin typeface="Cambria Math" panose="02040503050406030204" pitchFamily="18" charset="0"/>
                              </a:rPr>
                              <m:t>1</m:t>
                            </m:r>
                          </m:sub>
                        </m:sSub>
                      </m:e>
                    </m:func>
                  </m:oMath>
                </a14:m>
                <a:r>
                  <a:rPr lang="en-US" altLang="zh-CN" dirty="0"/>
                  <a:t>.</a:t>
                </a:r>
              </a:p>
              <a:p>
                <a:pPr lvl="1">
                  <a:spcBef>
                    <a:spcPts val="0"/>
                  </a:spcBef>
                  <a:spcAft>
                    <a:spcPts val="0"/>
                  </a:spcAft>
                </a:pPr>
                <a:r>
                  <a:rPr lang="zh-CN" altLang="en-US" dirty="0"/>
                  <a:t>其中，</a:t>
                </a:r>
                <a:r>
                  <a:rPr lang="en-US" altLang="zh-CN" dirty="0" err="1"/>
                  <a:t>x,y</a:t>
                </a:r>
                <a:r>
                  <a:rPr lang="zh-CN" altLang="en-US" dirty="0"/>
                  <a:t>，表示相邻数据库，</a:t>
                </a:r>
                <a:r>
                  <a:rPr lang="en-US" altLang="zh-CN" dirty="0"/>
                  <a:t>u</a:t>
                </a:r>
                <a:r>
                  <a:rPr lang="zh-CN" altLang="en-US" dirty="0"/>
                  <a:t>表示指数机制的打分函数，</a:t>
                </a:r>
                <a:r>
                  <a:rPr lang="en-US" altLang="zh-CN" dirty="0"/>
                  <a:t>R</a:t>
                </a:r>
                <a:r>
                  <a:rPr lang="zh-CN" altLang="en-US" dirty="0"/>
                  <a:t>表示所有可能回复的集合，</a:t>
                </a:r>
                <a14:m>
                  <m:oMath xmlns:m="http://schemas.openxmlformats.org/officeDocument/2006/math">
                    <m:sSub>
                      <m:sSubPr>
                        <m:ctrlPr>
                          <a:rPr lang="en-US" altLang="zh-CN" i="1">
                            <a:latin typeface="Cambria Math" panose="02040503050406030204" pitchFamily="18" charset="0"/>
                          </a:rPr>
                        </m:ctrlPr>
                      </m:sSubPr>
                      <m:e>
                        <m:r>
                          <a:rPr lang="en-US" altLang="zh-CN">
                            <a:latin typeface="Cambria Math" panose="02040503050406030204" pitchFamily="18" charset="0"/>
                          </a:rPr>
                          <m:t>𝑟</m:t>
                        </m:r>
                      </m:e>
                      <m:sub>
                        <m:r>
                          <a:rPr lang="en-US" altLang="zh-CN">
                            <a:latin typeface="Cambria Math" panose="02040503050406030204" pitchFamily="18" charset="0"/>
                          </a:rPr>
                          <m:t>𝑖</m:t>
                        </m:r>
                      </m:sub>
                    </m:sSub>
                  </m:oMath>
                </a14:m>
                <a:r>
                  <a:rPr lang="zh-CN" altLang="en-US" dirty="0"/>
                  <a:t>表示单个回复。</a:t>
                </a:r>
                <a:endParaRPr lang="en-US" altLang="zh-CN" dirty="0"/>
              </a:p>
              <a:p>
                <a:pPr lvl="1">
                  <a:spcBef>
                    <a:spcPts val="0"/>
                  </a:spcBef>
                  <a:spcAft>
                    <a:spcPts val="0"/>
                  </a:spcAft>
                </a:pPr>
                <a:r>
                  <a:rPr lang="zh-CN" altLang="en-US" dirty="0"/>
                  <a:t>得到每个集合中每个回复的概率后，应该对所有概率值进行归一化，因此最后我们得到单个回复</a:t>
                </a:r>
                <a14:m>
                  <m:oMath xmlns:m="http://schemas.openxmlformats.org/officeDocument/2006/math">
                    <m:sSub>
                      <m:sSubPr>
                        <m:ctrlPr>
                          <a:rPr lang="en-US" altLang="zh-CN" sz="2000" b="0" i="1">
                            <a:latin typeface="Cambria Math" panose="02040503050406030204" pitchFamily="18" charset="0"/>
                          </a:rPr>
                        </m:ctrlPr>
                      </m:sSubPr>
                      <m:e>
                        <m:r>
                          <a:rPr lang="en-US" altLang="zh-CN" sz="2000" b="0" i="1">
                            <a:latin typeface="Cambria Math" panose="02040503050406030204" pitchFamily="18" charset="0"/>
                          </a:rPr>
                          <m:t>𝑟</m:t>
                        </m:r>
                      </m:e>
                      <m:sub>
                        <m:r>
                          <a:rPr lang="en-US" altLang="zh-CN" sz="2000" b="0" i="1">
                            <a:latin typeface="Cambria Math" panose="02040503050406030204" pitchFamily="18" charset="0"/>
                          </a:rPr>
                          <m:t>𝑖</m:t>
                        </m:r>
                      </m:sub>
                    </m:sSub>
                  </m:oMath>
                </a14:m>
                <a:r>
                  <a:rPr lang="zh-CN" altLang="en-US" dirty="0"/>
                  <a:t>的概率值，即</a:t>
                </a:r>
                <a14:m>
                  <m:oMath xmlns:m="http://schemas.openxmlformats.org/officeDocument/2006/math">
                    <m:r>
                      <a:rPr lang="en-US" altLang="zh-CN" b="0" i="1" smtClean="0">
                        <a:latin typeface="Cambria Math" panose="02040503050406030204" pitchFamily="18" charset="0"/>
                      </a:rPr>
                      <m:t>𝑃𝑟</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𝑖</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sz="2000" b="0" i="1" dirty="0">
                            <a:latin typeface="Cambria Math" panose="02040503050406030204" pitchFamily="18" charset="0"/>
                          </a:rPr>
                          <m:t>𝑒𝑥𝑝</m:t>
                        </m:r>
                        <m:r>
                          <a:rPr lang="en-US" altLang="zh-CN" sz="2000" b="0" i="1" dirty="0">
                            <a:latin typeface="Cambria Math" panose="02040503050406030204" pitchFamily="18" charset="0"/>
                          </a:rPr>
                          <m:t>(</m:t>
                        </m:r>
                        <m:f>
                          <m:fPr>
                            <m:ctrlPr>
                              <a:rPr lang="en-US" altLang="zh-CN" sz="2000" b="0" i="1" dirty="0">
                                <a:latin typeface="Cambria Math" panose="02040503050406030204" pitchFamily="18" charset="0"/>
                              </a:rPr>
                            </m:ctrlPr>
                          </m:fPr>
                          <m:num>
                            <m:r>
                              <a:rPr lang="en-US" altLang="zh-CN" sz="2000" b="0" i="1" dirty="0">
                                <a:latin typeface="Cambria Math" panose="02040503050406030204" pitchFamily="18" charset="0"/>
                              </a:rPr>
                              <m:t>𝜖</m:t>
                            </m:r>
                            <m:r>
                              <a:rPr lang="en-US" altLang="zh-CN" sz="2000" b="0" i="1" dirty="0">
                                <a:latin typeface="Cambria Math" panose="02040503050406030204" pitchFamily="18" charset="0"/>
                              </a:rPr>
                              <m:t>𝑢</m:t>
                            </m:r>
                            <m:r>
                              <a:rPr lang="en-US" altLang="zh-CN" sz="2000" b="0" i="1" dirty="0">
                                <a:latin typeface="Cambria Math" panose="02040503050406030204" pitchFamily="18" charset="0"/>
                              </a:rPr>
                              <m:t>(</m:t>
                            </m:r>
                            <m:r>
                              <a:rPr lang="en-US" altLang="zh-CN" sz="2000" b="0" i="1" dirty="0">
                                <a:latin typeface="Cambria Math" panose="02040503050406030204" pitchFamily="18" charset="0"/>
                              </a:rPr>
                              <m:t>𝑥</m:t>
                            </m:r>
                            <m:r>
                              <a:rPr lang="en-US" altLang="zh-CN" sz="2000" b="0" i="1" dirty="0">
                                <a:latin typeface="Cambria Math" panose="02040503050406030204" pitchFamily="18" charset="0"/>
                              </a:rPr>
                              <m:t>,</m:t>
                            </m:r>
                            <m:sSub>
                              <m:sSubPr>
                                <m:ctrlPr>
                                  <a:rPr lang="en-US" altLang="zh-CN" sz="2000" b="0" i="1" dirty="0">
                                    <a:latin typeface="Cambria Math" panose="02040503050406030204" pitchFamily="18" charset="0"/>
                                  </a:rPr>
                                </m:ctrlPr>
                              </m:sSubPr>
                              <m:e>
                                <m:r>
                                  <a:rPr lang="en-US" altLang="zh-CN" sz="2000" b="0" i="1" dirty="0">
                                    <a:latin typeface="Cambria Math" panose="02040503050406030204" pitchFamily="18" charset="0"/>
                                  </a:rPr>
                                  <m:t>𝑟</m:t>
                                </m:r>
                              </m:e>
                              <m:sub>
                                <m:r>
                                  <a:rPr lang="en-US" altLang="zh-CN" sz="2000" b="0" i="1" dirty="0">
                                    <a:latin typeface="Cambria Math" panose="02040503050406030204" pitchFamily="18" charset="0"/>
                                  </a:rPr>
                                  <m:t>𝑖</m:t>
                                </m:r>
                              </m:sub>
                            </m:sSub>
                            <m:r>
                              <a:rPr lang="en-US" altLang="zh-CN" sz="2000" b="0" i="1" dirty="0">
                                <a:latin typeface="Cambria Math" panose="02040503050406030204" pitchFamily="18" charset="0"/>
                              </a:rPr>
                              <m:t>)</m:t>
                            </m:r>
                          </m:num>
                          <m:den>
                            <m:r>
                              <a:rPr lang="en-US" altLang="zh-CN" sz="2000" b="0" i="1" dirty="0">
                                <a:latin typeface="Cambria Math" panose="02040503050406030204" pitchFamily="18" charset="0"/>
                              </a:rPr>
                              <m:t>2</m:t>
                            </m:r>
                            <m:r>
                              <a:rPr lang="en-US" altLang="zh-CN" sz="2000" b="0" i="1" dirty="0">
                                <a:latin typeface="Cambria Math" panose="02040503050406030204" pitchFamily="18" charset="0"/>
                                <a:ea typeface="Cambria Math" panose="02040503050406030204" pitchFamily="18" charset="0"/>
                              </a:rPr>
                              <m:t>∆</m:t>
                            </m:r>
                            <m:r>
                              <a:rPr lang="en-US" altLang="zh-CN" sz="2000" b="0" i="1" dirty="0">
                                <a:latin typeface="Cambria Math" panose="02040503050406030204" pitchFamily="18" charset="0"/>
                                <a:ea typeface="Cambria Math" panose="02040503050406030204" pitchFamily="18" charset="0"/>
                              </a:rPr>
                              <m:t>𝑢</m:t>
                            </m:r>
                          </m:den>
                        </m:f>
                        <m:r>
                          <a:rPr lang="en-US" altLang="zh-CN" sz="2000" b="0" i="1" dirty="0">
                            <a:latin typeface="Cambria Math" panose="02040503050406030204" pitchFamily="18" charset="0"/>
                          </a:rPr>
                          <m:t>)</m:t>
                        </m:r>
                      </m:num>
                      <m:den>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𝑗</m:t>
                            </m:r>
                          </m:sub>
                          <m:sup/>
                          <m:e>
                            <m:r>
                              <a:rPr lang="en-US" altLang="zh-CN" sz="2400" b="0" i="1" dirty="0">
                                <a:latin typeface="Cambria Math" panose="02040503050406030204" pitchFamily="18" charset="0"/>
                              </a:rPr>
                              <m:t>𝑒𝑥𝑝</m:t>
                            </m:r>
                            <m:r>
                              <a:rPr lang="en-US" altLang="zh-CN" sz="2400" b="0" i="1" dirty="0">
                                <a:latin typeface="Cambria Math" panose="02040503050406030204" pitchFamily="18" charset="0"/>
                              </a:rPr>
                              <m:t>(</m:t>
                            </m:r>
                            <m:f>
                              <m:fPr>
                                <m:ctrlPr>
                                  <a:rPr lang="en-US" altLang="zh-CN" sz="2400" b="0" i="1" dirty="0">
                                    <a:latin typeface="Cambria Math" panose="02040503050406030204" pitchFamily="18" charset="0"/>
                                  </a:rPr>
                                </m:ctrlPr>
                              </m:fPr>
                              <m:num>
                                <m:r>
                                  <a:rPr lang="en-US" altLang="zh-CN" sz="2400" b="0" i="1" dirty="0">
                                    <a:latin typeface="Cambria Math" panose="02040503050406030204" pitchFamily="18" charset="0"/>
                                  </a:rPr>
                                  <m:t>𝜖</m:t>
                                </m:r>
                                <m:r>
                                  <a:rPr lang="en-US" altLang="zh-CN" sz="2400" b="0" i="1" dirty="0">
                                    <a:latin typeface="Cambria Math" panose="02040503050406030204" pitchFamily="18" charset="0"/>
                                  </a:rPr>
                                  <m:t>𝑢</m:t>
                                </m:r>
                                <m:r>
                                  <a:rPr lang="en-US" altLang="zh-CN" sz="2400" b="0" i="1" dirty="0">
                                    <a:latin typeface="Cambria Math" panose="02040503050406030204" pitchFamily="18" charset="0"/>
                                  </a:rPr>
                                  <m:t>(</m:t>
                                </m:r>
                                <m:r>
                                  <a:rPr lang="en-US" altLang="zh-CN" sz="2400" b="0" i="1" dirty="0">
                                    <a:latin typeface="Cambria Math" panose="02040503050406030204" pitchFamily="18" charset="0"/>
                                  </a:rPr>
                                  <m:t>𝑥</m:t>
                                </m:r>
                                <m:r>
                                  <a:rPr lang="en-US" altLang="zh-CN" sz="2400" b="0" i="1" dirty="0">
                                    <a:latin typeface="Cambria Math" panose="02040503050406030204" pitchFamily="18" charset="0"/>
                                  </a:rPr>
                                  <m:t>,</m:t>
                                </m:r>
                                <m:sSub>
                                  <m:sSubPr>
                                    <m:ctrlPr>
                                      <a:rPr lang="en-US" altLang="zh-CN" sz="2400" b="0" i="1" dirty="0">
                                        <a:latin typeface="Cambria Math" panose="02040503050406030204" pitchFamily="18" charset="0"/>
                                      </a:rPr>
                                    </m:ctrlPr>
                                  </m:sSubPr>
                                  <m:e>
                                    <m:r>
                                      <a:rPr lang="en-US" altLang="zh-CN" sz="2400" b="0" i="1" dirty="0">
                                        <a:latin typeface="Cambria Math" panose="02040503050406030204" pitchFamily="18" charset="0"/>
                                      </a:rPr>
                                      <m:t>𝑟</m:t>
                                    </m:r>
                                  </m:e>
                                  <m:sub>
                                    <m:r>
                                      <a:rPr lang="en-US" altLang="zh-CN" sz="2400" b="0" i="1" dirty="0">
                                        <a:latin typeface="Cambria Math" panose="02040503050406030204" pitchFamily="18" charset="0"/>
                                      </a:rPr>
                                      <m:t>𝑖</m:t>
                                    </m:r>
                                  </m:sub>
                                </m:sSub>
                                <m:r>
                                  <a:rPr lang="en-US" altLang="zh-CN" sz="2400" b="0" i="1" dirty="0">
                                    <a:latin typeface="Cambria Math" panose="02040503050406030204" pitchFamily="18" charset="0"/>
                                  </a:rPr>
                                  <m:t>)</m:t>
                                </m:r>
                              </m:num>
                              <m:den>
                                <m:r>
                                  <a:rPr lang="en-US" altLang="zh-CN" sz="2400" b="0" i="1" dirty="0">
                                    <a:latin typeface="Cambria Math" panose="02040503050406030204" pitchFamily="18" charset="0"/>
                                  </a:rPr>
                                  <m:t>2</m:t>
                                </m:r>
                                <m:r>
                                  <a:rPr lang="en-US" altLang="zh-CN" sz="2400" b="0" i="1" dirty="0">
                                    <a:latin typeface="Cambria Math" panose="02040503050406030204" pitchFamily="18" charset="0"/>
                                    <a:ea typeface="Cambria Math" panose="02040503050406030204" pitchFamily="18" charset="0"/>
                                  </a:rPr>
                                  <m:t>∆</m:t>
                                </m:r>
                                <m:r>
                                  <a:rPr lang="en-US" altLang="zh-CN" sz="2400" b="0" i="1" dirty="0">
                                    <a:latin typeface="Cambria Math" panose="02040503050406030204" pitchFamily="18" charset="0"/>
                                    <a:ea typeface="Cambria Math" panose="02040503050406030204" pitchFamily="18" charset="0"/>
                                  </a:rPr>
                                  <m:t>𝑢</m:t>
                                </m:r>
                              </m:den>
                            </m:f>
                          </m:e>
                        </m:nary>
                        <m:r>
                          <a:rPr lang="en-US" altLang="zh-CN" sz="2000" b="0" i="1" dirty="0">
                            <a:latin typeface="Cambria Math" panose="02040503050406030204" pitchFamily="18" charset="0"/>
                          </a:rPr>
                          <m:t>)</m:t>
                        </m:r>
                      </m:den>
                    </m:f>
                  </m:oMath>
                </a14:m>
                <a:endParaRPr lang="zh-CN" altLang="en-US" b="0" dirty="0"/>
              </a:p>
            </p:txBody>
          </p:sp>
        </mc:Choice>
        <mc:Fallback xmlns="">
          <p:sp>
            <p:nvSpPr>
              <p:cNvPr id="2" name="内容占位符 1">
                <a:extLst>
                  <a:ext uri="{FF2B5EF4-FFF2-40B4-BE49-F238E27FC236}">
                    <a16:creationId xmlns:a16="http://schemas.microsoft.com/office/drawing/2014/main" id="{A1C21C6E-1F2C-86B6-1C7F-F6008FB7A73C}"/>
                  </a:ext>
                </a:extLst>
              </p:cNvPr>
              <p:cNvSpPr>
                <a:spLocks noGrp="1" noRot="1" noChangeAspect="1" noMove="1" noResize="1" noEditPoints="1" noAdjustHandles="1" noChangeArrowheads="1" noChangeShapeType="1" noTextEdit="1"/>
              </p:cNvSpPr>
              <p:nvPr>
                <p:ph idx="1"/>
              </p:nvPr>
            </p:nvSpPr>
            <p:spPr>
              <a:xfrm>
                <a:off x="348060" y="1061254"/>
                <a:ext cx="11464528" cy="5625295"/>
              </a:xfrm>
              <a:blipFill>
                <a:blip r:embed="rId3"/>
                <a:stretch>
                  <a:fillRect l="-904" t="-650" r="-3456" b="-2709"/>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56AD8B91-EC26-604F-B083-76A97393D5A9}"/>
              </a:ext>
            </a:extLst>
          </p:cNvPr>
          <p:cNvSpPr>
            <a:spLocks noGrp="1"/>
          </p:cNvSpPr>
          <p:nvPr>
            <p:ph type="sldNum" sz="quarter" idx="4"/>
          </p:nvPr>
        </p:nvSpPr>
        <p:spPr/>
        <p:txBody>
          <a:bodyPr/>
          <a:lstStyle/>
          <a:p>
            <a:fld id="{4124EDF5-87F7-4AC5-8292-B04417157FC2}" type="slidenum">
              <a:rPr lang="zh-CN" altLang="en-US" smtClean="0"/>
              <a:t>33</a:t>
            </a:fld>
            <a:endParaRPr lang="zh-CN" altLang="en-US"/>
          </a:p>
        </p:txBody>
      </p:sp>
      <p:sp>
        <p:nvSpPr>
          <p:cNvPr id="4" name="标题 3">
            <a:extLst>
              <a:ext uri="{FF2B5EF4-FFF2-40B4-BE49-F238E27FC236}">
                <a16:creationId xmlns:a16="http://schemas.microsoft.com/office/drawing/2014/main" id="{F72F3A0B-1D57-A2DE-6BA9-8E5A3A4711EB}"/>
              </a:ext>
            </a:extLst>
          </p:cNvPr>
          <p:cNvSpPr>
            <a:spLocks noGrp="1"/>
          </p:cNvSpPr>
          <p:nvPr>
            <p:ph type="title"/>
          </p:nvPr>
        </p:nvSpPr>
        <p:spPr/>
        <p:txBody>
          <a:bodyPr/>
          <a:lstStyle/>
          <a:p>
            <a:r>
              <a:rPr lang="zh-CN" altLang="en-US" dirty="0"/>
              <a:t>指数机制</a:t>
            </a:r>
          </a:p>
        </p:txBody>
      </p:sp>
    </p:spTree>
    <p:extLst>
      <p:ext uri="{BB962C8B-B14F-4D97-AF65-F5344CB8AC3E}">
        <p14:creationId xmlns:p14="http://schemas.microsoft.com/office/powerpoint/2010/main" val="18956392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06A1ADC-ACE3-DDCC-8CF9-4B6BFC5F04E6}"/>
              </a:ext>
            </a:extLst>
          </p:cNvPr>
          <p:cNvSpPr>
            <a:spLocks noGrp="1"/>
          </p:cNvSpPr>
          <p:nvPr>
            <p:ph idx="1"/>
          </p:nvPr>
        </p:nvSpPr>
        <p:spPr>
          <a:xfrm>
            <a:off x="371301" y="1232705"/>
            <a:ext cx="11464528" cy="1046995"/>
          </a:xfrm>
        </p:spPr>
        <p:txBody>
          <a:bodyPr/>
          <a:lstStyle/>
          <a:p>
            <a:r>
              <a:rPr lang="zh-CN" altLang="en-US" sz="1800" dirty="0"/>
              <a:t>假设某基地正在举办一场体育比赛，可以选择的项目有足球、排球、篮球和网球。参与者们对这些项目投票。举办方希望在投票票数不被泄露的情况下选出参与者投票最多的项目。使用差分隐私指数机制，以每个选项的得票数量作为打分函数，最后得到每个项目所对应的得分，见表</a:t>
            </a:r>
            <a:r>
              <a:rPr lang="en-US" altLang="zh-CN" sz="1800" dirty="0"/>
              <a:t>7.9</a:t>
            </a:r>
            <a:r>
              <a:rPr lang="zh-CN" altLang="en-US" sz="1800" dirty="0"/>
              <a:t>。因为是以得票数量作为打分函数，所以单条记录对得分的最大影响为</a:t>
            </a:r>
            <a:r>
              <a:rPr lang="en-US" altLang="zh-CN" sz="1800" dirty="0"/>
              <a:t>1</a:t>
            </a:r>
            <a:r>
              <a:rPr lang="zh-CN" altLang="en-US" sz="1800" dirty="0"/>
              <a:t>，故打分函数的敏感度为</a:t>
            </a:r>
            <a:r>
              <a:rPr lang="en-US" altLang="zh-CN" sz="1800" dirty="0"/>
              <a:t>1</a:t>
            </a:r>
            <a:r>
              <a:rPr lang="zh-CN" altLang="en-US" sz="1800" dirty="0"/>
              <a:t>。在给定隐私预算的情况下，可以计算出各个项目的输出概率。</a:t>
            </a:r>
          </a:p>
        </p:txBody>
      </p:sp>
      <p:sp>
        <p:nvSpPr>
          <p:cNvPr id="3" name="灯片编号占位符 2">
            <a:extLst>
              <a:ext uri="{FF2B5EF4-FFF2-40B4-BE49-F238E27FC236}">
                <a16:creationId xmlns:a16="http://schemas.microsoft.com/office/drawing/2014/main" id="{C6AA332E-A80C-0E93-924D-340D1F746CA1}"/>
              </a:ext>
            </a:extLst>
          </p:cNvPr>
          <p:cNvSpPr>
            <a:spLocks noGrp="1"/>
          </p:cNvSpPr>
          <p:nvPr>
            <p:ph type="sldNum" sz="quarter" idx="4"/>
          </p:nvPr>
        </p:nvSpPr>
        <p:spPr/>
        <p:txBody>
          <a:bodyPr/>
          <a:lstStyle/>
          <a:p>
            <a:fld id="{4124EDF5-87F7-4AC5-8292-B04417157FC2}" type="slidenum">
              <a:rPr lang="zh-CN" altLang="en-US" smtClean="0"/>
              <a:t>34</a:t>
            </a:fld>
            <a:endParaRPr lang="zh-CN" altLang="en-US"/>
          </a:p>
        </p:txBody>
      </p:sp>
      <p:sp>
        <p:nvSpPr>
          <p:cNvPr id="4" name="标题 3">
            <a:extLst>
              <a:ext uri="{FF2B5EF4-FFF2-40B4-BE49-F238E27FC236}">
                <a16:creationId xmlns:a16="http://schemas.microsoft.com/office/drawing/2014/main" id="{B8CCE5F1-852B-317E-D79A-20C897EC1828}"/>
              </a:ext>
            </a:extLst>
          </p:cNvPr>
          <p:cNvSpPr>
            <a:spLocks noGrp="1"/>
          </p:cNvSpPr>
          <p:nvPr>
            <p:ph type="title"/>
          </p:nvPr>
        </p:nvSpPr>
        <p:spPr/>
        <p:txBody>
          <a:bodyPr/>
          <a:lstStyle/>
          <a:p>
            <a:r>
              <a:rPr lang="zh-CN" altLang="en-US" dirty="0"/>
              <a:t>指数机制用例</a:t>
            </a:r>
          </a:p>
        </p:txBody>
      </p:sp>
      <p:pic>
        <p:nvPicPr>
          <p:cNvPr id="5" name="图片 4">
            <a:extLst>
              <a:ext uri="{FF2B5EF4-FFF2-40B4-BE49-F238E27FC236}">
                <a16:creationId xmlns:a16="http://schemas.microsoft.com/office/drawing/2014/main" id="{CBDF7209-4603-6F70-5423-DC2D72D3A410}"/>
              </a:ext>
            </a:extLst>
          </p:cNvPr>
          <p:cNvPicPr>
            <a:picLocks noChangeAspect="1"/>
          </p:cNvPicPr>
          <p:nvPr/>
        </p:nvPicPr>
        <p:blipFill>
          <a:blip r:embed="rId2"/>
          <a:stretch>
            <a:fillRect/>
          </a:stretch>
        </p:blipFill>
        <p:spPr>
          <a:xfrm>
            <a:off x="1464967" y="2979699"/>
            <a:ext cx="8422481" cy="2298600"/>
          </a:xfrm>
          <a:prstGeom prst="rect">
            <a:avLst/>
          </a:prstGeom>
        </p:spPr>
      </p:pic>
      <mc:AlternateContent xmlns:mc="http://schemas.openxmlformats.org/markup-compatibility/2006" xmlns:a14="http://schemas.microsoft.com/office/drawing/2010/main">
        <mc:Choice Requires="a14">
          <p:sp>
            <p:nvSpPr>
              <p:cNvPr id="6" name="内容占位符 1">
                <a:extLst>
                  <a:ext uri="{FF2B5EF4-FFF2-40B4-BE49-F238E27FC236}">
                    <a16:creationId xmlns:a16="http://schemas.microsoft.com/office/drawing/2014/main" id="{0DB55692-3134-2BBC-25CD-300D4301F83D}"/>
                  </a:ext>
                </a:extLst>
              </p:cNvPr>
              <p:cNvSpPr txBox="1">
                <a:spLocks/>
              </p:cNvSpPr>
              <p:nvPr/>
            </p:nvSpPr>
            <p:spPr bwMode="auto">
              <a:xfrm>
                <a:off x="379412" y="5353805"/>
                <a:ext cx="11464528" cy="104699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just" rtl="0" eaLnBrk="1" fontAlgn="base" hangingPunct="1">
                  <a:lnSpc>
                    <a:spcPct val="120000"/>
                  </a:lnSpc>
                  <a:spcBef>
                    <a:spcPts val="600"/>
                  </a:spcBef>
                  <a:spcAft>
                    <a:spcPts val="600"/>
                  </a:spcAft>
                  <a:buClr>
                    <a:srgbClr val="FF9933"/>
                  </a:buClr>
                  <a:buChar char="•"/>
                  <a:defRPr kumimoji="1" sz="24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1pPr>
                <a:lvl2pPr marL="557213" indent="-214313" algn="just" rtl="0" eaLnBrk="1" fontAlgn="base" hangingPunct="1">
                  <a:lnSpc>
                    <a:spcPct val="120000"/>
                  </a:lnSpc>
                  <a:spcBef>
                    <a:spcPts val="600"/>
                  </a:spcBef>
                  <a:spcAft>
                    <a:spcPts val="600"/>
                  </a:spcAft>
                  <a:buClr>
                    <a:srgbClr val="FF9933"/>
                  </a:buClr>
                  <a:buChar char="–"/>
                  <a:defRPr kumimoji="1" sz="21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2pPr>
                <a:lvl3pPr marL="857250" indent="-171450" algn="just" rtl="0" eaLnBrk="1" fontAlgn="base" hangingPunct="1">
                  <a:lnSpc>
                    <a:spcPct val="120000"/>
                  </a:lnSpc>
                  <a:spcBef>
                    <a:spcPts val="600"/>
                  </a:spcBef>
                  <a:spcAft>
                    <a:spcPts val="600"/>
                  </a:spcAft>
                  <a:buClr>
                    <a:srgbClr val="FF9933"/>
                  </a:buClr>
                  <a:buChar char="•"/>
                  <a:defRPr kumimoji="1" sz="18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3pPr>
                <a:lvl4pPr marL="1200150" indent="-171450" algn="just" rtl="0" eaLnBrk="1" fontAlgn="base" hangingPunct="1">
                  <a:lnSpc>
                    <a:spcPct val="120000"/>
                  </a:lnSpc>
                  <a:spcBef>
                    <a:spcPts val="600"/>
                  </a:spcBef>
                  <a:spcAft>
                    <a:spcPts val="600"/>
                  </a:spcAft>
                  <a:buClr>
                    <a:srgbClr val="FF9933"/>
                  </a:buClr>
                  <a:buChar char="–"/>
                  <a:defRPr kumimoji="1" sz="1500" b="1" i="0">
                    <a:solidFill>
                      <a:schemeClr val="tx1"/>
                    </a:solidFill>
                    <a:latin typeface="微软雅黑 Light" panose="020B0502040204020203" pitchFamily="34" charset="-122"/>
                    <a:ea typeface="微软雅黑 Light" panose="020B0502040204020203" pitchFamily="34" charset="-122"/>
                    <a:cs typeface="Arial" panose="020B0604020202020204" pitchFamily="34" charset="0"/>
                  </a:defRPr>
                </a:lvl4pPr>
                <a:lvl5pPr marL="1543050" indent="-171450" algn="just" rtl="0" eaLnBrk="1" fontAlgn="base" hangingPunct="1">
                  <a:spcBef>
                    <a:spcPct val="20000"/>
                  </a:spcBef>
                  <a:spcAft>
                    <a:spcPct val="0"/>
                  </a:spcAft>
                  <a:buChar char="»"/>
                  <a:defRPr kumimoji="1" sz="1500">
                    <a:solidFill>
                      <a:schemeClr val="tx1"/>
                    </a:solidFill>
                    <a:latin typeface="Times New Roman" panose="02020603050405020304" pitchFamily="18" charset="0"/>
                    <a:ea typeface="+mn-ea"/>
                    <a:cs typeface="Times New Roman" panose="02020603050405020304" pitchFamily="18"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r>
                  <a:rPr lang="zh-CN" altLang="en-US" sz="1800" dirty="0"/>
                  <a:t>从表 </a:t>
                </a:r>
                <a:r>
                  <a:rPr lang="en-US" altLang="zh-CN" sz="1800" dirty="0"/>
                  <a:t>7.9 </a:t>
                </a:r>
                <a:r>
                  <a:rPr lang="zh-CN" altLang="en-US" sz="1800" dirty="0"/>
                  <a:t>中可以看出，当</a:t>
                </a:r>
                <a14:m>
                  <m:oMath xmlns:m="http://schemas.openxmlformats.org/officeDocument/2006/math">
                    <m:r>
                      <a:rPr lang="en-US" altLang="zh-CN" sz="1800" i="1" dirty="0" smtClean="0">
                        <a:latin typeface="Cambria Math" panose="02040503050406030204" pitchFamily="18" charset="0"/>
                      </a:rPr>
                      <m:t>𝝐</m:t>
                    </m:r>
                    <m:r>
                      <a:rPr lang="en-US" altLang="zh-CN" sz="1800" i="1" dirty="0">
                        <a:latin typeface="Cambria Math" panose="02040503050406030204" pitchFamily="18" charset="0"/>
                      </a:rPr>
                      <m:t>=0</m:t>
                    </m:r>
                  </m:oMath>
                </a14:m>
                <a:r>
                  <a:rPr lang="zh-CN" altLang="en-US" sz="1800" dirty="0"/>
                  <a:t>时，提供完全的隐私保护，因为输出每个项目的概率一样，但同时数据的可用性为</a:t>
                </a:r>
                <a:r>
                  <a:rPr lang="en-US" altLang="zh-CN" sz="1800" dirty="0"/>
                  <a:t>0</a:t>
                </a:r>
                <a:r>
                  <a:rPr lang="zh-CN" altLang="en-US" sz="1800" dirty="0"/>
                  <a:t>。随着</a:t>
                </a:r>
                <a14:m>
                  <m:oMath xmlns:m="http://schemas.openxmlformats.org/officeDocument/2006/math">
                    <m:r>
                      <a:rPr lang="en-US" altLang="zh-CN" sz="1800" i="1" dirty="0">
                        <a:latin typeface="Cambria Math" panose="02040503050406030204" pitchFamily="18" charset="0"/>
                      </a:rPr>
                      <m:t>𝝐</m:t>
                    </m:r>
                  </m:oMath>
                </a14:m>
                <a:r>
                  <a:rPr lang="zh-CN" altLang="en-US" sz="1800" dirty="0"/>
                  <a:t>增大，输出期望结果（即票数最多的项目）的可能性也越大。我们可以得出结论：在指数机制中，隐私预算 </a:t>
                </a:r>
                <a14:m>
                  <m:oMath xmlns:m="http://schemas.openxmlformats.org/officeDocument/2006/math">
                    <m:r>
                      <a:rPr lang="en-US" altLang="zh-CN" sz="1800" i="1" dirty="0">
                        <a:latin typeface="Cambria Math" panose="02040503050406030204" pitchFamily="18" charset="0"/>
                      </a:rPr>
                      <m:t>𝝐</m:t>
                    </m:r>
                  </m:oMath>
                </a14:m>
                <a:r>
                  <a:rPr lang="zh-CN" altLang="en-US" sz="1800" dirty="0"/>
                  <a:t>和数据可用性成正比，和隐私保护成反比。</a:t>
                </a:r>
                <a:endParaRPr lang="zh-CN" altLang="en-US" sz="1800" kern="0" dirty="0"/>
              </a:p>
            </p:txBody>
          </p:sp>
        </mc:Choice>
        <mc:Fallback xmlns="">
          <p:sp>
            <p:nvSpPr>
              <p:cNvPr id="6" name="内容占位符 1">
                <a:extLst>
                  <a:ext uri="{FF2B5EF4-FFF2-40B4-BE49-F238E27FC236}">
                    <a16:creationId xmlns:a16="http://schemas.microsoft.com/office/drawing/2014/main" id="{0DB55692-3134-2BBC-25CD-300D4301F83D}"/>
                  </a:ext>
                </a:extLst>
              </p:cNvPr>
              <p:cNvSpPr txBox="1">
                <a:spLocks noRot="1" noChangeAspect="1" noMove="1" noResize="1" noEditPoints="1" noAdjustHandles="1" noChangeArrowheads="1" noChangeShapeType="1" noTextEdit="1"/>
              </p:cNvSpPr>
              <p:nvPr/>
            </p:nvSpPr>
            <p:spPr bwMode="auto">
              <a:xfrm>
                <a:off x="379412" y="5353805"/>
                <a:ext cx="11464528" cy="1046995"/>
              </a:xfrm>
              <a:prstGeom prst="rect">
                <a:avLst/>
              </a:prstGeom>
              <a:blipFill>
                <a:blip r:embed="rId3"/>
                <a:stretch>
                  <a:fillRect l="-532" t="-1744" r="-2446" b="-988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7326031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03A9A4C4-54ED-3DA2-A438-6E84EBBAEC25}"/>
              </a:ext>
            </a:extLst>
          </p:cNvPr>
          <p:cNvSpPr>
            <a:spLocks noGrp="1"/>
          </p:cNvSpPr>
          <p:nvPr>
            <p:ph type="sldNum" sz="quarter" idx="4"/>
          </p:nvPr>
        </p:nvSpPr>
        <p:spPr/>
        <p:txBody>
          <a:bodyPr/>
          <a:lstStyle/>
          <a:p>
            <a:fld id="{4124EDF5-87F7-4AC5-8292-B04417157FC2}" type="slidenum">
              <a:rPr lang="zh-CN" altLang="en-US" smtClean="0"/>
              <a:t>35</a:t>
            </a:fld>
            <a:endParaRPr lang="zh-CN" altLang="en-US"/>
          </a:p>
        </p:txBody>
      </p:sp>
      <p:sp>
        <p:nvSpPr>
          <p:cNvPr id="4" name="标题 3">
            <a:extLst>
              <a:ext uri="{FF2B5EF4-FFF2-40B4-BE49-F238E27FC236}">
                <a16:creationId xmlns:a16="http://schemas.microsoft.com/office/drawing/2014/main" id="{37F4D8F0-4CB7-3EF9-63FE-228A550EAD3B}"/>
              </a:ext>
            </a:extLst>
          </p:cNvPr>
          <p:cNvSpPr>
            <a:spLocks noGrp="1"/>
          </p:cNvSpPr>
          <p:nvPr>
            <p:ph type="title"/>
          </p:nvPr>
        </p:nvSpPr>
        <p:spPr/>
        <p:txBody>
          <a:bodyPr/>
          <a:lstStyle/>
          <a:p>
            <a:r>
              <a:rPr lang="zh-CN" altLang="en-US" dirty="0"/>
              <a:t>应用与挑战</a:t>
            </a:r>
          </a:p>
        </p:txBody>
      </p:sp>
      <p:sp>
        <p:nvSpPr>
          <p:cNvPr id="5" name="Rectangle 1">
            <a:extLst>
              <a:ext uri="{FF2B5EF4-FFF2-40B4-BE49-F238E27FC236}">
                <a16:creationId xmlns:a16="http://schemas.microsoft.com/office/drawing/2014/main" id="{11EBAA90-677D-5E9D-6EFC-4F8B5743087E}"/>
              </a:ext>
            </a:extLst>
          </p:cNvPr>
          <p:cNvSpPr>
            <a:spLocks noGrp="1" noChangeArrowheads="1"/>
          </p:cNvSpPr>
          <p:nvPr>
            <p:ph idx="1"/>
          </p:nvPr>
        </p:nvSpPr>
        <p:spPr bwMode="auto">
          <a:xfrm>
            <a:off x="371303" y="1173455"/>
            <a:ext cx="8086188" cy="5365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defTabSz="914400" latinLnBrk="0">
              <a:spcBef>
                <a:spcPts val="200"/>
              </a:spcBef>
              <a:spcAft>
                <a:spcPts val="200"/>
              </a:spcAft>
              <a:buSzTx/>
              <a:buFontTx/>
              <a:buChar char="•"/>
              <a:tabLst/>
            </a:pPr>
            <a:r>
              <a:rPr lang="zh-CN" altLang="zh-CN" dirty="0"/>
              <a:t>优势</a:t>
            </a:r>
          </a:p>
          <a:p>
            <a:pPr marR="0" lvl="1" defTabSz="914400" latinLnBrk="0">
              <a:spcBef>
                <a:spcPts val="200"/>
              </a:spcBef>
              <a:spcAft>
                <a:spcPts val="200"/>
              </a:spcAft>
              <a:buSzTx/>
              <a:buFontTx/>
              <a:buChar char="–"/>
              <a:tabLst/>
            </a:pPr>
            <a:r>
              <a:rPr lang="zh-CN" altLang="zh-CN" dirty="0">
                <a:latin typeface="Cambria Math" panose="02040503050406030204" pitchFamily="18" charset="0"/>
              </a:rPr>
              <a:t>严谨的数学定义，提供极强的隐私保护能力</a:t>
            </a:r>
          </a:p>
          <a:p>
            <a:pPr marR="0" lvl="1" defTabSz="914400" latinLnBrk="0">
              <a:spcBef>
                <a:spcPts val="200"/>
              </a:spcBef>
              <a:spcAft>
                <a:spcPts val="200"/>
              </a:spcAft>
              <a:buSzTx/>
              <a:buFontTx/>
              <a:buChar char="–"/>
              <a:tabLst/>
            </a:pPr>
            <a:r>
              <a:rPr lang="zh-CN" altLang="zh-CN" dirty="0">
                <a:latin typeface="Cambria Math" panose="02040503050406030204" pitchFamily="18" charset="0"/>
              </a:rPr>
              <a:t>即使攻击者几乎掌握所有数据，依然能保护隐私</a:t>
            </a:r>
          </a:p>
          <a:p>
            <a:pPr marR="0" lvl="1" defTabSz="914400" latinLnBrk="0">
              <a:spcBef>
                <a:spcPts val="200"/>
              </a:spcBef>
              <a:spcAft>
                <a:spcPts val="200"/>
              </a:spcAft>
              <a:buSzTx/>
              <a:buFontTx/>
              <a:buChar char="–"/>
              <a:tabLst/>
            </a:pPr>
            <a:r>
              <a:rPr lang="zh-CN" altLang="zh-CN" dirty="0">
                <a:latin typeface="Cambria Math" panose="02040503050406030204" pitchFamily="18" charset="0"/>
              </a:rPr>
              <a:t>已被苹果等公司广泛应用</a:t>
            </a:r>
          </a:p>
          <a:p>
            <a:pPr marR="0" lvl="0" defTabSz="914400" latinLnBrk="0">
              <a:spcBef>
                <a:spcPts val="200"/>
              </a:spcBef>
              <a:spcAft>
                <a:spcPts val="200"/>
              </a:spcAft>
              <a:buSzTx/>
              <a:buFontTx/>
              <a:buChar char="•"/>
              <a:tabLst/>
            </a:pPr>
            <a:r>
              <a:rPr lang="zh-CN" altLang="zh-CN" dirty="0"/>
              <a:t>问题</a:t>
            </a:r>
          </a:p>
          <a:p>
            <a:pPr marR="0" lvl="1" defTabSz="914400" latinLnBrk="0">
              <a:spcBef>
                <a:spcPts val="200"/>
              </a:spcBef>
              <a:spcAft>
                <a:spcPts val="200"/>
              </a:spcAft>
              <a:buSzTx/>
              <a:buFontTx/>
              <a:buChar char="–"/>
              <a:tabLst/>
            </a:pPr>
            <a:r>
              <a:rPr lang="zh-CN" altLang="zh-CN" dirty="0">
                <a:latin typeface="Cambria Math" panose="02040503050406030204" pitchFamily="18" charset="0"/>
              </a:rPr>
              <a:t>高强度保护 → 引入大量噪声</a:t>
            </a:r>
          </a:p>
          <a:p>
            <a:pPr marR="0" lvl="1" defTabSz="914400" latinLnBrk="0">
              <a:spcBef>
                <a:spcPts val="200"/>
              </a:spcBef>
              <a:spcAft>
                <a:spcPts val="200"/>
              </a:spcAft>
              <a:buSzTx/>
              <a:buFontTx/>
              <a:buChar char="–"/>
              <a:tabLst/>
            </a:pPr>
            <a:r>
              <a:rPr lang="zh-CN" altLang="zh-CN" dirty="0">
                <a:latin typeface="Cambria Math" panose="02040503050406030204" pitchFamily="18" charset="0"/>
              </a:rPr>
              <a:t>导致结果可用性下降，部分查询甚至失效</a:t>
            </a:r>
          </a:p>
          <a:p>
            <a:pPr marR="0" lvl="1" defTabSz="914400" latinLnBrk="0">
              <a:spcBef>
                <a:spcPts val="200"/>
              </a:spcBef>
              <a:spcAft>
                <a:spcPts val="200"/>
              </a:spcAft>
              <a:buSzTx/>
              <a:buFontTx/>
              <a:buChar char="–"/>
              <a:tabLst/>
            </a:pPr>
            <a:r>
              <a:rPr lang="zh-CN" altLang="zh-CN" dirty="0">
                <a:latin typeface="Cambria Math" panose="02040503050406030204" pitchFamily="18" charset="0"/>
              </a:rPr>
              <a:t>若现实中不存在如此强大的攻击者 → 产生过量噪声，造成浪费</a:t>
            </a:r>
          </a:p>
          <a:p>
            <a:pPr marR="0" lvl="0" defTabSz="914400" latinLnBrk="0">
              <a:spcBef>
                <a:spcPts val="200"/>
              </a:spcBef>
              <a:spcAft>
                <a:spcPts val="200"/>
              </a:spcAft>
              <a:buSzTx/>
              <a:buFontTx/>
              <a:buChar char="•"/>
              <a:tabLst/>
            </a:pPr>
            <a:r>
              <a:rPr lang="zh-CN" altLang="zh-CN" dirty="0"/>
              <a:t>讨论与发展</a:t>
            </a:r>
          </a:p>
          <a:p>
            <a:pPr marR="0" lvl="1" defTabSz="914400" latinLnBrk="0">
              <a:spcBef>
                <a:spcPts val="200"/>
              </a:spcBef>
              <a:spcAft>
                <a:spcPts val="200"/>
              </a:spcAft>
              <a:buSzTx/>
              <a:buFontTx/>
              <a:buChar char="–"/>
              <a:tabLst/>
            </a:pPr>
            <a:r>
              <a:rPr lang="zh-CN" altLang="zh-CN" dirty="0">
                <a:latin typeface="Cambria Math" panose="02040503050406030204" pitchFamily="18" charset="0"/>
              </a:rPr>
              <a:t>是否过于严苛成为实际应用中的争议点</a:t>
            </a:r>
          </a:p>
          <a:p>
            <a:pPr marR="0" lvl="1" defTabSz="914400" latinLnBrk="0">
              <a:spcBef>
                <a:spcPts val="200"/>
              </a:spcBef>
              <a:spcAft>
                <a:spcPts val="200"/>
              </a:spcAft>
              <a:buSzTx/>
              <a:buFontTx/>
              <a:buChar char="–"/>
              <a:tabLst/>
            </a:pPr>
            <a:r>
              <a:rPr lang="zh-CN" altLang="zh-CN" dirty="0">
                <a:latin typeface="Cambria Math" panose="02040503050406030204" pitchFamily="18" charset="0"/>
              </a:rPr>
              <a:t>出现了改进方法：在保证隐私的同时，合理弱化假设</a:t>
            </a:r>
          </a:p>
          <a:p>
            <a:pPr marL="0" marR="0" lvl="0" indent="0" algn="l" defTabSz="914400" rtl="0" eaLnBrk="0" fontAlgn="base" latinLnBrk="0" hangingPunct="0">
              <a:lnSpc>
                <a:spcPct val="100000"/>
              </a:lnSpc>
              <a:spcBef>
                <a:spcPts val="200"/>
              </a:spcBef>
              <a:spcAft>
                <a:spcPts val="20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416764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45204-658D-109A-9158-4E3857A3EEA3}"/>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05A4E3A-D63D-6C73-3179-BE5CA2CC7281}"/>
              </a:ext>
            </a:extLst>
          </p:cNvPr>
          <p:cNvSpPr>
            <a:spLocks noGrp="1"/>
          </p:cNvSpPr>
          <p:nvPr>
            <p:ph type="sldNum" sz="quarter" idx="4"/>
          </p:nvPr>
        </p:nvSpPr>
        <p:spPr/>
        <p:txBody>
          <a:bodyPr/>
          <a:lstStyle/>
          <a:p>
            <a:fld id="{4124EDF5-87F7-4AC5-8292-B04417157FC2}" type="slidenum">
              <a:rPr lang="zh-CN" altLang="en-US" smtClean="0"/>
              <a:t>36</a:t>
            </a:fld>
            <a:endParaRPr lang="zh-CN" altLang="en-US"/>
          </a:p>
        </p:txBody>
      </p:sp>
      <p:sp>
        <p:nvSpPr>
          <p:cNvPr id="4" name="标题 3">
            <a:extLst>
              <a:ext uri="{FF2B5EF4-FFF2-40B4-BE49-F238E27FC236}">
                <a16:creationId xmlns:a16="http://schemas.microsoft.com/office/drawing/2014/main" id="{3073B5AC-F699-8F23-126E-BD1D09C1F855}"/>
              </a:ext>
            </a:extLst>
          </p:cNvPr>
          <p:cNvSpPr>
            <a:spLocks noGrp="1"/>
          </p:cNvSpPr>
          <p:nvPr>
            <p:ph type="title"/>
          </p:nvPr>
        </p:nvSpPr>
        <p:spPr/>
        <p:txBody>
          <a:bodyPr/>
          <a:lstStyle/>
          <a:p>
            <a:endParaRPr lang="en-US"/>
          </a:p>
        </p:txBody>
      </p:sp>
      <p:sp>
        <p:nvSpPr>
          <p:cNvPr id="5" name="文本框 4">
            <a:extLst>
              <a:ext uri="{FF2B5EF4-FFF2-40B4-BE49-F238E27FC236}">
                <a16:creationId xmlns:a16="http://schemas.microsoft.com/office/drawing/2014/main" id="{26DAEDBC-3CEB-69E6-2595-7F3A03326867}"/>
              </a:ext>
            </a:extLst>
          </p:cNvPr>
          <p:cNvSpPr txBox="1"/>
          <p:nvPr/>
        </p:nvSpPr>
        <p:spPr>
          <a:xfrm>
            <a:off x="2913188" y="3113465"/>
            <a:ext cx="6365619" cy="92333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lang="zh-CN" altLang="en-US" dirty="0"/>
              <a:t>本地化差分隐私</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extLst>
      <p:ext uri="{BB962C8B-B14F-4D97-AF65-F5344CB8AC3E}">
        <p14:creationId xmlns:p14="http://schemas.microsoft.com/office/powerpoint/2010/main" val="42559220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124B25CA-E6B3-4534-3ABF-EF89EE7120AD}"/>
              </a:ext>
            </a:extLst>
          </p:cNvPr>
          <p:cNvSpPr>
            <a:spLocks noGrp="1"/>
          </p:cNvSpPr>
          <p:nvPr>
            <p:ph idx="1"/>
          </p:nvPr>
        </p:nvSpPr>
        <p:spPr>
          <a:xfrm>
            <a:off x="371301" y="1232705"/>
            <a:ext cx="5322268" cy="5047042"/>
          </a:xfrm>
        </p:spPr>
        <p:txBody>
          <a:bodyPr/>
          <a:lstStyle/>
          <a:p>
            <a:r>
              <a:rPr lang="zh-CN" altLang="en-US" dirty="0"/>
              <a:t>中心化差分隐私</a:t>
            </a:r>
            <a:endParaRPr lang="en-US" altLang="zh-CN" dirty="0"/>
          </a:p>
          <a:p>
            <a:pPr lvl="1"/>
            <a:r>
              <a:rPr lang="zh-CN" altLang="en-US" dirty="0"/>
              <a:t>将原始数据集中到一个数据中心，然后在此对数据施加差分隐私算法，并对外发布，如拉普拉斯机制、指数机制。</a:t>
            </a:r>
            <a:endParaRPr lang="en-US" altLang="zh-CN" dirty="0"/>
          </a:p>
          <a:p>
            <a:pPr lvl="1"/>
            <a:r>
              <a:rPr lang="zh-CN" altLang="en-US" dirty="0"/>
              <a:t>中心化差分隐私有一个前提：可信的第三方数据收集者。然而，在实际生活中想找到一个真正可信的第三方数据收集平台十分困难，这极大地限制了中心化差分隐私的应用。</a:t>
            </a:r>
            <a:endParaRPr lang="en-US" altLang="zh-CN" dirty="0"/>
          </a:p>
          <a:p>
            <a:pPr lvl="1"/>
            <a:r>
              <a:rPr lang="zh-CN" altLang="en-US" dirty="0"/>
              <a:t>本地化差分隐私应运而生</a:t>
            </a:r>
          </a:p>
        </p:txBody>
      </p:sp>
      <p:sp>
        <p:nvSpPr>
          <p:cNvPr id="3" name="灯片编号占位符 2">
            <a:extLst>
              <a:ext uri="{FF2B5EF4-FFF2-40B4-BE49-F238E27FC236}">
                <a16:creationId xmlns:a16="http://schemas.microsoft.com/office/drawing/2014/main" id="{F9890194-B729-3AE4-AE9A-259EAA16BBEF}"/>
              </a:ext>
            </a:extLst>
          </p:cNvPr>
          <p:cNvSpPr>
            <a:spLocks noGrp="1"/>
          </p:cNvSpPr>
          <p:nvPr>
            <p:ph type="sldNum" sz="quarter" idx="4"/>
          </p:nvPr>
        </p:nvSpPr>
        <p:spPr/>
        <p:txBody>
          <a:bodyPr/>
          <a:lstStyle/>
          <a:p>
            <a:fld id="{4124EDF5-87F7-4AC5-8292-B04417157FC2}" type="slidenum">
              <a:rPr lang="zh-CN" altLang="en-US" smtClean="0"/>
              <a:t>37</a:t>
            </a:fld>
            <a:endParaRPr lang="zh-CN" altLang="en-US"/>
          </a:p>
        </p:txBody>
      </p:sp>
      <p:sp>
        <p:nvSpPr>
          <p:cNvPr id="4" name="标题 3">
            <a:extLst>
              <a:ext uri="{FF2B5EF4-FFF2-40B4-BE49-F238E27FC236}">
                <a16:creationId xmlns:a16="http://schemas.microsoft.com/office/drawing/2014/main" id="{399BFA79-7F54-793A-1E65-EF75ADE89A78}"/>
              </a:ext>
            </a:extLst>
          </p:cNvPr>
          <p:cNvSpPr>
            <a:spLocks noGrp="1"/>
          </p:cNvSpPr>
          <p:nvPr>
            <p:ph type="title"/>
          </p:nvPr>
        </p:nvSpPr>
        <p:spPr/>
        <p:txBody>
          <a:bodyPr/>
          <a:lstStyle/>
          <a:p>
            <a:r>
              <a:rPr lang="zh-CN" altLang="en-US" dirty="0"/>
              <a:t>中心化差分隐私与本地化差分隐私 </a:t>
            </a:r>
          </a:p>
        </p:txBody>
      </p:sp>
      <p:pic>
        <p:nvPicPr>
          <p:cNvPr id="5" name="图片 4">
            <a:extLst>
              <a:ext uri="{FF2B5EF4-FFF2-40B4-BE49-F238E27FC236}">
                <a16:creationId xmlns:a16="http://schemas.microsoft.com/office/drawing/2014/main" id="{AE2F3CD7-3D4D-BA66-D2B8-A18749B1C93A}"/>
              </a:ext>
            </a:extLst>
          </p:cNvPr>
          <p:cNvPicPr>
            <a:picLocks noChangeAspect="1"/>
          </p:cNvPicPr>
          <p:nvPr/>
        </p:nvPicPr>
        <p:blipFill>
          <a:blip r:embed="rId2"/>
          <a:stretch>
            <a:fillRect/>
          </a:stretch>
        </p:blipFill>
        <p:spPr>
          <a:xfrm>
            <a:off x="6728148" y="1321593"/>
            <a:ext cx="4716140" cy="5320774"/>
          </a:xfrm>
          <a:prstGeom prst="rect">
            <a:avLst/>
          </a:prstGeom>
        </p:spPr>
      </p:pic>
    </p:spTree>
    <p:extLst>
      <p:ext uri="{BB962C8B-B14F-4D97-AF65-F5344CB8AC3E}">
        <p14:creationId xmlns:p14="http://schemas.microsoft.com/office/powerpoint/2010/main" val="4952256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F9A72E7F-E60D-88B6-7BBC-B3782A82171D}"/>
                  </a:ext>
                </a:extLst>
              </p:cNvPr>
              <p:cNvSpPr>
                <a:spLocks noGrp="1"/>
              </p:cNvSpPr>
              <p:nvPr>
                <p:ph idx="1"/>
              </p:nvPr>
            </p:nvSpPr>
            <p:spPr>
              <a:xfrm>
                <a:off x="371301" y="1232705"/>
                <a:ext cx="6600999" cy="5047042"/>
              </a:xfrm>
            </p:spPr>
            <p:txBody>
              <a:bodyPr/>
              <a:lstStyle/>
              <a:p>
                <a:r>
                  <a:rPr lang="zh-CN" altLang="en-US" dirty="0"/>
                  <a:t>本地化差分隐私</a:t>
                </a:r>
                <a:endParaRPr lang="en-US" altLang="zh-CN" dirty="0"/>
              </a:p>
              <a:p>
                <a:pPr lvl="1"/>
                <a:r>
                  <a:rPr lang="zh-CN" altLang="en-US" dirty="0"/>
                  <a:t>在不可信第三方的前提下，将数据隐私化的工作转移到每个用户，每个用户按照隐私算法对数据进行扰动，然后把数据上传给数据收集者，数据收集者接收数据分析者的查询请求，并进行响应。用户自己来处理和保护个人数据，极大地降低了隐私泄露的可能性。</a:t>
                </a:r>
                <a:endParaRPr lang="en-US" altLang="zh-CN" dirty="0"/>
              </a:p>
              <a:p>
                <a:pPr lvl="1"/>
                <a:r>
                  <a:rPr lang="zh-CN" altLang="en-US" dirty="0"/>
                  <a:t>定义：给定</a:t>
                </a:r>
                <a14:m>
                  <m:oMath xmlns:m="http://schemas.openxmlformats.org/officeDocument/2006/math">
                    <m:r>
                      <a:rPr lang="en-US" altLang="zh-CN" i="1" dirty="0" smtClean="0">
                        <a:latin typeface="Cambria Math" panose="02040503050406030204" pitchFamily="18" charset="0"/>
                      </a:rPr>
                      <m:t>𝑛</m:t>
                    </m:r>
                    <m:r>
                      <a:rPr lang="en-US" altLang="zh-CN" i="1" dirty="0" smtClean="0">
                        <a:latin typeface="Cambria Math" panose="02040503050406030204" pitchFamily="18" charset="0"/>
                      </a:rPr>
                      <m:t> </m:t>
                    </m:r>
                  </m:oMath>
                </a14:m>
                <a:r>
                  <a:rPr lang="zh-CN" altLang="en-US" dirty="0"/>
                  <a:t>个用户，每个用户拥有一条记录，如果算法</a:t>
                </a:r>
                <a14:m>
                  <m:oMath xmlns:m="http://schemas.openxmlformats.org/officeDocument/2006/math">
                    <m:r>
                      <a:rPr lang="en-US" altLang="zh-CN" i="1" dirty="0" smtClean="0">
                        <a:latin typeface="Cambria Math" panose="02040503050406030204" pitchFamily="18" charset="0"/>
                      </a:rPr>
                      <m:t>𝑀</m:t>
                    </m:r>
                  </m:oMath>
                </a14:m>
                <a:r>
                  <a:rPr lang="zh-CN" altLang="en-US" dirty="0"/>
                  <a:t>对任意两条记录</a:t>
                </a:r>
                <a14:m>
                  <m:oMath xmlns:m="http://schemas.openxmlformats.org/officeDocument/2006/math">
                    <m:r>
                      <a:rPr lang="en-US" altLang="zh-CN" i="1" dirty="0" smtClean="0">
                        <a:latin typeface="Cambria Math" panose="02040503050406030204" pitchFamily="18" charset="0"/>
                      </a:rPr>
                      <m:t>𝑡</m:t>
                    </m:r>
                  </m:oMath>
                </a14:m>
                <a:r>
                  <a:rPr lang="zh-CN" altLang="en-US" dirty="0"/>
                  <a:t>和</a:t>
                </a:r>
                <a14:m>
                  <m:oMath xmlns:m="http://schemas.openxmlformats.org/officeDocument/2006/math">
                    <m:r>
                      <a:rPr lang="en-US" altLang="zh-CN" i="1" dirty="0" smtClean="0">
                        <a:latin typeface="Cambria Math" panose="02040503050406030204" pitchFamily="18" charset="0"/>
                      </a:rPr>
                      <m:t>𝑡</m:t>
                    </m:r>
                    <m:r>
                      <a:rPr lang="zh-CN" altLang="en-US" i="1" dirty="0">
                        <a:latin typeface="Cambria Math" panose="02040503050406030204" pitchFamily="18" charset="0"/>
                      </a:rPr>
                      <m:t>’</m:t>
                    </m:r>
                  </m:oMath>
                </a14:m>
                <a:r>
                  <a:rPr lang="zh-CN" altLang="en-US" dirty="0"/>
                  <a:t>得到相同输出结果</a:t>
                </a:r>
                <a14:m>
                  <m:oMath xmlns:m="http://schemas.openxmlformats.org/officeDocument/2006/math">
                    <m:sSup>
                      <m:sSupPr>
                        <m:ctrlPr>
                          <a:rPr lang="en-US" altLang="zh-CN" b="1" i="1" dirty="0" smtClean="0">
                            <a:latin typeface="Cambria Math" panose="02040503050406030204" pitchFamily="18" charset="0"/>
                          </a:rPr>
                        </m:ctrlPr>
                      </m:sSupPr>
                      <m:e>
                        <m:r>
                          <a:rPr lang="en-US" altLang="zh-CN" i="1" dirty="0" smtClean="0">
                            <a:latin typeface="Cambria Math" panose="02040503050406030204" pitchFamily="18" charset="0"/>
                          </a:rPr>
                          <m:t>𝑡</m:t>
                        </m:r>
                      </m:e>
                      <m:sup>
                        <m:r>
                          <a:rPr lang="en-US" altLang="zh-CN" b="1" i="1" dirty="0" smtClean="0">
                            <a:latin typeface="Cambria Math" panose="02040503050406030204" pitchFamily="18" charset="0"/>
                          </a:rPr>
                          <m:t>∗</m:t>
                        </m:r>
                      </m:sup>
                    </m:sSup>
                  </m:oMath>
                </a14:m>
                <a:r>
                  <a:rPr lang="zh-CN" altLang="en-US" dirty="0"/>
                  <a:t>的可能性满足如下不等式，则说明其满足</a:t>
                </a:r>
                <a14:m>
                  <m:oMath xmlns:m="http://schemas.openxmlformats.org/officeDocument/2006/math">
                    <m:r>
                      <a:rPr lang="en-US" altLang="zh-CN" i="1" dirty="0" smtClean="0">
                        <a:latin typeface="Cambria Math" panose="02040503050406030204" pitchFamily="18" charset="0"/>
                      </a:rPr>
                      <m:t>𝜖</m:t>
                    </m:r>
                    <m:r>
                      <a:rPr lang="en-US" altLang="zh-CN" b="1" i="1" dirty="0" smtClean="0">
                        <a:latin typeface="Cambria Math" panose="02040503050406030204" pitchFamily="18" charset="0"/>
                      </a:rPr>
                      <m:t>−</m:t>
                    </m:r>
                  </m:oMath>
                </a14:m>
                <a:r>
                  <a:rPr lang="zh-CN" altLang="en-US" dirty="0"/>
                  <a:t>本地差分隐私。</a:t>
                </a:r>
                <a:endParaRPr lang="en-US" altLang="zh-CN" dirty="0"/>
              </a:p>
              <a:p>
                <a:pPr marL="342900" lvl="1"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𝑃𝑟</m:t>
                      </m:r>
                      <m:r>
                        <a:rPr lang="en-US" altLang="zh-CN" b="0" i="1" smtClean="0">
                          <a:latin typeface="Cambria Math" panose="02040503050406030204" pitchFamily="18" charset="0"/>
                        </a:rPr>
                        <m:t>[</m:t>
                      </m:r>
                      <m:r>
                        <a:rPr lang="en-US" altLang="zh-CN" b="0" i="1" smtClean="0">
                          <a:latin typeface="Cambria Math" panose="02040503050406030204" pitchFamily="18" charset="0"/>
                        </a:rPr>
                        <m:t>𝑀</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𝑡</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𝑒</m:t>
                          </m:r>
                        </m:e>
                        <m:sup>
                          <m:r>
                            <a:rPr lang="en-US" altLang="zh-CN" b="0" i="1" smtClean="0">
                              <a:latin typeface="Cambria Math" panose="02040503050406030204" pitchFamily="18" charset="0"/>
                              <a:ea typeface="Cambria Math" panose="02040503050406030204" pitchFamily="18" charset="0"/>
                            </a:rPr>
                            <m:t>𝜖</m:t>
                          </m:r>
                        </m:sup>
                      </m:sSup>
                      <m:r>
                        <a:rPr lang="en-US" altLang="zh-CN" b="0" i="1" smtClean="0">
                          <a:latin typeface="Cambria Math" panose="02040503050406030204" pitchFamily="18" charset="0"/>
                          <a:ea typeface="Cambria Math" panose="02040503050406030204" pitchFamily="18" charset="0"/>
                        </a:rPr>
                        <m:t>×</m:t>
                      </m:r>
                      <m:r>
                        <a:rPr lang="en-US" altLang="zh-CN" b="0" i="1">
                          <a:latin typeface="Cambria Math" panose="02040503050406030204" pitchFamily="18" charset="0"/>
                        </a:rPr>
                        <m:t>𝑃𝑟</m:t>
                      </m:r>
                      <m:r>
                        <a:rPr lang="en-US" altLang="zh-CN" b="0" i="1">
                          <a:latin typeface="Cambria Math" panose="02040503050406030204" pitchFamily="18" charset="0"/>
                        </a:rPr>
                        <m:t>[</m:t>
                      </m:r>
                      <m:r>
                        <a:rPr lang="en-US" altLang="zh-CN" b="0" i="1">
                          <a:latin typeface="Cambria Math" panose="02040503050406030204" pitchFamily="18" charset="0"/>
                        </a:rPr>
                        <m:t>𝑀</m:t>
                      </m:r>
                      <m:d>
                        <m:dPr>
                          <m:ctrlPr>
                            <a:rPr lang="en-US" altLang="zh-CN" b="0" i="1">
                              <a:latin typeface="Cambria Math" panose="02040503050406030204" pitchFamily="18" charset="0"/>
                            </a:rPr>
                          </m:ctrlPr>
                        </m:dPr>
                        <m:e>
                          <m:r>
                            <a:rPr lang="en-US" altLang="zh-CN" b="0" i="1">
                              <a:latin typeface="Cambria Math" panose="02040503050406030204" pitchFamily="18" charset="0"/>
                            </a:rPr>
                            <m:t>𝑡</m:t>
                          </m:r>
                          <m:r>
                            <a:rPr lang="zh-CN" altLang="en-US" b="0" i="1">
                              <a:latin typeface="Cambria Math" panose="02040503050406030204" pitchFamily="18" charset="0"/>
                            </a:rPr>
                            <m:t>’</m:t>
                          </m:r>
                        </m:e>
                      </m:d>
                      <m:r>
                        <a:rPr lang="en-US" altLang="zh-CN" b="0" i="1">
                          <a:latin typeface="Cambria Math" panose="02040503050406030204" pitchFamily="18" charset="0"/>
                        </a:rPr>
                        <m:t>=</m:t>
                      </m:r>
                      <m:sSup>
                        <m:sSupPr>
                          <m:ctrlPr>
                            <a:rPr lang="en-US" altLang="zh-CN" b="0" i="1">
                              <a:latin typeface="Cambria Math" panose="02040503050406030204" pitchFamily="18" charset="0"/>
                            </a:rPr>
                          </m:ctrlPr>
                        </m:sSupPr>
                        <m:e>
                          <m:r>
                            <a:rPr lang="en-US" altLang="zh-CN" b="0" i="1">
                              <a:latin typeface="Cambria Math" panose="02040503050406030204" pitchFamily="18" charset="0"/>
                            </a:rPr>
                            <m:t>𝑡</m:t>
                          </m:r>
                        </m:e>
                        <m:sup>
                          <m:r>
                            <a:rPr lang="en-US" altLang="zh-CN" b="0" i="1">
                              <a:latin typeface="Cambria Math" panose="02040503050406030204" pitchFamily="18" charset="0"/>
                            </a:rPr>
                            <m:t>∗</m:t>
                          </m:r>
                        </m:sup>
                      </m:sSup>
                      <m:r>
                        <a:rPr lang="en-US" altLang="zh-CN" b="0" i="1">
                          <a:latin typeface="Cambria Math" panose="02040503050406030204" pitchFamily="18" charset="0"/>
                        </a:rPr>
                        <m:t>]</m:t>
                      </m:r>
                      <m:r>
                        <a:rPr lang="en-US" altLang="zh-CN" b="0" i="1">
                          <a:latin typeface="Cambria Math" panose="02040503050406030204" pitchFamily="18" charset="0"/>
                          <a:ea typeface="Cambria Math" panose="02040503050406030204" pitchFamily="18" charset="0"/>
                        </a:rPr>
                        <m:t>≤</m:t>
                      </m:r>
                      <m:sSup>
                        <m:sSupPr>
                          <m:ctrlPr>
                            <a:rPr lang="en-US" altLang="zh-CN" b="0" i="1">
                              <a:latin typeface="Cambria Math" panose="02040503050406030204" pitchFamily="18" charset="0"/>
                              <a:ea typeface="Cambria Math" panose="02040503050406030204" pitchFamily="18" charset="0"/>
                            </a:rPr>
                          </m:ctrlPr>
                        </m:sSupPr>
                        <m:e>
                          <m:r>
                            <a:rPr lang="en-US" altLang="zh-CN" b="0" i="1">
                              <a:latin typeface="Cambria Math" panose="02040503050406030204" pitchFamily="18" charset="0"/>
                              <a:ea typeface="Cambria Math" panose="02040503050406030204" pitchFamily="18" charset="0"/>
                            </a:rPr>
                            <m:t>𝑒</m:t>
                          </m:r>
                        </m:e>
                        <m:sup>
                          <m:r>
                            <a:rPr lang="en-US" altLang="zh-CN" b="0" i="1">
                              <a:latin typeface="Cambria Math" panose="02040503050406030204" pitchFamily="18" charset="0"/>
                              <a:ea typeface="Cambria Math" panose="02040503050406030204" pitchFamily="18" charset="0"/>
                            </a:rPr>
                            <m:t>𝜖</m:t>
                          </m:r>
                        </m:sup>
                      </m:sSup>
                    </m:oMath>
                  </m:oMathPara>
                </a14:m>
                <a:endParaRPr lang="en-US" altLang="zh-CN" b="0" dirty="0"/>
              </a:p>
              <a:p>
                <a:pPr lvl="1"/>
                <a:endParaRPr lang="zh-CN" altLang="en-US" dirty="0"/>
              </a:p>
            </p:txBody>
          </p:sp>
        </mc:Choice>
        <mc:Fallback xmlns="">
          <p:sp>
            <p:nvSpPr>
              <p:cNvPr id="2" name="内容占位符 1">
                <a:extLst>
                  <a:ext uri="{FF2B5EF4-FFF2-40B4-BE49-F238E27FC236}">
                    <a16:creationId xmlns:a16="http://schemas.microsoft.com/office/drawing/2014/main" id="{F9A72E7F-E60D-88B6-7BBC-B3782A82171D}"/>
                  </a:ext>
                </a:extLst>
              </p:cNvPr>
              <p:cNvSpPr>
                <a:spLocks noGrp="1" noRot="1" noChangeAspect="1" noMove="1" noResize="1" noEditPoints="1" noAdjustHandles="1" noChangeArrowheads="1" noChangeShapeType="1" noTextEdit="1"/>
              </p:cNvSpPr>
              <p:nvPr>
                <p:ph idx="1"/>
              </p:nvPr>
            </p:nvSpPr>
            <p:spPr>
              <a:xfrm>
                <a:off x="371301" y="1232705"/>
                <a:ext cx="6600999" cy="5047042"/>
              </a:xfrm>
              <a:blipFill>
                <a:blip r:embed="rId2"/>
                <a:stretch>
                  <a:fillRect l="-1662" t="-725" r="-5078" b="-242"/>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FC122593-BB12-9DCB-63C8-AE8E7125901D}"/>
              </a:ext>
            </a:extLst>
          </p:cNvPr>
          <p:cNvSpPr>
            <a:spLocks noGrp="1"/>
          </p:cNvSpPr>
          <p:nvPr>
            <p:ph type="sldNum" sz="quarter" idx="4"/>
          </p:nvPr>
        </p:nvSpPr>
        <p:spPr/>
        <p:txBody>
          <a:bodyPr/>
          <a:lstStyle/>
          <a:p>
            <a:fld id="{4124EDF5-87F7-4AC5-8292-B04417157FC2}" type="slidenum">
              <a:rPr lang="zh-CN" altLang="en-US" smtClean="0"/>
              <a:t>38</a:t>
            </a:fld>
            <a:endParaRPr lang="zh-CN" altLang="en-US"/>
          </a:p>
        </p:txBody>
      </p:sp>
      <p:sp>
        <p:nvSpPr>
          <p:cNvPr id="4" name="标题 3">
            <a:extLst>
              <a:ext uri="{FF2B5EF4-FFF2-40B4-BE49-F238E27FC236}">
                <a16:creationId xmlns:a16="http://schemas.microsoft.com/office/drawing/2014/main" id="{6EFD28AC-5DDC-8E57-A5A8-DA5CB9BF9DE9}"/>
              </a:ext>
            </a:extLst>
          </p:cNvPr>
          <p:cNvSpPr>
            <a:spLocks noGrp="1"/>
          </p:cNvSpPr>
          <p:nvPr>
            <p:ph type="title"/>
          </p:nvPr>
        </p:nvSpPr>
        <p:spPr/>
        <p:txBody>
          <a:bodyPr/>
          <a:lstStyle/>
          <a:p>
            <a:r>
              <a:rPr lang="zh-CN" altLang="en-US" dirty="0"/>
              <a:t>中心化差分隐私与本地化差分隐私 </a:t>
            </a:r>
          </a:p>
        </p:txBody>
      </p:sp>
      <p:pic>
        <p:nvPicPr>
          <p:cNvPr id="5" name="图片 4">
            <a:extLst>
              <a:ext uri="{FF2B5EF4-FFF2-40B4-BE49-F238E27FC236}">
                <a16:creationId xmlns:a16="http://schemas.microsoft.com/office/drawing/2014/main" id="{E892D998-7FE3-43DA-E0E1-AF946F9EFF29}"/>
              </a:ext>
            </a:extLst>
          </p:cNvPr>
          <p:cNvPicPr>
            <a:picLocks noChangeAspect="1"/>
          </p:cNvPicPr>
          <p:nvPr/>
        </p:nvPicPr>
        <p:blipFill>
          <a:blip r:embed="rId3"/>
          <a:stretch>
            <a:fillRect/>
          </a:stretch>
        </p:blipFill>
        <p:spPr>
          <a:xfrm>
            <a:off x="7110791" y="1232704"/>
            <a:ext cx="4746844" cy="5047041"/>
          </a:xfrm>
          <a:prstGeom prst="rect">
            <a:avLst/>
          </a:prstGeom>
        </p:spPr>
      </p:pic>
    </p:spTree>
    <p:extLst>
      <p:ext uri="{BB962C8B-B14F-4D97-AF65-F5344CB8AC3E}">
        <p14:creationId xmlns:p14="http://schemas.microsoft.com/office/powerpoint/2010/main" val="31586491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3B43896-515B-5A2D-97E6-AEEC08EBA327}"/>
              </a:ext>
            </a:extLst>
          </p:cNvPr>
          <p:cNvSpPr>
            <a:spLocks noGrp="1"/>
          </p:cNvSpPr>
          <p:nvPr>
            <p:ph idx="1"/>
          </p:nvPr>
        </p:nvSpPr>
        <p:spPr>
          <a:xfrm>
            <a:off x="371301" y="1232705"/>
            <a:ext cx="4800774" cy="5047042"/>
          </a:xfrm>
        </p:spPr>
        <p:txBody>
          <a:bodyPr/>
          <a:lstStyle/>
          <a:p>
            <a:r>
              <a:rPr lang="zh-CN" altLang="en-US" dirty="0"/>
              <a:t>随机响应机制：每个人在自己的答案中加入噪声</a:t>
            </a:r>
            <a:endParaRPr lang="en-US" altLang="zh-CN" dirty="0"/>
          </a:p>
          <a:p>
            <a:pPr lvl="1"/>
            <a:r>
              <a:rPr lang="zh-CN" altLang="en-US" dirty="0"/>
              <a:t>假设每个人通过掷一枚不均匀的硬币来给出答案，其中硬币正面向上的概率为</a:t>
            </a:r>
            <a:r>
              <a:rPr lang="en-US" altLang="zh-CN" dirty="0"/>
              <a:t>p</a:t>
            </a:r>
            <a:r>
              <a:rPr lang="zh-CN" altLang="en-US" dirty="0"/>
              <a:t>，反面向上的概率为</a:t>
            </a:r>
            <a:r>
              <a:rPr lang="en-US" altLang="zh-CN" dirty="0"/>
              <a:t>1-p</a:t>
            </a:r>
            <a:r>
              <a:rPr lang="zh-CN" altLang="en-US" dirty="0"/>
              <a:t>，按照以下步骤来给出答案： </a:t>
            </a:r>
          </a:p>
          <a:p>
            <a:pPr lvl="2"/>
            <a:r>
              <a:rPr lang="en-US" altLang="zh-CN" dirty="0"/>
              <a:t>1</a:t>
            </a:r>
            <a:r>
              <a:rPr lang="zh-CN" altLang="en-US" dirty="0"/>
              <a:t>）掷一枚硬币。 </a:t>
            </a:r>
          </a:p>
          <a:p>
            <a:pPr lvl="2"/>
            <a:r>
              <a:rPr lang="en-US" altLang="zh-CN" dirty="0"/>
              <a:t>2</a:t>
            </a:r>
            <a:r>
              <a:rPr lang="zh-CN" altLang="en-US" dirty="0"/>
              <a:t>）如果硬币正面朝上，则如实回答问题。 </a:t>
            </a:r>
          </a:p>
          <a:p>
            <a:pPr lvl="2"/>
            <a:r>
              <a:rPr lang="en-US" altLang="zh-CN" dirty="0"/>
              <a:t>3</a:t>
            </a:r>
            <a:r>
              <a:rPr lang="zh-CN" altLang="en-US" dirty="0"/>
              <a:t>）如果硬币反面朝上，则随机地回答“是”或“否”，回答“是”或“否”的概率均为</a:t>
            </a:r>
            <a:r>
              <a:rPr lang="en-US" altLang="zh-CN" dirty="0"/>
              <a:t>1/2</a:t>
            </a:r>
            <a:r>
              <a:rPr lang="zh-CN" altLang="en-US" dirty="0"/>
              <a:t>。</a:t>
            </a:r>
          </a:p>
        </p:txBody>
      </p:sp>
      <p:sp>
        <p:nvSpPr>
          <p:cNvPr id="3" name="灯片编号占位符 2">
            <a:extLst>
              <a:ext uri="{FF2B5EF4-FFF2-40B4-BE49-F238E27FC236}">
                <a16:creationId xmlns:a16="http://schemas.microsoft.com/office/drawing/2014/main" id="{2CBA284D-9A03-2A64-7FE6-CA212D3F9759}"/>
              </a:ext>
            </a:extLst>
          </p:cNvPr>
          <p:cNvSpPr>
            <a:spLocks noGrp="1"/>
          </p:cNvSpPr>
          <p:nvPr>
            <p:ph type="sldNum" sz="quarter" idx="4"/>
          </p:nvPr>
        </p:nvSpPr>
        <p:spPr/>
        <p:txBody>
          <a:bodyPr/>
          <a:lstStyle/>
          <a:p>
            <a:fld id="{4124EDF5-87F7-4AC5-8292-B04417157FC2}" type="slidenum">
              <a:rPr lang="zh-CN" altLang="en-US" smtClean="0"/>
              <a:t>39</a:t>
            </a:fld>
            <a:endParaRPr lang="zh-CN" altLang="en-US"/>
          </a:p>
        </p:txBody>
      </p:sp>
      <p:sp>
        <p:nvSpPr>
          <p:cNvPr id="4" name="标题 3">
            <a:extLst>
              <a:ext uri="{FF2B5EF4-FFF2-40B4-BE49-F238E27FC236}">
                <a16:creationId xmlns:a16="http://schemas.microsoft.com/office/drawing/2014/main" id="{95FA3C64-9FC4-FDA0-767F-0D47ED792D1D}"/>
              </a:ext>
            </a:extLst>
          </p:cNvPr>
          <p:cNvSpPr>
            <a:spLocks noGrp="1"/>
          </p:cNvSpPr>
          <p:nvPr>
            <p:ph type="title"/>
          </p:nvPr>
        </p:nvSpPr>
        <p:spPr/>
        <p:txBody>
          <a:bodyPr/>
          <a:lstStyle/>
          <a:p>
            <a:r>
              <a:rPr lang="zh-CN" altLang="en-US" dirty="0"/>
              <a:t>随机响应机制</a:t>
            </a:r>
          </a:p>
        </p:txBody>
      </p:sp>
      <p:pic>
        <p:nvPicPr>
          <p:cNvPr id="5" name="图片 4">
            <a:extLst>
              <a:ext uri="{FF2B5EF4-FFF2-40B4-BE49-F238E27FC236}">
                <a16:creationId xmlns:a16="http://schemas.microsoft.com/office/drawing/2014/main" id="{5E913C54-BDDC-5B3F-C624-E9DA1E61A080}"/>
              </a:ext>
            </a:extLst>
          </p:cNvPr>
          <p:cNvPicPr>
            <a:picLocks noChangeAspect="1"/>
          </p:cNvPicPr>
          <p:nvPr/>
        </p:nvPicPr>
        <p:blipFill>
          <a:blip r:embed="rId2"/>
          <a:stretch>
            <a:fillRect/>
          </a:stretch>
        </p:blipFill>
        <p:spPr>
          <a:xfrm>
            <a:off x="5403283" y="1411298"/>
            <a:ext cx="6633936" cy="4648427"/>
          </a:xfrm>
          <a:prstGeom prst="rect">
            <a:avLst/>
          </a:prstGeom>
        </p:spPr>
      </p:pic>
    </p:spTree>
    <p:extLst>
      <p:ext uri="{BB962C8B-B14F-4D97-AF65-F5344CB8AC3E}">
        <p14:creationId xmlns:p14="http://schemas.microsoft.com/office/powerpoint/2010/main" val="29852558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C933E17F-07CE-C44D-0732-43CF5A5A8787}"/>
                  </a:ext>
                </a:extLst>
              </p:cNvPr>
              <p:cNvSpPr>
                <a:spLocks noGrp="1"/>
              </p:cNvSpPr>
              <p:nvPr>
                <p:ph idx="1"/>
              </p:nvPr>
            </p:nvSpPr>
            <p:spPr>
              <a:xfrm>
                <a:off x="371301" y="1232704"/>
                <a:ext cx="11464528" cy="5446701"/>
              </a:xfrm>
            </p:spPr>
            <p:txBody>
              <a:bodyPr/>
              <a:lstStyle/>
              <a:p>
                <a:pPr>
                  <a:spcBef>
                    <a:spcPts val="0"/>
                  </a:spcBef>
                  <a:spcAft>
                    <a:spcPts val="0"/>
                  </a:spcAft>
                </a:pPr>
                <a:r>
                  <a:rPr lang="zh-CN" altLang="en-US" dirty="0"/>
                  <a:t>假设真实值为</a:t>
                </a:r>
                <a:r>
                  <a:rPr lang="en-US" altLang="zh-CN" dirty="0"/>
                  <a:t>T</a:t>
                </a:r>
                <a:r>
                  <a:rPr lang="zh-CN" altLang="en-US" dirty="0"/>
                  <a:t>的用户使用随机响应机制并给出了响应</a:t>
                </a:r>
                <a:r>
                  <a:rPr lang="en-US" altLang="zh-CN" dirty="0"/>
                  <a:t>R</a:t>
                </a:r>
                <a:r>
                  <a:rPr lang="zh-CN" altLang="en-US" dirty="0"/>
                  <a:t>。取</a:t>
                </a:r>
                <a:r>
                  <a:rPr lang="en-US" altLang="zh-CN" dirty="0"/>
                  <a:t>p=0.5</a:t>
                </a:r>
                <a:r>
                  <a:rPr lang="zh-CN" altLang="en-US" dirty="0"/>
                  <a:t>，于是硬币正面朝上和反面朝上的概率均为</a:t>
                </a:r>
                <a:r>
                  <a:rPr lang="en-US" altLang="zh-CN" dirty="0"/>
                  <a:t>1/2</a:t>
                </a:r>
                <a:r>
                  <a:rPr lang="zh-CN" altLang="en-US" dirty="0"/>
                  <a:t>。于是有：</a:t>
                </a:r>
                <a:endParaRPr lang="en-US" altLang="zh-CN" dirty="0"/>
              </a:p>
              <a:p>
                <a:pPr marL="0" indent="0">
                  <a:spcBef>
                    <a:spcPts val="0"/>
                  </a:spcBef>
                  <a:spcAft>
                    <a:spcPts val="0"/>
                  </a:spcAft>
                  <a:buNone/>
                </a:pPr>
                <a14:m>
                  <m:oMathPara xmlns:m="http://schemas.openxmlformats.org/officeDocument/2006/math">
                    <m:oMathParaPr>
                      <m:jc m:val="centerGroup"/>
                    </m:oMathParaPr>
                    <m:oMath xmlns:m="http://schemas.openxmlformats.org/officeDocument/2006/math">
                      <m:f>
                        <m:fPr>
                          <m:ctrlPr>
                            <a:rPr lang="en-US" altLang="zh-CN" sz="2000" b="0" i="1" smtClean="0">
                              <a:latin typeface="Cambria Math" panose="02040503050406030204" pitchFamily="18" charset="0"/>
                            </a:rPr>
                          </m:ctrlPr>
                        </m:fPr>
                        <m:num>
                          <m:r>
                            <a:rPr lang="en-US" altLang="zh-CN" sz="2000" b="0" i="1">
                              <a:latin typeface="Cambria Math" panose="02040503050406030204" pitchFamily="18" charset="0"/>
                            </a:rPr>
                            <m:t>𝑃𝑟</m:t>
                          </m:r>
                          <m:d>
                            <m:dPr>
                              <m:begChr m:val="["/>
                              <m:endChr m:val="]"/>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𝑅</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是</m:t>
                              </m:r>
                              <m:r>
                                <a:rPr lang="zh-CN" altLang="en-US" sz="2000" b="0" i="1" smtClean="0">
                                  <a:latin typeface="Cambria Math" panose="02040503050406030204" pitchFamily="18" charset="0"/>
                                </a:rPr>
                                <m:t>”</m:t>
                              </m:r>
                            </m:e>
                            <m:e>
                              <m:r>
                                <a:rPr lang="en-US" altLang="zh-CN" sz="2000" b="0" i="1" smtClean="0">
                                  <a:latin typeface="Cambria Math" panose="02040503050406030204" pitchFamily="18" charset="0"/>
                                </a:rPr>
                                <m:t>𝑇</m:t>
                              </m:r>
                              <m:r>
                                <a:rPr lang="en-US" altLang="zh-CN" sz="2000" b="0" i="1" smtClean="0">
                                  <a:latin typeface="Cambria Math" panose="02040503050406030204" pitchFamily="18" charset="0"/>
                                </a:rPr>
                                <m:t>=“</m:t>
                              </m:r>
                              <m:r>
                                <a:rPr lang="zh-CN" altLang="en-US" sz="2000" b="0" i="1" smtClean="0">
                                  <a:latin typeface="Cambria Math" panose="02040503050406030204" pitchFamily="18" charset="0"/>
                                </a:rPr>
                                <m:t>是</m:t>
                              </m:r>
                              <m:r>
                                <a:rPr lang="zh-CN" altLang="en-US" sz="2000" b="0" i="1" smtClean="0">
                                  <a:latin typeface="Cambria Math" panose="02040503050406030204" pitchFamily="18" charset="0"/>
                                </a:rPr>
                                <m:t>”</m:t>
                              </m:r>
                            </m:e>
                          </m:d>
                          <m:r>
                            <a:rPr lang="en-US" altLang="zh-CN" sz="2000" b="0" i="1" smtClean="0">
                              <a:latin typeface="Cambria Math" panose="02040503050406030204" pitchFamily="18" charset="0"/>
                            </a:rPr>
                            <m:t>=3/4</m:t>
                          </m:r>
                        </m:num>
                        <m:den>
                          <m:r>
                            <a:rPr lang="en-US" altLang="zh-CN" sz="2000" b="0" i="1">
                              <a:latin typeface="Cambria Math" panose="02040503050406030204" pitchFamily="18" charset="0"/>
                            </a:rPr>
                            <m:t>𝑃𝑟</m:t>
                          </m:r>
                          <m:d>
                            <m:dPr>
                              <m:begChr m:val="["/>
                              <m:endChr m:val="]"/>
                              <m:ctrlPr>
                                <a:rPr lang="en-US" altLang="zh-CN" sz="2000" b="0" i="1">
                                  <a:latin typeface="Cambria Math" panose="02040503050406030204" pitchFamily="18" charset="0"/>
                                </a:rPr>
                              </m:ctrlPr>
                            </m:dPr>
                            <m:e>
                              <m:r>
                                <a:rPr lang="en-US" altLang="zh-CN" sz="2000" b="0" i="1">
                                  <a:latin typeface="Cambria Math" panose="02040503050406030204" pitchFamily="18" charset="0"/>
                                </a:rPr>
                                <m:t>𝑅</m:t>
                              </m:r>
                              <m:r>
                                <a:rPr lang="en-US" altLang="zh-CN" sz="2000" b="0" i="1">
                                  <a:latin typeface="Cambria Math" panose="02040503050406030204" pitchFamily="18" charset="0"/>
                                </a:rPr>
                                <m:t>=“</m:t>
                              </m:r>
                              <m:r>
                                <a:rPr lang="zh-CN" altLang="en-US" sz="2000" b="0" i="1">
                                  <a:latin typeface="Cambria Math" panose="02040503050406030204" pitchFamily="18" charset="0"/>
                                </a:rPr>
                                <m:t>是</m:t>
                              </m:r>
                              <m:r>
                                <a:rPr lang="zh-CN" altLang="en-US" sz="2000" b="0" i="1">
                                  <a:latin typeface="Cambria Math" panose="02040503050406030204" pitchFamily="18" charset="0"/>
                                </a:rPr>
                                <m:t>”</m:t>
                              </m:r>
                            </m:e>
                            <m:e>
                              <m:r>
                                <a:rPr lang="en-US" altLang="zh-CN" sz="2000" b="0" i="1">
                                  <a:latin typeface="Cambria Math" panose="02040503050406030204" pitchFamily="18" charset="0"/>
                                </a:rPr>
                                <m:t>𝑇</m:t>
                              </m:r>
                              <m:r>
                                <a:rPr lang="en-US" altLang="zh-CN" sz="2000" b="0" i="1">
                                  <a:latin typeface="Cambria Math" panose="02040503050406030204" pitchFamily="18" charset="0"/>
                                </a:rPr>
                                <m:t>=“</m:t>
                              </m:r>
                              <m:r>
                                <a:rPr lang="zh-CN" altLang="en-US" sz="2000" b="0" i="1">
                                  <a:latin typeface="Cambria Math" panose="02040503050406030204" pitchFamily="18" charset="0"/>
                                </a:rPr>
                                <m:t>否</m:t>
                              </m:r>
                              <m:r>
                                <a:rPr lang="zh-CN" altLang="en-US" sz="2000" b="0" i="1">
                                  <a:latin typeface="Cambria Math" panose="02040503050406030204" pitchFamily="18" charset="0"/>
                                </a:rPr>
                                <m:t>”</m:t>
                              </m:r>
                            </m:e>
                          </m:d>
                          <m:r>
                            <a:rPr lang="en-US" altLang="zh-CN" sz="2000" b="0" i="1">
                              <a:latin typeface="Cambria Math" panose="02040503050406030204" pitchFamily="18" charset="0"/>
                            </a:rPr>
                            <m:t>=</m:t>
                          </m:r>
                          <m:r>
                            <a:rPr lang="en-US" altLang="zh-CN" sz="2000" b="0" i="1" smtClean="0">
                              <a:latin typeface="Cambria Math" panose="02040503050406030204" pitchFamily="18" charset="0"/>
                            </a:rPr>
                            <m:t>1</m:t>
                          </m:r>
                          <m:r>
                            <a:rPr lang="en-US" altLang="zh-CN" sz="2000" b="0" i="1">
                              <a:latin typeface="Cambria Math" panose="02040503050406030204" pitchFamily="18" charset="0"/>
                            </a:rPr>
                            <m:t>/4</m:t>
                          </m:r>
                        </m:den>
                      </m:f>
                      <m:r>
                        <a:rPr lang="en-US" altLang="zh-CN" sz="2000" b="0" i="1" smtClean="0">
                          <a:latin typeface="Cambria Math" panose="02040503050406030204" pitchFamily="18" charset="0"/>
                        </a:rPr>
                        <m:t>=3</m:t>
                      </m:r>
                      <m:r>
                        <a:rPr lang="zh-CN" altLang="en-US" sz="2000" b="0" i="1">
                          <a:latin typeface="Cambria Math" panose="02040503050406030204" pitchFamily="18" charset="0"/>
                        </a:rPr>
                        <m:t>，</m:t>
                      </m:r>
                      <m:f>
                        <m:fPr>
                          <m:ctrlPr>
                            <a:rPr lang="en-US" altLang="zh-CN" sz="2000" b="0" i="1">
                              <a:latin typeface="Cambria Math" panose="02040503050406030204" pitchFamily="18" charset="0"/>
                            </a:rPr>
                          </m:ctrlPr>
                        </m:fPr>
                        <m:num>
                          <m:r>
                            <a:rPr lang="en-US" altLang="zh-CN" sz="2000" b="0" i="1" smtClean="0">
                              <a:latin typeface="Cambria Math" panose="02040503050406030204" pitchFamily="18" charset="0"/>
                            </a:rPr>
                            <m:t>𝑃𝑟</m:t>
                          </m:r>
                          <m:d>
                            <m:dPr>
                              <m:begChr m:val="["/>
                              <m:endChr m:val="]"/>
                              <m:ctrlPr>
                                <a:rPr lang="en-US" altLang="zh-CN" sz="2000" b="0" i="1">
                                  <a:latin typeface="Cambria Math" panose="02040503050406030204" pitchFamily="18" charset="0"/>
                                </a:rPr>
                              </m:ctrlPr>
                            </m:dPr>
                            <m:e>
                              <m:r>
                                <a:rPr lang="en-US" altLang="zh-CN" sz="2000" b="0" i="1">
                                  <a:latin typeface="Cambria Math" panose="02040503050406030204" pitchFamily="18" charset="0"/>
                                </a:rPr>
                                <m:t>𝑅</m:t>
                              </m:r>
                              <m:r>
                                <a:rPr lang="en-US" altLang="zh-CN" sz="2000" b="0" i="1">
                                  <a:latin typeface="Cambria Math" panose="02040503050406030204" pitchFamily="18" charset="0"/>
                                </a:rPr>
                                <m:t>=“</m:t>
                              </m:r>
                              <m:r>
                                <a:rPr lang="zh-CN" altLang="en-US" sz="2000" b="0" i="1" smtClean="0">
                                  <a:latin typeface="Cambria Math" panose="02040503050406030204" pitchFamily="18" charset="0"/>
                                </a:rPr>
                                <m:t>否</m:t>
                              </m:r>
                              <m:r>
                                <a:rPr lang="zh-CN" altLang="en-US" sz="2000" b="0" i="1">
                                  <a:latin typeface="Cambria Math" panose="02040503050406030204" pitchFamily="18" charset="0"/>
                                </a:rPr>
                                <m:t>”</m:t>
                              </m:r>
                            </m:e>
                            <m:e>
                              <m:r>
                                <a:rPr lang="en-US" altLang="zh-CN" sz="2000" b="0" i="1">
                                  <a:latin typeface="Cambria Math" panose="02040503050406030204" pitchFamily="18" charset="0"/>
                                </a:rPr>
                                <m:t>𝑇</m:t>
                              </m:r>
                              <m:r>
                                <a:rPr lang="en-US" altLang="zh-CN" sz="2000" b="0" i="1">
                                  <a:latin typeface="Cambria Math" panose="02040503050406030204" pitchFamily="18" charset="0"/>
                                </a:rPr>
                                <m:t>=“</m:t>
                              </m:r>
                              <m:r>
                                <a:rPr lang="zh-CN" altLang="en-US" sz="2000" b="0" i="1" smtClean="0">
                                  <a:latin typeface="Cambria Math" panose="02040503050406030204" pitchFamily="18" charset="0"/>
                                </a:rPr>
                                <m:t>否</m:t>
                              </m:r>
                              <m:r>
                                <a:rPr lang="zh-CN" altLang="en-US" sz="2000" b="0" i="1">
                                  <a:latin typeface="Cambria Math" panose="02040503050406030204" pitchFamily="18" charset="0"/>
                                </a:rPr>
                                <m:t>”</m:t>
                              </m:r>
                            </m:e>
                          </m:d>
                          <m:r>
                            <a:rPr lang="en-US" altLang="zh-CN" sz="2000" b="0" i="1">
                              <a:latin typeface="Cambria Math" panose="02040503050406030204" pitchFamily="18" charset="0"/>
                            </a:rPr>
                            <m:t>=3/4</m:t>
                          </m:r>
                        </m:num>
                        <m:den>
                          <m:r>
                            <a:rPr lang="en-US" altLang="zh-CN" sz="2000" b="0" i="1">
                              <a:latin typeface="Cambria Math" panose="02040503050406030204" pitchFamily="18" charset="0"/>
                            </a:rPr>
                            <m:t>𝑃𝑟</m:t>
                          </m:r>
                          <m:d>
                            <m:dPr>
                              <m:begChr m:val="["/>
                              <m:endChr m:val="]"/>
                              <m:ctrlPr>
                                <a:rPr lang="en-US" altLang="zh-CN" sz="2000" b="0" i="1">
                                  <a:latin typeface="Cambria Math" panose="02040503050406030204" pitchFamily="18" charset="0"/>
                                </a:rPr>
                              </m:ctrlPr>
                            </m:dPr>
                            <m:e>
                              <m:r>
                                <a:rPr lang="en-US" altLang="zh-CN" sz="2000" b="0" i="1">
                                  <a:latin typeface="Cambria Math" panose="02040503050406030204" pitchFamily="18" charset="0"/>
                                </a:rPr>
                                <m:t>𝑅</m:t>
                              </m:r>
                              <m:r>
                                <a:rPr lang="en-US" altLang="zh-CN" sz="2000" b="0" i="1">
                                  <a:latin typeface="Cambria Math" panose="02040503050406030204" pitchFamily="18" charset="0"/>
                                </a:rPr>
                                <m:t>=“</m:t>
                              </m:r>
                              <m:r>
                                <a:rPr lang="zh-CN" altLang="en-US" sz="2000" b="0" i="1">
                                  <a:latin typeface="Cambria Math" panose="02040503050406030204" pitchFamily="18" charset="0"/>
                                </a:rPr>
                                <m:t>否</m:t>
                              </m:r>
                              <m:r>
                                <a:rPr lang="zh-CN" altLang="en-US" sz="2000" b="0" i="1">
                                  <a:latin typeface="Cambria Math" panose="02040503050406030204" pitchFamily="18" charset="0"/>
                                </a:rPr>
                                <m:t>”</m:t>
                              </m:r>
                            </m:e>
                            <m:e>
                              <m:r>
                                <a:rPr lang="en-US" altLang="zh-CN" sz="2000" b="0" i="1">
                                  <a:latin typeface="Cambria Math" panose="02040503050406030204" pitchFamily="18" charset="0"/>
                                </a:rPr>
                                <m:t>𝑇</m:t>
                              </m:r>
                              <m:r>
                                <a:rPr lang="en-US" altLang="zh-CN" sz="2000" b="0" i="1">
                                  <a:latin typeface="Cambria Math" panose="02040503050406030204" pitchFamily="18" charset="0"/>
                                </a:rPr>
                                <m:t>=“</m:t>
                              </m:r>
                              <m:r>
                                <a:rPr lang="zh-CN" altLang="en-US" sz="2000" b="0" i="1">
                                  <a:latin typeface="Cambria Math" panose="02040503050406030204" pitchFamily="18" charset="0"/>
                                </a:rPr>
                                <m:t>是</m:t>
                              </m:r>
                              <m:r>
                                <a:rPr lang="zh-CN" altLang="en-US" sz="2000" b="0" i="1">
                                  <a:latin typeface="Cambria Math" panose="02040503050406030204" pitchFamily="18" charset="0"/>
                                </a:rPr>
                                <m:t>”</m:t>
                              </m:r>
                            </m:e>
                          </m:d>
                          <m:r>
                            <a:rPr lang="en-US" altLang="zh-CN" sz="2000" b="0" i="1">
                              <a:latin typeface="Cambria Math" panose="02040503050406030204" pitchFamily="18" charset="0"/>
                            </a:rPr>
                            <m:t>=1/4</m:t>
                          </m:r>
                        </m:den>
                      </m:f>
                      <m:r>
                        <a:rPr lang="en-US" altLang="zh-CN" sz="2000" b="0" i="1">
                          <a:latin typeface="Cambria Math" panose="02040503050406030204" pitchFamily="18" charset="0"/>
                        </a:rPr>
                        <m:t>=3</m:t>
                      </m:r>
                    </m:oMath>
                  </m:oMathPara>
                </a14:m>
                <a:endParaRPr lang="en-US" altLang="zh-CN" sz="2000" b="0" dirty="0"/>
              </a:p>
              <a:p>
                <a:pPr>
                  <a:spcBef>
                    <a:spcPts val="0"/>
                  </a:spcBef>
                  <a:spcAft>
                    <a:spcPts val="0"/>
                  </a:spcAft>
                </a:pPr>
                <a:r>
                  <a:rPr lang="zh-CN" altLang="en-US" dirty="0"/>
                  <a:t>根据本地化差分隐私的定义，不同真实值</a:t>
                </a:r>
                <a:r>
                  <a:rPr lang="en-US" altLang="zh-CN" dirty="0"/>
                  <a:t>T</a:t>
                </a:r>
                <a:r>
                  <a:rPr lang="zh-CN" altLang="en-US" dirty="0"/>
                  <a:t>映射到同一输出值</a:t>
                </a:r>
                <a:r>
                  <a:rPr lang="en-US" altLang="zh-CN" dirty="0"/>
                  <a:t>R</a:t>
                </a:r>
                <a:r>
                  <a:rPr lang="zh-CN" altLang="en-US" dirty="0"/>
                  <a:t>的概率之比最大为</a:t>
                </a:r>
                <a14:m>
                  <m:oMath xmlns:m="http://schemas.openxmlformats.org/officeDocument/2006/math">
                    <m:sSup>
                      <m:sSupPr>
                        <m:ctrlPr>
                          <a:rPr lang="en-US" altLang="zh-CN" b="1" i="1" dirty="0" smtClean="0">
                            <a:latin typeface="Cambria Math" panose="02040503050406030204" pitchFamily="18" charset="0"/>
                          </a:rPr>
                        </m:ctrlPr>
                      </m:sSupPr>
                      <m:e>
                        <m:r>
                          <a:rPr lang="en-US" altLang="zh-CN" i="1" dirty="0" smtClean="0">
                            <a:latin typeface="Cambria Math" panose="02040503050406030204" pitchFamily="18" charset="0"/>
                          </a:rPr>
                          <m:t>𝑒</m:t>
                        </m:r>
                      </m:e>
                      <m:sup>
                        <m:r>
                          <a:rPr lang="en-US" altLang="zh-CN" b="1" i="1" dirty="0" smtClean="0">
                            <a:latin typeface="Cambria Math" panose="02040503050406030204" pitchFamily="18" charset="0"/>
                          </a:rPr>
                          <m:t>𝝐</m:t>
                        </m:r>
                      </m:sup>
                    </m:sSup>
                    <m:r>
                      <a:rPr lang="zh-CN" altLang="en-US" i="1" dirty="0">
                        <a:latin typeface="Cambria Math" panose="02040503050406030204" pitchFamily="18" charset="0"/>
                      </a:rPr>
                      <m:t>，</m:t>
                    </m:r>
                  </m:oMath>
                </a14:m>
                <a:r>
                  <a:rPr lang="zh-CN" altLang="en-US" dirty="0"/>
                  <a:t>于是可以得到在该随机响应机制下，隐私预算</a:t>
                </a:r>
                <a14:m>
                  <m:oMath xmlns:m="http://schemas.openxmlformats.org/officeDocument/2006/math">
                    <m:r>
                      <a:rPr lang="en-US" altLang="zh-CN" i="1" dirty="0" smtClean="0">
                        <a:latin typeface="Cambria Math" panose="02040503050406030204" pitchFamily="18" charset="0"/>
                      </a:rPr>
                      <m:t>𝜖</m:t>
                    </m:r>
                    <m:r>
                      <a:rPr lang="en-US" altLang="zh-CN" b="1" i="1" dirty="0" smtClean="0">
                        <a:latin typeface="Cambria Math" panose="02040503050406030204" pitchFamily="18" charset="0"/>
                      </a:rPr>
                      <m:t>= </m:t>
                    </m:r>
                    <m:r>
                      <m:rPr>
                        <m:sty m:val="p"/>
                      </m:rPr>
                      <a:rPr lang="en-US" altLang="zh-CN" i="1" dirty="0" smtClean="0">
                        <a:latin typeface="Cambria Math" panose="02040503050406030204" pitchFamily="18" charset="0"/>
                      </a:rPr>
                      <m:t>ln</m:t>
                    </m:r>
                    <m:r>
                      <a:rPr lang="en-US" altLang="zh-CN" i="1" dirty="0" smtClean="0">
                        <a:latin typeface="Cambria Math" panose="02040503050406030204" pitchFamily="18" charset="0"/>
                      </a:rPr>
                      <m:t>3</m:t>
                    </m:r>
                  </m:oMath>
                </a14:m>
                <a:r>
                  <a:rPr lang="zh-CN" altLang="en-US" dirty="0"/>
                  <a:t>，该随机响应机制满足</a:t>
                </a:r>
                <a:r>
                  <a:rPr lang="en-US" altLang="zh-CN" dirty="0"/>
                  <a:t>(ln 3, 0)-</a:t>
                </a:r>
                <a:r>
                  <a:rPr lang="zh-CN" altLang="en-US" dirty="0"/>
                  <a:t>差分隐私。</a:t>
                </a:r>
                <a:endParaRPr lang="en-US" altLang="zh-CN" dirty="0"/>
              </a:p>
              <a:p>
                <a:pPr>
                  <a:spcBef>
                    <a:spcPts val="0"/>
                  </a:spcBef>
                  <a:spcAft>
                    <a:spcPts val="0"/>
                  </a:spcAft>
                </a:pPr>
                <a:r>
                  <a:rPr lang="zh-CN" altLang="en-US" dirty="0"/>
                  <a:t>根据上述分析，我们可以得到更一般化的结果 ：</a:t>
                </a:r>
                <a:endParaRPr lang="en-US" altLang="zh-CN" dirty="0"/>
              </a:p>
              <a:p>
                <a:pPr marL="0" indent="0">
                  <a:spcBef>
                    <a:spcPts val="0"/>
                  </a:spcBef>
                  <a:spcAft>
                    <a:spcPts val="0"/>
                  </a:spcAft>
                  <a:buNone/>
                </a:pPr>
                <a14:m>
                  <m:oMathPara xmlns:m="http://schemas.openxmlformats.org/officeDocument/2006/math">
                    <m:oMathParaPr>
                      <m:jc m:val="centerGroup"/>
                    </m:oMathParaPr>
                    <m:oMath xmlns:m="http://schemas.openxmlformats.org/officeDocument/2006/math">
                      <m:f>
                        <m:fPr>
                          <m:ctrlPr>
                            <a:rPr lang="en-US" altLang="zh-CN" sz="2000" b="0" i="1">
                              <a:latin typeface="Cambria Math" panose="02040503050406030204" pitchFamily="18" charset="0"/>
                            </a:rPr>
                          </m:ctrlPr>
                        </m:fPr>
                        <m:num>
                          <m:r>
                            <a:rPr lang="en-US" altLang="zh-CN" sz="2000" b="0" i="1">
                              <a:latin typeface="Cambria Math" panose="02040503050406030204" pitchFamily="18" charset="0"/>
                            </a:rPr>
                            <m:t>𝑃𝑟</m:t>
                          </m:r>
                          <m:d>
                            <m:dPr>
                              <m:begChr m:val="["/>
                              <m:endChr m:val="]"/>
                              <m:ctrlPr>
                                <a:rPr lang="en-US" altLang="zh-CN" sz="2000" b="0" i="1">
                                  <a:latin typeface="Cambria Math" panose="02040503050406030204" pitchFamily="18" charset="0"/>
                                </a:rPr>
                              </m:ctrlPr>
                            </m:dPr>
                            <m:e>
                              <m:r>
                                <a:rPr lang="en-US" altLang="zh-CN" sz="2000" b="0" i="1">
                                  <a:latin typeface="Cambria Math" panose="02040503050406030204" pitchFamily="18" charset="0"/>
                                </a:rPr>
                                <m:t>𝑅</m:t>
                              </m:r>
                              <m:r>
                                <a:rPr lang="en-US" altLang="zh-CN" sz="2000" b="0" i="1">
                                  <a:latin typeface="Cambria Math" panose="02040503050406030204" pitchFamily="18" charset="0"/>
                                </a:rPr>
                                <m:t>=“</m:t>
                              </m:r>
                              <m:r>
                                <a:rPr lang="zh-CN" altLang="en-US" sz="2000" b="0" i="1">
                                  <a:latin typeface="Cambria Math" panose="02040503050406030204" pitchFamily="18" charset="0"/>
                                </a:rPr>
                                <m:t>是</m:t>
                              </m:r>
                              <m:r>
                                <a:rPr lang="zh-CN" altLang="en-US" sz="2000" b="0" i="1">
                                  <a:latin typeface="Cambria Math" panose="02040503050406030204" pitchFamily="18" charset="0"/>
                                </a:rPr>
                                <m:t>”</m:t>
                              </m:r>
                            </m:e>
                            <m:e>
                              <m:r>
                                <a:rPr lang="en-US" altLang="zh-CN" sz="2000" b="0" i="1">
                                  <a:latin typeface="Cambria Math" panose="02040503050406030204" pitchFamily="18" charset="0"/>
                                </a:rPr>
                                <m:t>𝑇</m:t>
                              </m:r>
                              <m:r>
                                <a:rPr lang="en-US" altLang="zh-CN" sz="2000" b="0" i="1">
                                  <a:latin typeface="Cambria Math" panose="02040503050406030204" pitchFamily="18" charset="0"/>
                                </a:rPr>
                                <m:t>=“</m:t>
                              </m:r>
                              <m:r>
                                <a:rPr lang="zh-CN" altLang="en-US" sz="2000" b="0" i="1">
                                  <a:latin typeface="Cambria Math" panose="02040503050406030204" pitchFamily="18" charset="0"/>
                                </a:rPr>
                                <m:t>是</m:t>
                              </m:r>
                              <m:r>
                                <a:rPr lang="zh-CN" altLang="en-US" sz="2000" b="0" i="1">
                                  <a:latin typeface="Cambria Math" panose="02040503050406030204" pitchFamily="18" charset="0"/>
                                </a:rPr>
                                <m:t>”</m:t>
                              </m:r>
                            </m:e>
                          </m:d>
                          <m:r>
                            <a:rPr lang="en-US" altLang="zh-CN" sz="2000" b="0" i="1">
                              <a:latin typeface="Cambria Math" panose="02040503050406030204" pitchFamily="18" charset="0"/>
                            </a:rPr>
                            <m:t>=</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𝑝</m:t>
                              </m:r>
                            </m:num>
                            <m:den>
                              <m:r>
                                <a:rPr lang="en-US" altLang="zh-CN" sz="2000" b="0" i="1" smtClean="0">
                                  <a:latin typeface="Cambria Math" panose="02040503050406030204" pitchFamily="18" charset="0"/>
                                </a:rPr>
                                <m:t>2</m:t>
                              </m:r>
                            </m:den>
                          </m:f>
                        </m:num>
                        <m:den>
                          <m:r>
                            <a:rPr lang="en-US" altLang="zh-CN" sz="2000" b="0" i="1">
                              <a:latin typeface="Cambria Math" panose="02040503050406030204" pitchFamily="18" charset="0"/>
                            </a:rPr>
                            <m:t>𝑃𝑟</m:t>
                          </m:r>
                          <m:d>
                            <m:dPr>
                              <m:begChr m:val="["/>
                              <m:endChr m:val="]"/>
                              <m:ctrlPr>
                                <a:rPr lang="en-US" altLang="zh-CN" sz="2000" b="0" i="1">
                                  <a:latin typeface="Cambria Math" panose="02040503050406030204" pitchFamily="18" charset="0"/>
                                </a:rPr>
                              </m:ctrlPr>
                            </m:dPr>
                            <m:e>
                              <m:r>
                                <a:rPr lang="en-US" altLang="zh-CN" sz="2000" b="0" i="1">
                                  <a:latin typeface="Cambria Math" panose="02040503050406030204" pitchFamily="18" charset="0"/>
                                </a:rPr>
                                <m:t>𝑅</m:t>
                              </m:r>
                              <m:r>
                                <a:rPr lang="en-US" altLang="zh-CN" sz="2000" b="0" i="1">
                                  <a:latin typeface="Cambria Math" panose="02040503050406030204" pitchFamily="18" charset="0"/>
                                </a:rPr>
                                <m:t>=“</m:t>
                              </m:r>
                              <m:r>
                                <a:rPr lang="zh-CN" altLang="en-US" sz="2000" b="0" i="1">
                                  <a:latin typeface="Cambria Math" panose="02040503050406030204" pitchFamily="18" charset="0"/>
                                </a:rPr>
                                <m:t>是</m:t>
                              </m:r>
                              <m:r>
                                <a:rPr lang="zh-CN" altLang="en-US" sz="2000" b="0" i="1">
                                  <a:latin typeface="Cambria Math" panose="02040503050406030204" pitchFamily="18" charset="0"/>
                                </a:rPr>
                                <m:t>”</m:t>
                              </m:r>
                            </m:e>
                            <m:e>
                              <m:r>
                                <a:rPr lang="en-US" altLang="zh-CN" sz="2000" b="0" i="1">
                                  <a:latin typeface="Cambria Math" panose="02040503050406030204" pitchFamily="18" charset="0"/>
                                </a:rPr>
                                <m:t>𝑇</m:t>
                              </m:r>
                              <m:r>
                                <a:rPr lang="en-US" altLang="zh-CN" sz="2000" b="0" i="1">
                                  <a:latin typeface="Cambria Math" panose="02040503050406030204" pitchFamily="18" charset="0"/>
                                </a:rPr>
                                <m:t>=“</m:t>
                              </m:r>
                              <m:r>
                                <a:rPr lang="zh-CN" altLang="en-US" sz="2000" b="0" i="1">
                                  <a:latin typeface="Cambria Math" panose="02040503050406030204" pitchFamily="18" charset="0"/>
                                </a:rPr>
                                <m:t>否</m:t>
                              </m:r>
                              <m:r>
                                <a:rPr lang="zh-CN" altLang="en-US" sz="2000" b="0" i="1">
                                  <a:latin typeface="Cambria Math" panose="02040503050406030204" pitchFamily="18" charset="0"/>
                                </a:rPr>
                                <m:t>”</m:t>
                              </m:r>
                            </m:e>
                          </m:d>
                          <m:r>
                            <a:rPr lang="en-US" altLang="zh-CN" sz="2000" b="0" i="1">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)/2</m:t>
                          </m:r>
                        </m:den>
                      </m:f>
                      <m:r>
                        <a:rPr lang="en-US" altLang="zh-CN" sz="2000" b="0" i="1">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𝑝</m:t>
                          </m:r>
                        </m:den>
                      </m:f>
                      <m:r>
                        <a:rPr lang="zh-CN" altLang="en-US" sz="2000" b="0" i="1">
                          <a:latin typeface="Cambria Math" panose="02040503050406030204" pitchFamily="18" charset="0"/>
                        </a:rPr>
                        <m:t>，</m:t>
                      </m:r>
                      <m:f>
                        <m:fPr>
                          <m:ctrlPr>
                            <a:rPr lang="en-US" altLang="zh-CN" sz="2000" b="0" i="1">
                              <a:latin typeface="Cambria Math" panose="02040503050406030204" pitchFamily="18" charset="0"/>
                            </a:rPr>
                          </m:ctrlPr>
                        </m:fPr>
                        <m:num>
                          <m:r>
                            <a:rPr lang="en-US" altLang="zh-CN" sz="2000" b="0" i="1">
                              <a:latin typeface="Cambria Math" panose="02040503050406030204" pitchFamily="18" charset="0"/>
                            </a:rPr>
                            <m:t>𝑃𝑟</m:t>
                          </m:r>
                          <m:d>
                            <m:dPr>
                              <m:begChr m:val="["/>
                              <m:endChr m:val="]"/>
                              <m:ctrlPr>
                                <a:rPr lang="en-US" altLang="zh-CN" sz="2000" b="0" i="1">
                                  <a:latin typeface="Cambria Math" panose="02040503050406030204" pitchFamily="18" charset="0"/>
                                </a:rPr>
                              </m:ctrlPr>
                            </m:dPr>
                            <m:e>
                              <m:r>
                                <a:rPr lang="en-US" altLang="zh-CN" sz="2000" b="0" i="1">
                                  <a:latin typeface="Cambria Math" panose="02040503050406030204" pitchFamily="18" charset="0"/>
                                </a:rPr>
                                <m:t>𝑅</m:t>
                              </m:r>
                              <m:r>
                                <a:rPr lang="en-US" altLang="zh-CN" sz="2000" b="0" i="1">
                                  <a:latin typeface="Cambria Math" panose="02040503050406030204" pitchFamily="18" charset="0"/>
                                </a:rPr>
                                <m:t>=“</m:t>
                              </m:r>
                              <m:r>
                                <a:rPr lang="zh-CN" altLang="en-US" sz="2000" b="0" i="1">
                                  <a:latin typeface="Cambria Math" panose="02040503050406030204" pitchFamily="18" charset="0"/>
                                </a:rPr>
                                <m:t>否</m:t>
                              </m:r>
                              <m:r>
                                <a:rPr lang="zh-CN" altLang="en-US" sz="2000" b="0" i="1">
                                  <a:latin typeface="Cambria Math" panose="02040503050406030204" pitchFamily="18" charset="0"/>
                                </a:rPr>
                                <m:t>”</m:t>
                              </m:r>
                            </m:e>
                            <m:e>
                              <m:r>
                                <a:rPr lang="en-US" altLang="zh-CN" sz="2000" b="0" i="1">
                                  <a:latin typeface="Cambria Math" panose="02040503050406030204" pitchFamily="18" charset="0"/>
                                </a:rPr>
                                <m:t>𝑇</m:t>
                              </m:r>
                              <m:r>
                                <a:rPr lang="en-US" altLang="zh-CN" sz="2000" b="0" i="1">
                                  <a:latin typeface="Cambria Math" panose="02040503050406030204" pitchFamily="18" charset="0"/>
                                </a:rPr>
                                <m:t>=“</m:t>
                              </m:r>
                              <m:r>
                                <a:rPr lang="zh-CN" altLang="en-US" sz="2000" b="0" i="1">
                                  <a:latin typeface="Cambria Math" panose="02040503050406030204" pitchFamily="18" charset="0"/>
                                </a:rPr>
                                <m:t>否</m:t>
                              </m:r>
                              <m:r>
                                <a:rPr lang="zh-CN" altLang="en-US" sz="2000" b="0" i="1">
                                  <a:latin typeface="Cambria Math" panose="02040503050406030204" pitchFamily="18" charset="0"/>
                                </a:rPr>
                                <m:t>”</m:t>
                              </m:r>
                            </m:e>
                          </m:d>
                          <m:r>
                            <a:rPr lang="en-US" altLang="zh-CN" sz="2000" b="0" i="1">
                              <a:latin typeface="Cambria Math" panose="02040503050406030204" pitchFamily="18" charset="0"/>
                            </a:rPr>
                            <m:t>=</m:t>
                          </m:r>
                          <m:r>
                            <a:rPr lang="en-US" altLang="zh-CN" sz="2000" b="0" i="1">
                              <a:latin typeface="Cambria Math" panose="02040503050406030204" pitchFamily="18" charset="0"/>
                            </a:rPr>
                            <m:t>𝑝</m:t>
                          </m:r>
                          <m:r>
                            <a:rPr lang="en-US" altLang="zh-CN" sz="2000" b="0" i="1">
                              <a:latin typeface="Cambria Math" panose="02040503050406030204" pitchFamily="18" charset="0"/>
                            </a:rPr>
                            <m:t>+</m:t>
                          </m:r>
                          <m:f>
                            <m:fPr>
                              <m:ctrlPr>
                                <a:rPr lang="en-US" altLang="zh-CN" sz="2000" b="0" i="1">
                                  <a:latin typeface="Cambria Math" panose="02040503050406030204" pitchFamily="18" charset="0"/>
                                </a:rPr>
                              </m:ctrlPr>
                            </m:fPr>
                            <m:num>
                              <m:r>
                                <a:rPr lang="en-US" altLang="zh-CN" sz="2000" b="0" i="1">
                                  <a:latin typeface="Cambria Math" panose="02040503050406030204" pitchFamily="18" charset="0"/>
                                </a:rPr>
                                <m:t>1−</m:t>
                              </m:r>
                              <m:r>
                                <a:rPr lang="en-US" altLang="zh-CN" sz="2000" b="0" i="1">
                                  <a:latin typeface="Cambria Math" panose="02040503050406030204" pitchFamily="18" charset="0"/>
                                </a:rPr>
                                <m:t>𝑝</m:t>
                              </m:r>
                            </m:num>
                            <m:den>
                              <m:r>
                                <a:rPr lang="en-US" altLang="zh-CN" sz="2000" b="0" i="1">
                                  <a:latin typeface="Cambria Math" panose="02040503050406030204" pitchFamily="18" charset="0"/>
                                </a:rPr>
                                <m:t>2</m:t>
                              </m:r>
                            </m:den>
                          </m:f>
                        </m:num>
                        <m:den>
                          <m:r>
                            <a:rPr lang="en-US" altLang="zh-CN" sz="2000" b="0" i="1">
                              <a:latin typeface="Cambria Math" panose="02040503050406030204" pitchFamily="18" charset="0"/>
                            </a:rPr>
                            <m:t>𝑃𝑟</m:t>
                          </m:r>
                          <m:d>
                            <m:dPr>
                              <m:begChr m:val="["/>
                              <m:endChr m:val="]"/>
                              <m:ctrlPr>
                                <a:rPr lang="en-US" altLang="zh-CN" sz="2000" b="0" i="1">
                                  <a:latin typeface="Cambria Math" panose="02040503050406030204" pitchFamily="18" charset="0"/>
                                </a:rPr>
                              </m:ctrlPr>
                            </m:dPr>
                            <m:e>
                              <m:r>
                                <a:rPr lang="en-US" altLang="zh-CN" sz="2000" b="0" i="1">
                                  <a:latin typeface="Cambria Math" panose="02040503050406030204" pitchFamily="18" charset="0"/>
                                </a:rPr>
                                <m:t>𝑅</m:t>
                              </m:r>
                              <m:r>
                                <a:rPr lang="en-US" altLang="zh-CN" sz="2000" b="0" i="1">
                                  <a:latin typeface="Cambria Math" panose="02040503050406030204" pitchFamily="18" charset="0"/>
                                </a:rPr>
                                <m:t>=“</m:t>
                              </m:r>
                              <m:r>
                                <a:rPr lang="zh-CN" altLang="en-US" sz="2000" b="0" i="1">
                                  <a:latin typeface="Cambria Math" panose="02040503050406030204" pitchFamily="18" charset="0"/>
                                </a:rPr>
                                <m:t>否</m:t>
                              </m:r>
                              <m:r>
                                <a:rPr lang="zh-CN" altLang="en-US" sz="2000" b="0" i="1">
                                  <a:latin typeface="Cambria Math" panose="02040503050406030204" pitchFamily="18" charset="0"/>
                                </a:rPr>
                                <m:t>”</m:t>
                              </m:r>
                            </m:e>
                            <m:e>
                              <m:r>
                                <a:rPr lang="en-US" altLang="zh-CN" sz="2000" b="0" i="1">
                                  <a:latin typeface="Cambria Math" panose="02040503050406030204" pitchFamily="18" charset="0"/>
                                </a:rPr>
                                <m:t>𝑇</m:t>
                              </m:r>
                              <m:r>
                                <a:rPr lang="en-US" altLang="zh-CN" sz="2000" b="0" i="1">
                                  <a:latin typeface="Cambria Math" panose="02040503050406030204" pitchFamily="18" charset="0"/>
                                </a:rPr>
                                <m:t>=“</m:t>
                              </m:r>
                              <m:r>
                                <a:rPr lang="zh-CN" altLang="en-US" sz="2000" b="0" i="1">
                                  <a:latin typeface="Cambria Math" panose="02040503050406030204" pitchFamily="18" charset="0"/>
                                </a:rPr>
                                <m:t>是</m:t>
                              </m:r>
                              <m:r>
                                <a:rPr lang="zh-CN" altLang="en-US" sz="2000" b="0" i="1">
                                  <a:latin typeface="Cambria Math" panose="02040503050406030204" pitchFamily="18" charset="0"/>
                                </a:rPr>
                                <m:t>”</m:t>
                              </m:r>
                            </m:e>
                          </m:d>
                          <m:r>
                            <a:rPr lang="en-US" altLang="zh-CN" sz="2000" b="0" i="1">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𝑝</m:t>
                          </m:r>
                          <m:r>
                            <a:rPr lang="en-US" altLang="zh-CN" sz="2000" b="0" i="1" smtClean="0">
                              <a:latin typeface="Cambria Math" panose="02040503050406030204" pitchFamily="18" charset="0"/>
                            </a:rPr>
                            <m:t>)/2</m:t>
                          </m:r>
                        </m:den>
                      </m:f>
                      <m:r>
                        <a:rPr lang="en-US" altLang="zh-CN" sz="2000" b="0" i="1">
                          <a:latin typeface="Cambria Math" panose="02040503050406030204" pitchFamily="18" charset="0"/>
                        </a:rPr>
                        <m:t>=</m:t>
                      </m:r>
                      <m:f>
                        <m:fPr>
                          <m:ctrlPr>
                            <a:rPr lang="en-US" altLang="zh-CN" sz="2000" b="0" i="1">
                              <a:latin typeface="Cambria Math" panose="02040503050406030204" pitchFamily="18" charset="0"/>
                            </a:rPr>
                          </m:ctrlPr>
                        </m:fPr>
                        <m:num>
                          <m:r>
                            <a:rPr lang="en-US" altLang="zh-CN" sz="2000" b="0" i="1">
                              <a:latin typeface="Cambria Math" panose="02040503050406030204" pitchFamily="18" charset="0"/>
                            </a:rPr>
                            <m:t>𝑝</m:t>
                          </m:r>
                          <m:r>
                            <a:rPr lang="en-US" altLang="zh-CN" sz="2000" b="0" i="1">
                              <a:latin typeface="Cambria Math" panose="02040503050406030204" pitchFamily="18" charset="0"/>
                            </a:rPr>
                            <m:t>+1</m:t>
                          </m:r>
                        </m:num>
                        <m:den>
                          <m:r>
                            <a:rPr lang="en-US" altLang="zh-CN" sz="2000" b="0" i="1">
                              <a:latin typeface="Cambria Math" panose="02040503050406030204" pitchFamily="18" charset="0"/>
                            </a:rPr>
                            <m:t>1−</m:t>
                          </m:r>
                          <m:r>
                            <a:rPr lang="en-US" altLang="zh-CN" sz="2000" b="0" i="1">
                              <a:latin typeface="Cambria Math" panose="02040503050406030204" pitchFamily="18" charset="0"/>
                            </a:rPr>
                            <m:t>𝑝</m:t>
                          </m:r>
                        </m:den>
                      </m:f>
                    </m:oMath>
                  </m:oMathPara>
                </a14:m>
                <a:endParaRPr lang="en-US" altLang="zh-CN" dirty="0"/>
              </a:p>
              <a:p>
                <a:pPr>
                  <a:spcBef>
                    <a:spcPts val="0"/>
                  </a:spcBef>
                  <a:spcAft>
                    <a:spcPts val="0"/>
                  </a:spcAft>
                </a:pPr>
                <a:r>
                  <a:rPr lang="zh-CN" altLang="en-US" dirty="0"/>
                  <a:t>当掷一枚正面朝上概率为</a:t>
                </a:r>
                <a:r>
                  <a:rPr lang="en-US" altLang="zh-CN" dirty="0"/>
                  <a:t>p</a:t>
                </a:r>
                <a:r>
                  <a:rPr lang="zh-CN" altLang="en-US" dirty="0"/>
                  <a:t>的硬币时，该随机响应机制的隐私预算为：</a:t>
                </a:r>
                <a:r>
                  <a:rPr lang="en-US" altLang="zh-CN" dirty="0"/>
                  <a:t> </a:t>
                </a:r>
                <a14:m>
                  <m:oMath xmlns:m="http://schemas.openxmlformats.org/officeDocument/2006/math">
                    <m:r>
                      <a:rPr lang="en-US" altLang="zh-CN" i="1" dirty="0">
                        <a:latin typeface="Cambria Math" panose="02040503050406030204" pitchFamily="18" charset="0"/>
                      </a:rPr>
                      <m:t>𝜖</m:t>
                    </m:r>
                    <m:r>
                      <a:rPr lang="en-US" altLang="zh-CN" i="1" dirty="0">
                        <a:latin typeface="Cambria Math" panose="02040503050406030204" pitchFamily="18" charset="0"/>
                      </a:rPr>
                      <m:t>= </m:t>
                    </m:r>
                    <m:r>
                      <m:rPr>
                        <m:sty m:val="p"/>
                      </m:rPr>
                      <a:rPr lang="en-US" altLang="zh-CN" i="1" dirty="0">
                        <a:latin typeface="Cambria Math" panose="02040503050406030204" pitchFamily="18" charset="0"/>
                      </a:rPr>
                      <m:t>ln</m:t>
                    </m:r>
                    <m:f>
                      <m:fPr>
                        <m:ctrlPr>
                          <a:rPr lang="en-US" altLang="zh-CN" b="0" i="1">
                            <a:latin typeface="Cambria Math" panose="02040503050406030204" pitchFamily="18" charset="0"/>
                          </a:rPr>
                        </m:ctrlPr>
                      </m:fPr>
                      <m:num>
                        <m:r>
                          <a:rPr lang="en-US" altLang="zh-CN" b="0" i="1">
                            <a:latin typeface="Cambria Math" panose="02040503050406030204" pitchFamily="18" charset="0"/>
                          </a:rPr>
                          <m:t>𝑝</m:t>
                        </m:r>
                        <m:r>
                          <a:rPr lang="en-US" altLang="zh-CN" b="0" i="1">
                            <a:latin typeface="Cambria Math" panose="02040503050406030204" pitchFamily="18" charset="0"/>
                          </a:rPr>
                          <m:t>+1</m:t>
                        </m:r>
                      </m:num>
                      <m:den>
                        <m:r>
                          <a:rPr lang="en-US" altLang="zh-CN" b="0" i="1">
                            <a:latin typeface="Cambria Math" panose="02040503050406030204" pitchFamily="18" charset="0"/>
                          </a:rPr>
                          <m:t>1−</m:t>
                        </m:r>
                        <m:r>
                          <a:rPr lang="en-US" altLang="zh-CN" b="0" i="1">
                            <a:latin typeface="Cambria Math" panose="02040503050406030204" pitchFamily="18" charset="0"/>
                          </a:rPr>
                          <m:t>𝑝</m:t>
                        </m:r>
                      </m:den>
                    </m:f>
                  </m:oMath>
                </a14:m>
                <a:endParaRPr lang="en-US" altLang="zh-CN" dirty="0"/>
              </a:p>
              <a:p>
                <a:pPr lvl="1">
                  <a:spcBef>
                    <a:spcPts val="0"/>
                  </a:spcBef>
                  <a:spcAft>
                    <a:spcPts val="0"/>
                  </a:spcAft>
                </a:pPr>
                <a:r>
                  <a:rPr lang="zh-CN" altLang="en-US" dirty="0"/>
                  <a:t>硬币正面朝上的概率</a:t>
                </a:r>
                <a:r>
                  <a:rPr lang="en-US" altLang="zh-CN" dirty="0"/>
                  <a:t>p</a:t>
                </a:r>
                <a:r>
                  <a:rPr lang="zh-CN" altLang="en-US" dirty="0"/>
                  <a:t>越大，隐私预算</a:t>
                </a:r>
                <a14:m>
                  <m:oMath xmlns:m="http://schemas.openxmlformats.org/officeDocument/2006/math">
                    <m:r>
                      <a:rPr lang="en-US" altLang="zh-CN" i="1" dirty="0">
                        <a:latin typeface="Cambria Math" panose="02040503050406030204" pitchFamily="18" charset="0"/>
                      </a:rPr>
                      <m:t>𝜖</m:t>
                    </m:r>
                  </m:oMath>
                </a14:m>
                <a:r>
                  <a:rPr lang="zh-CN" altLang="en-US" dirty="0"/>
                  <a:t>也越大。</a:t>
                </a:r>
              </a:p>
            </p:txBody>
          </p:sp>
        </mc:Choice>
        <mc:Fallback xmlns="">
          <p:sp>
            <p:nvSpPr>
              <p:cNvPr id="2" name="内容占位符 1">
                <a:extLst>
                  <a:ext uri="{FF2B5EF4-FFF2-40B4-BE49-F238E27FC236}">
                    <a16:creationId xmlns:a16="http://schemas.microsoft.com/office/drawing/2014/main" id="{C933E17F-07CE-C44D-0732-43CF5A5A8787}"/>
                  </a:ext>
                </a:extLst>
              </p:cNvPr>
              <p:cNvSpPr>
                <a:spLocks noGrp="1" noRot="1" noChangeAspect="1" noMove="1" noResize="1" noEditPoints="1" noAdjustHandles="1" noChangeArrowheads="1" noChangeShapeType="1" noTextEdit="1"/>
              </p:cNvSpPr>
              <p:nvPr>
                <p:ph idx="1"/>
              </p:nvPr>
            </p:nvSpPr>
            <p:spPr>
              <a:xfrm>
                <a:off x="371301" y="1232704"/>
                <a:ext cx="11464528" cy="5446701"/>
              </a:xfrm>
              <a:blipFill>
                <a:blip r:embed="rId2"/>
                <a:stretch>
                  <a:fillRect l="-957" t="-671" r="-797" b="-3915"/>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A8A5E357-D69F-D55D-FD0D-59DC5EC19BCD}"/>
              </a:ext>
            </a:extLst>
          </p:cNvPr>
          <p:cNvSpPr>
            <a:spLocks noGrp="1"/>
          </p:cNvSpPr>
          <p:nvPr>
            <p:ph type="sldNum" sz="quarter" idx="4"/>
          </p:nvPr>
        </p:nvSpPr>
        <p:spPr/>
        <p:txBody>
          <a:bodyPr/>
          <a:lstStyle/>
          <a:p>
            <a:fld id="{4124EDF5-87F7-4AC5-8292-B04417157FC2}" type="slidenum">
              <a:rPr lang="zh-CN" altLang="en-US" smtClean="0"/>
              <a:t>40</a:t>
            </a:fld>
            <a:endParaRPr lang="zh-CN" altLang="en-US"/>
          </a:p>
        </p:txBody>
      </p:sp>
      <p:sp>
        <p:nvSpPr>
          <p:cNvPr id="4" name="标题 3">
            <a:extLst>
              <a:ext uri="{FF2B5EF4-FFF2-40B4-BE49-F238E27FC236}">
                <a16:creationId xmlns:a16="http://schemas.microsoft.com/office/drawing/2014/main" id="{21516293-4938-0A9E-83DE-385BA6D3D03F}"/>
              </a:ext>
            </a:extLst>
          </p:cNvPr>
          <p:cNvSpPr>
            <a:spLocks noGrp="1"/>
          </p:cNvSpPr>
          <p:nvPr>
            <p:ph type="title"/>
          </p:nvPr>
        </p:nvSpPr>
        <p:spPr/>
        <p:txBody>
          <a:bodyPr/>
          <a:lstStyle/>
          <a:p>
            <a:r>
              <a:rPr lang="zh-CN" altLang="en-US" dirty="0"/>
              <a:t>随机响应机制是一种本地化差分隐私机制</a:t>
            </a:r>
          </a:p>
        </p:txBody>
      </p:sp>
    </p:spTree>
    <p:extLst>
      <p:ext uri="{BB962C8B-B14F-4D97-AF65-F5344CB8AC3E}">
        <p14:creationId xmlns:p14="http://schemas.microsoft.com/office/powerpoint/2010/main" val="32283829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CBF9C6A3-8C65-B436-B9A6-D4FA5AF9DC7A}"/>
              </a:ext>
            </a:extLst>
          </p:cNvPr>
          <p:cNvSpPr>
            <a:spLocks noGrp="1"/>
          </p:cNvSpPr>
          <p:nvPr>
            <p:ph idx="1"/>
          </p:nvPr>
        </p:nvSpPr>
        <p:spPr/>
        <p:txBody>
          <a:bodyPr/>
          <a:lstStyle/>
          <a:p>
            <a:r>
              <a:rPr lang="zh-CN" altLang="en-US" dirty="0"/>
              <a:t>取 </a:t>
            </a:r>
            <a:r>
              <a:rPr lang="en-US" altLang="zh-CN" dirty="0"/>
              <a:t>p=0.2</a:t>
            </a:r>
            <a:r>
              <a:rPr lang="zh-CN" altLang="en-US" dirty="0"/>
              <a:t>，假设有</a:t>
            </a:r>
            <a:r>
              <a:rPr lang="en-US" altLang="zh-CN" dirty="0"/>
              <a:t>10000 </a:t>
            </a:r>
            <a:r>
              <a:rPr lang="zh-CN" altLang="en-US" dirty="0"/>
              <a:t>人通过该随机响应机制进行回复，得到的回复结果中有 </a:t>
            </a:r>
            <a:r>
              <a:rPr lang="en-US" altLang="zh-CN" dirty="0"/>
              <a:t>5500 </a:t>
            </a:r>
            <a:r>
              <a:rPr lang="zh-CN" altLang="en-US" dirty="0"/>
              <a:t>个“是”和 </a:t>
            </a:r>
            <a:r>
              <a:rPr lang="en-US" altLang="zh-CN" dirty="0"/>
              <a:t>4500 </a:t>
            </a:r>
            <a:r>
              <a:rPr lang="zh-CN" altLang="en-US" dirty="0"/>
              <a:t>个“否”。其中每个人有 </a:t>
            </a:r>
            <a:r>
              <a:rPr lang="en-US" altLang="zh-CN" dirty="0"/>
              <a:t>80%</a:t>
            </a:r>
            <a:r>
              <a:rPr lang="zh-CN" altLang="en-US" dirty="0"/>
              <a:t>的概率随机回复，于是 </a:t>
            </a:r>
            <a:r>
              <a:rPr lang="en-US" altLang="zh-CN" dirty="0"/>
              <a:t>10000 </a:t>
            </a:r>
            <a:r>
              <a:rPr lang="zh-CN" altLang="en-US" dirty="0"/>
              <a:t>人中有 </a:t>
            </a:r>
            <a:r>
              <a:rPr lang="en-US" altLang="zh-CN" dirty="0"/>
              <a:t>8000 </a:t>
            </a:r>
            <a:r>
              <a:rPr lang="zh-CN" altLang="en-US" dirty="0"/>
              <a:t>人随机回复，按照随机回复中“是”或“否”都是</a:t>
            </a:r>
            <a:r>
              <a:rPr lang="en-US" altLang="zh-CN" dirty="0"/>
              <a:t>1/2</a:t>
            </a:r>
            <a:r>
              <a:rPr lang="zh-CN" altLang="en-US" dirty="0"/>
              <a:t>的概率，大概有</a:t>
            </a:r>
            <a:r>
              <a:rPr lang="en-US" altLang="zh-CN" dirty="0"/>
              <a:t>4000</a:t>
            </a:r>
            <a:r>
              <a:rPr lang="zh-CN" altLang="en-US" dirty="0"/>
              <a:t>人随机回复“是”，</a:t>
            </a:r>
            <a:r>
              <a:rPr lang="en-US" altLang="zh-CN" dirty="0"/>
              <a:t>4000</a:t>
            </a:r>
            <a:r>
              <a:rPr lang="zh-CN" altLang="en-US" dirty="0"/>
              <a:t>人随机回复“否”。</a:t>
            </a:r>
            <a:endParaRPr lang="en-US" altLang="zh-CN" dirty="0"/>
          </a:p>
          <a:p>
            <a:r>
              <a:rPr lang="zh-CN" altLang="en-US" dirty="0"/>
              <a:t>最后两者相减，我们可以得到如实回答的估计结果：</a:t>
            </a:r>
            <a:r>
              <a:rPr lang="en-US" altLang="zh-CN" dirty="0"/>
              <a:t>1500 </a:t>
            </a:r>
            <a:r>
              <a:rPr lang="zh-CN" altLang="en-US" dirty="0"/>
              <a:t>人回复“是”，</a:t>
            </a:r>
            <a:r>
              <a:rPr lang="en-US" altLang="zh-CN" dirty="0"/>
              <a:t>500 </a:t>
            </a:r>
            <a:r>
              <a:rPr lang="zh-CN" altLang="en-US" dirty="0"/>
              <a:t>人回复 “否”。根据概率，如实回答问题的人数占</a:t>
            </a:r>
            <a:r>
              <a:rPr lang="en-US" altLang="zh-CN" dirty="0"/>
              <a:t>1/5</a:t>
            </a:r>
            <a:r>
              <a:rPr lang="zh-CN" altLang="en-US" dirty="0"/>
              <a:t>，于是得到一个估计的最终结果：</a:t>
            </a:r>
            <a:r>
              <a:rPr lang="en-US" altLang="zh-CN" dirty="0"/>
              <a:t>7500 </a:t>
            </a:r>
            <a:r>
              <a:rPr lang="zh-CN" altLang="en-US" dirty="0"/>
              <a:t>人回复 “是”，</a:t>
            </a:r>
            <a:r>
              <a:rPr lang="en-US" altLang="zh-CN" dirty="0"/>
              <a:t>2500 </a:t>
            </a:r>
            <a:r>
              <a:rPr lang="zh-CN" altLang="en-US" dirty="0"/>
              <a:t>人回复“否”。</a:t>
            </a:r>
          </a:p>
        </p:txBody>
      </p:sp>
      <p:sp>
        <p:nvSpPr>
          <p:cNvPr id="3" name="灯片编号占位符 2">
            <a:extLst>
              <a:ext uri="{FF2B5EF4-FFF2-40B4-BE49-F238E27FC236}">
                <a16:creationId xmlns:a16="http://schemas.microsoft.com/office/drawing/2014/main" id="{1F2A2AFB-36E3-16D8-792B-B5811D488D4A}"/>
              </a:ext>
            </a:extLst>
          </p:cNvPr>
          <p:cNvSpPr>
            <a:spLocks noGrp="1"/>
          </p:cNvSpPr>
          <p:nvPr>
            <p:ph type="sldNum" sz="quarter" idx="4"/>
          </p:nvPr>
        </p:nvSpPr>
        <p:spPr/>
        <p:txBody>
          <a:bodyPr/>
          <a:lstStyle/>
          <a:p>
            <a:fld id="{4124EDF5-87F7-4AC5-8292-B04417157FC2}" type="slidenum">
              <a:rPr lang="zh-CN" altLang="en-US" smtClean="0"/>
              <a:t>41</a:t>
            </a:fld>
            <a:endParaRPr lang="zh-CN" altLang="en-US"/>
          </a:p>
        </p:txBody>
      </p:sp>
      <p:sp>
        <p:nvSpPr>
          <p:cNvPr id="4" name="标题 3">
            <a:extLst>
              <a:ext uri="{FF2B5EF4-FFF2-40B4-BE49-F238E27FC236}">
                <a16:creationId xmlns:a16="http://schemas.microsoft.com/office/drawing/2014/main" id="{7AB370D8-6BB6-4075-7175-923B88D1E49E}"/>
              </a:ext>
            </a:extLst>
          </p:cNvPr>
          <p:cNvSpPr>
            <a:spLocks noGrp="1"/>
          </p:cNvSpPr>
          <p:nvPr>
            <p:ph type="title"/>
          </p:nvPr>
        </p:nvSpPr>
        <p:spPr/>
        <p:txBody>
          <a:bodyPr/>
          <a:lstStyle/>
          <a:p>
            <a:r>
              <a:rPr lang="zh-CN" altLang="en-US" dirty="0"/>
              <a:t>通过随机响应估计真实回复</a:t>
            </a:r>
          </a:p>
        </p:txBody>
      </p:sp>
      <p:pic>
        <p:nvPicPr>
          <p:cNvPr id="5" name="图片 4">
            <a:extLst>
              <a:ext uri="{FF2B5EF4-FFF2-40B4-BE49-F238E27FC236}">
                <a16:creationId xmlns:a16="http://schemas.microsoft.com/office/drawing/2014/main" id="{B3EA672C-2333-EDB0-0DCE-83AF72471526}"/>
              </a:ext>
            </a:extLst>
          </p:cNvPr>
          <p:cNvPicPr>
            <a:picLocks noChangeAspect="1"/>
          </p:cNvPicPr>
          <p:nvPr/>
        </p:nvPicPr>
        <p:blipFill>
          <a:blip r:embed="rId3"/>
          <a:stretch>
            <a:fillRect/>
          </a:stretch>
        </p:blipFill>
        <p:spPr>
          <a:xfrm>
            <a:off x="2807853" y="4622386"/>
            <a:ext cx="6576294" cy="2235614"/>
          </a:xfrm>
          <a:prstGeom prst="rect">
            <a:avLst/>
          </a:prstGeom>
        </p:spPr>
      </p:pic>
    </p:spTree>
    <p:extLst>
      <p:ext uri="{BB962C8B-B14F-4D97-AF65-F5344CB8AC3E}">
        <p14:creationId xmlns:p14="http://schemas.microsoft.com/office/powerpoint/2010/main" val="36520530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0989A4D2-4A81-478E-5580-894092FB91B8}"/>
                  </a:ext>
                </a:extLst>
              </p:cNvPr>
              <p:cNvSpPr>
                <a:spLocks noGrp="1"/>
              </p:cNvSpPr>
              <p:nvPr>
                <p:ph idx="1"/>
              </p:nvPr>
            </p:nvSpPr>
            <p:spPr/>
            <p:txBody>
              <a:bodyPr/>
              <a:lstStyle/>
              <a:p>
                <a:r>
                  <a:rPr lang="zh-CN" altLang="en-US" dirty="0"/>
                  <a:t>更进一步，假设有 </a:t>
                </a:r>
                <a:r>
                  <a:rPr lang="en-US" altLang="zh-CN" dirty="0"/>
                  <a:t>N </a:t>
                </a:r>
                <a:r>
                  <a:rPr lang="zh-CN" altLang="en-US" dirty="0"/>
                  <a:t>人通过该随机响应机制进行回复，响应得到“是”的回复人数为 </a:t>
                </a:r>
                <a:r>
                  <a:rPr lang="en-US" altLang="zh-CN" dirty="0"/>
                  <a:t>n </a:t>
                </a:r>
                <a:r>
                  <a:rPr lang="zh-CN" altLang="en-US" dirty="0"/>
                  <a:t>，硬币正面朝上概率为 </a:t>
                </a:r>
                <a:r>
                  <a:rPr lang="en-US" altLang="zh-CN" dirty="0"/>
                  <a:t>p</a:t>
                </a:r>
                <a:r>
                  <a:rPr lang="zh-CN" altLang="en-US" dirty="0"/>
                  <a:t>。那么我们可以估计出 </a:t>
                </a:r>
                <a:r>
                  <a:rPr lang="en-US" altLang="zh-CN" dirty="0"/>
                  <a:t>N </a:t>
                </a:r>
                <a:r>
                  <a:rPr lang="zh-CN" altLang="en-US" dirty="0"/>
                  <a:t>人的统计结果：回复“是”的人数为 </a:t>
                </a:r>
                <a14:m>
                  <m:oMath xmlns:m="http://schemas.openxmlformats.org/officeDocument/2006/math">
                    <m:f>
                      <m:fPr>
                        <m:ctrlPr>
                          <a:rPr lang="en-US" altLang="zh-CN" b="1" i="1" smtClean="0">
                            <a:latin typeface="Cambria Math" panose="02040503050406030204" pitchFamily="18" charset="0"/>
                          </a:rPr>
                        </m:ctrlPr>
                      </m:fPr>
                      <m:num>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𝒏</m:t>
                            </m:r>
                          </m:e>
                          <m:sub>
                            <m:r>
                              <a:rPr lang="en-US" altLang="zh-CN" b="1" i="1" smtClean="0">
                                <a:latin typeface="Cambria Math" panose="02040503050406030204" pitchFamily="18" charset="0"/>
                              </a:rPr>
                              <m:t>𝟏</m:t>
                            </m:r>
                          </m:sub>
                        </m:sSub>
                      </m:num>
                      <m:den>
                        <m:r>
                          <a:rPr lang="en-US" altLang="zh-CN" b="1" i="1" smtClean="0">
                            <a:latin typeface="Cambria Math" panose="02040503050406030204" pitchFamily="18" charset="0"/>
                          </a:rPr>
                          <m:t>𝒑</m:t>
                        </m:r>
                      </m:den>
                    </m:f>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𝑵</m:t>
                            </m:r>
                            <m:d>
                              <m:dPr>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𝒑</m:t>
                                </m:r>
                              </m:e>
                            </m:d>
                          </m:e>
                        </m:d>
                      </m:num>
                      <m:den>
                        <m:r>
                          <a:rPr lang="en-US" altLang="zh-CN" b="1" i="1" smtClean="0">
                            <a:latin typeface="Cambria Math" panose="02040503050406030204" pitchFamily="18" charset="0"/>
                          </a:rPr>
                          <m:t>𝟐</m:t>
                        </m:r>
                        <m:r>
                          <a:rPr lang="en-US" altLang="zh-CN" b="1" i="1" smtClean="0">
                            <a:latin typeface="Cambria Math" panose="02040503050406030204" pitchFamily="18" charset="0"/>
                          </a:rPr>
                          <m:t>𝒑</m:t>
                        </m:r>
                      </m:den>
                    </m:f>
                  </m:oMath>
                </a14:m>
                <a:r>
                  <a:rPr lang="zh-CN" altLang="en-US" dirty="0"/>
                  <a:t>，回复“否”的人数为 </a:t>
                </a:r>
                <a14:m>
                  <m:oMath xmlns:m="http://schemas.openxmlformats.org/officeDocument/2006/math">
                    <m:f>
                      <m:fPr>
                        <m:ctrlPr>
                          <a:rPr lang="en-US" altLang="zh-CN" i="1">
                            <a:latin typeface="Cambria Math" panose="02040503050406030204" pitchFamily="18" charset="0"/>
                          </a:rPr>
                        </m:ctrlPr>
                      </m:fPr>
                      <m:num>
                        <m:r>
                          <a:rPr lang="en-US" altLang="zh-CN" b="1" i="1" smtClean="0">
                            <a:latin typeface="Cambria Math" panose="02040503050406030204" pitchFamily="18" charset="0"/>
                          </a:rPr>
                          <m:t>𝑵</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𝒑</m:t>
                        </m:r>
                        <m:r>
                          <a:rPr lang="en-US" altLang="zh-CN" b="1" i="1" smtClean="0">
                            <a:latin typeface="Cambria Math" panose="02040503050406030204" pitchFamily="18" charset="0"/>
                          </a:rPr>
                          <m:t>)</m:t>
                        </m:r>
                      </m:num>
                      <m:den>
                        <m:r>
                          <a:rPr lang="en-US" altLang="zh-CN" b="1" i="1" smtClean="0">
                            <a:latin typeface="Cambria Math" panose="02040503050406030204" pitchFamily="18" charset="0"/>
                          </a:rPr>
                          <m:t>𝟐</m:t>
                        </m:r>
                        <m:r>
                          <a:rPr lang="en-US" altLang="zh-CN" i="1">
                            <a:latin typeface="Cambria Math" panose="02040503050406030204" pitchFamily="18" charset="0"/>
                          </a:rPr>
                          <m:t>𝒑</m:t>
                        </m:r>
                      </m:den>
                    </m:f>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𝒏</m:t>
                            </m:r>
                          </m:e>
                          <m:sub>
                            <m:r>
                              <a:rPr lang="en-US" altLang="zh-CN" b="1" i="1" smtClean="0">
                                <a:latin typeface="Cambria Math" panose="02040503050406030204" pitchFamily="18" charset="0"/>
                              </a:rPr>
                              <m:t>𝟏</m:t>
                            </m:r>
                          </m:sub>
                        </m:sSub>
                      </m:num>
                      <m:den>
                        <m:r>
                          <a:rPr lang="en-US" altLang="zh-CN" i="1">
                            <a:latin typeface="Cambria Math" panose="02040503050406030204" pitchFamily="18" charset="0"/>
                          </a:rPr>
                          <m:t>𝒑</m:t>
                        </m:r>
                      </m:den>
                    </m:f>
                    <m:r>
                      <a:rPr lang="en-US" altLang="zh-CN" i="1">
                        <a:latin typeface="Cambria Math" panose="02040503050406030204" pitchFamily="18" charset="0"/>
                      </a:rPr>
                      <m:t> </m:t>
                    </m:r>
                  </m:oMath>
                </a14:m>
                <a:r>
                  <a:rPr lang="zh-CN" altLang="en-US" dirty="0"/>
                  <a:t>。也就是说，根据总人数 </a:t>
                </a:r>
                <a:r>
                  <a:rPr lang="en-US" altLang="zh-CN" dirty="0"/>
                  <a:t>N</a:t>
                </a:r>
                <a:r>
                  <a:rPr lang="zh-CN" altLang="en-US" dirty="0"/>
                  <a:t>，回复“是”的人数 </a:t>
                </a:r>
                <a14:m>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𝑛</m:t>
                        </m:r>
                      </m:e>
                      <m:sub>
                        <m:r>
                          <a:rPr lang="en-US" altLang="zh-CN" b="0" i="1" dirty="0" smtClean="0">
                            <a:latin typeface="Cambria Math" panose="02040503050406030204" pitchFamily="18" charset="0"/>
                          </a:rPr>
                          <m:t>1</m:t>
                        </m:r>
                      </m:sub>
                    </m:sSub>
                  </m:oMath>
                </a14:m>
                <a:r>
                  <a:rPr lang="zh-CN" altLang="en-US" dirty="0"/>
                  <a:t>，以及硬币正面朝上概率</a:t>
                </a:r>
                <a14:m>
                  <m:oMath xmlns:m="http://schemas.openxmlformats.org/officeDocument/2006/math">
                    <m:r>
                      <a:rPr lang="en-US" altLang="zh-CN" i="1" dirty="0" smtClean="0">
                        <a:latin typeface="Cambria Math" panose="02040503050406030204" pitchFamily="18" charset="0"/>
                      </a:rPr>
                      <m:t>𝑝</m:t>
                    </m:r>
                  </m:oMath>
                </a14:m>
                <a:r>
                  <a:rPr lang="zh-CN" altLang="en-US" dirty="0"/>
                  <a:t>，即可得到真实回复“是”的统计数据。</a:t>
                </a:r>
                <a:endParaRPr lang="en-US" altLang="zh-CN" dirty="0"/>
              </a:p>
              <a:p>
                <a:pPr lvl="1"/>
                <a:r>
                  <a:rPr lang="zh-CN" altLang="en-US" dirty="0"/>
                  <a:t>我们可以看到，在本地化差分隐私的随机响应机制中，应答者是在提交数据前就对数据进行随机响应机制的处理来添加噪声</a:t>
                </a:r>
                <a:endParaRPr lang="en-US" altLang="zh-CN" dirty="0"/>
              </a:p>
              <a:p>
                <a:pPr lvl="1"/>
                <a:r>
                  <a:rPr lang="zh-CN" altLang="en-US" dirty="0"/>
                  <a:t>噪声引入的随机性使得攻击者无法判断出应答者的真实回复。</a:t>
                </a:r>
                <a:endParaRPr lang="en-US" altLang="zh-CN" dirty="0"/>
              </a:p>
              <a:p>
                <a:pPr lvl="1"/>
                <a:r>
                  <a:rPr lang="zh-CN" altLang="en-US" dirty="0"/>
                  <a:t>数据中心可以根据引入的噪声分布来反推出数据的大致分布，这实现了在隐私保护的同时又得到了数据的近似真实结果。</a:t>
                </a:r>
              </a:p>
            </p:txBody>
          </p:sp>
        </mc:Choice>
        <mc:Fallback xmlns="">
          <p:sp>
            <p:nvSpPr>
              <p:cNvPr id="2" name="内容占位符 1">
                <a:extLst>
                  <a:ext uri="{FF2B5EF4-FFF2-40B4-BE49-F238E27FC236}">
                    <a16:creationId xmlns:a16="http://schemas.microsoft.com/office/drawing/2014/main" id="{0989A4D2-4A81-478E-5580-894092FB91B8}"/>
                  </a:ext>
                </a:extLst>
              </p:cNvPr>
              <p:cNvSpPr>
                <a:spLocks noGrp="1" noRot="1" noChangeAspect="1" noMove="1" noResize="1" noEditPoints="1" noAdjustHandles="1" noChangeArrowheads="1" noChangeShapeType="1" noTextEdit="1"/>
              </p:cNvSpPr>
              <p:nvPr>
                <p:ph idx="1"/>
              </p:nvPr>
            </p:nvSpPr>
            <p:spPr>
              <a:blipFill>
                <a:blip r:embed="rId2"/>
                <a:stretch>
                  <a:fillRect l="-957" t="-725" r="-797"/>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58B702F5-DF3A-590C-09DC-B8B8ED802BB7}"/>
              </a:ext>
            </a:extLst>
          </p:cNvPr>
          <p:cNvSpPr>
            <a:spLocks noGrp="1"/>
          </p:cNvSpPr>
          <p:nvPr>
            <p:ph type="sldNum" sz="quarter" idx="4"/>
          </p:nvPr>
        </p:nvSpPr>
        <p:spPr/>
        <p:txBody>
          <a:bodyPr/>
          <a:lstStyle/>
          <a:p>
            <a:fld id="{4124EDF5-87F7-4AC5-8292-B04417157FC2}" type="slidenum">
              <a:rPr lang="zh-CN" altLang="en-US" smtClean="0"/>
              <a:t>42</a:t>
            </a:fld>
            <a:endParaRPr lang="zh-CN" altLang="en-US"/>
          </a:p>
        </p:txBody>
      </p:sp>
      <p:sp>
        <p:nvSpPr>
          <p:cNvPr id="4" name="标题 3">
            <a:extLst>
              <a:ext uri="{FF2B5EF4-FFF2-40B4-BE49-F238E27FC236}">
                <a16:creationId xmlns:a16="http://schemas.microsoft.com/office/drawing/2014/main" id="{5AECDE3F-B1B4-A7E1-84F9-51873760E07B}"/>
              </a:ext>
            </a:extLst>
          </p:cNvPr>
          <p:cNvSpPr>
            <a:spLocks noGrp="1"/>
          </p:cNvSpPr>
          <p:nvPr>
            <p:ph type="title"/>
          </p:nvPr>
        </p:nvSpPr>
        <p:spPr/>
        <p:txBody>
          <a:bodyPr/>
          <a:lstStyle/>
          <a:p>
            <a:r>
              <a:rPr lang="zh-CN" altLang="en-US" dirty="0"/>
              <a:t>通过随机响应估计真实回复</a:t>
            </a:r>
          </a:p>
        </p:txBody>
      </p:sp>
    </p:spTree>
    <p:extLst>
      <p:ext uri="{BB962C8B-B14F-4D97-AF65-F5344CB8AC3E}">
        <p14:creationId xmlns:p14="http://schemas.microsoft.com/office/powerpoint/2010/main" val="34898491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58D2B71-BD42-8E36-42B8-5A11FD5D7E4E}"/>
              </a:ext>
            </a:extLst>
          </p:cNvPr>
          <p:cNvSpPr>
            <a:spLocks noGrp="1"/>
          </p:cNvSpPr>
          <p:nvPr>
            <p:ph idx="1"/>
          </p:nvPr>
        </p:nvSpPr>
        <p:spPr/>
        <p:txBody>
          <a:bodyPr/>
          <a:lstStyle/>
          <a:p>
            <a:pPr>
              <a:spcBef>
                <a:spcPts val="200"/>
              </a:spcBef>
              <a:spcAft>
                <a:spcPts val="200"/>
              </a:spcAft>
              <a:buFont typeface="Arial" panose="020B0604020202020204" pitchFamily="34" charset="0"/>
              <a:buChar char="•"/>
            </a:pPr>
            <a:r>
              <a:rPr lang="zh-CN" altLang="en-US" b="1" dirty="0"/>
              <a:t>实验设置</a:t>
            </a:r>
            <a:endParaRPr lang="zh-CN" altLang="en-US" dirty="0"/>
          </a:p>
          <a:p>
            <a:pPr lvl="1">
              <a:spcBef>
                <a:spcPts val="200"/>
              </a:spcBef>
              <a:spcAft>
                <a:spcPts val="200"/>
              </a:spcAft>
              <a:buFont typeface="Arial" panose="020B0604020202020204" pitchFamily="34" charset="0"/>
              <a:buChar char="–"/>
            </a:pPr>
            <a:r>
              <a:rPr lang="zh-CN" altLang="en-US" dirty="0"/>
              <a:t>数据集：</a:t>
            </a:r>
            <a:r>
              <a:rPr lang="en-US" altLang="zh-CN" dirty="0"/>
              <a:t>32561 </a:t>
            </a:r>
            <a:r>
              <a:rPr lang="zh-CN" altLang="en-US" dirty="0"/>
              <a:t>条美国人口普查数据</a:t>
            </a:r>
          </a:p>
          <a:p>
            <a:pPr lvl="1">
              <a:spcBef>
                <a:spcPts val="200"/>
              </a:spcBef>
              <a:spcAft>
                <a:spcPts val="200"/>
              </a:spcAft>
              <a:buFont typeface="Arial" panose="020B0604020202020204" pitchFamily="34" charset="0"/>
              <a:buChar char="–"/>
            </a:pPr>
            <a:r>
              <a:rPr lang="zh-CN" altLang="en-US" dirty="0"/>
              <a:t>查询：职业为销售员的人数</a:t>
            </a:r>
          </a:p>
          <a:p>
            <a:pPr lvl="1">
              <a:spcBef>
                <a:spcPts val="200"/>
              </a:spcBef>
              <a:spcAft>
                <a:spcPts val="200"/>
              </a:spcAft>
              <a:buFont typeface="Arial" panose="020B0604020202020204" pitchFamily="34" charset="0"/>
              <a:buChar char="–"/>
            </a:pPr>
            <a:r>
              <a:rPr lang="zh-CN" altLang="en-US" dirty="0"/>
              <a:t>方法：随机响应机制（</a:t>
            </a:r>
            <a:r>
              <a:rPr lang="en-US" altLang="zh-CN" dirty="0"/>
              <a:t>p=0.5</a:t>
            </a:r>
            <a:r>
              <a:rPr lang="zh-CN" altLang="en-US" dirty="0"/>
              <a:t>）、拉普拉斯机制</a:t>
            </a:r>
          </a:p>
          <a:p>
            <a:pPr marL="257175" lvl="1" indent="-257175">
              <a:spcBef>
                <a:spcPts val="200"/>
              </a:spcBef>
              <a:spcAft>
                <a:spcPts val="200"/>
              </a:spcAft>
              <a:buFont typeface="Arial" panose="020B0604020202020204" pitchFamily="34" charset="0"/>
              <a:buChar char="•"/>
            </a:pPr>
            <a:r>
              <a:rPr lang="zh-CN" altLang="en-US" sz="2400" dirty="0"/>
              <a:t>实验结果</a:t>
            </a:r>
          </a:p>
          <a:p>
            <a:pPr lvl="1">
              <a:spcBef>
                <a:spcPts val="200"/>
              </a:spcBef>
              <a:spcAft>
                <a:spcPts val="200"/>
              </a:spcAft>
              <a:buFont typeface="Arial" panose="020B0604020202020204" pitchFamily="34" charset="0"/>
              <a:buChar char="–"/>
            </a:pPr>
            <a:r>
              <a:rPr lang="zh-CN" altLang="en-US" dirty="0"/>
              <a:t>真实人数：</a:t>
            </a:r>
            <a:r>
              <a:rPr lang="en-US" altLang="zh-CN" dirty="0"/>
              <a:t>3650</a:t>
            </a:r>
          </a:p>
          <a:p>
            <a:pPr lvl="1">
              <a:spcBef>
                <a:spcPts val="200"/>
              </a:spcBef>
              <a:spcAft>
                <a:spcPts val="200"/>
              </a:spcAft>
              <a:buFont typeface="Arial" panose="020B0604020202020204" pitchFamily="34" charset="0"/>
              <a:buChar char="–"/>
            </a:pPr>
            <a:r>
              <a:rPr lang="zh-CN" altLang="en-US" dirty="0"/>
              <a:t>随机响应：</a:t>
            </a:r>
            <a:r>
              <a:rPr lang="en-US" altLang="zh-CN" dirty="0"/>
              <a:t>3716 → </a:t>
            </a:r>
            <a:r>
              <a:rPr lang="zh-CN" altLang="en-US" dirty="0"/>
              <a:t>错误率 </a:t>
            </a:r>
            <a:r>
              <a:rPr lang="en-US" altLang="zh-CN" dirty="0"/>
              <a:t>1.808%</a:t>
            </a:r>
            <a:endParaRPr lang="zh-CN" altLang="en-US" dirty="0"/>
          </a:p>
          <a:p>
            <a:pPr lvl="1">
              <a:spcBef>
                <a:spcPts val="200"/>
              </a:spcBef>
              <a:spcAft>
                <a:spcPts val="200"/>
              </a:spcAft>
              <a:buFont typeface="Arial" panose="020B0604020202020204" pitchFamily="34" charset="0"/>
              <a:buChar char="–"/>
            </a:pPr>
            <a:r>
              <a:rPr lang="zh-CN" altLang="en-US" dirty="0"/>
              <a:t>拉普拉斯机制：</a:t>
            </a:r>
            <a:r>
              <a:rPr lang="en-US" altLang="zh-CN" dirty="0"/>
              <a:t>3655 → </a:t>
            </a:r>
            <a:r>
              <a:rPr lang="zh-CN" altLang="en-US" dirty="0"/>
              <a:t>错误率 </a:t>
            </a:r>
            <a:r>
              <a:rPr lang="en-US" altLang="zh-CN" dirty="0"/>
              <a:t>0.137%</a:t>
            </a:r>
            <a:endParaRPr lang="zh-CN" altLang="en-US" dirty="0"/>
          </a:p>
          <a:p>
            <a:pPr>
              <a:spcBef>
                <a:spcPts val="200"/>
              </a:spcBef>
              <a:spcAft>
                <a:spcPts val="200"/>
              </a:spcAft>
              <a:buFont typeface="Arial" panose="020B0604020202020204" pitchFamily="34" charset="0"/>
              <a:buChar char="•"/>
            </a:pPr>
            <a:r>
              <a:rPr lang="zh-CN" altLang="en-US" b="1" dirty="0"/>
              <a:t>结论</a:t>
            </a:r>
            <a:endParaRPr lang="zh-CN" altLang="en-US" dirty="0"/>
          </a:p>
          <a:p>
            <a:pPr lvl="1">
              <a:spcBef>
                <a:spcPts val="200"/>
              </a:spcBef>
              <a:spcAft>
                <a:spcPts val="200"/>
              </a:spcAft>
              <a:buFont typeface="Arial" panose="020B0604020202020204" pitchFamily="34" charset="0"/>
              <a:buChar char="–"/>
            </a:pPr>
            <a:r>
              <a:rPr lang="zh-CN" altLang="en-US" dirty="0"/>
              <a:t>总人数较大时，随机响应机制能得到“可接受”的结果</a:t>
            </a:r>
          </a:p>
          <a:p>
            <a:pPr lvl="1">
              <a:spcBef>
                <a:spcPts val="200"/>
              </a:spcBef>
              <a:spcAft>
                <a:spcPts val="200"/>
              </a:spcAft>
              <a:buFont typeface="Arial" panose="020B0604020202020204" pitchFamily="34" charset="0"/>
              <a:buChar char="–"/>
            </a:pPr>
            <a:r>
              <a:rPr lang="zh-CN" altLang="en-US" dirty="0"/>
              <a:t>但其错误率比拉普拉斯机制高 一个数量级</a:t>
            </a:r>
          </a:p>
          <a:p>
            <a:pPr lvl="1">
              <a:spcBef>
                <a:spcPts val="200"/>
              </a:spcBef>
              <a:spcAft>
                <a:spcPts val="200"/>
              </a:spcAft>
              <a:buFont typeface="Arial" panose="020B0604020202020204" pitchFamily="34" charset="0"/>
              <a:buChar char="–"/>
            </a:pPr>
            <a:r>
              <a:rPr lang="zh-CN" altLang="en-US" dirty="0"/>
              <a:t>原因：本地化差分隐私需在提交前加噪 → 准确率天然低于中心化差分隐私</a:t>
            </a:r>
          </a:p>
          <a:p>
            <a:pPr marL="0" indent="0">
              <a:spcBef>
                <a:spcPts val="200"/>
              </a:spcBef>
              <a:spcAft>
                <a:spcPts val="200"/>
              </a:spcAft>
              <a:buNone/>
            </a:pPr>
            <a:endParaRPr lang="zh-CN" altLang="en-US" dirty="0"/>
          </a:p>
        </p:txBody>
      </p:sp>
      <p:sp>
        <p:nvSpPr>
          <p:cNvPr id="3" name="灯片编号占位符 2">
            <a:extLst>
              <a:ext uri="{FF2B5EF4-FFF2-40B4-BE49-F238E27FC236}">
                <a16:creationId xmlns:a16="http://schemas.microsoft.com/office/drawing/2014/main" id="{26753CEF-4FEF-1B08-2A4F-402362849B59}"/>
              </a:ext>
            </a:extLst>
          </p:cNvPr>
          <p:cNvSpPr>
            <a:spLocks noGrp="1"/>
          </p:cNvSpPr>
          <p:nvPr>
            <p:ph type="sldNum" sz="quarter" idx="4"/>
          </p:nvPr>
        </p:nvSpPr>
        <p:spPr/>
        <p:txBody>
          <a:bodyPr/>
          <a:lstStyle/>
          <a:p>
            <a:fld id="{4124EDF5-87F7-4AC5-8292-B04417157FC2}" type="slidenum">
              <a:rPr lang="zh-CN" altLang="en-US" smtClean="0"/>
              <a:t>43</a:t>
            </a:fld>
            <a:endParaRPr lang="zh-CN" altLang="en-US"/>
          </a:p>
        </p:txBody>
      </p:sp>
      <p:sp>
        <p:nvSpPr>
          <p:cNvPr id="4" name="标题 3">
            <a:extLst>
              <a:ext uri="{FF2B5EF4-FFF2-40B4-BE49-F238E27FC236}">
                <a16:creationId xmlns:a16="http://schemas.microsoft.com/office/drawing/2014/main" id="{2B68C46A-8912-CED5-57A2-C742920F20A5}"/>
              </a:ext>
            </a:extLst>
          </p:cNvPr>
          <p:cNvSpPr>
            <a:spLocks noGrp="1"/>
          </p:cNvSpPr>
          <p:nvPr>
            <p:ph type="title"/>
          </p:nvPr>
        </p:nvSpPr>
        <p:spPr/>
        <p:txBody>
          <a:bodyPr/>
          <a:lstStyle/>
          <a:p>
            <a:r>
              <a:rPr lang="zh-CN" altLang="en-US" dirty="0"/>
              <a:t>随机响应机制</a:t>
            </a:r>
            <a:r>
              <a:rPr lang="en-US" altLang="zh-CN" dirty="0"/>
              <a:t>vs</a:t>
            </a:r>
            <a:r>
              <a:rPr lang="zh-CN" altLang="en-US" dirty="0"/>
              <a:t>拉普拉斯机制</a:t>
            </a:r>
          </a:p>
        </p:txBody>
      </p:sp>
      <p:pic>
        <p:nvPicPr>
          <p:cNvPr id="5" name="图片 4">
            <a:extLst>
              <a:ext uri="{FF2B5EF4-FFF2-40B4-BE49-F238E27FC236}">
                <a16:creationId xmlns:a16="http://schemas.microsoft.com/office/drawing/2014/main" id="{9EBF29AF-9494-AC28-713E-67A7AE42AA7A}"/>
              </a:ext>
            </a:extLst>
          </p:cNvPr>
          <p:cNvPicPr>
            <a:picLocks noChangeAspect="1"/>
          </p:cNvPicPr>
          <p:nvPr/>
        </p:nvPicPr>
        <p:blipFill>
          <a:blip r:embed="rId2"/>
          <a:stretch>
            <a:fillRect/>
          </a:stretch>
        </p:blipFill>
        <p:spPr>
          <a:xfrm>
            <a:off x="6103565" y="3650520"/>
            <a:ext cx="5560572" cy="8071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78019420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A7F19897-4AAC-B613-F2FF-8DC92D3E9F60}"/>
              </a:ext>
            </a:extLst>
          </p:cNvPr>
          <p:cNvSpPr>
            <a:spLocks noGrp="1"/>
          </p:cNvSpPr>
          <p:nvPr>
            <p:ph idx="1"/>
          </p:nvPr>
        </p:nvSpPr>
        <p:spPr/>
        <p:txBody>
          <a:bodyPr/>
          <a:lstStyle/>
          <a:p>
            <a:r>
              <a:rPr lang="zh-CN" altLang="en-US" dirty="0"/>
              <a:t>主要思想：对于一个大小为 </a:t>
            </a:r>
            <a:r>
              <a:rPr lang="en-US" altLang="zh-CN" dirty="0"/>
              <a:t>k </a:t>
            </a:r>
            <a:r>
              <a:rPr lang="zh-CN" altLang="en-US" dirty="0"/>
              <a:t>的域，每个响应都被编码为</a:t>
            </a:r>
            <a:r>
              <a:rPr lang="en-US" altLang="zh-CN" dirty="0"/>
              <a:t>k</a:t>
            </a:r>
            <a:r>
              <a:rPr lang="zh-CN" altLang="en-US" dirty="0"/>
              <a:t>位的长度向量，除了对应于响应方所查询元素的位置外，所有位置都为</a:t>
            </a:r>
            <a:r>
              <a:rPr lang="en-US" altLang="zh-CN" dirty="0"/>
              <a:t>0</a:t>
            </a:r>
            <a:r>
              <a:rPr lang="zh-CN" altLang="en-US" dirty="0"/>
              <a:t>，之后对编码进行扰动，即以一定的概率反转响应向量中的位以确保差分隐私，最后再从扰动响应中重建最终结果。</a:t>
            </a:r>
            <a:endParaRPr lang="en-US" altLang="zh-CN" dirty="0"/>
          </a:p>
          <a:p>
            <a:r>
              <a:rPr lang="zh-CN" altLang="en-US" dirty="0"/>
              <a:t>一元编码机制介绍：</a:t>
            </a:r>
            <a:endParaRPr lang="en-US" altLang="zh-CN" dirty="0"/>
          </a:p>
          <a:p>
            <a:pPr lvl="1"/>
            <a:r>
              <a:rPr lang="zh-CN" altLang="en-US" dirty="0"/>
              <a:t>一元编码机制首先需要定义应答域，即直方图包含的标签。</a:t>
            </a:r>
            <a:r>
              <a:rPr lang="en-US" altLang="zh-CN" dirty="0"/>
              <a:t>5000</a:t>
            </a:r>
            <a:r>
              <a:rPr lang="zh-CN" altLang="en-US" dirty="0"/>
              <a:t>位居民的各运动喜爱人数统计结果如图</a:t>
            </a:r>
            <a:r>
              <a:rPr lang="en-US" altLang="zh-CN" dirty="0"/>
              <a:t>7.10</a:t>
            </a:r>
            <a:r>
              <a:rPr lang="zh-CN" altLang="en-US" dirty="0"/>
              <a:t>所示。假如我们想要查询各项运动的喜爱者人数，那么应答域就是所有运动所构成的集合。</a:t>
            </a:r>
          </a:p>
        </p:txBody>
      </p:sp>
      <p:sp>
        <p:nvSpPr>
          <p:cNvPr id="3" name="灯片编号占位符 2">
            <a:extLst>
              <a:ext uri="{FF2B5EF4-FFF2-40B4-BE49-F238E27FC236}">
                <a16:creationId xmlns:a16="http://schemas.microsoft.com/office/drawing/2014/main" id="{3CE56A9C-5A9B-F0E3-16F2-1D6D4D9D61B8}"/>
              </a:ext>
            </a:extLst>
          </p:cNvPr>
          <p:cNvSpPr>
            <a:spLocks noGrp="1"/>
          </p:cNvSpPr>
          <p:nvPr>
            <p:ph type="sldNum" sz="quarter" idx="4"/>
          </p:nvPr>
        </p:nvSpPr>
        <p:spPr/>
        <p:txBody>
          <a:bodyPr/>
          <a:lstStyle/>
          <a:p>
            <a:fld id="{4124EDF5-87F7-4AC5-8292-B04417157FC2}" type="slidenum">
              <a:rPr lang="zh-CN" altLang="en-US" smtClean="0"/>
              <a:t>44</a:t>
            </a:fld>
            <a:endParaRPr lang="zh-CN" altLang="en-US"/>
          </a:p>
        </p:txBody>
      </p:sp>
      <p:sp>
        <p:nvSpPr>
          <p:cNvPr id="4" name="标题 3">
            <a:extLst>
              <a:ext uri="{FF2B5EF4-FFF2-40B4-BE49-F238E27FC236}">
                <a16:creationId xmlns:a16="http://schemas.microsoft.com/office/drawing/2014/main" id="{B5DA065D-3F4F-0B50-C168-C9CA867087C2}"/>
              </a:ext>
            </a:extLst>
          </p:cNvPr>
          <p:cNvSpPr>
            <a:spLocks noGrp="1"/>
          </p:cNvSpPr>
          <p:nvPr>
            <p:ph type="title"/>
          </p:nvPr>
        </p:nvSpPr>
        <p:spPr/>
        <p:txBody>
          <a:bodyPr/>
          <a:lstStyle/>
          <a:p>
            <a:r>
              <a:rPr lang="zh-CN" altLang="en-US" dirty="0"/>
              <a:t>一元编码机制</a:t>
            </a:r>
          </a:p>
        </p:txBody>
      </p:sp>
      <p:pic>
        <p:nvPicPr>
          <p:cNvPr id="5" name="图片 4">
            <a:extLst>
              <a:ext uri="{FF2B5EF4-FFF2-40B4-BE49-F238E27FC236}">
                <a16:creationId xmlns:a16="http://schemas.microsoft.com/office/drawing/2014/main" id="{C7DFAA29-D424-C484-9C03-2C9BC8EC361B}"/>
              </a:ext>
            </a:extLst>
          </p:cNvPr>
          <p:cNvPicPr>
            <a:picLocks noChangeAspect="1"/>
          </p:cNvPicPr>
          <p:nvPr/>
        </p:nvPicPr>
        <p:blipFill>
          <a:blip r:embed="rId2"/>
          <a:stretch>
            <a:fillRect/>
          </a:stretch>
        </p:blipFill>
        <p:spPr>
          <a:xfrm>
            <a:off x="4081849" y="4174722"/>
            <a:ext cx="3311932" cy="2683278"/>
          </a:xfrm>
          <a:prstGeom prst="rect">
            <a:avLst/>
          </a:prstGeom>
        </p:spPr>
      </p:pic>
    </p:spTree>
    <p:extLst>
      <p:ext uri="{BB962C8B-B14F-4D97-AF65-F5344CB8AC3E}">
        <p14:creationId xmlns:p14="http://schemas.microsoft.com/office/powerpoint/2010/main" val="32595324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CD267CE5-692A-3493-31FA-B95CDE233545}"/>
                  </a:ext>
                </a:extLst>
              </p:cNvPr>
              <p:cNvSpPr>
                <a:spLocks noGrp="1"/>
              </p:cNvSpPr>
              <p:nvPr>
                <p:ph idx="1"/>
              </p:nvPr>
            </p:nvSpPr>
            <p:spPr>
              <a:xfrm>
                <a:off x="371301" y="1232705"/>
                <a:ext cx="11464528" cy="5425270"/>
              </a:xfrm>
            </p:spPr>
            <p:txBody>
              <a:bodyPr/>
              <a:lstStyle/>
              <a:p>
                <a:r>
                  <a:rPr lang="zh-CN" altLang="en-US" dirty="0"/>
                  <a:t>一元编码将定义三个函数，这三个函数共同实现了一元编码机制。</a:t>
                </a:r>
                <a:endParaRPr lang="en-US" altLang="zh-CN" dirty="0"/>
              </a:p>
              <a:p>
                <a:pPr lvl="1"/>
                <a:r>
                  <a:rPr lang="zh-CN" altLang="en-US" dirty="0"/>
                  <a:t>（</a:t>
                </a:r>
                <a:r>
                  <a:rPr lang="en-US" altLang="zh-CN" dirty="0"/>
                  <a:t>1</a:t>
                </a:r>
                <a:r>
                  <a:rPr lang="zh-CN" altLang="en-US" dirty="0"/>
                  <a:t>）编码，编码应答值  定义应答域为直方图的标签，如果应答域大小为 </a:t>
                </a:r>
                <a:r>
                  <a:rPr lang="en-US" altLang="zh-CN" dirty="0"/>
                  <a:t>k</a:t>
                </a:r>
                <a:r>
                  <a:rPr lang="zh-CN" altLang="en-US" dirty="0"/>
                  <a:t>，我们将每个应答值编码为长度为</a:t>
                </a:r>
                <a:r>
                  <a:rPr lang="en-US" altLang="zh-CN" dirty="0"/>
                  <a:t>k</a:t>
                </a:r>
                <a:r>
                  <a:rPr lang="zh-CN" altLang="en-US" dirty="0"/>
                  <a:t>的位向量</a:t>
                </a:r>
                <a:r>
                  <a:rPr lang="en-US" altLang="zh-CN" dirty="0"/>
                  <a:t>B</a:t>
                </a:r>
                <a:r>
                  <a:rPr lang="zh-CN" altLang="en-US" dirty="0"/>
                  <a:t>。除了相应标签所对应的位值为</a:t>
                </a:r>
                <a:r>
                  <a:rPr lang="en-US" altLang="zh-CN" dirty="0"/>
                  <a:t>1</a:t>
                </a:r>
                <a:r>
                  <a:rPr lang="zh-CN" altLang="en-US" dirty="0"/>
                  <a:t>以外，所有其他位置的编码均为 </a:t>
                </a:r>
                <a:r>
                  <a:rPr lang="en-US" altLang="zh-CN" dirty="0"/>
                  <a:t>0</a:t>
                </a:r>
                <a:r>
                  <a:rPr lang="zh-CN" altLang="en-US" dirty="0"/>
                  <a:t>（这种编码方式在机器学习领域被称为独热编码）。</a:t>
                </a:r>
                <a:endParaRPr lang="en-US" altLang="zh-CN" dirty="0"/>
              </a:p>
              <a:p>
                <a:pPr lvl="1"/>
                <a:r>
                  <a:rPr lang="zh-CN" altLang="en-US" dirty="0"/>
                  <a:t>（</a:t>
                </a:r>
                <a:r>
                  <a:rPr lang="en-US" altLang="zh-CN" dirty="0"/>
                  <a:t>2</a:t>
                </a:r>
                <a:r>
                  <a:rPr lang="zh-CN" altLang="en-US" dirty="0"/>
                  <a:t>）扰动，扰动编码后的应答值  用扰动函数翻转应答向量中的各个位值，从而满足差分隐私。翻转一个位值的概率由</a:t>
                </a:r>
                <a:r>
                  <a:rPr lang="en-US" altLang="zh-CN" dirty="0"/>
                  <a:t>p</a:t>
                </a:r>
                <a:r>
                  <a:rPr lang="zh-CN" altLang="en-US" dirty="0"/>
                  <a:t>和</a:t>
                </a:r>
                <a:r>
                  <a:rPr lang="en-US" altLang="zh-CN" dirty="0"/>
                  <a:t>q</a:t>
                </a:r>
                <a:r>
                  <a:rPr lang="zh-CN" altLang="en-US" dirty="0"/>
                  <a:t>这两个参数共同决定，而且概率值</a:t>
                </a:r>
                <a:r>
                  <a:rPr lang="en-US" altLang="zh-CN" dirty="0"/>
                  <a:t>p</a:t>
                </a:r>
                <a:r>
                  <a:rPr lang="zh-CN" altLang="en-US" dirty="0"/>
                  <a:t>，</a:t>
                </a:r>
                <a:r>
                  <a:rPr lang="en-US" altLang="zh-CN" dirty="0"/>
                  <a:t>q</a:t>
                </a:r>
                <a:r>
                  <a:rPr lang="zh-CN" altLang="en-US" dirty="0"/>
                  <a:t>参数也决定了隐私参数</a:t>
                </a:r>
                <a:r>
                  <a:rPr lang="en-US" altLang="zh-CN" dirty="0"/>
                  <a:t>ε</a:t>
                </a:r>
                <a:r>
                  <a:rPr lang="zh-CN" altLang="en-US" dirty="0"/>
                  <a:t>的值。</a:t>
                </a:r>
                <a14:m>
                  <m:oMath xmlns:m="http://schemas.openxmlformats.org/officeDocument/2006/math">
                    <m:r>
                      <a:rPr lang="en-US" altLang="zh-CN" b="1" i="0" smtClean="0">
                        <a:latin typeface="Cambria Math" panose="02040503050406030204" pitchFamily="18" charset="0"/>
                      </a:rPr>
                      <m:t>𝐏𝐫</m:t>
                    </m:r>
                    <m:r>
                      <a:rPr lang="en-US" altLang="zh-CN" b="1" i="0" smtClean="0">
                        <a:latin typeface="Cambria Math" panose="02040503050406030204" pitchFamily="18" charset="0"/>
                      </a:rPr>
                      <m:t>(</m:t>
                    </m:r>
                    <m:sSup>
                      <m:sSupPr>
                        <m:ctrlPr>
                          <a:rPr lang="en-US" altLang="zh-CN" b="1" i="1" smtClean="0">
                            <a:latin typeface="Cambria Math" panose="02040503050406030204" pitchFamily="18" charset="0"/>
                          </a:rPr>
                        </m:ctrlPr>
                      </m:sSupPr>
                      <m:e>
                        <m:r>
                          <a:rPr lang="en-US" altLang="zh-CN" b="1" i="0" smtClean="0">
                            <a:latin typeface="Cambria Math" panose="02040503050406030204" pitchFamily="18" charset="0"/>
                          </a:rPr>
                          <m:t>𝐁</m:t>
                        </m:r>
                      </m:e>
                      <m:sup>
                        <m:r>
                          <a:rPr lang="en-US" altLang="zh-CN" b="1" i="0" smtClean="0">
                            <a:latin typeface="Cambria Math" panose="02040503050406030204" pitchFamily="18" charset="0"/>
                          </a:rPr>
                          <m:t>′</m:t>
                        </m:r>
                      </m:sup>
                    </m:sSup>
                    <m:d>
                      <m:dPr>
                        <m:begChr m:val="["/>
                        <m:endChr m:val="]"/>
                        <m:ctrlPr>
                          <a:rPr lang="en-US" altLang="zh-CN" b="1" i="1" smtClean="0">
                            <a:latin typeface="Cambria Math" panose="02040503050406030204" pitchFamily="18" charset="0"/>
                          </a:rPr>
                        </m:ctrlPr>
                      </m:dPr>
                      <m:e>
                        <m:r>
                          <a:rPr lang="en-US" altLang="zh-CN" b="1" i="0" smtClean="0">
                            <a:latin typeface="Cambria Math" panose="02040503050406030204" pitchFamily="18" charset="0"/>
                          </a:rPr>
                          <m:t>𝐢</m:t>
                        </m:r>
                      </m:e>
                    </m:d>
                    <m:r>
                      <a:rPr lang="en-US" altLang="zh-CN" b="1" i="0" smtClean="0">
                        <a:latin typeface="Cambria Math" panose="02040503050406030204" pitchFamily="18" charset="0"/>
                      </a:rPr>
                      <m:t>=</m:t>
                    </m:r>
                    <m:r>
                      <a:rPr lang="en-US" altLang="zh-CN" b="1" i="0" smtClean="0">
                        <a:latin typeface="Cambria Math" panose="02040503050406030204" pitchFamily="18" charset="0"/>
                      </a:rPr>
                      <m:t>𝟏</m:t>
                    </m:r>
                    <m:r>
                      <a:rPr lang="en-US" altLang="zh-CN" b="1" i="0"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1" i="1" smtClean="0">
                                <a:latin typeface="Cambria Math" panose="02040503050406030204" pitchFamily="18" charset="0"/>
                              </a:rPr>
                              <m:t>𝒑</m:t>
                            </m:r>
                            <m:r>
                              <a:rPr lang="en-US" altLang="zh-CN" b="1" i="1" smtClean="0">
                                <a:latin typeface="Cambria Math" panose="02040503050406030204" pitchFamily="18" charset="0"/>
                              </a:rPr>
                              <m:t>,</m:t>
                            </m:r>
                            <m:r>
                              <a:rPr lang="en-US" altLang="zh-CN" b="1" i="1" smtClean="0">
                                <a:latin typeface="Cambria Math" panose="02040503050406030204" pitchFamily="18" charset="0"/>
                              </a:rPr>
                              <m:t>𝑩</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𝒊</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𝟏</m:t>
                            </m:r>
                          </m:e>
                          <m:e>
                            <m:r>
                              <a:rPr lang="en-US" altLang="zh-CN" b="1" i="1" smtClean="0">
                                <a:latin typeface="Cambria Math" panose="02040503050406030204" pitchFamily="18" charset="0"/>
                              </a:rPr>
                              <m:t>𝒒</m:t>
                            </m:r>
                            <m:r>
                              <a:rPr lang="en-US" altLang="zh-CN" b="1" i="1" smtClean="0">
                                <a:latin typeface="Cambria Math" panose="02040503050406030204" pitchFamily="18" charset="0"/>
                              </a:rPr>
                              <m:t>,</m:t>
                            </m:r>
                            <m:r>
                              <a:rPr lang="en-US" altLang="zh-CN" b="1" i="1" smtClean="0">
                                <a:latin typeface="Cambria Math" panose="02040503050406030204" pitchFamily="18" charset="0"/>
                              </a:rPr>
                              <m:t>𝑩</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𝒊</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𝟎</m:t>
                            </m:r>
                          </m:e>
                        </m:eqArr>
                      </m:e>
                    </m:d>
                    <m:r>
                      <a:rPr lang="zh-CN" altLang="en-US" i="1">
                        <a:latin typeface="Cambria Math" panose="02040503050406030204" pitchFamily="18" charset="0"/>
                      </a:rPr>
                      <m:t>。</m:t>
                    </m:r>
                  </m:oMath>
                </a14:m>
                <a:r>
                  <a:rPr lang="en-US" altLang="zh-CN" dirty="0"/>
                  <a:t> </a:t>
                </a:r>
                <a14:m>
                  <m:oMath xmlns:m="http://schemas.openxmlformats.org/officeDocument/2006/math">
                    <m:sSup>
                      <m:sSupPr>
                        <m:ctrlPr>
                          <a:rPr lang="en-US" altLang="zh-CN" i="1">
                            <a:latin typeface="Cambria Math" panose="02040503050406030204" pitchFamily="18" charset="0"/>
                          </a:rPr>
                        </m:ctrlPr>
                      </m:sSupPr>
                      <m:e>
                        <m:r>
                          <a:rPr lang="en-US" altLang="zh-CN">
                            <a:latin typeface="Cambria Math" panose="02040503050406030204" pitchFamily="18" charset="0"/>
                          </a:rPr>
                          <m:t>𝐁</m:t>
                        </m:r>
                      </m:e>
                      <m:sup>
                        <m:r>
                          <a:rPr lang="en-US" altLang="zh-CN">
                            <a:latin typeface="Cambria Math" panose="02040503050406030204" pitchFamily="18" charset="0"/>
                          </a:rPr>
                          <m:t>′</m:t>
                        </m:r>
                      </m:sup>
                    </m:sSup>
                  </m:oMath>
                </a14:m>
                <a:r>
                  <a:rPr lang="zh-CN" altLang="en-US" dirty="0"/>
                  <a:t>表示翻转后的向量，</a:t>
                </a:r>
                <a14:m>
                  <m:oMath xmlns:m="http://schemas.openxmlformats.org/officeDocument/2006/math">
                    <m:r>
                      <a:rPr lang="en-US" altLang="zh-CN" i="1">
                        <a:latin typeface="Cambria Math" panose="02040503050406030204" pitchFamily="18" charset="0"/>
                      </a:rPr>
                      <m:t>𝑩</m:t>
                    </m:r>
                    <m:d>
                      <m:dPr>
                        <m:begChr m:val="["/>
                        <m:endChr m:val="]"/>
                        <m:ctrlPr>
                          <a:rPr lang="en-US" altLang="zh-CN" i="1">
                            <a:latin typeface="Cambria Math" panose="02040503050406030204" pitchFamily="18" charset="0"/>
                          </a:rPr>
                        </m:ctrlPr>
                      </m:dPr>
                      <m:e>
                        <m:r>
                          <a:rPr lang="en-US" altLang="zh-CN" i="1">
                            <a:latin typeface="Cambria Math" panose="02040503050406030204" pitchFamily="18" charset="0"/>
                          </a:rPr>
                          <m:t>𝒊</m:t>
                        </m:r>
                      </m:e>
                    </m:d>
                  </m:oMath>
                </a14:m>
                <a:r>
                  <a:rPr lang="zh-CN" altLang="en-US" dirty="0"/>
                  <a:t>表示向量的第</a:t>
                </a:r>
                <a:r>
                  <a:rPr lang="en-US" altLang="zh-CN" dirty="0" err="1"/>
                  <a:t>i</a:t>
                </a:r>
                <a:r>
                  <a:rPr lang="zh-CN" altLang="en-US" dirty="0"/>
                  <a:t>位值。</a:t>
                </a:r>
                <a:endParaRPr lang="en-US" altLang="zh-CN" dirty="0"/>
              </a:p>
              <a:p>
                <a:pPr lvl="2"/>
                <a:r>
                  <a:rPr lang="zh-CN" altLang="en-US" dirty="0"/>
                  <a:t>一元编码机制是一种本地化差分隐私机制，并且隐私预算</a:t>
                </a:r>
                <a14:m>
                  <m:oMath xmlns:m="http://schemas.openxmlformats.org/officeDocument/2006/math">
                    <m:r>
                      <a:rPr lang="en-US" altLang="zh-CN" b="1" i="1" smtClean="0">
                        <a:latin typeface="Cambria Math" panose="02040503050406030204" pitchFamily="18" charset="0"/>
                      </a:rPr>
                      <m:t>𝝐</m:t>
                    </m:r>
                    <m:r>
                      <a:rPr lang="en-US" altLang="zh-CN" b="1" i="1" smtClean="0">
                        <a:latin typeface="Cambria Math" panose="02040503050406030204" pitchFamily="18" charset="0"/>
                      </a:rPr>
                      <m:t>=</m:t>
                    </m:r>
                    <m:r>
                      <a:rPr lang="en-US" altLang="zh-CN" b="1" i="1" smtClean="0">
                        <a:latin typeface="Cambria Math" panose="02040503050406030204" pitchFamily="18" charset="0"/>
                      </a:rPr>
                      <m:t>𝒍𝒏</m:t>
                    </m:r>
                    <m:f>
                      <m:fPr>
                        <m:ctrlPr>
                          <a:rPr lang="en-US" altLang="zh-CN" b="1" i="1" smtClean="0">
                            <a:latin typeface="Cambria Math" panose="02040503050406030204" pitchFamily="18" charset="0"/>
                          </a:rPr>
                        </m:ctrlPr>
                      </m:fPr>
                      <m:num>
                        <m:r>
                          <a:rPr lang="en-US" altLang="zh-CN" b="1" i="1" smtClean="0">
                            <a:latin typeface="Cambria Math" panose="02040503050406030204" pitchFamily="18" charset="0"/>
                          </a:rPr>
                          <m:t>𝒑</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𝒒</m:t>
                        </m:r>
                        <m:r>
                          <a:rPr lang="en-US" altLang="zh-CN" b="1" i="1" smtClean="0">
                            <a:latin typeface="Cambria Math" panose="02040503050406030204" pitchFamily="18" charset="0"/>
                          </a:rPr>
                          <m:t>)</m:t>
                        </m:r>
                      </m:num>
                      <m:den>
                        <m:r>
                          <a:rPr lang="en-US" altLang="zh-CN" b="1" i="1" smtClean="0">
                            <a:latin typeface="Cambria Math" panose="02040503050406030204" pitchFamily="18" charset="0"/>
                          </a:rPr>
                          <m:t>𝒒</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𝒑</m:t>
                        </m:r>
                        <m:r>
                          <a:rPr lang="en-US" altLang="zh-CN" b="1" i="1" smtClean="0">
                            <a:latin typeface="Cambria Math" panose="02040503050406030204" pitchFamily="18" charset="0"/>
                          </a:rPr>
                          <m:t>)</m:t>
                        </m:r>
                      </m:den>
                    </m:f>
                  </m:oMath>
                </a14:m>
                <a:endParaRPr lang="en-US" altLang="zh-CN" dirty="0"/>
              </a:p>
              <a:p>
                <a:pPr lvl="1"/>
                <a:r>
                  <a:rPr lang="zh-CN" altLang="en-US" dirty="0"/>
                  <a:t>（</a:t>
                </a:r>
                <a:r>
                  <a:rPr lang="en-US" altLang="zh-CN" dirty="0"/>
                  <a:t>3</a:t>
                </a:r>
                <a:r>
                  <a:rPr lang="zh-CN" altLang="en-US" dirty="0"/>
                  <a:t>）聚合，根据扰动应答值重构最终结果 聚合结果：</a:t>
                </a:r>
                <a14:m>
                  <m:oMath xmlns:m="http://schemas.openxmlformats.org/officeDocument/2006/math">
                    <m:r>
                      <a:rPr lang="en-US" altLang="zh-CN" b="1" i="1" smtClean="0">
                        <a:latin typeface="Cambria Math" panose="02040503050406030204" pitchFamily="18" charset="0"/>
                      </a:rPr>
                      <m:t>𝑨</m:t>
                    </m:r>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𝒊</m:t>
                        </m:r>
                      </m:e>
                    </m:d>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nary>
                          <m:naryPr>
                            <m:chr m:val="∑"/>
                            <m:supHide m:val="on"/>
                            <m:ctrlPr>
                              <a:rPr lang="en-US" altLang="zh-CN" b="1" i="1" smtClean="0">
                                <a:latin typeface="Cambria Math" panose="02040503050406030204" pitchFamily="18" charset="0"/>
                              </a:rPr>
                            </m:ctrlPr>
                          </m:naryPr>
                          <m:sub>
                            <m:r>
                              <a:rPr lang="en-US" altLang="zh-CN" b="1" i="1" smtClean="0">
                                <a:latin typeface="Cambria Math" panose="02040503050406030204" pitchFamily="18" charset="0"/>
                              </a:rPr>
                              <m:t>𝒋</m:t>
                            </m:r>
                          </m:sub>
                          <m:sup/>
                          <m:e>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𝑩</m:t>
                                </m:r>
                              </m:e>
                              <m:sub>
                                <m:r>
                                  <a:rPr lang="en-US" altLang="zh-CN" b="1" i="1" smtClean="0">
                                    <a:latin typeface="Cambria Math" panose="02040503050406030204" pitchFamily="18" charset="0"/>
                                  </a:rPr>
                                  <m:t>𝒋</m:t>
                                </m:r>
                              </m:sub>
                              <m:sup>
                                <m:r>
                                  <a:rPr lang="en-US" altLang="zh-CN" b="1" i="1" smtClean="0">
                                    <a:latin typeface="Cambria Math" panose="02040503050406030204" pitchFamily="18" charset="0"/>
                                  </a:rPr>
                                  <m:t>′</m:t>
                                </m:r>
                              </m:sup>
                            </m:sSubSup>
                            <m:d>
                              <m:dPr>
                                <m:begChr m:val="["/>
                                <m:endChr m:val="]"/>
                                <m:ctrlPr>
                                  <a:rPr lang="en-US" altLang="zh-CN" b="1" i="1" smtClean="0">
                                    <a:latin typeface="Cambria Math" panose="02040503050406030204" pitchFamily="18" charset="0"/>
                                  </a:rPr>
                                </m:ctrlPr>
                              </m:dPr>
                              <m:e>
                                <m:r>
                                  <a:rPr lang="en-US" altLang="zh-CN" b="1" i="1" smtClean="0">
                                    <a:latin typeface="Cambria Math" panose="02040503050406030204" pitchFamily="18" charset="0"/>
                                  </a:rPr>
                                  <m:t>𝒊</m:t>
                                </m:r>
                              </m:e>
                            </m:d>
                            <m:r>
                              <a:rPr lang="en-US" altLang="zh-CN" b="1" i="1" smtClean="0">
                                <a:latin typeface="Cambria Math" panose="02040503050406030204" pitchFamily="18" charset="0"/>
                              </a:rPr>
                              <m:t>−</m:t>
                            </m:r>
                            <m:r>
                              <a:rPr lang="en-US" altLang="zh-CN" b="1" i="1" smtClean="0">
                                <a:latin typeface="Cambria Math" panose="02040503050406030204" pitchFamily="18" charset="0"/>
                              </a:rPr>
                              <m:t>𝒏𝒒</m:t>
                            </m:r>
                          </m:e>
                        </m:nary>
                      </m:num>
                      <m:den>
                        <m:r>
                          <a:rPr lang="en-US" altLang="zh-CN" b="1" i="1" smtClean="0">
                            <a:latin typeface="Cambria Math" panose="02040503050406030204" pitchFamily="18" charset="0"/>
                          </a:rPr>
                          <m:t>𝒑</m:t>
                        </m:r>
                        <m:r>
                          <a:rPr lang="en-US" altLang="zh-CN" b="1" i="1" smtClean="0">
                            <a:latin typeface="Cambria Math" panose="02040503050406030204" pitchFamily="18" charset="0"/>
                          </a:rPr>
                          <m:t>−</m:t>
                        </m:r>
                        <m:r>
                          <a:rPr lang="en-US" altLang="zh-CN" b="1" i="1" smtClean="0">
                            <a:latin typeface="Cambria Math" panose="02040503050406030204" pitchFamily="18" charset="0"/>
                          </a:rPr>
                          <m:t>𝒒</m:t>
                        </m:r>
                      </m:den>
                    </m:f>
                  </m:oMath>
                </a14:m>
                <a:endParaRPr lang="zh-CN" altLang="en-US" dirty="0"/>
              </a:p>
            </p:txBody>
          </p:sp>
        </mc:Choice>
        <mc:Fallback xmlns="">
          <p:sp>
            <p:nvSpPr>
              <p:cNvPr id="2" name="内容占位符 1">
                <a:extLst>
                  <a:ext uri="{FF2B5EF4-FFF2-40B4-BE49-F238E27FC236}">
                    <a16:creationId xmlns:a16="http://schemas.microsoft.com/office/drawing/2014/main" id="{CD267CE5-692A-3493-31FA-B95CDE233545}"/>
                  </a:ext>
                </a:extLst>
              </p:cNvPr>
              <p:cNvSpPr>
                <a:spLocks noGrp="1" noRot="1" noChangeAspect="1" noMove="1" noResize="1" noEditPoints="1" noAdjustHandles="1" noChangeArrowheads="1" noChangeShapeType="1" noTextEdit="1"/>
              </p:cNvSpPr>
              <p:nvPr>
                <p:ph idx="1"/>
              </p:nvPr>
            </p:nvSpPr>
            <p:spPr>
              <a:xfrm>
                <a:off x="371301" y="1232705"/>
                <a:ext cx="11464528" cy="5425270"/>
              </a:xfrm>
              <a:blipFill>
                <a:blip r:embed="rId2"/>
                <a:stretch>
                  <a:fillRect l="-957" t="-674" r="-638"/>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04EE4130-A359-4A9E-39BC-163AD2E6E87B}"/>
              </a:ext>
            </a:extLst>
          </p:cNvPr>
          <p:cNvSpPr>
            <a:spLocks noGrp="1"/>
          </p:cNvSpPr>
          <p:nvPr>
            <p:ph type="sldNum" sz="quarter" idx="4"/>
          </p:nvPr>
        </p:nvSpPr>
        <p:spPr/>
        <p:txBody>
          <a:bodyPr/>
          <a:lstStyle/>
          <a:p>
            <a:fld id="{4124EDF5-87F7-4AC5-8292-B04417157FC2}" type="slidenum">
              <a:rPr lang="zh-CN" altLang="en-US" smtClean="0"/>
              <a:t>45</a:t>
            </a:fld>
            <a:endParaRPr lang="zh-CN" altLang="en-US"/>
          </a:p>
        </p:txBody>
      </p:sp>
      <p:sp>
        <p:nvSpPr>
          <p:cNvPr id="4" name="标题 3">
            <a:extLst>
              <a:ext uri="{FF2B5EF4-FFF2-40B4-BE49-F238E27FC236}">
                <a16:creationId xmlns:a16="http://schemas.microsoft.com/office/drawing/2014/main" id="{33340E01-F842-B15D-D426-F713E3DD004F}"/>
              </a:ext>
            </a:extLst>
          </p:cNvPr>
          <p:cNvSpPr>
            <a:spLocks noGrp="1"/>
          </p:cNvSpPr>
          <p:nvPr>
            <p:ph type="title"/>
          </p:nvPr>
        </p:nvSpPr>
        <p:spPr/>
        <p:txBody>
          <a:bodyPr/>
          <a:lstStyle/>
          <a:p>
            <a:r>
              <a:rPr lang="zh-CN" altLang="en-US" dirty="0"/>
              <a:t>一元编码机制</a:t>
            </a:r>
          </a:p>
        </p:txBody>
      </p:sp>
    </p:spTree>
    <p:extLst>
      <p:ext uri="{BB962C8B-B14F-4D97-AF65-F5344CB8AC3E}">
        <p14:creationId xmlns:p14="http://schemas.microsoft.com/office/powerpoint/2010/main" val="14235330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DC002D70-0ED5-982E-1661-D9473411EC37}"/>
              </a:ext>
            </a:extLst>
          </p:cNvPr>
          <p:cNvSpPr>
            <a:spLocks noGrp="1"/>
          </p:cNvSpPr>
          <p:nvPr>
            <p:ph idx="1"/>
          </p:nvPr>
        </p:nvSpPr>
        <p:spPr/>
        <p:txBody>
          <a:bodyPr/>
          <a:lstStyle/>
          <a:p>
            <a:r>
              <a:rPr lang="zh-CN" altLang="en-US" dirty="0"/>
              <a:t>使用一元编码机制实现隐私保护，查询居民中各运动的喜爱人数（真实统计数据见图</a:t>
            </a:r>
            <a:r>
              <a:rPr lang="en-US" altLang="zh-CN" dirty="0"/>
              <a:t>7.11</a:t>
            </a:r>
            <a:r>
              <a:rPr lang="zh-CN" altLang="en-US" dirty="0"/>
              <a:t>）。最后我们得到统计结果（</a:t>
            </a:r>
            <a:r>
              <a:rPr lang="en-US" altLang="zh-CN" dirty="0"/>
              <a:t>p</a:t>
            </a:r>
            <a:r>
              <a:rPr lang="zh-CN" altLang="en-US" dirty="0"/>
              <a:t>取</a:t>
            </a:r>
            <a:r>
              <a:rPr lang="en-US" altLang="zh-CN" dirty="0"/>
              <a:t>0.75</a:t>
            </a:r>
            <a:r>
              <a:rPr lang="zh-CN" altLang="en-US" dirty="0"/>
              <a:t>，</a:t>
            </a:r>
            <a:r>
              <a:rPr lang="en-US" altLang="zh-CN" dirty="0"/>
              <a:t>q</a:t>
            </a:r>
            <a:r>
              <a:rPr lang="zh-CN" altLang="en-US" dirty="0"/>
              <a:t>取</a:t>
            </a:r>
            <a:r>
              <a:rPr lang="en-US" altLang="zh-CN" dirty="0"/>
              <a:t>0.25</a:t>
            </a:r>
            <a:r>
              <a:rPr lang="zh-CN" altLang="en-US" dirty="0"/>
              <a:t>）</a:t>
            </a:r>
            <a:r>
              <a:rPr lang="en-US" altLang="zh-CN" dirty="0"/>
              <a:t>.</a:t>
            </a:r>
          </a:p>
          <a:p>
            <a:r>
              <a:rPr lang="zh-CN" altLang="en-US" dirty="0"/>
              <a:t>与随机响应机制类似，当样本数相对比较大时（本例中每个标签均不少于</a:t>
            </a:r>
            <a:r>
              <a:rPr lang="en-US" altLang="zh-CN" dirty="0"/>
              <a:t>500</a:t>
            </a:r>
            <a:r>
              <a:rPr lang="zh-CN" altLang="en-US" dirty="0"/>
              <a:t>），通常可以使用一元编码机制得到一个误差“可以接受”的统计结果。在这个过程中，噪声引入的随机性使得攻击者难以判断每个应答者的真实情况从而实现隐私保护，但同时数据中心又可以通过噪声的分布来估计数据的真实值，得到近似的查询结果。 </a:t>
            </a:r>
          </a:p>
        </p:txBody>
      </p:sp>
      <p:sp>
        <p:nvSpPr>
          <p:cNvPr id="3" name="灯片编号占位符 2">
            <a:extLst>
              <a:ext uri="{FF2B5EF4-FFF2-40B4-BE49-F238E27FC236}">
                <a16:creationId xmlns:a16="http://schemas.microsoft.com/office/drawing/2014/main" id="{8625CE79-A2E1-DC90-B223-82592E559FBD}"/>
              </a:ext>
            </a:extLst>
          </p:cNvPr>
          <p:cNvSpPr>
            <a:spLocks noGrp="1"/>
          </p:cNvSpPr>
          <p:nvPr>
            <p:ph type="sldNum" sz="quarter" idx="4"/>
          </p:nvPr>
        </p:nvSpPr>
        <p:spPr/>
        <p:txBody>
          <a:bodyPr/>
          <a:lstStyle/>
          <a:p>
            <a:fld id="{4124EDF5-87F7-4AC5-8292-B04417157FC2}" type="slidenum">
              <a:rPr lang="zh-CN" altLang="en-US" smtClean="0"/>
              <a:t>46</a:t>
            </a:fld>
            <a:endParaRPr lang="zh-CN" altLang="en-US"/>
          </a:p>
        </p:txBody>
      </p:sp>
      <p:sp>
        <p:nvSpPr>
          <p:cNvPr id="4" name="标题 3">
            <a:extLst>
              <a:ext uri="{FF2B5EF4-FFF2-40B4-BE49-F238E27FC236}">
                <a16:creationId xmlns:a16="http://schemas.microsoft.com/office/drawing/2014/main" id="{5A0A10F3-C0E2-4023-2721-1FA69EC75261}"/>
              </a:ext>
            </a:extLst>
          </p:cNvPr>
          <p:cNvSpPr>
            <a:spLocks noGrp="1"/>
          </p:cNvSpPr>
          <p:nvPr>
            <p:ph type="title"/>
          </p:nvPr>
        </p:nvSpPr>
        <p:spPr/>
        <p:txBody>
          <a:bodyPr/>
          <a:lstStyle/>
          <a:p>
            <a:r>
              <a:rPr lang="zh-CN" altLang="en-US" dirty="0"/>
              <a:t>使用一元编码机制查询</a:t>
            </a:r>
          </a:p>
        </p:txBody>
      </p:sp>
      <p:pic>
        <p:nvPicPr>
          <p:cNvPr id="5" name="图片 4">
            <a:extLst>
              <a:ext uri="{FF2B5EF4-FFF2-40B4-BE49-F238E27FC236}">
                <a16:creationId xmlns:a16="http://schemas.microsoft.com/office/drawing/2014/main" id="{E9903150-047F-9775-3030-78F5BF4001F1}"/>
              </a:ext>
            </a:extLst>
          </p:cNvPr>
          <p:cNvPicPr>
            <a:picLocks noChangeAspect="1"/>
          </p:cNvPicPr>
          <p:nvPr/>
        </p:nvPicPr>
        <p:blipFill>
          <a:blip r:embed="rId2"/>
          <a:stretch>
            <a:fillRect/>
          </a:stretch>
        </p:blipFill>
        <p:spPr>
          <a:xfrm>
            <a:off x="3938985" y="4125437"/>
            <a:ext cx="3251316" cy="2616675"/>
          </a:xfrm>
          <a:prstGeom prst="rect">
            <a:avLst/>
          </a:prstGeom>
        </p:spPr>
      </p:pic>
    </p:spTree>
    <p:extLst>
      <p:ext uri="{BB962C8B-B14F-4D97-AF65-F5344CB8AC3E}">
        <p14:creationId xmlns:p14="http://schemas.microsoft.com/office/powerpoint/2010/main" val="201914730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F0A67E8C-4D6E-9534-029D-B2BBA8C6E94F}"/>
              </a:ext>
            </a:extLst>
          </p:cNvPr>
          <p:cNvSpPr>
            <a:spLocks noGrp="1"/>
          </p:cNvSpPr>
          <p:nvPr>
            <p:ph type="sldNum" sz="quarter" idx="4"/>
          </p:nvPr>
        </p:nvSpPr>
        <p:spPr/>
        <p:txBody>
          <a:bodyPr/>
          <a:lstStyle/>
          <a:p>
            <a:fld id="{4124EDF5-87F7-4AC5-8292-B04417157FC2}" type="slidenum">
              <a:rPr lang="zh-CN" altLang="en-US" smtClean="0"/>
              <a:t>47</a:t>
            </a:fld>
            <a:endParaRPr lang="zh-CN" altLang="en-US"/>
          </a:p>
        </p:txBody>
      </p:sp>
      <p:sp>
        <p:nvSpPr>
          <p:cNvPr id="4" name="标题 3">
            <a:extLst>
              <a:ext uri="{FF2B5EF4-FFF2-40B4-BE49-F238E27FC236}">
                <a16:creationId xmlns:a16="http://schemas.microsoft.com/office/drawing/2014/main" id="{184BF399-F193-5A6F-D4E2-FED6D27BCE1F}"/>
              </a:ext>
            </a:extLst>
          </p:cNvPr>
          <p:cNvSpPr>
            <a:spLocks noGrp="1"/>
          </p:cNvSpPr>
          <p:nvPr>
            <p:ph type="title"/>
          </p:nvPr>
        </p:nvSpPr>
        <p:spPr/>
        <p:txBody>
          <a:bodyPr/>
          <a:lstStyle/>
          <a:p>
            <a:r>
              <a:rPr lang="zh-CN" altLang="en-US" dirty="0"/>
              <a:t>本地化差分隐私小结</a:t>
            </a:r>
          </a:p>
        </p:txBody>
      </p:sp>
      <p:sp>
        <p:nvSpPr>
          <p:cNvPr id="5" name="Rectangle 1">
            <a:extLst>
              <a:ext uri="{FF2B5EF4-FFF2-40B4-BE49-F238E27FC236}">
                <a16:creationId xmlns:a16="http://schemas.microsoft.com/office/drawing/2014/main" id="{CFA82F29-4B2D-5AC4-F71F-E38A79D59EE2}"/>
              </a:ext>
            </a:extLst>
          </p:cNvPr>
          <p:cNvSpPr>
            <a:spLocks noGrp="1" noChangeArrowheads="1"/>
          </p:cNvSpPr>
          <p:nvPr>
            <p:ph idx="1"/>
          </p:nvPr>
        </p:nvSpPr>
        <p:spPr bwMode="auto">
          <a:xfrm>
            <a:off x="275307" y="1118214"/>
            <a:ext cx="6941644" cy="580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defTabSz="914400" latinLnBrk="0">
              <a:spcBef>
                <a:spcPts val="200"/>
              </a:spcBef>
              <a:spcAft>
                <a:spcPts val="200"/>
              </a:spcAft>
              <a:buSzTx/>
              <a:buFontTx/>
              <a:buChar char="•"/>
              <a:tabLst/>
            </a:pPr>
            <a:r>
              <a:rPr lang="zh-CN" altLang="zh-CN" dirty="0"/>
              <a:t>中心化差分隐私 </a:t>
            </a:r>
          </a:p>
          <a:p>
            <a:pPr marR="0" lvl="1" defTabSz="914400" latinLnBrk="0">
              <a:spcBef>
                <a:spcPts val="200"/>
              </a:spcBef>
              <a:spcAft>
                <a:spcPts val="200"/>
              </a:spcAft>
              <a:buSzTx/>
              <a:buFontTx/>
              <a:buChar char="–"/>
              <a:tabLst/>
            </a:pPr>
            <a:r>
              <a:rPr lang="zh-CN" altLang="zh-CN" dirty="0"/>
              <a:t>基于全局敏感性添加噪声</a:t>
            </a:r>
          </a:p>
          <a:p>
            <a:pPr marR="0" lvl="1" defTabSz="914400" latinLnBrk="0">
              <a:spcBef>
                <a:spcPts val="200"/>
              </a:spcBef>
              <a:spcAft>
                <a:spcPts val="200"/>
              </a:spcAft>
              <a:buSzTx/>
              <a:buFontTx/>
              <a:buChar char="–"/>
              <a:tabLst/>
            </a:pPr>
            <a:r>
              <a:rPr lang="zh-CN" altLang="zh-CN" dirty="0"/>
              <a:t>定量限制隐私泄露</a:t>
            </a:r>
          </a:p>
          <a:p>
            <a:pPr marR="0" lvl="1" defTabSz="914400" latinLnBrk="0">
              <a:spcBef>
                <a:spcPts val="200"/>
              </a:spcBef>
              <a:spcAft>
                <a:spcPts val="200"/>
              </a:spcAft>
              <a:buSzTx/>
              <a:buFontTx/>
              <a:buChar char="–"/>
              <a:tabLst/>
            </a:pPr>
            <a:r>
              <a:rPr lang="zh-CN" altLang="zh-CN" dirty="0"/>
              <a:t>对数据量 无特殊要求</a:t>
            </a:r>
          </a:p>
          <a:p>
            <a:pPr marR="0" lvl="0" defTabSz="914400" latinLnBrk="0">
              <a:spcBef>
                <a:spcPts val="200"/>
              </a:spcBef>
              <a:spcAft>
                <a:spcPts val="200"/>
              </a:spcAft>
              <a:buSzTx/>
              <a:buFontTx/>
              <a:buChar char="•"/>
              <a:tabLst/>
            </a:pPr>
            <a:r>
              <a:rPr lang="zh-CN" altLang="zh-CN" dirty="0"/>
              <a:t>本地化差分隐私</a:t>
            </a:r>
            <a:endParaRPr lang="en-US" altLang="zh-CN" dirty="0"/>
          </a:p>
          <a:p>
            <a:pPr marR="0" lvl="1" defTabSz="914400" latinLnBrk="0">
              <a:spcBef>
                <a:spcPts val="200"/>
              </a:spcBef>
              <a:spcAft>
                <a:spcPts val="200"/>
              </a:spcAft>
              <a:buSzTx/>
              <a:buFontTx/>
              <a:buChar char="–"/>
              <a:tabLst/>
            </a:pPr>
            <a:r>
              <a:rPr lang="zh-CN" altLang="zh-CN" dirty="0"/>
              <a:t>对个体数据进行正/负向扰动</a:t>
            </a:r>
          </a:p>
          <a:p>
            <a:pPr marR="0" lvl="1" defTabSz="914400" latinLnBrk="0">
              <a:spcBef>
                <a:spcPts val="200"/>
              </a:spcBef>
              <a:spcAft>
                <a:spcPts val="200"/>
              </a:spcAft>
              <a:buSzTx/>
              <a:buFontTx/>
              <a:buChar char="–"/>
              <a:tabLst/>
            </a:pPr>
            <a:r>
              <a:rPr lang="zh-CN" altLang="zh-CN" dirty="0"/>
              <a:t>聚合大量扰动结果以抵消噪声</a:t>
            </a:r>
          </a:p>
          <a:p>
            <a:pPr marR="0" lvl="1" defTabSz="914400" latinLnBrk="0">
              <a:spcBef>
                <a:spcPts val="200"/>
              </a:spcBef>
              <a:spcAft>
                <a:spcPts val="200"/>
              </a:spcAft>
              <a:buSzTx/>
              <a:buFontTx/>
              <a:buChar char="–"/>
              <a:tabLst/>
            </a:pPr>
            <a:r>
              <a:rPr lang="zh-CN" altLang="zh-CN" dirty="0"/>
              <a:t>结果无偏，但需海量数据保证可用性</a:t>
            </a:r>
          </a:p>
          <a:p>
            <a:pPr marR="0" lvl="1" defTabSz="914400" latinLnBrk="0">
              <a:spcBef>
                <a:spcPts val="200"/>
              </a:spcBef>
              <a:spcAft>
                <a:spcPts val="200"/>
              </a:spcAft>
              <a:buSzTx/>
              <a:buFontTx/>
              <a:buChar char="–"/>
              <a:tabLst/>
            </a:pPr>
            <a:r>
              <a:rPr lang="zh-CN" altLang="zh-CN" dirty="0"/>
              <a:t>数据量大 → 可用性高；数据量小 → 可用性低</a:t>
            </a:r>
          </a:p>
          <a:p>
            <a:pPr marR="0" lvl="0" defTabSz="914400" latinLnBrk="0">
              <a:spcBef>
                <a:spcPts val="200"/>
              </a:spcBef>
              <a:spcAft>
                <a:spcPts val="200"/>
              </a:spcAft>
              <a:buSzTx/>
              <a:buFontTx/>
              <a:buChar char="•"/>
              <a:tabLst/>
            </a:pPr>
            <a:r>
              <a:rPr lang="zh-CN" altLang="zh-CN" dirty="0"/>
              <a:t>核心差异</a:t>
            </a:r>
          </a:p>
          <a:p>
            <a:pPr marR="0" lvl="1" defTabSz="914400" latinLnBrk="0">
              <a:spcBef>
                <a:spcPts val="200"/>
              </a:spcBef>
              <a:spcAft>
                <a:spcPts val="200"/>
              </a:spcAft>
              <a:buSzTx/>
              <a:buFontTx/>
              <a:buChar char="–"/>
              <a:tabLst/>
            </a:pPr>
            <a:r>
              <a:rPr lang="zh-CN" altLang="en-US" dirty="0"/>
              <a:t>中心化差分隐私</a:t>
            </a:r>
            <a:r>
              <a:rPr lang="zh-CN" altLang="zh-CN" dirty="0"/>
              <a:t>：适合任意规模数据</a:t>
            </a:r>
          </a:p>
          <a:p>
            <a:pPr marR="0" lvl="1" defTabSz="914400" latinLnBrk="0">
              <a:spcBef>
                <a:spcPts val="200"/>
              </a:spcBef>
              <a:spcAft>
                <a:spcPts val="200"/>
              </a:spcAft>
              <a:buSzTx/>
              <a:buFontTx/>
              <a:buChar char="–"/>
              <a:tabLst/>
            </a:pPr>
            <a:r>
              <a:rPr lang="zh-CN" altLang="en-US" dirty="0"/>
              <a:t>本地化差分隐私</a:t>
            </a:r>
            <a:r>
              <a:rPr lang="zh-CN" altLang="zh-CN" dirty="0"/>
              <a:t>：强隐私保护，但高度依赖数据规模</a:t>
            </a:r>
          </a:p>
          <a:p>
            <a:pPr marL="0" marR="0" lvl="0" indent="0" algn="l" defTabSz="914400" rtl="0" eaLnBrk="0" fontAlgn="base" latinLnBrk="0" hangingPunct="0">
              <a:lnSpc>
                <a:spcPct val="100000"/>
              </a:lnSpc>
              <a:spcBef>
                <a:spcPts val="200"/>
              </a:spcBef>
              <a:spcAft>
                <a:spcPts val="20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021796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E6C6B-7FF2-E0DB-D8ED-D292251BBD95}"/>
            </a:ext>
          </a:extLst>
        </p:cNvPr>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525C10F8-41B5-29DF-DA9E-5E1F42847932}"/>
              </a:ext>
            </a:extLst>
          </p:cNvPr>
          <p:cNvSpPr>
            <a:spLocks noGrp="1"/>
          </p:cNvSpPr>
          <p:nvPr>
            <p:ph type="sldNum" sz="quarter" idx="4"/>
          </p:nvPr>
        </p:nvSpPr>
        <p:spPr/>
        <p:txBody>
          <a:bodyPr/>
          <a:lstStyle/>
          <a:p>
            <a:fld id="{4124EDF5-87F7-4AC5-8292-B04417157FC2}" type="slidenum">
              <a:rPr lang="zh-CN" altLang="en-US" smtClean="0"/>
              <a:t>48</a:t>
            </a:fld>
            <a:endParaRPr lang="zh-CN" altLang="en-US"/>
          </a:p>
        </p:txBody>
      </p:sp>
      <p:sp>
        <p:nvSpPr>
          <p:cNvPr id="4" name="标题 3">
            <a:extLst>
              <a:ext uri="{FF2B5EF4-FFF2-40B4-BE49-F238E27FC236}">
                <a16:creationId xmlns:a16="http://schemas.microsoft.com/office/drawing/2014/main" id="{03341BEE-D1E4-BA32-A5E5-97D6B95CA118}"/>
              </a:ext>
            </a:extLst>
          </p:cNvPr>
          <p:cNvSpPr>
            <a:spLocks noGrp="1"/>
          </p:cNvSpPr>
          <p:nvPr>
            <p:ph type="title"/>
          </p:nvPr>
        </p:nvSpPr>
        <p:spPr/>
        <p:txBody>
          <a:bodyPr/>
          <a:lstStyle/>
          <a:p>
            <a:endParaRPr lang="en-US"/>
          </a:p>
        </p:txBody>
      </p:sp>
      <p:sp>
        <p:nvSpPr>
          <p:cNvPr id="5" name="文本框 4">
            <a:extLst>
              <a:ext uri="{FF2B5EF4-FFF2-40B4-BE49-F238E27FC236}">
                <a16:creationId xmlns:a16="http://schemas.microsoft.com/office/drawing/2014/main" id="{F130A109-37EE-FB26-BCAD-53B1D552CD86}"/>
              </a:ext>
            </a:extLst>
          </p:cNvPr>
          <p:cNvSpPr txBox="1"/>
          <p:nvPr/>
        </p:nvSpPr>
        <p:spPr>
          <a:xfrm>
            <a:off x="2913188" y="3113465"/>
            <a:ext cx="6365619" cy="923330"/>
          </a:xfrm>
          <a:prstGeom prst="rect">
            <a:avLst/>
          </a:prstGeom>
        </p:spPr>
        <p:txBody>
          <a:bodyPr wrap="square">
            <a:spAutoFit/>
          </a:bodyPr>
          <a:lstStyle>
            <a:defPPr>
              <a:defRPr lang="zh-CN"/>
            </a:defPPr>
            <a:lvl1pPr lvl="0" algn="ctr">
              <a:defRPr sz="5400" b="1">
                <a:gradFill>
                  <a:gsLst>
                    <a:gs pos="0">
                      <a:srgbClr val="2B84FE"/>
                    </a:gs>
                    <a:gs pos="100000">
                      <a:srgbClr val="20B1F4"/>
                    </a:gs>
                  </a:gsLst>
                  <a:lin ang="5400000" scaled="1"/>
                </a:gradFill>
                <a:latin typeface="微软雅黑"/>
                <a:ea typeface="微软雅黑"/>
              </a:defRPr>
            </a:lvl1pPr>
          </a:lstStyle>
          <a:p>
            <a:pPr lvl="0">
              <a:defRPr/>
            </a:pPr>
            <a:r>
              <a:rPr lang="zh-CN" altLang="en-US" dirty="0"/>
              <a:t>差分隐私应用</a:t>
            </a:r>
            <a:endParaRPr kumimoji="0" lang="zh-CN" altLang="en-US" sz="5400" b="1" i="0" u="none" strike="noStrike" kern="1200" cap="none" spc="0" normalizeH="0" baseline="0" noProof="0" dirty="0">
              <a:ln>
                <a:noFill/>
              </a:ln>
              <a:solidFill>
                <a:srgbClr val="0070C0"/>
              </a:solidFill>
              <a:effectLst/>
              <a:uLnTx/>
              <a:uFillTx/>
              <a:latin typeface="微软雅黑"/>
              <a:ea typeface="微软雅黑"/>
              <a:cs typeface="+mn-cs"/>
            </a:endParaRPr>
          </a:p>
        </p:txBody>
      </p:sp>
    </p:spTree>
    <p:extLst>
      <p:ext uri="{BB962C8B-B14F-4D97-AF65-F5344CB8AC3E}">
        <p14:creationId xmlns:p14="http://schemas.microsoft.com/office/powerpoint/2010/main" val="28750842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C0E8D94F-6EDA-0154-EEAD-1100915F3388}"/>
              </a:ext>
            </a:extLst>
          </p:cNvPr>
          <p:cNvSpPr>
            <a:spLocks noGrp="1"/>
          </p:cNvSpPr>
          <p:nvPr>
            <p:ph type="sldNum" sz="quarter" idx="4"/>
          </p:nvPr>
        </p:nvSpPr>
        <p:spPr/>
        <p:txBody>
          <a:bodyPr/>
          <a:lstStyle/>
          <a:p>
            <a:fld id="{4124EDF5-87F7-4AC5-8292-B04417157FC2}" type="slidenum">
              <a:rPr lang="zh-CN" altLang="en-US" smtClean="0"/>
              <a:t>49</a:t>
            </a:fld>
            <a:endParaRPr lang="zh-CN" altLang="en-US"/>
          </a:p>
        </p:txBody>
      </p:sp>
      <p:sp>
        <p:nvSpPr>
          <p:cNvPr id="4" name="标题 3">
            <a:extLst>
              <a:ext uri="{FF2B5EF4-FFF2-40B4-BE49-F238E27FC236}">
                <a16:creationId xmlns:a16="http://schemas.microsoft.com/office/drawing/2014/main" id="{2F1F7F4D-E7F7-6EED-C118-225045F88ACF}"/>
              </a:ext>
            </a:extLst>
          </p:cNvPr>
          <p:cNvSpPr>
            <a:spLocks noGrp="1"/>
          </p:cNvSpPr>
          <p:nvPr>
            <p:ph type="title"/>
          </p:nvPr>
        </p:nvSpPr>
        <p:spPr/>
        <p:txBody>
          <a:bodyPr/>
          <a:lstStyle/>
          <a:p>
            <a:r>
              <a:rPr lang="zh-CN" altLang="en-US" dirty="0"/>
              <a:t>差分隐私应用</a:t>
            </a:r>
          </a:p>
        </p:txBody>
      </p:sp>
      <p:sp>
        <p:nvSpPr>
          <p:cNvPr id="5" name="Rectangle 1">
            <a:extLst>
              <a:ext uri="{FF2B5EF4-FFF2-40B4-BE49-F238E27FC236}">
                <a16:creationId xmlns:a16="http://schemas.microsoft.com/office/drawing/2014/main" id="{0A1F5EFB-1C83-FAEB-DD43-A53CB12AAB0A}"/>
              </a:ext>
            </a:extLst>
          </p:cNvPr>
          <p:cNvSpPr>
            <a:spLocks noGrp="1" noChangeArrowheads="1"/>
          </p:cNvSpPr>
          <p:nvPr>
            <p:ph idx="1"/>
          </p:nvPr>
        </p:nvSpPr>
        <p:spPr bwMode="auto">
          <a:xfrm>
            <a:off x="371303" y="1201705"/>
            <a:ext cx="11208716" cy="4064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latinLnBrk="0">
              <a:buSzTx/>
              <a:buFontTx/>
              <a:buChar char="•"/>
              <a:tabLst/>
            </a:pPr>
            <a:r>
              <a:rPr lang="zh-CN" altLang="zh-CN" dirty="0"/>
              <a:t>大数据和机器学习需要大量高质量训练数据，如何在使用中保护社交、医疗、金融等敏感信息成为关键问题。</a:t>
            </a:r>
          </a:p>
          <a:p>
            <a:pPr marR="0" lvl="0" defTabSz="914400" latinLnBrk="0">
              <a:buSzTx/>
              <a:buFontTx/>
              <a:buChar char="•"/>
              <a:tabLst/>
            </a:pPr>
            <a:r>
              <a:rPr lang="zh-CN" altLang="zh-CN" dirty="0"/>
              <a:t>传统匿名化方法在大数据环境下容易被外部数据库比对推理，无法有效防止隐私泄露。</a:t>
            </a:r>
          </a:p>
          <a:p>
            <a:pPr marR="0" lvl="0" defTabSz="914400" latinLnBrk="0">
              <a:buSzTx/>
              <a:buFontTx/>
              <a:buChar char="•"/>
              <a:tabLst/>
            </a:pPr>
            <a:r>
              <a:rPr lang="zh-CN" altLang="zh-CN" dirty="0"/>
              <a:t>差分隐私通过向数据添加噪声，使得个体贡献难以追踪，有效抵御链接攻击和推断攻击，被谷歌、苹果、微软等公司广泛应用。</a:t>
            </a:r>
          </a:p>
          <a:p>
            <a:pPr marR="0" lvl="0" defTabSz="914400" latinLnBrk="0">
              <a:buSzTx/>
              <a:buFontTx/>
              <a:buChar char="•"/>
              <a:tabLst/>
            </a:pPr>
            <a:r>
              <a:rPr lang="zh-CN" altLang="zh-CN" dirty="0"/>
              <a:t>在机器学习中，仅发布模型仍可能遭受逆向攻击和成员推理攻击，而差分隐私提供数学证明，可有效抵御此类威胁并保护训练数据隐私。</a:t>
            </a:r>
          </a:p>
        </p:txBody>
      </p:sp>
    </p:spTree>
    <p:extLst>
      <p:ext uri="{BB962C8B-B14F-4D97-AF65-F5344CB8AC3E}">
        <p14:creationId xmlns:p14="http://schemas.microsoft.com/office/powerpoint/2010/main" val="35533337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9E1D7629-9B41-374C-D408-A7C77A6D033F}"/>
                  </a:ext>
                </a:extLst>
              </p:cNvPr>
              <p:cNvSpPr>
                <a:spLocks noGrp="1"/>
              </p:cNvSpPr>
              <p:nvPr>
                <p:ph idx="1"/>
              </p:nvPr>
            </p:nvSpPr>
            <p:spPr>
              <a:xfrm>
                <a:off x="348060" y="1208892"/>
                <a:ext cx="11464528" cy="5625295"/>
              </a:xfrm>
            </p:spPr>
            <p:txBody>
              <a:bodyPr/>
              <a:lstStyle/>
              <a:p>
                <a:pPr>
                  <a:lnSpc>
                    <a:spcPct val="110000"/>
                  </a:lnSpc>
                  <a:spcBef>
                    <a:spcPts val="0"/>
                  </a:spcBef>
                  <a:spcAft>
                    <a:spcPts val="0"/>
                  </a:spcAft>
                </a:pPr>
                <a:r>
                  <a:rPr lang="en-US" altLang="zh-CN" dirty="0"/>
                  <a:t>RAPPOR</a:t>
                </a:r>
                <a:r>
                  <a:rPr lang="zh-CN" altLang="en-US" dirty="0"/>
                  <a:t>算法是谷歌提出的基于随机响应的一个通用差分隐私算法，主要用于收集用户的数据并能保证用户的隐私。</a:t>
                </a:r>
                <a:endParaRPr lang="en-US" altLang="zh-CN" dirty="0"/>
              </a:p>
              <a:p>
                <a:pPr>
                  <a:lnSpc>
                    <a:spcPct val="110000"/>
                  </a:lnSpc>
                  <a:spcBef>
                    <a:spcPts val="0"/>
                  </a:spcBef>
                  <a:spcAft>
                    <a:spcPts val="0"/>
                  </a:spcAft>
                </a:pPr>
                <a:r>
                  <a:rPr lang="zh-CN" altLang="en-US" dirty="0"/>
                  <a:t>在</a:t>
                </a:r>
                <a:r>
                  <a:rPr lang="en-US" altLang="zh-CN" dirty="0"/>
                  <a:t>RAPPOR</a:t>
                </a:r>
                <a:r>
                  <a:rPr lang="zh-CN" altLang="en-US" dirty="0"/>
                  <a:t>算法中，用户可以根据需要，调节执行参数</a:t>
                </a:r>
                <a:r>
                  <a:rPr lang="en-US" altLang="zh-CN" dirty="0"/>
                  <a:t>k</a:t>
                </a:r>
                <a:r>
                  <a:rPr lang="zh-CN" altLang="en-US" dirty="0"/>
                  <a:t>、</a:t>
                </a:r>
                <a:r>
                  <a:rPr lang="en-US" altLang="zh-CN" dirty="0"/>
                  <a:t>h</a:t>
                </a:r>
                <a:r>
                  <a:rPr lang="zh-CN" altLang="en-US" dirty="0"/>
                  <a:t>、</a:t>
                </a:r>
                <a:r>
                  <a:rPr lang="en-US" altLang="zh-CN" dirty="0"/>
                  <a:t>f</a:t>
                </a:r>
                <a:r>
                  <a:rPr lang="zh-CN" altLang="en-US" dirty="0"/>
                  <a:t>、</a:t>
                </a:r>
                <a:r>
                  <a:rPr lang="en-US" altLang="zh-CN" dirty="0"/>
                  <a:t>p</a:t>
                </a:r>
                <a:r>
                  <a:rPr lang="zh-CN" altLang="en-US" dirty="0"/>
                  <a:t>、</a:t>
                </a:r>
                <a:r>
                  <a:rPr lang="en-US" altLang="zh-CN" dirty="0"/>
                  <a:t>q</a:t>
                </a:r>
                <a:r>
                  <a:rPr lang="zh-CN" altLang="en-US" dirty="0"/>
                  <a:t>。确定参数后，算法输入要收集的真实值</a:t>
                </a:r>
                <a:r>
                  <a:rPr lang="en-US" altLang="zh-CN" dirty="0"/>
                  <a:t>v</a:t>
                </a:r>
                <a:r>
                  <a:rPr lang="zh-CN" altLang="en-US" dirty="0"/>
                  <a:t>，并在用户本地机器上执行</a:t>
                </a:r>
                <a:r>
                  <a:rPr lang="en-US" altLang="zh-CN" dirty="0"/>
                  <a:t>RAPPOR</a:t>
                </a:r>
                <a:r>
                  <a:rPr lang="zh-CN" altLang="en-US" dirty="0"/>
                  <a:t>算法的</a:t>
                </a:r>
                <a:r>
                  <a:rPr lang="en-US" altLang="zh-CN" dirty="0"/>
                  <a:t>4</a:t>
                </a:r>
                <a:r>
                  <a:rPr lang="zh-CN" altLang="en-US" dirty="0"/>
                  <a:t>个步骤：</a:t>
                </a:r>
                <a:endParaRPr lang="en-US" altLang="zh-CN" dirty="0"/>
              </a:p>
              <a:p>
                <a:pPr lvl="1">
                  <a:lnSpc>
                    <a:spcPct val="110000"/>
                  </a:lnSpc>
                  <a:spcBef>
                    <a:spcPts val="0"/>
                  </a:spcBef>
                  <a:spcAft>
                    <a:spcPts val="0"/>
                  </a:spcAft>
                </a:pPr>
                <a:r>
                  <a:rPr lang="en-US" altLang="zh-CN" dirty="0"/>
                  <a:t>1</a:t>
                </a:r>
                <a:r>
                  <a:rPr lang="zh-CN" altLang="en-US" dirty="0"/>
                  <a:t>）布隆过滤。使用布隆过滤器将输入（真值）</a:t>
                </a:r>
                <a:r>
                  <a:rPr lang="en-US" altLang="zh-CN" dirty="0"/>
                  <a:t>v</a:t>
                </a:r>
                <a:r>
                  <a:rPr lang="zh-CN" altLang="en-US" dirty="0"/>
                  <a:t>映射成一个长度为</a:t>
                </a:r>
                <a:r>
                  <a:rPr lang="en-US" altLang="zh-CN" dirty="0"/>
                  <a:t>k</a:t>
                </a:r>
                <a:r>
                  <a:rPr lang="zh-CN" altLang="en-US" dirty="0"/>
                  <a:t>（例如</a:t>
                </a:r>
                <a:r>
                  <a:rPr lang="en-US" altLang="zh-CN" dirty="0"/>
                  <a:t>256</a:t>
                </a:r>
                <a:r>
                  <a:rPr lang="zh-CN" altLang="en-US" dirty="0"/>
                  <a:t>）的二值向量</a:t>
                </a:r>
                <a:r>
                  <a:rPr lang="en-US" altLang="zh-CN" dirty="0"/>
                  <a:t>B</a:t>
                </a:r>
                <a:r>
                  <a:rPr lang="zh-CN" altLang="en-US" dirty="0"/>
                  <a:t>。当一个输入值输入布隆过滤器时，会通过</a:t>
                </a:r>
                <a:r>
                  <a:rPr lang="en-US" altLang="zh-CN" dirty="0"/>
                  <a:t>h</a:t>
                </a:r>
                <a:r>
                  <a:rPr lang="zh-CN" altLang="en-US" dirty="0"/>
                  <a:t>个哈希函数将这个输入值映射成向量中的</a:t>
                </a:r>
                <a:r>
                  <a:rPr lang="en-US" altLang="zh-CN" dirty="0"/>
                  <a:t>k</a:t>
                </a:r>
                <a:r>
                  <a:rPr lang="zh-CN" altLang="en-US" dirty="0"/>
                  <a:t>个点，并把它们置为</a:t>
                </a:r>
                <a:r>
                  <a:rPr lang="en-US" altLang="zh-CN" dirty="0"/>
                  <a:t>1</a:t>
                </a:r>
                <a:r>
                  <a:rPr lang="zh-CN" altLang="en-US" dirty="0"/>
                  <a:t>。</a:t>
                </a:r>
                <a:endParaRPr lang="en-US" altLang="zh-CN" dirty="0"/>
              </a:p>
              <a:p>
                <a:pPr lvl="1">
                  <a:lnSpc>
                    <a:spcPct val="110000"/>
                  </a:lnSpc>
                  <a:spcBef>
                    <a:spcPts val="0"/>
                  </a:spcBef>
                  <a:spcAft>
                    <a:spcPts val="0"/>
                  </a:spcAft>
                </a:pPr>
                <a:r>
                  <a:rPr lang="en-US" altLang="zh-CN" dirty="0"/>
                  <a:t>2</a:t>
                </a:r>
                <a:r>
                  <a:rPr lang="zh-CN" altLang="en-US" dirty="0"/>
                  <a:t>）永久性随机响应（</a:t>
                </a:r>
                <a:r>
                  <a:rPr lang="en-US" altLang="zh-CN" dirty="0"/>
                  <a:t>Permanent Randomized Response</a:t>
                </a:r>
                <a:r>
                  <a:rPr lang="zh-CN" altLang="en-US" dirty="0"/>
                  <a:t>，</a:t>
                </a:r>
                <a:r>
                  <a:rPr lang="en-US" altLang="zh-CN" dirty="0"/>
                  <a:t>PRR</a:t>
                </a:r>
                <a:r>
                  <a:rPr lang="zh-CN" altLang="en-US" dirty="0"/>
                  <a:t>）。以一定概率</a:t>
                </a:r>
                <a:r>
                  <a:rPr lang="en-US" altLang="zh-CN" dirty="0"/>
                  <a:t>f</a:t>
                </a:r>
                <a:r>
                  <a:rPr lang="zh-CN" altLang="en-US" dirty="0"/>
                  <a:t>翻转二值向量</a:t>
                </a:r>
                <a:r>
                  <a:rPr lang="en-US" altLang="zh-CN" dirty="0"/>
                  <a:t>B</a:t>
                </a:r>
                <a:r>
                  <a:rPr lang="zh-CN" altLang="en-US" dirty="0"/>
                  <a:t>中每个位的值，生成新的向量</a:t>
                </a:r>
                <a14:m>
                  <m:oMath xmlns:m="http://schemas.openxmlformats.org/officeDocument/2006/math">
                    <m:r>
                      <a:rPr lang="en-US" altLang="zh-CN" b="1" i="1" smtClean="0">
                        <a:latin typeface="Cambria Math" panose="02040503050406030204" pitchFamily="18" charset="0"/>
                      </a:rPr>
                      <m:t>𝑩</m:t>
                    </m:r>
                    <m:r>
                      <a:rPr lang="en-US" altLang="zh-CN" b="1" i="1" smtClean="0">
                        <a:latin typeface="Cambria Math" panose="02040503050406030204" pitchFamily="18" charset="0"/>
                      </a:rPr>
                      <m:t>′</m:t>
                    </m:r>
                  </m:oMath>
                </a14:m>
                <a:r>
                  <a:rPr lang="zh-CN" altLang="en-US" dirty="0"/>
                  <a:t>，</a:t>
                </a:r>
                <a:r>
                  <a:rPr lang="en-US" altLang="zh-CN" dirty="0"/>
                  <a:t>f</a:t>
                </a:r>
                <a:r>
                  <a:rPr lang="zh-CN" altLang="en-US" dirty="0"/>
                  <a:t>为用户可控的参数，代表隐私保护程度，该过程被称为永久随机响应。</a:t>
                </a:r>
                <a:r>
                  <a:rPr lang="en-US" altLang="zh-CN" dirty="0"/>
                  <a:t> </a:t>
                </a:r>
                <a14:m>
                  <m:oMath xmlns:m="http://schemas.openxmlformats.org/officeDocument/2006/math">
                    <m:r>
                      <a:rPr lang="en-US" altLang="zh-CN" i="1">
                        <a:latin typeface="Cambria Math" panose="02040503050406030204" pitchFamily="18" charset="0"/>
                      </a:rPr>
                      <m:t>𝑩</m:t>
                    </m:r>
                    <m:r>
                      <a:rPr lang="en-US" altLang="zh-CN" i="1">
                        <a:latin typeface="Cambria Math" panose="02040503050406030204" pitchFamily="18" charset="0"/>
                      </a:rPr>
                      <m:t>′</m:t>
                    </m:r>
                  </m:oMath>
                </a14:m>
                <a:r>
                  <a:rPr lang="zh-CN" altLang="en-US" dirty="0"/>
                  <a:t>将会永远存储在客户端中，并且未来也只会使用相同的</a:t>
                </a:r>
                <a14:m>
                  <m:oMath xmlns:m="http://schemas.openxmlformats.org/officeDocument/2006/math">
                    <m:r>
                      <a:rPr lang="en-US" altLang="zh-CN" i="1">
                        <a:latin typeface="Cambria Math" panose="02040503050406030204" pitchFamily="18" charset="0"/>
                      </a:rPr>
                      <m:t>𝑩</m:t>
                    </m:r>
                    <m:r>
                      <a:rPr lang="en-US" altLang="zh-CN" i="1">
                        <a:latin typeface="Cambria Math" panose="02040503050406030204" pitchFamily="18" charset="0"/>
                      </a:rPr>
                      <m:t>′ </m:t>
                    </m:r>
                  </m:oMath>
                </a14:m>
                <a:r>
                  <a:rPr lang="zh-CN" altLang="en-US" dirty="0"/>
                  <a:t>，这是为了抵御攻击者的“平均”攻击，在这种攻击中，攻击者可以通过观察多个噪声版本来估计真实值。翻转概率公式如下：</a:t>
                </a:r>
                <a14:m>
                  <m:oMath xmlns:m="http://schemas.openxmlformats.org/officeDocument/2006/math">
                    <m:r>
                      <a:rPr lang="en-US" altLang="zh-CN" b="1" i="0" smtClean="0">
                        <a:latin typeface="Cambria Math" panose="02040503050406030204" pitchFamily="18" charset="0"/>
                      </a:rPr>
                      <m:t>𝐁</m:t>
                    </m:r>
                    <m:sSub>
                      <m:sSubPr>
                        <m:ctrlPr>
                          <a:rPr lang="en-US" altLang="zh-CN" b="1" i="1" smtClean="0">
                            <a:latin typeface="Cambria Math" panose="02040503050406030204" pitchFamily="18" charset="0"/>
                          </a:rPr>
                        </m:ctrlPr>
                      </m:sSubPr>
                      <m:e>
                        <m:r>
                          <a:rPr lang="zh-CN" altLang="en-US" i="1" smtClean="0">
                            <a:latin typeface="Cambria Math" panose="02040503050406030204" pitchFamily="18" charset="0"/>
                          </a:rPr>
                          <m:t>’</m:t>
                        </m:r>
                      </m:e>
                      <m:sub>
                        <m:r>
                          <a:rPr lang="en-US" altLang="zh-CN" b="1" i="1" smtClean="0">
                            <a:latin typeface="Cambria Math" panose="02040503050406030204" pitchFamily="18" charset="0"/>
                          </a:rPr>
                          <m:t>𝒊</m:t>
                        </m:r>
                      </m:sub>
                    </m:sSub>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zh-CN" altLang="en-US" i="1">
                                <a:latin typeface="Cambria Math" panose="02040503050406030204" pitchFamily="18" charset="0"/>
                              </a:rPr>
                              <m:t>概率</m:t>
                            </m:r>
                            <m:r>
                              <a:rPr lang="zh-CN" altLang="en-US" i="1" smtClean="0">
                                <a:latin typeface="Cambria Math" panose="02040503050406030204" pitchFamily="18" charset="0"/>
                              </a:rPr>
                              <m:t>为</m:t>
                            </m:r>
                            <m:r>
                              <a:rPr lang="en-US" altLang="zh-CN" b="1" i="1" smtClean="0">
                                <a:latin typeface="Cambria Math" panose="02040503050406030204" pitchFamily="18" charset="0"/>
                              </a:rPr>
                              <m:t>𝒑</m:t>
                            </m:r>
                            <m:r>
                              <a:rPr lang="en-US" altLang="zh-CN" b="1" i="1" smtClean="0">
                                <a:latin typeface="Cambria Math" panose="02040503050406030204" pitchFamily="18" charset="0"/>
                              </a:rPr>
                              <m:t>=</m:t>
                            </m:r>
                            <m:r>
                              <a:rPr lang="en-US" altLang="zh-CN" b="1" i="1" smtClean="0">
                                <a:latin typeface="Cambria Math" panose="02040503050406030204" pitchFamily="18" charset="0"/>
                              </a:rPr>
                              <m:t>𝒇</m:t>
                            </m:r>
                            <m:r>
                              <a:rPr lang="en-US" altLang="zh-CN" b="1" i="1" smtClean="0">
                                <a:latin typeface="Cambria Math" panose="02040503050406030204" pitchFamily="18" charset="0"/>
                              </a:rPr>
                              <m:t>/</m:t>
                            </m:r>
                            <m:r>
                              <a:rPr lang="en-US" altLang="zh-CN" b="1" i="1" smtClean="0">
                                <a:latin typeface="Cambria Math" panose="02040503050406030204" pitchFamily="18" charset="0"/>
                              </a:rPr>
                              <m:t>𝟐</m:t>
                            </m:r>
                          </m:e>
                          <m:e>
                            <m:r>
                              <a:rPr lang="en-US" altLang="zh-CN" b="1" i="1" smtClean="0">
                                <a:latin typeface="Cambria Math" panose="02040503050406030204" pitchFamily="18" charset="0"/>
                              </a:rPr>
                              <m:t>𝟎</m:t>
                            </m:r>
                            <m:r>
                              <a:rPr lang="en-US" altLang="zh-CN" b="1" i="1" smtClean="0">
                                <a:latin typeface="Cambria Math" panose="02040503050406030204" pitchFamily="18" charset="0"/>
                              </a:rPr>
                              <m:t>,</m:t>
                            </m:r>
                            <m:r>
                              <a:rPr lang="zh-CN" altLang="en-US" i="1">
                                <a:latin typeface="Cambria Math" panose="02040503050406030204" pitchFamily="18" charset="0"/>
                              </a:rPr>
                              <m:t>概率</m:t>
                            </m:r>
                            <m:r>
                              <a:rPr lang="zh-CN" altLang="en-US" i="1" smtClean="0">
                                <a:latin typeface="Cambria Math" panose="02040503050406030204" pitchFamily="18" charset="0"/>
                              </a:rPr>
                              <m:t>为</m:t>
                            </m:r>
                            <m:r>
                              <a:rPr lang="en-US" altLang="zh-CN" b="1" i="1" smtClean="0">
                                <a:latin typeface="Cambria Math" panose="02040503050406030204" pitchFamily="18" charset="0"/>
                              </a:rPr>
                              <m:t>𝒑</m:t>
                            </m:r>
                            <m:r>
                              <a:rPr lang="en-US" altLang="zh-CN" b="1" i="1" smtClean="0">
                                <a:latin typeface="Cambria Math" panose="02040503050406030204" pitchFamily="18" charset="0"/>
                              </a:rPr>
                              <m:t>=</m:t>
                            </m:r>
                            <m:r>
                              <a:rPr lang="en-US" altLang="zh-CN" b="1" i="1" smtClean="0">
                                <a:latin typeface="Cambria Math" panose="02040503050406030204" pitchFamily="18" charset="0"/>
                              </a:rPr>
                              <m:t>𝒇</m:t>
                            </m:r>
                            <m:r>
                              <a:rPr lang="en-US" altLang="zh-CN" b="1" i="1" smtClean="0">
                                <a:latin typeface="Cambria Math" panose="02040503050406030204" pitchFamily="18" charset="0"/>
                              </a:rPr>
                              <m:t>/</m:t>
                            </m:r>
                            <m:r>
                              <a:rPr lang="en-US" altLang="zh-CN" b="1" i="1" smtClean="0">
                                <a:latin typeface="Cambria Math" panose="02040503050406030204" pitchFamily="18" charset="0"/>
                              </a:rPr>
                              <m:t>𝟐</m:t>
                            </m:r>
                          </m:e>
                          <m:e>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𝑩</m:t>
                                </m:r>
                              </m:e>
                              <m:sub>
                                <m:r>
                                  <a:rPr lang="en-US" altLang="zh-CN" b="1" i="1" smtClean="0">
                                    <a:latin typeface="Cambria Math" panose="02040503050406030204" pitchFamily="18" charset="0"/>
                                  </a:rPr>
                                  <m:t>𝒊</m:t>
                                </m:r>
                              </m:sub>
                            </m:sSub>
                            <m:r>
                              <a:rPr lang="en-US" altLang="zh-CN" b="1" i="1" smtClean="0">
                                <a:latin typeface="Cambria Math" panose="02040503050406030204" pitchFamily="18" charset="0"/>
                              </a:rPr>
                              <m:t>,</m:t>
                            </m:r>
                            <m:r>
                              <a:rPr lang="zh-CN" altLang="en-US" i="1">
                                <a:latin typeface="Cambria Math" panose="02040503050406030204" pitchFamily="18" charset="0"/>
                              </a:rPr>
                              <m:t>概率</m:t>
                            </m:r>
                            <m:r>
                              <a:rPr lang="zh-CN" altLang="en-US" i="1" smtClean="0">
                                <a:latin typeface="Cambria Math" panose="02040503050406030204" pitchFamily="18" charset="0"/>
                              </a:rPr>
                              <m:t>为</m:t>
                            </m:r>
                            <m:r>
                              <a:rPr lang="en-US" altLang="zh-CN" b="1" i="1" smtClean="0">
                                <a:latin typeface="Cambria Math" panose="02040503050406030204" pitchFamily="18" charset="0"/>
                              </a:rPr>
                              <m:t>𝒑</m:t>
                            </m:r>
                            <m:r>
                              <a:rPr lang="en-US" altLang="zh-CN" b="1" i="1" smtClean="0">
                                <a:latin typeface="Cambria Math" panose="02040503050406030204" pitchFamily="18" charset="0"/>
                              </a:rPr>
                              <m:t>=</m:t>
                            </m:r>
                            <m:r>
                              <a:rPr lang="en-US" altLang="zh-CN" b="1" i="1" smtClean="0">
                                <a:latin typeface="Cambria Math" panose="02040503050406030204" pitchFamily="18" charset="0"/>
                              </a:rPr>
                              <m:t>𝟏</m:t>
                            </m:r>
                            <m:r>
                              <a:rPr lang="en-US" altLang="zh-CN" b="1" i="1" smtClean="0">
                                <a:latin typeface="Cambria Math" panose="02040503050406030204" pitchFamily="18" charset="0"/>
                              </a:rPr>
                              <m:t>−</m:t>
                            </m:r>
                            <m:r>
                              <a:rPr lang="en-US" altLang="zh-CN" b="1" i="1" smtClean="0">
                                <a:latin typeface="Cambria Math" panose="02040503050406030204" pitchFamily="18" charset="0"/>
                              </a:rPr>
                              <m:t>𝒇</m:t>
                            </m:r>
                          </m:e>
                        </m:eqArr>
                      </m:e>
                    </m:d>
                  </m:oMath>
                </a14:m>
                <a:endParaRPr lang="zh-CN" altLang="en-US" dirty="0"/>
              </a:p>
            </p:txBody>
          </p:sp>
        </mc:Choice>
        <mc:Fallback xmlns="">
          <p:sp>
            <p:nvSpPr>
              <p:cNvPr id="2" name="内容占位符 1">
                <a:extLst>
                  <a:ext uri="{FF2B5EF4-FFF2-40B4-BE49-F238E27FC236}">
                    <a16:creationId xmlns:a16="http://schemas.microsoft.com/office/drawing/2014/main" id="{9E1D7629-9B41-374C-D408-A7C77A6D033F}"/>
                  </a:ext>
                </a:extLst>
              </p:cNvPr>
              <p:cNvSpPr>
                <a:spLocks noGrp="1" noRot="1" noChangeAspect="1" noMove="1" noResize="1" noEditPoints="1" noAdjustHandles="1" noChangeArrowheads="1" noChangeShapeType="1" noTextEdit="1"/>
              </p:cNvSpPr>
              <p:nvPr>
                <p:ph idx="1"/>
              </p:nvPr>
            </p:nvSpPr>
            <p:spPr>
              <a:xfrm>
                <a:off x="348060" y="1208892"/>
                <a:ext cx="11464528" cy="5625295"/>
              </a:xfrm>
              <a:blipFill>
                <a:blip r:embed="rId2"/>
                <a:stretch>
                  <a:fillRect l="-904" t="-1083" r="-3509"/>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2BE3A40C-B628-EF64-CAEE-ADF090AB43D0}"/>
              </a:ext>
            </a:extLst>
          </p:cNvPr>
          <p:cNvSpPr>
            <a:spLocks noGrp="1"/>
          </p:cNvSpPr>
          <p:nvPr>
            <p:ph type="sldNum" sz="quarter" idx="4"/>
          </p:nvPr>
        </p:nvSpPr>
        <p:spPr/>
        <p:txBody>
          <a:bodyPr/>
          <a:lstStyle/>
          <a:p>
            <a:fld id="{4124EDF5-87F7-4AC5-8292-B04417157FC2}" type="slidenum">
              <a:rPr lang="zh-CN" altLang="en-US" smtClean="0"/>
              <a:t>50</a:t>
            </a:fld>
            <a:endParaRPr lang="zh-CN" altLang="en-US"/>
          </a:p>
        </p:txBody>
      </p:sp>
      <p:sp>
        <p:nvSpPr>
          <p:cNvPr id="4" name="标题 3">
            <a:extLst>
              <a:ext uri="{FF2B5EF4-FFF2-40B4-BE49-F238E27FC236}">
                <a16:creationId xmlns:a16="http://schemas.microsoft.com/office/drawing/2014/main" id="{F52BE4C7-B796-B292-3DF2-6CB3B1BDC684}"/>
              </a:ext>
            </a:extLst>
          </p:cNvPr>
          <p:cNvSpPr>
            <a:spLocks noGrp="1"/>
          </p:cNvSpPr>
          <p:nvPr>
            <p:ph type="title"/>
          </p:nvPr>
        </p:nvSpPr>
        <p:spPr/>
        <p:txBody>
          <a:bodyPr/>
          <a:lstStyle/>
          <a:p>
            <a:r>
              <a:rPr lang="zh-CN" altLang="en-US" dirty="0"/>
              <a:t>差分隐私数据采集 </a:t>
            </a:r>
          </a:p>
        </p:txBody>
      </p:sp>
    </p:spTree>
    <p:extLst>
      <p:ext uri="{BB962C8B-B14F-4D97-AF65-F5344CB8AC3E}">
        <p14:creationId xmlns:p14="http://schemas.microsoft.com/office/powerpoint/2010/main" val="40133700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E0B2C760-4B37-321B-B8E9-DDB4D0AAB655}"/>
                  </a:ext>
                </a:extLst>
              </p:cNvPr>
              <p:cNvSpPr>
                <a:spLocks noGrp="1"/>
              </p:cNvSpPr>
              <p:nvPr>
                <p:ph idx="1"/>
              </p:nvPr>
            </p:nvSpPr>
            <p:spPr/>
            <p:txBody>
              <a:bodyPr/>
              <a:lstStyle/>
              <a:p>
                <a:pPr lvl="1">
                  <a:lnSpc>
                    <a:spcPct val="110000"/>
                  </a:lnSpc>
                  <a:spcBef>
                    <a:spcPts val="0"/>
                  </a:spcBef>
                  <a:spcAft>
                    <a:spcPts val="0"/>
                  </a:spcAft>
                </a:pPr>
                <a:r>
                  <a:rPr lang="en-US" altLang="zh-CN" dirty="0"/>
                  <a:t>3</a:t>
                </a:r>
                <a:r>
                  <a:rPr lang="zh-CN" altLang="en-US" dirty="0"/>
                  <a:t>）瞬时性随机响应（</a:t>
                </a:r>
                <a:r>
                  <a:rPr lang="en-US" altLang="zh-CN" dirty="0"/>
                  <a:t>Instantaneous Randomized Response</a:t>
                </a:r>
                <a:r>
                  <a:rPr lang="zh-CN" altLang="en-US" dirty="0"/>
                  <a:t>，</a:t>
                </a:r>
                <a:r>
                  <a:rPr lang="en-US" altLang="zh-CN" dirty="0"/>
                  <a:t>IRR</a:t>
                </a:r>
                <a:r>
                  <a:rPr lang="zh-CN" altLang="en-US" dirty="0"/>
                  <a:t>）。申请一个</a:t>
                </a:r>
                <a:r>
                  <a:rPr lang="en-US" altLang="zh-CN" dirty="0"/>
                  <a:t>k</a:t>
                </a:r>
                <a:r>
                  <a:rPr lang="zh-CN" altLang="en-US" dirty="0"/>
                  <a:t>个位长的向量</a:t>
                </a:r>
                <a:r>
                  <a:rPr lang="en-US" altLang="zh-CN" dirty="0"/>
                  <a:t>S</a:t>
                </a:r>
                <a:r>
                  <a:rPr lang="zh-CN" altLang="en-US" dirty="0"/>
                  <a:t>，并把每个位初始化为</a:t>
                </a:r>
                <a:r>
                  <a:rPr lang="en-US" altLang="zh-CN" dirty="0"/>
                  <a:t>0</a:t>
                </a:r>
                <a:r>
                  <a:rPr lang="zh-CN" altLang="en-US" dirty="0"/>
                  <a:t>。然后根据</a:t>
                </a:r>
                <a14:m>
                  <m:oMath xmlns:m="http://schemas.openxmlformats.org/officeDocument/2006/math">
                    <m:r>
                      <a:rPr lang="en-US" altLang="zh-CN" b="1" i="1" smtClean="0">
                        <a:latin typeface="Cambria Math" panose="02040503050406030204" pitchFamily="18" charset="0"/>
                      </a:rPr>
                      <m:t>𝑩</m:t>
                    </m:r>
                    <m:r>
                      <a:rPr lang="en-US" altLang="zh-CN" b="1" i="1" smtClean="0">
                        <a:latin typeface="Cambria Math" panose="02040503050406030204" pitchFamily="18" charset="0"/>
                      </a:rPr>
                      <m:t>′</m:t>
                    </m:r>
                  </m:oMath>
                </a14:m>
                <a:r>
                  <a:rPr lang="zh-CN" altLang="en-US" dirty="0"/>
                  <a:t>的每一个位，对</a:t>
                </a:r>
                <a:r>
                  <a:rPr lang="en-US" altLang="zh-CN" dirty="0"/>
                  <a:t>S</a:t>
                </a:r>
                <a:r>
                  <a:rPr lang="zh-CN" altLang="en-US" dirty="0"/>
                  <a:t>的相应位按概率公式赋值。该过程被称为瞬时性随机响应。赋值概率公式如下</a:t>
                </a:r>
                <a14:m>
                  <m:oMath xmlns:m="http://schemas.openxmlformats.org/officeDocument/2006/math">
                    <m:r>
                      <a:rPr lang="en-US" altLang="zh-CN" b="1" i="0" smtClean="0">
                        <a:latin typeface="Cambria Math" panose="02040503050406030204" pitchFamily="18" charset="0"/>
                      </a:rPr>
                      <m:t>𝐏</m:t>
                    </m:r>
                    <m:r>
                      <a:rPr lang="en-US" altLang="zh-CN" b="1" i="0" smtClean="0">
                        <a:latin typeface="Cambria Math" panose="02040503050406030204" pitchFamily="18" charset="0"/>
                      </a:rPr>
                      <m:t>(</m:t>
                    </m:r>
                    <m:sSub>
                      <m:sSubPr>
                        <m:ctrlPr>
                          <a:rPr lang="en-US" altLang="zh-CN" b="1" i="1" smtClean="0">
                            <a:latin typeface="Cambria Math" panose="02040503050406030204" pitchFamily="18" charset="0"/>
                          </a:rPr>
                        </m:ctrlPr>
                      </m:sSubPr>
                      <m:e>
                        <m:r>
                          <a:rPr lang="en-US" altLang="zh-CN" b="1" i="0" smtClean="0">
                            <a:latin typeface="Cambria Math" panose="02040503050406030204" pitchFamily="18" charset="0"/>
                          </a:rPr>
                          <m:t>𝐒</m:t>
                        </m:r>
                      </m:e>
                      <m:sub>
                        <m:r>
                          <a:rPr lang="en-US" altLang="zh-CN" b="1" i="0" smtClean="0">
                            <a:latin typeface="Cambria Math" panose="02040503050406030204" pitchFamily="18" charset="0"/>
                          </a:rPr>
                          <m:t>𝐢</m:t>
                        </m:r>
                      </m:sub>
                    </m:sSub>
                    <m:r>
                      <a:rPr lang="en-US" altLang="zh-CN" b="1" i="0" smtClean="0">
                        <a:latin typeface="Cambria Math" panose="02040503050406030204" pitchFamily="18" charset="0"/>
                      </a:rPr>
                      <m:t>=</m:t>
                    </m:r>
                    <m:r>
                      <a:rPr lang="en-US" altLang="zh-CN" b="1" i="0" smtClean="0">
                        <a:latin typeface="Cambria Math" panose="02040503050406030204" pitchFamily="18" charset="0"/>
                      </a:rPr>
                      <m:t>𝟏</m:t>
                    </m:r>
                    <m:r>
                      <a:rPr lang="en-US" altLang="zh-CN" b="1" i="0"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eqArr>
                          <m:eqArrPr>
                            <m:ctrlPr>
                              <a:rPr lang="en-US" altLang="zh-CN" i="1" smtClean="0">
                                <a:latin typeface="Cambria Math" panose="02040503050406030204" pitchFamily="18" charset="0"/>
                              </a:rPr>
                            </m:ctrlPr>
                          </m:eqArrPr>
                          <m:e>
                            <m:r>
                              <a:rPr lang="en-US" altLang="zh-CN" b="1" i="1" smtClean="0">
                                <a:latin typeface="Cambria Math" panose="02040503050406030204" pitchFamily="18" charset="0"/>
                              </a:rPr>
                              <m:t>𝒒</m:t>
                            </m:r>
                            <m:r>
                              <a:rPr lang="en-US" altLang="zh-CN" b="1" i="1" smtClean="0">
                                <a:latin typeface="Cambria Math" panose="02040503050406030204" pitchFamily="18" charset="0"/>
                              </a:rPr>
                              <m:t>,</m:t>
                            </m:r>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𝑩</m:t>
                                </m:r>
                              </m:e>
                              <m:sub>
                                <m:r>
                                  <a:rPr lang="en-US" altLang="zh-CN" b="1" i="1" smtClean="0">
                                    <a:latin typeface="Cambria Math" panose="02040503050406030204" pitchFamily="18" charset="0"/>
                                  </a:rPr>
                                  <m:t>𝒊</m:t>
                                </m:r>
                              </m:sub>
                              <m:sup>
                                <m:r>
                                  <a:rPr lang="en-US" altLang="zh-CN" b="1" i="1" smtClean="0">
                                    <a:latin typeface="Cambria Math" panose="02040503050406030204" pitchFamily="18" charset="0"/>
                                  </a:rPr>
                                  <m:t>′</m:t>
                                </m:r>
                              </m:sup>
                            </m:sSubSup>
                            <m:r>
                              <a:rPr lang="en-US" altLang="zh-CN" b="1" i="1" smtClean="0">
                                <a:latin typeface="Cambria Math" panose="02040503050406030204" pitchFamily="18" charset="0"/>
                              </a:rPr>
                              <m:t>=</m:t>
                            </m:r>
                            <m:r>
                              <a:rPr lang="en-US" altLang="zh-CN" b="1" i="1" smtClean="0">
                                <a:latin typeface="Cambria Math" panose="02040503050406030204" pitchFamily="18" charset="0"/>
                              </a:rPr>
                              <m:t>𝟏</m:t>
                            </m:r>
                          </m:e>
                          <m:e>
                            <m:r>
                              <a:rPr lang="en-US" altLang="zh-CN" b="1" i="1" smtClean="0">
                                <a:latin typeface="Cambria Math" panose="02040503050406030204" pitchFamily="18" charset="0"/>
                              </a:rPr>
                              <m:t>𝒑</m:t>
                            </m:r>
                            <m:r>
                              <a:rPr lang="en-US" altLang="zh-CN" b="1" i="1" smtClean="0">
                                <a:latin typeface="Cambria Math" panose="02040503050406030204" pitchFamily="18" charset="0"/>
                              </a:rPr>
                              <m:t>,</m:t>
                            </m:r>
                            <m:sSubSup>
                              <m:sSubSupPr>
                                <m:ctrlPr>
                                  <a:rPr lang="en-US" altLang="zh-CN" b="1" i="1" smtClean="0">
                                    <a:latin typeface="Cambria Math" panose="02040503050406030204" pitchFamily="18" charset="0"/>
                                  </a:rPr>
                                </m:ctrlPr>
                              </m:sSubSupPr>
                              <m:e>
                                <m:r>
                                  <a:rPr lang="en-US" altLang="zh-CN" b="1" i="1" smtClean="0">
                                    <a:latin typeface="Cambria Math" panose="02040503050406030204" pitchFamily="18" charset="0"/>
                                  </a:rPr>
                                  <m:t>𝑩</m:t>
                                </m:r>
                              </m:e>
                              <m:sub>
                                <m:r>
                                  <a:rPr lang="en-US" altLang="zh-CN" b="1" i="1" smtClean="0">
                                    <a:latin typeface="Cambria Math" panose="02040503050406030204" pitchFamily="18" charset="0"/>
                                  </a:rPr>
                                  <m:t>𝒊</m:t>
                                </m:r>
                              </m:sub>
                              <m:sup>
                                <m:r>
                                  <a:rPr lang="en-US" altLang="zh-CN" b="1" i="1" smtClean="0">
                                    <a:latin typeface="Cambria Math" panose="02040503050406030204" pitchFamily="18" charset="0"/>
                                  </a:rPr>
                                  <m:t>′</m:t>
                                </m:r>
                              </m:sup>
                            </m:sSubSup>
                            <m:r>
                              <a:rPr lang="en-US" altLang="zh-CN" b="1" i="1" smtClean="0">
                                <a:latin typeface="Cambria Math" panose="02040503050406030204" pitchFamily="18" charset="0"/>
                              </a:rPr>
                              <m:t>=</m:t>
                            </m:r>
                            <m:r>
                              <a:rPr lang="en-US" altLang="zh-CN" b="1" i="1" smtClean="0">
                                <a:latin typeface="Cambria Math" panose="02040503050406030204" pitchFamily="18" charset="0"/>
                              </a:rPr>
                              <m:t>𝟎</m:t>
                            </m:r>
                          </m:e>
                        </m:eqArr>
                      </m:e>
                    </m:d>
                  </m:oMath>
                </a14:m>
                <a:endParaRPr lang="en-US" altLang="zh-CN" dirty="0"/>
              </a:p>
              <a:p>
                <a:pPr lvl="1">
                  <a:lnSpc>
                    <a:spcPct val="110000"/>
                  </a:lnSpc>
                  <a:spcBef>
                    <a:spcPts val="0"/>
                  </a:spcBef>
                  <a:spcAft>
                    <a:spcPts val="0"/>
                  </a:spcAft>
                </a:pPr>
                <a:r>
                  <a:rPr lang="en-US" altLang="zh-CN" dirty="0"/>
                  <a:t>4</a:t>
                </a:r>
                <a:r>
                  <a:rPr lang="zh-CN" altLang="en-US" dirty="0"/>
                  <a:t>）汇报数据。将得到的结果</a:t>
                </a:r>
                <a:r>
                  <a:rPr lang="en-US" altLang="zh-CN" dirty="0"/>
                  <a:t>S</a:t>
                </a:r>
                <a:r>
                  <a:rPr lang="zh-CN" altLang="en-US" dirty="0"/>
                  <a:t>上传给服务器，另外还需上传向量长度</a:t>
                </a:r>
                <a:r>
                  <a:rPr lang="en-US" altLang="zh-CN" dirty="0"/>
                  <a:t>k</a:t>
                </a:r>
                <a:r>
                  <a:rPr lang="zh-CN" altLang="en-US" dirty="0"/>
                  <a:t>、参数</a:t>
                </a:r>
                <a:r>
                  <a:rPr lang="en-US" altLang="zh-CN" dirty="0"/>
                  <a:t>f</a:t>
                </a:r>
                <a:r>
                  <a:rPr lang="zh-CN" altLang="en-US" dirty="0"/>
                  <a:t>，以及 概率</a:t>
                </a:r>
                <a:r>
                  <a:rPr lang="en-US" altLang="zh-CN" dirty="0"/>
                  <a:t>p</a:t>
                </a:r>
                <a:r>
                  <a:rPr lang="zh-CN" altLang="en-US" dirty="0"/>
                  <a:t>和</a:t>
                </a:r>
                <a:r>
                  <a:rPr lang="en-US" altLang="zh-CN" dirty="0"/>
                  <a:t>q</a:t>
                </a:r>
                <a:r>
                  <a:rPr lang="zh-CN" altLang="en-US" dirty="0"/>
                  <a:t>。之后服务器再对收集到的数据进行聚合和后处理。</a:t>
                </a:r>
              </a:p>
            </p:txBody>
          </p:sp>
        </mc:Choice>
        <mc:Fallback xmlns="">
          <p:sp>
            <p:nvSpPr>
              <p:cNvPr id="2" name="内容占位符 1">
                <a:extLst>
                  <a:ext uri="{FF2B5EF4-FFF2-40B4-BE49-F238E27FC236}">
                    <a16:creationId xmlns:a16="http://schemas.microsoft.com/office/drawing/2014/main" id="{E0B2C760-4B37-321B-B8E9-DDB4D0AAB655}"/>
                  </a:ext>
                </a:extLst>
              </p:cNvPr>
              <p:cNvSpPr>
                <a:spLocks noGrp="1" noRot="1" noChangeAspect="1" noMove="1" noResize="1" noEditPoints="1" noAdjustHandles="1" noChangeArrowheads="1" noChangeShapeType="1" noTextEdit="1"/>
              </p:cNvSpPr>
              <p:nvPr>
                <p:ph idx="1"/>
              </p:nvPr>
            </p:nvSpPr>
            <p:spPr>
              <a:blipFill>
                <a:blip r:embed="rId2"/>
                <a:stretch>
                  <a:fillRect t="-1087" r="-638"/>
                </a:stretch>
              </a:blipFill>
            </p:spPr>
            <p:txBody>
              <a:bodyPr/>
              <a:lstStyle/>
              <a:p>
                <a:r>
                  <a:rPr lang="zh-CN" altLang="en-US">
                    <a:noFill/>
                  </a:rPr>
                  <a:t> </a:t>
                </a:r>
              </a:p>
            </p:txBody>
          </p:sp>
        </mc:Fallback>
      </mc:AlternateContent>
      <p:sp>
        <p:nvSpPr>
          <p:cNvPr id="3" name="灯片编号占位符 2">
            <a:extLst>
              <a:ext uri="{FF2B5EF4-FFF2-40B4-BE49-F238E27FC236}">
                <a16:creationId xmlns:a16="http://schemas.microsoft.com/office/drawing/2014/main" id="{4A68195A-11FE-5726-964B-E6217CE3AAA1}"/>
              </a:ext>
            </a:extLst>
          </p:cNvPr>
          <p:cNvSpPr>
            <a:spLocks noGrp="1"/>
          </p:cNvSpPr>
          <p:nvPr>
            <p:ph type="sldNum" sz="quarter" idx="4"/>
          </p:nvPr>
        </p:nvSpPr>
        <p:spPr/>
        <p:txBody>
          <a:bodyPr/>
          <a:lstStyle/>
          <a:p>
            <a:fld id="{4124EDF5-87F7-4AC5-8292-B04417157FC2}" type="slidenum">
              <a:rPr lang="zh-CN" altLang="en-US" smtClean="0"/>
              <a:t>51</a:t>
            </a:fld>
            <a:endParaRPr lang="zh-CN" altLang="en-US"/>
          </a:p>
        </p:txBody>
      </p:sp>
      <p:sp>
        <p:nvSpPr>
          <p:cNvPr id="4" name="标题 3">
            <a:extLst>
              <a:ext uri="{FF2B5EF4-FFF2-40B4-BE49-F238E27FC236}">
                <a16:creationId xmlns:a16="http://schemas.microsoft.com/office/drawing/2014/main" id="{A8240017-40DE-FBB7-A6AE-40DE67FF9E46}"/>
              </a:ext>
            </a:extLst>
          </p:cNvPr>
          <p:cNvSpPr>
            <a:spLocks noGrp="1"/>
          </p:cNvSpPr>
          <p:nvPr>
            <p:ph type="title"/>
          </p:nvPr>
        </p:nvSpPr>
        <p:spPr/>
        <p:txBody>
          <a:bodyPr/>
          <a:lstStyle/>
          <a:p>
            <a:r>
              <a:rPr lang="zh-CN" altLang="en-US" dirty="0"/>
              <a:t>差分隐私数据采集 </a:t>
            </a:r>
          </a:p>
        </p:txBody>
      </p:sp>
      <p:pic>
        <p:nvPicPr>
          <p:cNvPr id="5" name="图片 4">
            <a:extLst>
              <a:ext uri="{FF2B5EF4-FFF2-40B4-BE49-F238E27FC236}">
                <a16:creationId xmlns:a16="http://schemas.microsoft.com/office/drawing/2014/main" id="{789E8767-D4D1-EA41-047C-9232489EACDF}"/>
              </a:ext>
            </a:extLst>
          </p:cNvPr>
          <p:cNvPicPr>
            <a:picLocks noChangeAspect="1"/>
          </p:cNvPicPr>
          <p:nvPr/>
        </p:nvPicPr>
        <p:blipFill>
          <a:blip r:embed="rId3"/>
          <a:stretch>
            <a:fillRect/>
          </a:stretch>
        </p:blipFill>
        <p:spPr>
          <a:xfrm>
            <a:off x="2000928" y="3677970"/>
            <a:ext cx="7350560" cy="3180030"/>
          </a:xfrm>
          <a:prstGeom prst="rect">
            <a:avLst/>
          </a:prstGeom>
        </p:spPr>
      </p:pic>
    </p:spTree>
    <p:extLst>
      <p:ext uri="{BB962C8B-B14F-4D97-AF65-F5344CB8AC3E}">
        <p14:creationId xmlns:p14="http://schemas.microsoft.com/office/powerpoint/2010/main" val="38202800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8E597602-112C-42E1-5FB9-08D667E3A0AE}"/>
              </a:ext>
            </a:extLst>
          </p:cNvPr>
          <p:cNvSpPr>
            <a:spLocks noGrp="1"/>
          </p:cNvSpPr>
          <p:nvPr>
            <p:ph idx="1"/>
          </p:nvPr>
        </p:nvSpPr>
        <p:spPr>
          <a:xfrm>
            <a:off x="371301" y="1232705"/>
            <a:ext cx="3436318" cy="5047042"/>
          </a:xfrm>
        </p:spPr>
        <p:txBody>
          <a:bodyPr/>
          <a:lstStyle/>
          <a:p>
            <a:r>
              <a:rPr lang="zh-CN" altLang="en-US" dirty="0"/>
              <a:t>机器学习拟合敏感数据易泄露隐私，差分隐私通过在训练或输出中加噪声保护数据，有效抵御逆向攻击，已广泛应用于机器学习模型。</a:t>
            </a:r>
          </a:p>
        </p:txBody>
      </p:sp>
      <p:sp>
        <p:nvSpPr>
          <p:cNvPr id="3" name="灯片编号占位符 2">
            <a:extLst>
              <a:ext uri="{FF2B5EF4-FFF2-40B4-BE49-F238E27FC236}">
                <a16:creationId xmlns:a16="http://schemas.microsoft.com/office/drawing/2014/main" id="{FB5E5164-5630-22E8-A523-5DBA1DE8C3F8}"/>
              </a:ext>
            </a:extLst>
          </p:cNvPr>
          <p:cNvSpPr>
            <a:spLocks noGrp="1"/>
          </p:cNvSpPr>
          <p:nvPr>
            <p:ph type="sldNum" sz="quarter" idx="4"/>
          </p:nvPr>
        </p:nvSpPr>
        <p:spPr/>
        <p:txBody>
          <a:bodyPr/>
          <a:lstStyle/>
          <a:p>
            <a:fld id="{4124EDF5-87F7-4AC5-8292-B04417157FC2}" type="slidenum">
              <a:rPr lang="zh-CN" altLang="en-US" smtClean="0"/>
              <a:t>52</a:t>
            </a:fld>
            <a:endParaRPr lang="zh-CN" altLang="en-US"/>
          </a:p>
        </p:txBody>
      </p:sp>
      <p:sp>
        <p:nvSpPr>
          <p:cNvPr id="4" name="标题 3">
            <a:extLst>
              <a:ext uri="{FF2B5EF4-FFF2-40B4-BE49-F238E27FC236}">
                <a16:creationId xmlns:a16="http://schemas.microsoft.com/office/drawing/2014/main" id="{AA7FE2E2-79D1-EE2F-7101-9C4382EA013A}"/>
              </a:ext>
            </a:extLst>
          </p:cNvPr>
          <p:cNvSpPr>
            <a:spLocks noGrp="1"/>
          </p:cNvSpPr>
          <p:nvPr>
            <p:ph type="title"/>
          </p:nvPr>
        </p:nvSpPr>
        <p:spPr/>
        <p:txBody>
          <a:bodyPr/>
          <a:lstStyle/>
          <a:p>
            <a:r>
              <a:rPr lang="zh-CN" altLang="en-US" dirty="0"/>
              <a:t>差分隐私机器学习</a:t>
            </a:r>
          </a:p>
        </p:txBody>
      </p:sp>
      <p:pic>
        <p:nvPicPr>
          <p:cNvPr id="5" name="图片 4">
            <a:extLst>
              <a:ext uri="{FF2B5EF4-FFF2-40B4-BE49-F238E27FC236}">
                <a16:creationId xmlns:a16="http://schemas.microsoft.com/office/drawing/2014/main" id="{4A182534-83EA-235F-A326-B1FB791503A3}"/>
              </a:ext>
            </a:extLst>
          </p:cNvPr>
          <p:cNvPicPr>
            <a:picLocks noChangeAspect="1"/>
          </p:cNvPicPr>
          <p:nvPr/>
        </p:nvPicPr>
        <p:blipFill>
          <a:blip r:embed="rId2"/>
          <a:stretch>
            <a:fillRect/>
          </a:stretch>
        </p:blipFill>
        <p:spPr>
          <a:xfrm>
            <a:off x="4301950" y="80916"/>
            <a:ext cx="7828137" cy="6696167"/>
          </a:xfrm>
          <a:prstGeom prst="rect">
            <a:avLst/>
          </a:prstGeom>
        </p:spPr>
      </p:pic>
    </p:spTree>
    <p:extLst>
      <p:ext uri="{BB962C8B-B14F-4D97-AF65-F5344CB8AC3E}">
        <p14:creationId xmlns:p14="http://schemas.microsoft.com/office/powerpoint/2010/main" val="4077040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3DAC7EA3-DF99-C7A6-1E30-4D9FF5FE5937}"/>
              </a:ext>
            </a:extLst>
          </p:cNvPr>
          <p:cNvSpPr>
            <a:spLocks noGrp="1"/>
          </p:cNvSpPr>
          <p:nvPr>
            <p:ph type="sldNum" sz="quarter" idx="4"/>
          </p:nvPr>
        </p:nvSpPr>
        <p:spPr/>
        <p:txBody>
          <a:bodyPr/>
          <a:lstStyle/>
          <a:p>
            <a:fld id="{4124EDF5-87F7-4AC5-8292-B04417157FC2}" type="slidenum">
              <a:rPr lang="zh-CN" altLang="en-US" smtClean="0"/>
              <a:t>53</a:t>
            </a:fld>
            <a:endParaRPr lang="zh-CN" altLang="en-US"/>
          </a:p>
        </p:txBody>
      </p:sp>
      <p:sp>
        <p:nvSpPr>
          <p:cNvPr id="4" name="标题 3">
            <a:extLst>
              <a:ext uri="{FF2B5EF4-FFF2-40B4-BE49-F238E27FC236}">
                <a16:creationId xmlns:a16="http://schemas.microsoft.com/office/drawing/2014/main" id="{82846803-9BFB-CFA0-70FD-642B607C4941}"/>
              </a:ext>
            </a:extLst>
          </p:cNvPr>
          <p:cNvSpPr>
            <a:spLocks noGrp="1"/>
          </p:cNvSpPr>
          <p:nvPr>
            <p:ph type="title"/>
          </p:nvPr>
        </p:nvSpPr>
        <p:spPr/>
        <p:txBody>
          <a:bodyPr/>
          <a:lstStyle/>
          <a:p>
            <a:r>
              <a:rPr lang="zh-CN" altLang="en-US" dirty="0"/>
              <a:t>差分隐私机器学习</a:t>
            </a:r>
          </a:p>
        </p:txBody>
      </p:sp>
      <p:sp>
        <p:nvSpPr>
          <p:cNvPr id="5" name="Rectangle 1">
            <a:extLst>
              <a:ext uri="{FF2B5EF4-FFF2-40B4-BE49-F238E27FC236}">
                <a16:creationId xmlns:a16="http://schemas.microsoft.com/office/drawing/2014/main" id="{4C33D810-C7EE-F500-3737-E3D6522A0E63}"/>
              </a:ext>
            </a:extLst>
          </p:cNvPr>
          <p:cNvSpPr>
            <a:spLocks noGrp="1" noChangeArrowheads="1"/>
          </p:cNvSpPr>
          <p:nvPr>
            <p:ph idx="1"/>
          </p:nvPr>
        </p:nvSpPr>
        <p:spPr bwMode="auto">
          <a:xfrm>
            <a:off x="371303" y="1128407"/>
            <a:ext cx="10924778" cy="5500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latinLnBrk="0">
              <a:spcBef>
                <a:spcPts val="200"/>
              </a:spcBef>
              <a:spcAft>
                <a:spcPts val="200"/>
              </a:spcAft>
              <a:buSzTx/>
              <a:buFontTx/>
              <a:buChar char="•"/>
              <a:tabLst/>
            </a:pPr>
            <a:r>
              <a:rPr lang="zh-CN" altLang="zh-CN" dirty="0"/>
              <a:t>输入扰动</a:t>
            </a:r>
          </a:p>
          <a:p>
            <a:pPr lvl="1">
              <a:spcBef>
                <a:spcPts val="200"/>
              </a:spcBef>
              <a:spcAft>
                <a:spcPts val="200"/>
              </a:spcAft>
            </a:pPr>
            <a:r>
              <a:rPr lang="zh-CN" altLang="zh-CN" dirty="0"/>
              <a:t>训练前随机扰动数据，避免模型接触原始数据</a:t>
            </a:r>
          </a:p>
          <a:p>
            <a:pPr lvl="1">
              <a:spcBef>
                <a:spcPts val="200"/>
              </a:spcBef>
              <a:spcAft>
                <a:spcPts val="200"/>
              </a:spcAft>
            </a:pPr>
            <a:r>
              <a:rPr lang="zh-CN" altLang="zh-CN" dirty="0"/>
              <a:t>方法：差分隐私数据合成、本地化差分隐私扰动</a:t>
            </a:r>
          </a:p>
          <a:p>
            <a:pPr marR="0" lvl="0" defTabSz="914400" latinLnBrk="0">
              <a:spcBef>
                <a:spcPts val="200"/>
              </a:spcBef>
              <a:spcAft>
                <a:spcPts val="200"/>
              </a:spcAft>
              <a:buSzTx/>
              <a:buFontTx/>
              <a:buChar char="•"/>
              <a:tabLst/>
            </a:pPr>
            <a:r>
              <a:rPr lang="zh-CN" altLang="zh-CN" dirty="0"/>
              <a:t>中间参数扰动</a:t>
            </a:r>
          </a:p>
          <a:p>
            <a:pPr lvl="1">
              <a:spcBef>
                <a:spcPts val="200"/>
              </a:spcBef>
              <a:spcAft>
                <a:spcPts val="200"/>
              </a:spcAft>
            </a:pPr>
            <a:r>
              <a:rPr lang="zh-CN" altLang="zh-CN" dirty="0"/>
              <a:t>训练中对梯度或特征参数加噪声</a:t>
            </a:r>
          </a:p>
          <a:p>
            <a:pPr lvl="1">
              <a:spcBef>
                <a:spcPts val="200"/>
              </a:spcBef>
              <a:spcAft>
                <a:spcPts val="200"/>
              </a:spcAft>
            </a:pPr>
            <a:r>
              <a:rPr lang="zh-CN" altLang="zh-CN" dirty="0"/>
              <a:t>常见方式：梯度扰动，应用广泛，效果较优</a:t>
            </a:r>
          </a:p>
          <a:p>
            <a:pPr marR="0" lvl="0" defTabSz="914400" latinLnBrk="0">
              <a:spcBef>
                <a:spcPts val="200"/>
              </a:spcBef>
              <a:spcAft>
                <a:spcPts val="200"/>
              </a:spcAft>
              <a:buSzTx/>
              <a:buFontTx/>
              <a:buChar char="•"/>
              <a:tabLst/>
            </a:pPr>
            <a:r>
              <a:rPr lang="zh-CN" altLang="zh-CN" dirty="0"/>
              <a:t>目标扰动</a:t>
            </a:r>
          </a:p>
          <a:p>
            <a:pPr lvl="1">
              <a:spcBef>
                <a:spcPts val="200"/>
              </a:spcBef>
              <a:spcAft>
                <a:spcPts val="200"/>
              </a:spcAft>
            </a:pPr>
            <a:r>
              <a:rPr lang="zh-CN" altLang="zh-CN" dirty="0"/>
              <a:t>在目标函数或其展开式系数中加噪声</a:t>
            </a:r>
          </a:p>
          <a:p>
            <a:pPr lvl="1">
              <a:spcBef>
                <a:spcPts val="200"/>
              </a:spcBef>
              <a:spcAft>
                <a:spcPts val="200"/>
              </a:spcAft>
            </a:pPr>
            <a:r>
              <a:rPr lang="zh-CN" altLang="zh-CN" dirty="0"/>
              <a:t>与迭代次数无关，但可能导致模型收敛性与性能下降</a:t>
            </a:r>
          </a:p>
          <a:p>
            <a:pPr marR="0" lvl="0" defTabSz="914400" latinLnBrk="0">
              <a:spcBef>
                <a:spcPts val="200"/>
              </a:spcBef>
              <a:spcAft>
                <a:spcPts val="200"/>
              </a:spcAft>
              <a:buSzTx/>
              <a:buFontTx/>
              <a:buChar char="•"/>
              <a:tabLst/>
            </a:pPr>
            <a:r>
              <a:rPr lang="zh-CN" altLang="zh-CN" dirty="0"/>
              <a:t>输出扰动</a:t>
            </a:r>
          </a:p>
          <a:p>
            <a:pPr lvl="1">
              <a:spcBef>
                <a:spcPts val="200"/>
              </a:spcBef>
              <a:spcAft>
                <a:spcPts val="200"/>
              </a:spcAft>
            </a:pPr>
            <a:r>
              <a:rPr lang="zh-CN" altLang="zh-CN" dirty="0"/>
              <a:t>在训练后对模型参数或预测输出加噪声</a:t>
            </a:r>
          </a:p>
          <a:p>
            <a:pPr lvl="1">
              <a:spcBef>
                <a:spcPts val="200"/>
              </a:spcBef>
              <a:spcAft>
                <a:spcPts val="200"/>
              </a:spcAft>
            </a:pPr>
            <a:r>
              <a:rPr lang="zh-CN" altLang="zh-CN" dirty="0"/>
              <a:t>可防止模型提取攻击、成员推断攻击</a:t>
            </a:r>
          </a:p>
        </p:txBody>
      </p:sp>
      <p:sp>
        <p:nvSpPr>
          <p:cNvPr id="6" name="文本框 5">
            <a:extLst>
              <a:ext uri="{FF2B5EF4-FFF2-40B4-BE49-F238E27FC236}">
                <a16:creationId xmlns:a16="http://schemas.microsoft.com/office/drawing/2014/main" id="{CB184854-5F84-35D6-ED9F-838ADA44E9D8}"/>
              </a:ext>
            </a:extLst>
          </p:cNvPr>
          <p:cNvSpPr txBox="1"/>
          <p:nvPr/>
        </p:nvSpPr>
        <p:spPr>
          <a:xfrm>
            <a:off x="7823494" y="2748941"/>
            <a:ext cx="4020446" cy="2031325"/>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lvl="0"/>
            <a:r>
              <a:rPr lang="zh-CN" altLang="zh-CN" dirty="0"/>
              <a:t>总结</a:t>
            </a:r>
            <a:r>
              <a:rPr lang="zh-CN" altLang="en-US" dirty="0"/>
              <a:t>：</a:t>
            </a:r>
            <a:endParaRPr lang="zh-CN" altLang="zh-CN" dirty="0"/>
          </a:p>
          <a:p>
            <a:pPr marL="285750" indent="-285750">
              <a:buFont typeface="Arial" panose="020B0604020202020204" pitchFamily="34" charset="0"/>
              <a:buChar char="•"/>
            </a:pPr>
            <a:r>
              <a:rPr lang="zh-CN" altLang="zh-CN" dirty="0"/>
              <a:t>差分隐私相比加密计算开销更低，但往往假设最强攻击者，牺牲部分可用性</a:t>
            </a:r>
          </a:p>
          <a:p>
            <a:pPr marL="285750" indent="-285750">
              <a:buFont typeface="Arial" panose="020B0604020202020204" pitchFamily="34" charset="0"/>
              <a:buChar char="•"/>
            </a:pPr>
            <a:r>
              <a:rPr lang="zh-CN" altLang="zh-CN" dirty="0"/>
              <a:t>本地化差分隐私可在采集环节保护用户数据，避免服务器接触原始数据</a:t>
            </a:r>
          </a:p>
        </p:txBody>
      </p:sp>
    </p:spTree>
    <p:extLst>
      <p:ext uri="{BB962C8B-B14F-4D97-AF65-F5344CB8AC3E}">
        <p14:creationId xmlns:p14="http://schemas.microsoft.com/office/powerpoint/2010/main" val="6515056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本章首先学习了隐私的定义、分类、度量和量化表示方法，然后探讨了完美隐私和威胁分析。</a:t>
            </a:r>
            <a:endParaRPr lang="en-US" altLang="zh-CN" dirty="0"/>
          </a:p>
          <a:p>
            <a:r>
              <a:rPr lang="zh-CN" altLang="en-US" dirty="0"/>
              <a:t>接着介绍了匿名化技术的发布</a:t>
            </a:r>
            <a:r>
              <a:rPr lang="en-US" altLang="zh-CN" dirty="0"/>
              <a:t>-</a:t>
            </a:r>
            <a:r>
              <a:rPr lang="zh-CN" altLang="en-US" dirty="0"/>
              <a:t>遗忘模型和反匿名化技术给人们带来的困扰，学习了常用隐私保护模型和差分隐私保护的理论。</a:t>
            </a:r>
            <a:endParaRPr lang="en-US" altLang="zh-CN" dirty="0"/>
          </a:p>
          <a:p>
            <a:r>
              <a:rPr lang="zh-CN" altLang="en-US" dirty="0"/>
              <a:t>最后介绍了本地化差分隐私技术与差分隐私应用。</a:t>
            </a:r>
            <a:endParaRPr lang="en-US" dirty="0"/>
          </a:p>
        </p:txBody>
      </p:sp>
      <p:sp>
        <p:nvSpPr>
          <p:cNvPr id="3" name="灯片编号占位符 2"/>
          <p:cNvSpPr>
            <a:spLocks noGrp="1"/>
          </p:cNvSpPr>
          <p:nvPr>
            <p:ph type="sldNum" sz="quarter" idx="4"/>
          </p:nvPr>
        </p:nvSpPr>
        <p:spPr/>
        <p:txBody>
          <a:bodyPr/>
          <a:lstStyle/>
          <a:p>
            <a:fld id="{4124EDF5-87F7-4AC5-8292-B04417157FC2}" type="slidenum">
              <a:rPr lang="zh-CN" altLang="en-US" smtClean="0"/>
              <a:t>54</a:t>
            </a:fld>
            <a:endParaRPr lang="zh-CN" altLang="en-US"/>
          </a:p>
        </p:txBody>
      </p:sp>
      <p:sp>
        <p:nvSpPr>
          <p:cNvPr id="4" name="标题 3"/>
          <p:cNvSpPr>
            <a:spLocks noGrp="1"/>
          </p:cNvSpPr>
          <p:nvPr>
            <p:ph type="title"/>
          </p:nvPr>
        </p:nvSpPr>
        <p:spPr/>
        <p:txBody>
          <a:bodyPr/>
          <a:lstStyle/>
          <a:p>
            <a:r>
              <a:rPr lang="zh-CN" altLang="en-US" dirty="0"/>
              <a:t>小结</a:t>
            </a:r>
            <a:endParaRPr lang="en-US" dirty="0"/>
          </a:p>
        </p:txBody>
      </p:sp>
    </p:spTree>
    <p:extLst>
      <p:ext uri="{BB962C8B-B14F-4D97-AF65-F5344CB8AC3E}">
        <p14:creationId xmlns:p14="http://schemas.microsoft.com/office/powerpoint/2010/main" val="2919880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感谢聆听！</a:t>
            </a:r>
          </a:p>
        </p:txBody>
      </p:sp>
      <p:sp>
        <p:nvSpPr>
          <p:cNvPr id="3" name="副标题 2"/>
          <p:cNvSpPr>
            <a:spLocks noGrp="1"/>
          </p:cNvSpPr>
          <p:nvPr>
            <p:ph type="subTitle" idx="1"/>
          </p:nvPr>
        </p:nvSpPr>
        <p:spPr/>
        <p:txBody>
          <a:bodyPr/>
          <a:lstStyle/>
          <a:p>
            <a:endParaRPr lang="zh-CN" altLang="en-US" dirty="0"/>
          </a:p>
        </p:txBody>
      </p:sp>
    </p:spTree>
    <p:extLst>
      <p:ext uri="{BB962C8B-B14F-4D97-AF65-F5344CB8AC3E}">
        <p14:creationId xmlns:p14="http://schemas.microsoft.com/office/powerpoint/2010/main" val="24620098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1_ITTC_template">
  <a:themeElements>
    <a:clrScheme name="自定义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实验室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实验室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实验室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实验室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实验室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实验室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实验室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实验室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北邮模板-简洁.potx" id="{39B92645-6DE8-4953-96CF-0CF18AB890D9}" vid="{BE7556B3-04B8-423A-9E3D-6FFFE38E5190}"/>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北邮模板-简洁</Template>
  <TotalTime>12249</TotalTime>
  <Words>6772</Words>
  <Application>Microsoft Office PowerPoint</Application>
  <PresentationFormat>宽屏</PresentationFormat>
  <Paragraphs>358</Paragraphs>
  <Slides>55</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55</vt:i4>
      </vt:variant>
    </vt:vector>
  </HeadingPairs>
  <TitlesOfParts>
    <vt:vector size="64" baseType="lpstr">
      <vt:lpstr>等线</vt:lpstr>
      <vt:lpstr>微软雅黑</vt:lpstr>
      <vt:lpstr>微软雅黑 Light</vt:lpstr>
      <vt:lpstr>Arial</vt:lpstr>
      <vt:lpstr>Cambria Math</vt:lpstr>
      <vt:lpstr>Pristina</vt:lpstr>
      <vt:lpstr>Times New Roman</vt:lpstr>
      <vt:lpstr>Verdana</vt:lpstr>
      <vt:lpstr>1_ITTC_template</vt:lpstr>
      <vt:lpstr>大数据安全与隐私保护</vt:lpstr>
      <vt:lpstr>内容提纲</vt:lpstr>
      <vt:lpstr>引言</vt:lpstr>
      <vt:lpstr>PowerPoint 演示文稿</vt:lpstr>
      <vt:lpstr>隐私</vt:lpstr>
      <vt:lpstr>隐私</vt:lpstr>
      <vt:lpstr>PowerPoint 演示文稿</vt:lpstr>
      <vt:lpstr>案例分析：用户隐私泄露事件</vt:lpstr>
      <vt:lpstr>PowerPoint 演示文稿</vt:lpstr>
      <vt:lpstr>数据匿名化技术</vt:lpstr>
      <vt:lpstr>数据匿名化技术</vt:lpstr>
      <vt:lpstr>匿名技术：发布-遗忘模型 </vt:lpstr>
      <vt:lpstr>匿名技术：发布-遗忘模型 </vt:lpstr>
      <vt:lpstr>数据脱敏技术：抑制、泛化、聚合 </vt:lpstr>
      <vt:lpstr>数据脱敏技术：抑制、泛化、聚合</vt:lpstr>
      <vt:lpstr>技术挑战</vt:lpstr>
      <vt:lpstr>PowerPoint 演示文稿</vt:lpstr>
      <vt:lpstr>k 重匿名隐私保护模型</vt:lpstr>
      <vt:lpstr>k 重匿名隐私保护模型</vt:lpstr>
      <vt:lpstr>k 重匿名隐私保护模型</vt:lpstr>
      <vt:lpstr>l-多样性隐私保护模型</vt:lpstr>
      <vt:lpstr>l-多样性隐私保护模型</vt:lpstr>
      <vt:lpstr>t-相近性隐私保护模型 </vt:lpstr>
      <vt:lpstr>PowerPoint 演示文稿</vt:lpstr>
      <vt:lpstr>差分隐私模型简介 </vt:lpstr>
      <vt:lpstr>差分隐私的原理</vt:lpstr>
      <vt:lpstr>差分隐私的原理</vt:lpstr>
      <vt:lpstr>拉普拉斯机制</vt:lpstr>
      <vt:lpstr>拉普拉斯机制定义</vt:lpstr>
      <vt:lpstr>拉普拉斯机制用例</vt:lpstr>
      <vt:lpstr>高斯机制</vt:lpstr>
      <vt:lpstr>为什么需要高斯机制</vt:lpstr>
      <vt:lpstr>指数机制</vt:lpstr>
      <vt:lpstr>指数机制用例</vt:lpstr>
      <vt:lpstr>应用与挑战</vt:lpstr>
      <vt:lpstr>PowerPoint 演示文稿</vt:lpstr>
      <vt:lpstr>中心化差分隐私与本地化差分隐私 </vt:lpstr>
      <vt:lpstr>中心化差分隐私与本地化差分隐私 </vt:lpstr>
      <vt:lpstr>随机响应机制</vt:lpstr>
      <vt:lpstr>随机响应机制是一种本地化差分隐私机制</vt:lpstr>
      <vt:lpstr>通过随机响应估计真实回复</vt:lpstr>
      <vt:lpstr>通过随机响应估计真实回复</vt:lpstr>
      <vt:lpstr>随机响应机制vs拉普拉斯机制</vt:lpstr>
      <vt:lpstr>一元编码机制</vt:lpstr>
      <vt:lpstr>一元编码机制</vt:lpstr>
      <vt:lpstr>使用一元编码机制查询</vt:lpstr>
      <vt:lpstr>本地化差分隐私小结</vt:lpstr>
      <vt:lpstr>PowerPoint 演示文稿</vt:lpstr>
      <vt:lpstr>差分隐私应用</vt:lpstr>
      <vt:lpstr>差分隐私数据采集 </vt:lpstr>
      <vt:lpstr>差分隐私数据采集 </vt:lpstr>
      <vt:lpstr>差分隐私机器学习</vt:lpstr>
      <vt:lpstr>差分隐私机器学习</vt:lpstr>
      <vt:lpstr>小结</vt:lpstr>
      <vt:lpstr>感谢聆听！</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大数据安全与隐私保护 - 电子课件</dc:title>
  <dc:subject>大数据安全与隐私保护 - 课件</dc:subject>
  <dc:creator>北邮石瑞生</dc:creator>
  <cp:lastModifiedBy>一然 王</cp:lastModifiedBy>
  <cp:revision>328</cp:revision>
  <cp:lastPrinted>2019-05-30T07:25:17Z</cp:lastPrinted>
  <dcterms:created xsi:type="dcterms:W3CDTF">2019-05-28T11:51:25Z</dcterms:created>
  <dcterms:modified xsi:type="dcterms:W3CDTF">2025-09-10T12:39:39Z</dcterms:modified>
</cp:coreProperties>
</file>