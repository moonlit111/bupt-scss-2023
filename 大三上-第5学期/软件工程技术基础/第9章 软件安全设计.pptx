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4" r:id="rId3"/>
  </p:sldMasterIdLst>
  <p:notesMasterIdLst>
    <p:notesMasterId r:id="rId20"/>
  </p:notesMasterIdLst>
  <p:sldIdLst>
    <p:sldId id="530" r:id="rId4"/>
    <p:sldId id="546" r:id="rId5"/>
    <p:sldId id="544" r:id="rId6"/>
    <p:sldId id="543" r:id="rId7"/>
    <p:sldId id="542" r:id="rId8"/>
    <p:sldId id="562" r:id="rId9"/>
    <p:sldId id="708" r:id="rId10"/>
    <p:sldId id="558" r:id="rId11"/>
    <p:sldId id="561" r:id="rId12"/>
    <p:sldId id="557" r:id="rId13"/>
    <p:sldId id="556" r:id="rId14"/>
    <p:sldId id="569" r:id="rId15"/>
    <p:sldId id="555" r:id="rId16"/>
    <p:sldId id="568" r:id="rId17"/>
    <p:sldId id="574" r:id="rId18"/>
    <p:sldId id="573" r:id="rId19"/>
    <p:sldId id="580" r:id="rId21"/>
    <p:sldId id="579" r:id="rId22"/>
    <p:sldId id="564" r:id="rId23"/>
    <p:sldId id="595" r:id="rId24"/>
    <p:sldId id="587" r:id="rId25"/>
    <p:sldId id="585" r:id="rId26"/>
    <p:sldId id="584" r:id="rId27"/>
    <p:sldId id="604" r:id="rId28"/>
    <p:sldId id="603" r:id="rId29"/>
    <p:sldId id="601" r:id="rId30"/>
    <p:sldId id="615" r:id="rId31"/>
    <p:sldId id="614" r:id="rId32"/>
    <p:sldId id="612" r:id="rId33"/>
    <p:sldId id="611" r:id="rId34"/>
    <p:sldId id="610" r:id="rId35"/>
    <p:sldId id="609" r:id="rId36"/>
    <p:sldId id="618" r:id="rId37"/>
    <p:sldId id="617" r:id="rId38"/>
    <p:sldId id="599" r:id="rId39"/>
    <p:sldId id="598" r:id="rId40"/>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93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0066FF"/>
    <a:srgbClr val="FF99FF"/>
    <a:srgbClr val="FFCC99"/>
    <a:srgbClr val="FF3300"/>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20"/>
    <p:restoredTop sz="94003"/>
  </p:normalViewPr>
  <p:slideViewPr>
    <p:cSldViewPr showGuides="1">
      <p:cViewPr varScale="1">
        <p:scale>
          <a:sx n="100" d="100"/>
          <a:sy n="100" d="100"/>
        </p:scale>
        <p:origin x="946" y="77"/>
      </p:cViewPr>
      <p:guideLst>
        <p:guide orient="horz" pos="2160"/>
        <p:guide pos="293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notesMaster" Target="notesMasters/notesMaster1.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5C49A1F9-92DE-42D6-90C6-CF4932ECB228}" type="doc">
      <dgm:prSet loTypeId="urn:microsoft.com/office/officeart/2005/8/layout/cycle3#1" loCatId="cycle" qsTypeId="urn:microsoft.com/office/officeart/2005/8/quickstyle/simple3#1" qsCatId="simple" csTypeId="urn:microsoft.com/office/officeart/2005/8/colors/accent1_2#1" csCatId="accent1" phldr="1"/>
      <dgm:spPr/>
      <dgm:t>
        <a:bodyPr/>
        <a:lstStyle/>
        <a:p>
          <a:endParaRPr lang="zh-CN" altLang="en-US"/>
        </a:p>
      </dgm:t>
    </dgm:pt>
    <dgm:pt modelId="{3EE8F7C3-F78C-4124-8E63-ED4F4F6F1CF4}">
      <dgm:prSet phldrT="[文本]" phldr="0" custT="1"/>
      <dgm:spPr/>
      <dgm:t>
        <a:bodyPr vert="horz" wrap="square"/>
        <a:lstStyle/>
        <a:p>
          <a:pPr>
            <a:lnSpc>
              <a:spcPct val="100000"/>
            </a:lnSpc>
            <a:spcBef>
              <a:spcPct val="0"/>
            </a:spcBef>
            <a:spcAft>
              <a:spcPct val="35000"/>
            </a:spcAft>
          </a:pPr>
          <a:r>
            <a:rPr lang="en-US" altLang="zh-CN" sz="1600">
              <a:solidFill>
                <a:schemeClr val="tx1"/>
              </a:solidFill>
            </a:rPr>
            <a:t>1.</a:t>
          </a:r>
          <a:r>
            <a:rPr lang="zh-CN" altLang="en-US" sz="1600">
              <a:solidFill>
                <a:schemeClr val="tx1"/>
              </a:solidFill>
            </a:rPr>
            <a:t>软件建模</a:t>
          </a:r>
          <a:endParaRPr sz="1600"/>
        </a:p>
      </dgm:t>
    </dgm:pt>
    <dgm:pt modelId="{D4AF8018-BACC-4B1C-A418-E460ECCCFC71}" cxnId="{3F87C8F2-1B2D-4312-9273-E61BED72BA07}" type="parTrans">
      <dgm:prSet/>
      <dgm:spPr/>
      <dgm:t>
        <a:bodyPr/>
        <a:lstStyle/>
        <a:p>
          <a:endParaRPr lang="zh-CN" altLang="en-US" sz="800">
            <a:solidFill>
              <a:schemeClr val="tx1"/>
            </a:solidFill>
          </a:endParaRPr>
        </a:p>
      </dgm:t>
    </dgm:pt>
    <dgm:pt modelId="{6B4F6FF7-5FEC-411F-825D-D3F76B069EA5}" cxnId="{3F87C8F2-1B2D-4312-9273-E61BED72BA07}" type="sibTrans">
      <dgm:prSet/>
      <dgm:spPr/>
      <dgm:t>
        <a:bodyPr/>
        <a:lstStyle/>
        <a:p>
          <a:endParaRPr lang="zh-CN" altLang="en-US" sz="800">
            <a:solidFill>
              <a:schemeClr val="tx1"/>
            </a:solidFill>
          </a:endParaRPr>
        </a:p>
      </dgm:t>
    </dgm:pt>
    <dgm:pt modelId="{7DE326F4-812C-4FC8-92BF-E835A691C17C}">
      <dgm:prSet phldrT="[文本]" phldr="0" custT="1"/>
      <dgm:spPr/>
      <dgm:t>
        <a:bodyPr vert="horz" wrap="square"/>
        <a:lstStyle/>
        <a:p>
          <a:pPr>
            <a:lnSpc>
              <a:spcPct val="100000"/>
            </a:lnSpc>
            <a:spcBef>
              <a:spcPct val="0"/>
            </a:spcBef>
            <a:spcAft>
              <a:spcPct val="35000"/>
            </a:spcAft>
          </a:pPr>
          <a:r>
            <a:rPr lang="en-US" altLang="zh-CN" sz="1600">
              <a:solidFill>
                <a:schemeClr val="tx1"/>
              </a:solidFill>
            </a:rPr>
            <a:t>2.</a:t>
          </a:r>
          <a:r>
            <a:rPr lang="zh-CN" altLang="en-US" sz="1600">
              <a:solidFill>
                <a:schemeClr val="tx1"/>
              </a:solidFill>
            </a:rPr>
            <a:t>威胁建模</a:t>
          </a:r>
          <a:endParaRPr sz="1600"/>
        </a:p>
      </dgm:t>
    </dgm:pt>
    <dgm:pt modelId="{7620C38A-5740-4C13-B6C3-38422B22A154}" cxnId="{64AFA418-15FC-4287-989E-C9053535D166}" type="parTrans">
      <dgm:prSet/>
      <dgm:spPr/>
      <dgm:t>
        <a:bodyPr/>
        <a:lstStyle/>
        <a:p>
          <a:endParaRPr lang="zh-CN" altLang="en-US" sz="800">
            <a:solidFill>
              <a:schemeClr val="tx1"/>
            </a:solidFill>
          </a:endParaRPr>
        </a:p>
      </dgm:t>
    </dgm:pt>
    <dgm:pt modelId="{47721429-58EA-4B6E-A1B6-38DD20CBD3E2}" cxnId="{64AFA418-15FC-4287-989E-C9053535D166}" type="sibTrans">
      <dgm:prSet/>
      <dgm:spPr/>
      <dgm:t>
        <a:bodyPr/>
        <a:lstStyle/>
        <a:p>
          <a:endParaRPr lang="zh-CN" altLang="en-US" sz="800">
            <a:solidFill>
              <a:schemeClr val="tx1"/>
            </a:solidFill>
          </a:endParaRPr>
        </a:p>
      </dgm:t>
    </dgm:pt>
    <dgm:pt modelId="{7928FD86-0B2A-4E49-A718-ED315F277E1B}">
      <dgm:prSet phldrT="[文本]" phldr="0" custT="1"/>
      <dgm:spPr/>
      <dgm:t>
        <a:bodyPr vert="horz" wrap="square"/>
        <a:lstStyle/>
        <a:p>
          <a:pPr>
            <a:lnSpc>
              <a:spcPct val="100000"/>
            </a:lnSpc>
            <a:spcBef>
              <a:spcPct val="0"/>
            </a:spcBef>
            <a:spcAft>
              <a:spcPct val="35000"/>
            </a:spcAft>
          </a:pPr>
          <a:r>
            <a:rPr lang="en-US" altLang="zh-CN" sz="1600">
              <a:solidFill>
                <a:schemeClr val="tx1"/>
              </a:solidFill>
            </a:rPr>
            <a:t>3.</a:t>
          </a:r>
          <a:r>
            <a:rPr lang="zh-CN" altLang="en-US" sz="1600">
              <a:solidFill>
                <a:schemeClr val="tx1"/>
              </a:solidFill>
            </a:rPr>
            <a:t>威胁分级</a:t>
          </a:r>
          <a:endParaRPr sz="1600"/>
        </a:p>
      </dgm:t>
    </dgm:pt>
    <dgm:pt modelId="{B162818B-CE33-4B39-AAAE-7F159A48EAAF}" cxnId="{BCE7EA49-9E49-493F-B3C2-E34AB9206BF9}" type="parTrans">
      <dgm:prSet/>
      <dgm:spPr/>
      <dgm:t>
        <a:bodyPr/>
        <a:lstStyle/>
        <a:p>
          <a:endParaRPr lang="zh-CN" altLang="en-US" sz="800">
            <a:solidFill>
              <a:schemeClr val="tx1"/>
            </a:solidFill>
          </a:endParaRPr>
        </a:p>
      </dgm:t>
    </dgm:pt>
    <dgm:pt modelId="{F8A31B25-3589-41F4-801D-40C5A9F6161D}" cxnId="{BCE7EA49-9E49-493F-B3C2-E34AB9206BF9}" type="sibTrans">
      <dgm:prSet/>
      <dgm:spPr/>
      <dgm:t>
        <a:bodyPr/>
        <a:lstStyle/>
        <a:p>
          <a:endParaRPr lang="zh-CN" altLang="en-US" sz="800">
            <a:solidFill>
              <a:schemeClr val="tx1"/>
            </a:solidFill>
          </a:endParaRPr>
        </a:p>
      </dgm:t>
    </dgm:pt>
    <dgm:pt modelId="{BD06B17B-8F8A-4599-BA30-30C026391009}">
      <dgm:prSet phldrT="[文本]" phldr="0" custT="1"/>
      <dgm:spPr/>
      <dgm:t>
        <a:bodyPr vert="horz" wrap="square"/>
        <a:lstStyle/>
        <a:p>
          <a:pPr>
            <a:lnSpc>
              <a:spcPct val="100000"/>
            </a:lnSpc>
            <a:spcBef>
              <a:spcPct val="0"/>
            </a:spcBef>
            <a:spcAft>
              <a:spcPct val="35000"/>
            </a:spcAft>
          </a:pPr>
          <a:r>
            <a:rPr lang="en-US" altLang="zh-CN" sz="1600">
              <a:solidFill>
                <a:schemeClr val="tx1"/>
              </a:solidFill>
            </a:rPr>
            <a:t>4.</a:t>
          </a:r>
          <a:r>
            <a:rPr lang="zh-CN" altLang="en-US" sz="1600">
              <a:solidFill>
                <a:schemeClr val="tx1"/>
              </a:solidFill>
            </a:rPr>
            <a:t>威胁消减</a:t>
          </a:r>
          <a:endParaRPr sz="1600"/>
        </a:p>
      </dgm:t>
    </dgm:pt>
    <dgm:pt modelId="{68F62FD1-653F-497F-AF51-845CDA537B9B}" cxnId="{43BDA082-60AD-4576-8B56-A0A5ABD802DE}" type="parTrans">
      <dgm:prSet/>
      <dgm:spPr/>
      <dgm:t>
        <a:bodyPr/>
        <a:lstStyle/>
        <a:p>
          <a:endParaRPr lang="zh-CN" altLang="en-US" sz="800">
            <a:solidFill>
              <a:schemeClr val="tx1"/>
            </a:solidFill>
          </a:endParaRPr>
        </a:p>
      </dgm:t>
    </dgm:pt>
    <dgm:pt modelId="{819514A2-457F-4926-BC5B-9EF841E2EB53}" cxnId="{43BDA082-60AD-4576-8B56-A0A5ABD802DE}" type="sibTrans">
      <dgm:prSet/>
      <dgm:spPr/>
      <dgm:t>
        <a:bodyPr/>
        <a:lstStyle/>
        <a:p>
          <a:endParaRPr lang="zh-CN" altLang="en-US" sz="800">
            <a:solidFill>
              <a:schemeClr val="tx1"/>
            </a:solidFill>
          </a:endParaRPr>
        </a:p>
      </dgm:t>
    </dgm:pt>
    <dgm:pt modelId="{BE67988D-616C-4B7E-92B6-67A4F1BAF019}" type="pres">
      <dgm:prSet presAssocID="{5C49A1F9-92DE-42D6-90C6-CF4932ECB228}" presName="Name0" presStyleCnt="0">
        <dgm:presLayoutVars>
          <dgm:dir/>
          <dgm:resizeHandles val="exact"/>
        </dgm:presLayoutVars>
      </dgm:prSet>
      <dgm:spPr/>
      <dgm:t>
        <a:bodyPr/>
        <a:lstStyle/>
        <a:p>
          <a:endParaRPr lang="zh-CN" altLang="en-US"/>
        </a:p>
      </dgm:t>
    </dgm:pt>
    <dgm:pt modelId="{613888F8-D4B4-450F-8441-33FA854CE51A}" type="pres">
      <dgm:prSet presAssocID="{5C49A1F9-92DE-42D6-90C6-CF4932ECB228}" presName="cycle" presStyleCnt="0"/>
      <dgm:spPr/>
    </dgm:pt>
    <dgm:pt modelId="{48CDDE1E-446C-4863-B3C7-1AE375F4A263}" type="pres">
      <dgm:prSet presAssocID="{3EE8F7C3-F78C-4124-8E63-ED4F4F6F1CF4}" presName="nodeFirstNode" presStyleLbl="node1" presStyleIdx="0" presStyleCnt="4" custScaleX="75390" custScaleY="66718">
        <dgm:presLayoutVars>
          <dgm:bulletEnabled val="1"/>
        </dgm:presLayoutVars>
      </dgm:prSet>
      <dgm:spPr/>
      <dgm:t>
        <a:bodyPr/>
        <a:lstStyle/>
        <a:p>
          <a:endParaRPr lang="zh-CN" altLang="en-US"/>
        </a:p>
      </dgm:t>
    </dgm:pt>
    <dgm:pt modelId="{12CC456B-1654-42F5-A86F-EE762CC27489}" type="pres">
      <dgm:prSet presAssocID="{6B4F6FF7-5FEC-411F-825D-D3F76B069EA5}" presName="sibTransFirstNode" presStyleLbl="bgShp" presStyleIdx="0" presStyleCnt="1"/>
      <dgm:spPr/>
      <dgm:t>
        <a:bodyPr/>
        <a:lstStyle/>
        <a:p>
          <a:endParaRPr lang="zh-CN" altLang="en-US"/>
        </a:p>
      </dgm:t>
    </dgm:pt>
    <dgm:pt modelId="{0E83ABE3-C686-4444-878C-DBCCE5519C84}" type="pres">
      <dgm:prSet presAssocID="{7DE326F4-812C-4FC8-92BF-E835A691C17C}" presName="nodeFollowingNodes" presStyleLbl="node1" presStyleIdx="1" presStyleCnt="4" custScaleX="72491" custScaleY="64488">
        <dgm:presLayoutVars>
          <dgm:bulletEnabled val="1"/>
        </dgm:presLayoutVars>
      </dgm:prSet>
      <dgm:spPr/>
      <dgm:t>
        <a:bodyPr/>
        <a:lstStyle/>
        <a:p>
          <a:endParaRPr lang="zh-CN" altLang="en-US"/>
        </a:p>
      </dgm:t>
    </dgm:pt>
    <dgm:pt modelId="{159509CA-7CCF-4EEC-9B70-BE8F3825D27A}" type="pres">
      <dgm:prSet presAssocID="{7928FD86-0B2A-4E49-A718-ED315F277E1B}" presName="nodeFollowingNodes" presStyleLbl="node1" presStyleIdx="2" presStyleCnt="4" custScaleX="78729" custScaleY="63904" custRadScaleRad="114141" custRadScaleInc="-2362">
        <dgm:presLayoutVars>
          <dgm:bulletEnabled val="1"/>
        </dgm:presLayoutVars>
      </dgm:prSet>
      <dgm:spPr/>
      <dgm:t>
        <a:bodyPr/>
        <a:lstStyle/>
        <a:p>
          <a:endParaRPr lang="zh-CN" altLang="en-US"/>
        </a:p>
      </dgm:t>
    </dgm:pt>
    <dgm:pt modelId="{E482431A-8A88-4A4B-BBA9-C93BD6B59BF4}" type="pres">
      <dgm:prSet presAssocID="{BD06B17B-8F8A-4599-BA30-30C026391009}" presName="nodeFollowingNodes" presStyleLbl="node1" presStyleIdx="3" presStyleCnt="4" custScaleX="73671" custScaleY="64488">
        <dgm:presLayoutVars>
          <dgm:bulletEnabled val="1"/>
        </dgm:presLayoutVars>
      </dgm:prSet>
      <dgm:spPr/>
      <dgm:t>
        <a:bodyPr/>
        <a:lstStyle/>
        <a:p>
          <a:endParaRPr lang="zh-CN" altLang="en-US"/>
        </a:p>
      </dgm:t>
    </dgm:pt>
  </dgm:ptLst>
  <dgm:cxnLst>
    <dgm:cxn modelId="{BFE3BBAA-5E25-4775-B819-0DAB7C711898}" type="presOf" srcId="{7928FD86-0B2A-4E49-A718-ED315F277E1B}" destId="{159509CA-7CCF-4EEC-9B70-BE8F3825D27A}" srcOrd="0" destOrd="0" presId="urn:microsoft.com/office/officeart/2005/8/layout/cycle3#1"/>
    <dgm:cxn modelId="{43BDA082-60AD-4576-8B56-A0A5ABD802DE}" srcId="{5C49A1F9-92DE-42D6-90C6-CF4932ECB228}" destId="{BD06B17B-8F8A-4599-BA30-30C026391009}" srcOrd="3" destOrd="0" parTransId="{68F62FD1-653F-497F-AF51-845CDA537B9B}" sibTransId="{819514A2-457F-4926-BC5B-9EF841E2EB53}"/>
    <dgm:cxn modelId="{CE6D27CA-9A73-4A95-9D88-8D8C1C055223}" type="presOf" srcId="{7DE326F4-812C-4FC8-92BF-E835A691C17C}" destId="{0E83ABE3-C686-4444-878C-DBCCE5519C84}" srcOrd="0" destOrd="0" presId="urn:microsoft.com/office/officeart/2005/8/layout/cycle3#1"/>
    <dgm:cxn modelId="{64AFA418-15FC-4287-989E-C9053535D166}" srcId="{5C49A1F9-92DE-42D6-90C6-CF4932ECB228}" destId="{7DE326F4-812C-4FC8-92BF-E835A691C17C}" srcOrd="1" destOrd="0" parTransId="{7620C38A-5740-4C13-B6C3-38422B22A154}" sibTransId="{47721429-58EA-4B6E-A1B6-38DD20CBD3E2}"/>
    <dgm:cxn modelId="{D03A2E70-35D6-4E20-8FAE-27610855E01B}" type="presOf" srcId="{BD06B17B-8F8A-4599-BA30-30C026391009}" destId="{E482431A-8A88-4A4B-BBA9-C93BD6B59BF4}" srcOrd="0" destOrd="0" presId="urn:microsoft.com/office/officeart/2005/8/layout/cycle3#1"/>
    <dgm:cxn modelId="{E2AFD751-9F1D-4233-ACBA-4C75F3E7DCAA}" type="presOf" srcId="{6B4F6FF7-5FEC-411F-825D-D3F76B069EA5}" destId="{12CC456B-1654-42F5-A86F-EE762CC27489}" srcOrd="0" destOrd="0" presId="urn:microsoft.com/office/officeart/2005/8/layout/cycle3#1"/>
    <dgm:cxn modelId="{9AA9BD7B-0539-412D-B8FF-56BF0D17D599}" type="presOf" srcId="{3EE8F7C3-F78C-4124-8E63-ED4F4F6F1CF4}" destId="{48CDDE1E-446C-4863-B3C7-1AE375F4A263}" srcOrd="0" destOrd="0" presId="urn:microsoft.com/office/officeart/2005/8/layout/cycle3#1"/>
    <dgm:cxn modelId="{32AE4A8F-2293-42C8-BE8D-7E6E7BF09A78}" type="presOf" srcId="{5C49A1F9-92DE-42D6-90C6-CF4932ECB228}" destId="{BE67988D-616C-4B7E-92B6-67A4F1BAF019}" srcOrd="0" destOrd="0" presId="urn:microsoft.com/office/officeart/2005/8/layout/cycle3#1"/>
    <dgm:cxn modelId="{3F87C8F2-1B2D-4312-9273-E61BED72BA07}" srcId="{5C49A1F9-92DE-42D6-90C6-CF4932ECB228}" destId="{3EE8F7C3-F78C-4124-8E63-ED4F4F6F1CF4}" srcOrd="0" destOrd="0" parTransId="{D4AF8018-BACC-4B1C-A418-E460ECCCFC71}" sibTransId="{6B4F6FF7-5FEC-411F-825D-D3F76B069EA5}"/>
    <dgm:cxn modelId="{BCE7EA49-9E49-493F-B3C2-E34AB9206BF9}" srcId="{5C49A1F9-92DE-42D6-90C6-CF4932ECB228}" destId="{7928FD86-0B2A-4E49-A718-ED315F277E1B}" srcOrd="2" destOrd="0" parTransId="{B162818B-CE33-4B39-AAAE-7F159A48EAAF}" sibTransId="{F8A31B25-3589-41F4-801D-40C5A9F6161D}"/>
    <dgm:cxn modelId="{BDD4F654-84D7-4E8D-98CF-30F834EB3C40}" type="presParOf" srcId="{BE67988D-616C-4B7E-92B6-67A4F1BAF019}" destId="{613888F8-D4B4-450F-8441-33FA854CE51A}" srcOrd="0" destOrd="0" presId="urn:microsoft.com/office/officeart/2005/8/layout/cycle3#1"/>
    <dgm:cxn modelId="{C5443331-0329-4ADA-947E-727B2DBA1EBE}" type="presParOf" srcId="{613888F8-D4B4-450F-8441-33FA854CE51A}" destId="{48CDDE1E-446C-4863-B3C7-1AE375F4A263}" srcOrd="0" destOrd="0" presId="urn:microsoft.com/office/officeart/2005/8/layout/cycle3#1"/>
    <dgm:cxn modelId="{F320C616-061C-4F3A-9234-3DEEBD0F5952}" type="presParOf" srcId="{613888F8-D4B4-450F-8441-33FA854CE51A}" destId="{12CC456B-1654-42F5-A86F-EE762CC27489}" srcOrd="1" destOrd="0" presId="urn:microsoft.com/office/officeart/2005/8/layout/cycle3#1"/>
    <dgm:cxn modelId="{1FE6C171-C77D-426D-BC35-38EEC44313B1}" type="presParOf" srcId="{613888F8-D4B4-450F-8441-33FA854CE51A}" destId="{0E83ABE3-C686-4444-878C-DBCCE5519C84}" srcOrd="2" destOrd="0" presId="urn:microsoft.com/office/officeart/2005/8/layout/cycle3#1"/>
    <dgm:cxn modelId="{3D268164-6FAD-4218-9900-34296A2795AD}" type="presParOf" srcId="{613888F8-D4B4-450F-8441-33FA854CE51A}" destId="{159509CA-7CCF-4EEC-9B70-BE8F3825D27A}" srcOrd="3" destOrd="0" presId="urn:microsoft.com/office/officeart/2005/8/layout/cycle3#1"/>
    <dgm:cxn modelId="{BE2D4D55-B41C-4450-BD43-A7D05CD13097}" type="presParOf" srcId="{613888F8-D4B4-450F-8441-33FA854CE51A}" destId="{E482431A-8A88-4A4B-BBA9-C93BD6B59BF4}" srcOrd="4" destOrd="0" presId="urn:microsoft.com/office/officeart/2005/8/layout/cycle3#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4095750" cy="2956560"/>
        <a:chOff x="0" y="0"/>
        <a:chExt cx="4095750" cy="2956560"/>
      </a:xfrm>
    </dsp:grpSpPr>
    <dsp:sp modelId="{12CC456B-1654-42F5-A86F-EE762CC27489}">
      <dsp:nvSpPr>
        <dsp:cNvPr id="4" name="环形箭头 3"/>
        <dsp:cNvSpPr/>
      </dsp:nvSpPr>
      <dsp:spPr bwMode="white">
        <a:xfrm>
          <a:off x="593331" y="-42205"/>
          <a:ext cx="2909087" cy="2909087"/>
        </a:xfrm>
        <a:prstGeom prst="circularArrow">
          <a:avLst>
            <a:gd name="adj1" fmla="val 5000"/>
            <a:gd name="adj2" fmla="val 360000"/>
            <a:gd name="adj3" fmla="val 13069041"/>
            <a:gd name="adj4" fmla="val 17711431"/>
            <a:gd name="adj5" fmla="val 5500"/>
          </a:avLst>
        </a:prstGeom>
      </dsp:spPr>
      <dsp:style>
        <a:lnRef idx="0">
          <a:schemeClr val="accent1"/>
        </a:lnRef>
        <a:fillRef idx="1">
          <a:schemeClr val="accent1">
            <a:tint val="40000"/>
          </a:schemeClr>
        </a:fillRef>
        <a:effectRef idx="1">
          <a:scrgbClr r="0" g="0" b="0"/>
        </a:effectRef>
        <a:fontRef idx="minor"/>
      </dsp:style>
      <dsp:txXfrm>
        <a:off x="593331" y="-42205"/>
        <a:ext cx="2909087" cy="2909087"/>
      </dsp:txXfrm>
    </dsp:sp>
    <dsp:sp modelId="{48CDDE1E-446C-4863-B3C7-1AE375F4A263}">
      <dsp:nvSpPr>
        <dsp:cNvPr id="3" name="圆角矩形 2"/>
        <dsp:cNvSpPr/>
      </dsp:nvSpPr>
      <dsp:spPr bwMode="white">
        <a:xfrm>
          <a:off x="1171315" y="0"/>
          <a:ext cx="1753120" cy="876560"/>
        </a:xfrm>
        <a:prstGeom prst="roundRect">
          <a:avLst/>
        </a:prstGeom>
        <a:sp3d prstMaterial="dkEdge">
          <a:bevelT w="8200" h="38100"/>
        </a:sp3d>
      </dsp:spPr>
      <dsp:style>
        <a:lnRef idx="0">
          <a:schemeClr val="lt1"/>
        </a:lnRef>
        <a:fillRef idx="2">
          <a:schemeClr val="accent1"/>
        </a:fillRef>
        <a:effectRef idx="1">
          <a:scrgbClr r="0" g="0" b="0"/>
        </a:effectRef>
        <a:fontRef idx="minor">
          <a:schemeClr val="dk1"/>
        </a:fontRef>
      </dsp:style>
      <dsp:txBody>
        <a:bodyPr vert="horz" wrap="square" lIns="60960" tIns="60960" rIns="60960" bIns="609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1600">
              <a:solidFill>
                <a:schemeClr val="tx1"/>
              </a:solidFill>
            </a:rPr>
            <a:t>1.</a:t>
          </a:r>
          <a:r>
            <a:rPr lang="zh-CN" altLang="en-US" sz="1600">
              <a:solidFill>
                <a:schemeClr val="tx1"/>
              </a:solidFill>
            </a:rPr>
            <a:t>软件建模</a:t>
          </a:r>
          <a:endParaRPr sz="1600"/>
        </a:p>
      </dsp:txBody>
      <dsp:txXfrm>
        <a:off x="1171315" y="0"/>
        <a:ext cx="1753120" cy="876560"/>
      </dsp:txXfrm>
    </dsp:sp>
    <dsp:sp modelId="{0E83ABE3-C686-4444-878C-DBCCE5519C84}">
      <dsp:nvSpPr>
        <dsp:cNvPr id="5" name="圆角矩形 4"/>
        <dsp:cNvSpPr/>
      </dsp:nvSpPr>
      <dsp:spPr bwMode="white">
        <a:xfrm>
          <a:off x="2211315" y="1040000"/>
          <a:ext cx="1753120" cy="876560"/>
        </a:xfrm>
        <a:prstGeom prst="roundRect">
          <a:avLst/>
        </a:prstGeom>
        <a:sp3d prstMaterial="dkEdge">
          <a:bevelT w="8200" h="38100"/>
        </a:sp3d>
      </dsp:spPr>
      <dsp:style>
        <a:lnRef idx="0">
          <a:schemeClr val="lt1"/>
        </a:lnRef>
        <a:fillRef idx="2">
          <a:schemeClr val="accent1"/>
        </a:fillRef>
        <a:effectRef idx="1">
          <a:scrgbClr r="0" g="0" b="0"/>
        </a:effectRef>
        <a:fontRef idx="minor">
          <a:schemeClr val="dk1"/>
        </a:fontRef>
      </dsp:style>
      <dsp:txBody>
        <a:bodyPr vert="horz" wrap="square" lIns="60960" tIns="60960" rIns="60960" bIns="609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1600">
              <a:solidFill>
                <a:schemeClr val="tx1"/>
              </a:solidFill>
            </a:rPr>
            <a:t>2.</a:t>
          </a:r>
          <a:r>
            <a:rPr lang="zh-CN" altLang="en-US" sz="1600">
              <a:solidFill>
                <a:schemeClr val="tx1"/>
              </a:solidFill>
            </a:rPr>
            <a:t>威胁建模</a:t>
          </a:r>
          <a:endParaRPr sz="1600"/>
        </a:p>
      </dsp:txBody>
      <dsp:txXfrm>
        <a:off x="2211315" y="1040000"/>
        <a:ext cx="1753120" cy="876560"/>
      </dsp:txXfrm>
    </dsp:sp>
    <dsp:sp modelId="{159509CA-7CCF-4EEC-9B70-BE8F3825D27A}">
      <dsp:nvSpPr>
        <dsp:cNvPr id="6" name="圆角矩形 5"/>
        <dsp:cNvSpPr/>
      </dsp:nvSpPr>
      <dsp:spPr bwMode="white">
        <a:xfrm>
          <a:off x="1206544" y="2079999"/>
          <a:ext cx="1753120" cy="876560"/>
        </a:xfrm>
        <a:prstGeom prst="roundRect">
          <a:avLst/>
        </a:prstGeom>
        <a:sp3d prstMaterial="dkEdge">
          <a:bevelT w="8200" h="38100"/>
        </a:sp3d>
      </dsp:spPr>
      <dsp:style>
        <a:lnRef idx="0">
          <a:schemeClr val="lt1"/>
        </a:lnRef>
        <a:fillRef idx="2">
          <a:schemeClr val="accent1"/>
        </a:fillRef>
        <a:effectRef idx="1">
          <a:scrgbClr r="0" g="0" b="0"/>
        </a:effectRef>
        <a:fontRef idx="minor">
          <a:schemeClr val="dk1"/>
        </a:fontRef>
      </dsp:style>
      <dsp:txBody>
        <a:bodyPr vert="horz" wrap="square" lIns="60960" tIns="60960" rIns="60960" bIns="609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1600">
              <a:solidFill>
                <a:schemeClr val="tx1"/>
              </a:solidFill>
            </a:rPr>
            <a:t>3.</a:t>
          </a:r>
          <a:r>
            <a:rPr lang="zh-CN" altLang="en-US" sz="1600">
              <a:solidFill>
                <a:schemeClr val="tx1"/>
              </a:solidFill>
            </a:rPr>
            <a:t>威胁分级</a:t>
          </a:r>
          <a:endParaRPr sz="1600"/>
        </a:p>
      </dsp:txBody>
      <dsp:txXfrm>
        <a:off x="1206544" y="2079999"/>
        <a:ext cx="1753120" cy="876560"/>
      </dsp:txXfrm>
    </dsp:sp>
    <dsp:sp modelId="{E482431A-8A88-4A4B-BBA9-C93BD6B59BF4}">
      <dsp:nvSpPr>
        <dsp:cNvPr id="7" name="圆角矩形 6"/>
        <dsp:cNvSpPr/>
      </dsp:nvSpPr>
      <dsp:spPr bwMode="white">
        <a:xfrm>
          <a:off x="131315" y="1040000"/>
          <a:ext cx="1753120" cy="876560"/>
        </a:xfrm>
        <a:prstGeom prst="roundRect">
          <a:avLst/>
        </a:prstGeom>
        <a:sp3d prstMaterial="dkEdge">
          <a:bevelT w="8200" h="38100"/>
        </a:sp3d>
      </dsp:spPr>
      <dsp:style>
        <a:lnRef idx="0">
          <a:schemeClr val="lt1"/>
        </a:lnRef>
        <a:fillRef idx="2">
          <a:schemeClr val="accent1"/>
        </a:fillRef>
        <a:effectRef idx="1">
          <a:scrgbClr r="0" g="0" b="0"/>
        </a:effectRef>
        <a:fontRef idx="minor">
          <a:schemeClr val="dk1"/>
        </a:fontRef>
      </dsp:style>
      <dsp:txBody>
        <a:bodyPr vert="horz" wrap="square" lIns="60960" tIns="60960" rIns="60960" bIns="609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1600">
              <a:solidFill>
                <a:schemeClr val="tx1"/>
              </a:solidFill>
            </a:rPr>
            <a:t>4.</a:t>
          </a:r>
          <a:r>
            <a:rPr lang="zh-CN" altLang="en-US" sz="1600">
              <a:solidFill>
                <a:schemeClr val="tx1"/>
              </a:solidFill>
            </a:rPr>
            <a:t>威胁消减</a:t>
          </a:r>
          <a:endParaRPr sz="1600"/>
        </a:p>
      </dsp:txBody>
      <dsp:txXfrm>
        <a:off x="131315" y="1040000"/>
        <a:ext cx="1753120" cy="876560"/>
      </dsp:txXfrm>
    </dsp:sp>
  </dsp:spTree>
</dsp:drawing>
</file>

<file path=ppt/diagrams/layout1.xml><?xml version="1.0" encoding="utf-8"?>
<dgm:layoutDef xmlns:dgm="http://schemas.openxmlformats.org/drawingml/2006/diagram" xmlns:a="http://schemas.openxmlformats.org/drawingml/2006/main" uniqueId="urn:microsoft.com/office/officeart/2005/8/layout/cycle3#1">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rSet qsTypeId="urn:microsoft.com/office/officeart/2005/8/quickstyle/simple5"/>
        </dgm:pt>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dstNode" val="node1"/>
                <dgm:param type="connRout" val="longCurve"/>
                <dgm:param type="begPts" val="midR"/>
                <dgm:param type="endPts" val="midL"/>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dstNode" val="node1"/>
                <dgm:param type="connRout" val="longCurve"/>
                <dgm:param type="begPts" val="midL"/>
                <dgm:param type="endPts" val="midR"/>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dstNode" val="nodeFirstNode"/>
                      <dgm:param type="connRout" val="longCurve"/>
                      <dgm:param type="begPts" val="midR"/>
                      <dgm:param type="endPts" val="midL"/>
                    </dgm:alg>
                  </dgm:if>
                  <dgm:else name="Name15">
                    <dgm:alg type="conn">
                      <dgm:param type="dstNode" val="nodeFirstNode"/>
                      <dgm:param type="connRout" val="longCurve"/>
                      <dgm:param type="begPts" val="midL"/>
                      <dgm:param type="endPts" val="midR"/>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3#1">
  <dgm:title val=""/>
  <dgm:desc val=""/>
  <dgm:catLst>
    <dgm:cat type="simple" pri="103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sz="1200" b="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5"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sz="1200" b="0">
                <a:solidFill>
                  <a:schemeClr val="tx1"/>
                </a:solidFill>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24" name="Rectangle 4"/>
          <p:cNvSpPr>
            <a:spLocks noGrp="1" noRot="1"/>
          </p:cNvSpPr>
          <p:nvPr>
            <p:ph type="sldImg"/>
          </p:nvPr>
        </p:nvSpPr>
        <p:spPr>
          <a:xfrm>
            <a:off x="1143000" y="685800"/>
            <a:ext cx="4572000" cy="3429000"/>
          </a:xfrm>
          <a:prstGeom prst="rect">
            <a:avLst/>
          </a:prstGeom>
          <a:noFill/>
          <a:ln w="9525">
            <a:noFill/>
          </a:ln>
        </p:spPr>
      </p:sp>
      <p:sp>
        <p:nvSpPr>
          <p:cNvPr id="3077" name="Rectangle 5"/>
          <p:cNvSpPr>
            <a:spLocks noGrp="1" noRot="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8"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1" hangingPunct="1">
              <a:defRPr sz="1200" b="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lvl1pPr algn="r" eaLnBrk="1" hangingPunct="1">
              <a:defRPr sz="1200" b="0">
                <a:solidFill>
                  <a:schemeClr val="tx1"/>
                </a:solidFill>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BFB4DD48-2952-4E49-A141-4A1A8FB5CAF9}" type="slidenum">
              <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幻灯片图像占位符 1"/>
          <p:cNvSpPr>
            <a:spLocks noGrp="1" noRot="1" noChangeAspect="1" noTextEdit="1"/>
          </p:cNvSpPr>
          <p:nvPr>
            <p:ph type="sldImg"/>
          </p:nvPr>
        </p:nvSpPr>
        <p:spPr>
          <a:ln/>
        </p:spPr>
      </p:sp>
      <p:sp>
        <p:nvSpPr>
          <p:cNvPr id="22531" name="备注占位符 2"/>
          <p:cNvSpPr>
            <a:spLocks noGrp="1"/>
          </p:cNvSpPr>
          <p:nvPr>
            <p:ph type="body"/>
          </p:nvPr>
        </p:nvSpPr>
        <p:spPr>
          <a:ln/>
        </p:spPr>
        <p:txBody>
          <a:bodyPr wrap="square" lIns="91440" tIns="45720" rIns="91440" bIns="45720" anchor="ctr" anchorCtr="0"/>
          <a:p>
            <a:pPr lvl="0"/>
            <a:endParaRPr lang="zh-CN" altLang="en-US" dirty="0"/>
          </a:p>
        </p:txBody>
      </p:sp>
      <p:sp>
        <p:nvSpPr>
          <p:cNvPr id="2253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pic>
        <p:nvPicPr>
          <p:cNvPr id="3074" name="Picture 4" descr="cover_01"/>
          <p:cNvPicPr>
            <a:picLocks noChangeAspect="1"/>
          </p:cNvPicPr>
          <p:nvPr/>
        </p:nvPicPr>
        <p:blipFill>
          <a:blip r:embed="rId2"/>
          <a:stretch>
            <a:fillRect/>
          </a:stretch>
        </p:blipFill>
        <p:spPr>
          <a:xfrm>
            <a:off x="-26987" y="0"/>
            <a:ext cx="7380287" cy="6858000"/>
          </a:xfrm>
          <a:prstGeom prst="rect">
            <a:avLst/>
          </a:prstGeom>
          <a:noFill/>
          <a:ln w="9525">
            <a:noFill/>
          </a:ln>
        </p:spPr>
      </p:pic>
      <p:sp>
        <p:nvSpPr>
          <p:cNvPr id="2050" name="Rectangle 2"/>
          <p:cNvSpPr>
            <a:spLocks noGrp="1" noChangeArrowheads="1"/>
          </p:cNvSpPr>
          <p:nvPr>
            <p:ph type="ctrTitle"/>
          </p:nvPr>
        </p:nvSpPr>
        <p:spPr>
          <a:xfrm>
            <a:off x="2555776" y="2132856"/>
            <a:ext cx="6156424" cy="673844"/>
          </a:xfrm>
          <a:effectLst>
            <a:outerShdw dist="17961" dir="2700000" algn="ctr" rotWithShape="0">
              <a:srgbClr val="777777"/>
            </a:outerShdw>
          </a:effectLst>
        </p:spPr>
        <p:txBody>
          <a:bodyPr/>
          <a:lstStyle>
            <a:lvl1pPr>
              <a:defRPr sz="4400">
                <a:solidFill>
                  <a:schemeClr val="accent2"/>
                </a:solidFill>
                <a:latin typeface="Arial" panose="020B0604020202020204" pitchFamily="34" charset="0"/>
              </a:defRPr>
            </a:lvl1pPr>
          </a:lstStyle>
          <a:p>
            <a:pPr lvl="0"/>
            <a:endParaRPr lang="zh-CN" altLang="zh-CN" noProof="0"/>
          </a:p>
        </p:txBody>
      </p:sp>
      <p:sp>
        <p:nvSpPr>
          <p:cNvPr id="2051" name="Rectangle 3"/>
          <p:cNvSpPr>
            <a:spLocks noGrp="1" noChangeArrowheads="1"/>
          </p:cNvSpPr>
          <p:nvPr>
            <p:ph type="subTitle" idx="1"/>
          </p:nvPr>
        </p:nvSpPr>
        <p:spPr>
          <a:xfrm>
            <a:off x="3923928" y="3212976"/>
            <a:ext cx="3744416" cy="864096"/>
          </a:xfrm>
        </p:spPr>
        <p:txBody>
          <a:bodyPr/>
          <a:lstStyle>
            <a:lvl1pPr marL="0" indent="0" algn="ctr">
              <a:lnSpc>
                <a:spcPct val="100000"/>
              </a:lnSpc>
              <a:spcBef>
                <a:spcPct val="0"/>
              </a:spcBef>
              <a:buClrTx/>
              <a:buSzTx/>
              <a:buFontTx/>
              <a:buNone/>
              <a:defRPr sz="2800" b="1">
                <a:effectLst>
                  <a:outerShdw blurRad="38100" dist="38100" dir="2700000" algn="tl">
                    <a:srgbClr val="C0C0C0"/>
                  </a:outerShdw>
                </a:effectLst>
              </a:defRPr>
            </a:lvl1pPr>
          </a:lstStyle>
          <a:p>
            <a:pPr lvl="0"/>
            <a:r>
              <a:rPr lang="zh-CN" noProof="0" dirty="0"/>
              <a:t>单击此处编辑母版副标题样式</a:t>
            </a:r>
            <a:endParaRPr lang="zh-CN" noProof="0" dirty="0"/>
          </a:p>
        </p:txBody>
      </p:sp>
    </p:spTree>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827584" y="1380248"/>
            <a:ext cx="7391400" cy="2283702"/>
          </a:xfrm>
        </p:spPr>
        <p:txBody>
          <a:bodyPr/>
          <a:lstStyle>
            <a:lvl1pPr>
              <a:defRPr sz="2400">
                <a:latin typeface="华文中宋" panose="02010600040101010101" pitchFamily="2" charset="-122"/>
                <a:ea typeface="华文中宋" panose="02010600040101010101" pitchFamily="2" charset="-122"/>
              </a:defRPr>
            </a:lvl1pPr>
            <a:lvl2pPr>
              <a:defRPr sz="2000">
                <a:latin typeface="华文中宋" panose="02010600040101010101" pitchFamily="2" charset="-122"/>
                <a:ea typeface="华文中宋" panose="02010600040101010101" pitchFamily="2" charset="-122"/>
              </a:defRPr>
            </a:lvl2pPr>
            <a:lvl3pPr>
              <a:defRPr sz="1800">
                <a:latin typeface="华文中宋" panose="02010600040101010101" pitchFamily="2" charset="-122"/>
                <a:ea typeface="华文中宋" panose="02010600040101010101" pitchFamily="2" charset="-122"/>
              </a:defRPr>
            </a:lvl3pPr>
            <a:lvl4pPr>
              <a:defRPr sz="1600">
                <a:latin typeface="华文中宋" panose="02010600040101010101" pitchFamily="2" charset="-122"/>
                <a:ea typeface="华文中宋" panose="02010600040101010101" pitchFamily="2" charset="-122"/>
              </a:defRPr>
            </a:lvl4pPr>
            <a:lvl5pPr>
              <a:defRPr sz="1400">
                <a:latin typeface="华文中宋" panose="02010600040101010101" pitchFamily="2" charset="-122"/>
                <a:ea typeface="华文中宋" panose="02010600040101010101" pitchFamily="2" charset="-122"/>
              </a:defRPr>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EAF03180-19ED-4193-B4E9-F0F435AEB950}"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EAF03180-19ED-4193-B4E9-F0F435AEB950}"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914400" y="1524000"/>
            <a:ext cx="3619500" cy="1978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86300" y="1524000"/>
            <a:ext cx="3619500" cy="1978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EAF03180-19ED-4193-B4E9-F0F435AEB950}"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EAF03180-19ED-4193-B4E9-F0F435AEB950}"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页脚占位符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EAF03180-19ED-4193-B4E9-F0F435AEB950}"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EAF03180-19ED-4193-B4E9-F0F435AEB950}"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EAF03180-19ED-4193-B4E9-F0F435AEB950}"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EAF03180-19ED-4193-B4E9-F0F435AEB950}"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EAF03180-19ED-4193-B4E9-F0F435AEB950}"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18263" y="260350"/>
            <a:ext cx="1887537" cy="3241675"/>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755650" y="260350"/>
            <a:ext cx="5510213" cy="3241675"/>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EAF03180-19ED-4193-B4E9-F0F435AEB950}"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755650" y="260350"/>
            <a:ext cx="7086600" cy="685800"/>
          </a:xfrm>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914400" y="1524000"/>
            <a:ext cx="3619500" cy="197802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86300" y="1524000"/>
            <a:ext cx="3619500" cy="197802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EAF03180-19ED-4193-B4E9-F0F435AEB950}"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755650" y="260350"/>
            <a:ext cx="7086600" cy="685800"/>
          </a:xfrm>
        </p:spPr>
        <p:txBody>
          <a:bodyPr/>
          <a:lstStyle/>
          <a:p>
            <a:r>
              <a:rPr lang="zh-CN" altLang="en-US" noProof="1"/>
              <a:t>单击此处编辑母版标题样式</a:t>
            </a:r>
            <a:endParaRPr lang="zh-CN" altLang="en-US" noProof="1"/>
          </a:p>
        </p:txBody>
      </p:sp>
      <p:sp>
        <p:nvSpPr>
          <p:cNvPr id="3" name="内容占位符 2"/>
          <p:cNvSpPr>
            <a:spLocks noGrp="1"/>
          </p:cNvSpPr>
          <p:nvPr>
            <p:ph sz="quarter" idx="1"/>
          </p:nvPr>
        </p:nvSpPr>
        <p:spPr>
          <a:xfrm>
            <a:off x="914400" y="1524000"/>
            <a:ext cx="3619500" cy="91281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quarter" idx="2"/>
          </p:nvPr>
        </p:nvSpPr>
        <p:spPr>
          <a:xfrm>
            <a:off x="4686300" y="1524000"/>
            <a:ext cx="3619500" cy="91281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内容占位符 4"/>
          <p:cNvSpPr>
            <a:spLocks noGrp="1"/>
          </p:cNvSpPr>
          <p:nvPr>
            <p:ph sz="quarter" idx="3"/>
          </p:nvPr>
        </p:nvSpPr>
        <p:spPr>
          <a:xfrm>
            <a:off x="914400" y="2589213"/>
            <a:ext cx="3619500" cy="912812"/>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6" name="内容占位符 5"/>
          <p:cNvSpPr>
            <a:spLocks noGrp="1"/>
          </p:cNvSpPr>
          <p:nvPr>
            <p:ph sz="quarter" idx="4"/>
          </p:nvPr>
        </p:nvSpPr>
        <p:spPr>
          <a:xfrm>
            <a:off x="4686300" y="2589213"/>
            <a:ext cx="3619500" cy="912812"/>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EAF03180-19ED-4193-B4E9-F0F435AEB950}"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OverTx" preserve="1">
  <p:cSld name="标题和内容在文本之上">
    <p:spTree>
      <p:nvGrpSpPr>
        <p:cNvPr id="1" name=""/>
        <p:cNvGrpSpPr/>
        <p:nvPr/>
      </p:nvGrpSpPr>
      <p:grpSpPr>
        <a:xfrm>
          <a:off x="0" y="0"/>
          <a:ext cx="0" cy="0"/>
          <a:chOff x="0" y="0"/>
          <a:chExt cx="0" cy="0"/>
        </a:xfrm>
      </p:grpSpPr>
      <p:sp>
        <p:nvSpPr>
          <p:cNvPr id="2" name="标题 1"/>
          <p:cNvSpPr>
            <a:spLocks noGrp="1"/>
          </p:cNvSpPr>
          <p:nvPr>
            <p:ph type="title"/>
          </p:nvPr>
        </p:nvSpPr>
        <p:spPr>
          <a:xfrm>
            <a:off x="755650" y="260350"/>
            <a:ext cx="7086600" cy="685800"/>
          </a:xfrm>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914400" y="1524000"/>
            <a:ext cx="7391400" cy="91281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914400" y="2589213"/>
            <a:ext cx="7391400" cy="912812"/>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EAF03180-19ED-4193-B4E9-F0F435AEB950}"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755650" y="260350"/>
            <a:ext cx="7550150" cy="324167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3" name="页脚占位符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EAF03180-19ED-4193-B4E9-F0F435AEB950}"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pic>
        <p:nvPicPr>
          <p:cNvPr id="4098" name="Picture 4" descr="cover_01"/>
          <p:cNvPicPr>
            <a:picLocks noChangeAspect="1"/>
          </p:cNvPicPr>
          <p:nvPr/>
        </p:nvPicPr>
        <p:blipFill>
          <a:blip r:embed="rId2"/>
          <a:stretch>
            <a:fillRect/>
          </a:stretch>
        </p:blipFill>
        <p:spPr>
          <a:xfrm>
            <a:off x="-26987" y="0"/>
            <a:ext cx="7380287" cy="6858000"/>
          </a:xfrm>
          <a:prstGeom prst="rect">
            <a:avLst/>
          </a:prstGeom>
          <a:noFill/>
          <a:ln w="9525">
            <a:noFill/>
          </a:ln>
        </p:spPr>
      </p:pic>
      <p:sp>
        <p:nvSpPr>
          <p:cNvPr id="2050" name="Rectangle 2"/>
          <p:cNvSpPr>
            <a:spLocks noGrp="1" noChangeArrowheads="1"/>
          </p:cNvSpPr>
          <p:nvPr>
            <p:ph type="ctrTitle"/>
          </p:nvPr>
        </p:nvSpPr>
        <p:spPr>
          <a:xfrm>
            <a:off x="2555776" y="2132856"/>
            <a:ext cx="6156424" cy="673844"/>
          </a:xfrm>
          <a:effectLst>
            <a:outerShdw dist="17961" dir="2700000" algn="ctr" rotWithShape="0">
              <a:srgbClr val="777777"/>
            </a:outerShdw>
          </a:effectLst>
        </p:spPr>
        <p:txBody>
          <a:bodyPr/>
          <a:lstStyle>
            <a:lvl1pPr>
              <a:defRPr sz="4400">
                <a:solidFill>
                  <a:schemeClr val="accent2"/>
                </a:solidFill>
                <a:latin typeface="Arial" panose="020B0604020202020204" pitchFamily="34" charset="0"/>
              </a:defRPr>
            </a:lvl1pPr>
          </a:lstStyle>
          <a:p>
            <a:pPr lvl="0"/>
            <a:endParaRPr lang="zh-CN" altLang="zh-CN" noProof="0"/>
          </a:p>
        </p:txBody>
      </p:sp>
      <p:sp>
        <p:nvSpPr>
          <p:cNvPr id="2051" name="Rectangle 3"/>
          <p:cNvSpPr>
            <a:spLocks noGrp="1" noChangeArrowheads="1"/>
          </p:cNvSpPr>
          <p:nvPr>
            <p:ph type="subTitle" idx="1"/>
          </p:nvPr>
        </p:nvSpPr>
        <p:spPr>
          <a:xfrm>
            <a:off x="3923928" y="3212976"/>
            <a:ext cx="3744416" cy="864096"/>
          </a:xfrm>
        </p:spPr>
        <p:txBody>
          <a:bodyPr/>
          <a:lstStyle>
            <a:lvl1pPr marL="0" indent="0" algn="ctr">
              <a:lnSpc>
                <a:spcPct val="100000"/>
              </a:lnSpc>
              <a:spcBef>
                <a:spcPct val="0"/>
              </a:spcBef>
              <a:buClrTx/>
              <a:buSzTx/>
              <a:buFontTx/>
              <a:buNone/>
              <a:defRPr sz="2800" b="1">
                <a:effectLst>
                  <a:outerShdw blurRad="38100" dist="38100" dir="2700000" algn="tl">
                    <a:srgbClr val="C0C0C0"/>
                  </a:outerShdw>
                </a:effectLst>
              </a:defRPr>
            </a:lvl1pPr>
          </a:lstStyle>
          <a:p>
            <a:pPr lvl="0"/>
            <a:r>
              <a:rPr lang="zh-CN" noProof="0" dirty="0"/>
              <a:t>单击此处编辑母版副标题样式</a:t>
            </a:r>
            <a:endParaRPr lang="zh-CN" noProof="0" dirty="0"/>
          </a:p>
        </p:txBody>
      </p:sp>
    </p:spTree>
  </p:cSld>
  <p:clrMapOvr>
    <a:masterClrMapping/>
  </p:clrMapOvr>
  <p:transition spd="med">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827584" y="1380248"/>
            <a:ext cx="7391400" cy="2283702"/>
          </a:xfrm>
        </p:spPr>
        <p:txBody>
          <a:bodyPr/>
          <a:lstStyle>
            <a:lvl1pPr>
              <a:defRPr sz="2400">
                <a:latin typeface="华文中宋" panose="02010600040101010101" pitchFamily="2" charset="-122"/>
                <a:ea typeface="华文中宋" panose="02010600040101010101" pitchFamily="2" charset="-122"/>
              </a:defRPr>
            </a:lvl1pPr>
            <a:lvl2pPr>
              <a:defRPr sz="2000">
                <a:latin typeface="华文中宋" panose="02010600040101010101" pitchFamily="2" charset="-122"/>
                <a:ea typeface="华文中宋" panose="02010600040101010101" pitchFamily="2" charset="-122"/>
              </a:defRPr>
            </a:lvl2pPr>
            <a:lvl3pPr>
              <a:defRPr sz="1800">
                <a:latin typeface="华文中宋" panose="02010600040101010101" pitchFamily="2" charset="-122"/>
                <a:ea typeface="华文中宋" panose="02010600040101010101" pitchFamily="2" charset="-122"/>
              </a:defRPr>
            </a:lvl3pPr>
            <a:lvl4pPr>
              <a:defRPr sz="1600">
                <a:latin typeface="华文中宋" panose="02010600040101010101" pitchFamily="2" charset="-122"/>
                <a:ea typeface="华文中宋" panose="02010600040101010101" pitchFamily="2" charset="-122"/>
              </a:defRPr>
            </a:lvl4pPr>
            <a:lvl5pPr>
              <a:defRPr sz="1400">
                <a:latin typeface="华文中宋" panose="02010600040101010101" pitchFamily="2" charset="-122"/>
                <a:ea typeface="华文中宋" panose="02010600040101010101" pitchFamily="2" charset="-122"/>
              </a:defRPr>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E0808468-CC37-4187-8C0A-DA9DB7930305}"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E0808468-CC37-4187-8C0A-DA9DB7930305}"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914400" y="1524000"/>
            <a:ext cx="3619500" cy="1978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86300" y="1524000"/>
            <a:ext cx="3619500" cy="1978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E0808468-CC37-4187-8C0A-DA9DB7930305}"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E0808468-CC37-4187-8C0A-DA9DB7930305}"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页脚占位符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E0808468-CC37-4187-8C0A-DA9DB7930305}"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E0808468-CC37-4187-8C0A-DA9DB7930305}"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E0808468-CC37-4187-8C0A-DA9DB7930305}"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E0808468-CC37-4187-8C0A-DA9DB7930305}"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E0808468-CC37-4187-8C0A-DA9DB7930305}"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18263" y="260350"/>
            <a:ext cx="1887537" cy="3241675"/>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755650" y="260350"/>
            <a:ext cx="5510213" cy="3241675"/>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E0808468-CC37-4187-8C0A-DA9DB7930305}"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755650" y="260350"/>
            <a:ext cx="7086600" cy="685800"/>
          </a:xfrm>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914400" y="1524000"/>
            <a:ext cx="3619500" cy="197802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86300" y="1524000"/>
            <a:ext cx="3619500" cy="197802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E0808468-CC37-4187-8C0A-DA9DB7930305}"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755650" y="260350"/>
            <a:ext cx="7086600" cy="685800"/>
          </a:xfrm>
        </p:spPr>
        <p:txBody>
          <a:bodyPr/>
          <a:lstStyle/>
          <a:p>
            <a:r>
              <a:rPr lang="zh-CN" altLang="en-US" noProof="1"/>
              <a:t>单击此处编辑母版标题样式</a:t>
            </a:r>
            <a:endParaRPr lang="zh-CN" altLang="en-US" noProof="1"/>
          </a:p>
        </p:txBody>
      </p:sp>
      <p:sp>
        <p:nvSpPr>
          <p:cNvPr id="3" name="内容占位符 2"/>
          <p:cNvSpPr>
            <a:spLocks noGrp="1"/>
          </p:cNvSpPr>
          <p:nvPr>
            <p:ph sz="quarter" idx="1"/>
          </p:nvPr>
        </p:nvSpPr>
        <p:spPr>
          <a:xfrm>
            <a:off x="914400" y="1524000"/>
            <a:ext cx="3619500" cy="91281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quarter" idx="2"/>
          </p:nvPr>
        </p:nvSpPr>
        <p:spPr>
          <a:xfrm>
            <a:off x="4686300" y="1524000"/>
            <a:ext cx="3619500" cy="91281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内容占位符 4"/>
          <p:cNvSpPr>
            <a:spLocks noGrp="1"/>
          </p:cNvSpPr>
          <p:nvPr>
            <p:ph sz="quarter" idx="3"/>
          </p:nvPr>
        </p:nvSpPr>
        <p:spPr>
          <a:xfrm>
            <a:off x="914400" y="2589213"/>
            <a:ext cx="3619500" cy="912812"/>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6" name="内容占位符 5"/>
          <p:cNvSpPr>
            <a:spLocks noGrp="1"/>
          </p:cNvSpPr>
          <p:nvPr>
            <p:ph sz="quarter" idx="4"/>
          </p:nvPr>
        </p:nvSpPr>
        <p:spPr>
          <a:xfrm>
            <a:off x="4686300" y="2589213"/>
            <a:ext cx="3619500" cy="912812"/>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E0808468-CC37-4187-8C0A-DA9DB7930305}"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objOverTx" preserve="1">
  <p:cSld name="标题和内容在文本之上">
    <p:spTree>
      <p:nvGrpSpPr>
        <p:cNvPr id="1" name=""/>
        <p:cNvGrpSpPr/>
        <p:nvPr/>
      </p:nvGrpSpPr>
      <p:grpSpPr>
        <a:xfrm>
          <a:off x="0" y="0"/>
          <a:ext cx="0" cy="0"/>
          <a:chOff x="0" y="0"/>
          <a:chExt cx="0" cy="0"/>
        </a:xfrm>
      </p:grpSpPr>
      <p:sp>
        <p:nvSpPr>
          <p:cNvPr id="2" name="标题 1"/>
          <p:cNvSpPr>
            <a:spLocks noGrp="1"/>
          </p:cNvSpPr>
          <p:nvPr>
            <p:ph type="title"/>
          </p:nvPr>
        </p:nvSpPr>
        <p:spPr>
          <a:xfrm>
            <a:off x="755650" y="260350"/>
            <a:ext cx="7086600" cy="685800"/>
          </a:xfrm>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914400" y="1524000"/>
            <a:ext cx="7391400" cy="91281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914400" y="2589213"/>
            <a:ext cx="7391400" cy="912812"/>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E0808468-CC37-4187-8C0A-DA9DB7930305}"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755650" y="260350"/>
            <a:ext cx="7550150" cy="324167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3" name="页脚占位符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E0808468-CC37-4187-8C0A-DA9DB7930305}"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2.png"/><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slideLayout" Target="../slideLayouts/slideLayout23.xml"/><Relationship Id="rId7" Type="http://schemas.openxmlformats.org/officeDocument/2006/relationships/slideLayout" Target="../slideLayouts/slideLayout22.xml"/><Relationship Id="rId6" Type="http://schemas.openxmlformats.org/officeDocument/2006/relationships/slideLayout" Target="../slideLayouts/slideLayout21.xml"/><Relationship Id="rId5" Type="http://schemas.openxmlformats.org/officeDocument/2006/relationships/slideLayout" Target="../slideLayouts/slideLayout20.xml"/><Relationship Id="rId4" Type="http://schemas.openxmlformats.org/officeDocument/2006/relationships/slideLayout" Target="../slideLayouts/slideLayout19.xml"/><Relationship Id="rId3" Type="http://schemas.openxmlformats.org/officeDocument/2006/relationships/slideLayout" Target="../slideLayouts/slideLayout18.xml"/><Relationship Id="rId2" Type="http://schemas.openxmlformats.org/officeDocument/2006/relationships/slideLayout" Target="../slideLayouts/slideLayout17.xml"/><Relationship Id="rId17" Type="http://schemas.openxmlformats.org/officeDocument/2006/relationships/theme" Target="../theme/theme2.xml"/><Relationship Id="rId16" Type="http://schemas.openxmlformats.org/officeDocument/2006/relationships/image" Target="../media/image2.png"/><Relationship Id="rId15" Type="http://schemas.openxmlformats.org/officeDocument/2006/relationships/slideLayout" Target="../slideLayouts/slideLayout30.xml"/><Relationship Id="rId14" Type="http://schemas.openxmlformats.org/officeDocument/2006/relationships/slideLayout" Target="../slideLayouts/slideLayout29.xml"/><Relationship Id="rId13" Type="http://schemas.openxmlformats.org/officeDocument/2006/relationships/slideLayout" Target="../slideLayouts/slideLayout28.xml"/><Relationship Id="rId12" Type="http://schemas.openxmlformats.org/officeDocument/2006/relationships/slideLayout" Target="../slideLayouts/slideLayout27.xml"/><Relationship Id="rId11" Type="http://schemas.openxmlformats.org/officeDocument/2006/relationships/slideLayout" Target="../slideLayouts/slideLayout26.xml"/><Relationship Id="rId10" Type="http://schemas.openxmlformats.org/officeDocument/2006/relationships/slideLayout" Target="../slideLayouts/slideLayout25.xml"/><Relationship Id="rId1"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1476375" y="260350"/>
            <a:ext cx="6365875" cy="685800"/>
          </a:xfrm>
          <a:prstGeom prst="rect">
            <a:avLst/>
          </a:prstGeom>
          <a:noFill/>
          <a:ln w="9525">
            <a:noFill/>
          </a:ln>
          <a:effectLst>
            <a:outerShdw dist="17961" dir="2699999" algn="ctr" rotWithShape="0">
              <a:srgbClr val="DDDDDD"/>
            </a:outerShdw>
          </a:effectLst>
        </p:spPr>
        <p:txBody>
          <a:bodyPr anchor="ctr" anchorCtr="0"/>
          <a:p>
            <a:pPr lvl="0"/>
            <a:r>
              <a:rPr lang="zh-CN" altLang="zh-CN" dirty="0"/>
              <a:t>单击此处编辑母版标题样式</a:t>
            </a:r>
            <a:endParaRPr lang="zh-CN" altLang="zh-CN" dirty="0"/>
          </a:p>
        </p:txBody>
      </p:sp>
      <p:sp>
        <p:nvSpPr>
          <p:cNvPr id="1027" name="Rectangle 3"/>
          <p:cNvSpPr>
            <a:spLocks noGrp="1"/>
          </p:cNvSpPr>
          <p:nvPr>
            <p:ph type="body"/>
          </p:nvPr>
        </p:nvSpPr>
        <p:spPr>
          <a:xfrm>
            <a:off x="827088" y="1412875"/>
            <a:ext cx="7391400" cy="1978025"/>
          </a:xfrm>
          <a:prstGeom prst="rect">
            <a:avLst/>
          </a:prstGeom>
          <a:noFill/>
          <a:ln w="9525">
            <a:noFill/>
          </a:ln>
        </p:spPr>
        <p:txBody>
          <a:bodyPr>
            <a:spAutoFit/>
          </a:bodyPr>
          <a:p>
            <a:pPr lvl="0"/>
            <a:r>
              <a:rPr lang="zh-CN" altLang="zh-CN" dirty="0"/>
              <a:t>单击此处编辑母版文本样式</a:t>
            </a:r>
            <a:endParaRPr lang="zh-CN" altLang="zh-CN" dirty="0"/>
          </a:p>
          <a:p>
            <a:pPr lvl="1"/>
            <a:r>
              <a:rPr lang="zh-CN" altLang="zh-CN" dirty="0"/>
              <a:t>第二级</a:t>
            </a:r>
            <a:endParaRPr lang="zh-CN" altLang="zh-CN" dirty="0"/>
          </a:p>
          <a:p>
            <a:pPr lvl="2"/>
            <a:r>
              <a:rPr lang="zh-CN" altLang="zh-CN" dirty="0"/>
              <a:t>第三级</a:t>
            </a:r>
            <a:endParaRPr lang="zh-CN" altLang="zh-CN" dirty="0"/>
          </a:p>
          <a:p>
            <a:pPr lvl="3"/>
            <a:r>
              <a:rPr lang="zh-CN" altLang="zh-CN" dirty="0"/>
              <a:t>第四级</a:t>
            </a:r>
            <a:endParaRPr lang="zh-CN" altLang="zh-CN" dirty="0"/>
          </a:p>
          <a:p>
            <a:pPr lvl="4"/>
            <a:r>
              <a:rPr lang="zh-CN" altLang="zh-CN" dirty="0"/>
              <a:t>第五级</a:t>
            </a:r>
            <a:endParaRPr lang="zh-CN" altLang="zh-CN" dirty="0"/>
          </a:p>
        </p:txBody>
      </p:sp>
      <p:sp>
        <p:nvSpPr>
          <p:cNvPr id="1028" name="Line 4"/>
          <p:cNvSpPr/>
          <p:nvPr/>
        </p:nvSpPr>
        <p:spPr>
          <a:xfrm flipV="1">
            <a:off x="381000" y="954088"/>
            <a:ext cx="8294688" cy="36512"/>
          </a:xfrm>
          <a:prstGeom prst="line">
            <a:avLst/>
          </a:prstGeom>
          <a:ln w="38100" cap="flat" cmpd="sng">
            <a:solidFill>
              <a:srgbClr val="0066FF"/>
            </a:solidFill>
            <a:prstDash val="solid"/>
            <a:headEnd type="none" w="med" len="med"/>
            <a:tailEnd type="none" w="med" len="med"/>
          </a:ln>
        </p:spPr>
      </p:sp>
      <p:sp>
        <p:nvSpPr>
          <p:cNvPr id="1029" name="Rectangle 5"/>
          <p:cNvSpPr>
            <a:spLocks noGrp="1" noChangeArrowheads="1"/>
          </p:cNvSpPr>
          <p:nvPr>
            <p:ph type="ftr" sz="quarter" idx="3"/>
          </p:nvPr>
        </p:nvSpPr>
        <p:spPr bwMode="auto">
          <a:xfrm>
            <a:off x="7812088" y="6381750"/>
            <a:ext cx="1331913" cy="476250"/>
          </a:xfrm>
          <a:prstGeom prst="rect">
            <a:avLst/>
          </a:prstGeom>
          <a:noFill/>
          <a:ln>
            <a:noFill/>
          </a:ln>
          <a:effectLst/>
        </p:spPr>
        <p:txBody>
          <a:bodyPr vert="horz" wrap="square" lIns="91440" tIns="45720" rIns="91440" bIns="45720" numCol="1" anchor="t" anchorCtr="0" compatLnSpc="1"/>
          <a:lstStyle>
            <a:lvl1pPr algn="ctr" eaLnBrk="1" hangingPunct="1">
              <a:defRPr sz="1800">
                <a:latin typeface="Times New Roman" panose="02020603050405020304" pitchFamily="18"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EAF03180-19ED-4193-B4E9-F0F435AEB950}"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1030" name="Rectangle 7"/>
          <p:cNvSpPr>
            <a:spLocks noChangeArrowheads="1"/>
          </p:cNvSpPr>
          <p:nvPr/>
        </p:nvSpPr>
        <p:spPr bwMode="auto">
          <a:xfrm rot="10800000" flipH="1" flipV="1">
            <a:off x="0" y="6413500"/>
            <a:ext cx="5715000" cy="39688"/>
          </a:xfrm>
          <a:prstGeom prst="rect">
            <a:avLst/>
          </a:prstGeom>
          <a:gradFill flip="none" rotWithShape="1">
            <a:gsLst>
              <a:gs pos="0">
                <a:srgbClr val="0066FF"/>
              </a:gs>
              <a:gs pos="100000">
                <a:srgbClr val="FFFFFF"/>
              </a:gs>
            </a:gsLst>
            <a:lin ang="0" scaled="1"/>
            <a:tileRect/>
          </a:gradFill>
          <a:ln w="9525">
            <a:noFill/>
            <a:miter lim="800000"/>
          </a:ln>
          <a:effectLst/>
        </p:spPr>
        <p:txBody>
          <a:bodyPr wrap="none" anchor="ctr"/>
          <a:lstStyle>
            <a:lvl1pPr eaLnBrk="0" hangingPunct="0">
              <a:defRPr sz="2400" b="1">
                <a:solidFill>
                  <a:schemeClr val="accent2"/>
                </a:solidFill>
                <a:latin typeface="华文中宋" panose="02010600040101010101" pitchFamily="2" charset="-122"/>
                <a:ea typeface="华文中宋" panose="02010600040101010101" pitchFamily="2" charset="-122"/>
              </a:defRPr>
            </a:lvl1pPr>
            <a:lvl2pPr marL="742950" indent="-285750" eaLnBrk="0" hangingPunct="0">
              <a:defRPr sz="2400" b="1">
                <a:solidFill>
                  <a:schemeClr val="accent2"/>
                </a:solidFill>
                <a:latin typeface="华文中宋" panose="02010600040101010101" pitchFamily="2" charset="-122"/>
                <a:ea typeface="华文中宋" panose="02010600040101010101" pitchFamily="2" charset="-122"/>
              </a:defRPr>
            </a:lvl2pPr>
            <a:lvl3pPr marL="1143000" indent="-228600" eaLnBrk="0" hangingPunct="0">
              <a:defRPr sz="2400" b="1">
                <a:solidFill>
                  <a:schemeClr val="accent2"/>
                </a:solidFill>
                <a:latin typeface="华文中宋" panose="02010600040101010101" pitchFamily="2" charset="-122"/>
                <a:ea typeface="华文中宋" panose="02010600040101010101" pitchFamily="2" charset="-122"/>
              </a:defRPr>
            </a:lvl3pPr>
            <a:lvl4pPr marL="1600200" indent="-228600" eaLnBrk="0" hangingPunct="0">
              <a:defRPr sz="2400" b="1">
                <a:solidFill>
                  <a:schemeClr val="accent2"/>
                </a:solidFill>
                <a:latin typeface="华文中宋" panose="02010600040101010101" pitchFamily="2" charset="-122"/>
                <a:ea typeface="华文中宋" panose="02010600040101010101" pitchFamily="2" charset="-122"/>
              </a:defRPr>
            </a:lvl4pPr>
            <a:lvl5pPr marL="2057400" indent="-228600" eaLnBrk="0" hangingPunct="0">
              <a:defRPr sz="2400" b="1">
                <a:solidFill>
                  <a:schemeClr val="accent2"/>
                </a:solidFill>
                <a:latin typeface="华文中宋" panose="02010600040101010101" pitchFamily="2" charset="-122"/>
                <a:ea typeface="华文中宋" panose="02010600040101010101" pitchFamily="2" charset="-122"/>
              </a:defRPr>
            </a:lvl5pPr>
            <a:lvl6pPr marL="25146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6pPr>
            <a:lvl7pPr marL="29718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7pPr>
            <a:lvl8pPr marL="34290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8pPr>
            <a:lvl9pPr marL="38862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uLnTx/>
              <a:uFillTx/>
              <a:latin typeface="华文中宋" panose="02010600040101010101" pitchFamily="2" charset="-122"/>
              <a:ea typeface="华文中宋" panose="02010600040101010101" pitchFamily="2" charset="-122"/>
              <a:cs typeface="+mn-cs"/>
            </a:endParaRPr>
          </a:p>
        </p:txBody>
      </p:sp>
      <p:sp>
        <p:nvSpPr>
          <p:cNvPr id="1033" name="Text Box 9"/>
          <p:cNvSpPr txBox="1">
            <a:spLocks noChangeArrowheads="1"/>
          </p:cNvSpPr>
          <p:nvPr/>
        </p:nvSpPr>
        <p:spPr bwMode="auto">
          <a:xfrm>
            <a:off x="539750" y="6380163"/>
            <a:ext cx="2540000" cy="415925"/>
          </a:xfrm>
          <a:prstGeom prst="rect">
            <a:avLst/>
          </a:prstGeom>
          <a:noFill/>
          <a:ln>
            <a:noFill/>
          </a:ln>
          <a:effectLst/>
        </p:spPr>
        <p:txBody>
          <a:bodyPr lIns="0" tIns="0" rIns="0" bIns="0" anchor="ctr">
            <a:spAutoFit/>
          </a:bodyPr>
          <a:lstStyle/>
          <a:p>
            <a:pPr marL="0" marR="0" lvl="0" indent="0" algn="l" defTabSz="914400" rtl="0" eaLnBrk="1" fontAlgn="base" latinLnBrk="0" hangingPunct="1">
              <a:lnSpc>
                <a:spcPct val="150000"/>
              </a:lnSpc>
              <a:spcBef>
                <a:spcPct val="50000"/>
              </a:spcBef>
              <a:spcAft>
                <a:spcPct val="50000"/>
              </a:spcAft>
              <a:buClrTx/>
              <a:buSzTx/>
              <a:buFontTx/>
              <a:buNone/>
              <a:defRPr/>
            </a:pPr>
            <a:r>
              <a:rPr kumimoji="0" lang="en-US" altLang="zh-CN"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a:t>
            </a:r>
            <a:r>
              <a:rPr kumimoji="0" lang="zh-CN" altLang="en-US"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软件工</a:t>
            </a:r>
            <a:r>
              <a:rPr kumimoji="0" lang="zh-CN" altLang="en-US" sz="1800" b="0" i="0" u="none" strike="noStrike" kern="1200" cap="none" spc="0" normalizeH="0" baseline="0" noProof="0" dirty="0" smtClean="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程与安全</a:t>
            </a:r>
            <a:r>
              <a:rPr kumimoji="0" lang="en-US" altLang="zh-CN" sz="1800" b="0" i="0" u="none" strike="noStrike" kern="1200" cap="none" spc="0" normalizeH="0" baseline="0" noProof="0" dirty="0" smtClean="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a:t>
            </a:r>
            <a:endParaRPr kumimoji="0" lang="zh-CN"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endParaRPr>
          </a:p>
        </p:txBody>
      </p:sp>
      <p:pic>
        <p:nvPicPr>
          <p:cNvPr id="1032" name="图片 1"/>
          <p:cNvPicPr>
            <a:picLocks noChangeAspect="1"/>
          </p:cNvPicPr>
          <p:nvPr userDrawn="1"/>
        </p:nvPicPr>
        <p:blipFill>
          <a:blip r:embed="rId16"/>
          <a:stretch>
            <a:fillRect/>
          </a:stretch>
        </p:blipFill>
        <p:spPr>
          <a:xfrm>
            <a:off x="8294688" y="71438"/>
            <a:ext cx="763587" cy="76517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spd="med">
    <p:fade/>
  </p:transition>
  <p:hf sldNum="0" hdr="0" ftr="0" dt="0"/>
  <p:txStyles>
    <p:titleStyle>
      <a:lvl1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cs typeface="+mj-cs"/>
        </a:defRPr>
      </a:lvl1pPr>
      <a:lvl2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2pPr>
      <a:lvl3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3pPr>
      <a:lvl4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4pPr>
      <a:lvl5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5pPr>
      <a:lvl6pPr marL="4572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9pPr>
    </p:titleStyle>
    <p:body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vl6pPr marL="2386330" indent="-228600" algn="just" rtl="0" fontAlgn="base">
        <a:lnSpc>
          <a:spcPct val="140000"/>
        </a:lnSpc>
        <a:spcBef>
          <a:spcPct val="20000"/>
        </a:spcBef>
        <a:spcAft>
          <a:spcPct val="0"/>
        </a:spcAft>
        <a:buChar char="»"/>
        <a:defRPr sz="1200">
          <a:solidFill>
            <a:schemeClr val="tx1"/>
          </a:solidFill>
          <a:latin typeface="+mn-lt"/>
          <a:ea typeface="+mn-ea"/>
        </a:defRPr>
      </a:lvl6pPr>
      <a:lvl7pPr marL="2843530" indent="-228600" algn="just" rtl="0" fontAlgn="base">
        <a:lnSpc>
          <a:spcPct val="140000"/>
        </a:lnSpc>
        <a:spcBef>
          <a:spcPct val="20000"/>
        </a:spcBef>
        <a:spcAft>
          <a:spcPct val="0"/>
        </a:spcAft>
        <a:buChar char="»"/>
        <a:defRPr sz="1200">
          <a:solidFill>
            <a:schemeClr val="tx1"/>
          </a:solidFill>
          <a:latin typeface="+mn-lt"/>
          <a:ea typeface="+mn-ea"/>
        </a:defRPr>
      </a:lvl7pPr>
      <a:lvl8pPr marL="3300730" indent="-228600" algn="just" rtl="0" fontAlgn="base">
        <a:lnSpc>
          <a:spcPct val="140000"/>
        </a:lnSpc>
        <a:spcBef>
          <a:spcPct val="20000"/>
        </a:spcBef>
        <a:spcAft>
          <a:spcPct val="0"/>
        </a:spcAft>
        <a:buChar char="»"/>
        <a:defRPr sz="1200">
          <a:solidFill>
            <a:schemeClr val="tx1"/>
          </a:solidFill>
          <a:latin typeface="+mn-lt"/>
          <a:ea typeface="+mn-ea"/>
        </a:defRPr>
      </a:lvl8pPr>
      <a:lvl9pPr marL="3757930" indent="-228600" algn="just" rtl="0" fontAlgn="base">
        <a:lnSpc>
          <a:spcPct val="140000"/>
        </a:lnSpc>
        <a:spcBef>
          <a:spcPct val="20000"/>
        </a:spcBef>
        <a:spcAft>
          <a:spcPct val="0"/>
        </a:spcAft>
        <a:buChar char="»"/>
        <a:defRPr sz="12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Rectangle 2"/>
          <p:cNvSpPr>
            <a:spLocks noGrp="1"/>
          </p:cNvSpPr>
          <p:nvPr>
            <p:ph type="title"/>
          </p:nvPr>
        </p:nvSpPr>
        <p:spPr>
          <a:xfrm>
            <a:off x="1476375" y="260350"/>
            <a:ext cx="6365875" cy="685800"/>
          </a:xfrm>
          <a:prstGeom prst="rect">
            <a:avLst/>
          </a:prstGeom>
          <a:noFill/>
          <a:ln w="9525">
            <a:noFill/>
          </a:ln>
          <a:effectLst>
            <a:outerShdw dist="17961" dir="2699999" algn="ctr" rotWithShape="0">
              <a:srgbClr val="DDDDDD"/>
            </a:outerShdw>
          </a:effectLst>
        </p:spPr>
        <p:txBody>
          <a:bodyPr anchor="ctr" anchorCtr="0"/>
          <a:p>
            <a:pPr lvl="0"/>
            <a:r>
              <a:rPr lang="zh-CN" altLang="zh-CN" dirty="0"/>
              <a:t>单击此处编辑母版标题样式</a:t>
            </a:r>
            <a:endParaRPr lang="zh-CN" altLang="zh-CN" dirty="0"/>
          </a:p>
        </p:txBody>
      </p:sp>
      <p:sp>
        <p:nvSpPr>
          <p:cNvPr id="2051" name="Rectangle 3"/>
          <p:cNvSpPr>
            <a:spLocks noGrp="1"/>
          </p:cNvSpPr>
          <p:nvPr>
            <p:ph type="body"/>
          </p:nvPr>
        </p:nvSpPr>
        <p:spPr>
          <a:xfrm>
            <a:off x="827088" y="1412875"/>
            <a:ext cx="7391400" cy="1978025"/>
          </a:xfrm>
          <a:prstGeom prst="rect">
            <a:avLst/>
          </a:prstGeom>
          <a:noFill/>
          <a:ln w="9525">
            <a:noFill/>
          </a:ln>
        </p:spPr>
        <p:txBody>
          <a:bodyPr>
            <a:spAutoFit/>
          </a:bodyPr>
          <a:p>
            <a:pPr lvl="0"/>
            <a:r>
              <a:rPr lang="zh-CN" altLang="zh-CN" dirty="0"/>
              <a:t>单击此处编辑母版文本样式</a:t>
            </a:r>
            <a:endParaRPr lang="zh-CN" altLang="zh-CN" dirty="0"/>
          </a:p>
          <a:p>
            <a:pPr lvl="1"/>
            <a:r>
              <a:rPr lang="zh-CN" altLang="zh-CN" dirty="0"/>
              <a:t>第二级</a:t>
            </a:r>
            <a:endParaRPr lang="zh-CN" altLang="zh-CN" dirty="0"/>
          </a:p>
          <a:p>
            <a:pPr lvl="2"/>
            <a:r>
              <a:rPr lang="zh-CN" altLang="zh-CN" dirty="0"/>
              <a:t>第三级</a:t>
            </a:r>
            <a:endParaRPr lang="zh-CN" altLang="zh-CN" dirty="0"/>
          </a:p>
          <a:p>
            <a:pPr lvl="3"/>
            <a:r>
              <a:rPr lang="zh-CN" altLang="zh-CN" dirty="0"/>
              <a:t>第四级</a:t>
            </a:r>
            <a:endParaRPr lang="zh-CN" altLang="zh-CN" dirty="0"/>
          </a:p>
          <a:p>
            <a:pPr lvl="4"/>
            <a:r>
              <a:rPr lang="zh-CN" altLang="zh-CN" dirty="0"/>
              <a:t>第五级</a:t>
            </a:r>
            <a:endParaRPr lang="zh-CN" altLang="zh-CN" dirty="0"/>
          </a:p>
        </p:txBody>
      </p:sp>
      <p:sp>
        <p:nvSpPr>
          <p:cNvPr id="2052" name="Line 4"/>
          <p:cNvSpPr/>
          <p:nvPr/>
        </p:nvSpPr>
        <p:spPr>
          <a:xfrm flipV="1">
            <a:off x="381000" y="954088"/>
            <a:ext cx="8294688" cy="36512"/>
          </a:xfrm>
          <a:prstGeom prst="line">
            <a:avLst/>
          </a:prstGeom>
          <a:ln w="38100" cap="flat" cmpd="sng">
            <a:solidFill>
              <a:srgbClr val="0066FF"/>
            </a:solidFill>
            <a:prstDash val="solid"/>
            <a:headEnd type="none" w="med" len="med"/>
            <a:tailEnd type="none" w="med" len="med"/>
          </a:ln>
        </p:spPr>
      </p:sp>
      <p:sp>
        <p:nvSpPr>
          <p:cNvPr id="1029" name="Rectangle 5"/>
          <p:cNvSpPr>
            <a:spLocks noGrp="1" noChangeArrowheads="1"/>
          </p:cNvSpPr>
          <p:nvPr>
            <p:ph type="ftr" sz="quarter" idx="3"/>
          </p:nvPr>
        </p:nvSpPr>
        <p:spPr bwMode="auto">
          <a:xfrm>
            <a:off x="7812088" y="6381750"/>
            <a:ext cx="1331913" cy="476250"/>
          </a:xfrm>
          <a:prstGeom prst="rect">
            <a:avLst/>
          </a:prstGeom>
          <a:noFill/>
          <a:ln>
            <a:noFill/>
          </a:ln>
          <a:effectLst/>
        </p:spPr>
        <p:txBody>
          <a:bodyPr vert="horz" wrap="square" lIns="91440" tIns="45720" rIns="91440" bIns="45720" numCol="1" anchor="t" anchorCtr="0" compatLnSpc="1"/>
          <a:lstStyle>
            <a:lvl1pPr algn="ctr" eaLnBrk="1" hangingPunct="1">
              <a:defRPr sz="1800">
                <a:latin typeface="Times New Roman" panose="02020603050405020304" pitchFamily="18"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E0808468-CC37-4187-8C0A-DA9DB7930305}"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1030" name="Rectangle 7"/>
          <p:cNvSpPr>
            <a:spLocks noChangeArrowheads="1"/>
          </p:cNvSpPr>
          <p:nvPr/>
        </p:nvSpPr>
        <p:spPr bwMode="auto">
          <a:xfrm rot="10800000" flipH="1" flipV="1">
            <a:off x="0" y="6413500"/>
            <a:ext cx="5715000" cy="39688"/>
          </a:xfrm>
          <a:prstGeom prst="rect">
            <a:avLst/>
          </a:prstGeom>
          <a:gradFill flip="none" rotWithShape="1">
            <a:gsLst>
              <a:gs pos="0">
                <a:srgbClr val="0066FF"/>
              </a:gs>
              <a:gs pos="100000">
                <a:srgbClr val="FFFFFF"/>
              </a:gs>
            </a:gsLst>
            <a:lin ang="0" scaled="1"/>
            <a:tileRect/>
          </a:gradFill>
          <a:ln w="9525">
            <a:noFill/>
            <a:miter lim="800000"/>
          </a:ln>
          <a:effectLst/>
        </p:spPr>
        <p:txBody>
          <a:bodyPr wrap="none" anchor="ctr"/>
          <a:lstStyle>
            <a:lvl1pPr eaLnBrk="0" hangingPunct="0">
              <a:defRPr sz="2400" b="1">
                <a:solidFill>
                  <a:schemeClr val="accent2"/>
                </a:solidFill>
                <a:latin typeface="华文中宋" panose="02010600040101010101" pitchFamily="2" charset="-122"/>
                <a:ea typeface="华文中宋" panose="02010600040101010101" pitchFamily="2" charset="-122"/>
              </a:defRPr>
            </a:lvl1pPr>
            <a:lvl2pPr marL="742950" indent="-285750" eaLnBrk="0" hangingPunct="0">
              <a:defRPr sz="2400" b="1">
                <a:solidFill>
                  <a:schemeClr val="accent2"/>
                </a:solidFill>
                <a:latin typeface="华文中宋" panose="02010600040101010101" pitchFamily="2" charset="-122"/>
                <a:ea typeface="华文中宋" panose="02010600040101010101" pitchFamily="2" charset="-122"/>
              </a:defRPr>
            </a:lvl2pPr>
            <a:lvl3pPr marL="1143000" indent="-228600" eaLnBrk="0" hangingPunct="0">
              <a:defRPr sz="2400" b="1">
                <a:solidFill>
                  <a:schemeClr val="accent2"/>
                </a:solidFill>
                <a:latin typeface="华文中宋" panose="02010600040101010101" pitchFamily="2" charset="-122"/>
                <a:ea typeface="华文中宋" panose="02010600040101010101" pitchFamily="2" charset="-122"/>
              </a:defRPr>
            </a:lvl3pPr>
            <a:lvl4pPr marL="1600200" indent="-228600" eaLnBrk="0" hangingPunct="0">
              <a:defRPr sz="2400" b="1">
                <a:solidFill>
                  <a:schemeClr val="accent2"/>
                </a:solidFill>
                <a:latin typeface="华文中宋" panose="02010600040101010101" pitchFamily="2" charset="-122"/>
                <a:ea typeface="华文中宋" panose="02010600040101010101" pitchFamily="2" charset="-122"/>
              </a:defRPr>
            </a:lvl4pPr>
            <a:lvl5pPr marL="2057400" indent="-228600" eaLnBrk="0" hangingPunct="0">
              <a:defRPr sz="2400" b="1">
                <a:solidFill>
                  <a:schemeClr val="accent2"/>
                </a:solidFill>
                <a:latin typeface="华文中宋" panose="02010600040101010101" pitchFamily="2" charset="-122"/>
                <a:ea typeface="华文中宋" panose="02010600040101010101" pitchFamily="2" charset="-122"/>
              </a:defRPr>
            </a:lvl5pPr>
            <a:lvl6pPr marL="25146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6pPr>
            <a:lvl7pPr marL="29718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7pPr>
            <a:lvl8pPr marL="34290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8pPr>
            <a:lvl9pPr marL="38862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uLnTx/>
              <a:uFillTx/>
              <a:latin typeface="华文中宋" panose="02010600040101010101" pitchFamily="2" charset="-122"/>
              <a:ea typeface="华文中宋" panose="02010600040101010101" pitchFamily="2" charset="-122"/>
              <a:cs typeface="+mn-cs"/>
            </a:endParaRPr>
          </a:p>
        </p:txBody>
      </p:sp>
      <p:sp>
        <p:nvSpPr>
          <p:cNvPr id="1033" name="Text Box 9"/>
          <p:cNvSpPr txBox="1">
            <a:spLocks noChangeArrowheads="1"/>
          </p:cNvSpPr>
          <p:nvPr/>
        </p:nvSpPr>
        <p:spPr bwMode="auto">
          <a:xfrm>
            <a:off x="539750" y="6405563"/>
            <a:ext cx="2540000" cy="365125"/>
          </a:xfrm>
          <a:prstGeom prst="rect">
            <a:avLst/>
          </a:prstGeom>
          <a:noFill/>
          <a:ln>
            <a:noFill/>
          </a:ln>
          <a:effectLst/>
        </p:spPr>
        <p:txBody>
          <a:bodyPr lIns="0" tIns="0" rIns="0" bIns="0" anchor="ctr">
            <a:spAutoFit/>
          </a:bodyPr>
          <a:lstStyle/>
          <a:p>
            <a:pPr marL="0" marR="0" lvl="0" indent="0" algn="l" defTabSz="914400" rtl="0" eaLnBrk="1" fontAlgn="base" latinLnBrk="0" hangingPunct="1">
              <a:lnSpc>
                <a:spcPct val="150000"/>
              </a:lnSpc>
              <a:spcBef>
                <a:spcPct val="50000"/>
              </a:spcBef>
              <a:spcAft>
                <a:spcPct val="50000"/>
              </a:spcAft>
              <a:buClrTx/>
              <a:buSzTx/>
              <a:buFontTx/>
              <a:buNone/>
              <a:defRPr/>
            </a:pPr>
            <a:r>
              <a:rPr kumimoji="0" lang="en-US" altLang="zh-CN"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a:t>
            </a:r>
            <a:r>
              <a:rPr kumimoji="0" lang="zh-CN" altLang="en-US"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软件工程技术基础</a:t>
            </a:r>
            <a:r>
              <a:rPr kumimoji="0" lang="en-US" altLang="zh-CN"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a:t>
            </a:r>
            <a:endParaRPr kumimoji="0" lang="zh-CN"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endParaRPr>
          </a:p>
        </p:txBody>
      </p:sp>
      <p:pic>
        <p:nvPicPr>
          <p:cNvPr id="2056" name="图片 1"/>
          <p:cNvPicPr>
            <a:picLocks noChangeAspect="1"/>
          </p:cNvPicPr>
          <p:nvPr userDrawn="1"/>
        </p:nvPicPr>
        <p:blipFill>
          <a:blip r:embed="rId16"/>
          <a:stretch>
            <a:fillRect/>
          </a:stretch>
        </p:blipFill>
        <p:spPr>
          <a:xfrm>
            <a:off x="8294688" y="71438"/>
            <a:ext cx="763587" cy="76517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Lst>
  <p:transition spd="med">
    <p:fade/>
  </p:transition>
  <p:hf sldNum="0" hdr="0" ftr="0" dt="0"/>
  <p:txStyles>
    <p:titleStyle>
      <a:lvl1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cs typeface="+mj-cs"/>
        </a:defRPr>
      </a:lvl1pPr>
      <a:lvl2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2pPr>
      <a:lvl3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3pPr>
      <a:lvl4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4pPr>
      <a:lvl5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5pPr>
      <a:lvl6pPr marL="4572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9pPr>
    </p:titleStyle>
    <p:body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vl6pPr marL="2386330" indent="-228600" algn="just" rtl="0" fontAlgn="base">
        <a:lnSpc>
          <a:spcPct val="140000"/>
        </a:lnSpc>
        <a:spcBef>
          <a:spcPct val="20000"/>
        </a:spcBef>
        <a:spcAft>
          <a:spcPct val="0"/>
        </a:spcAft>
        <a:buChar char="»"/>
        <a:defRPr sz="1200">
          <a:solidFill>
            <a:schemeClr val="tx1"/>
          </a:solidFill>
          <a:latin typeface="+mn-lt"/>
          <a:ea typeface="+mn-ea"/>
        </a:defRPr>
      </a:lvl6pPr>
      <a:lvl7pPr marL="2843530" indent="-228600" algn="just" rtl="0" fontAlgn="base">
        <a:lnSpc>
          <a:spcPct val="140000"/>
        </a:lnSpc>
        <a:spcBef>
          <a:spcPct val="20000"/>
        </a:spcBef>
        <a:spcAft>
          <a:spcPct val="0"/>
        </a:spcAft>
        <a:buChar char="»"/>
        <a:defRPr sz="1200">
          <a:solidFill>
            <a:schemeClr val="tx1"/>
          </a:solidFill>
          <a:latin typeface="+mn-lt"/>
          <a:ea typeface="+mn-ea"/>
        </a:defRPr>
      </a:lvl7pPr>
      <a:lvl8pPr marL="3300730" indent="-228600" algn="just" rtl="0" fontAlgn="base">
        <a:lnSpc>
          <a:spcPct val="140000"/>
        </a:lnSpc>
        <a:spcBef>
          <a:spcPct val="20000"/>
        </a:spcBef>
        <a:spcAft>
          <a:spcPct val="0"/>
        </a:spcAft>
        <a:buChar char="»"/>
        <a:defRPr sz="1200">
          <a:solidFill>
            <a:schemeClr val="tx1"/>
          </a:solidFill>
          <a:latin typeface="+mn-lt"/>
          <a:ea typeface="+mn-ea"/>
        </a:defRPr>
      </a:lvl8pPr>
      <a:lvl9pPr marL="3757930" indent="-228600" algn="just" rtl="0" fontAlgn="base">
        <a:lnSpc>
          <a:spcPct val="140000"/>
        </a:lnSpc>
        <a:spcBef>
          <a:spcPct val="20000"/>
        </a:spcBef>
        <a:spcAft>
          <a:spcPct val="0"/>
        </a:spcAft>
        <a:buChar char="»"/>
        <a:defRPr sz="12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jpeg"/><Relationship Id="rId1" Type="http://schemas.openxmlformats.org/officeDocument/2006/relationships/image" Target="../media/image5.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9.emf"/><Relationship Id="rId1" Type="http://schemas.openxmlformats.org/officeDocument/2006/relationships/oleObject" Target="../embeddings/oleObject1.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10.emf"/><Relationship Id="rId1" Type="http://schemas.openxmlformats.org/officeDocument/2006/relationships/oleObject" Target="../embeddings/oleObject2.bin"/></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标题 4"/>
          <p:cNvSpPr>
            <a:spLocks noGrp="1"/>
          </p:cNvSpPr>
          <p:nvPr>
            <p:ph type="ctrTitle"/>
          </p:nvPr>
        </p:nvSpPr>
        <p:spPr>
          <a:xfrm>
            <a:off x="935038" y="2144713"/>
            <a:ext cx="6877050" cy="673100"/>
          </a:xfrm>
          <a:ln/>
          <a:effectLst>
            <a:outerShdw dist="17961" dir="2699999" algn="ctr" rotWithShape="0">
              <a:srgbClr val="777777">
                <a:alpha val="100000"/>
              </a:srgbClr>
            </a:outerShdw>
          </a:effectLst>
        </p:spPr>
        <p:txBody>
          <a:bodyPr vert="horz" wrap="square" lIns="91440" tIns="45720" rIns="91440" bIns="45720" anchor="ctr" anchorCtr="0"/>
          <a:p>
            <a:pPr>
              <a:buClrTx/>
              <a:buSzTx/>
              <a:buFontTx/>
            </a:pPr>
            <a:r>
              <a:rPr lang="zh-CN" altLang="en-US" dirty="0">
                <a:latin typeface="Arial" panose="020B0604020202020204" pitchFamily="34" charset="0"/>
                <a:ea typeface="华文中宋" panose="02010600040101010101" pitchFamily="2" charset="-122"/>
                <a:cs typeface="+mj-cs"/>
              </a:rPr>
              <a:t>第九章 软件安全设计</a:t>
            </a:r>
            <a:endParaRPr lang="zh-CN" altLang="en-US" dirty="0">
              <a:latin typeface="Arial" panose="020B0604020202020204" pitchFamily="34" charset="0"/>
              <a:ea typeface="华文中宋" panose="02010600040101010101" pitchFamily="2" charset="-122"/>
              <a:cs typeface="+mj-cs"/>
            </a:endParaRPr>
          </a:p>
        </p:txBody>
      </p:sp>
      <p:sp>
        <p:nvSpPr>
          <p:cNvPr id="6147"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5" name="副标题 5"/>
          <p:cNvSpPr>
            <a:spLocks noGrp="1"/>
          </p:cNvSpPr>
          <p:nvPr>
            <p:ph type="subTitle" idx="1"/>
          </p:nvPr>
        </p:nvSpPr>
        <p:spPr>
          <a:xfrm>
            <a:off x="2803525" y="3922713"/>
            <a:ext cx="3743325" cy="523875"/>
          </a:xfrm>
        </p:spPr>
        <p:txBody>
          <a:bodyPr vert="horz" wrap="square" lIns="91440" tIns="45720" rIns="91440" bIns="45720" numCol="1" anchor="t" anchorCtr="0" compatLnSpc="1">
            <a:sp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28676" name="object 18"/>
          <p:cNvSpPr txBox="1"/>
          <p:nvPr/>
        </p:nvSpPr>
        <p:spPr>
          <a:xfrm>
            <a:off x="407988" y="1285875"/>
            <a:ext cx="8380413" cy="3997325"/>
          </a:xfrm>
          <a:prstGeom prst="rect">
            <a:avLst/>
          </a:prstGeom>
          <a:noFill/>
          <a:ln w="9525">
            <a:noFill/>
          </a:ln>
        </p:spPr>
        <p:txBody>
          <a:bodyPr lIns="0" tIns="0" rIns="0" bIns="0">
            <a:spAutoFit/>
          </a:bodyPr>
          <a:lstStyle/>
          <a:p>
            <a:pPr marL="355600" marR="0" indent="-342900" defTabSz="914400" eaLnBrk="1" hangingPunct="1">
              <a:lnSpc>
                <a:spcPct val="150000"/>
              </a:lnSpc>
              <a:buClrTx/>
              <a:buSzTx/>
              <a:buFont typeface="Arial" panose="020B0604020202020204" pitchFamily="34" charset="0"/>
              <a:buChar char="•"/>
              <a:defRPr/>
            </a:pPr>
            <a:r>
              <a:rPr kumimoji="0" lang="zh-CN" altLang="en-US" kern="0" cap="none" spc="10" normalizeH="0" baseline="0" noProof="0" dirty="0">
                <a:solidFill>
                  <a:srgbClr val="333399"/>
                </a:solidFill>
                <a:latin typeface="华文中宋" panose="02010600040101010101" pitchFamily="2" charset="-122"/>
                <a:ea typeface="华文中宋" panose="02010600040101010101" pitchFamily="2" charset="-122"/>
                <a:cs typeface="+mj-cs"/>
                <a:sym typeface="+mn-ea"/>
              </a:rPr>
              <a:t>原则</a:t>
            </a:r>
            <a:r>
              <a:rPr kumimoji="0" lang="en-US" altLang="zh-CN" kern="0" cap="none" spc="10" normalizeH="0" baseline="0" noProof="0" dirty="0">
                <a:solidFill>
                  <a:srgbClr val="333399"/>
                </a:solidFill>
                <a:latin typeface="华文中宋" panose="02010600040101010101" pitchFamily="2" charset="-122"/>
                <a:ea typeface="华文中宋" panose="02010600040101010101" pitchFamily="2" charset="-122"/>
                <a:cs typeface="+mj-cs"/>
                <a:sym typeface="+mn-ea"/>
              </a:rPr>
              <a:t>1</a:t>
            </a:r>
            <a:r>
              <a:rPr kumimoji="0" lang="zh-CN" altLang="en-US" kern="0" cap="none" spc="10" normalizeH="0" baseline="0" noProof="0" dirty="0">
                <a:solidFill>
                  <a:srgbClr val="333399"/>
                </a:solidFill>
                <a:latin typeface="华文中宋" panose="02010600040101010101" pitchFamily="2" charset="-122"/>
                <a:ea typeface="华文中宋" panose="02010600040101010101" pitchFamily="2" charset="-122"/>
                <a:cs typeface="+mj-cs"/>
                <a:sym typeface="+mn-ea"/>
              </a:rPr>
              <a:t>：让最弱的环节变得安全</a:t>
            </a:r>
            <a:r>
              <a:rPr kumimoji="0" lang="en-US" altLang="zh-CN" b="0" kern="1200" cap="none" spc="0" normalizeH="0" baseline="0" noProof="1">
                <a:solidFill>
                  <a:srgbClr val="FFFFFF"/>
                </a:solidFill>
                <a:latin typeface="华文中宋" panose="02010600040101010101" pitchFamily="2" charset="-122"/>
                <a:ea typeface="华文中宋" panose="02010600040101010101" pitchFamily="2" charset="-122"/>
                <a:cs typeface="+mn-cs"/>
              </a:rPr>
              <a:t>  </a:t>
            </a:r>
            <a:r>
              <a:rPr kumimoji="0" lang="zh-CN" altLang="zh-CN" b="0" kern="1200" cap="none" spc="0" normalizeH="0" baseline="0" noProof="1">
                <a:solidFill>
                  <a:srgbClr val="FFFFFF"/>
                </a:solidFill>
                <a:latin typeface="华文中宋" panose="02010600040101010101" pitchFamily="2" charset="-122"/>
                <a:ea typeface="华文中宋" panose="02010600040101010101" pitchFamily="2" charset="-122"/>
                <a:cs typeface="+mn-cs"/>
              </a:rPr>
              <a:t></a:t>
            </a:r>
            <a:r>
              <a:rPr kumimoji="0" lang="zh-CN" altLang="zh-CN" b="0" kern="1200" cap="none" spc="0" normalizeH="0" baseline="0" noProof="1">
                <a:solidFill>
                  <a:srgbClr val="FFFFFF"/>
                </a:solidFill>
                <a:latin typeface="华文中宋" panose="02010600040101010101" pitchFamily="2" charset="-122"/>
                <a:ea typeface="华文中宋" panose="02010600040101010101" pitchFamily="2" charset="-122"/>
                <a:cs typeface="Times New Roman" panose="02020603050405020304" pitchFamily="18" charset="0"/>
              </a:rPr>
              <a:t>  </a:t>
            </a:r>
            <a:endParaRPr kumimoji="0" lang="zh-CN" altLang="zh-CN" b="0" kern="1200" cap="none" spc="0" normalizeH="0" baseline="0" noProof="1">
              <a:solidFill>
                <a:srgbClr val="FFFFFF"/>
              </a:solidFill>
              <a:latin typeface="华文中宋" panose="02010600040101010101" pitchFamily="2" charset="-122"/>
              <a:ea typeface="华文中宋" panose="02010600040101010101" pitchFamily="2" charset="-122"/>
              <a:cs typeface="Times New Roman" panose="02020603050405020304" pitchFamily="18" charset="0"/>
            </a:endParaRPr>
          </a:p>
          <a:p>
            <a:pPr marL="355600" marR="0" indent="-342900" defTabSz="914400" eaLnBrk="1" hangingPunct="1">
              <a:lnSpc>
                <a:spcPct val="150000"/>
              </a:lnSpc>
              <a:buClrTx/>
              <a:buSzTx/>
              <a:buFont typeface="Arial" panose="020B0604020202020204" pitchFamily="34" charset="0"/>
              <a:buChar char="•"/>
              <a:defRPr/>
            </a:pPr>
            <a:r>
              <a:rPr kumimoji="0" lang="zh-CN" altLang="zh-CN" b="0" kern="1200" cap="none" spc="0" normalizeH="0" baseline="0" noProof="1">
                <a:solidFill>
                  <a:schemeClr val="tx1"/>
                </a:solidFill>
                <a:latin typeface="华文中宋" panose="02010600040101010101" pitchFamily="2" charset="-122"/>
                <a:ea typeface="华文中宋" panose="02010600040101010101" pitchFamily="2" charset="-122"/>
                <a:cs typeface="+mn-cs"/>
              </a:rPr>
              <a:t>首先</a:t>
            </a:r>
            <a:r>
              <a:rPr kumimoji="0" lang="zh-CN" altLang="zh-CN" b="0" kern="1200" cap="none" spc="0" normalizeH="0" baseline="0" noProof="1">
                <a:solidFill>
                  <a:srgbClr val="C00000"/>
                </a:solidFill>
                <a:latin typeface="华文中宋" panose="02010600040101010101" pitchFamily="2" charset="-122"/>
                <a:ea typeface="华文中宋" panose="02010600040101010101" pitchFamily="2" charset="-122"/>
                <a:cs typeface="+mn-cs"/>
              </a:rPr>
              <a:t>使得安全性最薄弱的环节变得安全。</a:t>
            </a:r>
            <a:r>
              <a:rPr kumimoji="0" lang="zh-CN" altLang="zh-CN" b="0" kern="1200" cap="none" spc="0" normalizeH="0" baseline="0" noProof="1">
                <a:solidFill>
                  <a:schemeClr val="tx1"/>
                </a:solidFill>
                <a:latin typeface="华文中宋" panose="02010600040101010101" pitchFamily="2" charset="-122"/>
                <a:ea typeface="华文中宋" panose="02010600040101010101" pitchFamily="2" charset="-122"/>
                <a:cs typeface="+mn-cs"/>
              </a:rPr>
              <a:t>安全实践者通常认为：安全是一个链条，其安全性由最弱的地方决定。</a:t>
            </a:r>
            <a:r>
              <a:rPr kumimoji="0" lang="zh-CN" altLang="zh-CN" b="0" kern="1200" cap="none" spc="0" normalizeH="0" baseline="0" noProof="1">
                <a:solidFill>
                  <a:srgbClr val="C00000"/>
                </a:solidFill>
                <a:latin typeface="华文中宋" panose="02010600040101010101" pitchFamily="2" charset="-122"/>
                <a:ea typeface="华文中宋" panose="02010600040101010101" pitchFamily="2" charset="-122"/>
                <a:cs typeface="+mn-cs"/>
              </a:rPr>
              <a:t>软件的安全由最弱的组件决定。</a:t>
            </a:r>
            <a:endParaRPr kumimoji="0" lang="zh-CN" altLang="zh-CN" b="0" kern="1200" cap="none" spc="0" normalizeH="0" baseline="0" noProof="1">
              <a:solidFill>
                <a:srgbClr val="C00000"/>
              </a:solidFill>
              <a:latin typeface="华文中宋" panose="02010600040101010101" pitchFamily="2" charset="-122"/>
              <a:ea typeface="华文中宋" panose="02010600040101010101" pitchFamily="2" charset="-122"/>
              <a:cs typeface="+mn-cs"/>
            </a:endParaRPr>
          </a:p>
          <a:p>
            <a:pPr marL="355600" marR="0" indent="-342900" algn="just" defTabSz="914400" eaLnBrk="1" hangingPunct="1">
              <a:lnSpc>
                <a:spcPct val="150000"/>
              </a:lnSpc>
              <a:spcBef>
                <a:spcPts val="925"/>
              </a:spcBef>
              <a:buClrTx/>
              <a:buSzTx/>
              <a:buFont typeface="Arial" panose="020B0604020202020204" pitchFamily="34" charset="0"/>
              <a:buChar char="•"/>
              <a:defRPr/>
            </a:pPr>
            <a:r>
              <a:rPr kumimoji="0" lang="zh-CN" altLang="zh-CN" b="0" kern="1200" cap="none" spc="0" normalizeH="0" baseline="0" noProof="1">
                <a:solidFill>
                  <a:srgbClr val="C00000"/>
                </a:solidFill>
                <a:latin typeface="华文中宋" panose="02010600040101010101" pitchFamily="2" charset="-122"/>
                <a:ea typeface="华文中宋" panose="02010600040101010101" pitchFamily="2" charset="-122"/>
                <a:cs typeface="+mn-cs"/>
              </a:rPr>
              <a:t>攻击者选择系统中最弱的地方攻击，</a:t>
            </a:r>
            <a:r>
              <a:rPr kumimoji="0" lang="zh-CN" altLang="zh-CN" b="0" kern="1200" cap="none" spc="0" normalizeH="0" baseline="0" noProof="1">
                <a:solidFill>
                  <a:schemeClr val="tx1"/>
                </a:solidFill>
                <a:latin typeface="华文中宋" panose="02010600040101010101" pitchFamily="2" charset="-122"/>
                <a:ea typeface="华文中宋" panose="02010600040101010101" pitchFamily="2" charset="-122"/>
                <a:cs typeface="+mn-cs"/>
              </a:rPr>
              <a:t>因为那里最容易攻破。攻击者最可能攻击一个软件系统中的一个弱点，而不是试图穿透一个坚固的防线。</a:t>
            </a:r>
            <a:endParaRPr kumimoji="0" lang="zh-CN" altLang="zh-CN" b="0" kern="1200" cap="none" spc="0" normalizeH="0" baseline="0" noProof="1">
              <a:solidFill>
                <a:schemeClr val="tx1"/>
              </a:solidFill>
              <a:latin typeface="华文中宋" panose="02010600040101010101" pitchFamily="2" charset="-122"/>
              <a:ea typeface="华文中宋" panose="02010600040101010101" pitchFamily="2" charset="-122"/>
              <a:cs typeface="+mn-cs"/>
            </a:endParaRPr>
          </a:p>
        </p:txBody>
      </p:sp>
      <p:sp>
        <p:nvSpPr>
          <p:cNvPr id="2" name="标题 1"/>
          <p:cNvSpPr>
            <a:spLocks noGrp="1" noChangeArrowheads="1"/>
          </p:cNvSpPr>
          <p:nvPr/>
        </p:nvSpPr>
        <p:spPr>
          <a:xfrm>
            <a:off x="1446213" y="231775"/>
            <a:ext cx="6365875" cy="685800"/>
          </a:xfrm>
          <a:prstGeom prst="rect">
            <a:avLst/>
          </a:prstGeom>
          <a:noFill/>
          <a:ln w="9525">
            <a:noFill/>
          </a:ln>
          <a:effectLst>
            <a:outerShdw dist="17961" dir="2699999" algn="ctr" rotWithShape="0">
              <a:srgbClr val="DDDDDD"/>
            </a:outerShdw>
          </a:effectLst>
        </p:spPr>
        <p:txBody>
          <a:bodyPr anchor="ctr"/>
          <a:lstStyle>
            <a:lvl1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cs typeface="+mj-cs"/>
              </a:defRPr>
            </a:lvl1pPr>
            <a:lvl2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2pPr>
            <a:lvl3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3pPr>
            <a:lvl4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4pPr>
            <a:lvl5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5pPr>
            <a:lvl6pPr marL="4572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9pPr>
          </a:lstStyle>
          <a:p>
            <a:pPr marL="12700" marR="0" lvl="0" indent="0" algn="ctr" defTabSz="914400" rtl="0" eaLnBrk="0" fontAlgn="base" latinLnBrk="0" hangingPunct="0">
              <a:lnSpc>
                <a:spcPct val="100000"/>
              </a:lnSpc>
              <a:spcBef>
                <a:spcPct val="0"/>
              </a:spcBef>
              <a:spcAft>
                <a:spcPct val="0"/>
              </a:spcAft>
              <a:buClrTx/>
              <a:buSzTx/>
              <a:buFontTx/>
              <a:buNone/>
              <a:tabLst>
                <a:tab pos="354965" algn="l"/>
              </a:tabLst>
              <a:defRPr/>
            </a:pPr>
            <a:r>
              <a:rPr kumimoji="0" 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9.1 </a:t>
            </a:r>
            <a:r>
              <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安全设计原则</a:t>
            </a:r>
            <a:endPar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pic>
        <p:nvPicPr>
          <p:cNvPr id="7173" name="图片 11"/>
          <p:cNvPicPr>
            <a:picLocks noChangeAspect="1"/>
          </p:cNvPicPr>
          <p:nvPr/>
        </p:nvPicPr>
        <p:blipFill>
          <a:blip r:embed="rId1"/>
          <a:stretch>
            <a:fillRect/>
          </a:stretch>
        </p:blipFill>
        <p:spPr>
          <a:xfrm>
            <a:off x="6013450" y="4702175"/>
            <a:ext cx="1735138" cy="1884363"/>
          </a:xfrm>
          <a:prstGeom prst="rect">
            <a:avLst/>
          </a:prstGeom>
          <a:noFill/>
          <a:ln w="9525">
            <a:noFill/>
          </a:ln>
        </p:spPr>
      </p:pic>
      <p:pic>
        <p:nvPicPr>
          <p:cNvPr id="7174" name="图片 2"/>
          <p:cNvPicPr>
            <a:picLocks noChangeAspect="1"/>
          </p:cNvPicPr>
          <p:nvPr/>
        </p:nvPicPr>
        <p:blipFill>
          <a:blip r:embed="rId2"/>
          <a:stretch>
            <a:fillRect/>
          </a:stretch>
        </p:blipFill>
        <p:spPr>
          <a:xfrm>
            <a:off x="1908175" y="5283200"/>
            <a:ext cx="2178050" cy="857250"/>
          </a:xfrm>
          <a:prstGeom prst="rect">
            <a:avLst/>
          </a:prstGeom>
          <a:noFill/>
          <a:ln w="9525">
            <a:noFill/>
          </a:ln>
        </p:spPr>
      </p:pic>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标题 1"/>
          <p:cNvSpPr>
            <a:spLocks noGrp="1" noChangeArrowheads="1"/>
          </p:cNvSpPr>
          <p:nvPr>
            <p:ph type="title"/>
          </p:nvPr>
        </p:nvSpPr>
        <p:spPr/>
        <p:txBody>
          <a:bodyPr vert="horz" wrap="square" lIns="91440" tIns="45720" rIns="91440" bIns="45720" numCol="1" anchor="ctr" anchorCtr="0" compatLnSpc="1"/>
          <a:lstStyle/>
          <a:p>
            <a:pPr marL="12700" marR="0" lvl="0" indent="0" algn="ctr" defTabSz="914400" rtl="0" eaLnBrk="0" fontAlgn="base" latinLnBrk="0" hangingPunct="0">
              <a:lnSpc>
                <a:spcPct val="100000"/>
              </a:lnSpc>
              <a:spcBef>
                <a:spcPct val="0"/>
              </a:spcBef>
              <a:spcAft>
                <a:spcPct val="0"/>
              </a:spcAft>
              <a:buClrTx/>
              <a:buSzTx/>
              <a:buFontTx/>
              <a:buNone/>
              <a:tabLst>
                <a:tab pos="354965" algn="l"/>
              </a:tabLst>
              <a:defRPr/>
            </a:pPr>
            <a:r>
              <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sym typeface="+mn-ea"/>
              </a:rPr>
              <a:t>原则</a:t>
            </a:r>
            <a:r>
              <a:rPr kumimoji="0" lang="en-US" altLang="zh-CN"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sym typeface="+mn-ea"/>
              </a:rPr>
              <a:t>2</a:t>
            </a:r>
            <a:r>
              <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sym typeface="+mn-ea"/>
              </a:rPr>
              <a:t>：实践纵深防御</a:t>
            </a:r>
            <a:endPar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8195"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7" name="内容占位符 2"/>
          <p:cNvSpPr txBox="1"/>
          <p:nvPr/>
        </p:nvSpPr>
        <p:spPr bwMode="auto">
          <a:xfrm>
            <a:off x="479425" y="2093913"/>
            <a:ext cx="8229600" cy="4525963"/>
          </a:xfrm>
          <a:prstGeom prst="rect">
            <a:avLst/>
          </a:prstGeom>
          <a:noFill/>
          <a:ln w="9525">
            <a:noFill/>
            <a:miter lim="800000"/>
          </a:ln>
          <a:effectLst/>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n"/>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70000"/>
              <a:buFont typeface="Wingdings" panose="05000000000000000000"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9pPr>
          </a:lstStyle>
          <a:p>
            <a:pPr marL="342900" marR="0" lvl="0" indent="-342900" algn="l" defTabSz="914400" rtl="0" eaLnBrk="0" fontAlgn="base" latinLnBrk="0" hangingPunct="0">
              <a:lnSpc>
                <a:spcPct val="100000"/>
              </a:lnSpc>
              <a:spcBef>
                <a:spcPct val="20000"/>
              </a:spcBef>
              <a:spcAft>
                <a:spcPct val="0"/>
              </a:spcAft>
              <a:buClr>
                <a:schemeClr val="accent2">
                  <a:lumMod val="75000"/>
                </a:schemeClr>
              </a:buClr>
              <a:buSzPct val="70000"/>
              <a:buFont typeface="Wingdings" panose="05000000000000000000" pitchFamily="2" charset="2"/>
              <a:buChar char="l"/>
              <a:defRPr/>
            </a:pPr>
            <a:r>
              <a:rPr kumimoji="0" lang="zh-CN" altLang="en-US" sz="2400" b="1" i="0" u="none" strike="noStrike" kern="0" cap="none" spc="0" normalizeH="0" baseline="0" noProof="0" dirty="0">
                <a:ln>
                  <a:noFill/>
                </a:ln>
                <a:solidFill>
                  <a:schemeClr val="tx1"/>
                </a:solidFill>
                <a:effectLst/>
                <a:uLnTx/>
                <a:uFillTx/>
                <a:latin typeface="Garamond" panose="02020404030301010803"/>
                <a:ea typeface="+mn-ea"/>
                <a:cs typeface="+mn-cs"/>
              </a:rPr>
              <a:t>银行金库的多道防线</a:t>
            </a:r>
            <a:endParaRPr kumimoji="0" lang="zh-CN" altLang="en-US" sz="2400" b="1" i="0" u="none" strike="noStrike" kern="0" cap="none" spc="0" normalizeH="0" baseline="0" noProof="0" dirty="0">
              <a:ln>
                <a:noFill/>
              </a:ln>
              <a:solidFill>
                <a:schemeClr val="tx1"/>
              </a:solidFill>
              <a:effectLst/>
              <a:uLnTx/>
              <a:uFillTx/>
              <a:latin typeface="Garamond" panose="02020404030301010803"/>
              <a:ea typeface="+mn-ea"/>
              <a:cs typeface="+mn-cs"/>
            </a:endParaRPr>
          </a:p>
        </p:txBody>
      </p:sp>
      <p:pic>
        <p:nvPicPr>
          <p:cNvPr id="8197" name="Picture 2" descr="http://img.hc360.com/security/info/images/200807/zyy20080716004.jpg"/>
          <p:cNvPicPr>
            <a:picLocks noChangeAspect="1"/>
          </p:cNvPicPr>
          <p:nvPr/>
        </p:nvPicPr>
        <p:blipFill>
          <a:blip r:embed="rId1"/>
          <a:stretch>
            <a:fillRect/>
          </a:stretch>
        </p:blipFill>
        <p:spPr>
          <a:xfrm>
            <a:off x="334963" y="3016250"/>
            <a:ext cx="4270375" cy="2786063"/>
          </a:xfrm>
          <a:prstGeom prst="rect">
            <a:avLst/>
          </a:prstGeom>
          <a:noFill/>
          <a:ln w="9525">
            <a:noFill/>
          </a:ln>
        </p:spPr>
      </p:pic>
      <p:pic>
        <p:nvPicPr>
          <p:cNvPr id="8198" name="Picture 8" descr="http://pica.nipic.com/2008-04-21/200842171146838_2.jpg"/>
          <p:cNvPicPr>
            <a:picLocks noChangeAspect="1"/>
          </p:cNvPicPr>
          <p:nvPr/>
        </p:nvPicPr>
        <p:blipFill>
          <a:blip r:embed="rId2"/>
          <a:stretch>
            <a:fillRect/>
          </a:stretch>
        </p:blipFill>
        <p:spPr>
          <a:xfrm>
            <a:off x="4787900" y="2911475"/>
            <a:ext cx="4071938" cy="2890838"/>
          </a:xfrm>
          <a:prstGeom prst="rect">
            <a:avLst/>
          </a:prstGeom>
          <a:noFill/>
          <a:ln w="9525">
            <a:noFill/>
          </a:ln>
        </p:spPr>
      </p:pic>
      <p:sp>
        <p:nvSpPr>
          <p:cNvPr id="11" name="标题 1"/>
          <p:cNvSpPr txBox="1"/>
          <p:nvPr/>
        </p:nvSpPr>
        <p:spPr bwMode="auto">
          <a:xfrm>
            <a:off x="457200" y="946150"/>
            <a:ext cx="8229600" cy="1143000"/>
          </a:xfrm>
          <a:prstGeom prst="rect">
            <a:avLst/>
          </a:prstGeom>
          <a:noFill/>
          <a:ln w="9525">
            <a:noFill/>
            <a:miter lim="800000"/>
          </a:ln>
          <a:effectLst/>
        </p:spPr>
        <p:txBody>
          <a:bodyPr anchor="ctr">
            <a:normAutofit/>
          </a:bodyPr>
          <a:lstStyle>
            <a:lvl1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4572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9144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13716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18288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12700" marR="0" lvl="0" indent="0" algn="ctr" defTabSz="914400" rtl="0" eaLnBrk="0" fontAlgn="base" latinLnBrk="0" hangingPunct="0">
              <a:lnSpc>
                <a:spcPct val="100000"/>
              </a:lnSpc>
              <a:spcBef>
                <a:spcPct val="0"/>
              </a:spcBef>
              <a:spcAft>
                <a:spcPct val="0"/>
              </a:spcAft>
              <a:buClrTx/>
              <a:buSzTx/>
              <a:buFontTx/>
              <a:buNone/>
              <a:tabLst>
                <a:tab pos="354965" algn="l"/>
              </a:tabLst>
              <a:defRPr/>
            </a:pPr>
            <a:r>
              <a:rPr kumimoji="0" lang="zh-CN" altLang="en-US" sz="2800" b="1" i="0" u="none" strike="noStrike" kern="0" cap="none" spc="10" normalizeH="0" baseline="0" noProof="0" dirty="0">
                <a:ln>
                  <a:noFill/>
                </a:ln>
                <a:solidFill>
                  <a:schemeClr val="tx2"/>
                </a:solidFill>
                <a:effectLst/>
                <a:uLnTx/>
                <a:uFillTx/>
                <a:latin typeface="华文中宋" panose="02010600040101010101" pitchFamily="2" charset="-122"/>
                <a:ea typeface="华文中宋" panose="02010600040101010101" pitchFamily="2" charset="-122"/>
                <a:cs typeface="+mj-cs"/>
              </a:rPr>
              <a:t>常识：多道防线使银行更安全</a:t>
            </a:r>
            <a:endParaRPr kumimoji="0" lang="zh-CN" altLang="en-US" sz="2800" b="1" i="0" u="none" strike="noStrike" kern="0" cap="none" spc="10" normalizeH="0" baseline="0" noProof="0" dirty="0">
              <a:ln>
                <a:noFill/>
              </a:ln>
              <a:solidFill>
                <a:schemeClr val="tx2"/>
              </a:solidFill>
              <a:effectLst/>
              <a:uLnTx/>
              <a:uFillTx/>
              <a:latin typeface="华文中宋" panose="02010600040101010101" pitchFamily="2" charset="-122"/>
              <a:ea typeface="华文中宋" panose="02010600040101010101" pitchFamily="2" charset="-122"/>
              <a:cs typeface="+mj-cs"/>
            </a:endParaRP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标题 1"/>
          <p:cNvSpPr>
            <a:spLocks noGrp="1" noChangeArrowheads="1"/>
          </p:cNvSpPr>
          <p:nvPr>
            <p:ph type="title"/>
          </p:nvPr>
        </p:nvSpPr>
        <p:spPr/>
        <p:txBody>
          <a:bodyPr vert="horz" wrap="square" lIns="91440" tIns="45720" rIns="91440" bIns="45720" numCol="1" anchor="ctr" anchorCtr="0" compatLnSpc="1"/>
          <a:lstStyle/>
          <a:p>
            <a:pPr marL="12700" marR="0" lvl="0" indent="0" algn="ctr" defTabSz="914400" rtl="0" eaLnBrk="0" fontAlgn="base" latinLnBrk="0" hangingPunct="0">
              <a:lnSpc>
                <a:spcPct val="100000"/>
              </a:lnSpc>
              <a:spcBef>
                <a:spcPct val="0"/>
              </a:spcBef>
              <a:spcAft>
                <a:spcPct val="0"/>
              </a:spcAft>
              <a:buClrTx/>
              <a:buSzTx/>
              <a:buFontTx/>
              <a:buNone/>
              <a:tabLst>
                <a:tab pos="354965" algn="l"/>
              </a:tabLst>
              <a:defRPr/>
            </a:pPr>
            <a:r>
              <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原则</a:t>
            </a:r>
            <a:r>
              <a:rPr kumimoji="0" lang="en-US" altLang="zh-CN"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2</a:t>
            </a:r>
            <a:r>
              <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：实践纵深防御</a:t>
            </a:r>
            <a:endPar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9219"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28677" name="object 27"/>
          <p:cNvSpPr txBox="1">
            <a:spLocks noChangeArrowheads="1"/>
          </p:cNvSpPr>
          <p:nvPr/>
        </p:nvSpPr>
        <p:spPr bwMode="auto">
          <a:xfrm>
            <a:off x="609600" y="1420813"/>
            <a:ext cx="7924800" cy="3795713"/>
          </a:xfrm>
          <a:prstGeom prst="rect">
            <a:avLst/>
          </a:prstGeom>
          <a:noFill/>
          <a:ln>
            <a:noFill/>
          </a:ln>
        </p:spPr>
        <p:txBody>
          <a:bodyPr lIns="0" tIns="0" rIns="0" bIns="0">
            <a:spAutoFit/>
          </a:bodyPr>
          <a:lstStyle>
            <a:lvl1pPr marL="12700">
              <a:tabLst>
                <a:tab pos="353695" algn="l"/>
              </a:tabLst>
              <a:defRPr sz="2400" b="1">
                <a:solidFill>
                  <a:schemeClr val="accent2"/>
                </a:solidFill>
                <a:latin typeface="华文中宋" panose="02010600040101010101" pitchFamily="2" charset="-122"/>
                <a:ea typeface="华文中宋" panose="02010600040101010101" pitchFamily="2" charset="-122"/>
              </a:defRPr>
            </a:lvl1pPr>
            <a:lvl2pPr marL="742950" indent="-285750">
              <a:tabLst>
                <a:tab pos="353695" algn="l"/>
              </a:tabLst>
              <a:defRPr sz="2400" b="1">
                <a:solidFill>
                  <a:schemeClr val="accent2"/>
                </a:solidFill>
                <a:latin typeface="华文中宋" panose="02010600040101010101" pitchFamily="2" charset="-122"/>
                <a:ea typeface="华文中宋" panose="02010600040101010101" pitchFamily="2" charset="-122"/>
              </a:defRPr>
            </a:lvl2pPr>
            <a:lvl3pPr marL="1143000" indent="-228600">
              <a:tabLst>
                <a:tab pos="353695" algn="l"/>
              </a:tabLst>
              <a:defRPr sz="2400" b="1">
                <a:solidFill>
                  <a:schemeClr val="accent2"/>
                </a:solidFill>
                <a:latin typeface="华文中宋" panose="02010600040101010101" pitchFamily="2" charset="-122"/>
                <a:ea typeface="华文中宋" panose="02010600040101010101" pitchFamily="2" charset="-122"/>
              </a:defRPr>
            </a:lvl3pPr>
            <a:lvl4pPr marL="1600200" indent="-228600">
              <a:tabLst>
                <a:tab pos="353695" algn="l"/>
              </a:tabLst>
              <a:defRPr sz="2400" b="1">
                <a:solidFill>
                  <a:schemeClr val="accent2"/>
                </a:solidFill>
                <a:latin typeface="华文中宋" panose="02010600040101010101" pitchFamily="2" charset="-122"/>
                <a:ea typeface="华文中宋" panose="02010600040101010101" pitchFamily="2" charset="-122"/>
              </a:defRPr>
            </a:lvl4pPr>
            <a:lvl5pPr marL="2057400" indent="-228600">
              <a:tabLst>
                <a:tab pos="353695" algn="l"/>
              </a:tabLst>
              <a:defRPr sz="2400" b="1">
                <a:solidFill>
                  <a:schemeClr val="accent2"/>
                </a:solidFill>
                <a:latin typeface="华文中宋" panose="02010600040101010101" pitchFamily="2" charset="-122"/>
                <a:ea typeface="华文中宋" panose="02010600040101010101" pitchFamily="2" charset="-122"/>
              </a:defRPr>
            </a:lvl5pPr>
            <a:lvl6pPr marL="2514600" indent="-228600" eaLnBrk="0" fontAlgn="base" hangingPunct="0">
              <a:spcBef>
                <a:spcPct val="0"/>
              </a:spcBef>
              <a:spcAft>
                <a:spcPct val="0"/>
              </a:spcAft>
              <a:tabLst>
                <a:tab pos="353695" algn="l"/>
              </a:tabLst>
              <a:defRPr sz="2400" b="1">
                <a:solidFill>
                  <a:schemeClr val="accent2"/>
                </a:solidFill>
                <a:latin typeface="华文中宋" panose="02010600040101010101" pitchFamily="2" charset="-122"/>
                <a:ea typeface="华文中宋" panose="02010600040101010101" pitchFamily="2" charset="-122"/>
              </a:defRPr>
            </a:lvl6pPr>
            <a:lvl7pPr marL="2971800" indent="-228600" eaLnBrk="0" fontAlgn="base" hangingPunct="0">
              <a:spcBef>
                <a:spcPct val="0"/>
              </a:spcBef>
              <a:spcAft>
                <a:spcPct val="0"/>
              </a:spcAft>
              <a:tabLst>
                <a:tab pos="353695" algn="l"/>
              </a:tabLst>
              <a:defRPr sz="2400" b="1">
                <a:solidFill>
                  <a:schemeClr val="accent2"/>
                </a:solidFill>
                <a:latin typeface="华文中宋" panose="02010600040101010101" pitchFamily="2" charset="-122"/>
                <a:ea typeface="华文中宋" panose="02010600040101010101" pitchFamily="2" charset="-122"/>
              </a:defRPr>
            </a:lvl7pPr>
            <a:lvl8pPr marL="3429000" indent="-228600" eaLnBrk="0" fontAlgn="base" hangingPunct="0">
              <a:spcBef>
                <a:spcPct val="0"/>
              </a:spcBef>
              <a:spcAft>
                <a:spcPct val="0"/>
              </a:spcAft>
              <a:tabLst>
                <a:tab pos="353695" algn="l"/>
              </a:tabLst>
              <a:defRPr sz="2400" b="1">
                <a:solidFill>
                  <a:schemeClr val="accent2"/>
                </a:solidFill>
                <a:latin typeface="华文中宋" panose="02010600040101010101" pitchFamily="2" charset="-122"/>
                <a:ea typeface="华文中宋" panose="02010600040101010101" pitchFamily="2" charset="-122"/>
              </a:defRPr>
            </a:lvl8pPr>
            <a:lvl9pPr marL="3886200" indent="-228600" eaLnBrk="0" fontAlgn="base" hangingPunct="0">
              <a:spcBef>
                <a:spcPct val="0"/>
              </a:spcBef>
              <a:spcAft>
                <a:spcPct val="0"/>
              </a:spcAft>
              <a:tabLst>
                <a:tab pos="353695" algn="l"/>
              </a:tabLst>
              <a:defRPr sz="2400" b="1">
                <a:solidFill>
                  <a:schemeClr val="accent2"/>
                </a:solidFill>
                <a:latin typeface="华文中宋" panose="02010600040101010101" pitchFamily="2" charset="-122"/>
                <a:ea typeface="华文中宋" panose="02010600040101010101" pitchFamily="2" charset="-122"/>
              </a:defRPr>
            </a:lvl9pPr>
          </a:lstStyle>
          <a:p>
            <a:pPr marL="355600" marR="0" lvl="0" indent="-342900" algn="l" defTabSz="914400" rtl="0" eaLnBrk="1" fontAlgn="base" latinLnBrk="0" hangingPunct="1">
              <a:lnSpc>
                <a:spcPts val="3700"/>
              </a:lnSpc>
              <a:spcBef>
                <a:spcPts val="0"/>
              </a:spcBef>
              <a:spcAft>
                <a:spcPts val="0"/>
              </a:spcAft>
              <a:buClr>
                <a:schemeClr val="accent2">
                  <a:lumMod val="75000"/>
                </a:schemeClr>
              </a:buClr>
              <a:buSzTx/>
              <a:buFont typeface="Wingdings" panose="05000000000000000000" pitchFamily="2" charset="2"/>
              <a:buChar char="l"/>
              <a:tabLst>
                <a:tab pos="353695" algn="l"/>
              </a:tabLst>
              <a:defRPr/>
            </a:pPr>
            <a:r>
              <a:rPr kumimoji="0" lang="zh-CN"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Times New Roman" panose="02020603050405020304" pitchFamily="18" charset="0"/>
              </a:rPr>
              <a:t>纵深防御的思想是通过</a:t>
            </a:r>
            <a:r>
              <a:rPr kumimoji="0" lang="zh-CN" altLang="zh-CN" sz="2400" b="0" i="0" u="none" strike="noStrike" kern="120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Times New Roman" panose="02020603050405020304" pitchFamily="18" charset="0"/>
              </a:rPr>
              <a:t>采用多个不同的防御策略来管理风险</a:t>
            </a:r>
            <a:r>
              <a:rPr kumimoji="0" lang="zh-CN"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Times New Roman" panose="02020603050405020304" pitchFamily="18" charset="0"/>
              </a:rPr>
              <a:t>，因此，某一层防御不够充分的时候，另一层将阻止系统被攻破。</a:t>
            </a:r>
            <a:endParaRPr kumimoji="0" lang="zh-CN"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Times New Roman" panose="02020603050405020304" pitchFamily="18" charset="0"/>
            </a:endParaRPr>
          </a:p>
          <a:p>
            <a:pPr marL="355600" marR="0" lvl="0" indent="-342900" algn="l" defTabSz="914400" rtl="0" eaLnBrk="1" fontAlgn="base" latinLnBrk="0" hangingPunct="1">
              <a:lnSpc>
                <a:spcPts val="3700"/>
              </a:lnSpc>
              <a:spcBef>
                <a:spcPts val="0"/>
              </a:spcBef>
              <a:spcAft>
                <a:spcPts val="0"/>
              </a:spcAft>
              <a:buClr>
                <a:schemeClr val="accent2">
                  <a:lumMod val="75000"/>
                </a:schemeClr>
              </a:buClr>
              <a:buSzTx/>
              <a:buFont typeface="Wingdings" panose="05000000000000000000" pitchFamily="2" charset="2"/>
              <a:buChar char="l"/>
              <a:tabLst>
                <a:tab pos="353695" algn="l"/>
              </a:tabLst>
              <a:defRPr/>
            </a:pPr>
            <a:r>
              <a:rPr kumimoji="0" lang="zh-CN" altLang="zh-CN" sz="2400" b="0" i="0" u="none" strike="noStrike" kern="120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Times New Roman" panose="02020603050405020304" pitchFamily="18" charset="0"/>
              </a:rPr>
              <a:t>纵深防御有助于减少系统的单一失效点</a:t>
            </a:r>
            <a:r>
              <a:rPr kumimoji="0" lang="zh-CN"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Times New Roman" panose="02020603050405020304" pitchFamily="18" charset="0"/>
              </a:rPr>
              <a:t>，这种分层的安全防御措施能够减少攻击成功的概率。</a:t>
            </a:r>
            <a:endParaRPr kumimoji="0" lang="zh-CN"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Times New Roman" panose="02020603050405020304" pitchFamily="18" charset="0"/>
            </a:endParaRPr>
          </a:p>
          <a:p>
            <a:pPr marL="355600" marR="0" lvl="0" indent="-342900" algn="l" defTabSz="914400" rtl="0" eaLnBrk="1" fontAlgn="base" latinLnBrk="0" hangingPunct="1">
              <a:lnSpc>
                <a:spcPts val="3700"/>
              </a:lnSpc>
              <a:spcBef>
                <a:spcPts val="0"/>
              </a:spcBef>
              <a:spcAft>
                <a:spcPts val="0"/>
              </a:spcAft>
              <a:buClr>
                <a:schemeClr val="accent2">
                  <a:lumMod val="75000"/>
                </a:schemeClr>
              </a:buClr>
              <a:buSzTx/>
              <a:buFont typeface="Wingdings" panose="05000000000000000000" pitchFamily="2" charset="2"/>
              <a:buChar char="l"/>
              <a:tabLst>
                <a:tab pos="353695" algn="l"/>
              </a:tabLst>
              <a:defRPr/>
            </a:pPr>
            <a:r>
              <a:rPr kumimoji="0" lang="zh-CN"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Times New Roman" panose="02020603050405020304" pitchFamily="18" charset="0"/>
              </a:rPr>
              <a:t>例如除了采取登录认证的手段之外，还可以采取基于权限的访问控制技术，防止攻击者在获取了他人的登录口令之后在系统中任意操作。</a:t>
            </a:r>
            <a:endParaRPr kumimoji="0" lang="zh-CN"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Times New Roman" panose="02020603050405020304" pitchFamily="18" charset="0"/>
            </a:endParaRP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标题 1"/>
          <p:cNvSpPr>
            <a:spLocks noGrp="1"/>
          </p:cNvSpPr>
          <p:nvPr>
            <p:ph type="title"/>
          </p:nvPr>
        </p:nvSpPr>
        <p:spPr>
          <a:ln/>
        </p:spPr>
        <p:txBody>
          <a:bodyPr vert="horz" wrap="square" lIns="91440" tIns="45720" rIns="91440" bIns="45720" anchor="ctr" anchorCtr="0"/>
          <a:p>
            <a:pPr marL="12700" indent="0" defTabSz="914400">
              <a:tabLst>
                <a:tab pos="354330" algn="l"/>
              </a:tabLst>
            </a:pPr>
            <a:r>
              <a:rPr lang="zh-CN" altLang="en-US" dirty="0">
                <a:ea typeface="宋体" panose="02010600030101010101" pitchFamily="2" charset="-122"/>
              </a:rPr>
              <a:t>原则</a:t>
            </a:r>
            <a:r>
              <a:rPr lang="en-US" altLang="zh-CN" dirty="0"/>
              <a:t>3</a:t>
            </a:r>
            <a:r>
              <a:rPr lang="zh-CN" altLang="en-US" dirty="0">
                <a:ea typeface="宋体" panose="02010600030101010101" pitchFamily="2" charset="-122"/>
              </a:rPr>
              <a:t>：安全的错误退出</a:t>
            </a:r>
            <a:endParaRPr lang="zh-CN" altLang="en-US" dirty="0">
              <a:ea typeface="宋体" panose="02010600030101010101" pitchFamily="2" charset="-122"/>
            </a:endParaRPr>
          </a:p>
        </p:txBody>
      </p:sp>
      <p:sp>
        <p:nvSpPr>
          <p:cNvPr id="10243"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10244" name="object 30"/>
          <p:cNvSpPr txBox="1"/>
          <p:nvPr/>
        </p:nvSpPr>
        <p:spPr>
          <a:xfrm>
            <a:off x="493713" y="1557338"/>
            <a:ext cx="8255000" cy="3402012"/>
          </a:xfrm>
          <a:prstGeom prst="rect">
            <a:avLst/>
          </a:prstGeom>
          <a:noFill/>
          <a:ln w="9525">
            <a:noFill/>
          </a:ln>
        </p:spPr>
        <p:txBody>
          <a:bodyPr lIns="0" tIns="0" rIns="0" bIns="0">
            <a:spAutoFit/>
          </a:bodyPr>
          <a:p>
            <a:pPr marL="355600" indent="-342900" algn="just" defTabSz="914400" eaLnBrk="1" hangingPunct="1">
              <a:lnSpc>
                <a:spcPct val="125000"/>
              </a:lnSpc>
              <a:spcBef>
                <a:spcPts val="665"/>
              </a:spcBef>
              <a:buClr>
                <a:srgbClr val="262699"/>
              </a:buClr>
              <a:buFont typeface="Wingdings" panose="05000000000000000000" pitchFamily="2" charset="2"/>
              <a:buChar char="l"/>
              <a:tabLst>
                <a:tab pos="354330" algn="l"/>
              </a:tabLst>
            </a:pPr>
            <a:r>
              <a:rPr lang="zh-CN" altLang="zh-CN" b="0" dirty="0">
                <a:solidFill>
                  <a:schemeClr val="tx1"/>
                </a:solidFill>
                <a:latin typeface="华文中宋" panose="02010600040101010101" pitchFamily="2" charset="-122"/>
              </a:rPr>
              <a:t>有很多系统发生各种错误时会表现出不安全的行为。这样，攻击者只需要导致一个错误，或者等待错误的发生，然后就可以利用系统在错误处理时的不安全行为发起攻击。</a:t>
            </a:r>
            <a:endParaRPr lang="zh-CN" altLang="zh-CN" b="0" dirty="0">
              <a:solidFill>
                <a:schemeClr val="tx1"/>
              </a:solidFill>
              <a:latin typeface="华文中宋" panose="02010600040101010101" pitchFamily="2" charset="-122"/>
            </a:endParaRPr>
          </a:p>
          <a:p>
            <a:pPr marL="355600" indent="-342900" algn="just" defTabSz="914400" eaLnBrk="1" hangingPunct="1">
              <a:lnSpc>
                <a:spcPct val="125000"/>
              </a:lnSpc>
              <a:spcBef>
                <a:spcPts val="665"/>
              </a:spcBef>
              <a:buClr>
                <a:srgbClr val="262699"/>
              </a:buClr>
              <a:buFont typeface="Wingdings" panose="05000000000000000000" pitchFamily="2" charset="2"/>
              <a:buChar char="l"/>
              <a:tabLst>
                <a:tab pos="354330" algn="l"/>
              </a:tabLst>
            </a:pPr>
            <a:r>
              <a:rPr lang="zh-CN" altLang="zh-CN" b="0" dirty="0">
                <a:solidFill>
                  <a:schemeClr val="tx1"/>
                </a:solidFill>
                <a:latin typeface="华文中宋" panose="02010600040101010101" pitchFamily="2" charset="-122"/>
              </a:rPr>
              <a:t>由于</a:t>
            </a:r>
            <a:r>
              <a:rPr lang="zh-CN" altLang="zh-CN" b="0" dirty="0">
                <a:solidFill>
                  <a:srgbClr val="C00000"/>
                </a:solidFill>
                <a:latin typeface="华文中宋" panose="02010600040101010101" pitchFamily="2" charset="-122"/>
              </a:rPr>
              <a:t>错误是无法避免的</a:t>
            </a:r>
            <a:r>
              <a:rPr lang="zh-CN" altLang="zh-CN" b="0" dirty="0">
                <a:solidFill>
                  <a:schemeClr val="tx1"/>
                </a:solidFill>
                <a:latin typeface="华文中宋" panose="02010600040101010101" pitchFamily="2" charset="-122"/>
              </a:rPr>
              <a:t>，</a:t>
            </a:r>
            <a:r>
              <a:rPr lang="zh-CN" altLang="zh-CN" b="0" dirty="0">
                <a:solidFill>
                  <a:srgbClr val="FF0000"/>
                </a:solidFill>
                <a:latin typeface="华文中宋" panose="02010600040101010101" pitchFamily="2" charset="-122"/>
              </a:rPr>
              <a:t>应该事先计划的是当错误发生时哪些安全问题需要避免</a:t>
            </a:r>
            <a:r>
              <a:rPr lang="zh-CN" altLang="zh-CN" b="0" dirty="0">
                <a:solidFill>
                  <a:schemeClr val="tx1"/>
                </a:solidFill>
                <a:latin typeface="华文中宋" panose="02010600040101010101" pitchFamily="2" charset="-122"/>
              </a:rPr>
              <a:t>。</a:t>
            </a:r>
            <a:endParaRPr lang="zh-CN" altLang="zh-CN" b="0" dirty="0">
              <a:solidFill>
                <a:schemeClr val="tx1"/>
              </a:solidFill>
              <a:latin typeface="华文中宋" panose="02010600040101010101" pitchFamily="2" charset="-122"/>
            </a:endParaRPr>
          </a:p>
          <a:p>
            <a:pPr marL="355600" indent="-342900" algn="just" defTabSz="914400" eaLnBrk="1" hangingPunct="1">
              <a:lnSpc>
                <a:spcPct val="125000"/>
              </a:lnSpc>
              <a:spcBef>
                <a:spcPts val="665"/>
              </a:spcBef>
              <a:buClr>
                <a:srgbClr val="262699"/>
              </a:buClr>
              <a:buFont typeface="Wingdings" panose="05000000000000000000" pitchFamily="2" charset="2"/>
              <a:buChar char="l"/>
              <a:tabLst>
                <a:tab pos="354330" algn="l"/>
              </a:tabLst>
            </a:pPr>
            <a:r>
              <a:rPr lang="zh-CN" altLang="zh-CN" b="0" dirty="0">
                <a:solidFill>
                  <a:schemeClr val="tx1"/>
                </a:solidFill>
                <a:latin typeface="华文中宋" panose="02010600040101010101" pitchFamily="2" charset="-122"/>
              </a:rPr>
              <a:t>任何复杂的系统都应该有错误模式，当系统发生错误时，系统应该能够安全地退出。</a:t>
            </a:r>
            <a:endParaRPr lang="zh-CN" altLang="zh-CN" b="0" dirty="0">
              <a:solidFill>
                <a:schemeClr val="tx1"/>
              </a:solidFill>
              <a:latin typeface="华文中宋" panose="02010600040101010101" pitchFamily="2" charset="-122"/>
            </a:endParaRPr>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标题 1"/>
          <p:cNvSpPr>
            <a:spLocks noGrp="1"/>
          </p:cNvSpPr>
          <p:nvPr>
            <p:ph type="title"/>
          </p:nvPr>
        </p:nvSpPr>
        <p:spPr/>
        <p:txBody>
          <a:bodyPr vert="horz" wrap="square" lIns="91440" tIns="45720" rIns="91440" bIns="45720" numCol="1" anchor="ctr" anchorCtr="0" compatLnSpc="1"/>
          <a:lstStyle/>
          <a:p>
            <a:pPr marL="12700" marR="0" lvl="0" indent="0" algn="ctr" defTabSz="914400" rtl="0" eaLnBrk="0" fontAlgn="base" latinLnBrk="0" hangingPunct="0">
              <a:lnSpc>
                <a:spcPct val="100000"/>
              </a:lnSpc>
              <a:spcBef>
                <a:spcPct val="0"/>
              </a:spcBef>
              <a:spcAft>
                <a:spcPct val="0"/>
              </a:spcAft>
              <a:buClrTx/>
              <a:buSzTx/>
              <a:buFontTx/>
              <a:buNone/>
              <a:tabLst>
                <a:tab pos="354330" algn="l"/>
              </a:tabLst>
              <a:defRPr/>
            </a:pPr>
            <a:r>
              <a:rPr kumimoji="0" lang="zh-CN" altLang="en-US" sz="2800" b="1" i="0" u="none" strike="noStrike" kern="0" cap="none" spc="10" normalizeH="0" baseline="0" noProof="0" dirty="0">
                <a:ln>
                  <a:noFill/>
                </a:ln>
                <a:solidFill>
                  <a:schemeClr val="tx2"/>
                </a:solidFill>
                <a:effectLst/>
                <a:uLnTx/>
                <a:uFillTx/>
                <a:latin typeface="华文中宋" panose="02010600040101010101" pitchFamily="2" charset="-122"/>
                <a:ea typeface="华文中宋" panose="02010600040101010101" pitchFamily="2" charset="-122"/>
                <a:cs typeface="+mj-cs"/>
                <a:sym typeface="+mn-ea"/>
              </a:rPr>
              <a:t>问题：哪个是正确的登录程序？</a:t>
            </a:r>
            <a:endParaRPr kumimoji="0" lang="zh-CN" altLang="en-US" sz="2800" b="1" i="0" u="none" strike="noStrike" kern="0" cap="none" spc="10" normalizeH="0" baseline="0" noProof="0" dirty="0">
              <a:ln>
                <a:noFill/>
              </a:ln>
              <a:solidFill>
                <a:schemeClr val="tx2"/>
              </a:solidFill>
              <a:effectLst/>
              <a:uLnTx/>
              <a:uFillTx/>
              <a:latin typeface="华文中宋" panose="02010600040101010101" pitchFamily="2" charset="-122"/>
              <a:ea typeface="华文中宋" panose="02010600040101010101" pitchFamily="2" charset="-122"/>
              <a:cs typeface="+mj-cs"/>
              <a:sym typeface="+mn-ea"/>
            </a:endParaRPr>
          </a:p>
        </p:txBody>
      </p:sp>
      <p:sp>
        <p:nvSpPr>
          <p:cNvPr id="11267"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35847" name="object 16"/>
          <p:cNvSpPr txBox="1"/>
          <p:nvPr/>
        </p:nvSpPr>
        <p:spPr>
          <a:xfrm>
            <a:off x="984250" y="1190625"/>
            <a:ext cx="6965950" cy="2371725"/>
          </a:xfrm>
          <a:prstGeom prst="rect">
            <a:avLst/>
          </a:prstGeom>
        </p:spPr>
        <p:style>
          <a:lnRef idx="2">
            <a:schemeClr val="accent2"/>
          </a:lnRef>
          <a:fillRef idx="1">
            <a:schemeClr val="lt1"/>
          </a:fillRef>
          <a:effectRef idx="0">
            <a:schemeClr val="accent2"/>
          </a:effectRef>
          <a:fontRef idx="minor">
            <a:schemeClr val="dk1"/>
          </a:fontRef>
        </p:style>
        <p:txBody>
          <a:bodyPr lIns="0" tIns="0" rIns="0" bIns="0">
            <a:spAutoFit/>
          </a:bodyPr>
          <a:lstStyle/>
          <a:p>
            <a:pPr marL="544830" marR="0" lvl="0" indent="0" algn="l" defTabSz="914400" rtl="0" eaLnBrk="1" fontAlgn="base" latinLnBrk="0" hangingPunct="1">
              <a:lnSpc>
                <a:spcPct val="100000"/>
              </a:lnSpc>
              <a:spcBef>
                <a:spcPct val="0"/>
              </a:spcBef>
              <a:spcAft>
                <a:spcPct val="0"/>
              </a:spcAft>
              <a:buClrTx/>
              <a:buSzTx/>
              <a:buFontTx/>
              <a:buNone/>
              <a:defRPr/>
            </a:pPr>
            <a:r>
              <a:rPr kumimoji="0" lang="zh-CN" altLang="zh-CN" sz="2000" b="0" i="0" u="none" strike="noStrike" kern="1200" cap="none" spc="0" normalizeH="0" baseline="0" noProof="1">
                <a:ln>
                  <a:noFill/>
                </a:ln>
                <a:solidFill>
                  <a:schemeClr val="tx1"/>
                </a:solidFill>
                <a:effectLst/>
                <a:uLnTx/>
                <a:uFillTx/>
                <a:latin typeface="Times New Roman" panose="02020603050405020304" pitchFamily="18" charset="0"/>
                <a:ea typeface="+mn-ea"/>
                <a:cs typeface="+mn-cs"/>
              </a:rPr>
              <a:t>DWORD dwRet = IsAccessAllowed(...);</a:t>
            </a:r>
            <a:r>
              <a:rPr kumimoji="0" lang="en-US" altLang="zh-CN" sz="2000" b="0" i="0" u="none" strike="noStrike" kern="1200" cap="none" spc="0" normalizeH="0" baseline="0" noProof="1">
                <a:ln>
                  <a:noFill/>
                </a:ln>
                <a:solidFill>
                  <a:srgbClr val="FF0000"/>
                </a:solidFill>
                <a:effectLst/>
                <a:uLnTx/>
                <a:uFillTx/>
                <a:latin typeface="Times New Roman" panose="02020603050405020304" pitchFamily="18" charset="0"/>
                <a:ea typeface="+mn-ea"/>
                <a:cs typeface="+mn-cs"/>
              </a:rPr>
              <a:t>//</a:t>
            </a:r>
            <a:r>
              <a:rPr kumimoji="0" lang="zh-CN" altLang="en-US" sz="2000" b="0" i="0" u="none" strike="noStrike" kern="1200" cap="none" spc="0" normalizeH="0" baseline="0" noProof="1">
                <a:ln>
                  <a:noFill/>
                </a:ln>
                <a:solidFill>
                  <a:srgbClr val="FF0000"/>
                </a:solidFill>
                <a:effectLst/>
                <a:uLnTx/>
                <a:uFillTx/>
                <a:latin typeface="Times New Roman" panose="02020603050405020304" pitchFamily="18" charset="0"/>
                <a:ea typeface="+mn-ea"/>
                <a:cs typeface="+mn-cs"/>
              </a:rPr>
              <a:t>权限判断的返回值</a:t>
            </a:r>
            <a:endParaRPr kumimoji="0" lang="zh-CN" altLang="zh-CN" sz="2000" b="0" i="0" u="none" strike="noStrike" kern="1200" cap="none" spc="0" normalizeH="0" baseline="0" noProof="1">
              <a:ln>
                <a:noFill/>
              </a:ln>
              <a:solidFill>
                <a:srgbClr val="FF0000"/>
              </a:solidFill>
              <a:effectLst/>
              <a:uLnTx/>
              <a:uFillTx/>
              <a:latin typeface="Times New Roman" panose="02020603050405020304" pitchFamily="18" charset="0"/>
              <a:ea typeface="+mn-ea"/>
              <a:cs typeface="+mn-cs"/>
            </a:endParaRPr>
          </a:p>
          <a:p>
            <a:pPr marL="544830" marR="0" lvl="0" indent="0" algn="l" defTabSz="914400" rtl="0" eaLnBrk="1" fontAlgn="base" latinLnBrk="0" hangingPunct="1">
              <a:lnSpc>
                <a:spcPct val="100000"/>
              </a:lnSpc>
              <a:spcBef>
                <a:spcPct val="0"/>
              </a:spcBef>
              <a:spcAft>
                <a:spcPct val="0"/>
              </a:spcAft>
              <a:buClrTx/>
              <a:buSzTx/>
              <a:buFontTx/>
              <a:buNone/>
              <a:defRPr/>
            </a:pPr>
            <a:r>
              <a:rPr kumimoji="0" lang="zh-CN" altLang="zh-CN" sz="2000" b="0" i="0" u="none" strike="noStrike" kern="1200" cap="none" spc="0" normalizeH="0" baseline="0" noProof="1">
                <a:ln>
                  <a:noFill/>
                </a:ln>
                <a:solidFill>
                  <a:schemeClr val="tx1"/>
                </a:solidFill>
                <a:effectLst/>
                <a:uLnTx/>
                <a:uFillTx/>
                <a:latin typeface="Times New Roman" panose="02020603050405020304" pitchFamily="18" charset="0"/>
                <a:ea typeface="+mn-ea"/>
                <a:cs typeface="+mn-cs"/>
              </a:rPr>
              <a:t>if (dwRet == ERROR_ACCESS_DENIED) {</a:t>
            </a:r>
            <a:endParaRPr kumimoji="0" lang="zh-CN" altLang="zh-CN" sz="2000" b="0" i="0" u="none" strike="noStrike" kern="1200" cap="none" spc="0" normalizeH="0" baseline="0" noProof="1">
              <a:ln>
                <a:noFill/>
              </a:ln>
              <a:solidFill>
                <a:schemeClr val="tx1"/>
              </a:solidFill>
              <a:effectLst/>
              <a:uLnTx/>
              <a:uFillTx/>
              <a:latin typeface="Times New Roman" panose="02020603050405020304" pitchFamily="18" charset="0"/>
              <a:ea typeface="+mn-ea"/>
              <a:cs typeface="+mn-cs"/>
            </a:endParaRPr>
          </a:p>
          <a:p>
            <a:pPr marL="544830" marR="0" lvl="0" indent="0" algn="l" defTabSz="914400" rtl="0" eaLnBrk="1" fontAlgn="base" latinLnBrk="0" hangingPunct="1">
              <a:lnSpc>
                <a:spcPct val="100000"/>
              </a:lnSpc>
              <a:spcBef>
                <a:spcPct val="0"/>
              </a:spcBef>
              <a:spcAft>
                <a:spcPct val="0"/>
              </a:spcAft>
              <a:buClrTx/>
              <a:buSzTx/>
              <a:buFontTx/>
              <a:buNone/>
              <a:defRPr/>
            </a:pPr>
            <a:r>
              <a:rPr kumimoji="0" lang="zh-CN" altLang="zh-CN" sz="2000" b="0" i="0" u="none" strike="noStrike" kern="1200" cap="none" spc="0" normalizeH="0" baseline="0" noProof="1">
                <a:ln>
                  <a:noFill/>
                </a:ln>
                <a:solidFill>
                  <a:schemeClr val="tx1"/>
                </a:solidFill>
                <a:effectLst/>
                <a:uLnTx/>
                <a:uFillTx/>
                <a:latin typeface="Times New Roman" panose="02020603050405020304" pitchFamily="18" charset="0"/>
                <a:ea typeface="+mn-ea"/>
                <a:cs typeface="+mn-cs"/>
              </a:rPr>
              <a:t>// Security check failed.</a:t>
            </a:r>
            <a:endParaRPr kumimoji="0" lang="zh-CN" altLang="zh-CN" sz="2000" b="0" i="0" u="none" strike="noStrike" kern="1200" cap="none" spc="0" normalizeH="0" baseline="0" noProof="1">
              <a:ln>
                <a:noFill/>
              </a:ln>
              <a:solidFill>
                <a:schemeClr val="tx1"/>
              </a:solidFill>
              <a:effectLst/>
              <a:uLnTx/>
              <a:uFillTx/>
              <a:latin typeface="Times New Roman" panose="02020603050405020304" pitchFamily="18" charset="0"/>
              <a:ea typeface="+mn-ea"/>
              <a:cs typeface="+mn-cs"/>
            </a:endParaRPr>
          </a:p>
          <a:p>
            <a:pPr marL="544830" marR="0" lvl="0" indent="0" algn="l" defTabSz="914400" rtl="0" eaLnBrk="1" fontAlgn="base" latinLnBrk="0" hangingPunct="1">
              <a:lnSpc>
                <a:spcPct val="100000"/>
              </a:lnSpc>
              <a:spcBef>
                <a:spcPct val="0"/>
              </a:spcBef>
              <a:spcAft>
                <a:spcPct val="0"/>
              </a:spcAft>
              <a:buClrTx/>
              <a:buSzTx/>
              <a:buFontTx/>
              <a:buNone/>
              <a:defRPr/>
            </a:pPr>
            <a:r>
              <a:rPr kumimoji="0" lang="zh-CN" altLang="zh-CN" sz="2000" b="0" i="0" u="none" strike="noStrike" kern="1200" cap="none" spc="0" normalizeH="0" baseline="0" noProof="1">
                <a:ln>
                  <a:noFill/>
                </a:ln>
                <a:solidFill>
                  <a:schemeClr val="tx1"/>
                </a:solidFill>
                <a:effectLst/>
                <a:uLnTx/>
                <a:uFillTx/>
                <a:latin typeface="Times New Roman" panose="02020603050405020304" pitchFamily="18" charset="0"/>
                <a:ea typeface="+mn-ea"/>
                <a:cs typeface="+mn-cs"/>
              </a:rPr>
              <a:t>// Inform user that access is denied.</a:t>
            </a:r>
            <a:endParaRPr kumimoji="0" lang="zh-CN" altLang="zh-CN" sz="2000" b="0" i="0" u="none" strike="noStrike" kern="1200" cap="none" spc="0" normalizeH="0" baseline="0" noProof="1">
              <a:ln>
                <a:noFill/>
              </a:ln>
              <a:solidFill>
                <a:schemeClr val="tx1"/>
              </a:solidFill>
              <a:effectLst/>
              <a:uLnTx/>
              <a:uFillTx/>
              <a:latin typeface="Times New Roman" panose="02020603050405020304" pitchFamily="18" charset="0"/>
              <a:ea typeface="+mn-ea"/>
              <a:cs typeface="+mn-cs"/>
            </a:endParaRPr>
          </a:p>
          <a:p>
            <a:pPr marL="544830" marR="0" lvl="0" indent="0" algn="l" defTabSz="914400" rtl="0" eaLnBrk="1" fontAlgn="base" latinLnBrk="0" hangingPunct="1">
              <a:lnSpc>
                <a:spcPct val="100000"/>
              </a:lnSpc>
              <a:spcBef>
                <a:spcPct val="0"/>
              </a:spcBef>
              <a:spcAft>
                <a:spcPct val="0"/>
              </a:spcAft>
              <a:buClrTx/>
              <a:buSzTx/>
              <a:buFontTx/>
              <a:buNone/>
              <a:defRPr/>
            </a:pPr>
            <a:r>
              <a:rPr kumimoji="0" lang="zh-CN" altLang="zh-CN" sz="2000" b="0" i="0" u="none" strike="noStrike" kern="1200" cap="none" spc="0" normalizeH="0" baseline="0" noProof="1">
                <a:ln>
                  <a:noFill/>
                </a:ln>
                <a:solidFill>
                  <a:schemeClr val="tx1"/>
                </a:solidFill>
                <a:effectLst/>
                <a:uLnTx/>
                <a:uFillTx/>
                <a:latin typeface="Times New Roman" panose="02020603050405020304" pitchFamily="18" charset="0"/>
                <a:ea typeface="+mn-ea"/>
                <a:cs typeface="+mn-cs"/>
              </a:rPr>
              <a:t>} else {</a:t>
            </a:r>
            <a:endParaRPr kumimoji="0" lang="zh-CN" altLang="zh-CN" sz="2000" b="0" i="0" u="none" strike="noStrike" kern="1200" cap="none" spc="0" normalizeH="0" baseline="0" noProof="1">
              <a:ln>
                <a:noFill/>
              </a:ln>
              <a:solidFill>
                <a:schemeClr val="tx1"/>
              </a:solidFill>
              <a:effectLst/>
              <a:uLnTx/>
              <a:uFillTx/>
              <a:latin typeface="Times New Roman" panose="02020603050405020304" pitchFamily="18" charset="0"/>
              <a:ea typeface="+mn-ea"/>
              <a:cs typeface="+mn-cs"/>
            </a:endParaRPr>
          </a:p>
          <a:p>
            <a:pPr marL="544830" marR="0" lvl="0" indent="0" algn="l" defTabSz="914400" rtl="0" eaLnBrk="1" fontAlgn="base" latinLnBrk="0" hangingPunct="1">
              <a:lnSpc>
                <a:spcPct val="100000"/>
              </a:lnSpc>
              <a:spcBef>
                <a:spcPct val="0"/>
              </a:spcBef>
              <a:spcAft>
                <a:spcPct val="0"/>
              </a:spcAft>
              <a:buClrTx/>
              <a:buSzTx/>
              <a:buFontTx/>
              <a:buNone/>
              <a:defRPr/>
            </a:pPr>
            <a:r>
              <a:rPr kumimoji="0" lang="zh-CN" altLang="zh-CN" sz="2000" b="0" i="0" u="none" strike="noStrike" kern="1200" cap="none" spc="0" normalizeH="0" baseline="0" noProof="1">
                <a:ln>
                  <a:noFill/>
                </a:ln>
                <a:solidFill>
                  <a:schemeClr val="tx1"/>
                </a:solidFill>
                <a:effectLst/>
                <a:uLnTx/>
                <a:uFillTx/>
                <a:latin typeface="Times New Roman" panose="02020603050405020304" pitchFamily="18" charset="0"/>
                <a:ea typeface="+mn-ea"/>
                <a:cs typeface="+mn-cs"/>
              </a:rPr>
              <a:t>// Security check OK.</a:t>
            </a:r>
            <a:endParaRPr kumimoji="0" lang="zh-CN" altLang="zh-CN" sz="2000" b="0" i="0" u="none" strike="noStrike" kern="1200" cap="none" spc="0" normalizeH="0" baseline="0" noProof="1">
              <a:ln>
                <a:noFill/>
              </a:ln>
              <a:solidFill>
                <a:schemeClr val="tx1"/>
              </a:solidFill>
              <a:effectLst/>
              <a:uLnTx/>
              <a:uFillTx/>
              <a:latin typeface="Times New Roman" panose="02020603050405020304" pitchFamily="18" charset="0"/>
              <a:ea typeface="+mn-ea"/>
              <a:cs typeface="+mn-cs"/>
            </a:endParaRPr>
          </a:p>
          <a:p>
            <a:pPr marL="544830" marR="0" lvl="0" indent="0" algn="l" defTabSz="914400" rtl="0" eaLnBrk="1" fontAlgn="base" latinLnBrk="0" hangingPunct="1">
              <a:lnSpc>
                <a:spcPct val="100000"/>
              </a:lnSpc>
              <a:spcBef>
                <a:spcPct val="0"/>
              </a:spcBef>
              <a:spcAft>
                <a:spcPct val="0"/>
              </a:spcAft>
              <a:buClrTx/>
              <a:buSzTx/>
              <a:buFontTx/>
              <a:buNone/>
              <a:defRPr/>
            </a:pPr>
            <a:r>
              <a:rPr kumimoji="0" lang="zh-CN" altLang="zh-CN" sz="2000" b="0" i="0" u="none" strike="noStrike" kern="1200" cap="none" spc="0" normalizeH="0" baseline="0" noProof="1">
                <a:ln>
                  <a:noFill/>
                </a:ln>
                <a:solidFill>
                  <a:schemeClr val="tx1"/>
                </a:solidFill>
                <a:effectLst/>
                <a:uLnTx/>
                <a:uFillTx/>
                <a:latin typeface="Times New Roman" panose="02020603050405020304" pitchFamily="18" charset="0"/>
                <a:ea typeface="+mn-ea"/>
                <a:cs typeface="+mn-cs"/>
              </a:rPr>
              <a:t>}</a:t>
            </a:r>
            <a:endParaRPr kumimoji="0" lang="zh-CN" altLang="zh-CN" sz="2000" b="0" i="0" u="none" strike="noStrike" kern="1200" cap="none" spc="0" normalizeH="0" baseline="0" noProof="1">
              <a:ln>
                <a:noFill/>
              </a:ln>
              <a:solidFill>
                <a:schemeClr val="tx1"/>
              </a:solidFill>
              <a:effectLst/>
              <a:uLnTx/>
              <a:uFillTx/>
              <a:latin typeface="Times New Roman" panose="02020603050405020304" pitchFamily="18" charset="0"/>
              <a:ea typeface="+mn-ea"/>
              <a:cs typeface="+mn-cs"/>
            </a:endParaRPr>
          </a:p>
          <a:p>
            <a:pPr marL="544830" marR="0" lvl="0" indent="0" algn="l" defTabSz="914400" rtl="0" eaLnBrk="1" fontAlgn="base" latinLnBrk="0" hangingPunct="1">
              <a:lnSpc>
                <a:spcPts val="1700"/>
              </a:lnSpc>
              <a:spcBef>
                <a:spcPct val="0"/>
              </a:spcBef>
              <a:spcAft>
                <a:spcPct val="0"/>
              </a:spcAft>
              <a:buClrTx/>
              <a:buSzTx/>
              <a:buFontTx/>
              <a:buNone/>
              <a:defRPr/>
            </a:pPr>
            <a:endParaRPr kumimoji="0" lang="en-US" altLang="zh-CN" sz="2800" b="0" i="0" u="none" strike="noStrike" kern="1200" cap="none" spc="0" normalizeH="0" baseline="0" noProof="1">
              <a:ln>
                <a:noFill/>
              </a:ln>
              <a:solidFill>
                <a:schemeClr val="tx1"/>
              </a:solidFill>
              <a:effectLst/>
              <a:uLnTx/>
              <a:uFillTx/>
              <a:latin typeface="宋体" panose="02010600030101010101" pitchFamily="2" charset="-122"/>
              <a:ea typeface="+mn-ea"/>
              <a:cs typeface="+mn-cs"/>
            </a:endParaRPr>
          </a:p>
        </p:txBody>
      </p:sp>
      <p:sp>
        <p:nvSpPr>
          <p:cNvPr id="36873" name="object 7"/>
          <p:cNvSpPr txBox="1"/>
          <p:nvPr/>
        </p:nvSpPr>
        <p:spPr>
          <a:xfrm>
            <a:off x="1016000" y="3848100"/>
            <a:ext cx="6934200" cy="2460625"/>
          </a:xfrm>
          <a:prstGeom prst="rect">
            <a:avLst/>
          </a:prstGeom>
        </p:spPr>
        <p:style>
          <a:lnRef idx="2">
            <a:schemeClr val="accent2"/>
          </a:lnRef>
          <a:fillRef idx="1">
            <a:schemeClr val="lt1"/>
          </a:fillRef>
          <a:effectRef idx="0">
            <a:schemeClr val="accent2"/>
          </a:effectRef>
          <a:fontRef idx="minor">
            <a:schemeClr val="dk1"/>
          </a:fontRef>
        </p:style>
        <p:txBody>
          <a:bodyPr lIns="0" tIns="0" rIns="0" bIns="0">
            <a:spAutoFit/>
          </a:bodyPr>
          <a:lstStyle/>
          <a:p>
            <a:pPr marL="12700" marR="0" lvl="0" indent="0" algn="l" defTabSz="914400" rtl="0" eaLnBrk="1" fontAlgn="base" latinLnBrk="0" hangingPunct="1">
              <a:lnSpc>
                <a:spcPct val="100000"/>
              </a:lnSpc>
              <a:spcBef>
                <a:spcPct val="0"/>
              </a:spcBef>
              <a:spcAft>
                <a:spcPct val="0"/>
              </a:spcAft>
              <a:buClrTx/>
              <a:buSzTx/>
              <a:buFontTx/>
              <a:buNone/>
              <a:defRPr/>
            </a:pPr>
            <a:r>
              <a:rPr kumimoji="0" lang="zh-CN" altLang="zh-CN" sz="2000" b="0" i="0" u="none" strike="noStrike" kern="1200" cap="none" spc="0" normalizeH="0" baseline="0" noProof="1">
                <a:ln>
                  <a:noFill/>
                </a:ln>
                <a:solidFill>
                  <a:srgbClr val="000513"/>
                </a:solidFill>
                <a:effectLst/>
                <a:uLnTx/>
                <a:uFillTx/>
                <a:latin typeface="Times New Roman" panose="02020603050405020304" pitchFamily="18" charset="0"/>
                <a:ea typeface="+mn-ea"/>
                <a:cs typeface="+mn-cs"/>
              </a:rPr>
              <a:t>DWORD dwRet = IsAccessAllowed(...); </a:t>
            </a:r>
            <a:endParaRPr kumimoji="0" lang="en-US" altLang="zh-CN" sz="2000" b="0" i="0" u="none" strike="noStrike" kern="1200" cap="none" spc="0" normalizeH="0" baseline="0" noProof="1">
              <a:ln>
                <a:noFill/>
              </a:ln>
              <a:solidFill>
                <a:srgbClr val="000513"/>
              </a:solidFill>
              <a:effectLst/>
              <a:uLnTx/>
              <a:uFillTx/>
              <a:latin typeface="Times New Roman" panose="02020603050405020304" pitchFamily="18" charset="0"/>
              <a:ea typeface="+mn-ea"/>
              <a:cs typeface="+mn-cs"/>
            </a:endParaRPr>
          </a:p>
          <a:p>
            <a:pPr marL="12700" marR="0" lvl="0" indent="0" algn="l" defTabSz="914400" rtl="0" eaLnBrk="1" fontAlgn="base" latinLnBrk="0" hangingPunct="1">
              <a:lnSpc>
                <a:spcPct val="100000"/>
              </a:lnSpc>
              <a:spcBef>
                <a:spcPct val="0"/>
              </a:spcBef>
              <a:spcAft>
                <a:spcPct val="0"/>
              </a:spcAft>
              <a:buClrTx/>
              <a:buSzTx/>
              <a:buFontTx/>
              <a:buNone/>
              <a:defRPr/>
            </a:pPr>
            <a:r>
              <a:rPr kumimoji="0" lang="zh-CN" altLang="zh-CN" sz="2000" b="0" i="0" u="none" strike="noStrike" kern="1200" cap="none" spc="0" normalizeH="0" baseline="0" noProof="1">
                <a:ln>
                  <a:noFill/>
                </a:ln>
                <a:solidFill>
                  <a:srgbClr val="000513"/>
                </a:solidFill>
                <a:effectLst/>
                <a:uLnTx/>
                <a:uFillTx/>
                <a:latin typeface="Times New Roman" panose="02020603050405020304" pitchFamily="18" charset="0"/>
                <a:ea typeface="+mn-ea"/>
                <a:cs typeface="+mn-cs"/>
              </a:rPr>
              <a:t>if (dwRet == NO_ERROR) {</a:t>
            </a:r>
            <a:endParaRPr kumimoji="0" lang="zh-CN" altLang="zh-CN" sz="2000" b="0" i="0" u="none" strike="noStrike" kern="1200" cap="none" spc="0" normalizeH="0" baseline="0" noProof="1">
              <a:ln>
                <a:noFill/>
              </a:ln>
              <a:solidFill>
                <a:srgbClr val="FFFFFF"/>
              </a:solidFill>
              <a:effectLst/>
              <a:uLnTx/>
              <a:uFillTx/>
              <a:latin typeface="Times New Roman" panose="02020603050405020304" pitchFamily="18" charset="0"/>
              <a:ea typeface="+mn-ea"/>
              <a:cs typeface="+mn-cs"/>
            </a:endParaRPr>
          </a:p>
          <a:p>
            <a:pPr marL="12700" marR="0" lvl="0" indent="0" algn="l" defTabSz="914400" rtl="0" eaLnBrk="1" fontAlgn="base" latinLnBrk="0" hangingPunct="1">
              <a:lnSpc>
                <a:spcPct val="100000"/>
              </a:lnSpc>
              <a:spcBef>
                <a:spcPct val="0"/>
              </a:spcBef>
              <a:spcAft>
                <a:spcPct val="0"/>
              </a:spcAft>
              <a:buClrTx/>
              <a:buSzTx/>
              <a:buFontTx/>
              <a:buNone/>
              <a:defRPr/>
            </a:pPr>
            <a:r>
              <a:rPr kumimoji="0" lang="zh-CN" altLang="zh-CN" sz="2000" b="0" i="0" u="none" strike="noStrike" kern="1200" cap="none" spc="0" normalizeH="0" baseline="0" noProof="1">
                <a:ln>
                  <a:noFill/>
                </a:ln>
                <a:solidFill>
                  <a:srgbClr val="000513"/>
                </a:solidFill>
                <a:effectLst/>
                <a:uLnTx/>
                <a:uFillTx/>
                <a:latin typeface="Times New Roman" panose="02020603050405020304" pitchFamily="18" charset="0"/>
                <a:ea typeface="+mn-ea"/>
                <a:cs typeface="+mn-cs"/>
              </a:rPr>
              <a:t>// Secure check OK.</a:t>
            </a:r>
            <a:endParaRPr kumimoji="0" lang="zh-CN" altLang="zh-CN" sz="2000" b="0" i="0" u="none" strike="noStrike" kern="1200" cap="none" spc="0" normalizeH="0" baseline="0" noProof="1">
              <a:ln>
                <a:noFill/>
              </a:ln>
              <a:solidFill>
                <a:srgbClr val="FFFFFF"/>
              </a:solidFill>
              <a:effectLst/>
              <a:uLnTx/>
              <a:uFillTx/>
              <a:latin typeface="Times New Roman" panose="02020603050405020304" pitchFamily="18" charset="0"/>
              <a:ea typeface="+mn-ea"/>
              <a:cs typeface="+mn-cs"/>
            </a:endParaRPr>
          </a:p>
          <a:p>
            <a:pPr marL="12700" marR="0" lvl="0" indent="0" algn="l" defTabSz="914400" rtl="0" eaLnBrk="1" fontAlgn="base" latinLnBrk="0" hangingPunct="1">
              <a:lnSpc>
                <a:spcPct val="100000"/>
              </a:lnSpc>
              <a:spcBef>
                <a:spcPct val="0"/>
              </a:spcBef>
              <a:spcAft>
                <a:spcPct val="0"/>
              </a:spcAft>
              <a:buClrTx/>
              <a:buSzTx/>
              <a:buFontTx/>
              <a:buNone/>
              <a:defRPr/>
            </a:pPr>
            <a:r>
              <a:rPr kumimoji="0" lang="zh-CN" altLang="zh-CN" sz="2000" b="0" i="0" u="none" strike="noStrike" kern="1200" cap="none" spc="0" normalizeH="0" baseline="0" noProof="1">
                <a:ln>
                  <a:noFill/>
                </a:ln>
                <a:solidFill>
                  <a:srgbClr val="000513"/>
                </a:solidFill>
                <a:effectLst/>
                <a:uLnTx/>
                <a:uFillTx/>
                <a:latin typeface="Times New Roman" panose="02020603050405020304" pitchFamily="18" charset="0"/>
                <a:ea typeface="+mn-ea"/>
                <a:cs typeface="+mn-cs"/>
              </a:rPr>
              <a:t>// Perform task.</a:t>
            </a:r>
            <a:endParaRPr kumimoji="0" lang="zh-CN" altLang="zh-CN" sz="2000" b="0" i="0" u="none" strike="noStrike" kern="1200" cap="none" spc="0" normalizeH="0" baseline="0" noProof="1">
              <a:ln>
                <a:noFill/>
              </a:ln>
              <a:solidFill>
                <a:srgbClr val="FFFFFF"/>
              </a:solidFill>
              <a:effectLst/>
              <a:uLnTx/>
              <a:uFillTx/>
              <a:latin typeface="Times New Roman" panose="02020603050405020304" pitchFamily="18" charset="0"/>
              <a:ea typeface="+mn-ea"/>
              <a:cs typeface="+mn-cs"/>
            </a:endParaRPr>
          </a:p>
          <a:p>
            <a:pPr marL="12700" marR="0" lvl="0" indent="0" algn="l" defTabSz="914400" rtl="0" eaLnBrk="1" fontAlgn="base" latinLnBrk="0" hangingPunct="1">
              <a:lnSpc>
                <a:spcPct val="100000"/>
              </a:lnSpc>
              <a:spcBef>
                <a:spcPct val="0"/>
              </a:spcBef>
              <a:spcAft>
                <a:spcPct val="0"/>
              </a:spcAft>
              <a:buClrTx/>
              <a:buSzTx/>
              <a:buFontTx/>
              <a:buNone/>
              <a:defRPr/>
            </a:pPr>
            <a:r>
              <a:rPr kumimoji="0" lang="zh-CN" altLang="zh-CN" sz="2000" b="0" i="0" u="none" strike="noStrike" kern="1200" cap="none" spc="0" normalizeH="0" baseline="0" noProof="1">
                <a:ln>
                  <a:noFill/>
                </a:ln>
                <a:solidFill>
                  <a:srgbClr val="000513"/>
                </a:solidFill>
                <a:effectLst/>
                <a:uLnTx/>
                <a:uFillTx/>
                <a:latin typeface="Times New Roman" panose="02020603050405020304" pitchFamily="18" charset="0"/>
                <a:ea typeface="+mn-ea"/>
                <a:cs typeface="+mn-cs"/>
              </a:rPr>
              <a:t>} else {</a:t>
            </a:r>
            <a:endParaRPr kumimoji="0" lang="zh-CN" altLang="zh-CN" sz="2000" b="0" i="0" u="none" strike="noStrike" kern="1200" cap="none" spc="0" normalizeH="0" baseline="0" noProof="1">
              <a:ln>
                <a:noFill/>
              </a:ln>
              <a:solidFill>
                <a:srgbClr val="FFFFFF"/>
              </a:solidFill>
              <a:effectLst/>
              <a:uLnTx/>
              <a:uFillTx/>
              <a:latin typeface="Times New Roman" panose="02020603050405020304" pitchFamily="18" charset="0"/>
              <a:ea typeface="+mn-ea"/>
              <a:cs typeface="+mn-cs"/>
            </a:endParaRPr>
          </a:p>
          <a:p>
            <a:pPr marL="12700" marR="0" lvl="0" indent="0" algn="l" defTabSz="914400" rtl="0" eaLnBrk="1" fontAlgn="base" latinLnBrk="0" hangingPunct="1">
              <a:lnSpc>
                <a:spcPct val="100000"/>
              </a:lnSpc>
              <a:spcBef>
                <a:spcPct val="0"/>
              </a:spcBef>
              <a:spcAft>
                <a:spcPct val="0"/>
              </a:spcAft>
              <a:buClrTx/>
              <a:buSzTx/>
              <a:buFontTx/>
              <a:buNone/>
              <a:defRPr/>
            </a:pPr>
            <a:r>
              <a:rPr kumimoji="0" lang="zh-CN" altLang="zh-CN" sz="2000" b="0" i="0" u="none" strike="noStrike" kern="1200" cap="none" spc="0" normalizeH="0" baseline="0" noProof="1">
                <a:ln>
                  <a:noFill/>
                </a:ln>
                <a:solidFill>
                  <a:srgbClr val="000513"/>
                </a:solidFill>
                <a:effectLst/>
                <a:uLnTx/>
                <a:uFillTx/>
                <a:latin typeface="Times New Roman" panose="02020603050405020304" pitchFamily="18" charset="0"/>
                <a:ea typeface="+mn-ea"/>
                <a:cs typeface="+mn-cs"/>
              </a:rPr>
              <a:t>// Security check failed.</a:t>
            </a:r>
            <a:endParaRPr kumimoji="0" lang="zh-CN" altLang="zh-CN" sz="2000" b="0" i="0" u="none" strike="noStrike" kern="1200" cap="none" spc="0" normalizeH="0" baseline="0" noProof="1">
              <a:ln>
                <a:noFill/>
              </a:ln>
              <a:solidFill>
                <a:srgbClr val="FFFFFF"/>
              </a:solidFill>
              <a:effectLst/>
              <a:uLnTx/>
              <a:uFillTx/>
              <a:latin typeface="Times New Roman" panose="02020603050405020304" pitchFamily="18" charset="0"/>
              <a:ea typeface="+mn-ea"/>
              <a:cs typeface="+mn-cs"/>
            </a:endParaRPr>
          </a:p>
          <a:p>
            <a:pPr marL="12700" marR="0" lvl="0" indent="0" algn="l" defTabSz="914400" rtl="0" eaLnBrk="1" fontAlgn="base" latinLnBrk="0" hangingPunct="1">
              <a:lnSpc>
                <a:spcPct val="100000"/>
              </a:lnSpc>
              <a:spcBef>
                <a:spcPct val="0"/>
              </a:spcBef>
              <a:spcAft>
                <a:spcPct val="0"/>
              </a:spcAft>
              <a:buClrTx/>
              <a:buSzTx/>
              <a:buFontTx/>
              <a:buNone/>
              <a:defRPr/>
            </a:pPr>
            <a:r>
              <a:rPr kumimoji="0" lang="zh-CN" altLang="zh-CN" sz="2000" b="0" i="0" u="none" strike="noStrike" kern="1200" cap="none" spc="0" normalizeH="0" baseline="0" noProof="1">
                <a:ln>
                  <a:noFill/>
                </a:ln>
                <a:solidFill>
                  <a:srgbClr val="000513"/>
                </a:solidFill>
                <a:effectLst/>
                <a:uLnTx/>
                <a:uFillTx/>
                <a:latin typeface="Times New Roman" panose="02020603050405020304" pitchFamily="18" charset="0"/>
                <a:ea typeface="+mn-ea"/>
                <a:cs typeface="+mn-cs"/>
              </a:rPr>
              <a:t>// Inform user that access is denied.</a:t>
            </a:r>
            <a:endParaRPr kumimoji="0" lang="zh-CN" altLang="zh-CN" sz="2000" b="0" i="0" u="none" strike="noStrike" kern="1200" cap="none" spc="0" normalizeH="0" baseline="0" noProof="1">
              <a:ln>
                <a:noFill/>
              </a:ln>
              <a:solidFill>
                <a:srgbClr val="FFFFFF"/>
              </a:solidFill>
              <a:effectLst/>
              <a:uLnTx/>
              <a:uFillTx/>
              <a:latin typeface="Times New Roman" panose="02020603050405020304" pitchFamily="18" charset="0"/>
              <a:ea typeface="+mn-ea"/>
              <a:cs typeface="+mn-cs"/>
            </a:endParaRPr>
          </a:p>
          <a:p>
            <a:pPr marL="12700" marR="0" lvl="0" indent="0" algn="l" defTabSz="914400" rtl="0" eaLnBrk="1" fontAlgn="base" latinLnBrk="0" hangingPunct="1">
              <a:lnSpc>
                <a:spcPct val="100000"/>
              </a:lnSpc>
              <a:spcBef>
                <a:spcPct val="0"/>
              </a:spcBef>
              <a:spcAft>
                <a:spcPct val="0"/>
              </a:spcAft>
              <a:buClrTx/>
              <a:buSzTx/>
              <a:buFontTx/>
              <a:buNone/>
              <a:defRPr/>
            </a:pPr>
            <a:r>
              <a:rPr kumimoji="0" lang="zh-CN" altLang="zh-CN" sz="2000" b="0" i="0" u="none" strike="noStrike" kern="1200" cap="none" spc="0" normalizeH="0" baseline="0" noProof="1">
                <a:ln>
                  <a:noFill/>
                </a:ln>
                <a:solidFill>
                  <a:srgbClr val="000513"/>
                </a:solidFill>
                <a:effectLst/>
                <a:uLnTx/>
                <a:uFillTx/>
                <a:latin typeface="Times New Roman" panose="02020603050405020304" pitchFamily="18" charset="0"/>
                <a:ea typeface="+mn-ea"/>
                <a:cs typeface="+mn-cs"/>
              </a:rPr>
              <a:t>}</a:t>
            </a:r>
            <a:endParaRPr kumimoji="0" lang="en-US" altLang="zh-CN" sz="2800" b="0" i="0" u="none" strike="noStrike" kern="1200" cap="none" spc="0" normalizeH="0" baseline="0" noProof="1">
              <a:ln>
                <a:noFill/>
              </a:ln>
              <a:solidFill>
                <a:schemeClr val="tx1"/>
              </a:solidFill>
              <a:effectLst/>
              <a:uLnTx/>
              <a:uFillTx/>
              <a:latin typeface="Times New Roman" panose="02020603050405020304" pitchFamily="18" charset="0"/>
              <a:ea typeface="+mn-ea"/>
              <a:cs typeface="+mn-cs"/>
            </a:endParaRPr>
          </a:p>
        </p:txBody>
      </p:sp>
      <p:sp>
        <p:nvSpPr>
          <p:cNvPr id="11270" name="文本框 1"/>
          <p:cNvSpPr txBox="1"/>
          <p:nvPr/>
        </p:nvSpPr>
        <p:spPr>
          <a:xfrm>
            <a:off x="441325" y="1711325"/>
            <a:ext cx="314325" cy="460375"/>
          </a:xfrm>
          <a:prstGeom prst="rect">
            <a:avLst/>
          </a:prstGeom>
          <a:noFill/>
          <a:ln w="9525">
            <a:noFill/>
          </a:ln>
        </p:spPr>
        <p:txBody>
          <a:bodyPr>
            <a:spAutoFit/>
          </a:bodyPr>
          <a:p>
            <a:r>
              <a:rPr lang="en-US" altLang="zh-CN" dirty="0">
                <a:latin typeface="华文中宋" panose="02010600040101010101" pitchFamily="2" charset="-122"/>
              </a:rPr>
              <a:t>1</a:t>
            </a:r>
            <a:endParaRPr lang="en-US" altLang="zh-CN" dirty="0">
              <a:latin typeface="华文中宋" panose="02010600040101010101" pitchFamily="2" charset="-122"/>
            </a:endParaRPr>
          </a:p>
        </p:txBody>
      </p:sp>
      <p:sp>
        <p:nvSpPr>
          <p:cNvPr id="11271" name="文本框 2"/>
          <p:cNvSpPr txBox="1"/>
          <p:nvPr/>
        </p:nvSpPr>
        <p:spPr>
          <a:xfrm>
            <a:off x="422275" y="4543425"/>
            <a:ext cx="333375" cy="460375"/>
          </a:xfrm>
          <a:prstGeom prst="rect">
            <a:avLst/>
          </a:prstGeom>
          <a:noFill/>
          <a:ln w="9525">
            <a:noFill/>
          </a:ln>
        </p:spPr>
        <p:txBody>
          <a:bodyPr>
            <a:spAutoFit/>
          </a:bodyPr>
          <a:p>
            <a:r>
              <a:rPr lang="en-US" altLang="zh-CN" dirty="0">
                <a:latin typeface="华文中宋" panose="02010600040101010101" pitchFamily="2" charset="-122"/>
              </a:rPr>
              <a:t>2</a:t>
            </a:r>
            <a:endParaRPr lang="en-US" altLang="zh-CN" dirty="0">
              <a:latin typeface="华文中宋" panose="02010600040101010101" pitchFamily="2" charset="-122"/>
            </a:endParaRP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标题 1"/>
          <p:cNvSpPr>
            <a:spLocks noGrp="1"/>
          </p:cNvSpPr>
          <p:nvPr>
            <p:ph type="title"/>
          </p:nvPr>
        </p:nvSpPr>
        <p:spPr/>
        <p:txBody>
          <a:bodyPr vert="horz" wrap="square" lIns="91440" tIns="45720" rIns="91440" bIns="45720" numCol="1" anchor="ctr" anchorCtr="0" compatLnSpc="1"/>
          <a:lstStyle/>
          <a:p>
            <a:pPr marL="12700" marR="0" lvl="0" indent="0" algn="ctr" defTabSz="914400" rtl="0" eaLnBrk="0" fontAlgn="base" latinLnBrk="0" hangingPunct="0">
              <a:lnSpc>
                <a:spcPct val="100000"/>
              </a:lnSpc>
              <a:spcBef>
                <a:spcPct val="0"/>
              </a:spcBef>
              <a:spcAft>
                <a:spcPct val="0"/>
              </a:spcAft>
              <a:buClrTx/>
              <a:buSzTx/>
              <a:buFontTx/>
              <a:buNone/>
              <a:tabLst>
                <a:tab pos="354330" algn="l"/>
              </a:tabLst>
              <a:defRPr/>
            </a:pPr>
            <a:r>
              <a:rPr kumimoji="0" lang="zh-CN" altLang="en-US" sz="2800" b="1" i="0" u="none" strike="noStrike" kern="0" cap="none" spc="10" normalizeH="0" baseline="0" noProof="0" dirty="0">
                <a:ln>
                  <a:noFill/>
                </a:ln>
                <a:solidFill>
                  <a:schemeClr val="tx2"/>
                </a:solidFill>
                <a:effectLst/>
                <a:uLnTx/>
                <a:uFillTx/>
                <a:latin typeface="华文中宋" panose="02010600040101010101" pitchFamily="2" charset="-122"/>
                <a:ea typeface="华文中宋" panose="02010600040101010101" pitchFamily="2" charset="-122"/>
                <a:cs typeface="+mj-cs"/>
                <a:sym typeface="+mn-ea"/>
              </a:rPr>
              <a:t>例子：不安全的错误退出</a:t>
            </a:r>
            <a:endParaRPr kumimoji="0" lang="zh-CN" altLang="en-US" sz="2800" b="1" i="0" u="none" strike="noStrike" kern="0" cap="none" spc="0" normalizeH="0" baseline="0" noProof="1">
              <a:ln>
                <a:noFill/>
              </a:ln>
              <a:solidFill>
                <a:srgbClr val="333399"/>
              </a:solidFill>
              <a:effectLst/>
              <a:uLnTx/>
              <a:uFillTx/>
              <a:latin typeface="华文中宋" panose="02010600040101010101" pitchFamily="2" charset="-122"/>
              <a:ea typeface="宋体" panose="02010600030101010101" pitchFamily="2" charset="-122"/>
              <a:cs typeface="+mj-cs"/>
            </a:endParaRPr>
          </a:p>
        </p:txBody>
      </p:sp>
      <p:sp>
        <p:nvSpPr>
          <p:cNvPr id="12291"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pSp>
        <p:nvGrpSpPr>
          <p:cNvPr id="12292" name="组合 14"/>
          <p:cNvGrpSpPr/>
          <p:nvPr/>
        </p:nvGrpSpPr>
        <p:grpSpPr>
          <a:xfrm>
            <a:off x="1365250" y="1385888"/>
            <a:ext cx="6591300" cy="2563812"/>
            <a:chOff x="1365250" y="2736850"/>
            <a:chExt cx="4881626" cy="2047613"/>
          </a:xfrm>
        </p:grpSpPr>
        <p:sp>
          <p:nvSpPr>
            <p:cNvPr id="12294" name="object 11"/>
            <p:cNvSpPr/>
            <p:nvPr/>
          </p:nvSpPr>
          <p:spPr>
            <a:xfrm>
              <a:off x="1371600" y="2770624"/>
              <a:ext cx="4875276" cy="2013839"/>
            </a:xfrm>
            <a:custGeom>
              <a:avLst/>
              <a:gdLst/>
              <a:ahLst/>
              <a:cxnLst>
                <a:cxn ang="0">
                  <a:pos x="0" y="2013839"/>
                </a:cxn>
                <a:cxn ang="0">
                  <a:pos x="4888001" y="2013839"/>
                </a:cxn>
                <a:cxn ang="0">
                  <a:pos x="4888001" y="0"/>
                </a:cxn>
                <a:cxn ang="0">
                  <a:pos x="0" y="0"/>
                </a:cxn>
                <a:cxn ang="0">
                  <a:pos x="0" y="2013839"/>
                </a:cxn>
              </a:cxnLst>
              <a:pathLst>
                <a:path w="4868926" h="2013839">
                  <a:moveTo>
                    <a:pt x="0" y="2013839"/>
                  </a:moveTo>
                  <a:lnTo>
                    <a:pt x="4868926" y="2013839"/>
                  </a:lnTo>
                  <a:lnTo>
                    <a:pt x="4868926" y="0"/>
                  </a:lnTo>
                  <a:lnTo>
                    <a:pt x="0" y="0"/>
                  </a:lnTo>
                  <a:lnTo>
                    <a:pt x="0" y="2013839"/>
                  </a:lnTo>
                  <a:close/>
                </a:path>
              </a:pathLst>
            </a:custGeom>
            <a:solidFill>
              <a:srgbClr val="FFFFFF">
                <a:alpha val="100000"/>
              </a:srgbClr>
            </a:solidFill>
            <a:ln w="9525">
              <a:noFill/>
            </a:ln>
          </p:spPr>
          <p:txBody>
            <a:bodyPr/>
            <a:p>
              <a:endParaRPr lang="zh-CN" altLang="en-US"/>
            </a:p>
          </p:txBody>
        </p:sp>
        <p:sp>
          <p:nvSpPr>
            <p:cNvPr id="12295" name="object 12"/>
            <p:cNvSpPr/>
            <p:nvPr/>
          </p:nvSpPr>
          <p:spPr>
            <a:xfrm>
              <a:off x="1371600" y="2736850"/>
              <a:ext cx="0" cy="2026539"/>
            </a:xfrm>
            <a:custGeom>
              <a:avLst/>
              <a:gdLst/>
              <a:ahLst/>
              <a:cxnLst>
                <a:cxn ang="0">
                  <a:pos x="0" y="0"/>
                </a:cxn>
                <a:cxn ang="0">
                  <a:pos x="0" y="2026539"/>
                </a:cxn>
              </a:cxnLst>
              <a:pathLst>
                <a:path w="1" h="2026539">
                  <a:moveTo>
                    <a:pt x="0" y="0"/>
                  </a:moveTo>
                  <a:lnTo>
                    <a:pt x="0" y="2026539"/>
                  </a:lnTo>
                </a:path>
              </a:pathLst>
            </a:custGeom>
            <a:noFill/>
            <a:ln w="12700" cap="flat" cmpd="sng">
              <a:solidFill>
                <a:srgbClr val="000000">
                  <a:alpha val="100000"/>
                </a:srgbClr>
              </a:solidFill>
              <a:prstDash val="solid"/>
              <a:round/>
              <a:headEnd type="none" w="med" len="med"/>
              <a:tailEnd type="none" w="med" len="med"/>
            </a:ln>
          </p:spPr>
          <p:txBody>
            <a:bodyPr/>
            <a:p>
              <a:endParaRPr lang="zh-CN" altLang="en-US"/>
            </a:p>
          </p:txBody>
        </p:sp>
        <p:sp>
          <p:nvSpPr>
            <p:cNvPr id="12296" name="object 13"/>
            <p:cNvSpPr/>
            <p:nvPr/>
          </p:nvSpPr>
          <p:spPr>
            <a:xfrm>
              <a:off x="6240526" y="2736850"/>
              <a:ext cx="0" cy="2026539"/>
            </a:xfrm>
            <a:custGeom>
              <a:avLst/>
              <a:gdLst/>
              <a:ahLst/>
              <a:cxnLst>
                <a:cxn ang="0">
                  <a:pos x="0" y="0"/>
                </a:cxn>
                <a:cxn ang="0">
                  <a:pos x="0" y="2026539"/>
                </a:cxn>
              </a:cxnLst>
              <a:pathLst>
                <a:path w="1" h="2026539">
                  <a:moveTo>
                    <a:pt x="0" y="0"/>
                  </a:moveTo>
                  <a:lnTo>
                    <a:pt x="0" y="2026539"/>
                  </a:lnTo>
                </a:path>
              </a:pathLst>
            </a:custGeom>
            <a:noFill/>
            <a:ln w="12700" cap="flat" cmpd="sng">
              <a:solidFill>
                <a:srgbClr val="000000">
                  <a:alpha val="100000"/>
                </a:srgbClr>
              </a:solidFill>
              <a:prstDash val="solid"/>
              <a:round/>
              <a:headEnd type="none" w="med" len="med"/>
              <a:tailEnd type="none" w="med" len="med"/>
            </a:ln>
          </p:spPr>
          <p:txBody>
            <a:bodyPr/>
            <a:p>
              <a:endParaRPr lang="zh-CN" altLang="en-US"/>
            </a:p>
          </p:txBody>
        </p:sp>
        <p:sp>
          <p:nvSpPr>
            <p:cNvPr id="12297" name="object 14"/>
            <p:cNvSpPr/>
            <p:nvPr/>
          </p:nvSpPr>
          <p:spPr>
            <a:xfrm>
              <a:off x="1365250" y="2743200"/>
              <a:ext cx="4881626" cy="0"/>
            </a:xfrm>
            <a:custGeom>
              <a:avLst/>
              <a:gdLst/>
              <a:ahLst/>
              <a:cxnLst>
                <a:cxn ang="0">
                  <a:pos x="0" y="0"/>
                </a:cxn>
                <a:cxn ang="0">
                  <a:pos x="4881626" y="0"/>
                </a:cxn>
              </a:cxnLst>
              <a:pathLst>
                <a:path w="4881626" h="1">
                  <a:moveTo>
                    <a:pt x="0" y="0"/>
                  </a:moveTo>
                  <a:lnTo>
                    <a:pt x="4881626" y="0"/>
                  </a:lnTo>
                </a:path>
              </a:pathLst>
            </a:custGeom>
            <a:noFill/>
            <a:ln w="12700" cap="flat" cmpd="sng">
              <a:solidFill>
                <a:srgbClr val="000000">
                  <a:alpha val="100000"/>
                </a:srgbClr>
              </a:solidFill>
              <a:prstDash val="solid"/>
              <a:round/>
              <a:headEnd type="none" w="med" len="med"/>
              <a:tailEnd type="none" w="med" len="med"/>
            </a:ln>
          </p:spPr>
          <p:txBody>
            <a:bodyPr/>
            <a:p>
              <a:endParaRPr lang="zh-CN" altLang="en-US"/>
            </a:p>
          </p:txBody>
        </p:sp>
        <p:sp>
          <p:nvSpPr>
            <p:cNvPr id="12298" name="object 15"/>
            <p:cNvSpPr/>
            <p:nvPr/>
          </p:nvSpPr>
          <p:spPr>
            <a:xfrm>
              <a:off x="1365250" y="4757039"/>
              <a:ext cx="4881626" cy="0"/>
            </a:xfrm>
            <a:custGeom>
              <a:avLst/>
              <a:gdLst/>
              <a:ahLst/>
              <a:cxnLst>
                <a:cxn ang="0">
                  <a:pos x="0" y="0"/>
                </a:cxn>
                <a:cxn ang="0">
                  <a:pos x="4881626" y="0"/>
                </a:cxn>
              </a:cxnLst>
              <a:pathLst>
                <a:path w="4881626" h="1">
                  <a:moveTo>
                    <a:pt x="0" y="0"/>
                  </a:moveTo>
                  <a:lnTo>
                    <a:pt x="4881626" y="0"/>
                  </a:lnTo>
                </a:path>
              </a:pathLst>
            </a:custGeom>
            <a:noFill/>
            <a:ln w="12700" cap="flat" cmpd="sng">
              <a:solidFill>
                <a:srgbClr val="000000">
                  <a:alpha val="100000"/>
                </a:srgbClr>
              </a:solidFill>
              <a:prstDash val="solid"/>
              <a:round/>
              <a:headEnd type="none" w="med" len="med"/>
              <a:tailEnd type="none" w="med" len="med"/>
            </a:ln>
          </p:spPr>
          <p:txBody>
            <a:bodyPr/>
            <a:p>
              <a:endParaRPr lang="zh-CN" altLang="en-US"/>
            </a:p>
          </p:txBody>
        </p:sp>
      </p:grpSp>
      <p:sp>
        <p:nvSpPr>
          <p:cNvPr id="12293" name="object 16"/>
          <p:cNvSpPr txBox="1"/>
          <p:nvPr/>
        </p:nvSpPr>
        <p:spPr>
          <a:xfrm>
            <a:off x="1196975" y="1428750"/>
            <a:ext cx="7258050" cy="3821113"/>
          </a:xfrm>
          <a:prstGeom prst="rect">
            <a:avLst/>
          </a:prstGeom>
          <a:noFill/>
          <a:ln w="9525">
            <a:noFill/>
          </a:ln>
        </p:spPr>
        <p:txBody>
          <a:bodyPr lIns="0" tIns="0" rIns="0" bIns="0">
            <a:spAutoFit/>
          </a:bodyPr>
          <a:p>
            <a:pPr marL="544830" eaLnBrk="1" hangingPunct="1"/>
            <a:r>
              <a:rPr lang="zh-CN" altLang="zh-CN" sz="2000" b="0" dirty="0">
                <a:solidFill>
                  <a:schemeClr val="tx1"/>
                </a:solidFill>
                <a:latin typeface="Times New Roman" panose="02020603050405020304" pitchFamily="18" charset="0"/>
                <a:ea typeface="宋体" panose="02010600030101010101" pitchFamily="2" charset="-122"/>
              </a:rPr>
              <a:t>DWORD dwRet = IsAccessAllowed(...);</a:t>
            </a:r>
            <a:endParaRPr lang="zh-CN" altLang="zh-CN" sz="2000" b="0" dirty="0">
              <a:solidFill>
                <a:schemeClr val="tx1"/>
              </a:solidFill>
              <a:latin typeface="Times New Roman" panose="02020603050405020304" pitchFamily="18" charset="0"/>
              <a:ea typeface="宋体" panose="02010600030101010101" pitchFamily="2" charset="-122"/>
            </a:endParaRPr>
          </a:p>
          <a:p>
            <a:pPr marL="544830" eaLnBrk="1" hangingPunct="1"/>
            <a:r>
              <a:rPr lang="zh-CN" altLang="zh-CN" sz="2000" b="0" dirty="0">
                <a:solidFill>
                  <a:schemeClr val="tx1"/>
                </a:solidFill>
                <a:latin typeface="Times New Roman" panose="02020603050405020304" pitchFamily="18" charset="0"/>
                <a:ea typeface="宋体" panose="02010600030101010101" pitchFamily="2" charset="-122"/>
              </a:rPr>
              <a:t>if (dwRet == ERROR_ACCESS_DENIED) {</a:t>
            </a:r>
            <a:endParaRPr lang="zh-CN" altLang="zh-CN" sz="2000" b="0" dirty="0">
              <a:solidFill>
                <a:schemeClr val="tx1"/>
              </a:solidFill>
              <a:latin typeface="Times New Roman" panose="02020603050405020304" pitchFamily="18" charset="0"/>
              <a:ea typeface="宋体" panose="02010600030101010101" pitchFamily="2" charset="-122"/>
            </a:endParaRPr>
          </a:p>
          <a:p>
            <a:pPr marL="544830" eaLnBrk="1" hangingPunct="1"/>
            <a:r>
              <a:rPr lang="zh-CN" altLang="zh-CN" sz="2000" b="0" dirty="0">
                <a:solidFill>
                  <a:schemeClr val="tx1"/>
                </a:solidFill>
                <a:latin typeface="Times New Roman" panose="02020603050405020304" pitchFamily="18" charset="0"/>
                <a:ea typeface="宋体" panose="02010600030101010101" pitchFamily="2" charset="-122"/>
              </a:rPr>
              <a:t>// Security check failed.</a:t>
            </a:r>
            <a:endParaRPr lang="zh-CN" altLang="zh-CN" sz="2000" b="0" dirty="0">
              <a:solidFill>
                <a:schemeClr val="tx1"/>
              </a:solidFill>
              <a:latin typeface="Times New Roman" panose="02020603050405020304" pitchFamily="18" charset="0"/>
              <a:ea typeface="宋体" panose="02010600030101010101" pitchFamily="2" charset="-122"/>
            </a:endParaRPr>
          </a:p>
          <a:p>
            <a:pPr marL="544830" eaLnBrk="1" hangingPunct="1"/>
            <a:r>
              <a:rPr lang="zh-CN" altLang="zh-CN" sz="2000" b="0" dirty="0">
                <a:solidFill>
                  <a:schemeClr val="tx1"/>
                </a:solidFill>
                <a:latin typeface="Times New Roman" panose="02020603050405020304" pitchFamily="18" charset="0"/>
                <a:ea typeface="宋体" panose="02010600030101010101" pitchFamily="2" charset="-122"/>
              </a:rPr>
              <a:t>// Inform user that access is denied.</a:t>
            </a:r>
            <a:endParaRPr lang="zh-CN" altLang="zh-CN" sz="2000" b="0" dirty="0">
              <a:solidFill>
                <a:schemeClr val="tx1"/>
              </a:solidFill>
              <a:latin typeface="Times New Roman" panose="02020603050405020304" pitchFamily="18" charset="0"/>
              <a:ea typeface="宋体" panose="02010600030101010101" pitchFamily="2" charset="-122"/>
            </a:endParaRPr>
          </a:p>
          <a:p>
            <a:pPr marL="544830" eaLnBrk="1" hangingPunct="1"/>
            <a:r>
              <a:rPr lang="zh-CN" altLang="zh-CN" sz="2000" b="0" dirty="0">
                <a:solidFill>
                  <a:schemeClr val="tx1"/>
                </a:solidFill>
                <a:latin typeface="Times New Roman" panose="02020603050405020304" pitchFamily="18" charset="0"/>
                <a:ea typeface="宋体" panose="02010600030101010101" pitchFamily="2" charset="-122"/>
              </a:rPr>
              <a:t>} else {</a:t>
            </a:r>
            <a:endParaRPr lang="zh-CN" altLang="zh-CN" sz="2000" b="0" dirty="0">
              <a:solidFill>
                <a:schemeClr val="tx1"/>
              </a:solidFill>
              <a:latin typeface="Times New Roman" panose="02020603050405020304" pitchFamily="18" charset="0"/>
              <a:ea typeface="宋体" panose="02010600030101010101" pitchFamily="2" charset="-122"/>
            </a:endParaRPr>
          </a:p>
          <a:p>
            <a:pPr marL="544830" eaLnBrk="1" hangingPunct="1"/>
            <a:r>
              <a:rPr lang="zh-CN" altLang="zh-CN" sz="2000" b="0" dirty="0">
                <a:solidFill>
                  <a:schemeClr val="tx1"/>
                </a:solidFill>
                <a:latin typeface="Times New Roman" panose="02020603050405020304" pitchFamily="18" charset="0"/>
                <a:ea typeface="宋体" panose="02010600030101010101" pitchFamily="2" charset="-122"/>
              </a:rPr>
              <a:t>// Security check OK.</a:t>
            </a:r>
            <a:endParaRPr lang="zh-CN" altLang="zh-CN" sz="2000" b="0" dirty="0">
              <a:solidFill>
                <a:schemeClr val="tx1"/>
              </a:solidFill>
              <a:latin typeface="Times New Roman" panose="02020603050405020304" pitchFamily="18" charset="0"/>
              <a:ea typeface="宋体" panose="02010600030101010101" pitchFamily="2" charset="-122"/>
            </a:endParaRPr>
          </a:p>
          <a:p>
            <a:pPr marL="544830" eaLnBrk="1" hangingPunct="1"/>
            <a:r>
              <a:rPr lang="zh-CN" altLang="zh-CN" sz="2000" b="0" dirty="0">
                <a:solidFill>
                  <a:schemeClr val="tx1"/>
                </a:solidFill>
                <a:latin typeface="Times New Roman" panose="02020603050405020304" pitchFamily="18" charset="0"/>
                <a:ea typeface="宋体" panose="02010600030101010101" pitchFamily="2" charset="-122"/>
              </a:rPr>
              <a:t>}</a:t>
            </a:r>
            <a:endParaRPr lang="zh-CN" altLang="zh-CN" sz="2000" b="0" dirty="0">
              <a:solidFill>
                <a:schemeClr val="tx1"/>
              </a:solidFill>
              <a:latin typeface="Times New Roman" panose="02020603050405020304" pitchFamily="18" charset="0"/>
              <a:ea typeface="宋体" panose="02010600030101010101" pitchFamily="2" charset="-122"/>
            </a:endParaRPr>
          </a:p>
          <a:p>
            <a:pPr marL="544830" eaLnBrk="1" hangingPunct="1">
              <a:lnSpc>
                <a:spcPts val="1700"/>
              </a:lnSpc>
            </a:pPr>
            <a:endParaRPr lang="en-US" altLang="zh-CN" sz="2000" b="0" dirty="0">
              <a:solidFill>
                <a:schemeClr val="tx1"/>
              </a:solidFill>
              <a:latin typeface="Garamond" panose="02020404030301010803" pitchFamily="18" charset="0"/>
              <a:ea typeface="宋体" panose="02010600030101010101" pitchFamily="2" charset="-122"/>
            </a:endParaRPr>
          </a:p>
          <a:p>
            <a:pPr marL="544830" eaLnBrk="1" hangingPunct="1">
              <a:lnSpc>
                <a:spcPts val="1700"/>
              </a:lnSpc>
            </a:pPr>
            <a:endParaRPr lang="zh-CN" altLang="zh-CN" sz="2000" b="0" dirty="0">
              <a:solidFill>
                <a:schemeClr val="tx1"/>
              </a:solidFill>
              <a:latin typeface="Garamond" panose="02020404030301010803" pitchFamily="18" charset="0"/>
              <a:ea typeface="宋体" panose="02010600030101010101" pitchFamily="2" charset="-122"/>
            </a:endParaRPr>
          </a:p>
          <a:p>
            <a:pPr marL="544830" eaLnBrk="1" hangingPunct="1"/>
            <a:r>
              <a:rPr lang="zh-CN" altLang="zh-CN" sz="2000" b="0" dirty="0">
                <a:solidFill>
                  <a:schemeClr val="tx1"/>
                </a:solidFill>
                <a:latin typeface="宋体" panose="02010600030101010101" pitchFamily="2" charset="-122"/>
                <a:ea typeface="宋体" panose="02010600030101010101" pitchFamily="2" charset="-122"/>
              </a:rPr>
              <a:t>这个处理程序的缺陷在于当</a:t>
            </a:r>
            <a:r>
              <a:rPr lang="zh-CN" altLang="zh-CN" sz="2000" b="0" dirty="0">
                <a:solidFill>
                  <a:schemeClr val="tx1"/>
                </a:solidFill>
                <a:latin typeface="Times New Roman" panose="02020603050405020304" pitchFamily="18" charset="0"/>
                <a:ea typeface="宋体" panose="02010600030101010101" pitchFamily="2" charset="-122"/>
              </a:rPr>
              <a:t>IsAccessAllowed()</a:t>
            </a:r>
            <a:r>
              <a:rPr lang="zh-CN" altLang="zh-CN" sz="2000" b="0" dirty="0">
                <a:solidFill>
                  <a:schemeClr val="tx1"/>
                </a:solidFill>
                <a:latin typeface="宋体" panose="02010600030101010101" pitchFamily="2" charset="-122"/>
                <a:ea typeface="宋体" panose="02010600030101010101" pitchFamily="2" charset="-122"/>
              </a:rPr>
              <a:t>函数返回错误时， 可能有多种情况。若发生的情况不</a:t>
            </a:r>
            <a:r>
              <a:rPr lang="zh-CN" altLang="en-US" sz="2000" b="0" dirty="0">
                <a:solidFill>
                  <a:schemeClr val="tx1"/>
                </a:solidFill>
                <a:latin typeface="宋体" panose="02010600030101010101" pitchFamily="2" charset="-122"/>
                <a:ea typeface="宋体" panose="02010600030101010101" pitchFamily="2" charset="-122"/>
              </a:rPr>
              <a:t>在</a:t>
            </a:r>
            <a:r>
              <a:rPr lang="zh-CN" altLang="zh-CN" sz="2000" b="0" dirty="0">
                <a:solidFill>
                  <a:schemeClr val="tx1"/>
                </a:solidFill>
                <a:latin typeface="宋体" panose="02010600030101010101" pitchFamily="2" charset="-122"/>
                <a:ea typeface="宋体" panose="02010600030101010101" pitchFamily="2" charset="-122"/>
              </a:rPr>
              <a:t>判定范围内，例如系统内存耗尽</a:t>
            </a:r>
            <a:r>
              <a:rPr lang="zh-CN" altLang="zh-CN" sz="2000" b="0" dirty="0">
                <a:solidFill>
                  <a:schemeClr val="tx1"/>
                </a:solidFill>
                <a:latin typeface="Times New Roman" panose="02020603050405020304" pitchFamily="18" charset="0"/>
                <a:ea typeface="宋体" panose="02010600030101010101" pitchFamily="2" charset="-122"/>
              </a:rPr>
              <a:t>ERROR NOT ENOUGH MEMORY</a:t>
            </a:r>
            <a:r>
              <a:rPr lang="zh-CN" altLang="zh-CN" sz="2000" b="0" dirty="0">
                <a:solidFill>
                  <a:schemeClr val="tx1"/>
                </a:solidFill>
                <a:latin typeface="宋体" panose="02010600030101010101" pitchFamily="2" charset="-122"/>
                <a:ea typeface="宋体" panose="02010600030101010101" pitchFamily="2" charset="-122"/>
              </a:rPr>
              <a:t>，用户可能执行一个特权任务。</a:t>
            </a:r>
            <a:endParaRPr lang="zh-CN" altLang="zh-CN" sz="2000" b="0" dirty="0">
              <a:solidFill>
                <a:schemeClr val="tx1"/>
              </a:solidFill>
              <a:latin typeface="宋体" panose="02010600030101010101" pitchFamily="2" charset="-122"/>
              <a:ea typeface="宋体" panose="02010600030101010101" pitchFamily="2"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293">
                                            <p:txEl>
                                              <p:charRg st="171" end="277"/>
                                            </p:txEl>
                                          </p:spTgt>
                                        </p:tgtEl>
                                        <p:attrNameLst>
                                          <p:attrName>style.visibility</p:attrName>
                                        </p:attrNameLst>
                                      </p:cBhvr>
                                      <p:to>
                                        <p:strVal val="visible"/>
                                      </p:to>
                                    </p:set>
                                    <p:anim calcmode="lin" valueType="num">
                                      <p:cBhvr additive="base">
                                        <p:cTn id="7" dur="500" fill="hold"/>
                                        <p:tgtEl>
                                          <p:spTgt spid="12293">
                                            <p:txEl>
                                              <p:charRg st="171" end="27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293">
                                            <p:txEl>
                                              <p:charRg st="171" end="27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原则</a:t>
            </a:r>
            <a:r>
              <a:rPr kumimoji="0" lang="en-US" altLang="zh-CN"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4</a:t>
            </a:r>
            <a:r>
              <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：最小权限原则</a:t>
            </a:r>
            <a:endParaRPr kumimoji="0" lang="zh-CN" altLang="en-US"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13315"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13316" name="object 14"/>
          <p:cNvSpPr txBox="1"/>
          <p:nvPr/>
        </p:nvSpPr>
        <p:spPr>
          <a:xfrm>
            <a:off x="766763" y="1489075"/>
            <a:ext cx="7610475" cy="3878263"/>
          </a:xfrm>
          <a:prstGeom prst="rect">
            <a:avLst/>
          </a:prstGeom>
          <a:noFill/>
          <a:ln w="9525">
            <a:noFill/>
          </a:ln>
        </p:spPr>
        <p:txBody>
          <a:bodyPr lIns="0" tIns="0" rIns="0" bIns="0">
            <a:spAutoFit/>
          </a:bodyPr>
          <a:p>
            <a:pPr marL="355600" indent="-342900" defTabSz="914400" eaLnBrk="1" hangingPunct="1">
              <a:lnSpc>
                <a:spcPct val="150000"/>
              </a:lnSpc>
              <a:buFont typeface="Wingdings" panose="05000000000000000000" pitchFamily="2" charset="2"/>
              <a:buChar char="l"/>
              <a:tabLst>
                <a:tab pos="354330" algn="l"/>
              </a:tabLst>
            </a:pPr>
            <a:r>
              <a:rPr lang="zh-CN" altLang="zh-CN" b="0" dirty="0">
                <a:solidFill>
                  <a:schemeClr val="tx1"/>
                </a:solidFill>
                <a:latin typeface="华文中宋" panose="02010600040101010101" pitchFamily="2" charset="-122"/>
              </a:rPr>
              <a:t>仅仅将所需权限的</a:t>
            </a:r>
            <a:r>
              <a:rPr lang="zh-CN" altLang="zh-CN" b="0" dirty="0">
                <a:solidFill>
                  <a:srgbClr val="C00000"/>
                </a:solidFill>
                <a:latin typeface="华文中宋" panose="02010600040101010101" pitchFamily="2" charset="-122"/>
              </a:rPr>
              <a:t>最小集授权</a:t>
            </a:r>
            <a:r>
              <a:rPr lang="zh-CN" altLang="zh-CN" b="0" dirty="0">
                <a:solidFill>
                  <a:schemeClr val="tx1"/>
                </a:solidFill>
                <a:latin typeface="华文中宋" panose="02010600040101010101" pitchFamily="2" charset="-122"/>
              </a:rPr>
              <a:t>给需要访问资源的主体，并且该</a:t>
            </a:r>
            <a:r>
              <a:rPr lang="zh-CN" altLang="zh-CN" b="0" dirty="0">
                <a:solidFill>
                  <a:srgbClr val="C00000"/>
                </a:solidFill>
                <a:latin typeface="华文中宋" panose="02010600040101010101" pitchFamily="2" charset="-122"/>
              </a:rPr>
              <a:t>权限的持续时间应该尽量短</a:t>
            </a:r>
            <a:r>
              <a:rPr lang="zh-CN" altLang="zh-CN" b="0" dirty="0">
                <a:solidFill>
                  <a:schemeClr val="tx1"/>
                </a:solidFill>
                <a:latin typeface="华文中宋" panose="02010600040101010101" pitchFamily="2" charset="-122"/>
              </a:rPr>
              <a:t>。</a:t>
            </a:r>
            <a:endParaRPr lang="zh-CN" altLang="zh-CN" b="0" dirty="0">
              <a:solidFill>
                <a:schemeClr val="tx1"/>
              </a:solidFill>
              <a:latin typeface="华文中宋" panose="02010600040101010101" pitchFamily="2" charset="-122"/>
            </a:endParaRPr>
          </a:p>
          <a:p>
            <a:pPr marL="355600" indent="-342900" defTabSz="914400" eaLnBrk="1" hangingPunct="1">
              <a:lnSpc>
                <a:spcPct val="150000"/>
              </a:lnSpc>
              <a:buFont typeface="Wingdings" panose="05000000000000000000" pitchFamily="2" charset="2"/>
              <a:buChar char="l"/>
              <a:tabLst>
                <a:tab pos="354330" algn="l"/>
              </a:tabLst>
            </a:pPr>
            <a:r>
              <a:rPr lang="zh-CN" altLang="zh-CN" b="0" dirty="0">
                <a:solidFill>
                  <a:schemeClr val="tx1"/>
                </a:solidFill>
                <a:latin typeface="华文中宋" panose="02010600040101010101" pitchFamily="2" charset="-122"/>
              </a:rPr>
              <a:t>给用户不必要的（过多的）权限通常导致信息被泄漏和不必要的改变。因此，细致地访问权限分配将减少对系统的破坏。</a:t>
            </a:r>
            <a:endParaRPr lang="en-US" altLang="zh-CN" b="0" dirty="0">
              <a:solidFill>
                <a:schemeClr val="tx1"/>
              </a:solidFill>
              <a:latin typeface="华文中宋" panose="02010600040101010101" pitchFamily="2" charset="-122"/>
            </a:endParaRPr>
          </a:p>
          <a:p>
            <a:pPr marL="355600" indent="-342900" defTabSz="914400" eaLnBrk="1" hangingPunct="1">
              <a:lnSpc>
                <a:spcPct val="150000"/>
              </a:lnSpc>
              <a:buFont typeface="Wingdings" panose="05000000000000000000" pitchFamily="2" charset="2"/>
              <a:buChar char="l"/>
              <a:tabLst>
                <a:tab pos="354330" algn="l"/>
              </a:tabLst>
            </a:pPr>
            <a:endParaRPr lang="zh-CN" altLang="en-US" b="0" dirty="0">
              <a:solidFill>
                <a:schemeClr val="tx1"/>
              </a:solidFill>
              <a:latin typeface="华文中宋" panose="02010600040101010101" pitchFamily="2" charset="-122"/>
            </a:endParaRPr>
          </a:p>
          <a:p>
            <a:pPr marL="355600" indent="-342900" defTabSz="914400" eaLnBrk="1" hangingPunct="1">
              <a:lnSpc>
                <a:spcPct val="150000"/>
              </a:lnSpc>
              <a:tabLst>
                <a:tab pos="354330" algn="l"/>
              </a:tabLst>
            </a:pPr>
            <a:endParaRPr lang="zh-CN" altLang="zh-CN" b="0" dirty="0">
              <a:solidFill>
                <a:schemeClr val="tx1"/>
              </a:solidFill>
              <a:latin typeface="华文中宋" panose="02010600040101010101" pitchFamily="2" charset="-122"/>
            </a:endParaRP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标题 1"/>
          <p:cNvSpPr>
            <a:spLocks noGrp="1" noChangeArrowheads="1"/>
          </p:cNvSpPr>
          <p:nvPr>
            <p:ph type="title"/>
          </p:nvPr>
        </p:nvSpPr>
        <p:spPr/>
        <p:txBody>
          <a:bodyPr vert="horz" wrap="square" lIns="91440" tIns="45720" rIns="91440" bIns="45720" numCol="1" anchor="ctr" anchorCtr="0" compatLnSpc="1"/>
          <a:lstStyle/>
          <a:p>
            <a:pPr marL="12700" marR="0" lvl="0" indent="0" algn="ctr" defTabSz="914400" rtl="0" eaLnBrk="0" fontAlgn="base" latinLnBrk="0" hangingPunct="0">
              <a:lnSpc>
                <a:spcPct val="100000"/>
              </a:lnSpc>
              <a:spcBef>
                <a:spcPct val="0"/>
              </a:spcBef>
              <a:spcAft>
                <a:spcPct val="0"/>
              </a:spcAft>
              <a:buClrTx/>
              <a:buSzTx/>
              <a:buFontTx/>
              <a:buNone/>
              <a:tabLst>
                <a:tab pos="354965" algn="l"/>
              </a:tabLst>
              <a:defRPr/>
            </a:pPr>
            <a:r>
              <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原则</a:t>
            </a:r>
            <a:r>
              <a:rPr kumimoji="0" lang="en-US" altLang="zh-CN"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5</a:t>
            </a:r>
            <a:r>
              <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：权限分离原则</a:t>
            </a:r>
            <a:endPar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14339"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14340" name="object 20"/>
          <p:cNvSpPr txBox="1"/>
          <p:nvPr/>
        </p:nvSpPr>
        <p:spPr>
          <a:xfrm>
            <a:off x="677863" y="1628775"/>
            <a:ext cx="8085137" cy="3324225"/>
          </a:xfrm>
          <a:prstGeom prst="rect">
            <a:avLst/>
          </a:prstGeom>
          <a:noFill/>
          <a:ln w="9525">
            <a:noFill/>
          </a:ln>
        </p:spPr>
        <p:txBody>
          <a:bodyPr lIns="0" tIns="0" rIns="0" bIns="0">
            <a:spAutoFit/>
          </a:bodyPr>
          <a:p>
            <a:pPr marL="12700" defTabSz="914400" eaLnBrk="1" hangingPunct="1">
              <a:tabLst>
                <a:tab pos="354330" algn="l"/>
              </a:tabLst>
            </a:pPr>
            <a:r>
              <a:rPr lang="zh-CN" altLang="en-US" b="0" dirty="0">
                <a:solidFill>
                  <a:schemeClr val="tx1"/>
                </a:solidFill>
                <a:latin typeface="华文中宋" panose="02010600040101010101" pitchFamily="2" charset="-122"/>
              </a:rPr>
              <a:t>需要两把钥匙开一把锁比使用一把钥匙要更加安全可靠。</a:t>
            </a:r>
            <a:endParaRPr lang="en-US" altLang="zh-CN" b="0" dirty="0">
              <a:solidFill>
                <a:schemeClr val="tx1"/>
              </a:solidFill>
              <a:latin typeface="华文中宋" panose="02010600040101010101" pitchFamily="2" charset="-122"/>
            </a:endParaRPr>
          </a:p>
          <a:p>
            <a:pPr marL="12700" defTabSz="914400" eaLnBrk="1" hangingPunct="1">
              <a:tabLst>
                <a:tab pos="354330" algn="l"/>
              </a:tabLst>
            </a:pPr>
            <a:endParaRPr lang="en-US" altLang="zh-CN" b="0" dirty="0">
              <a:solidFill>
                <a:srgbClr val="C00000"/>
              </a:solidFill>
              <a:latin typeface="华文中宋" panose="02010600040101010101" pitchFamily="2" charset="-122"/>
            </a:endParaRPr>
          </a:p>
          <a:p>
            <a:pPr marL="12700" defTabSz="914400" eaLnBrk="1" hangingPunct="1">
              <a:tabLst>
                <a:tab pos="354330" algn="l"/>
              </a:tabLst>
            </a:pPr>
            <a:endParaRPr lang="en-US" altLang="zh-CN" b="0" dirty="0">
              <a:solidFill>
                <a:srgbClr val="C00000"/>
              </a:solidFill>
              <a:latin typeface="华文中宋" panose="02010600040101010101" pitchFamily="2" charset="-122"/>
            </a:endParaRPr>
          </a:p>
          <a:p>
            <a:pPr marL="12700" defTabSz="914400" eaLnBrk="1" hangingPunct="1">
              <a:tabLst>
                <a:tab pos="354330" algn="l"/>
              </a:tabLst>
            </a:pPr>
            <a:endParaRPr lang="en-US" altLang="zh-CN" b="0" dirty="0">
              <a:solidFill>
                <a:srgbClr val="C00000"/>
              </a:solidFill>
              <a:latin typeface="华文中宋" panose="02010600040101010101" pitchFamily="2" charset="-122"/>
            </a:endParaRPr>
          </a:p>
          <a:p>
            <a:pPr marL="12700" defTabSz="914400" eaLnBrk="1" hangingPunct="1">
              <a:tabLst>
                <a:tab pos="354330" algn="l"/>
              </a:tabLst>
            </a:pPr>
            <a:endParaRPr lang="en-US" altLang="zh-CN" b="0" dirty="0">
              <a:solidFill>
                <a:srgbClr val="C00000"/>
              </a:solidFill>
              <a:latin typeface="华文中宋" panose="02010600040101010101" pitchFamily="2" charset="-122"/>
            </a:endParaRPr>
          </a:p>
          <a:p>
            <a:pPr marL="12700" defTabSz="914400" eaLnBrk="1" hangingPunct="1">
              <a:tabLst>
                <a:tab pos="354330" algn="l"/>
              </a:tabLst>
            </a:pPr>
            <a:endParaRPr lang="en-US" altLang="zh-CN" b="0" dirty="0">
              <a:solidFill>
                <a:srgbClr val="C00000"/>
              </a:solidFill>
              <a:latin typeface="华文中宋" panose="02010600040101010101" pitchFamily="2" charset="-122"/>
            </a:endParaRPr>
          </a:p>
          <a:p>
            <a:pPr marL="12700" defTabSz="914400" eaLnBrk="1" hangingPunct="1">
              <a:tabLst>
                <a:tab pos="354330" algn="l"/>
              </a:tabLst>
            </a:pPr>
            <a:endParaRPr lang="en-US" altLang="zh-CN" b="0" dirty="0">
              <a:solidFill>
                <a:srgbClr val="C00000"/>
              </a:solidFill>
              <a:latin typeface="华文中宋" panose="02010600040101010101" pitchFamily="2" charset="-122"/>
            </a:endParaRPr>
          </a:p>
          <a:p>
            <a:pPr marL="12700" defTabSz="914400" eaLnBrk="1" hangingPunct="1">
              <a:tabLst>
                <a:tab pos="354330" algn="l"/>
              </a:tabLst>
            </a:pPr>
            <a:endParaRPr lang="en-US" altLang="zh-CN" b="0" dirty="0">
              <a:solidFill>
                <a:schemeClr val="tx1"/>
              </a:solidFill>
              <a:latin typeface="华文中宋" panose="02010600040101010101" pitchFamily="2" charset="-122"/>
            </a:endParaRPr>
          </a:p>
          <a:p>
            <a:pPr marL="12700" defTabSz="914400" eaLnBrk="1" hangingPunct="1">
              <a:tabLst>
                <a:tab pos="354330" algn="l"/>
              </a:tabLst>
            </a:pPr>
            <a:r>
              <a:rPr lang="zh-CN" altLang="en-US" b="0" dirty="0">
                <a:solidFill>
                  <a:schemeClr val="tx1"/>
                </a:solidFill>
                <a:latin typeface="华文中宋" panose="02010600040101010101" pitchFamily="2" charset="-122"/>
              </a:rPr>
              <a:t>又如银行的共管账户</a:t>
            </a:r>
            <a:endParaRPr lang="zh-CN" altLang="zh-CN" b="0" dirty="0">
              <a:solidFill>
                <a:schemeClr val="tx1"/>
              </a:solidFill>
              <a:latin typeface="华文中宋" panose="02010600040101010101" pitchFamily="2" charset="-122"/>
            </a:endParaRPr>
          </a:p>
        </p:txBody>
      </p:sp>
      <p:pic>
        <p:nvPicPr>
          <p:cNvPr id="14341" name="Picture 2" descr="http://tw.bid.yimg.com/ac/c9/a1/f29133435-ac-0598xf8x0600x0450-m.jpg"/>
          <p:cNvPicPr>
            <a:picLocks noChangeAspect="1"/>
          </p:cNvPicPr>
          <p:nvPr/>
        </p:nvPicPr>
        <p:blipFill>
          <a:blip r:embed="rId1"/>
          <a:stretch>
            <a:fillRect/>
          </a:stretch>
        </p:blipFill>
        <p:spPr>
          <a:xfrm>
            <a:off x="4860925" y="2205038"/>
            <a:ext cx="3902075" cy="2925762"/>
          </a:xfrm>
          <a:prstGeom prst="rect">
            <a:avLst/>
          </a:prstGeom>
          <a:noFill/>
          <a:ln w="9525">
            <a:noFill/>
          </a:ln>
        </p:spPr>
      </p:pic>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标题 1"/>
          <p:cNvSpPr>
            <a:spLocks noGrp="1" noChangeArrowheads="1"/>
          </p:cNvSpPr>
          <p:nvPr>
            <p:ph type="title"/>
          </p:nvPr>
        </p:nvSpPr>
        <p:spPr/>
        <p:txBody>
          <a:bodyPr vert="horz" wrap="square" lIns="91440" tIns="45720" rIns="91440" bIns="45720" numCol="1" anchor="ctr" anchorCtr="0" compatLnSpc="1"/>
          <a:lstStyle/>
          <a:p>
            <a:pPr marL="12700" marR="0" lvl="0" indent="0" algn="ctr" defTabSz="914400" rtl="0" eaLnBrk="0" fontAlgn="base" latinLnBrk="0" hangingPunct="0">
              <a:lnSpc>
                <a:spcPct val="100000"/>
              </a:lnSpc>
              <a:spcBef>
                <a:spcPct val="0"/>
              </a:spcBef>
              <a:spcAft>
                <a:spcPct val="0"/>
              </a:spcAft>
              <a:buClrTx/>
              <a:buSzTx/>
              <a:buFontTx/>
              <a:buNone/>
              <a:tabLst>
                <a:tab pos="354965" algn="l"/>
              </a:tabLst>
              <a:defRPr/>
            </a:pPr>
            <a:r>
              <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原则</a:t>
            </a:r>
            <a:r>
              <a:rPr kumimoji="0" lang="en-US" altLang="zh-CN"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5</a:t>
            </a:r>
            <a:r>
              <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：权限分离原则</a:t>
            </a:r>
            <a:endPar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15363"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36869" name="object 20"/>
          <p:cNvSpPr txBox="1">
            <a:spLocks noChangeArrowheads="1"/>
          </p:cNvSpPr>
          <p:nvPr/>
        </p:nvSpPr>
        <p:spPr bwMode="auto">
          <a:xfrm>
            <a:off x="530225" y="1470025"/>
            <a:ext cx="8083550" cy="3916363"/>
          </a:xfrm>
          <a:prstGeom prst="rect">
            <a:avLst/>
          </a:prstGeom>
          <a:noFill/>
          <a:ln>
            <a:noFill/>
          </a:ln>
        </p:spPr>
        <p:txBody>
          <a:bodyPr lIns="0" tIns="0" rIns="0" bIns="0">
            <a:spAutoFit/>
          </a:bodyPr>
          <a:lstStyle>
            <a:lvl1pPr marL="12700">
              <a:tabLst>
                <a:tab pos="353695" algn="l"/>
              </a:tabLst>
              <a:defRPr sz="2400" b="1">
                <a:solidFill>
                  <a:schemeClr val="accent2"/>
                </a:solidFill>
                <a:latin typeface="华文中宋" panose="02010600040101010101" pitchFamily="2" charset="-122"/>
                <a:ea typeface="华文中宋" panose="02010600040101010101" pitchFamily="2" charset="-122"/>
              </a:defRPr>
            </a:lvl1pPr>
            <a:lvl2pPr marL="742950" indent="-285750">
              <a:tabLst>
                <a:tab pos="353695" algn="l"/>
              </a:tabLst>
              <a:defRPr sz="2400" b="1">
                <a:solidFill>
                  <a:schemeClr val="accent2"/>
                </a:solidFill>
                <a:latin typeface="华文中宋" panose="02010600040101010101" pitchFamily="2" charset="-122"/>
                <a:ea typeface="华文中宋" panose="02010600040101010101" pitchFamily="2" charset="-122"/>
              </a:defRPr>
            </a:lvl2pPr>
            <a:lvl3pPr marL="1143000" indent="-228600">
              <a:tabLst>
                <a:tab pos="353695" algn="l"/>
              </a:tabLst>
              <a:defRPr sz="2400" b="1">
                <a:solidFill>
                  <a:schemeClr val="accent2"/>
                </a:solidFill>
                <a:latin typeface="华文中宋" panose="02010600040101010101" pitchFamily="2" charset="-122"/>
                <a:ea typeface="华文中宋" panose="02010600040101010101" pitchFamily="2" charset="-122"/>
              </a:defRPr>
            </a:lvl3pPr>
            <a:lvl4pPr marL="1600200" indent="-228600">
              <a:tabLst>
                <a:tab pos="353695" algn="l"/>
              </a:tabLst>
              <a:defRPr sz="2400" b="1">
                <a:solidFill>
                  <a:schemeClr val="accent2"/>
                </a:solidFill>
                <a:latin typeface="华文中宋" panose="02010600040101010101" pitchFamily="2" charset="-122"/>
                <a:ea typeface="华文中宋" panose="02010600040101010101" pitchFamily="2" charset="-122"/>
              </a:defRPr>
            </a:lvl4pPr>
            <a:lvl5pPr marL="2057400" indent="-228600">
              <a:tabLst>
                <a:tab pos="353695" algn="l"/>
              </a:tabLst>
              <a:defRPr sz="2400" b="1">
                <a:solidFill>
                  <a:schemeClr val="accent2"/>
                </a:solidFill>
                <a:latin typeface="华文中宋" panose="02010600040101010101" pitchFamily="2" charset="-122"/>
                <a:ea typeface="华文中宋" panose="02010600040101010101" pitchFamily="2" charset="-122"/>
              </a:defRPr>
            </a:lvl5pPr>
            <a:lvl6pPr marL="2514600" indent="-228600" eaLnBrk="0" fontAlgn="base" hangingPunct="0">
              <a:spcBef>
                <a:spcPct val="0"/>
              </a:spcBef>
              <a:spcAft>
                <a:spcPct val="0"/>
              </a:spcAft>
              <a:tabLst>
                <a:tab pos="353695" algn="l"/>
              </a:tabLst>
              <a:defRPr sz="2400" b="1">
                <a:solidFill>
                  <a:schemeClr val="accent2"/>
                </a:solidFill>
                <a:latin typeface="华文中宋" panose="02010600040101010101" pitchFamily="2" charset="-122"/>
                <a:ea typeface="华文中宋" panose="02010600040101010101" pitchFamily="2" charset="-122"/>
              </a:defRPr>
            </a:lvl6pPr>
            <a:lvl7pPr marL="2971800" indent="-228600" eaLnBrk="0" fontAlgn="base" hangingPunct="0">
              <a:spcBef>
                <a:spcPct val="0"/>
              </a:spcBef>
              <a:spcAft>
                <a:spcPct val="0"/>
              </a:spcAft>
              <a:tabLst>
                <a:tab pos="353695" algn="l"/>
              </a:tabLst>
              <a:defRPr sz="2400" b="1">
                <a:solidFill>
                  <a:schemeClr val="accent2"/>
                </a:solidFill>
                <a:latin typeface="华文中宋" panose="02010600040101010101" pitchFamily="2" charset="-122"/>
                <a:ea typeface="华文中宋" panose="02010600040101010101" pitchFamily="2" charset="-122"/>
              </a:defRPr>
            </a:lvl7pPr>
            <a:lvl8pPr marL="3429000" indent="-228600" eaLnBrk="0" fontAlgn="base" hangingPunct="0">
              <a:spcBef>
                <a:spcPct val="0"/>
              </a:spcBef>
              <a:spcAft>
                <a:spcPct val="0"/>
              </a:spcAft>
              <a:tabLst>
                <a:tab pos="353695" algn="l"/>
              </a:tabLst>
              <a:defRPr sz="2400" b="1">
                <a:solidFill>
                  <a:schemeClr val="accent2"/>
                </a:solidFill>
                <a:latin typeface="华文中宋" panose="02010600040101010101" pitchFamily="2" charset="-122"/>
                <a:ea typeface="华文中宋" panose="02010600040101010101" pitchFamily="2" charset="-122"/>
              </a:defRPr>
            </a:lvl8pPr>
            <a:lvl9pPr marL="3886200" indent="-228600" eaLnBrk="0" fontAlgn="base" hangingPunct="0">
              <a:spcBef>
                <a:spcPct val="0"/>
              </a:spcBef>
              <a:spcAft>
                <a:spcPct val="0"/>
              </a:spcAft>
              <a:tabLst>
                <a:tab pos="353695" algn="l"/>
              </a:tabLst>
              <a:defRPr sz="2400" b="1">
                <a:solidFill>
                  <a:schemeClr val="accent2"/>
                </a:solidFill>
                <a:latin typeface="华文中宋" panose="02010600040101010101" pitchFamily="2" charset="-122"/>
                <a:ea typeface="华文中宋" panose="02010600040101010101" pitchFamily="2" charset="-122"/>
              </a:defRPr>
            </a:lvl9pPr>
          </a:lstStyle>
          <a:p>
            <a:pPr marL="355600" marR="0" lvl="0" indent="-342900" algn="l" defTabSz="914400" rtl="0" eaLnBrk="1" fontAlgn="base" latinLnBrk="0" hangingPunct="1">
              <a:lnSpc>
                <a:spcPts val="3300"/>
              </a:lnSpc>
              <a:spcBef>
                <a:spcPct val="0"/>
              </a:spcBef>
              <a:spcAft>
                <a:spcPct val="0"/>
              </a:spcAft>
              <a:buClr>
                <a:schemeClr val="accent2">
                  <a:lumMod val="75000"/>
                </a:schemeClr>
              </a:buClr>
              <a:buSzTx/>
              <a:buFont typeface="Wingdings" panose="05000000000000000000" pitchFamily="2" charset="2"/>
              <a:buChar char="l"/>
              <a:tabLst>
                <a:tab pos="353695" algn="l"/>
              </a:tabLst>
              <a:defRPr/>
            </a:pPr>
            <a:r>
              <a:rPr kumimoji="0" lang="zh-CN"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Wingdings" panose="05000000000000000000" pitchFamily="2" charset="2"/>
              </a:rPr>
              <a:t>系统在授权访问某个对象时应该</a:t>
            </a:r>
            <a:r>
              <a:rPr kumimoji="0" lang="zh-CN" altLang="zh-CN" sz="2400" b="0" i="0" u="none" strike="noStrike" kern="120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Wingdings" panose="05000000000000000000" pitchFamily="2" charset="2"/>
              </a:rPr>
              <a:t>确保多个条件得到满足</a:t>
            </a:r>
            <a:r>
              <a:rPr kumimoji="0" lang="zh-CN"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Wingdings" panose="05000000000000000000" pitchFamily="2" charset="2"/>
              </a:rPr>
              <a:t>，通过</a:t>
            </a:r>
            <a:r>
              <a:rPr kumimoji="0" lang="zh-CN" altLang="zh-CN"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Wingdings" panose="05000000000000000000" pitchFamily="2" charset="2"/>
              </a:rPr>
              <a:t>检查单一条件来决定是否访问对强安全性</a:t>
            </a:r>
            <a:r>
              <a:rPr kumimoji="0" lang="zh-CN" altLang="zh-CN" sz="2400" b="0" i="0" u="none" strike="noStrike" kern="120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Wingdings" panose="05000000000000000000" pitchFamily="2" charset="2"/>
              </a:rPr>
              <a:t>来说不够充分</a:t>
            </a:r>
            <a:r>
              <a:rPr kumimoji="0" lang="zh-CN"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Wingdings" panose="05000000000000000000" pitchFamily="2" charset="2"/>
              </a:rPr>
              <a:t>。</a:t>
            </a:r>
            <a:endParaRPr kumimoji="0" lang="en-US"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Wingdings" panose="05000000000000000000" pitchFamily="2" charset="2"/>
            </a:endParaRPr>
          </a:p>
          <a:p>
            <a:pPr marL="355600" marR="0" lvl="0" indent="-342900" algn="l" defTabSz="914400" rtl="0" eaLnBrk="1" fontAlgn="base" latinLnBrk="0" hangingPunct="1">
              <a:lnSpc>
                <a:spcPts val="3300"/>
              </a:lnSpc>
              <a:spcBef>
                <a:spcPct val="0"/>
              </a:spcBef>
              <a:spcAft>
                <a:spcPct val="0"/>
              </a:spcAft>
              <a:buClr>
                <a:schemeClr val="accent2">
                  <a:lumMod val="75000"/>
                </a:schemeClr>
              </a:buClr>
              <a:buSzTx/>
              <a:buFont typeface="Wingdings" panose="05000000000000000000" pitchFamily="2" charset="2"/>
              <a:buChar char="l"/>
              <a:tabLst>
                <a:tab pos="353695" algn="l"/>
              </a:tabLst>
              <a:defRPr/>
            </a:pPr>
            <a:r>
              <a:rPr kumimoji="0" lang="zh-CN"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如果攻击者能够获得一个特权但没有第二个，将不能发起有效的攻击。</a:t>
            </a:r>
            <a:endParaRPr kumimoji="0" lang="zh-CN" altLang="en-US"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55600" marR="0" lvl="0" indent="-342900" algn="l" defTabSz="914400" rtl="0" eaLnBrk="1" fontAlgn="base" latinLnBrk="0" hangingPunct="1">
              <a:lnSpc>
                <a:spcPts val="3300"/>
              </a:lnSpc>
              <a:spcBef>
                <a:spcPts val="850"/>
              </a:spcBef>
              <a:spcAft>
                <a:spcPct val="0"/>
              </a:spcAft>
              <a:buClr>
                <a:schemeClr val="accent2">
                  <a:lumMod val="75000"/>
                </a:schemeClr>
              </a:buClr>
              <a:buSzTx/>
              <a:buFont typeface="Wingdings" panose="05000000000000000000" pitchFamily="2" charset="2"/>
              <a:buChar char="l"/>
              <a:tabLst>
                <a:tab pos="353695" algn="l"/>
              </a:tabLst>
              <a:defRPr/>
            </a:pPr>
            <a:r>
              <a:rPr kumimoji="0" lang="zh-CN" altLang="en-US"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如果软件系统主要由一个组件组成，那么使用多种检查措施访问不同组件的想法将无法实现。</a:t>
            </a:r>
            <a:r>
              <a:rPr kumimoji="0" lang="zh-CN" altLang="en-US"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则将软件分离成多个组件且需要多次访问检查</a:t>
            </a:r>
            <a:r>
              <a:rPr kumimoji="0" lang="zh-CN" altLang="en-US"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将阻止攻击，或有效地避免对整个系统的一次性攻陷。</a:t>
            </a:r>
            <a:endParaRPr kumimoji="0" lang="zh-CN" altLang="en-US"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标题 1"/>
          <p:cNvSpPr>
            <a:spLocks noGrp="1" noChangeArrowheads="1"/>
          </p:cNvSpPr>
          <p:nvPr>
            <p:ph type="title"/>
          </p:nvPr>
        </p:nvSpPr>
        <p:spPr/>
        <p:txBody>
          <a:bodyPr vert="horz" wrap="square" lIns="91440" tIns="45720" rIns="91440" bIns="45720" numCol="1" anchor="ctr" anchorCtr="0" compatLnSpc="1"/>
          <a:lstStyle/>
          <a:p>
            <a:pPr marL="12700" marR="0" lvl="0" indent="0" algn="ctr" defTabSz="914400" rtl="0" eaLnBrk="0" fontAlgn="base" latinLnBrk="0" hangingPunct="0">
              <a:lnSpc>
                <a:spcPct val="100000"/>
              </a:lnSpc>
              <a:spcBef>
                <a:spcPct val="0"/>
              </a:spcBef>
              <a:spcAft>
                <a:spcPct val="0"/>
              </a:spcAft>
              <a:buClrTx/>
              <a:buSzTx/>
              <a:buFontTx/>
              <a:buNone/>
              <a:tabLst>
                <a:tab pos="354965" algn="l"/>
              </a:tabLst>
              <a:defRPr/>
            </a:pPr>
            <a:r>
              <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原则</a:t>
            </a:r>
            <a:r>
              <a:rPr kumimoji="0" lang="en-US" altLang="zh-CN"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6</a:t>
            </a:r>
            <a:r>
              <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：保护机制的简单性</a:t>
            </a:r>
            <a:endPar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16387"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37893" name="object 35"/>
          <p:cNvSpPr txBox="1">
            <a:spLocks noChangeArrowheads="1"/>
          </p:cNvSpPr>
          <p:nvPr/>
        </p:nvSpPr>
        <p:spPr bwMode="auto">
          <a:xfrm>
            <a:off x="611188" y="1412875"/>
            <a:ext cx="8027988" cy="4411663"/>
          </a:xfrm>
          <a:prstGeom prst="rect">
            <a:avLst/>
          </a:prstGeom>
          <a:noFill/>
          <a:ln>
            <a:noFill/>
          </a:ln>
        </p:spPr>
        <p:txBody>
          <a:bodyPr lIns="0" tIns="0" rIns="0" bIns="0">
            <a:spAutoFit/>
          </a:bodyPr>
          <a:lstStyle>
            <a:lvl1pPr marL="12700">
              <a:tabLst>
                <a:tab pos="353695" algn="l"/>
              </a:tabLst>
              <a:defRPr sz="2400" b="1">
                <a:solidFill>
                  <a:schemeClr val="accent2"/>
                </a:solidFill>
                <a:latin typeface="华文中宋" panose="02010600040101010101" pitchFamily="2" charset="-122"/>
                <a:ea typeface="华文中宋" panose="02010600040101010101" pitchFamily="2" charset="-122"/>
              </a:defRPr>
            </a:lvl1pPr>
            <a:lvl2pPr marL="742950" indent="-285750">
              <a:tabLst>
                <a:tab pos="353695" algn="l"/>
              </a:tabLst>
              <a:defRPr sz="2400" b="1">
                <a:solidFill>
                  <a:schemeClr val="accent2"/>
                </a:solidFill>
                <a:latin typeface="华文中宋" panose="02010600040101010101" pitchFamily="2" charset="-122"/>
                <a:ea typeface="华文中宋" panose="02010600040101010101" pitchFamily="2" charset="-122"/>
              </a:defRPr>
            </a:lvl2pPr>
            <a:lvl3pPr marL="1143000" indent="-228600">
              <a:tabLst>
                <a:tab pos="353695" algn="l"/>
              </a:tabLst>
              <a:defRPr sz="2400" b="1">
                <a:solidFill>
                  <a:schemeClr val="accent2"/>
                </a:solidFill>
                <a:latin typeface="华文中宋" panose="02010600040101010101" pitchFamily="2" charset="-122"/>
                <a:ea typeface="华文中宋" panose="02010600040101010101" pitchFamily="2" charset="-122"/>
              </a:defRPr>
            </a:lvl3pPr>
            <a:lvl4pPr marL="1600200" indent="-228600">
              <a:tabLst>
                <a:tab pos="353695" algn="l"/>
              </a:tabLst>
              <a:defRPr sz="2400" b="1">
                <a:solidFill>
                  <a:schemeClr val="accent2"/>
                </a:solidFill>
                <a:latin typeface="华文中宋" panose="02010600040101010101" pitchFamily="2" charset="-122"/>
                <a:ea typeface="华文中宋" panose="02010600040101010101" pitchFamily="2" charset="-122"/>
              </a:defRPr>
            </a:lvl4pPr>
            <a:lvl5pPr marL="2057400" indent="-228600">
              <a:tabLst>
                <a:tab pos="353695" algn="l"/>
              </a:tabLst>
              <a:defRPr sz="2400" b="1">
                <a:solidFill>
                  <a:schemeClr val="accent2"/>
                </a:solidFill>
                <a:latin typeface="华文中宋" panose="02010600040101010101" pitchFamily="2" charset="-122"/>
                <a:ea typeface="华文中宋" panose="02010600040101010101" pitchFamily="2" charset="-122"/>
              </a:defRPr>
            </a:lvl5pPr>
            <a:lvl6pPr marL="2514600" indent="-228600" eaLnBrk="0" fontAlgn="base" hangingPunct="0">
              <a:spcBef>
                <a:spcPct val="0"/>
              </a:spcBef>
              <a:spcAft>
                <a:spcPct val="0"/>
              </a:spcAft>
              <a:tabLst>
                <a:tab pos="353695" algn="l"/>
              </a:tabLst>
              <a:defRPr sz="2400" b="1">
                <a:solidFill>
                  <a:schemeClr val="accent2"/>
                </a:solidFill>
                <a:latin typeface="华文中宋" panose="02010600040101010101" pitchFamily="2" charset="-122"/>
                <a:ea typeface="华文中宋" panose="02010600040101010101" pitchFamily="2" charset="-122"/>
              </a:defRPr>
            </a:lvl6pPr>
            <a:lvl7pPr marL="2971800" indent="-228600" eaLnBrk="0" fontAlgn="base" hangingPunct="0">
              <a:spcBef>
                <a:spcPct val="0"/>
              </a:spcBef>
              <a:spcAft>
                <a:spcPct val="0"/>
              </a:spcAft>
              <a:tabLst>
                <a:tab pos="353695" algn="l"/>
              </a:tabLst>
              <a:defRPr sz="2400" b="1">
                <a:solidFill>
                  <a:schemeClr val="accent2"/>
                </a:solidFill>
                <a:latin typeface="华文中宋" panose="02010600040101010101" pitchFamily="2" charset="-122"/>
                <a:ea typeface="华文中宋" panose="02010600040101010101" pitchFamily="2" charset="-122"/>
              </a:defRPr>
            </a:lvl7pPr>
            <a:lvl8pPr marL="3429000" indent="-228600" eaLnBrk="0" fontAlgn="base" hangingPunct="0">
              <a:spcBef>
                <a:spcPct val="0"/>
              </a:spcBef>
              <a:spcAft>
                <a:spcPct val="0"/>
              </a:spcAft>
              <a:tabLst>
                <a:tab pos="353695" algn="l"/>
              </a:tabLst>
              <a:defRPr sz="2400" b="1">
                <a:solidFill>
                  <a:schemeClr val="accent2"/>
                </a:solidFill>
                <a:latin typeface="华文中宋" panose="02010600040101010101" pitchFamily="2" charset="-122"/>
                <a:ea typeface="华文中宋" panose="02010600040101010101" pitchFamily="2" charset="-122"/>
              </a:defRPr>
            </a:lvl8pPr>
            <a:lvl9pPr marL="3886200" indent="-228600" eaLnBrk="0" fontAlgn="base" hangingPunct="0">
              <a:spcBef>
                <a:spcPct val="0"/>
              </a:spcBef>
              <a:spcAft>
                <a:spcPct val="0"/>
              </a:spcAft>
              <a:tabLst>
                <a:tab pos="353695" algn="l"/>
              </a:tabLst>
              <a:defRPr sz="2400" b="1">
                <a:solidFill>
                  <a:schemeClr val="accent2"/>
                </a:solidFill>
                <a:latin typeface="华文中宋" panose="02010600040101010101" pitchFamily="2" charset="-122"/>
                <a:ea typeface="华文中宋" panose="02010600040101010101" pitchFamily="2" charset="-122"/>
              </a:defRPr>
            </a:lvl9pPr>
          </a:lstStyle>
          <a:p>
            <a:pPr marL="355600" marR="0" lvl="0" indent="-342900" algn="l" defTabSz="914400" rtl="0" eaLnBrk="1" fontAlgn="base" latinLnBrk="0" hangingPunct="1">
              <a:lnSpc>
                <a:spcPct val="100000"/>
              </a:lnSpc>
              <a:spcBef>
                <a:spcPct val="0"/>
              </a:spcBef>
              <a:spcAft>
                <a:spcPct val="0"/>
              </a:spcAft>
              <a:buClr>
                <a:schemeClr val="accent2">
                  <a:lumMod val="75000"/>
                </a:schemeClr>
              </a:buClr>
              <a:buSzTx/>
              <a:buFont typeface="Wingdings" panose="05000000000000000000" pitchFamily="2" charset="2"/>
              <a:buChar char="l"/>
              <a:tabLst>
                <a:tab pos="353695" algn="l"/>
              </a:tabLst>
              <a:defRPr/>
            </a:pPr>
            <a:r>
              <a:rPr kumimoji="0" lang="zh-CN"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评价系统安全时的一个因素是复杂性</a:t>
            </a:r>
            <a:r>
              <a:rPr kumimoji="0" lang="zh-CN" altLang="zh-CN" sz="2400" b="0" i="0" u="none" strike="noStrike" kern="1200" cap="none" spc="0" normalizeH="0" baseline="0" noProof="0" dirty="0">
                <a:ln>
                  <a:noFill/>
                </a:ln>
                <a:solidFill>
                  <a:srgbClr val="FFFFFF"/>
                </a:solidFill>
                <a:effectLst/>
                <a:uLnTx/>
                <a:uFillTx/>
                <a:latin typeface="华文中宋" panose="02010600040101010101" pitchFamily="2" charset="-122"/>
                <a:ea typeface="华文中宋" panose="02010600040101010101" pitchFamily="2" charset="-122"/>
                <a:cs typeface="+mn-cs"/>
              </a:rPr>
              <a:t>。</a:t>
            </a:r>
            <a:endParaRPr kumimoji="0" lang="zh-CN" altLang="zh-CN" sz="2400" b="0" i="0" u="none" strike="noStrike" kern="1200" cap="none" spc="0" normalizeH="0" baseline="0" noProof="0" dirty="0">
              <a:ln>
                <a:noFill/>
              </a:ln>
              <a:solidFill>
                <a:srgbClr val="FFFFFF"/>
              </a:solidFill>
              <a:effectLst/>
              <a:uLnTx/>
              <a:uFillTx/>
              <a:latin typeface="华文中宋" panose="02010600040101010101" pitchFamily="2" charset="-122"/>
              <a:ea typeface="华文中宋" panose="02010600040101010101" pitchFamily="2" charset="-122"/>
              <a:cs typeface="+mn-cs"/>
            </a:endParaRPr>
          </a:p>
          <a:p>
            <a:pPr marL="355600" marR="0" lvl="0" indent="-342900" algn="just" defTabSz="914400" rtl="0" eaLnBrk="1" fontAlgn="base" latinLnBrk="0" hangingPunct="1">
              <a:lnSpc>
                <a:spcPct val="100000"/>
              </a:lnSpc>
              <a:spcBef>
                <a:spcPts val="765"/>
              </a:spcBef>
              <a:spcAft>
                <a:spcPct val="0"/>
              </a:spcAft>
              <a:buClr>
                <a:schemeClr val="accent2">
                  <a:lumMod val="75000"/>
                </a:schemeClr>
              </a:buClr>
              <a:buSzTx/>
              <a:buFont typeface="Wingdings" panose="05000000000000000000" pitchFamily="2" charset="2"/>
              <a:buChar char="l"/>
              <a:tabLst>
                <a:tab pos="353695" algn="l"/>
              </a:tabLst>
              <a:defRPr/>
            </a:pPr>
            <a:r>
              <a:rPr kumimoji="0" lang="zh-CN"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如果设计、实现、或者安全机制非常复杂，那么</a:t>
            </a:r>
            <a:r>
              <a:rPr kumimoji="0" lang="zh-CN" altLang="zh-CN"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安全弱点存在的可能性将会增加。</a:t>
            </a:r>
            <a:r>
              <a:rPr kumimoji="0" lang="zh-CN"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复杂系统中的精细的问题可能很难发现</a:t>
            </a:r>
            <a:r>
              <a:rPr kumimoji="0" lang="zh-CN" altLang="en-US"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zh-CN"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55600" marR="0" lvl="0" indent="-342900" algn="l" defTabSz="914400" rtl="0" eaLnBrk="1" fontAlgn="base" latinLnBrk="0" hangingPunct="1">
              <a:lnSpc>
                <a:spcPct val="100000"/>
              </a:lnSpc>
              <a:spcBef>
                <a:spcPts val="375"/>
              </a:spcBef>
              <a:spcAft>
                <a:spcPct val="0"/>
              </a:spcAft>
              <a:buClr>
                <a:schemeClr val="accent2">
                  <a:lumMod val="75000"/>
                </a:schemeClr>
              </a:buClr>
              <a:buSzTx/>
              <a:buFont typeface="Wingdings" panose="05000000000000000000" pitchFamily="2" charset="2"/>
              <a:buChar char="l"/>
              <a:tabLst>
                <a:tab pos="353695" algn="l"/>
              </a:tabLst>
              <a:defRPr/>
            </a:pPr>
            <a:r>
              <a:rPr kumimoji="0" lang="zh-CN" altLang="zh-CN" sz="2400" b="0" i="0" u="none" strike="noStrike" kern="120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使用公共的功能函数能减少代码数量</a:t>
            </a:r>
            <a:r>
              <a:rPr kumimoji="0" lang="zh-CN"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，程序设计者和开发人员都应该设法使系统尽量简化</a:t>
            </a:r>
            <a:r>
              <a:rPr kumimoji="0" lang="zh-CN" altLang="zh-CN" sz="2400" b="0" i="0" u="none" strike="noStrike" kern="1200" cap="none" spc="0" normalizeH="0" baseline="0" noProof="0" dirty="0">
                <a:ln>
                  <a:noFill/>
                </a:ln>
                <a:solidFill>
                  <a:srgbClr val="FFFFFF"/>
                </a:solidFill>
                <a:effectLst/>
                <a:uLnTx/>
                <a:uFillTx/>
                <a:latin typeface="华文中宋" panose="02010600040101010101" pitchFamily="2" charset="-122"/>
                <a:ea typeface="华文中宋" panose="02010600040101010101" pitchFamily="2" charset="-122"/>
                <a:cs typeface="+mn-cs"/>
              </a:rPr>
              <a:t>。</a:t>
            </a:r>
            <a:endParaRPr kumimoji="0" lang="zh-CN" altLang="zh-CN" sz="2400" b="0" i="0" u="none" strike="noStrike" kern="1200" cap="none" spc="0" normalizeH="0" baseline="0" noProof="0" dirty="0">
              <a:ln>
                <a:noFill/>
              </a:ln>
              <a:solidFill>
                <a:srgbClr val="FFFFFF"/>
              </a:solidFill>
              <a:effectLst/>
              <a:uLnTx/>
              <a:uFillTx/>
              <a:latin typeface="华文中宋" panose="02010600040101010101" pitchFamily="2" charset="-122"/>
              <a:ea typeface="华文中宋" panose="02010600040101010101" pitchFamily="2" charset="-122"/>
              <a:cs typeface="+mn-cs"/>
            </a:endParaRPr>
          </a:p>
          <a:p>
            <a:pPr marL="355600" marR="0" lvl="0" indent="-342900" algn="l" defTabSz="914400" rtl="0" eaLnBrk="1" fontAlgn="base" latinLnBrk="0" hangingPunct="1">
              <a:lnSpc>
                <a:spcPct val="100000"/>
              </a:lnSpc>
              <a:spcBef>
                <a:spcPts val="815"/>
              </a:spcBef>
              <a:spcAft>
                <a:spcPct val="0"/>
              </a:spcAft>
              <a:buClr>
                <a:schemeClr val="accent2">
                  <a:lumMod val="75000"/>
                </a:schemeClr>
              </a:buClr>
              <a:buSzTx/>
              <a:buFont typeface="Wingdings" panose="05000000000000000000" pitchFamily="2" charset="2"/>
              <a:buChar char="l"/>
              <a:tabLst>
                <a:tab pos="353695" algn="l"/>
              </a:tabLst>
              <a:defRPr/>
            </a:pPr>
            <a:r>
              <a:rPr kumimoji="0" lang="zh-CN" altLang="zh-CN"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尽可能地考虑重用组件，</a:t>
            </a:r>
            <a:r>
              <a:rPr kumimoji="0" lang="zh-CN"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只要被重用的组件是高质量的。越是成功的应用了组件，那么写的代码就越少</a:t>
            </a:r>
            <a:endParaRPr kumimoji="0" lang="zh-CN"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55600" marR="0" lvl="0" indent="-342900" algn="just" defTabSz="914400" rtl="0" eaLnBrk="1" fontAlgn="base" latinLnBrk="0" hangingPunct="1">
              <a:lnSpc>
                <a:spcPct val="100000"/>
              </a:lnSpc>
              <a:spcBef>
                <a:spcPts val="765"/>
              </a:spcBef>
              <a:spcAft>
                <a:spcPct val="0"/>
              </a:spcAft>
              <a:buClr>
                <a:schemeClr val="accent2">
                  <a:lumMod val="75000"/>
                </a:schemeClr>
              </a:buClr>
              <a:buSzTx/>
              <a:buFont typeface="Wingdings" panose="05000000000000000000" pitchFamily="2" charset="2"/>
              <a:buChar char="l"/>
              <a:tabLst>
                <a:tab pos="353695" algn="l"/>
              </a:tabLst>
              <a:defRPr/>
            </a:pPr>
            <a:r>
              <a:rPr kumimoji="0" lang="zh-CN"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这种思想特别适用于密码库。被广泛使用的密码库要比组织内部使用的密码库更加健壮。当然，即使是被广泛使用的组件，也总有可能出现问题。</a:t>
            </a:r>
            <a:endParaRPr kumimoji="0" lang="zh-CN"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标题 1"/>
          <p:cNvSpPr>
            <a:spLocks noGrp="1" noChangeArrowheads="1"/>
          </p:cNvSpPr>
          <p:nvPr>
            <p:ph type="title"/>
          </p:nvPr>
        </p:nvSpPr>
        <p:spPr/>
        <p:txBody>
          <a:bodyPr vert="horz" wrap="square" lIns="91440" tIns="45720" rIns="91440" bIns="45720" numCol="1" anchor="ctr" anchorCtr="0" compatLnSpc="1"/>
          <a:lstStyle/>
          <a:p>
            <a:pPr marL="12700" marR="0" lvl="0" indent="0" algn="ctr" defTabSz="914400" rtl="0" eaLnBrk="0" fontAlgn="base" latinLnBrk="0" hangingPunct="0">
              <a:lnSpc>
                <a:spcPct val="100000"/>
              </a:lnSpc>
              <a:spcBef>
                <a:spcPct val="0"/>
              </a:spcBef>
              <a:spcAft>
                <a:spcPct val="0"/>
              </a:spcAft>
              <a:buClrTx/>
              <a:buSzTx/>
              <a:buFontTx/>
              <a:buNone/>
              <a:tabLst>
                <a:tab pos="354965" algn="l"/>
              </a:tabLst>
              <a:defRPr/>
            </a:pPr>
            <a:r>
              <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原则</a:t>
            </a:r>
            <a:r>
              <a:rPr kumimoji="0" lang="en-US" altLang="zh-CN"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7</a:t>
            </a:r>
            <a:r>
              <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：最小共享机制</a:t>
            </a:r>
            <a:endPar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17411"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38917" name="object 26"/>
          <p:cNvSpPr txBox="1">
            <a:spLocks noChangeArrowheads="1"/>
          </p:cNvSpPr>
          <p:nvPr/>
        </p:nvSpPr>
        <p:spPr bwMode="auto">
          <a:xfrm>
            <a:off x="642938" y="1719263"/>
            <a:ext cx="8032750" cy="3878263"/>
          </a:xfrm>
          <a:prstGeom prst="rect">
            <a:avLst/>
          </a:prstGeom>
          <a:noFill/>
          <a:ln>
            <a:noFill/>
          </a:ln>
        </p:spPr>
        <p:txBody>
          <a:bodyPr lIns="0" tIns="0" rIns="0" bIns="0">
            <a:spAutoFit/>
          </a:bodyPr>
          <a:lstStyle>
            <a:lvl1pPr marL="12700">
              <a:tabLst>
                <a:tab pos="353695" algn="l"/>
              </a:tabLst>
              <a:defRPr sz="2400" b="1">
                <a:solidFill>
                  <a:schemeClr val="accent2"/>
                </a:solidFill>
                <a:latin typeface="华文中宋" panose="02010600040101010101" pitchFamily="2" charset="-122"/>
                <a:ea typeface="华文中宋" panose="02010600040101010101" pitchFamily="2" charset="-122"/>
              </a:defRPr>
            </a:lvl1pPr>
            <a:lvl2pPr marL="742950" indent="-285750">
              <a:tabLst>
                <a:tab pos="353695" algn="l"/>
              </a:tabLst>
              <a:defRPr sz="2400" b="1">
                <a:solidFill>
                  <a:schemeClr val="accent2"/>
                </a:solidFill>
                <a:latin typeface="华文中宋" panose="02010600040101010101" pitchFamily="2" charset="-122"/>
                <a:ea typeface="华文中宋" panose="02010600040101010101" pitchFamily="2" charset="-122"/>
              </a:defRPr>
            </a:lvl2pPr>
            <a:lvl3pPr marL="1143000" indent="-228600">
              <a:tabLst>
                <a:tab pos="353695" algn="l"/>
              </a:tabLst>
              <a:defRPr sz="2400" b="1">
                <a:solidFill>
                  <a:schemeClr val="accent2"/>
                </a:solidFill>
                <a:latin typeface="华文中宋" panose="02010600040101010101" pitchFamily="2" charset="-122"/>
                <a:ea typeface="华文中宋" panose="02010600040101010101" pitchFamily="2" charset="-122"/>
              </a:defRPr>
            </a:lvl3pPr>
            <a:lvl4pPr marL="1600200" indent="-228600">
              <a:tabLst>
                <a:tab pos="353695" algn="l"/>
              </a:tabLst>
              <a:defRPr sz="2400" b="1">
                <a:solidFill>
                  <a:schemeClr val="accent2"/>
                </a:solidFill>
                <a:latin typeface="华文中宋" panose="02010600040101010101" pitchFamily="2" charset="-122"/>
                <a:ea typeface="华文中宋" panose="02010600040101010101" pitchFamily="2" charset="-122"/>
              </a:defRPr>
            </a:lvl4pPr>
            <a:lvl5pPr marL="2057400" indent="-228600">
              <a:tabLst>
                <a:tab pos="353695" algn="l"/>
              </a:tabLst>
              <a:defRPr sz="2400" b="1">
                <a:solidFill>
                  <a:schemeClr val="accent2"/>
                </a:solidFill>
                <a:latin typeface="华文中宋" panose="02010600040101010101" pitchFamily="2" charset="-122"/>
                <a:ea typeface="华文中宋" panose="02010600040101010101" pitchFamily="2" charset="-122"/>
              </a:defRPr>
            </a:lvl5pPr>
            <a:lvl6pPr marL="2514600" indent="-228600" eaLnBrk="0" fontAlgn="base" hangingPunct="0">
              <a:spcBef>
                <a:spcPct val="0"/>
              </a:spcBef>
              <a:spcAft>
                <a:spcPct val="0"/>
              </a:spcAft>
              <a:tabLst>
                <a:tab pos="353695" algn="l"/>
              </a:tabLst>
              <a:defRPr sz="2400" b="1">
                <a:solidFill>
                  <a:schemeClr val="accent2"/>
                </a:solidFill>
                <a:latin typeface="华文中宋" panose="02010600040101010101" pitchFamily="2" charset="-122"/>
                <a:ea typeface="华文中宋" panose="02010600040101010101" pitchFamily="2" charset="-122"/>
              </a:defRPr>
            </a:lvl6pPr>
            <a:lvl7pPr marL="2971800" indent="-228600" eaLnBrk="0" fontAlgn="base" hangingPunct="0">
              <a:spcBef>
                <a:spcPct val="0"/>
              </a:spcBef>
              <a:spcAft>
                <a:spcPct val="0"/>
              </a:spcAft>
              <a:tabLst>
                <a:tab pos="353695" algn="l"/>
              </a:tabLst>
              <a:defRPr sz="2400" b="1">
                <a:solidFill>
                  <a:schemeClr val="accent2"/>
                </a:solidFill>
                <a:latin typeface="华文中宋" panose="02010600040101010101" pitchFamily="2" charset="-122"/>
                <a:ea typeface="华文中宋" panose="02010600040101010101" pitchFamily="2" charset="-122"/>
              </a:defRPr>
            </a:lvl7pPr>
            <a:lvl8pPr marL="3429000" indent="-228600" eaLnBrk="0" fontAlgn="base" hangingPunct="0">
              <a:spcBef>
                <a:spcPct val="0"/>
              </a:spcBef>
              <a:spcAft>
                <a:spcPct val="0"/>
              </a:spcAft>
              <a:tabLst>
                <a:tab pos="353695" algn="l"/>
              </a:tabLst>
              <a:defRPr sz="2400" b="1">
                <a:solidFill>
                  <a:schemeClr val="accent2"/>
                </a:solidFill>
                <a:latin typeface="华文中宋" panose="02010600040101010101" pitchFamily="2" charset="-122"/>
                <a:ea typeface="华文中宋" panose="02010600040101010101" pitchFamily="2" charset="-122"/>
              </a:defRPr>
            </a:lvl8pPr>
            <a:lvl9pPr marL="3886200" indent="-228600" eaLnBrk="0" fontAlgn="base" hangingPunct="0">
              <a:spcBef>
                <a:spcPct val="0"/>
              </a:spcBef>
              <a:spcAft>
                <a:spcPct val="0"/>
              </a:spcAft>
              <a:tabLst>
                <a:tab pos="353695" algn="l"/>
              </a:tabLst>
              <a:defRPr sz="2400" b="1">
                <a:solidFill>
                  <a:schemeClr val="accent2"/>
                </a:solidFill>
                <a:latin typeface="华文中宋" panose="02010600040101010101" pitchFamily="2" charset="-122"/>
                <a:ea typeface="华文中宋" panose="02010600040101010101" pitchFamily="2" charset="-122"/>
              </a:defRPr>
            </a:lvl9pPr>
          </a:lstStyle>
          <a:p>
            <a:pPr marL="355600" marR="0" lvl="0" indent="-342900" algn="l" defTabSz="914400" rtl="0" eaLnBrk="1" fontAlgn="base" latinLnBrk="0" hangingPunct="1">
              <a:lnSpc>
                <a:spcPct val="150000"/>
              </a:lnSpc>
              <a:spcBef>
                <a:spcPct val="0"/>
              </a:spcBef>
              <a:spcAft>
                <a:spcPct val="0"/>
              </a:spcAft>
              <a:buClr>
                <a:schemeClr val="accent2">
                  <a:lumMod val="75000"/>
                </a:schemeClr>
              </a:buClr>
              <a:buSzTx/>
              <a:buFont typeface="Wingdings" panose="05000000000000000000" pitchFamily="2" charset="2"/>
              <a:buChar char="l"/>
              <a:tabLst>
                <a:tab pos="353695" algn="l"/>
              </a:tabLst>
              <a:defRPr/>
            </a:pPr>
            <a:r>
              <a:rPr kumimoji="0" lang="zh-CN" altLang="en-US"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每个共享机制（</a:t>
            </a:r>
            <a:r>
              <a:rPr kumimoji="0" lang="zh-CN" altLang="en-US"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特别是共享变量</a:t>
            </a:r>
            <a:r>
              <a:rPr kumimoji="0" lang="zh-CN" altLang="en-US"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）代表用户之间一种潜在的信息路径，这些路径一定要小心处理以确保不会损害安全。</a:t>
            </a:r>
            <a:endParaRPr kumimoji="0" lang="en-US"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55600" marR="0" lvl="0" indent="-342900" algn="l" defTabSz="914400" rtl="0" eaLnBrk="1" fontAlgn="base" latinLnBrk="0" hangingPunct="1">
              <a:lnSpc>
                <a:spcPct val="150000"/>
              </a:lnSpc>
              <a:spcBef>
                <a:spcPct val="0"/>
              </a:spcBef>
              <a:spcAft>
                <a:spcPct val="0"/>
              </a:spcAft>
              <a:buClr>
                <a:schemeClr val="accent2">
                  <a:lumMod val="75000"/>
                </a:schemeClr>
              </a:buClr>
              <a:buSzTx/>
              <a:buFont typeface="Wingdings" panose="05000000000000000000" pitchFamily="2" charset="2"/>
              <a:buChar char="l"/>
              <a:tabLst>
                <a:tab pos="353695" algn="l"/>
              </a:tabLst>
              <a:defRPr/>
            </a:pPr>
            <a:r>
              <a:rPr kumimoji="0" lang="zh-CN" altLang="zh-CN"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避免多个主体通过共享机制有权使用同一个资源</a:t>
            </a:r>
            <a:r>
              <a:rPr kumimoji="0" lang="zh-CN"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，敏感信息可能通过这种机制在不同用户之间共享。</a:t>
            </a:r>
            <a:endParaRPr kumimoji="0" lang="zh-CN"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55600" marR="0" lvl="0" indent="-342900" algn="l" defTabSz="914400" rtl="0" eaLnBrk="1" fontAlgn="base" latinLnBrk="0" hangingPunct="1">
              <a:lnSpc>
                <a:spcPct val="150000"/>
              </a:lnSpc>
              <a:spcBef>
                <a:spcPct val="0"/>
              </a:spcBef>
              <a:spcAft>
                <a:spcPct val="0"/>
              </a:spcAft>
              <a:buClr>
                <a:schemeClr val="accent2">
                  <a:lumMod val="75000"/>
                </a:schemeClr>
              </a:buClr>
              <a:buSzTx/>
              <a:buFont typeface="Wingdings" panose="05000000000000000000" pitchFamily="2" charset="2"/>
              <a:buChar char="l"/>
              <a:tabLst>
                <a:tab pos="353695" algn="l"/>
              </a:tabLst>
              <a:defRPr/>
            </a:pPr>
            <a:r>
              <a:rPr kumimoji="0" lang="zh-CN"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例如，互联网上服务应用程序同时允许攻击者和用户获得访问权。</a:t>
            </a:r>
            <a:endParaRPr kumimoji="0" lang="zh-CN"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原则</a:t>
            </a:r>
            <a:r>
              <a:rPr kumimoji="0" lang="en-US" altLang="zh-CN"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8</a:t>
            </a:r>
            <a:r>
              <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：勉强信任原则</a:t>
            </a:r>
            <a:endParaRPr kumimoji="0" lang="zh-CN" altLang="en-US"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18435"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18436" name="object 22"/>
          <p:cNvSpPr txBox="1"/>
          <p:nvPr/>
        </p:nvSpPr>
        <p:spPr>
          <a:xfrm>
            <a:off x="893763" y="1484313"/>
            <a:ext cx="7521575" cy="4432300"/>
          </a:xfrm>
          <a:prstGeom prst="rect">
            <a:avLst/>
          </a:prstGeom>
          <a:noFill/>
          <a:ln w="9525">
            <a:noFill/>
          </a:ln>
        </p:spPr>
        <p:txBody>
          <a:bodyPr lIns="0" tIns="0" rIns="0" bIns="0">
            <a:spAutoFit/>
          </a:bodyPr>
          <a:p>
            <a:pPr marL="355600" indent="-342900" defTabSz="914400" eaLnBrk="1" hangingPunct="1">
              <a:lnSpc>
                <a:spcPct val="150000"/>
              </a:lnSpc>
              <a:buFont typeface="Wingdings" panose="05000000000000000000" pitchFamily="2" charset="2"/>
              <a:buChar char="l"/>
              <a:tabLst>
                <a:tab pos="355600" algn="l"/>
              </a:tabLst>
            </a:pPr>
            <a:r>
              <a:rPr lang="zh-CN" altLang="en-US" b="0" dirty="0">
                <a:solidFill>
                  <a:srgbClr val="C00000"/>
                </a:solidFill>
                <a:latin typeface="华文中宋" panose="02010600040101010101" pitchFamily="2" charset="-122"/>
              </a:rPr>
              <a:t>开发者应该认为他们系统所在的环境是不安全的</a:t>
            </a:r>
            <a:r>
              <a:rPr lang="zh-CN" altLang="en-US" b="0" dirty="0">
                <a:solidFill>
                  <a:schemeClr val="tx1"/>
                </a:solidFill>
                <a:latin typeface="华文中宋" panose="02010600040101010101" pitchFamily="2" charset="-122"/>
              </a:rPr>
              <a:t>。</a:t>
            </a:r>
            <a:endParaRPr lang="zh-CN" altLang="en-US" b="0" dirty="0">
              <a:solidFill>
                <a:schemeClr val="tx1"/>
              </a:solidFill>
              <a:latin typeface="华文中宋" panose="02010600040101010101" pitchFamily="2" charset="-122"/>
            </a:endParaRPr>
          </a:p>
          <a:p>
            <a:pPr marL="355600" indent="-342900" defTabSz="914400" eaLnBrk="1" hangingPunct="1">
              <a:lnSpc>
                <a:spcPct val="150000"/>
              </a:lnSpc>
              <a:buFont typeface="Wingdings" panose="05000000000000000000" pitchFamily="2" charset="2"/>
              <a:buChar char="l"/>
              <a:tabLst>
                <a:tab pos="355600" algn="l"/>
              </a:tabLst>
            </a:pPr>
            <a:r>
              <a:rPr lang="zh-CN" altLang="en-US" b="0" dirty="0">
                <a:solidFill>
                  <a:schemeClr val="tx1"/>
                </a:solidFill>
                <a:latin typeface="华文中宋" panose="02010600040101010101" pitchFamily="2" charset="-122"/>
              </a:rPr>
              <a:t>无论是外部系统、代码、人员等等，都应该被时刻关注。</a:t>
            </a:r>
            <a:endParaRPr lang="zh-CN" altLang="en-US" b="0" dirty="0">
              <a:solidFill>
                <a:schemeClr val="tx1"/>
              </a:solidFill>
              <a:latin typeface="华文中宋" panose="02010600040101010101" pitchFamily="2" charset="-122"/>
            </a:endParaRPr>
          </a:p>
          <a:p>
            <a:pPr marL="355600" indent="-342900" defTabSz="914400" eaLnBrk="1" hangingPunct="1">
              <a:lnSpc>
                <a:spcPct val="150000"/>
              </a:lnSpc>
              <a:buFont typeface="Wingdings" panose="05000000000000000000" pitchFamily="2" charset="2"/>
              <a:buChar char="l"/>
              <a:tabLst>
                <a:tab pos="355600" algn="l"/>
              </a:tabLst>
            </a:pPr>
            <a:r>
              <a:rPr lang="zh-CN" altLang="en-US" b="0" dirty="0">
                <a:solidFill>
                  <a:srgbClr val="C00000"/>
                </a:solidFill>
                <a:latin typeface="华文中宋" panose="02010600040101010101" pitchFamily="2" charset="-122"/>
              </a:rPr>
              <a:t>开发人员应该设想未知用户输入的所有可能情况</a:t>
            </a:r>
            <a:r>
              <a:rPr lang="zh-CN" altLang="en-US" b="0" dirty="0">
                <a:solidFill>
                  <a:schemeClr val="tx1"/>
                </a:solidFill>
                <a:latin typeface="华文中宋" panose="02010600040101010101" pitchFamily="2" charset="-122"/>
              </a:rPr>
              <a:t>，即使用户是已知的，也要怀疑其可能发起攻击。</a:t>
            </a:r>
            <a:endParaRPr lang="zh-CN" altLang="en-US" b="0" dirty="0">
              <a:solidFill>
                <a:schemeClr val="tx1"/>
              </a:solidFill>
              <a:latin typeface="华文中宋" panose="02010600040101010101" pitchFamily="2" charset="-122"/>
            </a:endParaRPr>
          </a:p>
          <a:p>
            <a:pPr marL="355600" indent="-342900" defTabSz="914400" eaLnBrk="1" hangingPunct="1">
              <a:lnSpc>
                <a:spcPct val="150000"/>
              </a:lnSpc>
              <a:buFont typeface="Wingdings" panose="05000000000000000000" pitchFamily="2" charset="2"/>
              <a:buChar char="l"/>
              <a:tabLst>
                <a:tab pos="355600" algn="l"/>
              </a:tabLst>
            </a:pPr>
            <a:r>
              <a:rPr lang="zh-CN" altLang="en-US" b="0" dirty="0">
                <a:solidFill>
                  <a:schemeClr val="tx1"/>
                </a:solidFill>
                <a:latin typeface="华文中宋" panose="02010600040101010101" pitchFamily="2" charset="-122"/>
              </a:rPr>
              <a:t>例如，即使开发的是公司内部的软件系统，也依然存在SQL注入攻击的可能性，以及用户不小心导致的错误输入，因此也需要加入输入验证功能。</a:t>
            </a:r>
            <a:endParaRPr lang="zh-CN" altLang="en-US" b="0" dirty="0">
              <a:solidFill>
                <a:schemeClr val="tx1"/>
              </a:solidFill>
              <a:latin typeface="华文中宋" panose="02010600040101010101" pitchFamily="2" charset="-122"/>
            </a:endParaRPr>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标题 1"/>
          <p:cNvSpPr>
            <a:spLocks noGrp="1" noChangeArrowheads="1"/>
          </p:cNvSpPr>
          <p:nvPr>
            <p:ph type="title"/>
          </p:nvPr>
        </p:nvSpPr>
        <p:spPr/>
        <p:txBody>
          <a:bodyPr vert="horz" wrap="square" lIns="91440" tIns="45720" rIns="91440" bIns="45720" numCol="1" anchor="ctr" anchorCtr="0" compatLnSpc="1"/>
          <a:lstStyle/>
          <a:p>
            <a:pPr marL="12700" marR="0" lvl="0" indent="0" algn="ctr" defTabSz="914400" rtl="0" eaLnBrk="0" fontAlgn="base" latinLnBrk="0" hangingPunct="0">
              <a:lnSpc>
                <a:spcPct val="100000"/>
              </a:lnSpc>
              <a:spcBef>
                <a:spcPct val="0"/>
              </a:spcBef>
              <a:spcAft>
                <a:spcPct val="0"/>
              </a:spcAft>
              <a:buClrTx/>
              <a:buSzTx/>
              <a:buFontTx/>
              <a:buNone/>
              <a:tabLst>
                <a:tab pos="354965" algn="l"/>
              </a:tabLst>
              <a:defRPr/>
            </a:pPr>
            <a:r>
              <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原则</a:t>
            </a:r>
            <a:r>
              <a:rPr kumimoji="0" lang="en-US" altLang="zh-CN"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9</a:t>
            </a:r>
            <a:r>
              <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：不要认为你的秘密是安全的</a:t>
            </a:r>
            <a:endPar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19459"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40965" name="object 28"/>
          <p:cNvSpPr txBox="1">
            <a:spLocks noChangeArrowheads="1"/>
          </p:cNvSpPr>
          <p:nvPr/>
        </p:nvSpPr>
        <p:spPr bwMode="auto">
          <a:xfrm>
            <a:off x="444500" y="1268730"/>
            <a:ext cx="8256588" cy="5037138"/>
          </a:xfrm>
          <a:prstGeom prst="rect">
            <a:avLst/>
          </a:prstGeom>
          <a:noFill/>
          <a:ln>
            <a:noFill/>
          </a:ln>
        </p:spPr>
        <p:txBody>
          <a:bodyPr lIns="0" tIns="0" rIns="0" bIns="0">
            <a:spAutoFit/>
          </a:bodyPr>
          <a:lstStyle>
            <a:lvl1pPr marL="12700">
              <a:tabLst>
                <a:tab pos="353695" algn="l"/>
              </a:tabLst>
              <a:defRPr sz="2400" b="1">
                <a:solidFill>
                  <a:schemeClr val="accent2"/>
                </a:solidFill>
                <a:latin typeface="华文中宋" panose="02010600040101010101" pitchFamily="2" charset="-122"/>
                <a:ea typeface="华文中宋" panose="02010600040101010101" pitchFamily="2" charset="-122"/>
              </a:defRPr>
            </a:lvl1pPr>
            <a:lvl2pPr marL="742950" indent="-285750">
              <a:tabLst>
                <a:tab pos="353695" algn="l"/>
              </a:tabLst>
              <a:defRPr sz="2400" b="1">
                <a:solidFill>
                  <a:schemeClr val="accent2"/>
                </a:solidFill>
                <a:latin typeface="华文中宋" panose="02010600040101010101" pitchFamily="2" charset="-122"/>
                <a:ea typeface="华文中宋" panose="02010600040101010101" pitchFamily="2" charset="-122"/>
              </a:defRPr>
            </a:lvl2pPr>
            <a:lvl3pPr marL="1143000" indent="-228600">
              <a:tabLst>
                <a:tab pos="353695" algn="l"/>
              </a:tabLst>
              <a:defRPr sz="2400" b="1">
                <a:solidFill>
                  <a:schemeClr val="accent2"/>
                </a:solidFill>
                <a:latin typeface="华文中宋" panose="02010600040101010101" pitchFamily="2" charset="-122"/>
                <a:ea typeface="华文中宋" panose="02010600040101010101" pitchFamily="2" charset="-122"/>
              </a:defRPr>
            </a:lvl3pPr>
            <a:lvl4pPr marL="1600200" indent="-228600">
              <a:tabLst>
                <a:tab pos="353695" algn="l"/>
              </a:tabLst>
              <a:defRPr sz="2400" b="1">
                <a:solidFill>
                  <a:schemeClr val="accent2"/>
                </a:solidFill>
                <a:latin typeface="华文中宋" panose="02010600040101010101" pitchFamily="2" charset="-122"/>
                <a:ea typeface="华文中宋" panose="02010600040101010101" pitchFamily="2" charset="-122"/>
              </a:defRPr>
            </a:lvl4pPr>
            <a:lvl5pPr marL="2057400" indent="-228600">
              <a:tabLst>
                <a:tab pos="353695" algn="l"/>
              </a:tabLst>
              <a:defRPr sz="2400" b="1">
                <a:solidFill>
                  <a:schemeClr val="accent2"/>
                </a:solidFill>
                <a:latin typeface="华文中宋" panose="02010600040101010101" pitchFamily="2" charset="-122"/>
                <a:ea typeface="华文中宋" panose="02010600040101010101" pitchFamily="2" charset="-122"/>
              </a:defRPr>
            </a:lvl5pPr>
            <a:lvl6pPr marL="2514600" indent="-228600" eaLnBrk="0" fontAlgn="base" hangingPunct="0">
              <a:spcBef>
                <a:spcPct val="0"/>
              </a:spcBef>
              <a:spcAft>
                <a:spcPct val="0"/>
              </a:spcAft>
              <a:tabLst>
                <a:tab pos="353695" algn="l"/>
              </a:tabLst>
              <a:defRPr sz="2400" b="1">
                <a:solidFill>
                  <a:schemeClr val="accent2"/>
                </a:solidFill>
                <a:latin typeface="华文中宋" panose="02010600040101010101" pitchFamily="2" charset="-122"/>
                <a:ea typeface="华文中宋" panose="02010600040101010101" pitchFamily="2" charset="-122"/>
              </a:defRPr>
            </a:lvl6pPr>
            <a:lvl7pPr marL="2971800" indent="-228600" eaLnBrk="0" fontAlgn="base" hangingPunct="0">
              <a:spcBef>
                <a:spcPct val="0"/>
              </a:spcBef>
              <a:spcAft>
                <a:spcPct val="0"/>
              </a:spcAft>
              <a:tabLst>
                <a:tab pos="353695" algn="l"/>
              </a:tabLst>
              <a:defRPr sz="2400" b="1">
                <a:solidFill>
                  <a:schemeClr val="accent2"/>
                </a:solidFill>
                <a:latin typeface="华文中宋" panose="02010600040101010101" pitchFamily="2" charset="-122"/>
                <a:ea typeface="华文中宋" panose="02010600040101010101" pitchFamily="2" charset="-122"/>
              </a:defRPr>
            </a:lvl7pPr>
            <a:lvl8pPr marL="3429000" indent="-228600" eaLnBrk="0" fontAlgn="base" hangingPunct="0">
              <a:spcBef>
                <a:spcPct val="0"/>
              </a:spcBef>
              <a:spcAft>
                <a:spcPct val="0"/>
              </a:spcAft>
              <a:tabLst>
                <a:tab pos="353695" algn="l"/>
              </a:tabLst>
              <a:defRPr sz="2400" b="1">
                <a:solidFill>
                  <a:schemeClr val="accent2"/>
                </a:solidFill>
                <a:latin typeface="华文中宋" panose="02010600040101010101" pitchFamily="2" charset="-122"/>
                <a:ea typeface="华文中宋" panose="02010600040101010101" pitchFamily="2" charset="-122"/>
              </a:defRPr>
            </a:lvl8pPr>
            <a:lvl9pPr marL="3886200" indent="-228600" eaLnBrk="0" fontAlgn="base" hangingPunct="0">
              <a:spcBef>
                <a:spcPct val="0"/>
              </a:spcBef>
              <a:spcAft>
                <a:spcPct val="0"/>
              </a:spcAft>
              <a:tabLst>
                <a:tab pos="353695" algn="l"/>
              </a:tabLst>
              <a:defRPr sz="2400" b="1">
                <a:solidFill>
                  <a:schemeClr val="accent2"/>
                </a:solidFill>
                <a:latin typeface="华文中宋" panose="02010600040101010101" pitchFamily="2" charset="-122"/>
                <a:ea typeface="华文中宋" panose="02010600040101010101" pitchFamily="2" charset="-122"/>
              </a:defRPr>
            </a:lvl9pPr>
          </a:lstStyle>
          <a:p>
            <a:pPr marL="355600" marR="0" lvl="0" indent="-342900" algn="l" defTabSz="914400" rtl="0" eaLnBrk="1" fontAlgn="base" latinLnBrk="0" hangingPunct="1">
              <a:lnSpc>
                <a:spcPct val="150000"/>
              </a:lnSpc>
              <a:spcBef>
                <a:spcPct val="0"/>
              </a:spcBef>
              <a:spcAft>
                <a:spcPct val="0"/>
              </a:spcAft>
              <a:buClr>
                <a:schemeClr val="accent2">
                  <a:lumMod val="75000"/>
                </a:schemeClr>
              </a:buClr>
              <a:buSzTx/>
              <a:buFont typeface="Wingdings" panose="05000000000000000000" pitchFamily="2" charset="2"/>
              <a:buChar char="l"/>
              <a:tabLst>
                <a:tab pos="353695" algn="l"/>
              </a:tabLst>
              <a:defRPr/>
            </a:pPr>
            <a:r>
              <a:rPr kumimoji="0" lang="zh-CN" altLang="zh-CN"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不要把秘密隐藏在代码中</a:t>
            </a:r>
            <a:r>
              <a:rPr kumimoji="0" lang="zh-CN"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，必须使用真正的保护机制来保护敏感信息</a:t>
            </a:r>
            <a:r>
              <a:rPr kumimoji="0" lang="zh-CN" altLang="zh-CN" sz="2400" b="0" i="0" u="none" strike="noStrike" kern="120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。应</a:t>
            </a:r>
            <a:r>
              <a:rPr kumimoji="0" lang="zh-CN"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该始终假设</a:t>
            </a:r>
            <a:r>
              <a:rPr kumimoji="0" lang="zh-CN" altLang="en-US"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攻击者能够获得关于你系统的足够的信息并且发起攻击</a:t>
            </a:r>
            <a:r>
              <a:rPr kumimoji="0" lang="zh-CN" altLang="zh-CN" sz="2400" b="0" i="0" u="none" strike="noStrike" kern="120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en-US" altLang="zh-CN" sz="2400" b="0" i="0" u="none" strike="noStrike" kern="120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55600" marR="0" lvl="0" indent="-342900" algn="l" defTabSz="914400" rtl="0" eaLnBrk="1" fontAlgn="base" latinLnBrk="0" hangingPunct="1">
              <a:lnSpc>
                <a:spcPct val="150000"/>
              </a:lnSpc>
              <a:spcBef>
                <a:spcPct val="0"/>
              </a:spcBef>
              <a:spcAft>
                <a:spcPct val="0"/>
              </a:spcAft>
              <a:buClr>
                <a:schemeClr val="accent2">
                  <a:lumMod val="75000"/>
                </a:schemeClr>
              </a:buClr>
              <a:buSzTx/>
              <a:buFont typeface="Wingdings" panose="05000000000000000000" pitchFamily="2" charset="2"/>
              <a:buChar char="l"/>
              <a:tabLst>
                <a:tab pos="353695" algn="l"/>
              </a:tabLst>
              <a:defRPr/>
            </a:pPr>
            <a:r>
              <a:rPr kumimoji="0" lang="zh-CN" altLang="en-US" sz="2400" b="0" i="0" u="none" strike="noStrike" kern="120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例</a:t>
            </a:r>
            <a:r>
              <a:rPr kumimoji="0" lang="zh-CN" altLang="en-US"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如：</a:t>
            </a:r>
            <a:r>
              <a:rPr kumimoji="0" lang="zh-CN"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汇编和反编译器等可以帮助攻击者获得可能存储在二进制文件中的敏感信息</a:t>
            </a:r>
            <a:r>
              <a:rPr kumimoji="0" lang="zh-CN" altLang="zh-CN" sz="2400" b="0" i="0" u="none" strike="noStrike" kern="120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en-US" altLang="zh-CN" sz="2400" b="0" i="0" u="none" strike="noStrike" kern="120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55600" marR="0" lvl="0" indent="-342900" algn="l" defTabSz="914400" rtl="0" eaLnBrk="1" fontAlgn="base" latinLnBrk="0" hangingPunct="1">
              <a:lnSpc>
                <a:spcPct val="150000"/>
              </a:lnSpc>
              <a:spcBef>
                <a:spcPct val="0"/>
              </a:spcBef>
              <a:spcAft>
                <a:spcPct val="0"/>
              </a:spcAft>
              <a:buClr>
                <a:schemeClr val="accent2">
                  <a:lumMod val="75000"/>
                </a:schemeClr>
              </a:buClr>
              <a:buSzTx/>
              <a:buFont typeface="Wingdings" panose="05000000000000000000" pitchFamily="2" charset="2"/>
              <a:buChar char="l"/>
              <a:tabLst>
                <a:tab pos="353695" algn="l"/>
              </a:tabLst>
              <a:defRPr/>
            </a:pPr>
            <a:endParaRPr kumimoji="0" lang="en-US" altLang="zh-CN" sz="2400" b="0" i="0" u="none" strike="noStrike" kern="120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55600" marR="0" lvl="0" indent="-342900" algn="l" defTabSz="914400" rtl="0" eaLnBrk="1" fontAlgn="base" latinLnBrk="0" hangingPunct="1">
              <a:lnSpc>
                <a:spcPct val="150000"/>
              </a:lnSpc>
              <a:spcBef>
                <a:spcPct val="0"/>
              </a:spcBef>
              <a:spcAft>
                <a:spcPct val="0"/>
              </a:spcAft>
              <a:buClr>
                <a:schemeClr val="accent2">
                  <a:lumMod val="75000"/>
                </a:schemeClr>
              </a:buClr>
              <a:buSzTx/>
              <a:buFont typeface="Wingdings" panose="05000000000000000000" pitchFamily="2" charset="2"/>
              <a:buChar char="l"/>
              <a:tabLst>
                <a:tab pos="353695" algn="l"/>
              </a:tabLst>
              <a:defRPr/>
            </a:pPr>
            <a:endParaRPr kumimoji="0" lang="zh-CN"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55600" marR="0" lvl="0" indent="-342900" algn="l" defTabSz="914400" rtl="0" eaLnBrk="1" fontAlgn="base" latinLnBrk="0" hangingPunct="1">
              <a:lnSpc>
                <a:spcPct val="150000"/>
              </a:lnSpc>
              <a:spcBef>
                <a:spcPts val="215"/>
              </a:spcBef>
              <a:spcAft>
                <a:spcPct val="0"/>
              </a:spcAft>
              <a:buClr>
                <a:schemeClr val="accent2">
                  <a:lumMod val="75000"/>
                </a:schemeClr>
              </a:buClr>
              <a:buSzTx/>
              <a:buFont typeface="Wingdings" panose="05000000000000000000" pitchFamily="2" charset="2"/>
              <a:buChar char="l"/>
              <a:tabLst>
                <a:tab pos="353695" algn="l"/>
              </a:tabLst>
              <a:defRPr/>
            </a:pPr>
            <a:r>
              <a:rPr kumimoji="0" lang="zh-CN" altLang="en-US"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必须</a:t>
            </a:r>
            <a:r>
              <a:rPr kumimoji="0" lang="zh-CN"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使用真正的保护机制来保护敏感信息。</a:t>
            </a:r>
            <a:endParaRPr kumimoji="0" lang="zh-CN"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55600" marR="0" lvl="0" indent="-342900" algn="l" defTabSz="914400" rtl="0" eaLnBrk="1" fontAlgn="base" latinLnBrk="0" hangingPunct="1">
              <a:lnSpc>
                <a:spcPct val="150000"/>
              </a:lnSpc>
              <a:spcBef>
                <a:spcPts val="215"/>
              </a:spcBef>
              <a:spcAft>
                <a:spcPct val="0"/>
              </a:spcAft>
              <a:buClr>
                <a:schemeClr val="accent2">
                  <a:lumMod val="75000"/>
                </a:schemeClr>
              </a:buClr>
              <a:buSzTx/>
              <a:buFont typeface="Wingdings" panose="05000000000000000000" pitchFamily="2" charset="2"/>
              <a:buChar char="l"/>
              <a:tabLst>
                <a:tab pos="353695" algn="l"/>
              </a:tabLst>
              <a:defRPr/>
            </a:pPr>
            <a:r>
              <a:rPr kumimoji="0" lang="en-US"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用户唯一的要做的是保护密钥不会丢失或被窃取。</a:t>
            </a:r>
            <a:endParaRPr kumimoji="0" lang="en-US"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2" name="Rectangle 5"/>
          <p:cNvSpPr>
            <a:spLocks noChangeArrowheads="1"/>
          </p:cNvSpPr>
          <p:nvPr/>
        </p:nvSpPr>
        <p:spPr bwMode="auto">
          <a:xfrm>
            <a:off x="1835468" y="4148773"/>
            <a:ext cx="5391150" cy="923925"/>
          </a:xfrm>
          <a:prstGeom prst="rect">
            <a:avLst/>
          </a:prstGeom>
        </p:spPr>
        <p:style>
          <a:lnRef idx="2">
            <a:schemeClr val="accent1"/>
          </a:lnRef>
          <a:fillRef idx="1">
            <a:schemeClr val="lt1"/>
          </a:fillRef>
          <a:effectRef idx="0">
            <a:schemeClr val="accent1"/>
          </a:effectRef>
          <a:fontRef idx="minor">
            <a:schemeClr val="dk1"/>
          </a:fontRef>
        </p:style>
        <p:txBody>
          <a:bodyPr wrap="none" tIns="0" bIns="0" anchor="ct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Courier New" panose="02070309020205020404" pitchFamily="49" charset="0"/>
                <a:ea typeface="+mn-ea"/>
                <a:cs typeface="Courier New" panose="02070309020205020404" pitchFamily="49" charset="0"/>
              </a:rPr>
              <a:t>1 function </a:t>
            </a:r>
            <a:r>
              <a:rPr kumimoji="0" lang="en-US" altLang="zh-CN" sz="1200" b="0" i="0" u="none" strike="noStrike" kern="1200" cap="none" spc="0" normalizeH="0" baseline="0" noProof="0" dirty="0" err="1">
                <a:ln>
                  <a:noFill/>
                </a:ln>
                <a:solidFill>
                  <a:schemeClr val="tx1"/>
                </a:solidFill>
                <a:effectLst/>
                <a:uLnTx/>
                <a:uFillTx/>
                <a:latin typeface="Courier New" panose="02070309020205020404" pitchFamily="49" charset="0"/>
                <a:ea typeface="+mn-ea"/>
                <a:cs typeface="Courier New" panose="02070309020205020404" pitchFamily="49" charset="0"/>
              </a:rPr>
              <a:t>connectionDatabase</a:t>
            </a:r>
            <a:r>
              <a:rPr kumimoji="0" lang="en-US" altLang="zh-CN" sz="1200" b="0" i="0" u="none" strike="noStrike" kern="1200" cap="none" spc="0" normalizeH="0" baseline="0" noProof="0" dirty="0">
                <a:ln>
                  <a:noFill/>
                </a:ln>
                <a:solidFill>
                  <a:schemeClr val="tx1"/>
                </a:solidFill>
                <a:effectLst/>
                <a:uLnTx/>
                <a:uFillTx/>
                <a:latin typeface="Courier New" panose="02070309020205020404" pitchFamily="49" charset="0"/>
                <a:ea typeface="+mn-ea"/>
                <a:cs typeface="Courier New" panose="02070309020205020404" pitchFamily="49" charset="0"/>
              </a:rPr>
              <a:t>(</a:t>
            </a:r>
            <a:r>
              <a:rPr kumimoji="0" lang="en-US" altLang="zh-CN" sz="1200" b="0" i="0" u="none" strike="noStrike" kern="1200" cap="none" spc="0" normalizeH="0" baseline="0" noProof="0" dirty="0" err="1">
                <a:ln>
                  <a:noFill/>
                </a:ln>
                <a:solidFill>
                  <a:schemeClr val="tx1"/>
                </a:solidFill>
                <a:effectLst/>
                <a:uLnTx/>
                <a:uFillTx/>
                <a:latin typeface="Courier New" panose="02070309020205020404" pitchFamily="49" charset="0"/>
                <a:ea typeface="+mn-ea"/>
                <a:cs typeface="Courier New" panose="02070309020205020404" pitchFamily="49" charset="0"/>
              </a:rPr>
              <a:t>url</a:t>
            </a:r>
            <a:r>
              <a:rPr kumimoji="0" lang="en-US" altLang="zh-CN" sz="1200" b="0" i="0" u="none" strike="noStrike" kern="1200" cap="none" spc="0" normalizeH="0" baseline="0" noProof="0" dirty="0">
                <a:ln>
                  <a:noFill/>
                </a:ln>
                <a:solidFill>
                  <a:schemeClr val="tx1"/>
                </a:solidFill>
                <a:effectLst/>
                <a:uLnTx/>
                <a:uFillTx/>
                <a:latin typeface="Courier New" panose="02070309020205020404" pitchFamily="49" charset="0"/>
                <a:ea typeface="+mn-ea"/>
                <a:cs typeface="Courier New" panose="02070309020205020404" pitchFamily="49" charset="0"/>
              </a:rPr>
              <a:t>, </a:t>
            </a:r>
            <a:r>
              <a:rPr kumimoji="0" lang="en-US" altLang="zh-CN" sz="1200" b="0" i="0" u="none" strike="noStrike" kern="1200" cap="none" spc="0" normalizeH="0" baseline="0" noProof="0" dirty="0" err="1">
                <a:ln>
                  <a:noFill/>
                </a:ln>
                <a:solidFill>
                  <a:schemeClr val="tx1"/>
                </a:solidFill>
                <a:effectLst/>
                <a:uLnTx/>
                <a:uFillTx/>
                <a:latin typeface="Courier New" panose="02070309020205020404" pitchFamily="49" charset="0"/>
                <a:ea typeface="+mn-ea"/>
                <a:cs typeface="Courier New" panose="02070309020205020404" pitchFamily="49" charset="0"/>
              </a:rPr>
              <a:t>userName</a:t>
            </a:r>
            <a:r>
              <a:rPr kumimoji="0" lang="en-US" altLang="zh-CN" sz="1200" b="0" i="0" u="none" strike="noStrike" kern="1200" cap="none" spc="0" normalizeH="0" baseline="0" noProof="0" dirty="0">
                <a:ln>
                  <a:noFill/>
                </a:ln>
                <a:solidFill>
                  <a:schemeClr val="tx1"/>
                </a:solidFill>
                <a:effectLst/>
                <a:uLnTx/>
                <a:uFillTx/>
                <a:latin typeface="Courier New" panose="02070309020205020404" pitchFamily="49" charset="0"/>
                <a:ea typeface="+mn-ea"/>
                <a:cs typeface="Courier New" panose="02070309020205020404" pitchFamily="49" charset="0"/>
              </a:rPr>
              <a:t>, password) {</a:t>
            </a:r>
            <a:endParaRPr kumimoji="0" lang="en-US" altLang="zh-CN" sz="1200" b="0" i="0" u="none" strike="noStrike" kern="1200" cap="none" spc="0" normalizeH="0" baseline="0" noProof="0" dirty="0">
              <a:ln>
                <a:noFill/>
              </a:ln>
              <a:solidFill>
                <a:schemeClr val="tx1"/>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Courier New" panose="02070309020205020404" pitchFamily="49" charset="0"/>
                <a:ea typeface="+mn-ea"/>
                <a:cs typeface="Courier New" panose="02070309020205020404" pitchFamily="49" charset="0"/>
              </a:rPr>
              <a:t>2     // ....</a:t>
            </a:r>
            <a:endParaRPr kumimoji="0" lang="en-US" altLang="zh-CN" sz="1200" b="0" i="0" u="none" strike="noStrike" kern="1200" cap="none" spc="0" normalizeH="0" baseline="0" noProof="0" dirty="0">
              <a:ln>
                <a:noFill/>
              </a:ln>
              <a:solidFill>
                <a:schemeClr val="tx1"/>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Courier New" panose="02070309020205020404" pitchFamily="49" charset="0"/>
                <a:ea typeface="+mn-ea"/>
                <a:cs typeface="Courier New" panose="02070309020205020404" pitchFamily="49" charset="0"/>
              </a:rPr>
              <a:t>3 }</a:t>
            </a:r>
            <a:endParaRPr kumimoji="0" lang="en-US" altLang="zh-CN" sz="1200" b="0" i="0" u="none" strike="noStrike" kern="1200" cap="none" spc="0" normalizeH="0" baseline="0" noProof="0" dirty="0">
              <a:ln>
                <a:noFill/>
              </a:ln>
              <a:solidFill>
                <a:schemeClr val="tx1"/>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Courier New" panose="02070309020205020404" pitchFamily="49" charset="0"/>
                <a:ea typeface="+mn-ea"/>
                <a:cs typeface="Courier New" panose="02070309020205020404" pitchFamily="49" charset="0"/>
              </a:rPr>
              <a:t>4 </a:t>
            </a:r>
            <a:endParaRPr kumimoji="0" lang="en-US" altLang="zh-CN" sz="1200" b="0" i="0" u="none" strike="noStrike" kern="1200" cap="none" spc="0" normalizeH="0" baseline="0" noProof="0" dirty="0">
              <a:ln>
                <a:noFill/>
              </a:ln>
              <a:solidFill>
                <a:schemeClr val="tx1"/>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Courier New" panose="02070309020205020404" pitchFamily="49" charset="0"/>
                <a:ea typeface="+mn-ea"/>
                <a:cs typeface="Courier New" panose="02070309020205020404" pitchFamily="49" charset="0"/>
              </a:rPr>
              <a:t>5 </a:t>
            </a:r>
            <a:r>
              <a:rPr kumimoji="0" lang="en-US" altLang="zh-CN" sz="1200" b="0" i="0" u="none" strike="noStrike" kern="1200" cap="none" spc="0" normalizeH="0" baseline="0" noProof="0" dirty="0" err="1">
                <a:ln>
                  <a:noFill/>
                </a:ln>
                <a:solidFill>
                  <a:schemeClr val="tx1"/>
                </a:solidFill>
                <a:effectLst/>
                <a:uLnTx/>
                <a:uFillTx/>
                <a:latin typeface="Courier New" panose="02070309020205020404" pitchFamily="49" charset="0"/>
                <a:ea typeface="+mn-ea"/>
                <a:cs typeface="Courier New" panose="02070309020205020404" pitchFamily="49" charset="0"/>
              </a:rPr>
              <a:t>connectionDatabase</a:t>
            </a:r>
            <a:r>
              <a:rPr kumimoji="0" lang="en-US" altLang="zh-CN" sz="1200" b="0" i="0" u="none" strike="noStrike" kern="1200" cap="none" spc="0" normalizeH="0" baseline="0" noProof="0" dirty="0">
                <a:ln>
                  <a:noFill/>
                </a:ln>
                <a:solidFill>
                  <a:schemeClr val="tx1"/>
                </a:solidFill>
                <a:effectLst/>
                <a:uLnTx/>
                <a:uFillTx/>
                <a:latin typeface="Courier New" panose="02070309020205020404" pitchFamily="49" charset="0"/>
                <a:ea typeface="+mn-ea"/>
                <a:cs typeface="Courier New" panose="02070309020205020404" pitchFamily="49" charset="0"/>
              </a:rPr>
              <a:t>('./</a:t>
            </a:r>
            <a:r>
              <a:rPr kumimoji="0" lang="en-US" altLang="zh-CN" sz="1200" b="0" i="0" u="none" strike="noStrike" kern="1200" cap="none" spc="0" normalizeH="0" baseline="0" noProof="0" dirty="0" err="1">
                <a:ln>
                  <a:noFill/>
                </a:ln>
                <a:solidFill>
                  <a:schemeClr val="tx1"/>
                </a:solidFill>
                <a:effectLst/>
                <a:uLnTx/>
                <a:uFillTx/>
                <a:latin typeface="Courier New" panose="02070309020205020404" pitchFamily="49" charset="0"/>
                <a:ea typeface="+mn-ea"/>
                <a:cs typeface="Courier New" panose="02070309020205020404" pitchFamily="49" charset="0"/>
              </a:rPr>
              <a:t>api</a:t>
            </a:r>
            <a:r>
              <a:rPr kumimoji="0" lang="en-US" altLang="zh-CN" sz="1200" b="0" i="0" u="none" strike="noStrike" kern="1200" cap="none" spc="0" normalizeH="0" baseline="0" noProof="0" dirty="0">
                <a:ln>
                  <a:noFill/>
                </a:ln>
                <a:solidFill>
                  <a:schemeClr val="tx1"/>
                </a:solidFill>
                <a:effectLst/>
                <a:uLnTx/>
                <a:uFillTx/>
                <a:latin typeface="Courier New" panose="02070309020205020404" pitchFamily="49" charset="0"/>
                <a:ea typeface="+mn-ea"/>
                <a:cs typeface="Courier New" panose="02070309020205020404" pitchFamily="49" charset="0"/>
              </a:rPr>
              <a:t>', '</a:t>
            </a:r>
            <a:r>
              <a:rPr kumimoji="0" lang="en-US" altLang="zh-CN" sz="1200" b="0" i="0" u="none" strike="noStrike" kern="1200" cap="none" spc="0" normalizeH="0" baseline="0" noProof="0" dirty="0" err="1">
                <a:ln>
                  <a:noFill/>
                </a:ln>
                <a:solidFill>
                  <a:schemeClr val="tx1"/>
                </a:solidFill>
                <a:effectLst/>
                <a:uLnTx/>
                <a:uFillTx/>
                <a:latin typeface="Courier New" panose="02070309020205020404" pitchFamily="49" charset="0"/>
                <a:ea typeface="+mn-ea"/>
                <a:cs typeface="Courier New" panose="02070309020205020404" pitchFamily="49" charset="0"/>
              </a:rPr>
              <a:t>zhangsan</a:t>
            </a:r>
            <a:r>
              <a:rPr kumimoji="0" lang="en-US" altLang="zh-CN" sz="1200" b="0" i="0" u="none" strike="noStrike" kern="1200" cap="none" spc="0" normalizeH="0" baseline="0" noProof="0" dirty="0">
                <a:ln>
                  <a:noFill/>
                </a:ln>
                <a:solidFill>
                  <a:schemeClr val="tx1"/>
                </a:solidFill>
                <a:effectLst/>
                <a:uLnTx/>
                <a:uFillTx/>
                <a:latin typeface="Courier New" panose="02070309020205020404" pitchFamily="49" charset="0"/>
                <a:ea typeface="+mn-ea"/>
                <a:cs typeface="Courier New" panose="02070309020205020404" pitchFamily="49" charset="0"/>
              </a:rPr>
              <a:t>', '1234567');</a:t>
            </a:r>
            <a:endParaRPr kumimoji="0" lang="zh-CN" altLang="zh-CN" sz="4000" b="1"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标题 1"/>
          <p:cNvSpPr>
            <a:spLocks noGrp="1" noChangeArrowheads="1"/>
          </p:cNvSpPr>
          <p:nvPr>
            <p:ph type="title"/>
          </p:nvPr>
        </p:nvSpPr>
        <p:spPr/>
        <p:txBody>
          <a:bodyPr vert="horz" wrap="square" lIns="91440" tIns="45720" rIns="91440" bIns="45720" numCol="1" anchor="ctr" anchorCtr="0" compatLnSpc="1"/>
          <a:lstStyle/>
          <a:p>
            <a:pPr marL="12700" marR="0" lvl="0" indent="0" algn="ctr" defTabSz="914400" rtl="0" eaLnBrk="0" fontAlgn="base" latinLnBrk="0" hangingPunct="0">
              <a:lnSpc>
                <a:spcPct val="100000"/>
              </a:lnSpc>
              <a:spcBef>
                <a:spcPct val="0"/>
              </a:spcBef>
              <a:spcAft>
                <a:spcPct val="0"/>
              </a:spcAft>
              <a:buClrTx/>
              <a:buSzTx/>
              <a:buFontTx/>
              <a:buNone/>
              <a:tabLst>
                <a:tab pos="354965" algn="l"/>
              </a:tabLst>
              <a:defRPr/>
            </a:pPr>
            <a:r>
              <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原则</a:t>
            </a:r>
            <a:r>
              <a:rPr kumimoji="0" lang="en-US" altLang="zh-CN"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10</a:t>
            </a:r>
            <a:r>
              <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：完全仲裁（完全控制）</a:t>
            </a:r>
            <a:endPar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20483"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20484" name="object 27"/>
          <p:cNvSpPr txBox="1"/>
          <p:nvPr/>
        </p:nvSpPr>
        <p:spPr>
          <a:xfrm>
            <a:off x="439738" y="1484313"/>
            <a:ext cx="8039100" cy="4154487"/>
          </a:xfrm>
          <a:prstGeom prst="rect">
            <a:avLst/>
          </a:prstGeom>
          <a:noFill/>
          <a:ln w="9525">
            <a:noFill/>
          </a:ln>
        </p:spPr>
        <p:txBody>
          <a:bodyPr lIns="0" tIns="0" rIns="0" bIns="0">
            <a:spAutoFit/>
          </a:bodyPr>
          <a:p>
            <a:pPr marL="469900" indent="-457200" defTabSz="914400" eaLnBrk="1" hangingPunct="1">
              <a:lnSpc>
                <a:spcPct val="125000"/>
              </a:lnSpc>
              <a:buClr>
                <a:srgbClr val="262699"/>
              </a:buClr>
              <a:buFont typeface="Wingdings" panose="05000000000000000000" pitchFamily="2" charset="2"/>
              <a:buChar char="l"/>
              <a:tabLst>
                <a:tab pos="355600" algn="l"/>
              </a:tabLst>
            </a:pPr>
            <a:r>
              <a:rPr lang="zh-CN" altLang="zh-CN" b="0" dirty="0">
                <a:solidFill>
                  <a:schemeClr val="tx1"/>
                </a:solidFill>
                <a:latin typeface="华文中宋" panose="02010600040101010101" pitchFamily="2" charset="-122"/>
              </a:rPr>
              <a:t>当一个主体试图读取一个对象时，操作系统应该仲裁这个行为。</a:t>
            </a:r>
            <a:endParaRPr lang="en-US" altLang="zh-CN" b="0" dirty="0">
              <a:solidFill>
                <a:schemeClr val="tx1"/>
              </a:solidFill>
              <a:latin typeface="华文中宋" panose="02010600040101010101" pitchFamily="2" charset="-122"/>
            </a:endParaRPr>
          </a:p>
          <a:p>
            <a:pPr marL="469900" indent="-457200" defTabSz="914400" eaLnBrk="1" hangingPunct="1">
              <a:lnSpc>
                <a:spcPct val="125000"/>
              </a:lnSpc>
              <a:buClr>
                <a:srgbClr val="262699"/>
              </a:buClr>
              <a:buFont typeface="Wingdings" panose="05000000000000000000" pitchFamily="2" charset="2"/>
              <a:buChar char="l"/>
              <a:tabLst>
                <a:tab pos="355600" algn="l"/>
              </a:tabLst>
            </a:pPr>
            <a:r>
              <a:rPr lang="zh-CN" altLang="zh-CN" b="0" dirty="0">
                <a:solidFill>
                  <a:schemeClr val="tx1"/>
                </a:solidFill>
                <a:latin typeface="华文中宋" panose="02010600040101010101" pitchFamily="2" charset="-122"/>
              </a:rPr>
              <a:t>首先，决定这个主体能否读这个对象。如果可以，则提供资源。</a:t>
            </a:r>
            <a:r>
              <a:rPr lang="zh-CN" altLang="zh-CN" b="0" dirty="0">
                <a:solidFill>
                  <a:srgbClr val="C00000"/>
                </a:solidFill>
                <a:latin typeface="华文中宋" panose="02010600040101010101" pitchFamily="2" charset="-122"/>
              </a:rPr>
              <a:t>如果这个主体试图再次读这个对象，系统应该再次检查是否能再次读这个对象。</a:t>
            </a:r>
            <a:endParaRPr lang="en-US" altLang="zh-CN" b="0" dirty="0">
              <a:solidFill>
                <a:schemeClr val="tx1"/>
              </a:solidFill>
              <a:latin typeface="华文中宋" panose="02010600040101010101" pitchFamily="2" charset="-122"/>
            </a:endParaRPr>
          </a:p>
          <a:p>
            <a:pPr marL="469900" indent="-457200" defTabSz="914400" eaLnBrk="1" hangingPunct="1">
              <a:lnSpc>
                <a:spcPct val="125000"/>
              </a:lnSpc>
              <a:buClr>
                <a:srgbClr val="262699"/>
              </a:buClr>
              <a:buFont typeface="Wingdings" panose="05000000000000000000" pitchFamily="2" charset="2"/>
              <a:buChar char="l"/>
              <a:tabLst>
                <a:tab pos="355600" algn="l"/>
              </a:tabLst>
            </a:pPr>
            <a:r>
              <a:rPr lang="zh-CN" altLang="zh-CN" b="0" dirty="0">
                <a:solidFill>
                  <a:schemeClr val="tx1"/>
                </a:solidFill>
                <a:latin typeface="华文中宋" panose="02010600040101010101" pitchFamily="2" charset="-122"/>
              </a:rPr>
              <a:t>大多数系统不会做第二次检查。它们可能把第一次检查的结果放入缓存，第二次访问时基于缓存中的结果。</a:t>
            </a:r>
            <a:endParaRPr lang="zh-CN" altLang="zh-CN" b="0" dirty="0">
              <a:solidFill>
                <a:schemeClr val="tx1"/>
              </a:solidFill>
              <a:latin typeface="华文中宋" panose="02010600040101010101" pitchFamily="2" charset="-122"/>
            </a:endParaRPr>
          </a:p>
          <a:p>
            <a:pPr marL="469900" indent="-457200" defTabSz="914400" eaLnBrk="1" hangingPunct="1">
              <a:lnSpc>
                <a:spcPct val="125000"/>
              </a:lnSpc>
              <a:buClr>
                <a:srgbClr val="262699"/>
              </a:buClr>
              <a:buFont typeface="Wingdings" panose="05000000000000000000" pitchFamily="2" charset="2"/>
              <a:buChar char="l"/>
              <a:tabLst>
                <a:tab pos="355600" algn="l"/>
              </a:tabLst>
            </a:pPr>
            <a:r>
              <a:rPr lang="zh-CN" altLang="zh-CN" b="0" dirty="0">
                <a:solidFill>
                  <a:schemeClr val="tx1"/>
                </a:solidFill>
                <a:latin typeface="华文中宋" panose="02010600040101010101" pitchFamily="2" charset="-122"/>
              </a:rPr>
              <a:t>短时间的保存权限信息可以提高系统性能，但是可能产生越权访问的代价。完全仲裁和使用性形成制约关系。</a:t>
            </a:r>
            <a:endParaRPr lang="zh-CN" altLang="zh-CN" b="0" dirty="0">
              <a:solidFill>
                <a:schemeClr val="tx1"/>
              </a:solidFill>
              <a:latin typeface="华文中宋" panose="02010600040101010101" pitchFamily="2" charset="-122"/>
            </a:endParaRPr>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标题 1"/>
          <p:cNvSpPr>
            <a:spLocks noGrp="1" noChangeArrowheads="1"/>
          </p:cNvSpPr>
          <p:nvPr>
            <p:ph type="title"/>
          </p:nvPr>
        </p:nvSpPr>
        <p:spPr/>
        <p:txBody>
          <a:bodyPr vert="horz" wrap="square" lIns="91440" tIns="45720" rIns="91440" bIns="45720" numCol="1" anchor="ctr" anchorCtr="0" compatLnSpc="1"/>
          <a:lstStyle/>
          <a:p>
            <a:pPr marL="12700" marR="0" lvl="0" indent="0" algn="ctr" defTabSz="914400" rtl="0" eaLnBrk="0" fontAlgn="base" latinLnBrk="0" hangingPunct="0">
              <a:lnSpc>
                <a:spcPct val="100000"/>
              </a:lnSpc>
              <a:spcBef>
                <a:spcPct val="0"/>
              </a:spcBef>
              <a:spcAft>
                <a:spcPct val="0"/>
              </a:spcAft>
              <a:buClrTx/>
              <a:buSzTx/>
              <a:buFontTx/>
              <a:buNone/>
              <a:tabLst>
                <a:tab pos="354965" algn="l"/>
              </a:tabLst>
              <a:defRPr/>
            </a:pPr>
            <a:r>
              <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原则</a:t>
            </a:r>
            <a:r>
              <a:rPr kumimoji="0" lang="en-US" altLang="zh-CN"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11</a:t>
            </a:r>
            <a:r>
              <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：心理接受能力</a:t>
            </a:r>
            <a:endPar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21507"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46085" name="object 28"/>
          <p:cNvSpPr txBox="1">
            <a:spLocks noChangeArrowheads="1"/>
          </p:cNvSpPr>
          <p:nvPr/>
        </p:nvSpPr>
        <p:spPr bwMode="auto">
          <a:xfrm>
            <a:off x="590550" y="1412875"/>
            <a:ext cx="8085138" cy="3324225"/>
          </a:xfrm>
          <a:prstGeom prst="rect">
            <a:avLst/>
          </a:prstGeom>
          <a:noFill/>
          <a:ln>
            <a:noFill/>
          </a:ln>
        </p:spPr>
        <p:txBody>
          <a:bodyPr lIns="0" tIns="0" rIns="0" bIns="0">
            <a:spAutoFit/>
          </a:bodyPr>
          <a:lstStyle>
            <a:lvl1pPr marL="355600" indent="-342900">
              <a:tabLst>
                <a:tab pos="353695" algn="l"/>
              </a:tabLst>
              <a:defRPr sz="2400" b="1">
                <a:solidFill>
                  <a:schemeClr val="accent2"/>
                </a:solidFill>
                <a:latin typeface="华文中宋" panose="02010600040101010101" pitchFamily="2" charset="-122"/>
                <a:ea typeface="华文中宋" panose="02010600040101010101" pitchFamily="2" charset="-122"/>
              </a:defRPr>
            </a:lvl1pPr>
            <a:lvl2pPr marL="812800" indent="-342900">
              <a:tabLst>
                <a:tab pos="353695" algn="l"/>
              </a:tabLst>
              <a:defRPr sz="2400" b="1">
                <a:solidFill>
                  <a:schemeClr val="accent2"/>
                </a:solidFill>
                <a:latin typeface="华文中宋" panose="02010600040101010101" pitchFamily="2" charset="-122"/>
                <a:ea typeface="华文中宋" panose="02010600040101010101" pitchFamily="2" charset="-122"/>
              </a:defRPr>
            </a:lvl2pPr>
            <a:lvl3pPr marL="1143000" indent="-228600">
              <a:tabLst>
                <a:tab pos="353695" algn="l"/>
              </a:tabLst>
              <a:defRPr sz="2400" b="1">
                <a:solidFill>
                  <a:schemeClr val="accent2"/>
                </a:solidFill>
                <a:latin typeface="华文中宋" panose="02010600040101010101" pitchFamily="2" charset="-122"/>
                <a:ea typeface="华文中宋" panose="02010600040101010101" pitchFamily="2" charset="-122"/>
              </a:defRPr>
            </a:lvl3pPr>
            <a:lvl4pPr marL="1600200" indent="-228600">
              <a:tabLst>
                <a:tab pos="353695" algn="l"/>
              </a:tabLst>
              <a:defRPr sz="2400" b="1">
                <a:solidFill>
                  <a:schemeClr val="accent2"/>
                </a:solidFill>
                <a:latin typeface="华文中宋" panose="02010600040101010101" pitchFamily="2" charset="-122"/>
                <a:ea typeface="华文中宋" panose="02010600040101010101" pitchFamily="2" charset="-122"/>
              </a:defRPr>
            </a:lvl4pPr>
            <a:lvl5pPr marL="2057400" indent="-228600">
              <a:tabLst>
                <a:tab pos="353695" algn="l"/>
              </a:tabLst>
              <a:defRPr sz="2400" b="1">
                <a:solidFill>
                  <a:schemeClr val="accent2"/>
                </a:solidFill>
                <a:latin typeface="华文中宋" panose="02010600040101010101" pitchFamily="2" charset="-122"/>
                <a:ea typeface="华文中宋" panose="02010600040101010101" pitchFamily="2" charset="-122"/>
              </a:defRPr>
            </a:lvl5pPr>
            <a:lvl6pPr marL="2514600" indent="-228600" eaLnBrk="0" fontAlgn="base" hangingPunct="0">
              <a:spcBef>
                <a:spcPct val="0"/>
              </a:spcBef>
              <a:spcAft>
                <a:spcPct val="0"/>
              </a:spcAft>
              <a:tabLst>
                <a:tab pos="353695" algn="l"/>
              </a:tabLst>
              <a:defRPr sz="2400" b="1">
                <a:solidFill>
                  <a:schemeClr val="accent2"/>
                </a:solidFill>
                <a:latin typeface="华文中宋" panose="02010600040101010101" pitchFamily="2" charset="-122"/>
                <a:ea typeface="华文中宋" panose="02010600040101010101" pitchFamily="2" charset="-122"/>
              </a:defRPr>
            </a:lvl6pPr>
            <a:lvl7pPr marL="2971800" indent="-228600" eaLnBrk="0" fontAlgn="base" hangingPunct="0">
              <a:spcBef>
                <a:spcPct val="0"/>
              </a:spcBef>
              <a:spcAft>
                <a:spcPct val="0"/>
              </a:spcAft>
              <a:tabLst>
                <a:tab pos="353695" algn="l"/>
              </a:tabLst>
              <a:defRPr sz="2400" b="1">
                <a:solidFill>
                  <a:schemeClr val="accent2"/>
                </a:solidFill>
                <a:latin typeface="华文中宋" panose="02010600040101010101" pitchFamily="2" charset="-122"/>
                <a:ea typeface="华文中宋" panose="02010600040101010101" pitchFamily="2" charset="-122"/>
              </a:defRPr>
            </a:lvl7pPr>
            <a:lvl8pPr marL="3429000" indent="-228600" eaLnBrk="0" fontAlgn="base" hangingPunct="0">
              <a:spcBef>
                <a:spcPct val="0"/>
              </a:spcBef>
              <a:spcAft>
                <a:spcPct val="0"/>
              </a:spcAft>
              <a:tabLst>
                <a:tab pos="353695" algn="l"/>
              </a:tabLst>
              <a:defRPr sz="2400" b="1">
                <a:solidFill>
                  <a:schemeClr val="accent2"/>
                </a:solidFill>
                <a:latin typeface="华文中宋" panose="02010600040101010101" pitchFamily="2" charset="-122"/>
                <a:ea typeface="华文中宋" panose="02010600040101010101" pitchFamily="2" charset="-122"/>
              </a:defRPr>
            </a:lvl8pPr>
            <a:lvl9pPr marL="3886200" indent="-228600" eaLnBrk="0" fontAlgn="base" hangingPunct="0">
              <a:spcBef>
                <a:spcPct val="0"/>
              </a:spcBef>
              <a:spcAft>
                <a:spcPct val="0"/>
              </a:spcAft>
              <a:tabLst>
                <a:tab pos="353695" algn="l"/>
              </a:tabLst>
              <a:defRPr sz="2400" b="1">
                <a:solidFill>
                  <a:schemeClr val="accent2"/>
                </a:solidFill>
                <a:latin typeface="华文中宋" panose="02010600040101010101" pitchFamily="2" charset="-122"/>
                <a:ea typeface="华文中宋" panose="02010600040101010101" pitchFamily="2" charset="-122"/>
              </a:defRPr>
            </a:lvl9pPr>
          </a:lstStyle>
          <a:p>
            <a:pPr marL="355600" marR="0" lvl="0" indent="-342900" algn="l" defTabSz="914400" rtl="0" eaLnBrk="1" fontAlgn="base" latinLnBrk="0" hangingPunct="1">
              <a:lnSpc>
                <a:spcPct val="150000"/>
              </a:lnSpc>
              <a:spcBef>
                <a:spcPct val="0"/>
              </a:spcBef>
              <a:spcAft>
                <a:spcPct val="0"/>
              </a:spcAft>
              <a:buClr>
                <a:schemeClr val="accent2">
                  <a:lumMod val="75000"/>
                </a:schemeClr>
              </a:buClr>
              <a:buSzTx/>
              <a:buFont typeface="Wingdings" panose="05000000000000000000" pitchFamily="2" charset="2"/>
              <a:buChar char="l"/>
              <a:tabLst>
                <a:tab pos="353695" algn="l"/>
              </a:tabLst>
              <a:defRPr/>
            </a:pPr>
            <a:r>
              <a:rPr kumimoji="0" lang="zh-CN"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心理接受能力是指，人们应用的软件</a:t>
            </a:r>
            <a:r>
              <a:rPr kumimoji="0" lang="zh-CN" altLang="en-US"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安全</a:t>
            </a:r>
            <a:r>
              <a:rPr kumimoji="0" lang="zh-CN" altLang="zh-CN"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设计应该便于使用，</a:t>
            </a:r>
            <a:r>
              <a:rPr kumimoji="0" lang="zh-CN"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这是一条必不可少的原则。这样，用户会经常正确地使用安全保护机制。当用户想到保护目标机制时，就会不自觉地使用，从而错误就会被减少</a:t>
            </a:r>
            <a:r>
              <a:rPr kumimoji="0" lang="zh-CN" altLang="en-US"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en-US"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55600" marR="0" lvl="0" indent="-342900" algn="l" defTabSz="914400" rtl="0" eaLnBrk="1" fontAlgn="base" latinLnBrk="0" hangingPunct="1">
              <a:lnSpc>
                <a:spcPct val="150000"/>
              </a:lnSpc>
              <a:spcBef>
                <a:spcPct val="0"/>
              </a:spcBef>
              <a:spcAft>
                <a:spcPct val="0"/>
              </a:spcAft>
              <a:buClr>
                <a:schemeClr val="accent2">
                  <a:lumMod val="75000"/>
                </a:schemeClr>
              </a:buClr>
              <a:buSzTx/>
              <a:buFont typeface="Wingdings" panose="05000000000000000000" pitchFamily="2" charset="2"/>
              <a:buChar char="l"/>
              <a:tabLst>
                <a:tab pos="353695" algn="l"/>
              </a:tabLst>
              <a:defRPr/>
            </a:pPr>
            <a:r>
              <a:rPr kumimoji="0" lang="zh-CN" altLang="en-US"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安全机制不应该阻止资源的可访问性，</a:t>
            </a:r>
            <a:r>
              <a:rPr kumimoji="0" lang="zh-CN" altLang="en-US"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如果安全机制阻碍资源的可用性和可访问性，用户可能选择关闭这些机制。</a:t>
            </a:r>
            <a:endParaRPr kumimoji="0" lang="zh-CN"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标题 1"/>
          <p:cNvSpPr>
            <a:spLocks noGrp="1" noChangeArrowheads="1"/>
          </p:cNvSpPr>
          <p:nvPr>
            <p:ph type="title"/>
          </p:nvPr>
        </p:nvSpPr>
        <p:spPr/>
        <p:txBody>
          <a:bodyPr vert="horz" wrap="square" lIns="91440" tIns="45720" rIns="91440" bIns="45720" numCol="1" anchor="ctr" anchorCtr="0" compatLnSpc="1"/>
          <a:lstStyle/>
          <a:p>
            <a:pPr marL="12700" marR="0" lvl="0" indent="0" algn="ctr" defTabSz="914400" rtl="0" eaLnBrk="0" fontAlgn="base" latinLnBrk="0" hangingPunct="0">
              <a:lnSpc>
                <a:spcPct val="100000"/>
              </a:lnSpc>
              <a:spcBef>
                <a:spcPct val="0"/>
              </a:spcBef>
              <a:spcAft>
                <a:spcPct val="0"/>
              </a:spcAft>
              <a:buClrTx/>
              <a:buSzTx/>
              <a:buFontTx/>
              <a:buNone/>
              <a:tabLst>
                <a:tab pos="354965" algn="l"/>
              </a:tabLst>
              <a:defRPr/>
            </a:pPr>
            <a:r>
              <a:rPr kumimoji="0" lang="en-US" altLang="zh-CN" sz="2800" b="1" i="0" u="none" strike="noStrike" kern="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sym typeface="+mn-ea"/>
              </a:rPr>
              <a:t>9.2 </a:t>
            </a:r>
            <a:r>
              <a:rPr kumimoji="0" lang="zh-CN" altLang="en-US" sz="2800" b="1" i="0" u="none" strike="noStrike" kern="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sym typeface="+mn-ea"/>
              </a:rPr>
              <a:t>威胁建模</a:t>
            </a:r>
            <a:b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br>
            <a:endPar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23555"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4" name="内容占位符 1"/>
          <p:cNvSpPr txBox="1"/>
          <p:nvPr/>
        </p:nvSpPr>
        <p:spPr bwMode="auto">
          <a:xfrm>
            <a:off x="455613" y="1214438"/>
            <a:ext cx="8407400" cy="4806950"/>
          </a:xfrm>
          <a:prstGeom prst="rect">
            <a:avLst/>
          </a:prstGeom>
          <a:noFill/>
          <a:ln w="9525">
            <a:noFill/>
            <a:miter lim="800000"/>
          </a:ln>
          <a:effectLst/>
        </p:spPr>
        <p:txBody>
          <a:bodyPr>
            <a:norm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n"/>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70000"/>
              <a:buFont typeface="Wingdings" panose="05000000000000000000"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9pPr>
          </a:lstStyle>
          <a:p>
            <a:pPr marL="0" marR="0" lvl="0" indent="0" algn="ctr" defTabSz="914400" rtl="0" eaLnBrk="0" fontAlgn="base" latinLnBrk="0" hangingPunct="0">
              <a:lnSpc>
                <a:spcPct val="120000"/>
              </a:lnSpc>
              <a:spcBef>
                <a:spcPts val="20"/>
              </a:spcBef>
              <a:spcAft>
                <a:spcPts val="0"/>
              </a:spcAft>
              <a:buClr>
                <a:schemeClr val="accent2">
                  <a:lumMod val="75000"/>
                </a:schemeClr>
              </a:buClr>
              <a:buSzPct val="70000"/>
              <a:buFont typeface="Wingdings" panose="05000000000000000000" pitchFamily="2" charset="2"/>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sym typeface="+mn-ea"/>
              </a:rPr>
              <a:t>9</a:t>
            </a:r>
            <a:r>
              <a:rPr kumimoji="0" lang="en-US" altLang="zh-CN"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sym typeface="+mn-ea"/>
              </a:rPr>
              <a:t>.2.1</a:t>
            </a:r>
            <a:r>
              <a:rPr kumimoji="0" lang="en-US" altLang="zh-CN"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sym typeface="+mn-ea"/>
              </a:rPr>
              <a:t> </a:t>
            </a:r>
            <a:r>
              <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sym typeface="+mn-ea"/>
              </a:rPr>
              <a:t>威胁建模</a:t>
            </a:r>
            <a:endParaRPr kumimoji="0" lang="zh-CN" altLang="en-US" sz="24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a:p>
            <a:pPr marL="342900" marR="0" lvl="0" indent="-342900" algn="l" defTabSz="914400" rtl="0" eaLnBrk="0" fontAlgn="base" latinLnBrk="0" hangingPunct="0">
              <a:lnSpc>
                <a:spcPct val="120000"/>
              </a:lnSpc>
              <a:spcBef>
                <a:spcPts val="20"/>
              </a:spcBef>
              <a:spcAft>
                <a:spcPts val="0"/>
              </a:spcAft>
              <a:buClr>
                <a:schemeClr val="accent2">
                  <a:lumMod val="75000"/>
                </a:schemeClr>
              </a:buClr>
              <a:buSzPct val="70000"/>
              <a:buFont typeface="Wingdings" panose="05000000000000000000" pitchFamily="2" charset="2"/>
              <a:buChar char="l"/>
              <a:defRPr/>
            </a:pPr>
            <a:r>
              <a:rPr kumimoji="0" lang="zh-CN" altLang="en-US"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什么是威胁建模</a:t>
            </a:r>
            <a:r>
              <a:rPr kumimoji="0" lang="en-US"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endParaRPr kumimoji="0" lang="en-US"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88620" marR="0" lvl="0" indent="-342900" algn="l" defTabSz="914400" rtl="0" eaLnBrk="0" fontAlgn="base" latinLnBrk="0" hangingPunct="0">
              <a:lnSpc>
                <a:spcPct val="120000"/>
              </a:lnSpc>
              <a:spcBef>
                <a:spcPts val="20"/>
              </a:spcBef>
              <a:spcAft>
                <a:spcPts val="0"/>
              </a:spcAft>
              <a:buClr>
                <a:schemeClr val="accent2">
                  <a:lumMod val="75000"/>
                </a:schemeClr>
              </a:buClr>
              <a:buSzPct val="70000"/>
              <a:buFont typeface="Wingdings" panose="05000000000000000000" pitchFamily="2" charset="2"/>
              <a:buChar char="l"/>
              <a:defRPr/>
            </a:pPr>
            <a:r>
              <a:rPr kumimoji="0"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威胁建模以一种</a:t>
            </a:r>
            <a:r>
              <a:rPr kumimoji="0"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规范化的方式</a:t>
            </a:r>
            <a:r>
              <a:rPr kumimoji="0"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来考虑应用程序的安全性，是一种基于安全的分析。</a:t>
            </a:r>
            <a:endParaRPr kumimoji="0"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88620" marR="0" lvl="0" indent="-342900" algn="l" defTabSz="914400" rtl="0" eaLnBrk="0" fontAlgn="base" latinLnBrk="0" hangingPunct="0">
              <a:lnSpc>
                <a:spcPct val="120000"/>
              </a:lnSpc>
              <a:spcBef>
                <a:spcPts val="20"/>
              </a:spcBef>
              <a:spcAft>
                <a:spcPts val="0"/>
              </a:spcAft>
              <a:buClr>
                <a:schemeClr val="accent2">
                  <a:lumMod val="75000"/>
                </a:schemeClr>
              </a:buClr>
              <a:buSzPct val="70000"/>
              <a:buFont typeface="Wingdings" panose="05000000000000000000" pitchFamily="2" charset="2"/>
              <a:buChar char="l"/>
              <a:defRPr/>
            </a:pPr>
            <a:r>
              <a:rPr kumimoji="0"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在软件设计阶段</a:t>
            </a:r>
            <a:r>
              <a:rPr kumimoji="0"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充分了解各种安全威胁</a:t>
            </a:r>
            <a:r>
              <a:rPr kumimoji="0"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，有助于人们确定给产品造成的最高安全级别的安全风险是什么,以及攻击是如何表现出来的。</a:t>
            </a:r>
            <a:endParaRPr kumimoji="0"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88620" marR="0" lvl="0" indent="-342900" algn="l" defTabSz="914400" rtl="0" eaLnBrk="0" fontAlgn="base" latinLnBrk="0" hangingPunct="0">
              <a:lnSpc>
                <a:spcPct val="120000"/>
              </a:lnSpc>
              <a:spcBef>
                <a:spcPts val="20"/>
              </a:spcBef>
              <a:spcAft>
                <a:spcPts val="0"/>
              </a:spcAft>
              <a:buClr>
                <a:schemeClr val="accent2">
                  <a:lumMod val="75000"/>
                </a:schemeClr>
              </a:buClr>
              <a:buSzPct val="70000"/>
              <a:buFont typeface="Wingdings" panose="05000000000000000000" pitchFamily="2" charset="2"/>
              <a:buChar char="l"/>
              <a:defRPr/>
            </a:pPr>
            <a:r>
              <a:rPr kumimoji="0"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创建威胁模型使开发人员认识到产品的什么地方最为危险,因而会选择合适的技术来缓和威胁，这样就使得系统更加安全。</a:t>
            </a:r>
            <a:r>
              <a:rPr kumimoji="0" lang="en-US"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endParaRPr kumimoji="0" lang="en-US"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CC00"/>
              </a:buClr>
              <a:buSzPct val="70000"/>
              <a:buFont typeface="Wingdings" panose="05000000000000000000" pitchFamily="2" charset="2"/>
              <a:buChar char="n"/>
              <a:defRPr/>
            </a:pPr>
            <a:endParaRPr kumimoji="0" lang="zh-CN" altLang="en-US" sz="2400" b="0" i="0" u="none" strike="noStrike" kern="0" cap="none" spc="0" normalizeH="0" baseline="0" noProof="0" dirty="0">
              <a:ln>
                <a:noFill/>
              </a:ln>
              <a:solidFill>
                <a:srgbClr val="FFFFFF"/>
              </a:solidFill>
              <a:effectLst/>
              <a:uLnTx/>
              <a:uFillTx/>
              <a:latin typeface="Garamond" panose="02020404030301010803"/>
              <a:ea typeface="+mn-ea"/>
              <a:cs typeface="+mn-cs"/>
            </a:endParaRPr>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标题 1"/>
          <p:cNvSpPr>
            <a:spLocks noGrp="1" noChangeArrowheads="1"/>
          </p:cNvSpPr>
          <p:nvPr>
            <p:ph type="title"/>
          </p:nvPr>
        </p:nvSpPr>
        <p:spPr/>
        <p:txBody>
          <a:bodyPr vert="horz" wrap="square" lIns="91440" tIns="45720" rIns="91440" bIns="45720" numCol="1" anchor="ctr" anchorCtr="0" compatLnSpc="1"/>
          <a:lstStyle/>
          <a:p>
            <a:pPr marL="12700" marR="0" lvl="0" indent="0" algn="ctr" defTabSz="914400" rtl="0" eaLnBrk="0" fontAlgn="base" latinLnBrk="0" hangingPunct="0">
              <a:lnSpc>
                <a:spcPct val="100000"/>
              </a:lnSpc>
              <a:spcBef>
                <a:spcPct val="0"/>
              </a:spcBef>
              <a:spcAft>
                <a:spcPct val="0"/>
              </a:spcAft>
              <a:buClrTx/>
              <a:buSzTx/>
              <a:buFontTx/>
              <a:buNone/>
              <a:tabLst>
                <a:tab pos="354965" algn="l"/>
              </a:tabLst>
              <a:defRPr/>
            </a:pPr>
            <a:r>
              <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威胁建模的主要步骤</a:t>
            </a:r>
            <a:endPar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24579"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6" name="内容占位符 1"/>
          <p:cNvSpPr txBox="1"/>
          <p:nvPr/>
        </p:nvSpPr>
        <p:spPr bwMode="auto">
          <a:xfrm>
            <a:off x="544513" y="1166813"/>
            <a:ext cx="8229600" cy="4524375"/>
          </a:xfrm>
          <a:prstGeom prst="rect">
            <a:avLst/>
          </a:prstGeom>
          <a:noFill/>
          <a:ln w="9525">
            <a:noFill/>
            <a:miter lim="800000"/>
          </a:ln>
          <a:effectLst/>
        </p:spPr>
        <p:txBody>
          <a:bodyPr>
            <a:norm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n"/>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70000"/>
              <a:buFont typeface="Wingdings" panose="05000000000000000000"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9pPr>
          </a:lstStyle>
          <a:p>
            <a:pPr marL="342900" marR="0" lvl="0" indent="-342900" algn="l" defTabSz="914400" rtl="0" eaLnBrk="0" fontAlgn="base" latinLnBrk="0" hangingPunct="0">
              <a:lnSpc>
                <a:spcPct val="100000"/>
              </a:lnSpc>
              <a:spcBef>
                <a:spcPct val="20000"/>
              </a:spcBef>
              <a:spcAft>
                <a:spcPct val="0"/>
              </a:spcAft>
              <a:buClr>
                <a:schemeClr val="accent2">
                  <a:lumMod val="75000"/>
                </a:schemeClr>
              </a:buClr>
              <a:buSzPct val="70000"/>
              <a:buFont typeface="Wingdings" panose="05000000000000000000" pitchFamily="2" charset="2"/>
              <a:buChar char="l"/>
              <a:defRPr/>
            </a:pPr>
            <a:r>
              <a:rPr kumimoji="0"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1) 分解应用程序，软件建模；</a:t>
            </a:r>
            <a:endParaRPr kumimoji="0"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accent2">
                  <a:lumMod val="75000"/>
                </a:schemeClr>
              </a:buClr>
              <a:buSzPct val="70000"/>
              <a:buFont typeface="Wingdings" panose="05000000000000000000" pitchFamily="2" charset="2"/>
              <a:buChar char="l"/>
              <a:defRPr/>
            </a:pPr>
            <a:r>
              <a:rPr kumimoji="0"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2) 确定系统所面临的威胁，威胁建模；</a:t>
            </a:r>
            <a:endParaRPr kumimoji="0"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accent2">
                  <a:lumMod val="75000"/>
                </a:schemeClr>
              </a:buClr>
              <a:buSzPct val="70000"/>
              <a:buFont typeface="Wingdings" panose="05000000000000000000" pitchFamily="2" charset="2"/>
              <a:buChar char="l"/>
              <a:defRPr/>
            </a:pPr>
            <a:r>
              <a:rPr kumimoji="0"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3) 以风险递减的方式给威胁排序，威胁分级；</a:t>
            </a:r>
            <a:endParaRPr kumimoji="0"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accent2">
                  <a:lumMod val="75000"/>
                </a:schemeClr>
              </a:buClr>
              <a:buSzPct val="70000"/>
              <a:buFont typeface="Wingdings" panose="05000000000000000000" pitchFamily="2" charset="2"/>
              <a:buChar char="l"/>
              <a:defRPr/>
            </a:pPr>
            <a:r>
              <a:rPr kumimoji="0"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4) 选择应付威胁的方法，威胁消减。</a:t>
            </a:r>
            <a:endParaRPr kumimoji="0"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CC00"/>
              </a:buClr>
              <a:buSzPct val="70000"/>
              <a:buFont typeface="Wingdings" panose="05000000000000000000" pitchFamily="2" charset="2"/>
              <a:buChar char="n"/>
              <a:defRPr/>
            </a:pPr>
            <a:endParaRPr kumimoji="0" lang="zh-CN" altLang="en-US" sz="2400" b="0" i="0" u="none" strike="noStrike" kern="0" cap="none" spc="0" normalizeH="0" baseline="0" noProof="0" dirty="0">
              <a:ln>
                <a:noFill/>
              </a:ln>
              <a:solidFill>
                <a:srgbClr val="FFFFFF"/>
              </a:solidFill>
              <a:effectLst/>
              <a:uLnTx/>
              <a:uFillTx/>
              <a:latin typeface="Garamond" panose="02020404030301010803"/>
              <a:ea typeface="+mn-ea"/>
              <a:cs typeface="+mn-cs"/>
            </a:endParaRPr>
          </a:p>
        </p:txBody>
      </p:sp>
      <p:graphicFrame>
        <p:nvGraphicFramePr>
          <p:cNvPr id="15" name="图示 15"/>
          <p:cNvGraphicFramePr/>
          <p:nvPr/>
        </p:nvGraphicFramePr>
        <p:xfrm>
          <a:off x="2611754" y="3196590"/>
          <a:ext cx="4095750" cy="295656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标题 1"/>
          <p:cNvSpPr>
            <a:spLocks noGrp="1" noChangeArrowheads="1"/>
          </p:cNvSpPr>
          <p:nvPr>
            <p:ph type="title"/>
          </p:nvPr>
        </p:nvSpPr>
        <p:spPr/>
        <p:txBody>
          <a:bodyPr vert="horz" wrap="square" lIns="91440" tIns="45720" rIns="91440" bIns="45720" numCol="1" anchor="ctr" anchorCtr="0" compatLnSpc="1"/>
          <a:lstStyle/>
          <a:p>
            <a:pPr marL="12700" marR="0" lvl="0" indent="0" algn="ctr" defTabSz="914400" rtl="0" eaLnBrk="0" fontAlgn="base" latinLnBrk="0" hangingPunct="0">
              <a:lnSpc>
                <a:spcPct val="100000"/>
              </a:lnSpc>
              <a:spcBef>
                <a:spcPct val="0"/>
              </a:spcBef>
              <a:spcAft>
                <a:spcPct val="0"/>
              </a:spcAft>
              <a:buClrTx/>
              <a:buSzTx/>
              <a:buFontTx/>
              <a:buNone/>
              <a:tabLst>
                <a:tab pos="354965" algn="l"/>
              </a:tabLst>
              <a:defRPr/>
            </a:pPr>
            <a:r>
              <a:rPr kumimoji="0" lang="en-US" altLang="zh-CN"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sym typeface="+mn-ea"/>
              </a:rPr>
              <a:t>1.</a:t>
            </a:r>
            <a:r>
              <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sym typeface="+mn-ea"/>
              </a:rPr>
              <a:t>软件建模</a:t>
            </a:r>
            <a:endPar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25603"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25604" name="内容占位符 1"/>
          <p:cNvSpPr>
            <a:spLocks noGrp="1"/>
          </p:cNvSpPr>
          <p:nvPr>
            <p:ph idx="1"/>
          </p:nvPr>
        </p:nvSpPr>
        <p:spPr>
          <a:xfrm>
            <a:off x="498475" y="1484313"/>
            <a:ext cx="7904163" cy="3487737"/>
          </a:xfrm>
          <a:ln/>
        </p:spPr>
        <p:txBody>
          <a:bodyPr vert="horz" wrap="square" lIns="91440" tIns="45720" rIns="91440" bIns="45720" anchor="t" anchorCtr="0">
            <a:spAutoFit/>
          </a:bodyPr>
          <a:p>
            <a:pPr>
              <a:lnSpc>
                <a:spcPct val="120000"/>
              </a:lnSpc>
              <a:buSzPct val="70000"/>
            </a:pPr>
            <a:r>
              <a:rPr lang="zh-CN" altLang="en-US" dirty="0">
                <a:latin typeface="华文中宋" panose="02010600040101010101" pitchFamily="2" charset="-122"/>
                <a:ea typeface="华文中宋" panose="02010600040101010101" pitchFamily="2" charset="-122"/>
                <a:cs typeface="+mn-cs"/>
              </a:rPr>
              <a:t> </a:t>
            </a:r>
            <a:r>
              <a:rPr lang="zh-CN" altLang="zh-CN" dirty="0">
                <a:latin typeface="华文中宋" panose="02010600040101010101" pitchFamily="2" charset="-122"/>
                <a:ea typeface="华文中宋" panose="02010600040101010101" pitchFamily="2" charset="-122"/>
                <a:cs typeface="+mn-cs"/>
              </a:rPr>
              <a:t>威胁建模需要一种结构化的方法对应用程序进行形式化分解，建立清晰的软件模型有助于寻找威胁。</a:t>
            </a:r>
            <a:endParaRPr lang="zh-CN" altLang="zh-CN" dirty="0">
              <a:latin typeface="华文中宋" panose="02010600040101010101" pitchFamily="2" charset="-122"/>
              <a:ea typeface="华文中宋" panose="02010600040101010101" pitchFamily="2" charset="-122"/>
              <a:cs typeface="+mn-cs"/>
            </a:endParaRPr>
          </a:p>
          <a:p>
            <a:pPr>
              <a:lnSpc>
                <a:spcPct val="120000"/>
              </a:lnSpc>
              <a:buSzPct val="70000"/>
            </a:pPr>
            <a:r>
              <a:rPr lang="zh-CN" altLang="zh-CN" dirty="0">
                <a:latin typeface="华文中宋" panose="02010600040101010101" pitchFamily="2" charset="-122"/>
                <a:ea typeface="华文中宋" panose="02010600040101010101" pitchFamily="2" charset="-122"/>
                <a:cs typeface="+mn-cs"/>
              </a:rPr>
              <a:t>绘制表示软件模型的图表是开始威胁建模非常有效的方法。</a:t>
            </a:r>
            <a:endParaRPr lang="zh-CN" altLang="zh-CN" dirty="0">
              <a:latin typeface="华文中宋" panose="02010600040101010101" pitchFamily="2" charset="-122"/>
              <a:ea typeface="华文中宋" panose="02010600040101010101" pitchFamily="2" charset="-122"/>
              <a:cs typeface="+mn-cs"/>
            </a:endParaRPr>
          </a:p>
          <a:p>
            <a:pPr>
              <a:lnSpc>
                <a:spcPct val="120000"/>
              </a:lnSpc>
              <a:buSzPct val="70000"/>
            </a:pPr>
            <a:r>
              <a:rPr lang="zh-CN" altLang="zh-CN" dirty="0">
                <a:latin typeface="华文中宋" panose="02010600040101010101" pitchFamily="2" charset="-122"/>
                <a:ea typeface="华文中宋" panose="02010600040101010101" pitchFamily="2" charset="-122"/>
                <a:cs typeface="+mn-cs"/>
              </a:rPr>
              <a:t>软件模型有很多种，数据流图和系统结构图是其中最常用的软件模型。</a:t>
            </a:r>
            <a:endParaRPr lang="zh-CN" altLang="zh-CN" dirty="0">
              <a:latin typeface="华文中宋" panose="02010600040101010101" pitchFamily="2" charset="-122"/>
              <a:ea typeface="华文中宋" panose="02010600040101010101" pitchFamily="2" charset="-122"/>
              <a:cs typeface="+mn-cs"/>
            </a:endParaRPr>
          </a:p>
          <a:p>
            <a:pPr>
              <a:buSzPct val="70000"/>
            </a:pPr>
            <a:endParaRPr lang="zh-CN" altLang="en-US" dirty="0">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标题 1"/>
          <p:cNvSpPr>
            <a:spLocks noGrp="1" noChangeArrowheads="1"/>
          </p:cNvSpPr>
          <p:nvPr>
            <p:ph type="title"/>
          </p:nvPr>
        </p:nvSpPr>
        <p:spPr/>
        <p:txBody>
          <a:bodyPr vert="horz" wrap="square" lIns="91440" tIns="45720" rIns="91440" bIns="45720" numCol="1" anchor="ctr" anchorCtr="0" compatLnSpc="1"/>
          <a:lstStyle/>
          <a:p>
            <a:pPr marL="12700" marR="0" lvl="0" indent="0" algn="ctr" defTabSz="914400" rtl="0" eaLnBrk="0" fontAlgn="base" latinLnBrk="0" hangingPunct="0">
              <a:lnSpc>
                <a:spcPct val="100000"/>
              </a:lnSpc>
              <a:spcBef>
                <a:spcPct val="0"/>
              </a:spcBef>
              <a:spcAft>
                <a:spcPct val="0"/>
              </a:spcAft>
              <a:buClrTx/>
              <a:buSzTx/>
              <a:buFontTx/>
              <a:buNone/>
              <a:tabLst>
                <a:tab pos="354965" algn="l"/>
              </a:tabLst>
              <a:defRPr/>
            </a:pPr>
            <a:r>
              <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分解应用程序 </a:t>
            </a:r>
            <a:endPar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26627"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26628" name="图片 1"/>
          <p:cNvPicPr>
            <a:picLocks noChangeAspect="1"/>
          </p:cNvPicPr>
          <p:nvPr/>
        </p:nvPicPr>
        <p:blipFill>
          <a:blip r:embed="rId1"/>
          <a:stretch>
            <a:fillRect/>
          </a:stretch>
        </p:blipFill>
        <p:spPr>
          <a:xfrm>
            <a:off x="2051050" y="1062038"/>
            <a:ext cx="4838700" cy="5319712"/>
          </a:xfrm>
          <a:prstGeom prst="rect">
            <a:avLst/>
          </a:prstGeom>
          <a:noFill/>
          <a:ln w="9525">
            <a:noFill/>
          </a:ln>
        </p:spPr>
      </p:pic>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10" normalizeH="0" baseline="0" noProof="0" dirty="0" smtClean="0">
                <a:ln>
                  <a:noFill/>
                </a:ln>
                <a:solidFill>
                  <a:srgbClr val="333399"/>
                </a:solidFill>
                <a:effectLst/>
                <a:uLnTx/>
                <a:uFillTx/>
                <a:latin typeface="华文中宋" panose="02010600040101010101" pitchFamily="2" charset="-122"/>
                <a:ea typeface="华文中宋" panose="02010600040101010101" pitchFamily="2" charset="-122"/>
                <a:cs typeface="+mj-cs"/>
              </a:rPr>
              <a:t>2. </a:t>
            </a:r>
            <a:r>
              <a:rPr kumimoji="0" lang="en-US" altLang="zh-CN"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STRIDE</a:t>
            </a:r>
            <a:r>
              <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威胁模型</a:t>
            </a:r>
            <a:endPar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27651"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6" name="内容占位符 1"/>
          <p:cNvSpPr txBox="1"/>
          <p:nvPr/>
        </p:nvSpPr>
        <p:spPr bwMode="auto">
          <a:xfrm>
            <a:off x="544513" y="1306513"/>
            <a:ext cx="8229600" cy="4525963"/>
          </a:xfrm>
          <a:prstGeom prst="rect">
            <a:avLst/>
          </a:prstGeom>
          <a:noFill/>
          <a:ln w="9525">
            <a:noFill/>
            <a:miter lim="800000"/>
          </a:ln>
          <a:effectLst/>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n"/>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70000"/>
              <a:buFont typeface="Wingdings" panose="05000000000000000000"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9pPr>
          </a:lstStyle>
          <a:p>
            <a:pPr marL="0" marR="0" lvl="0" indent="0" algn="l" defTabSz="914400" rtl="0" eaLnBrk="0" fontAlgn="base" latinLnBrk="0" hangingPunct="0">
              <a:lnSpc>
                <a:spcPct val="150000"/>
              </a:lnSpc>
              <a:spcBef>
                <a:spcPct val="20000"/>
              </a:spcBef>
              <a:spcAft>
                <a:spcPct val="0"/>
              </a:spcAft>
              <a:buClr>
                <a:srgbClr val="FFCC00"/>
              </a:buClr>
              <a:buSzPct val="70000"/>
              <a:buFont typeface="Wingdings" panose="05000000000000000000" pitchFamily="2" charset="2"/>
              <a:buNone/>
              <a:defRPr/>
            </a:pPr>
            <a:r>
              <a:rPr kumimoji="0" lang="zh-CN" altLang="en-US"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威胁分析就是提</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出一些安全相关的问题，如 </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742950" marR="0" lvl="1" indent="-285750" algn="l" defTabSz="914400" rtl="0" eaLnBrk="0" fontAlgn="base" latinLnBrk="0" hangingPunct="0">
              <a:lnSpc>
                <a:spcPct val="150000"/>
              </a:lnSpc>
              <a:spcBef>
                <a:spcPct val="20000"/>
              </a:spcBef>
              <a:spcAft>
                <a:spcPct val="0"/>
              </a:spcAft>
              <a:buClr>
                <a:schemeClr val="accent2">
                  <a:lumMod val="75000"/>
                </a:schemeClr>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未经认证的用户能否浏览秘密的网络数据？ </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742950" marR="0" lvl="1" indent="-285750" algn="l" defTabSz="914400" rtl="0" eaLnBrk="0" fontAlgn="base" latinLnBrk="0" hangingPunct="0">
              <a:lnSpc>
                <a:spcPct val="150000"/>
              </a:lnSpc>
              <a:spcBef>
                <a:spcPct val="20000"/>
              </a:spcBef>
              <a:spcAft>
                <a:spcPct val="0"/>
              </a:spcAft>
              <a:buClr>
                <a:schemeClr val="accent2">
                  <a:lumMod val="75000"/>
                </a:schemeClr>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不可信任的用户能否修改数据库中患者的记录数据？ </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742950" marR="0" lvl="1" indent="-285750" algn="l" defTabSz="914400" rtl="0" eaLnBrk="0" fontAlgn="base" latinLnBrk="0" hangingPunct="0">
              <a:lnSpc>
                <a:spcPct val="150000"/>
              </a:lnSpc>
              <a:spcBef>
                <a:spcPct val="20000"/>
              </a:spcBef>
              <a:spcAft>
                <a:spcPct val="0"/>
              </a:spcAft>
              <a:buClr>
                <a:schemeClr val="accent2">
                  <a:lumMod val="75000"/>
                </a:schemeClr>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是否有人能够拒绝合法用户获得应用程序的服务</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742950" marR="0" lvl="1" indent="-285750" algn="l" defTabSz="914400" rtl="0" eaLnBrk="0" fontAlgn="base" latinLnBrk="0" hangingPunct="0">
              <a:lnSpc>
                <a:spcPct val="150000"/>
              </a:lnSpc>
              <a:spcBef>
                <a:spcPct val="20000"/>
              </a:spcBef>
              <a:spcAft>
                <a:spcPct val="0"/>
              </a:spcAft>
              <a:buClr>
                <a:schemeClr val="accent2">
                  <a:lumMod val="75000"/>
                </a:schemeClr>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是否有人能够利用某些特性或组件将自己的特权提升为管理员</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0" fontAlgn="base" latinLnBrk="0" hangingPunct="0">
              <a:lnSpc>
                <a:spcPct val="150000"/>
              </a:lnSpc>
              <a:spcBef>
                <a:spcPct val="20000"/>
              </a:spcBef>
              <a:spcAft>
                <a:spcPct val="0"/>
              </a:spcAft>
              <a:buClr>
                <a:srgbClr val="FFCC00"/>
              </a:buClr>
              <a:buSzPct val="7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没有条理的提出这些问题是否全面呢？</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CC00"/>
              </a:buClr>
              <a:buSzPct val="70000"/>
              <a:buFont typeface="Wingdings" panose="05000000000000000000" pitchFamily="2" charset="2"/>
              <a:buChar char="n"/>
              <a:defRPr/>
            </a:pPr>
            <a:endParaRPr kumimoji="0" lang="zh-CN" altLang="en-US" sz="2400" b="0" i="0" u="none" strike="noStrike" kern="0" cap="none" spc="0" normalizeH="0" baseline="0" noProof="0" dirty="0">
              <a:ln>
                <a:noFill/>
              </a:ln>
              <a:solidFill>
                <a:srgbClr val="FFFFFF"/>
              </a:solidFill>
              <a:effectLst>
                <a:outerShdw blurRad="38100" dist="38100" dir="2700000" algn="tl">
                  <a:srgbClr val="000000"/>
                </a:outerShdw>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sym typeface="+mn-ea"/>
              </a:rPr>
              <a:t>STRIDE</a:t>
            </a:r>
            <a:r>
              <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威胁模型</a:t>
            </a:r>
            <a:endParaRPr kumimoji="0" lang="zh-CN" altLang="en-US"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28675"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8" name="内容占位符 4"/>
          <p:cNvSpPr txBox="1"/>
          <p:nvPr/>
        </p:nvSpPr>
        <p:spPr bwMode="auto">
          <a:xfrm>
            <a:off x="457200" y="1311275"/>
            <a:ext cx="8229600" cy="4603750"/>
          </a:xfrm>
          <a:prstGeom prst="rect">
            <a:avLst/>
          </a:prstGeom>
          <a:noFill/>
          <a:ln w="9525">
            <a:noFill/>
            <a:miter lim="800000"/>
          </a:ln>
          <a:effectLst/>
        </p:spPr>
        <p:txBody>
          <a:bodyPr>
            <a:normAutofit fontScale="92500" lnSpcReduction="10000"/>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n"/>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70000"/>
              <a:buFont typeface="Wingdings" panose="05000000000000000000"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9pPr>
          </a:lstStyle>
          <a:p>
            <a:pPr marL="342900" marR="0" lvl="0" indent="-342900" algn="l" defTabSz="914400" rtl="0" eaLnBrk="0" fontAlgn="base" latinLnBrk="0" hangingPunct="0">
              <a:lnSpc>
                <a:spcPct val="150000"/>
              </a:lnSpc>
              <a:spcBef>
                <a:spcPct val="20000"/>
              </a:spcBef>
              <a:spcAft>
                <a:spcPct val="0"/>
              </a:spcAft>
              <a:buClr>
                <a:schemeClr val="accent2">
                  <a:lumMod val="75000"/>
                </a:schemeClr>
              </a:buClr>
              <a:buSzPct val="70000"/>
              <a:buFont typeface="Wingdings" panose="05000000000000000000" pitchFamily="2" charset="2"/>
              <a:buChar char="l"/>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sym typeface="+mn-ea"/>
              </a:rPr>
              <a:t>STRIDE</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sym typeface="+mn-ea"/>
              </a:rPr>
              <a:t>建模方法由</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sym typeface="+mn-ea"/>
              </a:rPr>
              <a:t>Microsoft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sym typeface="+mn-ea"/>
              </a:rPr>
              <a:t>公司提出，该方法通过审查系统设计或架构来发现或纠正设计级的安全问题。</a:t>
            </a:r>
            <a:endPar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0" fontAlgn="base" latinLnBrk="0" hangingPunct="0">
              <a:lnSpc>
                <a:spcPct val="150000"/>
              </a:lnSpc>
              <a:spcBef>
                <a:spcPct val="20000"/>
              </a:spcBef>
              <a:spcAft>
                <a:spcPct val="0"/>
              </a:spcAft>
              <a:buClr>
                <a:schemeClr val="accent2">
                  <a:lumMod val="75000"/>
                </a:schemeClr>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假冒 </a:t>
            </a:r>
            <a:r>
              <a:rPr kumimoji="0" lang="en-US" altLang="zh-CN"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(Spoofing)</a:t>
            </a: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典型的例子是使用其他用户的认证信息进行非法访问。</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0" fontAlgn="base" latinLnBrk="0" hangingPunct="0">
              <a:lnSpc>
                <a:spcPct val="150000"/>
              </a:lnSpc>
              <a:spcBef>
                <a:spcPct val="20000"/>
              </a:spcBef>
              <a:spcAft>
                <a:spcPct val="0"/>
              </a:spcAft>
              <a:buClr>
                <a:schemeClr val="accent2">
                  <a:lumMod val="75000"/>
                </a:schemeClr>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篡改 </a:t>
            </a:r>
            <a:r>
              <a:rPr kumimoji="0" lang="en-US" altLang="zh-CN"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(Tampering)</a:t>
            </a: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在未授权的情况下恶意地修改数据。这种修改可以是在数据库中保存的数据，也可能是在网络中传输的数据。</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0" fontAlgn="base" latinLnBrk="0" hangingPunct="0">
              <a:lnSpc>
                <a:spcPct val="150000"/>
              </a:lnSpc>
              <a:spcBef>
                <a:spcPct val="20000"/>
              </a:spcBef>
              <a:spcAft>
                <a:spcPct val="0"/>
              </a:spcAft>
              <a:buClr>
                <a:schemeClr val="accent2">
                  <a:lumMod val="75000"/>
                </a:schemeClr>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否认 </a:t>
            </a:r>
            <a:r>
              <a:rPr kumimoji="0" lang="en-US" altLang="zh-CN"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(Repudiation)/</a:t>
            </a: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可抵赖，</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用户从事一项非法操作，但该用户拒绝承认，且没有方法可以证明她是在抵赖。</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accent2">
                  <a:lumMod val="75000"/>
                </a:schemeClr>
              </a:buClr>
              <a:buSzPct val="70000"/>
              <a:buFont typeface="Wingdings" panose="05000000000000000000" pitchFamily="2" charset="2"/>
              <a:buNone/>
              <a:defRPr/>
            </a:pPr>
            <a:endParaRPr kumimoji="0" lang="en-US" altLang="zh-CN" sz="2400" b="0" i="0" u="none" strike="noStrike" kern="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a:ea typeface="+mn-ea"/>
              <a:cs typeface="Times New Roman" panose="02020603050405020304"/>
            </a:endParaRPr>
          </a:p>
          <a:p>
            <a:pPr marL="342900" marR="0" lvl="0" indent="-342900" algn="l" defTabSz="914400" rtl="0" eaLnBrk="0" fontAlgn="base" latinLnBrk="0" hangingPunct="0">
              <a:lnSpc>
                <a:spcPct val="100000"/>
              </a:lnSpc>
              <a:spcBef>
                <a:spcPct val="20000"/>
              </a:spcBef>
              <a:spcAft>
                <a:spcPct val="0"/>
              </a:spcAft>
              <a:buClr>
                <a:schemeClr val="accent2">
                  <a:lumMod val="75000"/>
                </a:schemeClr>
              </a:buClr>
              <a:buSzPct val="70000"/>
              <a:buFont typeface="Wingdings" panose="05000000000000000000" pitchFamily="2" charset="2"/>
              <a:buChar char="l"/>
              <a:defRPr/>
            </a:pPr>
            <a:endParaRPr kumimoji="0" lang="zh-CN" altLang="en-US" sz="2400" b="0" i="0" u="none" strike="noStrike" kern="0" cap="none" spc="0" normalizeH="0" baseline="0" noProof="0" dirty="0">
              <a:ln>
                <a:noFill/>
              </a:ln>
              <a:solidFill>
                <a:srgbClr val="FFFFFF"/>
              </a:solidFill>
              <a:effectLst>
                <a:outerShdw blurRad="38100" dist="38100" dir="2700000" algn="tl">
                  <a:srgbClr val="000000"/>
                </a:outerShdw>
              </a:effectLst>
              <a:uLnTx/>
              <a:uFillTx/>
              <a:latin typeface="宋体" panose="02010600030101010101" pitchFamily="2" charset="-122"/>
              <a:ea typeface="+mn-ea"/>
              <a:cs typeface="宋体" panose="02010600030101010101" pitchFamily="2" charset="-122"/>
            </a:endParaRPr>
          </a:p>
          <a:p>
            <a:pPr marL="342900" marR="0" lvl="0" indent="-342900" algn="l" defTabSz="914400" rtl="0" eaLnBrk="0" fontAlgn="base" latinLnBrk="0" hangingPunct="0">
              <a:lnSpc>
                <a:spcPct val="100000"/>
              </a:lnSpc>
              <a:spcBef>
                <a:spcPct val="20000"/>
              </a:spcBef>
              <a:spcAft>
                <a:spcPct val="0"/>
              </a:spcAft>
              <a:buClr>
                <a:schemeClr val="accent2">
                  <a:lumMod val="75000"/>
                </a:schemeClr>
              </a:buClr>
              <a:buSzPct val="70000"/>
              <a:buFont typeface="Wingdings" panose="05000000000000000000" pitchFamily="2" charset="2"/>
              <a:buChar char="l"/>
              <a:defRPr/>
            </a:pPr>
            <a:endParaRPr kumimoji="0" lang="en-US" altLang="zh-CN" sz="2400" b="0" i="0" u="none" strike="noStrike" kern="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a:ea typeface="+mn-ea"/>
              <a:cs typeface="Times New Roman" panose="02020603050405020304"/>
            </a:endParaRPr>
          </a:p>
          <a:p>
            <a:pPr marL="342900" marR="0" lvl="0" indent="-342900" algn="l" defTabSz="914400" rtl="0" eaLnBrk="0" fontAlgn="base" latinLnBrk="0" hangingPunct="0">
              <a:lnSpc>
                <a:spcPct val="100000"/>
              </a:lnSpc>
              <a:spcBef>
                <a:spcPct val="20000"/>
              </a:spcBef>
              <a:spcAft>
                <a:spcPct val="0"/>
              </a:spcAft>
              <a:buClr>
                <a:schemeClr val="accent2">
                  <a:lumMod val="75000"/>
                </a:schemeClr>
              </a:buClr>
              <a:buSzPct val="70000"/>
              <a:buFont typeface="Wingdings" panose="05000000000000000000" pitchFamily="2" charset="2"/>
              <a:buChar char="l"/>
              <a:defRPr/>
            </a:pPr>
            <a:endParaRPr kumimoji="0" lang="zh-CN" altLang="en-US" sz="2400" b="0" i="0" u="none" strike="noStrike" kern="0" cap="none" spc="0" normalizeH="0" baseline="0" noProof="0" dirty="0">
              <a:ln>
                <a:noFill/>
              </a:ln>
              <a:solidFill>
                <a:srgbClr val="FFFFFF"/>
              </a:solidFill>
              <a:effectLst>
                <a:outerShdw blurRad="38100" dist="38100" dir="2700000" algn="tl">
                  <a:srgbClr val="000000"/>
                </a:outerShdw>
              </a:effectLst>
              <a:uLnTx/>
              <a:uFillTx/>
              <a:latin typeface="Garamond" panose="02020404030301010803"/>
              <a:ea typeface="+mn-ea"/>
              <a:cs typeface="+mn-cs"/>
            </a:endParaRPr>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威胁模型</a:t>
            </a:r>
            <a:endParaRPr kumimoji="0" lang="zh-CN" altLang="en-US"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29699"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71684" name="内容占位符 4"/>
          <p:cNvSpPr txBox="1">
            <a:spLocks noChangeArrowheads="1"/>
          </p:cNvSpPr>
          <p:nvPr/>
        </p:nvSpPr>
        <p:spPr bwMode="auto">
          <a:xfrm>
            <a:off x="319088" y="1198563"/>
            <a:ext cx="8505825" cy="5759450"/>
          </a:xfrm>
          <a:prstGeom prst="rect">
            <a:avLst/>
          </a:prstGeom>
          <a:noFill/>
          <a:ln>
            <a:noFill/>
          </a:ln>
        </p:spPr>
        <p:txBody>
          <a:bodyPr/>
          <a:lstStyle>
            <a:lvl1pPr marL="438150" indent="3175"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438150" marR="0" lvl="0" indent="3175" algn="l" defTabSz="914400" rtl="0" eaLnBrk="0" fontAlgn="base" latinLnBrk="0" hangingPunct="0">
              <a:lnSpc>
                <a:spcPct val="150000"/>
              </a:lnSpc>
              <a:spcBef>
                <a:spcPct val="20000"/>
              </a:spcBef>
              <a:spcAft>
                <a:spcPct val="0"/>
              </a:spcAft>
              <a:buClr>
                <a:schemeClr val="accent2">
                  <a:lumMod val="75000"/>
                </a:schemeClr>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信息泄漏</a:t>
            </a:r>
            <a:r>
              <a:rPr kumimoji="0" lang="en-US" altLang="zh-CN"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(Information disclosure)</a:t>
            </a: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信息暴露给不允许对它访问的人。例如用户读到没有给她赋予访问权限的文件的内容，信息在网络中传递时内容被 泄密。</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438150" marR="0" lvl="0" indent="3175" algn="l" defTabSz="914400" rtl="0" eaLnBrk="0" fontAlgn="base" latinLnBrk="0" hangingPunct="0">
              <a:lnSpc>
                <a:spcPct val="150000"/>
              </a:lnSpc>
              <a:spcBef>
                <a:spcPct val="20000"/>
              </a:spcBef>
              <a:spcAft>
                <a:spcPct val="0"/>
              </a:spcAft>
              <a:buClr>
                <a:schemeClr val="accent2">
                  <a:lumMod val="75000"/>
                </a:schemeClr>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拒绝服务</a:t>
            </a:r>
            <a:r>
              <a:rPr kumimoji="0" lang="en-US" altLang="zh-CN"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(Denial of service)</a:t>
            </a: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拒绝对正当用户的服务。</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438150" marR="0" lvl="0" indent="3175" algn="just" defTabSz="914400" rtl="0" eaLnBrk="0" fontAlgn="base" latinLnBrk="0" hangingPunct="0">
              <a:lnSpc>
                <a:spcPct val="150000"/>
              </a:lnSpc>
              <a:spcBef>
                <a:spcPts val="475"/>
              </a:spcBef>
              <a:spcAft>
                <a:spcPct val="0"/>
              </a:spcAft>
              <a:buClr>
                <a:schemeClr val="accent2">
                  <a:lumMod val="75000"/>
                </a:schemeClr>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权限提升</a:t>
            </a:r>
            <a:r>
              <a:rPr kumimoji="0" lang="en-US" altLang="zh-CN"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(Elevation of privilege)</a:t>
            </a: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一个没有特权的用户获得访问特权，从而有足够的权限作出摧毁整个系统的事情。</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标题 1"/>
          <p:cNvSpPr>
            <a:spLocks noGrp="1"/>
          </p:cNvSpPr>
          <p:nvPr>
            <p:ph type="title"/>
          </p:nvPr>
        </p:nvSpPr>
        <p:spPr>
          <a:ln/>
        </p:spPr>
        <p:txBody>
          <a:bodyPr vert="horz" wrap="square" lIns="91440" tIns="45720" rIns="91440" bIns="45720" anchor="ctr" anchorCtr="0"/>
          <a:p>
            <a:r>
              <a:rPr lang="en-US" altLang="zh-CN" dirty="0"/>
              <a:t>STRIDE</a:t>
            </a:r>
            <a:r>
              <a:rPr lang="zh-CN" altLang="en-US" dirty="0"/>
              <a:t>威胁建模的过程</a:t>
            </a:r>
            <a:endParaRPr lang="zh-CN" altLang="en-US" dirty="0"/>
          </a:p>
        </p:txBody>
      </p:sp>
      <p:sp>
        <p:nvSpPr>
          <p:cNvPr id="30723"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80901" name="object 35"/>
          <p:cNvSpPr txBox="1">
            <a:spLocks noChangeArrowheads="1"/>
          </p:cNvSpPr>
          <p:nvPr/>
        </p:nvSpPr>
        <p:spPr bwMode="auto">
          <a:xfrm>
            <a:off x="668338" y="1412875"/>
            <a:ext cx="7648575" cy="3484880"/>
          </a:xfrm>
          <a:prstGeom prst="rect">
            <a:avLst/>
          </a:prstGeom>
          <a:noFill/>
          <a:ln>
            <a:noFill/>
          </a:ln>
        </p:spPr>
        <p:txBody>
          <a:bodyPr lIns="0" tIns="0" rIns="0" bIns="0">
            <a:spAutoFit/>
          </a:bodyPr>
          <a:lstStyle>
            <a:lvl1pPr marL="12700">
              <a:tabLst>
                <a:tab pos="353695" algn="l"/>
              </a:tabLst>
              <a:defRPr sz="2400" b="1">
                <a:solidFill>
                  <a:schemeClr val="accent2"/>
                </a:solidFill>
                <a:latin typeface="华文中宋" panose="02010600040101010101" pitchFamily="2" charset="-122"/>
                <a:ea typeface="华文中宋" panose="02010600040101010101" pitchFamily="2" charset="-122"/>
              </a:defRPr>
            </a:lvl1pPr>
            <a:lvl2pPr marL="742950" indent="-285750">
              <a:tabLst>
                <a:tab pos="353695" algn="l"/>
              </a:tabLst>
              <a:defRPr sz="2400" b="1">
                <a:solidFill>
                  <a:schemeClr val="accent2"/>
                </a:solidFill>
                <a:latin typeface="华文中宋" panose="02010600040101010101" pitchFamily="2" charset="-122"/>
                <a:ea typeface="华文中宋" panose="02010600040101010101" pitchFamily="2" charset="-122"/>
              </a:defRPr>
            </a:lvl2pPr>
            <a:lvl3pPr marL="1143000" indent="-228600">
              <a:tabLst>
                <a:tab pos="353695" algn="l"/>
              </a:tabLst>
              <a:defRPr sz="2400" b="1">
                <a:solidFill>
                  <a:schemeClr val="accent2"/>
                </a:solidFill>
                <a:latin typeface="华文中宋" panose="02010600040101010101" pitchFamily="2" charset="-122"/>
                <a:ea typeface="华文中宋" panose="02010600040101010101" pitchFamily="2" charset="-122"/>
              </a:defRPr>
            </a:lvl3pPr>
            <a:lvl4pPr marL="1600200" indent="-228600">
              <a:tabLst>
                <a:tab pos="353695" algn="l"/>
              </a:tabLst>
              <a:defRPr sz="2400" b="1">
                <a:solidFill>
                  <a:schemeClr val="accent2"/>
                </a:solidFill>
                <a:latin typeface="华文中宋" panose="02010600040101010101" pitchFamily="2" charset="-122"/>
                <a:ea typeface="华文中宋" panose="02010600040101010101" pitchFamily="2" charset="-122"/>
              </a:defRPr>
            </a:lvl4pPr>
            <a:lvl5pPr marL="2057400" indent="-228600">
              <a:tabLst>
                <a:tab pos="353695" algn="l"/>
              </a:tabLst>
              <a:defRPr sz="2400" b="1">
                <a:solidFill>
                  <a:schemeClr val="accent2"/>
                </a:solidFill>
                <a:latin typeface="华文中宋" panose="02010600040101010101" pitchFamily="2" charset="-122"/>
                <a:ea typeface="华文中宋" panose="02010600040101010101" pitchFamily="2" charset="-122"/>
              </a:defRPr>
            </a:lvl5pPr>
            <a:lvl6pPr marL="2514600" indent="-228600" eaLnBrk="0" fontAlgn="base" hangingPunct="0">
              <a:spcBef>
                <a:spcPct val="0"/>
              </a:spcBef>
              <a:spcAft>
                <a:spcPct val="0"/>
              </a:spcAft>
              <a:tabLst>
                <a:tab pos="353695" algn="l"/>
              </a:tabLst>
              <a:defRPr sz="2400" b="1">
                <a:solidFill>
                  <a:schemeClr val="accent2"/>
                </a:solidFill>
                <a:latin typeface="华文中宋" panose="02010600040101010101" pitchFamily="2" charset="-122"/>
                <a:ea typeface="华文中宋" panose="02010600040101010101" pitchFamily="2" charset="-122"/>
              </a:defRPr>
            </a:lvl6pPr>
            <a:lvl7pPr marL="2971800" indent="-228600" eaLnBrk="0" fontAlgn="base" hangingPunct="0">
              <a:spcBef>
                <a:spcPct val="0"/>
              </a:spcBef>
              <a:spcAft>
                <a:spcPct val="0"/>
              </a:spcAft>
              <a:tabLst>
                <a:tab pos="353695" algn="l"/>
              </a:tabLst>
              <a:defRPr sz="2400" b="1">
                <a:solidFill>
                  <a:schemeClr val="accent2"/>
                </a:solidFill>
                <a:latin typeface="华文中宋" panose="02010600040101010101" pitchFamily="2" charset="-122"/>
                <a:ea typeface="华文中宋" panose="02010600040101010101" pitchFamily="2" charset="-122"/>
              </a:defRPr>
            </a:lvl7pPr>
            <a:lvl8pPr marL="3429000" indent="-228600" eaLnBrk="0" fontAlgn="base" hangingPunct="0">
              <a:spcBef>
                <a:spcPct val="0"/>
              </a:spcBef>
              <a:spcAft>
                <a:spcPct val="0"/>
              </a:spcAft>
              <a:tabLst>
                <a:tab pos="353695" algn="l"/>
              </a:tabLst>
              <a:defRPr sz="2400" b="1">
                <a:solidFill>
                  <a:schemeClr val="accent2"/>
                </a:solidFill>
                <a:latin typeface="华文中宋" panose="02010600040101010101" pitchFamily="2" charset="-122"/>
                <a:ea typeface="华文中宋" panose="02010600040101010101" pitchFamily="2" charset="-122"/>
              </a:defRPr>
            </a:lvl8pPr>
            <a:lvl9pPr marL="3886200" indent="-228600" eaLnBrk="0" fontAlgn="base" hangingPunct="0">
              <a:spcBef>
                <a:spcPct val="0"/>
              </a:spcBef>
              <a:spcAft>
                <a:spcPct val="0"/>
              </a:spcAft>
              <a:tabLst>
                <a:tab pos="353695" algn="l"/>
              </a:tabLst>
              <a:defRPr sz="2400" b="1">
                <a:solidFill>
                  <a:schemeClr val="accent2"/>
                </a:solidFill>
                <a:latin typeface="华文中宋" panose="02010600040101010101" pitchFamily="2" charset="-122"/>
                <a:ea typeface="华文中宋" panose="02010600040101010101" pitchFamily="2" charset="-122"/>
              </a:defRPr>
            </a:lvl9pPr>
          </a:lstStyle>
          <a:p>
            <a:pPr marL="388620" marR="0" lvl="0" indent="-342900" algn="l" defTabSz="914400" rtl="0" eaLnBrk="0" fontAlgn="base" latinLnBrk="0" hangingPunct="0">
              <a:lnSpc>
                <a:spcPts val="3800"/>
              </a:lnSpc>
              <a:spcBef>
                <a:spcPct val="20000"/>
              </a:spcBef>
              <a:spcAft>
                <a:spcPct val="0"/>
              </a:spcAft>
              <a:buClr>
                <a:schemeClr val="accent2">
                  <a:lumMod val="75000"/>
                </a:schemeClr>
              </a:buClr>
              <a:buSzPct val="70000"/>
              <a:buFont typeface="Wingdings" panose="05000000000000000000" charset="0"/>
              <a:buChar char="l"/>
              <a:tabLst>
                <a:tab pos="353695" algn="l"/>
              </a:tabLst>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到目前为止，将STRIDE模型应用到应用程序中最简单的方法是，</a:t>
            </a:r>
            <a:r>
              <a:rPr kumimoji="0" lang="zh-CN" altLang="zh-CN"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考虑模型中的每一个威胁</a:t>
            </a: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是</a:t>
            </a:r>
            <a:r>
              <a:rPr kumimoji="0" lang="zh-CN" altLang="zh-CN"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如何影响每一个组件的，</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以及是如何影响组件之间的</a:t>
            </a:r>
            <a:r>
              <a:rPr kumimoji="0" lang="zh-CN" altLang="zh-CN"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每一个连接</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或关系的。</a:t>
            </a:r>
            <a:endPar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88620" marR="0" lvl="0" indent="-342900" algn="l" defTabSz="914400" rtl="0" eaLnBrk="0" fontAlgn="base" latinLnBrk="0" hangingPunct="0">
              <a:lnSpc>
                <a:spcPts val="3800"/>
              </a:lnSpc>
              <a:spcBef>
                <a:spcPct val="20000"/>
              </a:spcBef>
              <a:spcAft>
                <a:spcPct val="0"/>
              </a:spcAft>
              <a:buClr>
                <a:schemeClr val="accent2">
                  <a:lumMod val="75000"/>
                </a:schemeClr>
              </a:buClr>
              <a:buSzPct val="70000"/>
              <a:buFont typeface="Wingdings" panose="05000000000000000000" charset="0"/>
              <a:buChar char="l"/>
              <a:tabLst>
                <a:tab pos="353695" algn="l"/>
              </a:tabLst>
              <a:defRPr/>
            </a:pPr>
            <a:r>
              <a:rPr kumimoji="0" lang="zh-CN" altLang="zh-CN"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看一看应用程序的每一部分，组件或进程判断是否有任何S、T、R、I、D、 或者E威胁存在</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。大部分都会存在许多威胁，</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将它们都记录下来是很重要的。</a:t>
            </a:r>
            <a:endPar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标题 1"/>
          <p:cNvSpPr>
            <a:spLocks noGrp="1"/>
          </p:cNvSpPr>
          <p:nvPr>
            <p:ph type="title"/>
          </p:nvPr>
        </p:nvSpPr>
        <p:spPr>
          <a:ln/>
        </p:spPr>
        <p:txBody>
          <a:bodyPr vert="horz" wrap="square" lIns="91440" tIns="45720" rIns="91440" bIns="45720" anchor="ctr" anchorCtr="0"/>
          <a:p>
            <a:r>
              <a:rPr lang="zh-CN" altLang="en-US" dirty="0"/>
              <a:t>威胁的表达方式</a:t>
            </a:r>
            <a:r>
              <a:rPr lang="en-US" altLang="zh-CN" dirty="0"/>
              <a:t>——</a:t>
            </a:r>
            <a:r>
              <a:rPr lang="zh-CN" altLang="en-US" dirty="0"/>
              <a:t>建立威胁树</a:t>
            </a:r>
            <a:endParaRPr lang="zh-CN" altLang="en-US" dirty="0"/>
          </a:p>
        </p:txBody>
      </p:sp>
      <p:sp>
        <p:nvSpPr>
          <p:cNvPr id="31747"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4" name="内容占位符 1"/>
          <p:cNvSpPr txBox="1"/>
          <p:nvPr/>
        </p:nvSpPr>
        <p:spPr bwMode="auto">
          <a:xfrm>
            <a:off x="457200" y="1350963"/>
            <a:ext cx="8229600" cy="4525963"/>
          </a:xfrm>
          <a:prstGeom prst="rect">
            <a:avLst/>
          </a:prstGeom>
          <a:noFill/>
          <a:ln w="9525">
            <a:noFill/>
            <a:miter lim="800000"/>
          </a:ln>
          <a:effectLst/>
        </p:spPr>
        <p:txBody>
          <a:bodyPr>
            <a:norm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n"/>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70000"/>
              <a:buFont typeface="Wingdings" panose="05000000000000000000"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9pPr>
          </a:lstStyle>
          <a:p>
            <a:pPr marL="388620" marR="0" lvl="0" indent="-342900" algn="l" defTabSz="914400" rtl="0" eaLnBrk="0" fontAlgn="base" latinLnBrk="0" hangingPunct="0">
              <a:lnSpc>
                <a:spcPct val="150000"/>
              </a:lnSpc>
              <a:spcBef>
                <a:spcPct val="20000"/>
              </a:spcBef>
              <a:spcAft>
                <a:spcPct val="0"/>
              </a:spcAft>
              <a:buClr>
                <a:schemeClr val="accent2">
                  <a:lumMod val="75000"/>
                </a:schemeClr>
              </a:buClr>
              <a:buSzPct val="70000"/>
              <a:buFont typeface="Wingdings" panose="05000000000000000000" charset="0"/>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建立威胁树，系统地分析所开发的应用程序中的威胁和漏洞。 </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88620" marR="0" lvl="1" indent="-342900" algn="l" defTabSz="914400" rtl="0" eaLnBrk="0" fontAlgn="base" latinLnBrk="0" hangingPunct="0">
              <a:lnSpc>
                <a:spcPct val="150000"/>
              </a:lnSpc>
              <a:spcBef>
                <a:spcPct val="20000"/>
              </a:spcBef>
              <a:spcAft>
                <a:spcPct val="0"/>
              </a:spcAft>
              <a:buClr>
                <a:schemeClr val="accent2">
                  <a:lumMod val="75000"/>
                </a:schemeClr>
              </a:buClr>
              <a:buSzPct val="70000"/>
              <a:buFont typeface="Wingdings" panose="05000000000000000000" charset="0"/>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威胁树描述了攻击者破坏各组件所经历的决策过程。 </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0" fontAlgn="base" latinLnBrk="0" hangingPunct="0">
              <a:lnSpc>
                <a:spcPct val="150000"/>
              </a:lnSpc>
              <a:spcBef>
                <a:spcPct val="20000"/>
              </a:spcBef>
              <a:spcAft>
                <a:spcPct val="0"/>
              </a:spcAft>
              <a:buClr>
                <a:srgbClr val="FFCC00"/>
              </a:buClr>
              <a:buSzPct val="70000"/>
              <a:buFont typeface="Wingdings" panose="05000000000000000000" charset="0"/>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以工资数据Web系统为例，用户登录工资数据Web服务器查看自己工资信息。由于工资信息是保密的，这意味着必须保护工资数据的机密性。该信息存在信息泄露的可能，其威胁树</a:t>
            </a:r>
            <a:endParaRPr kumimoji="0" lang="zh-CN" altLang="en-US" sz="2400" b="0" i="0" u="none" strike="noStrike" kern="0" cap="none" spc="0" normalizeH="0" baseline="0" noProof="0" dirty="0">
              <a:ln>
                <a:noFill/>
              </a:ln>
              <a:solidFill>
                <a:srgbClr val="FFFFFF"/>
              </a:solidFill>
              <a:effectLst>
                <a:outerShdw blurRad="38100" dist="38100" dir="2700000" algn="tl">
                  <a:srgbClr val="000000"/>
                </a:outerShdw>
              </a:effectLst>
              <a:uLnTx/>
              <a:uFillTx/>
              <a:latin typeface="Garamond" panose="02020404030301010803"/>
              <a:ea typeface="+mn-ea"/>
              <a:cs typeface="+mn-cs"/>
            </a:endParaRPr>
          </a:p>
          <a:p>
            <a:pPr marL="342900" marR="0" lvl="0" indent="-342900" algn="l" defTabSz="914400" rtl="0" eaLnBrk="0" fontAlgn="base" latinLnBrk="0" hangingPunct="0">
              <a:lnSpc>
                <a:spcPct val="100000"/>
              </a:lnSpc>
              <a:spcBef>
                <a:spcPct val="20000"/>
              </a:spcBef>
              <a:spcAft>
                <a:spcPct val="0"/>
              </a:spcAft>
              <a:buClr>
                <a:srgbClr val="FFCC00"/>
              </a:buClr>
              <a:buSzPct val="70000"/>
              <a:buFont typeface="Wingdings" panose="05000000000000000000" pitchFamily="2" charset="2"/>
              <a:buNone/>
              <a:defRPr/>
            </a:pPr>
            <a:endParaRPr kumimoji="0" lang="zh-CN" altLang="en-US" sz="2400" b="0" i="0" u="none" strike="noStrike" kern="0" cap="none" spc="0" normalizeH="0" baseline="0" noProof="0" dirty="0">
              <a:ln>
                <a:noFill/>
              </a:ln>
              <a:solidFill>
                <a:srgbClr val="FFFFFF"/>
              </a:solidFill>
              <a:effectLst>
                <a:outerShdw blurRad="38100" dist="38100" dir="2700000" algn="tl">
                  <a:srgbClr val="000000"/>
                </a:outerShdw>
              </a:effectLst>
              <a:uLnTx/>
              <a:uFillTx/>
              <a:latin typeface="Garamond" panose="02020404030301010803"/>
              <a:ea typeface="+mn-ea"/>
              <a:cs typeface="+mn-cs"/>
            </a:endParaRPr>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威胁树的示例</a:t>
            </a:r>
            <a:endParaRPr kumimoji="0" lang="zh-CN" altLang="en-US"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32771"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4" name="内容占位符 1"/>
          <p:cNvSpPr txBox="1"/>
          <p:nvPr/>
        </p:nvSpPr>
        <p:spPr bwMode="auto">
          <a:xfrm>
            <a:off x="457200" y="1600200"/>
            <a:ext cx="8229600" cy="4525963"/>
          </a:xfrm>
          <a:prstGeom prst="rect">
            <a:avLst/>
          </a:prstGeom>
          <a:noFill/>
          <a:ln w="9525">
            <a:noFill/>
            <a:miter lim="800000"/>
          </a:ln>
          <a:effectLst/>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n"/>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70000"/>
              <a:buFont typeface="Wingdings" panose="05000000000000000000"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9pPr>
          </a:lstStyle>
          <a:p>
            <a:pPr marL="342900" marR="0" lvl="0" indent="-342900" algn="l" defTabSz="914400" rtl="0" eaLnBrk="0" fontAlgn="base" latinLnBrk="0" hangingPunct="0">
              <a:lnSpc>
                <a:spcPct val="100000"/>
              </a:lnSpc>
              <a:spcBef>
                <a:spcPct val="20000"/>
              </a:spcBef>
              <a:spcAft>
                <a:spcPct val="0"/>
              </a:spcAft>
              <a:buClr>
                <a:srgbClr val="FFCC00"/>
              </a:buClr>
              <a:buSzPct val="70000"/>
              <a:buFont typeface="Wingdings" panose="05000000000000000000" pitchFamily="2" charset="2"/>
              <a:buChar char="n"/>
              <a:defRPr/>
            </a:pPr>
            <a:endParaRPr kumimoji="0" lang="zh-CN" altLang="en-US" sz="3200" b="0" i="0" u="none" strike="noStrike" kern="0" cap="none" spc="0" normalizeH="0" baseline="0" noProof="0">
              <a:ln>
                <a:noFill/>
              </a:ln>
              <a:solidFill>
                <a:srgbClr val="FFFFFF"/>
              </a:solidFill>
              <a:effectLst>
                <a:outerShdw blurRad="38100" dist="38100" dir="2700000" algn="tl">
                  <a:srgbClr val="000000"/>
                </a:outerShdw>
              </a:effectLst>
              <a:uLnTx/>
              <a:uFillTx/>
              <a:latin typeface="Garamond" panose="02020404030301010803"/>
              <a:ea typeface="+mn-ea"/>
              <a:cs typeface="+mn-cs"/>
            </a:endParaRPr>
          </a:p>
        </p:txBody>
      </p:sp>
      <p:sp>
        <p:nvSpPr>
          <p:cNvPr id="6" name="标题 3"/>
          <p:cNvSpPr txBox="1"/>
          <p:nvPr/>
        </p:nvSpPr>
        <p:spPr bwMode="auto">
          <a:xfrm>
            <a:off x="457200" y="838200"/>
            <a:ext cx="8229600" cy="1143000"/>
          </a:xfrm>
          <a:prstGeom prst="rect">
            <a:avLst/>
          </a:prstGeom>
          <a:noFill/>
          <a:ln w="9525">
            <a:noFill/>
            <a:miter lim="800000"/>
          </a:ln>
          <a:effectLst/>
        </p:spPr>
        <p:txBody>
          <a:bodyPr anchor="ctr"/>
          <a:lstStyle>
            <a:lvl1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4572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9144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13716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18288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12700" marR="0" lvl="0" indent="0" algn="ctr" defTabSz="914400" rtl="0" eaLnBrk="0" fontAlgn="base" latinLnBrk="0" hangingPunct="0">
              <a:lnSpc>
                <a:spcPct val="100000"/>
              </a:lnSpc>
              <a:spcBef>
                <a:spcPct val="0"/>
              </a:spcBef>
              <a:spcAft>
                <a:spcPct val="0"/>
              </a:spcAft>
              <a:buClrTx/>
              <a:buSzTx/>
              <a:buFontTx/>
              <a:buNone/>
              <a:tabLst>
                <a:tab pos="354965" algn="l"/>
              </a:tabLst>
              <a:defRPr/>
            </a:pPr>
            <a:r>
              <a:rPr kumimoji="0" lang="zh-CN" altLang="en-US" sz="2800" b="1" i="0" u="none" strike="noStrike" kern="0" cap="none" spc="10" normalizeH="0" baseline="0" noProof="0" dirty="0">
                <a:ln>
                  <a:noFill/>
                </a:ln>
                <a:solidFill>
                  <a:schemeClr val="tx2"/>
                </a:solidFill>
                <a:effectLst/>
                <a:uLnTx/>
                <a:uFillTx/>
                <a:latin typeface="华文中宋" panose="02010600040101010101" pitchFamily="2" charset="-122"/>
                <a:ea typeface="华文中宋" panose="02010600040101010101" pitchFamily="2" charset="-122"/>
                <a:cs typeface="+mj-cs"/>
                <a:sym typeface="+mn-ea"/>
              </a:rPr>
              <a:t>工资数据Web服务器的</a:t>
            </a:r>
            <a:r>
              <a:rPr kumimoji="0" lang="zh-CN" altLang="en-US" sz="2800" b="1" i="0" u="none" strike="noStrike" kern="0" cap="none" spc="10" normalizeH="0" baseline="0" noProof="0" dirty="0">
                <a:ln>
                  <a:noFill/>
                </a:ln>
                <a:solidFill>
                  <a:schemeClr val="tx2"/>
                </a:solidFill>
                <a:effectLst/>
                <a:uLnTx/>
                <a:uFillTx/>
                <a:latin typeface="华文中宋" panose="02010600040101010101" pitchFamily="2" charset="-122"/>
                <a:ea typeface="华文中宋" panose="02010600040101010101" pitchFamily="2" charset="-122"/>
                <a:cs typeface="+mj-cs"/>
              </a:rPr>
              <a:t>威胁树 </a:t>
            </a:r>
            <a:endParaRPr kumimoji="0" lang="zh-CN" altLang="en-US" sz="2800" b="1" i="0" u="none" strike="noStrike" kern="0" cap="none" spc="10" normalizeH="0" baseline="0" noProof="0" dirty="0">
              <a:ln>
                <a:noFill/>
              </a:ln>
              <a:solidFill>
                <a:schemeClr val="tx2"/>
              </a:solidFill>
              <a:effectLst/>
              <a:uLnTx/>
              <a:uFillTx/>
              <a:latin typeface="华文中宋" panose="02010600040101010101" pitchFamily="2" charset="-122"/>
              <a:ea typeface="华文中宋" panose="02010600040101010101" pitchFamily="2" charset="-122"/>
              <a:cs typeface="+mj-cs"/>
            </a:endParaRPr>
          </a:p>
        </p:txBody>
      </p:sp>
      <p:graphicFrame>
        <p:nvGraphicFramePr>
          <p:cNvPr id="32774" name="对象 -2147482582"/>
          <p:cNvGraphicFramePr>
            <a:graphicFrameLocks noChangeAspect="1"/>
          </p:cNvGraphicFramePr>
          <p:nvPr/>
        </p:nvGraphicFramePr>
        <p:xfrm>
          <a:off x="1463675" y="1936750"/>
          <a:ext cx="6348413" cy="4189413"/>
        </p:xfrm>
        <a:graphic>
          <a:graphicData uri="http://schemas.openxmlformats.org/presentationml/2006/ole">
            <mc:AlternateContent xmlns:mc="http://schemas.openxmlformats.org/markup-compatibility/2006">
              <mc:Choice xmlns:v="urn:schemas-microsoft-com:vml" Requires="v">
                <p:oleObj spid="_x0000_s3076" name="" r:id="rId1" imgW="6748780" imgH="4452620" progId="Visio.Drawing.15">
                  <p:embed/>
                </p:oleObj>
              </mc:Choice>
              <mc:Fallback>
                <p:oleObj name="" r:id="rId1" imgW="6748780" imgH="4452620" progId="Visio.Drawing.15">
                  <p:embed/>
                  <p:pic>
                    <p:nvPicPr>
                      <p:cNvPr id="0" name="图片 3075"/>
                      <p:cNvPicPr/>
                      <p:nvPr/>
                    </p:nvPicPr>
                    <p:blipFill>
                      <a:blip r:embed="rId2"/>
                      <a:stretch>
                        <a:fillRect/>
                      </a:stretch>
                    </p:blipFill>
                    <p:spPr>
                      <a:xfrm>
                        <a:off x="1463675" y="1936750"/>
                        <a:ext cx="6348413" cy="4189413"/>
                      </a:xfrm>
                      <a:prstGeom prst="rect">
                        <a:avLst/>
                      </a:prstGeom>
                      <a:noFill/>
                      <a:ln w="38100">
                        <a:noFill/>
                        <a:miter/>
                      </a:ln>
                    </p:spPr>
                  </p:pic>
                </p:oleObj>
              </mc:Fallback>
            </mc:AlternateContent>
          </a:graphicData>
        </a:graphic>
      </p:graphicFrame>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威胁树图</a:t>
            </a:r>
            <a:endParaRPr kumimoji="0" lang="zh-CN" altLang="en-US"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33795"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4" name="内容占位符 1"/>
          <p:cNvSpPr txBox="1"/>
          <p:nvPr/>
        </p:nvSpPr>
        <p:spPr bwMode="auto">
          <a:xfrm>
            <a:off x="442913" y="2057400"/>
            <a:ext cx="8229600" cy="4525963"/>
          </a:xfrm>
          <a:prstGeom prst="rect">
            <a:avLst/>
          </a:prstGeom>
          <a:noFill/>
          <a:ln w="9525">
            <a:noFill/>
            <a:miter lim="800000"/>
          </a:ln>
          <a:effectLst/>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n"/>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70000"/>
              <a:buFont typeface="Wingdings" panose="05000000000000000000"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9pPr>
          </a:lstStyle>
          <a:p>
            <a:pPr marL="388620" marR="0" lvl="0" indent="-342900" algn="l" defTabSz="914400" rtl="0" eaLnBrk="0" fontAlgn="base" latinLnBrk="0" hangingPunct="0">
              <a:lnSpc>
                <a:spcPct val="100000"/>
              </a:lnSpc>
              <a:spcBef>
                <a:spcPct val="20000"/>
              </a:spcBef>
              <a:spcAft>
                <a:spcPct val="0"/>
              </a:spcAft>
              <a:buClr>
                <a:schemeClr val="accent2">
                  <a:lumMod val="75000"/>
                </a:schemeClr>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可以向威胁树添加几个附件，显示最有可能的攻击向量。 </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88620" marR="0" lvl="0" indent="-342900" algn="l" defTabSz="914400" rtl="0" eaLnBrk="0" fontAlgn="base" latinLnBrk="0" hangingPunct="0">
              <a:lnSpc>
                <a:spcPct val="100000"/>
              </a:lnSpc>
              <a:spcBef>
                <a:spcPct val="20000"/>
              </a:spcBef>
              <a:spcAft>
                <a:spcPct val="0"/>
              </a:spcAft>
              <a:buClr>
                <a:schemeClr val="accent2">
                  <a:lumMod val="75000"/>
                </a:schemeClr>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用</a:t>
            </a: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虚线</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表示最不可能的攻击点 </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88620" marR="0" lvl="0" indent="-342900" algn="l" defTabSz="914400" rtl="0" eaLnBrk="0" fontAlgn="base" latinLnBrk="0" hangingPunct="0">
              <a:lnSpc>
                <a:spcPct val="100000"/>
              </a:lnSpc>
              <a:spcBef>
                <a:spcPct val="20000"/>
              </a:spcBef>
              <a:spcAft>
                <a:spcPct val="0"/>
              </a:spcAft>
              <a:buClr>
                <a:schemeClr val="accent2">
                  <a:lumMod val="75000"/>
                </a:schemeClr>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用</a:t>
            </a: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实线</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表示最可能的攻击点 </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88620" marR="0" lvl="0" indent="-342900" algn="l" defTabSz="914400" rtl="0" eaLnBrk="0" fontAlgn="base" latinLnBrk="0" hangingPunct="0">
              <a:lnSpc>
                <a:spcPct val="100000"/>
              </a:lnSpc>
              <a:spcBef>
                <a:spcPct val="20000"/>
              </a:spcBef>
              <a:spcAft>
                <a:spcPct val="0"/>
              </a:spcAft>
              <a:buClr>
                <a:schemeClr val="accent2">
                  <a:lumMod val="75000"/>
                </a:schemeClr>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在最不可能的攻击节点下放置</a:t>
            </a: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圆圈</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，说明攻击为什么会减弱。 </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CC00"/>
              </a:buClr>
              <a:buSzPct val="70000"/>
              <a:buFont typeface="Wingdings" panose="05000000000000000000" pitchFamily="2" charset="2"/>
              <a:buChar char="n"/>
              <a:defRPr/>
            </a:pPr>
            <a:endParaRPr kumimoji="0" lang="zh-CN" altLang="en-US" sz="2400" b="0" i="0" u="none" strike="noStrike" kern="0" cap="none" spc="0" normalizeH="0" baseline="0" noProof="0" dirty="0">
              <a:ln>
                <a:noFill/>
              </a:ln>
              <a:solidFill>
                <a:srgbClr val="FFFFFF"/>
              </a:solidFill>
              <a:effectLst>
                <a:outerShdw blurRad="38100" dist="38100" dir="2700000" algn="tl">
                  <a:srgbClr val="000000"/>
                </a:outerShdw>
              </a:effectLst>
              <a:uLnTx/>
              <a:uFillTx/>
              <a:latin typeface="Garamond" panose="02020404030301010803"/>
              <a:ea typeface="+mn-ea"/>
              <a:cs typeface="+mn-cs"/>
            </a:endParaRPr>
          </a:p>
          <a:p>
            <a:pPr marL="342900" marR="0" lvl="0" indent="-342900" algn="l" defTabSz="914400" rtl="0" eaLnBrk="0" fontAlgn="base" latinLnBrk="0" hangingPunct="0">
              <a:lnSpc>
                <a:spcPct val="100000"/>
              </a:lnSpc>
              <a:spcBef>
                <a:spcPct val="20000"/>
              </a:spcBef>
              <a:spcAft>
                <a:spcPct val="0"/>
              </a:spcAft>
              <a:buClr>
                <a:srgbClr val="FFCC00"/>
              </a:buClr>
              <a:buSzPct val="70000"/>
              <a:buFont typeface="Wingdings" panose="05000000000000000000" pitchFamily="2" charset="2"/>
              <a:buChar char="n"/>
              <a:defRPr/>
            </a:pPr>
            <a:endParaRPr kumimoji="0" lang="zh-CN" altLang="en-US" sz="2400" b="0" i="0" u="none" strike="noStrike" kern="0" cap="none" spc="0" normalizeH="0" baseline="0" noProof="0" dirty="0">
              <a:ln>
                <a:noFill/>
              </a:ln>
              <a:solidFill>
                <a:srgbClr val="FFFFFF"/>
              </a:solidFill>
              <a:effectLst>
                <a:outerShdw blurRad="38100" dist="38100" dir="2700000" algn="tl">
                  <a:srgbClr val="000000"/>
                </a:outerShdw>
              </a:effectLst>
              <a:uLnTx/>
              <a:uFillTx/>
              <a:latin typeface="Garamond" panose="02020404030301010803"/>
              <a:ea typeface="+mn-ea"/>
              <a:cs typeface="+mn-cs"/>
            </a:endParaRPr>
          </a:p>
        </p:txBody>
      </p:sp>
      <p:sp>
        <p:nvSpPr>
          <p:cNvPr id="5" name="标题 3"/>
          <p:cNvSpPr txBox="1"/>
          <p:nvPr/>
        </p:nvSpPr>
        <p:spPr bwMode="auto">
          <a:xfrm>
            <a:off x="457200" y="955675"/>
            <a:ext cx="8229600" cy="1143000"/>
          </a:xfrm>
          <a:prstGeom prst="rect">
            <a:avLst/>
          </a:prstGeom>
          <a:noFill/>
          <a:ln w="9525">
            <a:noFill/>
            <a:miter lim="800000"/>
          </a:ln>
          <a:effectLst/>
        </p:spPr>
        <p:txBody>
          <a:bodyPr anchor="ctr"/>
          <a:lstStyle>
            <a:lvl1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4572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9144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13716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18288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12700" marR="0" lvl="0" indent="0" algn="ctr" defTabSz="914400" rtl="0" eaLnBrk="0" fontAlgn="base" latinLnBrk="0" hangingPunct="0">
              <a:lnSpc>
                <a:spcPct val="100000"/>
              </a:lnSpc>
              <a:spcBef>
                <a:spcPct val="0"/>
              </a:spcBef>
              <a:spcAft>
                <a:spcPct val="0"/>
              </a:spcAft>
              <a:buClrTx/>
              <a:buSzTx/>
              <a:buFontTx/>
              <a:buNone/>
              <a:tabLst>
                <a:tab pos="354965" algn="l"/>
              </a:tabLst>
              <a:defRPr/>
            </a:pPr>
            <a:r>
              <a:rPr kumimoji="0" lang="zh-CN" altLang="en-US" sz="2800" b="1" i="0" u="none" strike="noStrike" kern="0" cap="none" spc="10" normalizeH="0" baseline="0" noProof="0" dirty="0">
                <a:ln>
                  <a:noFill/>
                </a:ln>
                <a:solidFill>
                  <a:schemeClr val="tx2"/>
                </a:solidFill>
                <a:effectLst/>
                <a:uLnTx/>
                <a:uFillTx/>
                <a:latin typeface="华文中宋" panose="02010600040101010101" pitchFamily="2" charset="-122"/>
                <a:ea typeface="华文中宋" panose="02010600040101010101" pitchFamily="2" charset="-122"/>
                <a:cs typeface="+mj-cs"/>
              </a:rPr>
              <a:t>增加威胁树的可读性 </a:t>
            </a:r>
            <a:endParaRPr kumimoji="0" lang="zh-CN" altLang="en-US" sz="2800" b="1" i="0" u="none" strike="noStrike" kern="0" cap="none" spc="10" normalizeH="0" baseline="0" noProof="0" dirty="0">
              <a:ln>
                <a:noFill/>
              </a:ln>
              <a:solidFill>
                <a:schemeClr val="tx2"/>
              </a:solidFill>
              <a:effectLst/>
              <a:uLnTx/>
              <a:uFillTx/>
              <a:latin typeface="华文中宋" panose="02010600040101010101" pitchFamily="2" charset="-122"/>
              <a:ea typeface="华文中宋" panose="02010600040101010101" pitchFamily="2" charset="-122"/>
              <a:cs typeface="+mj-cs"/>
            </a:endParaRPr>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威胁树图</a:t>
            </a:r>
            <a:endParaRPr kumimoji="0" lang="zh-CN" altLang="en-US"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34819"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aphicFrame>
        <p:nvGraphicFramePr>
          <p:cNvPr id="34820" name="对象 -2147482581"/>
          <p:cNvGraphicFramePr>
            <a:graphicFrameLocks noChangeAspect="1"/>
          </p:cNvGraphicFramePr>
          <p:nvPr/>
        </p:nvGraphicFramePr>
        <p:xfrm>
          <a:off x="1450975" y="1879600"/>
          <a:ext cx="6242050" cy="4318000"/>
        </p:xfrm>
        <a:graphic>
          <a:graphicData uri="http://schemas.openxmlformats.org/presentationml/2006/ole">
            <mc:AlternateContent xmlns:mc="http://schemas.openxmlformats.org/markup-compatibility/2006">
              <mc:Choice xmlns:v="urn:schemas-microsoft-com:vml" Requires="v">
                <p:oleObj spid="_x0000_s3077" name="" r:id="rId1" imgW="5804535" imgH="4582160" progId="Visio.Drawing.15">
                  <p:embed/>
                </p:oleObj>
              </mc:Choice>
              <mc:Fallback>
                <p:oleObj name="" r:id="rId1" imgW="5804535" imgH="4582160" progId="Visio.Drawing.15">
                  <p:embed/>
                  <p:pic>
                    <p:nvPicPr>
                      <p:cNvPr id="0" name="图片 3076"/>
                      <p:cNvPicPr/>
                      <p:nvPr/>
                    </p:nvPicPr>
                    <p:blipFill>
                      <a:blip r:embed="rId2"/>
                      <a:stretch>
                        <a:fillRect/>
                      </a:stretch>
                    </p:blipFill>
                    <p:spPr>
                      <a:xfrm>
                        <a:off x="1450975" y="1879600"/>
                        <a:ext cx="6242050" cy="4318000"/>
                      </a:xfrm>
                      <a:prstGeom prst="rect">
                        <a:avLst/>
                      </a:prstGeom>
                      <a:noFill/>
                      <a:ln w="38100">
                        <a:noFill/>
                        <a:miter/>
                      </a:ln>
                    </p:spPr>
                  </p:pic>
                </p:oleObj>
              </mc:Fallback>
            </mc:AlternateContent>
          </a:graphicData>
        </a:graphic>
      </p:graphicFrame>
      <p:sp>
        <p:nvSpPr>
          <p:cNvPr id="34821" name="文本框 99"/>
          <p:cNvSpPr txBox="1"/>
          <p:nvPr/>
        </p:nvSpPr>
        <p:spPr>
          <a:xfrm>
            <a:off x="720725" y="1216025"/>
            <a:ext cx="7877175" cy="460375"/>
          </a:xfrm>
          <a:prstGeom prst="rect">
            <a:avLst/>
          </a:prstGeom>
          <a:noFill/>
          <a:ln w="9525">
            <a:noFill/>
          </a:ln>
        </p:spPr>
        <p:txBody>
          <a:bodyPr>
            <a:spAutoFit/>
          </a:bodyPr>
          <a:p>
            <a:pPr indent="266700"/>
            <a:r>
              <a:rPr lang="zh-CN" altLang="zh-CN" b="0" dirty="0">
                <a:latin typeface="Calibri" panose="020F0502020204030204" pitchFamily="34" charset="0"/>
                <a:ea typeface="宋体" panose="02010600030101010101" pitchFamily="2" charset="-122"/>
              </a:rPr>
              <a:t>图显示了上传恶意</a:t>
            </a:r>
            <a:r>
              <a:rPr lang="en-US" altLang="zh-CN" b="0" dirty="0">
                <a:latin typeface="Calibri" panose="020F0502020204030204" pitchFamily="34" charset="0"/>
                <a:ea typeface="宋体" panose="02010600030101010101" pitchFamily="2" charset="-122"/>
              </a:rPr>
              <a:t>Web</a:t>
            </a:r>
            <a:r>
              <a:rPr lang="zh-CN" altLang="zh-CN" b="0" dirty="0">
                <a:latin typeface="Calibri" panose="020F0502020204030204" pitchFamily="34" charset="0"/>
                <a:ea typeface="宋体" panose="02010600030101010101" pitchFamily="2" charset="-122"/>
              </a:rPr>
              <a:t>页面的威胁树，并增加可读性。</a:t>
            </a:r>
            <a:endParaRPr lang="zh-CN" altLang="en-US" dirty="0">
              <a:latin typeface="华文中宋" panose="02010600040101010101" pitchFamily="2" charset="-122"/>
            </a:endParaRPr>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10" normalizeH="0" baseline="0" noProof="0" dirty="0">
                <a:ln>
                  <a:noFill/>
                </a:ln>
                <a:solidFill>
                  <a:schemeClr val="tx2"/>
                </a:solidFill>
                <a:effectLst/>
                <a:uLnTx/>
                <a:uFillTx/>
                <a:latin typeface="华文中宋" panose="02010600040101010101" pitchFamily="2" charset="-122"/>
                <a:ea typeface="华文中宋" panose="02010600040101010101" pitchFamily="2" charset="-122"/>
                <a:cs typeface="+mj-cs"/>
                <a:sym typeface="+mn-ea"/>
              </a:rPr>
              <a:t>3. </a:t>
            </a:r>
            <a:r>
              <a:rPr kumimoji="0" lang="zh-CN" altLang="en-US" sz="2800" b="1" i="0" u="none" strike="noStrike" kern="0" cap="none" spc="10" normalizeH="0" baseline="0" noProof="0" dirty="0">
                <a:ln>
                  <a:noFill/>
                </a:ln>
                <a:solidFill>
                  <a:schemeClr val="tx2"/>
                </a:solidFill>
                <a:effectLst/>
                <a:uLnTx/>
                <a:uFillTx/>
                <a:latin typeface="华文中宋" panose="02010600040101010101" pitchFamily="2" charset="-122"/>
                <a:ea typeface="华文中宋" panose="02010600040101010101" pitchFamily="2" charset="-122"/>
                <a:cs typeface="+mj-cs"/>
                <a:sym typeface="+mn-ea"/>
              </a:rPr>
              <a:t>威胁分级</a:t>
            </a:r>
            <a:endParaRPr kumimoji="0" lang="zh-CN" altLang="en-US"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35843"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4" name="内容占位符 1"/>
          <p:cNvSpPr txBox="1"/>
          <p:nvPr/>
        </p:nvSpPr>
        <p:spPr bwMode="auto">
          <a:xfrm>
            <a:off x="457200" y="1400175"/>
            <a:ext cx="8229600" cy="4525963"/>
          </a:xfrm>
          <a:prstGeom prst="rect">
            <a:avLst/>
          </a:prstGeom>
          <a:noFill/>
          <a:ln w="9525">
            <a:noFill/>
            <a:miter lim="800000"/>
          </a:ln>
          <a:effectLst/>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n"/>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70000"/>
              <a:buFont typeface="Wingdings" panose="05000000000000000000"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9pPr>
          </a:lstStyle>
          <a:p>
            <a:pPr marL="45720" marR="0" lvl="0" indent="0" algn="l" defTabSz="914400" rtl="0" eaLnBrk="0" fontAlgn="base" latinLnBrk="0" hangingPunct="0">
              <a:lnSpc>
                <a:spcPct val="120000"/>
              </a:lnSpc>
              <a:spcBef>
                <a:spcPts val="20"/>
              </a:spcBef>
              <a:spcAft>
                <a:spcPts val="0"/>
              </a:spcAft>
              <a:buClr>
                <a:schemeClr val="accent2">
                  <a:lumMod val="75000"/>
                </a:schemeClr>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当对软件的各个组件进行威胁建模之后，需要对记录的威胁进行分析，</a:t>
            </a:r>
            <a:r>
              <a:rPr kumimoji="0" lang="en-US" altLang="zh-CN"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确定各个威胁的等级</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en-US" altLang="zh-CN"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从而采取相应的措施减缓威胁</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使用</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DREAD</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计算风险 </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45720" marR="0" lvl="0" indent="0" algn="l" defTabSz="914400" rtl="0" eaLnBrk="0" fontAlgn="base" latinLnBrk="0" hangingPunct="0">
              <a:lnSpc>
                <a:spcPct val="120000"/>
              </a:lnSpc>
              <a:spcBef>
                <a:spcPts val="20"/>
              </a:spcBef>
              <a:spcAft>
                <a:spcPts val="0"/>
              </a:spcAft>
              <a:buClr>
                <a:schemeClr val="accent2">
                  <a:lumMod val="75000"/>
                </a:schemeClr>
              </a:buClr>
              <a:buSzPct val="70000"/>
              <a:buFont typeface="Wingdings" panose="05000000000000000000" pitchFamily="2" charset="2"/>
              <a:buNone/>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与</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STRIDE</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威胁模型类似</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,DREAD</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是下面短语的首字母缩写</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88620" marR="0" lvl="0" indent="-342900" algn="l" defTabSz="914400" rtl="0" eaLnBrk="0" fontAlgn="base" latinLnBrk="0" hangingPunct="0">
              <a:lnSpc>
                <a:spcPct val="120000"/>
              </a:lnSpc>
              <a:spcBef>
                <a:spcPts val="20"/>
              </a:spcBef>
              <a:spcAft>
                <a:spcPts val="0"/>
              </a:spcAft>
              <a:buClr>
                <a:schemeClr val="accent2">
                  <a:lumMod val="75000"/>
                </a:schemeClr>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潜在破坏性 </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Damage potential </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88620" marR="0" lvl="0" indent="-342900" algn="l" defTabSz="914400" rtl="0" eaLnBrk="0" fontAlgn="base" latinLnBrk="0" hangingPunct="0">
              <a:lnSpc>
                <a:spcPct val="120000"/>
              </a:lnSpc>
              <a:spcBef>
                <a:spcPts val="20"/>
              </a:spcBef>
              <a:spcAft>
                <a:spcPts val="0"/>
              </a:spcAft>
              <a:buClr>
                <a:schemeClr val="accent2">
                  <a:lumMod val="75000"/>
                </a:schemeClr>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再现性 </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Reproducibility </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88620" marR="0" lvl="0" indent="-342900" algn="l" defTabSz="914400" rtl="0" eaLnBrk="0" fontAlgn="base" latinLnBrk="0" hangingPunct="0">
              <a:lnSpc>
                <a:spcPct val="120000"/>
              </a:lnSpc>
              <a:spcBef>
                <a:spcPts val="20"/>
              </a:spcBef>
              <a:spcAft>
                <a:spcPts val="0"/>
              </a:spcAft>
              <a:buClr>
                <a:schemeClr val="accent2">
                  <a:lumMod val="75000"/>
                </a:schemeClr>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可利用性 </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Exploitability </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88620" marR="0" lvl="0" indent="-342900" algn="l" defTabSz="914400" rtl="0" eaLnBrk="0" fontAlgn="base" latinLnBrk="0" hangingPunct="0">
              <a:lnSpc>
                <a:spcPct val="120000"/>
              </a:lnSpc>
              <a:spcBef>
                <a:spcPts val="20"/>
              </a:spcBef>
              <a:spcAft>
                <a:spcPts val="0"/>
              </a:spcAft>
              <a:buClr>
                <a:schemeClr val="accent2">
                  <a:lumMod val="75000"/>
                </a:schemeClr>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影响用户 </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Affected users </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88620" marR="0" lvl="0" indent="-342900" algn="l" defTabSz="914400" rtl="0" eaLnBrk="0" fontAlgn="base" latinLnBrk="0" hangingPunct="0">
              <a:lnSpc>
                <a:spcPct val="120000"/>
              </a:lnSpc>
              <a:spcBef>
                <a:spcPts val="20"/>
              </a:spcBef>
              <a:spcAft>
                <a:spcPts val="0"/>
              </a:spcAft>
              <a:buClr>
                <a:schemeClr val="accent2">
                  <a:lumMod val="75000"/>
                </a:schemeClr>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可发现性 </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Discoverability </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0" fontAlgn="base" latinLnBrk="0" hangingPunct="0">
              <a:lnSpc>
                <a:spcPct val="120000"/>
              </a:lnSpc>
              <a:spcBef>
                <a:spcPts val="20"/>
              </a:spcBef>
              <a:spcAft>
                <a:spcPts val="0"/>
              </a:spcAft>
              <a:buClr>
                <a:srgbClr val="FFCC00"/>
              </a:buClr>
              <a:buSzPct val="70000"/>
              <a:buFont typeface="Wingdings" panose="05000000000000000000" pitchFamily="2" charset="2"/>
              <a:buChar char="n"/>
              <a:defRPr/>
            </a:pPr>
            <a:endParaRPr kumimoji="0" lang="zh-CN" altLang="en-US" sz="2400" b="0" i="0" u="none" strike="noStrike" kern="0" cap="none" spc="0" normalizeH="0" baseline="0" noProof="0" dirty="0">
              <a:ln>
                <a:noFill/>
              </a:ln>
              <a:solidFill>
                <a:srgbClr val="FFFFFF"/>
              </a:solidFill>
              <a:effectLst>
                <a:outerShdw blurRad="38100" dist="38100" dir="2700000" algn="tl">
                  <a:srgbClr val="000000"/>
                </a:outerShdw>
              </a:effectLst>
              <a:uLnTx/>
              <a:uFillTx/>
              <a:latin typeface="Garamond" panose="02020404030301010803"/>
              <a:ea typeface="+mn-ea"/>
              <a:cs typeface="+mn-cs"/>
            </a:endParaRPr>
          </a:p>
          <a:p>
            <a:pPr marL="342900" marR="0" lvl="0" indent="-342900" algn="l" defTabSz="914400" rtl="0" eaLnBrk="0" fontAlgn="base" latinLnBrk="0" hangingPunct="0">
              <a:lnSpc>
                <a:spcPct val="120000"/>
              </a:lnSpc>
              <a:spcBef>
                <a:spcPts val="20"/>
              </a:spcBef>
              <a:spcAft>
                <a:spcPts val="0"/>
              </a:spcAft>
              <a:buClr>
                <a:srgbClr val="FFCC00"/>
              </a:buClr>
              <a:buSzPct val="70000"/>
              <a:buFont typeface="Wingdings" panose="05000000000000000000" pitchFamily="2" charset="2"/>
              <a:buChar char="n"/>
              <a:defRPr/>
            </a:pPr>
            <a:endParaRPr kumimoji="0" lang="zh-CN" altLang="en-US" sz="2400" b="0" i="0" u="none" strike="noStrike" kern="0" cap="none" spc="0" normalizeH="0" baseline="0" noProof="0" dirty="0">
              <a:ln>
                <a:noFill/>
              </a:ln>
              <a:solidFill>
                <a:srgbClr val="FFFFFF"/>
              </a:solidFill>
              <a:effectLst>
                <a:outerShdw blurRad="38100" dist="38100" dir="2700000" algn="tl">
                  <a:srgbClr val="000000"/>
                </a:outerShdw>
              </a:effectLst>
              <a:uLnTx/>
              <a:uFillTx/>
              <a:latin typeface="Garamond" panose="02020404030301010803"/>
              <a:ea typeface="+mn-ea"/>
              <a:cs typeface="+mn-cs"/>
            </a:endParaRPr>
          </a:p>
          <a:p>
            <a:pPr marL="342900" marR="0" lvl="0" indent="-342900" algn="l" defTabSz="914400" rtl="0" eaLnBrk="0" fontAlgn="base" latinLnBrk="0" hangingPunct="0">
              <a:lnSpc>
                <a:spcPct val="100000"/>
              </a:lnSpc>
              <a:spcBef>
                <a:spcPct val="20000"/>
              </a:spcBef>
              <a:spcAft>
                <a:spcPct val="0"/>
              </a:spcAft>
              <a:buClr>
                <a:srgbClr val="FFCC00"/>
              </a:buClr>
              <a:buSzPct val="70000"/>
              <a:buFont typeface="Wingdings" panose="05000000000000000000" pitchFamily="2" charset="2"/>
              <a:buChar char="n"/>
              <a:defRPr/>
            </a:pPr>
            <a:endParaRPr kumimoji="0" lang="zh-CN" altLang="en-US" sz="2400" b="0" i="0" u="none" strike="noStrike" kern="0" cap="none" spc="0" normalizeH="0" baseline="0" noProof="0" dirty="0">
              <a:ln>
                <a:noFill/>
              </a:ln>
              <a:solidFill>
                <a:srgbClr val="FFFFFF"/>
              </a:solidFill>
              <a:effectLst>
                <a:outerShdw blurRad="38100" dist="38100" dir="2700000" algn="tl">
                  <a:srgbClr val="000000"/>
                </a:outerShdw>
              </a:effectLst>
              <a:uLnTx/>
              <a:uFillTx/>
              <a:latin typeface="Garamond" panose="02020404030301010803"/>
              <a:ea typeface="+mn-ea"/>
              <a:cs typeface="+mn-cs"/>
            </a:endParaRPr>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潜在破坏性</a:t>
            </a:r>
            <a:endParaRPr kumimoji="0" lang="zh-CN" altLang="en-US"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36867"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4" name="内容占位符 1"/>
          <p:cNvSpPr txBox="1"/>
          <p:nvPr/>
        </p:nvSpPr>
        <p:spPr bwMode="auto">
          <a:xfrm>
            <a:off x="457200" y="2255838"/>
            <a:ext cx="8229600" cy="4525963"/>
          </a:xfrm>
          <a:prstGeom prst="rect">
            <a:avLst/>
          </a:prstGeom>
          <a:noFill/>
          <a:ln w="9525">
            <a:noFill/>
            <a:miter lim="800000"/>
          </a:ln>
          <a:effectLst/>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n"/>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70000"/>
              <a:buFont typeface="Wingdings" panose="05000000000000000000"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9pPr>
          </a:lstStyle>
          <a:p>
            <a:pPr marL="388620" marR="0" lvl="0" indent="-342900" algn="l" defTabSz="914400" rtl="0" eaLnBrk="0" fontAlgn="base" latinLnBrk="0" hangingPunct="0">
              <a:lnSpc>
                <a:spcPct val="150000"/>
              </a:lnSpc>
              <a:spcBef>
                <a:spcPct val="20000"/>
              </a:spcBef>
              <a:spcAft>
                <a:spcPct val="0"/>
              </a:spcAft>
              <a:buClr>
                <a:schemeClr val="accent2">
                  <a:lumMod val="75000"/>
                </a:schemeClr>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衡量一下威胁可能造成的实际破坏程度</a:t>
            </a:r>
            <a:r>
              <a:rPr kumimoji="0" lang="en-US" altLang="zh-CN"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一般最糟糕的程度</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(10</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级</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是指让攻击者可能绕开所有的安全限制</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能做任何的破坏</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提升特权的威胁通常是</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10</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级</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其他的例子与受保护的数据的值有关</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医疗</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金融</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或军事数据通常等级都很高</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CC00"/>
              </a:buClr>
              <a:buSzPct val="70000"/>
              <a:buFont typeface="Wingdings" panose="05000000000000000000" pitchFamily="2" charset="2"/>
              <a:buChar char="n"/>
              <a:defRPr/>
            </a:pPr>
            <a:endParaRPr kumimoji="0" lang="zh-CN" altLang="en-US" sz="2400" b="0" i="0" u="none" strike="noStrike" kern="0" cap="none" spc="0" normalizeH="0" baseline="0" noProof="0" dirty="0">
              <a:ln>
                <a:noFill/>
              </a:ln>
              <a:solidFill>
                <a:srgbClr val="FFFFFF"/>
              </a:solidFill>
              <a:effectLst>
                <a:outerShdw blurRad="38100" dist="38100" dir="2700000" algn="tl">
                  <a:srgbClr val="000000"/>
                </a:outerShdw>
              </a:effectLst>
              <a:uLnTx/>
              <a:uFillTx/>
              <a:latin typeface="Garamond" panose="02020404030301010803"/>
              <a:ea typeface="+mn-ea"/>
              <a:cs typeface="+mn-cs"/>
            </a:endParaRPr>
          </a:p>
        </p:txBody>
      </p:sp>
      <p:sp>
        <p:nvSpPr>
          <p:cNvPr id="5" name="标题 3"/>
          <p:cNvSpPr txBox="1"/>
          <p:nvPr/>
        </p:nvSpPr>
        <p:spPr bwMode="auto">
          <a:xfrm>
            <a:off x="457200" y="930275"/>
            <a:ext cx="8229600" cy="1143000"/>
          </a:xfrm>
          <a:prstGeom prst="rect">
            <a:avLst/>
          </a:prstGeom>
          <a:noFill/>
          <a:ln w="9525">
            <a:noFill/>
            <a:miter lim="800000"/>
          </a:ln>
          <a:effectLst/>
        </p:spPr>
        <p:txBody>
          <a:bodyPr anchor="ctr"/>
          <a:lstStyle>
            <a:lvl1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4572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9144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13716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18288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12700" marR="0" lvl="0" indent="0" algn="ctr" defTabSz="914400" rtl="0" eaLnBrk="0" fontAlgn="base" latinLnBrk="0" hangingPunct="0">
              <a:lnSpc>
                <a:spcPct val="100000"/>
              </a:lnSpc>
              <a:spcBef>
                <a:spcPct val="0"/>
              </a:spcBef>
              <a:spcAft>
                <a:spcPct val="0"/>
              </a:spcAft>
              <a:buClrTx/>
              <a:buSzTx/>
              <a:buFontTx/>
              <a:buNone/>
              <a:tabLst>
                <a:tab pos="354965" algn="l"/>
              </a:tabLst>
              <a:defRPr/>
            </a:pPr>
            <a:r>
              <a:rPr kumimoji="0" lang="zh-CN" altLang="en-US" sz="2800" b="1" i="0" u="none" strike="noStrike" kern="0" cap="none" spc="10" normalizeH="0" baseline="0" noProof="0" dirty="0">
                <a:ln>
                  <a:noFill/>
                </a:ln>
                <a:solidFill>
                  <a:schemeClr val="tx2"/>
                </a:solidFill>
                <a:effectLst/>
                <a:uLnTx/>
                <a:uFillTx/>
                <a:latin typeface="华文中宋" panose="02010600040101010101" pitchFamily="2" charset="-122"/>
                <a:ea typeface="华文中宋" panose="02010600040101010101" pitchFamily="2" charset="-122"/>
                <a:cs typeface="+mj-cs"/>
              </a:rPr>
              <a:t>潜在破坏性 </a:t>
            </a:r>
            <a:r>
              <a:rPr kumimoji="0" lang="en-US" altLang="zh-CN" sz="2800" b="1" i="0" u="none" strike="noStrike" kern="0" cap="none" spc="10" normalizeH="0" baseline="0" noProof="0" dirty="0">
                <a:ln>
                  <a:noFill/>
                </a:ln>
                <a:solidFill>
                  <a:schemeClr val="tx2"/>
                </a:solidFill>
                <a:effectLst/>
                <a:uLnTx/>
                <a:uFillTx/>
                <a:latin typeface="华文中宋" panose="02010600040101010101" pitchFamily="2" charset="-122"/>
                <a:ea typeface="华文中宋" panose="02010600040101010101" pitchFamily="2" charset="-122"/>
                <a:cs typeface="+mj-cs"/>
              </a:rPr>
              <a:t>Damage potential </a:t>
            </a:r>
            <a:endParaRPr kumimoji="0" lang="zh-CN" altLang="en-US" sz="2800" b="1" i="0" u="none" strike="noStrike" kern="0" cap="none" spc="10" normalizeH="0" baseline="0" noProof="0" dirty="0">
              <a:ln>
                <a:noFill/>
              </a:ln>
              <a:solidFill>
                <a:schemeClr val="tx2"/>
              </a:solidFill>
              <a:effectLst/>
              <a:uLnTx/>
              <a:uFillTx/>
              <a:latin typeface="华文中宋" panose="02010600040101010101" pitchFamily="2" charset="-122"/>
              <a:ea typeface="华文中宋" panose="02010600040101010101" pitchFamily="2" charset="-122"/>
              <a:cs typeface="+mj-cs"/>
            </a:endParaRPr>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再现性</a:t>
            </a:r>
            <a:endParaRPr kumimoji="0" lang="zh-CN" altLang="en-US"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37891"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7" name="内容占位符 1"/>
          <p:cNvSpPr txBox="1"/>
          <p:nvPr/>
        </p:nvSpPr>
        <p:spPr bwMode="auto">
          <a:xfrm>
            <a:off x="539750" y="2257425"/>
            <a:ext cx="8229600" cy="3668713"/>
          </a:xfrm>
          <a:prstGeom prst="rect">
            <a:avLst/>
          </a:prstGeom>
          <a:noFill/>
          <a:ln w="9525">
            <a:noFill/>
            <a:miter lim="800000"/>
          </a:ln>
          <a:effectLst/>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n"/>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70000"/>
              <a:buFont typeface="Wingdings" panose="05000000000000000000"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9pPr>
          </a:lstStyle>
          <a:p>
            <a:pPr marL="388620" marR="0" lvl="0" indent="-342900" algn="l" defTabSz="914400" rtl="0" eaLnBrk="0" fontAlgn="base" latinLnBrk="0" hangingPunct="0">
              <a:lnSpc>
                <a:spcPct val="150000"/>
              </a:lnSpc>
              <a:spcBef>
                <a:spcPct val="20000"/>
              </a:spcBef>
              <a:spcAft>
                <a:spcPct val="0"/>
              </a:spcAft>
              <a:buClr>
                <a:schemeClr val="accent2">
                  <a:lumMod val="75000"/>
                </a:schemeClr>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让潜在的进攻起作用会有多简单</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衡量一下将威胁变为结果的简单性</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有些</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bug</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总是在起作用</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(10</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级</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而其他的比如复杂的基于时间的竞争状态</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却是不可预测的</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可能只会偶尔起作用</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同样</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默认安装的特性中的安全缺陷具有很高的再现性</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高再现性对多数攻击来说都是很重要的</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CC00"/>
              </a:buClr>
              <a:buSzPct val="70000"/>
              <a:buFont typeface="Wingdings" panose="05000000000000000000" pitchFamily="2" charset="2"/>
              <a:buChar char="n"/>
              <a:defRPr/>
            </a:pPr>
            <a:endParaRPr kumimoji="0" lang="zh-CN" altLang="en-US" sz="2400" b="0" i="0" u="none" strike="noStrike" kern="0" cap="none" spc="0" normalizeH="0" baseline="0" noProof="0" dirty="0">
              <a:ln>
                <a:noFill/>
              </a:ln>
              <a:solidFill>
                <a:srgbClr val="FFFFFF"/>
              </a:solidFill>
              <a:effectLst>
                <a:outerShdw blurRad="38100" dist="38100" dir="2700000" algn="tl">
                  <a:srgbClr val="000000"/>
                </a:outerShdw>
              </a:effectLst>
              <a:uLnTx/>
              <a:uFillTx/>
              <a:latin typeface="Garamond" panose="02020404030301010803"/>
              <a:ea typeface="+mn-ea"/>
              <a:cs typeface="+mn-cs"/>
            </a:endParaRPr>
          </a:p>
        </p:txBody>
      </p:sp>
      <p:sp>
        <p:nvSpPr>
          <p:cNvPr id="37893" name="灯片编号占位符 2"/>
          <p:cNvSpPr txBox="1"/>
          <p:nvPr/>
        </p:nvSpPr>
        <p:spPr>
          <a:xfrm>
            <a:off x="3206750" y="6905625"/>
            <a:ext cx="2895600" cy="476250"/>
          </a:xfrm>
          <a:prstGeom prst="rect">
            <a:avLst/>
          </a:prstGeom>
          <a:noFill/>
          <a:ln w="9525">
            <a:noFill/>
          </a:ln>
        </p:spPr>
        <p:txBody>
          <a:bodyPr anchor="b" anchorCtr="0"/>
          <a:p>
            <a:pPr algn="ctr" eaLnBrk="1" hangingPunct="1"/>
            <a:fld id="{9A0DB2DC-4C9A-4742-B13C-FB6460FD3503}" type="slidenum">
              <a:rPr lang="en-US" altLang="zh-CN" sz="1200" b="0" dirty="0">
                <a:solidFill>
                  <a:srgbClr val="FFFFFF"/>
                </a:solidFill>
                <a:latin typeface="Arial" panose="020B0604020202020204" pitchFamily="34" charset="0"/>
                <a:ea typeface="宋体" panose="02010600030101010101" pitchFamily="2" charset="-122"/>
              </a:rPr>
            </a:fld>
            <a:endParaRPr lang="en-US" altLang="zh-CN" sz="1200" b="0" dirty="0">
              <a:solidFill>
                <a:srgbClr val="FFFFFF"/>
              </a:solidFill>
              <a:latin typeface="Arial" panose="020B0604020202020204" pitchFamily="34" charset="0"/>
              <a:ea typeface="宋体" panose="02010600030101010101" pitchFamily="2" charset="-122"/>
            </a:endParaRPr>
          </a:p>
        </p:txBody>
      </p:sp>
      <p:sp>
        <p:nvSpPr>
          <p:cNvPr id="9" name="标题 3"/>
          <p:cNvSpPr txBox="1"/>
          <p:nvPr/>
        </p:nvSpPr>
        <p:spPr bwMode="auto">
          <a:xfrm>
            <a:off x="539750" y="931863"/>
            <a:ext cx="8229600" cy="1143000"/>
          </a:xfrm>
          <a:prstGeom prst="rect">
            <a:avLst/>
          </a:prstGeom>
          <a:noFill/>
          <a:ln w="9525">
            <a:noFill/>
            <a:miter lim="800000"/>
          </a:ln>
          <a:effectLst/>
        </p:spPr>
        <p:txBody>
          <a:bodyPr anchor="ctr"/>
          <a:lstStyle>
            <a:lvl1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4572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9144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13716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18288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12700" marR="0" lvl="0" indent="0" algn="ctr" defTabSz="914400" rtl="0" eaLnBrk="0" fontAlgn="base" latinLnBrk="0" hangingPunct="0">
              <a:lnSpc>
                <a:spcPct val="100000"/>
              </a:lnSpc>
              <a:spcBef>
                <a:spcPct val="0"/>
              </a:spcBef>
              <a:spcAft>
                <a:spcPct val="0"/>
              </a:spcAft>
              <a:buClrTx/>
              <a:buSzTx/>
              <a:buFontTx/>
              <a:buNone/>
              <a:tabLst>
                <a:tab pos="354965" algn="l"/>
              </a:tabLst>
              <a:defRPr/>
            </a:pPr>
            <a:r>
              <a:rPr kumimoji="0" lang="zh-CN" altLang="en-US" sz="2800" b="1" i="0" u="none" strike="noStrike" kern="0" cap="none" spc="10" normalizeH="0" baseline="0" noProof="0" dirty="0">
                <a:ln>
                  <a:noFill/>
                </a:ln>
                <a:solidFill>
                  <a:schemeClr val="tx2"/>
                </a:solidFill>
                <a:effectLst/>
                <a:uLnTx/>
                <a:uFillTx/>
                <a:latin typeface="华文中宋" panose="02010600040101010101" pitchFamily="2" charset="-122"/>
                <a:ea typeface="华文中宋" panose="02010600040101010101" pitchFamily="2" charset="-122"/>
                <a:cs typeface="+mj-cs"/>
              </a:rPr>
              <a:t>再现性 </a:t>
            </a:r>
            <a:r>
              <a:rPr kumimoji="0" lang="en-US" altLang="zh-CN" sz="2800" b="1" i="0" u="none" strike="noStrike" kern="0" cap="none" spc="10" normalizeH="0" baseline="0" noProof="0" dirty="0">
                <a:ln>
                  <a:noFill/>
                </a:ln>
                <a:solidFill>
                  <a:schemeClr val="tx2"/>
                </a:solidFill>
                <a:effectLst/>
                <a:uLnTx/>
                <a:uFillTx/>
                <a:latin typeface="华文中宋" panose="02010600040101010101" pitchFamily="2" charset="-122"/>
                <a:ea typeface="华文中宋" panose="02010600040101010101" pitchFamily="2" charset="-122"/>
                <a:cs typeface="+mj-cs"/>
              </a:rPr>
              <a:t>Reproducibility </a:t>
            </a:r>
            <a:endParaRPr kumimoji="0" lang="zh-CN" altLang="en-US" sz="2800" b="1" i="0" u="none" strike="noStrike" kern="0" cap="none" spc="10" normalizeH="0" baseline="0" noProof="0" dirty="0">
              <a:ln>
                <a:noFill/>
              </a:ln>
              <a:solidFill>
                <a:schemeClr val="tx2"/>
              </a:solidFill>
              <a:effectLst/>
              <a:uLnTx/>
              <a:uFillTx/>
              <a:latin typeface="华文中宋" panose="02010600040101010101" pitchFamily="2" charset="-122"/>
              <a:ea typeface="华文中宋" panose="02010600040101010101" pitchFamily="2" charset="-122"/>
              <a:cs typeface="+mj-cs"/>
            </a:endParaRPr>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可利用性</a:t>
            </a:r>
            <a:endParaRPr kumimoji="0" lang="zh-CN" altLang="en-US"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38915"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4" name="内容占位符 1"/>
          <p:cNvSpPr txBox="1"/>
          <p:nvPr/>
        </p:nvSpPr>
        <p:spPr bwMode="auto">
          <a:xfrm>
            <a:off x="544513" y="1995488"/>
            <a:ext cx="8229600" cy="4525963"/>
          </a:xfrm>
          <a:prstGeom prst="rect">
            <a:avLst/>
          </a:prstGeom>
          <a:noFill/>
          <a:ln w="9525">
            <a:noFill/>
            <a:miter lim="800000"/>
          </a:ln>
          <a:effectLst/>
        </p:spPr>
        <p:txBody>
          <a:bodyPr>
            <a:norm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n"/>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70000"/>
              <a:buFont typeface="Wingdings" panose="05000000000000000000"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9pPr>
          </a:lstStyle>
          <a:p>
            <a:pPr marL="388620" marR="0" lvl="0" indent="-342900" algn="l" defTabSz="914400" rtl="0" eaLnBrk="0" fontAlgn="base" latinLnBrk="0" hangingPunct="0">
              <a:lnSpc>
                <a:spcPct val="150000"/>
              </a:lnSpc>
              <a:spcBef>
                <a:spcPct val="20000"/>
              </a:spcBef>
              <a:spcAft>
                <a:spcPct val="0"/>
              </a:spcAft>
              <a:buClr>
                <a:schemeClr val="accent2">
                  <a:lumMod val="75000"/>
                </a:schemeClr>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进行一次攻击需要多少努力和专业知识</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88620" marR="0" lvl="0" indent="-342900" algn="l" defTabSz="914400" rtl="0" eaLnBrk="0" fontAlgn="base" latinLnBrk="0" hangingPunct="0">
              <a:lnSpc>
                <a:spcPct val="150000"/>
              </a:lnSpc>
              <a:spcBef>
                <a:spcPct val="20000"/>
              </a:spcBef>
              <a:spcAft>
                <a:spcPct val="0"/>
              </a:spcAft>
              <a:buClr>
                <a:schemeClr val="accent2">
                  <a:lumMod val="75000"/>
                </a:schemeClr>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例如</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如果一个程序员新手使用一台家庭</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PC</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进行攻击就能达到目的</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得分就会高达</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10</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分</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但是如果需要动用大量人力物力进行一次攻击</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那么得分可能仅仅为</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1</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分</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同时</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攻击需要的认证和授权也是需要考虑的</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如果一个匿名远程用户可以攻击</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那么等级为</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10,</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而仅仅本地用户且需要强证书才能进行</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就具有低得多的可利用性</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CC00"/>
              </a:buClr>
              <a:buSzPct val="70000"/>
              <a:buFont typeface="Wingdings" panose="05000000000000000000" pitchFamily="2" charset="2"/>
              <a:buChar char="n"/>
              <a:defRPr/>
            </a:pPr>
            <a:endParaRPr kumimoji="0" lang="zh-CN" altLang="en-US" sz="2400" b="0" i="0" u="none" strike="noStrike" kern="0" cap="none" spc="0" normalizeH="0" baseline="0" noProof="0" dirty="0">
              <a:ln>
                <a:noFill/>
              </a:ln>
              <a:solidFill>
                <a:srgbClr val="FFFFFF"/>
              </a:solidFill>
              <a:effectLst>
                <a:outerShdw blurRad="38100" dist="38100" dir="2700000" algn="tl">
                  <a:srgbClr val="000000"/>
                </a:outerShdw>
              </a:effectLst>
              <a:uLnTx/>
              <a:uFillTx/>
              <a:latin typeface="Garamond" panose="02020404030301010803"/>
              <a:ea typeface="+mn-ea"/>
              <a:cs typeface="+mn-cs"/>
            </a:endParaRPr>
          </a:p>
        </p:txBody>
      </p:sp>
      <p:sp>
        <p:nvSpPr>
          <p:cNvPr id="5" name="标题 3"/>
          <p:cNvSpPr txBox="1"/>
          <p:nvPr/>
        </p:nvSpPr>
        <p:spPr bwMode="auto">
          <a:xfrm>
            <a:off x="457200" y="955675"/>
            <a:ext cx="8229600" cy="1143000"/>
          </a:xfrm>
          <a:prstGeom prst="rect">
            <a:avLst/>
          </a:prstGeom>
          <a:noFill/>
          <a:ln w="9525">
            <a:noFill/>
            <a:miter lim="800000"/>
          </a:ln>
          <a:effectLst/>
        </p:spPr>
        <p:txBody>
          <a:bodyPr anchor="ctr"/>
          <a:lstStyle>
            <a:lvl1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4572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9144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13716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18288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12700" marR="0" lvl="0" indent="0" algn="ctr" defTabSz="914400" rtl="0" eaLnBrk="0" fontAlgn="base" latinLnBrk="0" hangingPunct="0">
              <a:lnSpc>
                <a:spcPct val="100000"/>
              </a:lnSpc>
              <a:spcBef>
                <a:spcPct val="0"/>
              </a:spcBef>
              <a:spcAft>
                <a:spcPct val="0"/>
              </a:spcAft>
              <a:buClrTx/>
              <a:buSzTx/>
              <a:buFontTx/>
              <a:buNone/>
              <a:tabLst>
                <a:tab pos="354965" algn="l"/>
              </a:tabLst>
              <a:defRPr/>
            </a:pPr>
            <a:r>
              <a:rPr kumimoji="0" lang="zh-CN" altLang="en-US" sz="2800" b="1" i="0" u="none" strike="noStrike" kern="0" cap="none" spc="10" normalizeH="0" baseline="0" noProof="0" dirty="0">
                <a:ln>
                  <a:noFill/>
                </a:ln>
                <a:solidFill>
                  <a:schemeClr val="tx2"/>
                </a:solidFill>
                <a:effectLst/>
                <a:uLnTx/>
                <a:uFillTx/>
                <a:latin typeface="华文中宋" panose="02010600040101010101" pitchFamily="2" charset="-122"/>
                <a:ea typeface="华文中宋" panose="02010600040101010101" pitchFamily="2" charset="-122"/>
                <a:cs typeface="+mj-cs"/>
              </a:rPr>
              <a:t>可利用性 </a:t>
            </a:r>
            <a:r>
              <a:rPr kumimoji="0" lang="en-US" altLang="zh-CN" sz="2800" b="1" i="0" u="none" strike="noStrike" kern="0" cap="none" spc="10" normalizeH="0" baseline="0" noProof="0" dirty="0">
                <a:ln>
                  <a:noFill/>
                </a:ln>
                <a:solidFill>
                  <a:schemeClr val="tx2"/>
                </a:solidFill>
                <a:effectLst/>
                <a:uLnTx/>
                <a:uFillTx/>
                <a:latin typeface="华文中宋" panose="02010600040101010101" pitchFamily="2" charset="-122"/>
                <a:ea typeface="华文中宋" panose="02010600040101010101" pitchFamily="2" charset="-122"/>
                <a:cs typeface="+mj-cs"/>
              </a:rPr>
              <a:t>Exploitability </a:t>
            </a:r>
            <a:endParaRPr kumimoji="0" lang="zh-CN" altLang="en-US" sz="2800" b="1" i="0" u="none" strike="noStrike" kern="0" cap="none" spc="10" normalizeH="0" baseline="0" noProof="0" dirty="0">
              <a:ln>
                <a:noFill/>
              </a:ln>
              <a:solidFill>
                <a:schemeClr val="tx2"/>
              </a:solidFill>
              <a:effectLst/>
              <a:uLnTx/>
              <a:uFillTx/>
              <a:latin typeface="华文中宋" panose="02010600040101010101" pitchFamily="2" charset="-122"/>
              <a:ea typeface="华文中宋" panose="02010600040101010101" pitchFamily="2" charset="-122"/>
              <a:cs typeface="+mj-cs"/>
            </a:endParaRPr>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影响用户</a:t>
            </a:r>
            <a:endParaRPr kumimoji="0" lang="zh-CN" altLang="en-US"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39939"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8" name="内容占位符 1"/>
          <p:cNvSpPr txBox="1"/>
          <p:nvPr/>
        </p:nvSpPr>
        <p:spPr bwMode="auto">
          <a:xfrm>
            <a:off x="457200" y="1951038"/>
            <a:ext cx="8229600" cy="4525963"/>
          </a:xfrm>
          <a:prstGeom prst="rect">
            <a:avLst/>
          </a:prstGeom>
          <a:noFill/>
          <a:ln w="9525">
            <a:noFill/>
            <a:miter lim="800000"/>
          </a:ln>
          <a:effectLst/>
        </p:spPr>
        <p:txBody>
          <a:bodyPr>
            <a:norm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n"/>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70000"/>
              <a:buFont typeface="Wingdings" panose="05000000000000000000"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9pPr>
          </a:lstStyle>
          <a:p>
            <a:pPr marL="388620" marR="0" lvl="0" indent="-342900" algn="l" defTabSz="914400" rtl="0" eaLnBrk="0" fontAlgn="base" latinLnBrk="0" hangingPunct="0">
              <a:lnSpc>
                <a:spcPct val="150000"/>
              </a:lnSpc>
              <a:spcBef>
                <a:spcPct val="20000"/>
              </a:spcBef>
              <a:spcAft>
                <a:spcPct val="0"/>
              </a:spcAft>
              <a:buClr>
                <a:schemeClr val="accent2">
                  <a:lumMod val="75000"/>
                </a:schemeClr>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如果威胁被利用并成为一次攻击</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有多少用户受到影响</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88620" marR="0" lvl="0" indent="-342900" algn="l" defTabSz="914400" rtl="0" eaLnBrk="0" fontAlgn="base" latinLnBrk="0" hangingPunct="0">
              <a:lnSpc>
                <a:spcPct val="150000"/>
              </a:lnSpc>
              <a:spcBef>
                <a:spcPct val="20000"/>
              </a:spcBef>
              <a:spcAft>
                <a:spcPct val="0"/>
              </a:spcAft>
              <a:buClr>
                <a:schemeClr val="accent2">
                  <a:lumMod val="75000"/>
                </a:schemeClr>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这可以用攻击影响的用户百分数来粗略的衡量</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100%-91%</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为</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10</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级一直到</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10%-0%</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为</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1</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级</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尽你所能去估计影响</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服务器和客户机的区别是非常重要的</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服务器会间接影响一大批客户机</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还会潜在的影响其他网络</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还需要考虑的是市场大小和用户的绝对数量</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而不仅仅是百分数</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,1</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亿用户的</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1%</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难道还是小数目吗</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CC00"/>
              </a:buClr>
              <a:buSzPct val="70000"/>
              <a:buFont typeface="Wingdings" panose="05000000000000000000" pitchFamily="2" charset="2"/>
              <a:buChar char="n"/>
              <a:defRPr/>
            </a:pPr>
            <a:endParaRPr kumimoji="0" lang="zh-CN" altLang="en-US" sz="2400" b="0" i="0" u="none" strike="noStrike" kern="0" cap="none" spc="0" normalizeH="0" baseline="0" noProof="0" dirty="0">
              <a:ln>
                <a:noFill/>
              </a:ln>
              <a:solidFill>
                <a:srgbClr val="FFFFFF"/>
              </a:solidFill>
              <a:effectLst>
                <a:outerShdw blurRad="38100" dist="38100" dir="2700000" algn="tl">
                  <a:srgbClr val="000000"/>
                </a:outerShdw>
              </a:effectLst>
              <a:uLnTx/>
              <a:uFillTx/>
              <a:latin typeface="Garamond" panose="02020404030301010803"/>
              <a:ea typeface="+mn-ea"/>
              <a:cs typeface="+mn-cs"/>
            </a:endParaRPr>
          </a:p>
        </p:txBody>
      </p:sp>
      <p:sp>
        <p:nvSpPr>
          <p:cNvPr id="9" name="标题 3"/>
          <p:cNvSpPr txBox="1"/>
          <p:nvPr/>
        </p:nvSpPr>
        <p:spPr bwMode="auto">
          <a:xfrm>
            <a:off x="457200" y="928688"/>
            <a:ext cx="8229600" cy="1143000"/>
          </a:xfrm>
          <a:prstGeom prst="rect">
            <a:avLst/>
          </a:prstGeom>
          <a:noFill/>
          <a:ln w="9525">
            <a:noFill/>
            <a:miter lim="800000"/>
          </a:ln>
          <a:effectLst/>
        </p:spPr>
        <p:txBody>
          <a:bodyPr anchor="ctr"/>
          <a:lstStyle>
            <a:lvl1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4572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9144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13716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18288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12700" marR="0" lvl="0" indent="0" algn="ctr" defTabSz="914400" rtl="0" eaLnBrk="0" fontAlgn="base" latinLnBrk="0" hangingPunct="0">
              <a:lnSpc>
                <a:spcPct val="100000"/>
              </a:lnSpc>
              <a:spcBef>
                <a:spcPct val="0"/>
              </a:spcBef>
              <a:spcAft>
                <a:spcPct val="0"/>
              </a:spcAft>
              <a:buClrTx/>
              <a:buSzTx/>
              <a:buFontTx/>
              <a:buNone/>
              <a:tabLst>
                <a:tab pos="354965" algn="l"/>
              </a:tabLst>
              <a:defRPr/>
            </a:pPr>
            <a:r>
              <a:rPr kumimoji="0" lang="zh-CN" altLang="en-US" sz="2800" b="1" i="0" u="none" strike="noStrike" kern="0" cap="none" spc="10" normalizeH="0" baseline="0" noProof="0" dirty="0">
                <a:ln>
                  <a:noFill/>
                </a:ln>
                <a:solidFill>
                  <a:schemeClr val="tx2"/>
                </a:solidFill>
                <a:effectLst/>
                <a:uLnTx/>
                <a:uFillTx/>
                <a:latin typeface="华文中宋" panose="02010600040101010101" pitchFamily="2" charset="-122"/>
                <a:ea typeface="华文中宋" panose="02010600040101010101" pitchFamily="2" charset="-122"/>
                <a:cs typeface="+mj-cs"/>
              </a:rPr>
              <a:t>影响用户 </a:t>
            </a:r>
            <a:r>
              <a:rPr kumimoji="0" lang="en-US" altLang="zh-CN" sz="2800" b="1" i="0" u="none" strike="noStrike" kern="0" cap="none" spc="10" normalizeH="0" baseline="0" noProof="0" dirty="0">
                <a:ln>
                  <a:noFill/>
                </a:ln>
                <a:solidFill>
                  <a:schemeClr val="tx2"/>
                </a:solidFill>
                <a:effectLst/>
                <a:uLnTx/>
                <a:uFillTx/>
                <a:latin typeface="华文中宋" panose="02010600040101010101" pitchFamily="2" charset="-122"/>
                <a:ea typeface="华文中宋" panose="02010600040101010101" pitchFamily="2" charset="-122"/>
                <a:cs typeface="+mj-cs"/>
              </a:rPr>
              <a:t>Affected users </a:t>
            </a:r>
            <a:endParaRPr kumimoji="0" lang="zh-CN" altLang="en-US" sz="2800" b="1" i="0" u="none" strike="noStrike" kern="0" cap="none" spc="10" normalizeH="0" baseline="0" noProof="0" dirty="0">
              <a:ln>
                <a:noFill/>
              </a:ln>
              <a:solidFill>
                <a:schemeClr val="tx2"/>
              </a:solidFill>
              <a:effectLst/>
              <a:uLnTx/>
              <a:uFillTx/>
              <a:latin typeface="华文中宋" panose="02010600040101010101" pitchFamily="2" charset="-122"/>
              <a:ea typeface="华文中宋" panose="02010600040101010101" pitchFamily="2" charset="-122"/>
              <a:cs typeface="+mj-cs"/>
            </a:endParaRPr>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可发现性</a:t>
            </a:r>
            <a:endParaRPr kumimoji="0" lang="zh-CN" altLang="en-US"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40963"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4" name="内容占位符 1"/>
          <p:cNvSpPr txBox="1"/>
          <p:nvPr/>
        </p:nvSpPr>
        <p:spPr bwMode="auto">
          <a:xfrm>
            <a:off x="457200" y="2205038"/>
            <a:ext cx="8229600" cy="2016125"/>
          </a:xfrm>
          <a:prstGeom prst="rect">
            <a:avLst/>
          </a:prstGeom>
          <a:noFill/>
          <a:ln w="9525">
            <a:noFill/>
            <a:miter lim="800000"/>
          </a:ln>
          <a:effectLst/>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n"/>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70000"/>
              <a:buFont typeface="Wingdings" panose="05000000000000000000"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9pPr>
          </a:lstStyle>
          <a:p>
            <a:pPr marL="388620" marR="0" lvl="0" indent="-342900" algn="l" defTabSz="914400" rtl="0" eaLnBrk="0" fontAlgn="base" latinLnBrk="0" hangingPunct="0">
              <a:lnSpc>
                <a:spcPct val="150000"/>
              </a:lnSpc>
              <a:spcBef>
                <a:spcPct val="20000"/>
              </a:spcBef>
              <a:spcAft>
                <a:spcPct val="0"/>
              </a:spcAft>
              <a:buClr>
                <a:schemeClr val="accent2">
                  <a:lumMod val="75000"/>
                </a:schemeClr>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这恐怕是最难确定的衡量标准</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最好保险且省事的方式就是</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假设每一个威胁都是可以被发现的</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给每个威胁都定为</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10</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级</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CC00"/>
              </a:buClr>
              <a:buSzPct val="70000"/>
              <a:buFont typeface="Wingdings" panose="05000000000000000000" pitchFamily="2" charset="2"/>
              <a:buChar char="n"/>
              <a:defRPr/>
            </a:pPr>
            <a:endParaRPr kumimoji="0" lang="zh-CN" altLang="en-US" sz="2400" b="0" i="0" u="none" strike="noStrike" kern="0" cap="none" spc="0" normalizeH="0" baseline="0" noProof="0" dirty="0">
              <a:ln>
                <a:noFill/>
              </a:ln>
              <a:solidFill>
                <a:srgbClr val="FFFFFF"/>
              </a:solidFill>
              <a:effectLst>
                <a:outerShdw blurRad="38100" dist="38100" dir="2700000" algn="tl">
                  <a:srgbClr val="000000"/>
                </a:outerShdw>
              </a:effectLst>
              <a:uLnTx/>
              <a:uFillTx/>
              <a:latin typeface="Garamond" panose="02020404030301010803"/>
              <a:ea typeface="+mn-ea"/>
              <a:cs typeface="+mn-cs"/>
            </a:endParaRPr>
          </a:p>
        </p:txBody>
      </p:sp>
      <p:sp>
        <p:nvSpPr>
          <p:cNvPr id="5" name="标题 3"/>
          <p:cNvSpPr txBox="1"/>
          <p:nvPr/>
        </p:nvSpPr>
        <p:spPr bwMode="auto">
          <a:xfrm>
            <a:off x="457200" y="879475"/>
            <a:ext cx="8229600" cy="1143000"/>
          </a:xfrm>
          <a:prstGeom prst="rect">
            <a:avLst/>
          </a:prstGeom>
          <a:noFill/>
          <a:ln w="9525">
            <a:noFill/>
            <a:miter lim="800000"/>
          </a:ln>
          <a:effectLst/>
        </p:spPr>
        <p:txBody>
          <a:bodyPr anchor="ctr"/>
          <a:lstStyle>
            <a:lvl1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4572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9144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13716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18288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12700" marR="0" lvl="0" indent="0" algn="ctr" defTabSz="914400" rtl="0" eaLnBrk="0" fontAlgn="base" latinLnBrk="0" hangingPunct="0">
              <a:lnSpc>
                <a:spcPct val="100000"/>
              </a:lnSpc>
              <a:spcBef>
                <a:spcPct val="0"/>
              </a:spcBef>
              <a:spcAft>
                <a:spcPct val="0"/>
              </a:spcAft>
              <a:buClrTx/>
              <a:buSzTx/>
              <a:buFontTx/>
              <a:buNone/>
              <a:tabLst>
                <a:tab pos="354965" algn="l"/>
              </a:tabLst>
              <a:defRPr/>
            </a:pPr>
            <a:r>
              <a:rPr kumimoji="0" lang="zh-CN" altLang="en-US" sz="2800" b="1" i="0" u="none" strike="noStrike" kern="0" cap="none" spc="10" normalizeH="0" baseline="0" noProof="0" dirty="0">
                <a:ln>
                  <a:noFill/>
                </a:ln>
                <a:solidFill>
                  <a:schemeClr val="tx2"/>
                </a:solidFill>
                <a:effectLst/>
                <a:uLnTx/>
                <a:uFillTx/>
                <a:latin typeface="华文中宋" panose="02010600040101010101" pitchFamily="2" charset="-122"/>
                <a:ea typeface="华文中宋" panose="02010600040101010101" pitchFamily="2" charset="-122"/>
                <a:cs typeface="+mj-cs"/>
              </a:rPr>
              <a:t>可发现性 </a:t>
            </a:r>
            <a:r>
              <a:rPr kumimoji="0" lang="en-US" altLang="zh-CN" sz="2800" b="1" i="0" u="none" strike="noStrike" kern="0" cap="none" spc="10" normalizeH="0" baseline="0" noProof="0" dirty="0">
                <a:ln>
                  <a:noFill/>
                </a:ln>
                <a:solidFill>
                  <a:schemeClr val="tx2"/>
                </a:solidFill>
                <a:effectLst/>
                <a:uLnTx/>
                <a:uFillTx/>
                <a:latin typeface="华文中宋" panose="02010600040101010101" pitchFamily="2" charset="-122"/>
                <a:ea typeface="华文中宋" panose="02010600040101010101" pitchFamily="2" charset="-122"/>
                <a:cs typeface="+mj-cs"/>
              </a:rPr>
              <a:t>Discoverability </a:t>
            </a:r>
            <a:endParaRPr kumimoji="0" lang="zh-CN" altLang="en-US" sz="2800" b="1" i="0" u="none" strike="noStrike" kern="0" cap="none" spc="10" normalizeH="0" baseline="0" noProof="0" dirty="0">
              <a:ln>
                <a:noFill/>
              </a:ln>
              <a:solidFill>
                <a:schemeClr val="tx2"/>
              </a:solidFill>
              <a:effectLst/>
              <a:uLnTx/>
              <a:uFillTx/>
              <a:latin typeface="华文中宋" panose="02010600040101010101" pitchFamily="2" charset="-122"/>
              <a:ea typeface="华文中宋" panose="02010600040101010101" pitchFamily="2" charset="-122"/>
              <a:cs typeface="+mj-cs"/>
            </a:endParaRPr>
          </a:p>
        </p:txBody>
      </p:sp>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标题 1"/>
          <p:cNvSpPr>
            <a:spLocks noGrp="1" noChangeArrowheads="1"/>
          </p:cNvSpPr>
          <p:nvPr>
            <p:ph type="title"/>
          </p:nvPr>
        </p:nvSpPr>
        <p:spPr/>
        <p:txBody>
          <a:bodyPr vert="horz" wrap="square" lIns="91440" tIns="45720" rIns="91440" bIns="45720" numCol="1" anchor="ctr" anchorCtr="0" compatLnSpc="1"/>
          <a:lstStyle/>
          <a:p>
            <a:pPr marL="12700" marR="0" lvl="0" indent="0" algn="ctr" defTabSz="914400" rtl="0" eaLnBrk="0" fontAlgn="base" latinLnBrk="0" hangingPunct="0">
              <a:lnSpc>
                <a:spcPct val="100000"/>
              </a:lnSpc>
              <a:spcBef>
                <a:spcPct val="0"/>
              </a:spcBef>
              <a:spcAft>
                <a:spcPct val="0"/>
              </a:spcAft>
              <a:buClrTx/>
              <a:buSzTx/>
              <a:buFontTx/>
              <a:buNone/>
              <a:tabLst>
                <a:tab pos="354965" algn="l"/>
              </a:tabLst>
              <a:defRPr/>
            </a:pPr>
            <a:r>
              <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威胁分级 </a:t>
            </a:r>
            <a:endPar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41987"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7" name="内容占位符 1"/>
          <p:cNvSpPr txBox="1"/>
          <p:nvPr/>
        </p:nvSpPr>
        <p:spPr bwMode="auto">
          <a:xfrm>
            <a:off x="368300" y="1412875"/>
            <a:ext cx="8407400" cy="4635500"/>
          </a:xfrm>
          <a:prstGeom prst="rect">
            <a:avLst/>
          </a:prstGeom>
          <a:noFill/>
          <a:ln w="9525">
            <a:noFill/>
            <a:miter lim="800000"/>
          </a:ln>
          <a:effectLst/>
        </p:spPr>
        <p:txBody>
          <a:bodyPr>
            <a:norm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n"/>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70000"/>
              <a:buFont typeface="Wingdings" panose="05000000000000000000"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9pPr>
          </a:lstStyle>
          <a:p>
            <a:pPr marL="388620" marR="0" lvl="0" indent="-342900" algn="l" defTabSz="914400" rtl="0" eaLnBrk="0" fontAlgn="base" latinLnBrk="0" hangingPunct="0">
              <a:lnSpc>
                <a:spcPct val="100000"/>
              </a:lnSpc>
              <a:spcBef>
                <a:spcPct val="20000"/>
              </a:spcBef>
              <a:spcAft>
                <a:spcPct val="0"/>
              </a:spcAft>
              <a:buClr>
                <a:schemeClr val="accent2">
                  <a:lumMod val="75000"/>
                </a:schemeClr>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通过平均这几个数</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我们就可以确定</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DREAD</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的级别 </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45720" marR="0" lvl="0" indent="0" algn="l" defTabSz="914400" rtl="0" eaLnBrk="0" fontAlgn="base" latinLnBrk="0" hangingPunct="0">
              <a:lnSpc>
                <a:spcPct val="100000"/>
              </a:lnSpc>
              <a:spcBef>
                <a:spcPct val="20000"/>
              </a:spcBef>
              <a:spcAft>
                <a:spcPct val="0"/>
              </a:spcAft>
              <a:buClr>
                <a:schemeClr val="accent2">
                  <a:lumMod val="75000"/>
                </a:schemeClr>
              </a:buClr>
              <a:buSzPct val="70000"/>
              <a:buFont typeface="Wingdings" panose="05000000000000000000" pitchFamily="2" charset="2"/>
              <a:buNone/>
              <a:defRPr/>
            </a:pP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45720" marR="0" lvl="0" indent="0" algn="l" defTabSz="914400" rtl="0" eaLnBrk="0" fontAlgn="base" latinLnBrk="0" hangingPunct="0">
              <a:lnSpc>
                <a:spcPct val="100000"/>
              </a:lnSpc>
              <a:spcBef>
                <a:spcPct val="20000"/>
              </a:spcBef>
              <a:spcAft>
                <a:spcPct val="0"/>
              </a:spcAft>
              <a:buClr>
                <a:schemeClr val="accent2">
                  <a:lumMod val="75000"/>
                </a:schemeClr>
              </a:buClr>
              <a:buSzPct val="70000"/>
              <a:buFont typeface="Wingdings" panose="05000000000000000000" pitchFamily="2" charset="2"/>
              <a:buNone/>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例子</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1:</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恶意用户浏览网络上的秘密工资数据</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88620" marR="0" lvl="0" indent="-342900" algn="l" defTabSz="914400" rtl="0" eaLnBrk="0" fontAlgn="base" latinLnBrk="0" hangingPunct="0">
              <a:lnSpc>
                <a:spcPct val="100000"/>
              </a:lnSpc>
              <a:spcBef>
                <a:spcPct val="20000"/>
              </a:spcBef>
              <a:spcAft>
                <a:spcPct val="0"/>
              </a:spcAft>
              <a:buClr>
                <a:schemeClr val="accent2">
                  <a:lumMod val="75000"/>
                </a:schemeClr>
              </a:buClr>
              <a:buSzPct val="70000"/>
              <a:buFont typeface="Wingdings" panose="05000000000000000000" pitchFamily="2" charset="2"/>
              <a:buChar char="l"/>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8 </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潜在破坏性</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读取用户的是由工资数据不是开玩笑的</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88620" marR="0" lvl="0" indent="-342900" algn="l" defTabSz="914400" rtl="0" eaLnBrk="0" fontAlgn="base" latinLnBrk="0" hangingPunct="0">
              <a:lnSpc>
                <a:spcPct val="100000"/>
              </a:lnSpc>
              <a:spcBef>
                <a:spcPct val="20000"/>
              </a:spcBef>
              <a:spcAft>
                <a:spcPct val="0"/>
              </a:spcAft>
              <a:buClr>
                <a:schemeClr val="accent2">
                  <a:lumMod val="75000"/>
                </a:schemeClr>
              </a:buClr>
              <a:buSzPct val="70000"/>
              <a:buFont typeface="Wingdings" panose="05000000000000000000" pitchFamily="2" charset="2"/>
              <a:buChar char="l"/>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10 </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再现性</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这是</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100%</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可再现的。</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88620" marR="0" lvl="0" indent="-342900" algn="l" defTabSz="914400" rtl="0" eaLnBrk="0" fontAlgn="base" latinLnBrk="0" hangingPunct="0">
              <a:lnSpc>
                <a:spcPct val="100000"/>
              </a:lnSpc>
              <a:spcBef>
                <a:spcPct val="20000"/>
              </a:spcBef>
              <a:spcAft>
                <a:spcPct val="0"/>
              </a:spcAft>
              <a:buClr>
                <a:schemeClr val="accent2">
                  <a:lumMod val="75000"/>
                </a:schemeClr>
              </a:buClr>
              <a:buSzPct val="70000"/>
              <a:buFont typeface="Wingdings" panose="05000000000000000000" pitchFamily="2" charset="2"/>
              <a:buChar char="l"/>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7 </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可利用性</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必须在子网内</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或者已经攻破了路由器。</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88620" marR="0" lvl="0" indent="-342900" algn="l" defTabSz="914400" rtl="0" eaLnBrk="0" fontAlgn="base" latinLnBrk="0" hangingPunct="0">
              <a:lnSpc>
                <a:spcPct val="100000"/>
              </a:lnSpc>
              <a:spcBef>
                <a:spcPct val="20000"/>
              </a:spcBef>
              <a:spcAft>
                <a:spcPct val="0"/>
              </a:spcAft>
              <a:buClr>
                <a:schemeClr val="accent2">
                  <a:lumMod val="75000"/>
                </a:schemeClr>
              </a:buClr>
              <a:buSzPct val="70000"/>
              <a:buFont typeface="Wingdings" panose="05000000000000000000" pitchFamily="2" charset="2"/>
              <a:buChar char="l"/>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10 </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影响用户</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每个人</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包括</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CEO,</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都会受此影响</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88620" marR="0" lvl="0" indent="-342900" algn="l" defTabSz="914400" rtl="0" eaLnBrk="0" fontAlgn="base" latinLnBrk="0" hangingPunct="0">
              <a:lnSpc>
                <a:spcPct val="100000"/>
              </a:lnSpc>
              <a:spcBef>
                <a:spcPct val="20000"/>
              </a:spcBef>
              <a:spcAft>
                <a:spcPct val="0"/>
              </a:spcAft>
              <a:buClr>
                <a:schemeClr val="accent2">
                  <a:lumMod val="75000"/>
                </a:schemeClr>
              </a:buClr>
              <a:buSzPct val="70000"/>
              <a:buFont typeface="Wingdings" panose="05000000000000000000" pitchFamily="2" charset="2"/>
              <a:buChar char="l"/>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10 </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可发现性</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我们就假定它会被发现</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88620" marR="0" lvl="0" indent="-342900" algn="l" defTabSz="914400" rtl="0" eaLnBrk="0" fontAlgn="base" latinLnBrk="0" hangingPunct="0">
              <a:lnSpc>
                <a:spcPct val="100000"/>
              </a:lnSpc>
              <a:spcBef>
                <a:spcPct val="20000"/>
              </a:spcBef>
              <a:spcAft>
                <a:spcPct val="0"/>
              </a:spcAft>
              <a:buClr>
                <a:schemeClr val="accent2">
                  <a:lumMod val="75000"/>
                </a:schemeClr>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风险</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DREAD : (8+10+7+10+10)/5=9 </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88620" marR="0" lvl="0" indent="-342900" algn="l" defTabSz="914400" rtl="0" eaLnBrk="0" fontAlgn="base" latinLnBrk="0" hangingPunct="0">
              <a:lnSpc>
                <a:spcPct val="100000"/>
              </a:lnSpc>
              <a:spcBef>
                <a:spcPct val="20000"/>
              </a:spcBef>
              <a:spcAft>
                <a:spcPct val="0"/>
              </a:spcAft>
              <a:buClr>
                <a:schemeClr val="accent2">
                  <a:lumMod val="75000"/>
                </a:schemeClr>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显然</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,9</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是个很严重的等级</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意味着这个威胁应该尽快解决</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CC00"/>
              </a:buClr>
              <a:buSzPct val="70000"/>
              <a:buFont typeface="Wingdings" panose="05000000000000000000" pitchFamily="2" charset="2"/>
              <a:buChar char="n"/>
              <a:defRPr/>
            </a:pPr>
            <a:endParaRPr kumimoji="0" lang="zh-CN" altLang="en-US" sz="2400" b="0" i="0" u="none" strike="noStrike" kern="0" cap="none" spc="0" normalizeH="0" baseline="0" noProof="0" dirty="0">
              <a:ln>
                <a:noFill/>
              </a:ln>
              <a:solidFill>
                <a:srgbClr val="FFFFFF"/>
              </a:solidFill>
              <a:effectLst>
                <a:outerShdw blurRad="38100" dist="38100" dir="2700000" algn="tl">
                  <a:srgbClr val="000000"/>
                </a:outerShdw>
              </a:effectLst>
              <a:uLnTx/>
              <a:uFillTx/>
              <a:latin typeface="Garamond" panose="02020404030301010803"/>
              <a:ea typeface="+mn-ea"/>
              <a:cs typeface="+mn-cs"/>
            </a:endParaRPr>
          </a:p>
        </p:txBody>
      </p:sp>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标题 1"/>
          <p:cNvSpPr>
            <a:spLocks noGrp="1" noChangeArrowheads="1"/>
          </p:cNvSpPr>
          <p:nvPr>
            <p:ph type="title"/>
          </p:nvPr>
        </p:nvSpPr>
        <p:spPr/>
        <p:txBody>
          <a:bodyPr vert="horz" wrap="square" lIns="91440" tIns="45720" rIns="91440" bIns="45720" numCol="1" anchor="ctr" anchorCtr="0" compatLnSpc="1"/>
          <a:lstStyle/>
          <a:p>
            <a:pPr marL="12700" marR="0" lvl="0" indent="0" algn="ctr" defTabSz="914400" rtl="0" eaLnBrk="0" fontAlgn="base" latinLnBrk="0" hangingPunct="0">
              <a:lnSpc>
                <a:spcPct val="100000"/>
              </a:lnSpc>
              <a:spcBef>
                <a:spcPct val="0"/>
              </a:spcBef>
              <a:spcAft>
                <a:spcPct val="0"/>
              </a:spcAft>
              <a:buClrTx/>
              <a:buSzTx/>
              <a:buFontTx/>
              <a:buNone/>
              <a:tabLst>
                <a:tab pos="354965" algn="l"/>
              </a:tabLst>
              <a:defRPr/>
            </a:pPr>
            <a:r>
              <a:rPr kumimoji="0" lang="en-US" altLang="zh-CN" sz="2800" b="1" i="0" u="none" strike="noStrike" kern="0" cap="none" spc="10" normalizeH="0" baseline="0" noProof="0" dirty="0">
                <a:ln>
                  <a:noFill/>
                </a:ln>
                <a:solidFill>
                  <a:schemeClr val="tx2"/>
                </a:solidFill>
                <a:effectLst/>
                <a:uLnTx/>
                <a:uFillTx/>
                <a:latin typeface="华文中宋" panose="02010600040101010101" pitchFamily="2" charset="-122"/>
                <a:ea typeface="华文中宋" panose="02010600040101010101" pitchFamily="2" charset="-122"/>
                <a:cs typeface="+mj-cs"/>
              </a:rPr>
              <a:t>4. </a:t>
            </a:r>
            <a:r>
              <a:rPr kumimoji="0" lang="zh-CN" altLang="en-US" sz="2800" b="1" i="0" u="none" strike="noStrike" kern="0" cap="none" spc="10" normalizeH="0" baseline="0" noProof="0" dirty="0">
                <a:ln>
                  <a:noFill/>
                </a:ln>
                <a:solidFill>
                  <a:schemeClr val="tx2"/>
                </a:solidFill>
                <a:effectLst/>
                <a:uLnTx/>
                <a:uFillTx/>
                <a:latin typeface="华文中宋" panose="02010600040101010101" pitchFamily="2" charset="-122"/>
                <a:ea typeface="华文中宋" panose="02010600040101010101" pitchFamily="2" charset="-122"/>
                <a:cs typeface="+mj-cs"/>
              </a:rPr>
              <a:t>威胁消减</a:t>
            </a:r>
            <a:endParaRPr kumimoji="0" lang="zh-CN" altLang="en-US" sz="2800" b="1" i="0" u="none" strike="noStrike" kern="0" cap="none" spc="1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43011"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43012" name="object 17"/>
          <p:cNvSpPr txBox="1"/>
          <p:nvPr/>
        </p:nvSpPr>
        <p:spPr>
          <a:xfrm>
            <a:off x="857250" y="1106488"/>
            <a:ext cx="7604125" cy="800100"/>
          </a:xfrm>
          <a:prstGeom prst="rect">
            <a:avLst/>
          </a:prstGeom>
          <a:noFill/>
          <a:ln w="9525">
            <a:noFill/>
          </a:ln>
        </p:spPr>
        <p:txBody>
          <a:bodyPr lIns="0" tIns="0" rIns="0" bIns="0">
            <a:spAutoFit/>
          </a:bodyPr>
          <a:p>
            <a:pPr marL="12700" defTabSz="914400" eaLnBrk="1" hangingPunct="1">
              <a:tabLst>
                <a:tab pos="355600" algn="l"/>
              </a:tabLst>
            </a:pPr>
            <a:r>
              <a:rPr lang="zh-CN" altLang="zh-CN" b="0" dirty="0">
                <a:solidFill>
                  <a:schemeClr val="tx1"/>
                </a:solidFill>
                <a:latin typeface="华文中宋" panose="02010600040101010101" pitchFamily="2" charset="-122"/>
              </a:rPr>
              <a:t>确定防御威胁的相关技术。</a:t>
            </a:r>
            <a:endParaRPr lang="en-US" altLang="zh-CN" b="0" dirty="0">
              <a:solidFill>
                <a:schemeClr val="tx1"/>
              </a:solidFill>
              <a:latin typeface="华文中宋" panose="02010600040101010101" pitchFamily="2" charset="-122"/>
            </a:endParaRPr>
          </a:p>
          <a:p>
            <a:pPr marL="12700" defTabSz="914400" eaLnBrk="1" hangingPunct="1">
              <a:tabLst>
                <a:tab pos="355600" algn="l"/>
              </a:tabLst>
            </a:pPr>
            <a:endParaRPr lang="en-US" altLang="zh-CN" sz="2800" b="0" dirty="0">
              <a:solidFill>
                <a:srgbClr val="FFFFFF"/>
              </a:solidFill>
              <a:latin typeface="宋体" panose="02010600030101010101" pitchFamily="2" charset="-122"/>
              <a:ea typeface="宋体" panose="02010600030101010101" pitchFamily="2" charset="-122"/>
            </a:endParaRPr>
          </a:p>
        </p:txBody>
      </p:sp>
      <p:graphicFrame>
        <p:nvGraphicFramePr>
          <p:cNvPr id="2" name="表格 1"/>
          <p:cNvGraphicFramePr/>
          <p:nvPr/>
        </p:nvGraphicFramePr>
        <p:xfrm>
          <a:off x="681038" y="1739900"/>
          <a:ext cx="7780338" cy="4298950"/>
        </p:xfrm>
        <a:graphic>
          <a:graphicData uri="http://schemas.openxmlformats.org/drawingml/2006/table">
            <a:tbl>
              <a:tblPr firstRow="1" bandRow="1">
                <a:tableStyleId>{5940675A-B579-460E-94D1-54222C63F5DA}</a:tableStyleId>
              </a:tblPr>
              <a:tblGrid>
                <a:gridCol w="1153842"/>
                <a:gridCol w="6626495"/>
              </a:tblGrid>
              <a:tr h="466090">
                <a:tc>
                  <a:txBody>
                    <a:bodyPr/>
                    <a:lstStyle/>
                    <a:p>
                      <a:pPr indent="0" algn="ctr">
                        <a:buNone/>
                      </a:pPr>
                      <a:r>
                        <a:rPr lang="en-US" sz="2000" b="1">
                          <a:latin typeface="宋体" panose="02010600030101010101" pitchFamily="2" charset="-122"/>
                          <a:ea typeface="宋体" panose="02010600030101010101" pitchFamily="2" charset="-122"/>
                          <a:cs typeface="宋体" panose="02010600030101010101" pitchFamily="2" charset="-122"/>
                        </a:rPr>
                        <a:t>威胁</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3" marR="68583"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宋体" panose="02010600030101010101" pitchFamily="2" charset="-122"/>
                          <a:ea typeface="宋体" panose="02010600030101010101" pitchFamily="2" charset="-122"/>
                          <a:cs typeface="宋体" panose="02010600030101010101" pitchFamily="2" charset="-122"/>
                        </a:rPr>
                        <a:t>威胁消减技术</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3" marR="68583"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932815">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欺骗</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3" marR="68583"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基本认证 、Cookie认证、Windows认证、Kerberos认证、PKI、IPSec、数字签名、信息验证码、哈希表</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3" marR="68583"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09600">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篡改</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3" marR="68583"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Windows系统命令、完整性控制、ACLs、数字签名、信息验证码</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3" marR="68583"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66090">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抵赖</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3" marR="68583"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安全日志记录与审计、数字签名、可信的第三方</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3" marR="68583"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08330">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信息泄露</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3" marR="68583"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加密技术、ACLs</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3" marR="68583"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07695">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拒绝服务</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3" marR="68583"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ACLs、过滤处理、授权、高可用性设计</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3" marR="68583"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08330">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特权提升</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3" marR="68583"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ACLs,组或角色从属关系、特权所有权、许可权、输入验证</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3" marR="68583"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transition spd="med">
    <p:fade/>
  </p:transition>
</p:sld>
</file>

<file path=ppt/theme/theme1.xml><?xml version="1.0" encoding="utf-8"?>
<a:theme xmlns:a="http://schemas.openxmlformats.org/drawingml/2006/main" name="华为3Com培训胶片模板ISSUE1.1">
  <a:themeElements>
    <a:clrScheme name="华为3Com培训胶片模板ISSUE1.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华为3Com培训胶片模板ISSUE1.1">
      <a:majorFont>
        <a:latin typeface="Times New Roman"/>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sz="2400" b="1" i="0" u="none" strike="noStrike" cap="none" normalizeH="0" baseline="0" smtClean="0">
            <a:ln>
              <a:noFill/>
            </a:ln>
            <a:solidFill>
              <a:schemeClr val="accent2"/>
            </a:solidFill>
            <a:effectLst/>
            <a:latin typeface="华文中宋" panose="02010600040101010101" pitchFamily="2" charset="-122"/>
            <a:ea typeface="华文中宋" panose="02010600040101010101" pitchFamily="2" charset="-122"/>
          </a:defRPr>
        </a:defPPr>
      </a:lstStyle>
    </a:spDef>
    <a:lnDef>
      <a:spPr bwMode="auto">
        <a:xfrm>
          <a:off x="0" y="0"/>
          <a:ext cx="1" cy="1"/>
        </a:xfrm>
        <a:custGeom>
          <a:avLst/>
          <a:gdLst/>
          <a:ahLst/>
          <a:cxnLst/>
          <a:rect l="0" t="0" r="0" b="0"/>
          <a:pathLst/>
        </a:custGeom>
        <a:noFill/>
        <a:ln>
          <a:noFill/>
        </a:ln>
      </a:spPr>
      <a:bodyPr vert="horz" wrap="squar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sz="2400" b="1" i="0" u="none" strike="noStrike" cap="none" normalizeH="0" baseline="0" smtClean="0">
            <a:ln>
              <a:noFill/>
            </a:ln>
            <a:solidFill>
              <a:schemeClr val="accent2"/>
            </a:solidFill>
            <a:effectLst/>
            <a:latin typeface="华文中宋" panose="02010600040101010101" pitchFamily="2" charset="-122"/>
            <a:ea typeface="华文中宋" panose="02010600040101010101" pitchFamily="2" charset="-122"/>
          </a:defRPr>
        </a:defPPr>
      </a:lstStyle>
    </a:lnDef>
  </a:objectDefaults>
  <a:extraClrSchemeLst>
    <a:extraClrScheme>
      <a:clrScheme name="华为3Com培训胶片模板ISSUE1.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华为3Com培训胶片模板ISSUE1.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华为3Com培训胶片模板ISSUE1.1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华为3Com培训胶片模板ISSUE1.1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华为3Com培训胶片模板ISSUE1.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华为3Com培训胶片模板ISSUE1.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华为3Com培训胶片模板ISSUE1.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华为3Com培训胶片模板ISSUE1.1">
  <a:themeElements>
    <a:clrScheme name="华为3Com培训胶片模板ISSUE1.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华为3Com培训胶片模板ISSUE1.1">
      <a:majorFont>
        <a:latin typeface="Times New Roman"/>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sz="2400" b="1" i="0" u="none" strike="noStrike" cap="none" normalizeH="0" baseline="0" smtClean="0">
            <a:ln>
              <a:noFill/>
            </a:ln>
            <a:solidFill>
              <a:schemeClr val="accent2"/>
            </a:solidFill>
            <a:effectLst/>
            <a:latin typeface="华文中宋" panose="02010600040101010101" pitchFamily="2" charset="-122"/>
            <a:ea typeface="华文中宋" panose="02010600040101010101" pitchFamily="2" charset="-122"/>
          </a:defRPr>
        </a:defPPr>
      </a:lstStyle>
    </a:spDef>
    <a:lnDef>
      <a:spPr bwMode="auto">
        <a:xfrm>
          <a:off x="0" y="0"/>
          <a:ext cx="1" cy="1"/>
        </a:xfrm>
        <a:custGeom>
          <a:avLst/>
          <a:gdLst/>
          <a:ahLst/>
          <a:cxnLst/>
          <a:rect l="0" t="0" r="0" b="0"/>
          <a:pathLst/>
        </a:custGeom>
        <a:noFill/>
        <a:ln>
          <a:noFill/>
        </a:ln>
      </a:spPr>
      <a:bodyPr vert="horz" wrap="squar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sz="2400" b="1" i="0" u="none" strike="noStrike" cap="none" normalizeH="0" baseline="0" smtClean="0">
            <a:ln>
              <a:noFill/>
            </a:ln>
            <a:solidFill>
              <a:schemeClr val="accent2"/>
            </a:solidFill>
            <a:effectLst/>
            <a:latin typeface="华文中宋" panose="02010600040101010101" pitchFamily="2" charset="-122"/>
            <a:ea typeface="华文中宋" panose="02010600040101010101" pitchFamily="2" charset="-122"/>
          </a:defRPr>
        </a:defPPr>
      </a:lstStyle>
    </a:lnDef>
  </a:objectDefaults>
  <a:extraClrSchemeLst>
    <a:extraClrScheme>
      <a:clrScheme name="华为3Com培训胶片模板ISSUE1.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华为3Com培训胶片模板ISSUE1.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华为3Com培训胶片模板ISSUE1.1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华为3Com培训胶片模板ISSUE1.1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华为3Com培训胶片模板ISSUE1.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华为3Com培训胶片模板ISSUE1.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华为3Com培训胶片模板ISSUE1.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5764</Words>
  <Application>WPS 演示</Application>
  <PresentationFormat>全屏显示(4:3)</PresentationFormat>
  <Paragraphs>391</Paragraphs>
  <Slides>36</Slides>
  <Notes>1</Notes>
  <HiddenSlides>0</HiddenSlides>
  <MMClips>0</MMClips>
  <ScaleCrop>false</ScaleCrop>
  <HeadingPairs>
    <vt:vector size="8" baseType="variant">
      <vt:variant>
        <vt:lpstr>已用的字体</vt:lpstr>
      </vt:variant>
      <vt:variant>
        <vt:i4>15</vt:i4>
      </vt:variant>
      <vt:variant>
        <vt:lpstr>主题</vt:lpstr>
      </vt:variant>
      <vt:variant>
        <vt:i4>2</vt:i4>
      </vt:variant>
      <vt:variant>
        <vt:lpstr>嵌入 OLE 服务器</vt:lpstr>
      </vt:variant>
      <vt:variant>
        <vt:i4>2</vt:i4>
      </vt:variant>
      <vt:variant>
        <vt:lpstr>幻灯片标题</vt:lpstr>
      </vt:variant>
      <vt:variant>
        <vt:i4>36</vt:i4>
      </vt:variant>
    </vt:vector>
  </HeadingPairs>
  <TitlesOfParts>
    <vt:vector size="55" baseType="lpstr">
      <vt:lpstr>Arial</vt:lpstr>
      <vt:lpstr>宋体</vt:lpstr>
      <vt:lpstr>Wingdings</vt:lpstr>
      <vt:lpstr>华文中宋</vt:lpstr>
      <vt:lpstr>Times New Roman</vt:lpstr>
      <vt:lpstr>+mn-ea</vt:lpstr>
      <vt:lpstr>Segoe Print</vt:lpstr>
      <vt:lpstr>Garamond</vt:lpstr>
      <vt:lpstr>Courier New</vt:lpstr>
      <vt:lpstr>Calibri</vt:lpstr>
      <vt:lpstr>Garamond</vt:lpstr>
      <vt:lpstr>微软雅黑</vt:lpstr>
      <vt:lpstr>Arial Unicode MS</vt:lpstr>
      <vt:lpstr>Times New Roman</vt:lpstr>
      <vt:lpstr>Wingdings</vt:lpstr>
      <vt:lpstr>华为3Com培训胶片模板ISSUE1.1</vt:lpstr>
      <vt:lpstr>1_华为3Com培训胶片模板ISSUE1.1</vt:lpstr>
      <vt:lpstr>Visio.Drawing.15</vt:lpstr>
      <vt:lpstr>Visio.Drawing.15</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ECJTU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计算机网络</dc:title>
  <dc:creator>xiexin</dc:creator>
  <cp:lastModifiedBy>5414</cp:lastModifiedBy>
  <cp:revision>106</cp:revision>
  <dcterms:created xsi:type="dcterms:W3CDTF">2006-02-20T02:27:42Z</dcterms:created>
  <dcterms:modified xsi:type="dcterms:W3CDTF">2025-12-03T13:28:38Z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A80D5F26EF23450BAD9D265F3BCA3E34_12</vt:lpwstr>
  </property>
</Properties>
</file>