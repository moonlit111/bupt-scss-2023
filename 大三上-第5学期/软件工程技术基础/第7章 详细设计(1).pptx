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6"/>
  </p:notesMasterIdLst>
  <p:sldIdLst>
    <p:sldId id="530" r:id="rId4"/>
    <p:sldId id="262" r:id="rId5"/>
    <p:sldId id="591" r:id="rId7"/>
    <p:sldId id="675" r:id="rId8"/>
    <p:sldId id="531" r:id="rId9"/>
    <p:sldId id="532" r:id="rId10"/>
    <p:sldId id="535" r:id="rId11"/>
    <p:sldId id="536" r:id="rId12"/>
    <p:sldId id="533" r:id="rId13"/>
    <p:sldId id="537" r:id="rId14"/>
    <p:sldId id="538" r:id="rId15"/>
    <p:sldId id="539" r:id="rId16"/>
    <p:sldId id="541" r:id="rId17"/>
    <p:sldId id="542" r:id="rId18"/>
    <p:sldId id="543" r:id="rId19"/>
    <p:sldId id="544" r:id="rId20"/>
    <p:sldId id="545" r:id="rId21"/>
    <p:sldId id="546" r:id="rId22"/>
    <p:sldId id="547" r:id="rId23"/>
    <p:sldId id="548" r:id="rId24"/>
    <p:sldId id="550" r:id="rId25"/>
    <p:sldId id="553" r:id="rId26"/>
    <p:sldId id="554" r:id="rId27"/>
    <p:sldId id="555" r:id="rId28"/>
    <p:sldId id="557" r:id="rId29"/>
    <p:sldId id="559" r:id="rId30"/>
    <p:sldId id="556" r:id="rId31"/>
    <p:sldId id="561" r:id="rId32"/>
    <p:sldId id="654" r:id="rId33"/>
    <p:sldId id="562" r:id="rId34"/>
    <p:sldId id="564" r:id="rId35"/>
    <p:sldId id="566" r:id="rId36"/>
    <p:sldId id="563" r:id="rId37"/>
    <p:sldId id="565" r:id="rId38"/>
    <p:sldId id="569" r:id="rId39"/>
    <p:sldId id="570" r:id="rId40"/>
    <p:sldId id="571" r:id="rId41"/>
    <p:sldId id="572" r:id="rId42"/>
    <p:sldId id="573" r:id="rId43"/>
    <p:sldId id="574" r:id="rId44"/>
    <p:sldId id="576" r:id="rId45"/>
    <p:sldId id="575" r:id="rId46"/>
    <p:sldId id="655" r:id="rId47"/>
    <p:sldId id="577" r:id="rId48"/>
    <p:sldId id="578" r:id="rId49"/>
    <p:sldId id="586" r:id="rId50"/>
    <p:sldId id="656" r:id="rId51"/>
    <p:sldId id="587" r:id="rId52"/>
    <p:sldId id="589" r:id="rId53"/>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66FF"/>
    <a:srgbClr val="FF99FF"/>
    <a:srgbClr val="FFCC99"/>
    <a:srgbClr val="FF330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003"/>
  </p:normalViewPr>
  <p:slideViewPr>
    <p:cSldViewPr showGuides="1">
      <p:cViewPr varScale="1">
        <p:scale>
          <a:sx n="83" d="100"/>
          <a:sy n="83" d="100"/>
        </p:scale>
        <p:origin x="1378" y="43"/>
      </p:cViewPr>
      <p:guideLst>
        <p:guide orient="horz" pos="2160"/>
        <p:guide pos="284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60" name="Rectangle 4"/>
          <p:cNvSpPr>
            <a:spLocks noGrp="1" noRot="1"/>
          </p:cNvSpPr>
          <p:nvPr>
            <p:ph type="sldImg"/>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defRPr sz="1200" b="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6F7D38C-00E3-4EE7-BA43-DC6EF3A9221B}" type="slidenum">
              <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2530" name="Rectangle 2"/>
          <p:cNvSpPr>
            <a:spLocks noGrp="1" noRot="1" noTextEdit="1"/>
          </p:cNvSpPr>
          <p:nvPr>
            <p:ph type="sldImg"/>
          </p:nvPr>
        </p:nvSpPr>
        <p:spPr>
          <a:ln/>
        </p:spPr>
      </p:sp>
      <p:sp>
        <p:nvSpPr>
          <p:cNvPr id="22531" name="Rectangle 3"/>
          <p:cNvSpPr>
            <a:spLocks noGrp="1" noRot="1"/>
          </p:cNvSpPr>
          <p:nvPr>
            <p:ph type="body"/>
          </p:nvPr>
        </p:nvSpPr>
        <p:spPr>
          <a:xfrm>
            <a:off x="990600" y="4267200"/>
            <a:ext cx="4648200" cy="4191000"/>
          </a:xfrm>
          <a:ln/>
        </p:spPr>
        <p:txBody>
          <a:bodyPr wrap="square" lIns="91440" tIns="45720" rIns="91440" bIns="45720" anchor="ctr" anchorCtr="0"/>
          <a:p>
            <a:pPr lvl="0" eaLnBrk="1" hangingPunct="1"/>
            <a:endParaRPr lang="zh-CN"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幻灯片图像占位符 1"/>
          <p:cNvSpPr>
            <a:spLocks noGrp="1" noRot="1" noChangeAspect="1" noTextEdit="1"/>
          </p:cNvSpPr>
          <p:nvPr>
            <p:ph type="sldImg"/>
          </p:nvPr>
        </p:nvSpPr>
        <p:spPr>
          <a:ln/>
        </p:spPr>
      </p:sp>
      <p:sp>
        <p:nvSpPr>
          <p:cNvPr id="46083"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4608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幻灯片图像占位符 1"/>
          <p:cNvSpPr>
            <a:spLocks noGrp="1" noRot="1" noChangeAspect="1" noTextEdit="1"/>
          </p:cNvSpPr>
          <p:nvPr>
            <p:ph type="sldImg"/>
          </p:nvPr>
        </p:nvSpPr>
        <p:spPr>
          <a:ln/>
        </p:spPr>
      </p:sp>
      <p:sp>
        <p:nvSpPr>
          <p:cNvPr id="50179"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5018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593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幻灯片图像占位符 1"/>
          <p:cNvSpPr>
            <a:spLocks noGrp="1" noRot="1" noChangeAspect="1" noTextEdit="1"/>
          </p:cNvSpPr>
          <p:nvPr>
            <p:ph type="sldImg"/>
          </p:nvPr>
        </p:nvSpPr>
        <p:spPr>
          <a:ln/>
        </p:spPr>
      </p:sp>
      <p:sp>
        <p:nvSpPr>
          <p:cNvPr id="67587"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6758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p:nvPr>
        </p:nvSpPr>
        <p:spPr>
          <a:ln/>
        </p:spPr>
        <p:txBody>
          <a:bodyPr wrap="square" lIns="91440" tIns="45720" rIns="91440" bIns="45720" anchor="ctr" anchorCtr="0"/>
          <a:p>
            <a:pPr lvl="0"/>
            <a:endParaRPr lang="zh-CN" altLang="en-US" dirty="0"/>
          </a:p>
        </p:txBody>
      </p:sp>
      <p:sp>
        <p:nvSpPr>
          <p:cNvPr id="7066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sz="1200" b="0" dirty="0">
                <a:solidFill>
                  <a:schemeClr val="tx1"/>
                </a:solidFill>
                <a:latin typeface="Arial" panose="020B0604020202020204" pitchFamily="34" charset="0"/>
                <a:ea typeface="宋体" panose="02010600030101010101" pitchFamily="2" charset="-122"/>
              </a:rPr>
            </a:fld>
            <a:endParaRPr lang="zh-CN" altLang="zh-CN" sz="1200" b="0" dirty="0">
              <a:solidFill>
                <a:schemeClr val="tx1"/>
              </a:solidFill>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3074"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3A1C8595-4EEB-4854-9BA3-FBF1FC0EBA73}"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DE33BE8-8688-4DB6-8AAC-6F2E2EDF781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E2F883D9-8648-414F-835B-7119E5C89643}"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A9C84570-F9AD-4024-88C1-404A3CEF117E}"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29154F3E-1C1A-46E2-A773-E4A930DF0F53}"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C97C3D45-AF77-49E1-9EAE-1F84D2BD4CAA}"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207B0226-FD55-4176-AB2F-D050C60C0D7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D7305178-DED7-4192-A270-EAB6B345F81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5CAC0AD-6754-47D1-BCEC-A03B306985E2}"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78BFE1D6-1EF0-4DC6-B750-A0EDA47263A7}"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144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668EA4A5-A08F-457A-9D5B-2496EF98DC84}"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9144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863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9144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863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Rectangle 5"/>
          <p:cNvSpPr>
            <a:spLocks noGrp="1" noChangeArrowheads="1"/>
          </p:cNvSpPr>
          <p:nvPr>
            <p:ph type="ftr" sz="quarter" idx="1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C6B617D1-A34F-48E8-BF7B-B40319FE53DA}"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73914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914400" y="2589213"/>
            <a:ext cx="73914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745D941E-0B3E-4D5F-8E6C-58CE45C15040}"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9" name="Rectangle 5"/>
          <p:cNvSpPr>
            <a:spLocks noGrp="1" noChangeArrowheads="1"/>
          </p:cNvSpPr>
          <p:nvPr>
            <p:ph type="ftr" sz="quarter" idx="3"/>
          </p:nvPr>
        </p:nvSpPr>
        <p:spPr bwMode="auto">
          <a:xfrm>
            <a:off x="7812088" y="6381750"/>
            <a:ext cx="1331913" cy="476250"/>
          </a:xfrm>
          <a:prstGeom prst="rect">
            <a:avLst/>
          </a:prstGeom>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764E3C6A-0578-4DDF-8E21-91A27BC1ED97}"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pic>
        <p:nvPicPr>
          <p:cNvPr id="18434" name="Picture 4" descr="cover_01"/>
          <p:cNvPicPr>
            <a:picLocks noChangeAspect="1"/>
          </p:cNvPicPr>
          <p:nvPr/>
        </p:nvPicPr>
        <p:blipFill>
          <a:blip r:embed="rId2"/>
          <a:stretch>
            <a:fillRect/>
          </a:stretch>
        </p:blipFill>
        <p:spPr>
          <a:xfrm>
            <a:off x="-26987" y="0"/>
            <a:ext cx="7380287" cy="6858000"/>
          </a:xfrm>
          <a:prstGeom prst="rect">
            <a:avLst/>
          </a:prstGeom>
          <a:noFill/>
          <a:ln w="9525">
            <a:noFill/>
          </a:ln>
        </p:spPr>
      </p:pic>
      <p:sp>
        <p:nvSpPr>
          <p:cNvPr id="2050" name="Rectangle 2"/>
          <p:cNvSpPr>
            <a:spLocks noGrp="1" noChangeArrowheads="1"/>
          </p:cNvSpPr>
          <p:nvPr>
            <p:ph type="ctrTitle"/>
          </p:nvPr>
        </p:nvSpPr>
        <p:spPr>
          <a:xfrm>
            <a:off x="2555776" y="2132856"/>
            <a:ext cx="6156424" cy="673844"/>
          </a:xfrm>
          <a:effectLst>
            <a:outerShdw dist="17961" dir="2700000" algn="ctr" rotWithShape="0">
              <a:srgbClr val="777777"/>
            </a:outerShdw>
          </a:effectLst>
        </p:spPr>
        <p:txBody>
          <a:bodyPr/>
          <a:lstStyle>
            <a:lvl1pPr>
              <a:defRPr sz="4400">
                <a:solidFill>
                  <a:schemeClr val="accent2"/>
                </a:solidFill>
                <a:latin typeface="Arial" panose="020B0604020202020204" pitchFamily="34" charset="0"/>
              </a:defRPr>
            </a:lvl1pPr>
          </a:lstStyle>
          <a:p>
            <a:pPr lvl="0"/>
            <a:endParaRPr lang="zh-CN" altLang="zh-CN" noProof="0"/>
          </a:p>
        </p:txBody>
      </p:sp>
      <p:sp>
        <p:nvSpPr>
          <p:cNvPr id="2051" name="Rectangle 3"/>
          <p:cNvSpPr>
            <a:spLocks noGrp="1" noChangeArrowheads="1"/>
          </p:cNvSpPr>
          <p:nvPr>
            <p:ph type="subTitle" idx="1"/>
          </p:nvPr>
        </p:nvSpPr>
        <p:spPr>
          <a:xfrm>
            <a:off x="3923928" y="3212976"/>
            <a:ext cx="3744416" cy="864096"/>
          </a:xfrm>
        </p:spPr>
        <p:txBody>
          <a:bodyPr/>
          <a:lstStyle>
            <a:lvl1pPr marL="0" indent="0" algn="ctr">
              <a:lnSpc>
                <a:spcPct val="100000"/>
              </a:lnSpc>
              <a:spcBef>
                <a:spcPct val="0"/>
              </a:spcBef>
              <a:buClrTx/>
              <a:buSzTx/>
              <a:buFontTx/>
              <a:buNone/>
              <a:defRPr sz="2800" b="1">
                <a:effectLst>
                  <a:outerShdw blurRad="38100" dist="38100" dir="2700000" algn="tl">
                    <a:srgbClr val="C0C0C0"/>
                  </a:outerShdw>
                </a:effectLst>
              </a:defRPr>
            </a:lvl1pPr>
          </a:lstStyle>
          <a:p>
            <a:pPr lvl="0"/>
            <a:r>
              <a:rPr lang="zh-CN" noProof="0" dirty="0"/>
              <a:t>单击此处编辑母版副标题样式</a:t>
            </a:r>
            <a:endParaRPr lang="zh-CN" noProof="0"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827584" y="1380248"/>
            <a:ext cx="7391400" cy="2283702"/>
          </a:xfrm>
        </p:spPr>
        <p:txBody>
          <a:bodyPr/>
          <a:lstStyle>
            <a:lvl1pPr>
              <a:defRPr sz="2400">
                <a:latin typeface="华文中宋" panose="02010600040101010101" pitchFamily="2" charset="-122"/>
                <a:ea typeface="华文中宋" panose="02010600040101010101" pitchFamily="2" charset="-122"/>
              </a:defRPr>
            </a:lvl1pPr>
            <a:lvl2pPr>
              <a:defRPr sz="2000">
                <a:latin typeface="华文中宋" panose="02010600040101010101" pitchFamily="2" charset="-122"/>
                <a:ea typeface="华文中宋" panose="02010600040101010101" pitchFamily="2" charset="-122"/>
              </a:defRPr>
            </a:lvl2pPr>
            <a:lvl3pPr>
              <a:defRPr sz="1800">
                <a:latin typeface="华文中宋" panose="02010600040101010101" pitchFamily="2" charset="-122"/>
                <a:ea typeface="华文中宋" panose="02010600040101010101" pitchFamily="2" charset="-122"/>
              </a:defRPr>
            </a:lvl3pPr>
            <a:lvl4pPr>
              <a:defRPr sz="1600">
                <a:latin typeface="华文中宋" panose="02010600040101010101" pitchFamily="2" charset="-122"/>
                <a:ea typeface="华文中宋" panose="02010600040101010101" pitchFamily="2" charset="-122"/>
              </a:defRPr>
            </a:lvl4pPr>
            <a:lvl5pPr>
              <a:defRPr sz="1400">
                <a:latin typeface="华文中宋" panose="02010600040101010101" pitchFamily="2" charset="-122"/>
                <a:ea typeface="华文中宋" panose="02010600040101010101" pitchFamily="2"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18263" y="260350"/>
            <a:ext cx="1887537" cy="324167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755650" y="260350"/>
            <a:ext cx="5510213" cy="324167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9144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86300" y="1524000"/>
            <a:ext cx="3619500" cy="19780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quarter" idx="1"/>
          </p:nvPr>
        </p:nvSpPr>
        <p:spPr>
          <a:xfrm>
            <a:off x="9144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quarter" idx="2"/>
          </p:nvPr>
        </p:nvSpPr>
        <p:spPr>
          <a:xfrm>
            <a:off x="4686300" y="1524000"/>
            <a:ext cx="36195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内容占位符 4"/>
          <p:cNvSpPr>
            <a:spLocks noGrp="1"/>
          </p:cNvSpPr>
          <p:nvPr>
            <p:ph sz="quarter" idx="3"/>
          </p:nvPr>
        </p:nvSpPr>
        <p:spPr>
          <a:xfrm>
            <a:off x="9144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6" name="内容占位符 5"/>
          <p:cNvSpPr>
            <a:spLocks noGrp="1"/>
          </p:cNvSpPr>
          <p:nvPr>
            <p:ph sz="quarter" idx="4"/>
          </p:nvPr>
        </p:nvSpPr>
        <p:spPr>
          <a:xfrm>
            <a:off x="4686300" y="2589213"/>
            <a:ext cx="36195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755650" y="260350"/>
            <a:ext cx="7086600" cy="685800"/>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914400" y="1524000"/>
            <a:ext cx="7391400" cy="912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914400" y="2589213"/>
            <a:ext cx="7391400" cy="91281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55650" y="260350"/>
            <a:ext cx="7550150" cy="324167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2.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7" Type="http://schemas.openxmlformats.org/officeDocument/2006/relationships/theme" Target="../theme/theme2.xml"/><Relationship Id="rId16" Type="http://schemas.openxmlformats.org/officeDocument/2006/relationships/image" Target="../media/image2.png"/><Relationship Id="rId15" Type="http://schemas.openxmlformats.org/officeDocument/2006/relationships/slideLayout" Target="../slideLayouts/slideLayout30.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1027" name="Rectangle 3"/>
          <p:cNvSpPr>
            <a:spLocks noGrp="1"/>
          </p:cNvSpPr>
          <p:nvPr>
            <p:ph type="body"/>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1F985151-7589-4EE4-85B0-C2BEE7EA23EB}"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380163"/>
            <a:ext cx="2540000" cy="4159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软件工程与安全</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1032"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p:cNvSpPr>
          <p:nvPr>
            <p:ph type="title"/>
          </p:nvPr>
        </p:nvSpPr>
        <p:spPr>
          <a:xfrm>
            <a:off x="1476375" y="260350"/>
            <a:ext cx="6365875" cy="685800"/>
          </a:xfrm>
          <a:prstGeom prst="rect">
            <a:avLst/>
          </a:prstGeom>
          <a:noFill/>
          <a:ln w="9525">
            <a:noFill/>
          </a:ln>
          <a:effectLst>
            <a:outerShdw dist="17961" dir="2699999" algn="ctr" rotWithShape="0">
              <a:srgbClr val="DDDDDD"/>
            </a:outerShdw>
          </a:effectLst>
        </p:spPr>
        <p:txBody>
          <a:bodyPr anchor="ctr" anchorCtr="0"/>
          <a:p>
            <a:pPr lvl="0"/>
            <a:r>
              <a:rPr lang="zh-CN" altLang="zh-CN" dirty="0"/>
              <a:t>单击此处编辑母版标题样式</a:t>
            </a:r>
            <a:endParaRPr lang="zh-CN" altLang="zh-CN" dirty="0"/>
          </a:p>
        </p:txBody>
      </p:sp>
      <p:sp>
        <p:nvSpPr>
          <p:cNvPr id="2051" name="Rectangle 3"/>
          <p:cNvSpPr>
            <a:spLocks noGrp="1"/>
          </p:cNvSpPr>
          <p:nvPr>
            <p:ph type="body"/>
          </p:nvPr>
        </p:nvSpPr>
        <p:spPr>
          <a:xfrm>
            <a:off x="827088" y="1412875"/>
            <a:ext cx="7391400" cy="1978025"/>
          </a:xfrm>
          <a:prstGeom prst="rect">
            <a:avLst/>
          </a:prstGeom>
          <a:noFill/>
          <a:ln w="9525">
            <a:noFill/>
          </a:ln>
        </p:spPr>
        <p:txBody>
          <a:bodyPr>
            <a:spAutoFit/>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2052" name="Line 4"/>
          <p:cNvSpPr/>
          <p:nvPr/>
        </p:nvSpPr>
        <p:spPr>
          <a:xfrm flipV="1">
            <a:off x="381000" y="954088"/>
            <a:ext cx="8294688" cy="36512"/>
          </a:xfrm>
          <a:prstGeom prst="line">
            <a:avLst/>
          </a:prstGeom>
          <a:ln w="38100" cap="flat" cmpd="sng">
            <a:solidFill>
              <a:srgbClr val="0066FF"/>
            </a:solidFill>
            <a:prstDash val="solid"/>
            <a:headEnd type="none" w="med" len="med"/>
            <a:tailEnd type="none" w="med" len="med"/>
          </a:ln>
        </p:spPr>
      </p:sp>
      <p:sp>
        <p:nvSpPr>
          <p:cNvPr id="1029" name="Rectangle 5"/>
          <p:cNvSpPr>
            <a:spLocks noGrp="1" noChangeArrowheads="1"/>
          </p:cNvSpPr>
          <p:nvPr>
            <p:ph type="ftr" sz="quarter" idx="3"/>
          </p:nvPr>
        </p:nvSpPr>
        <p:spPr bwMode="auto">
          <a:xfrm>
            <a:off x="7812088" y="6381750"/>
            <a:ext cx="1331913" cy="476250"/>
          </a:xfrm>
          <a:prstGeom prst="rect">
            <a:avLst/>
          </a:prstGeom>
          <a:noFill/>
          <a:ln>
            <a:noFill/>
          </a:ln>
          <a:effectLst/>
        </p:spPr>
        <p:txBody>
          <a:bodyPr vert="horz" wrap="square" lIns="91440" tIns="45720" rIns="91440" bIns="45720" numCol="1" anchor="t" anchorCtr="0" compatLnSpc="1"/>
          <a:lstStyle>
            <a:lvl1pPr algn="ctr" eaLnBrk="1" hangingPunct="1">
              <a:defRPr sz="180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fld id="{4727D7CA-FD4D-4AE1-8CE5-D58D85FB2575}" type="slidenum">
              <a:rPr kumimoji="0" lang="en-US"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fld>
            <a:r>
              <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a:t>
            </a:r>
            <a:endParaRPr kumimoji="0" lang="zh-CN" altLang="zh-CN" sz="1800" b="1" i="0"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endParaRPr>
          </a:p>
        </p:txBody>
      </p:sp>
      <p:sp>
        <p:nvSpPr>
          <p:cNvPr id="1030" name="Rectangle 7"/>
          <p:cNvSpPr>
            <a:spLocks noChangeArrowheads="1"/>
          </p:cNvSpPr>
          <p:nvPr/>
        </p:nvSpPr>
        <p:spPr bwMode="auto">
          <a:xfrm rot="10800000" flipH="1" flipV="1">
            <a:off x="0" y="6413500"/>
            <a:ext cx="5715000" cy="39688"/>
          </a:xfrm>
          <a:prstGeom prst="rect">
            <a:avLst/>
          </a:prstGeom>
          <a:gradFill flip="none" rotWithShape="1">
            <a:gsLst>
              <a:gs pos="0">
                <a:srgbClr val="0066FF"/>
              </a:gs>
              <a:gs pos="100000">
                <a:srgbClr val="FFFFFF"/>
              </a:gs>
            </a:gsLst>
            <a:lin ang="0" scaled="1"/>
            <a:tileRect/>
          </a:gradFill>
          <a:ln w="9525">
            <a:noFill/>
            <a:miter lim="800000"/>
          </a:ln>
          <a:effectLst/>
        </p:spPr>
        <p:txBody>
          <a:bodyPr wrap="none" anchor="ctr"/>
          <a:lstStyle>
            <a:lvl1pPr eaLnBrk="0" hangingPunct="0">
              <a:defRPr sz="2400" b="1">
                <a:solidFill>
                  <a:schemeClr val="accent2"/>
                </a:solidFill>
                <a:latin typeface="华文中宋" panose="02010600040101010101" pitchFamily="2" charset="-122"/>
                <a:ea typeface="华文中宋" panose="02010600040101010101" pitchFamily="2" charset="-122"/>
              </a:defRPr>
            </a:lvl1pPr>
            <a:lvl2pPr marL="742950" indent="-285750" eaLnBrk="0" hangingPunct="0">
              <a:defRPr sz="2400" b="1">
                <a:solidFill>
                  <a:schemeClr val="accent2"/>
                </a:solidFill>
                <a:latin typeface="华文中宋" panose="02010600040101010101" pitchFamily="2" charset="-122"/>
                <a:ea typeface="华文中宋" panose="02010600040101010101" pitchFamily="2" charset="-122"/>
              </a:defRPr>
            </a:lvl2pPr>
            <a:lvl3pPr marL="1143000" indent="-228600" eaLnBrk="0" hangingPunct="0">
              <a:defRPr sz="2400" b="1">
                <a:solidFill>
                  <a:schemeClr val="accent2"/>
                </a:solidFill>
                <a:latin typeface="华文中宋" panose="02010600040101010101" pitchFamily="2" charset="-122"/>
                <a:ea typeface="华文中宋" panose="02010600040101010101" pitchFamily="2" charset="-122"/>
              </a:defRPr>
            </a:lvl3pPr>
            <a:lvl4pPr marL="1600200" indent="-228600" eaLnBrk="0" hangingPunct="0">
              <a:defRPr sz="2400" b="1">
                <a:solidFill>
                  <a:schemeClr val="accent2"/>
                </a:solidFill>
                <a:latin typeface="华文中宋" panose="02010600040101010101" pitchFamily="2" charset="-122"/>
                <a:ea typeface="华文中宋" panose="02010600040101010101" pitchFamily="2" charset="-122"/>
              </a:defRPr>
            </a:lvl4pPr>
            <a:lvl5pPr marL="2057400" indent="-228600" eaLnBrk="0" hangingPunct="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
        <p:nvSpPr>
          <p:cNvPr id="1033" name="Text Box 9"/>
          <p:cNvSpPr txBox="1">
            <a:spLocks noChangeArrowheads="1"/>
          </p:cNvSpPr>
          <p:nvPr/>
        </p:nvSpPr>
        <p:spPr bwMode="auto">
          <a:xfrm>
            <a:off x="539750" y="6405563"/>
            <a:ext cx="2540000" cy="365125"/>
          </a:xfrm>
          <a:prstGeom prst="rect">
            <a:avLst/>
          </a:prstGeom>
          <a:noFill/>
          <a:ln>
            <a:noFill/>
          </a:ln>
          <a:effectLst/>
        </p:spPr>
        <p:txBody>
          <a:bodyPr lIns="0" tIns="0" rIns="0" bIns="0" anchor="ctr">
            <a:spAutoFit/>
          </a:bodyPr>
          <a:lstStyle/>
          <a:p>
            <a:pPr marL="0" marR="0" lvl="0" indent="0" algn="l" defTabSz="914400" rtl="0" eaLnBrk="1" fontAlgn="base" latinLnBrk="0" hangingPunct="1">
              <a:lnSpc>
                <a:spcPct val="150000"/>
              </a:lnSpc>
              <a:spcBef>
                <a:spcPct val="50000"/>
              </a:spcBef>
              <a:spcAft>
                <a:spcPct val="50000"/>
              </a:spcAft>
              <a:buClrTx/>
              <a:buSzTx/>
              <a:buFontTx/>
              <a:buNone/>
              <a:defRPr/>
            </a:pP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r>
              <a:rPr kumimoji="0" lang="zh-CN" altLang="en-US"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软件工程技术基础</a:t>
            </a:r>
            <a:r>
              <a:rPr kumimoji="0" lang="en-US" alt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rPr>
              <a:t>》</a:t>
            </a:r>
            <a:endParaRPr kumimoji="0" lang="zh-CN" sz="1800" b="0" i="0" u="none" strike="noStrike" kern="1200" cap="none" spc="0" normalizeH="0" baseline="0" noProof="0" dirty="0">
              <a:ln>
                <a:noFill/>
              </a:ln>
              <a:solidFill>
                <a:schemeClr val="accent2"/>
              </a:solidFill>
              <a:effectLst>
                <a:outerShdw blurRad="38100" dist="38100" dir="2700000" algn="tl">
                  <a:srgbClr val="C0C0C0"/>
                </a:outerShdw>
              </a:effectLst>
              <a:uLnTx/>
              <a:uFillTx/>
              <a:latin typeface="Times New Roman" panose="02020603050405020304" pitchFamily="18" charset="0"/>
              <a:ea typeface="华文中宋" panose="02010600040101010101" pitchFamily="2" charset="-122"/>
              <a:cs typeface="+mn-cs"/>
            </a:endParaRPr>
          </a:p>
        </p:txBody>
      </p:sp>
      <p:pic>
        <p:nvPicPr>
          <p:cNvPr id="2056" name="图片 1"/>
          <p:cNvPicPr>
            <a:picLocks noChangeAspect="1"/>
          </p:cNvPicPr>
          <p:nvPr userDrawn="1"/>
        </p:nvPicPr>
        <p:blipFill>
          <a:blip r:embed="rId16"/>
          <a:stretch>
            <a:fillRect/>
          </a:stretch>
        </p:blipFill>
        <p:spPr>
          <a:xfrm>
            <a:off x="8294688" y="71438"/>
            <a:ext cx="763587" cy="7651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ransition/>
  <p:hf sldNum="0" hdr="0" ftr="0" dt="0"/>
  <p:txStyles>
    <p:titleStyle>
      <a:lvl1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cs typeface="+mj-cs"/>
        </a:defRPr>
      </a:lvl1pPr>
      <a:lvl2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2pPr>
      <a:lvl3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3pPr>
      <a:lvl4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4pPr>
      <a:lvl5pPr algn="ctr" rtl="0" eaLnBrk="0" fontAlgn="base" hangingPunct="0">
        <a:spcBef>
          <a:spcPct val="0"/>
        </a:spcBef>
        <a:spcAft>
          <a:spcPct val="0"/>
        </a:spcAft>
        <a:defRPr sz="2800" b="1">
          <a:solidFill>
            <a:srgbClr val="333399"/>
          </a:solidFill>
          <a:latin typeface="华文中宋" panose="02010600040101010101" pitchFamily="2" charset="-122"/>
          <a:ea typeface="华文中宋" panose="02010600040101010101" pitchFamily="2" charset="-122"/>
        </a:defRPr>
      </a:lvl5pPr>
      <a:lvl6pPr marL="4572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2800" b="1">
          <a:solidFill>
            <a:srgbClr val="333399"/>
          </a:solidFill>
          <a:latin typeface="Times New Roman" panose="02020603050405020304" pitchFamily="18" charset="0"/>
          <a:ea typeface="宋体" panose="02010600030101010101" pitchFamily="2" charset="-122"/>
        </a:defRPr>
      </a:lvl9pPr>
    </p:titleStyle>
    <p:bodyStyle>
      <a:lvl1pPr marL="195580" indent="-19558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l"/>
        <a:defRPr sz="2000">
          <a:solidFill>
            <a:schemeClr val="tx1"/>
          </a:solidFill>
          <a:latin typeface="+mn-lt"/>
          <a:ea typeface="+mn-ea"/>
          <a:cs typeface="+mn-cs"/>
        </a:defRPr>
      </a:lvl1pPr>
      <a:lvl2pPr marL="671830" indent="-285750" algn="just" rtl="0" eaLnBrk="0" fontAlgn="base" hangingPunct="0">
        <a:lnSpc>
          <a:spcPct val="140000"/>
        </a:lnSpc>
        <a:spcBef>
          <a:spcPct val="20000"/>
        </a:spcBef>
        <a:spcAft>
          <a:spcPct val="0"/>
        </a:spcAft>
        <a:buClr>
          <a:schemeClr val="accent2"/>
        </a:buClr>
        <a:buSzPct val="70000"/>
        <a:buFont typeface="Wingdings" panose="05000000000000000000" pitchFamily="2" charset="2"/>
        <a:buChar char="è"/>
        <a:defRPr>
          <a:solidFill>
            <a:schemeClr val="tx1"/>
          </a:solidFill>
          <a:latin typeface="+mn-lt"/>
          <a:ea typeface="+mn-ea"/>
        </a:defRPr>
      </a:lvl2pPr>
      <a:lvl3pPr marL="1090930" indent="-228600" algn="just" rtl="0" eaLnBrk="0" fontAlgn="base" hangingPunct="0">
        <a:lnSpc>
          <a:spcPct val="140000"/>
        </a:lnSpc>
        <a:spcBef>
          <a:spcPct val="20000"/>
        </a:spcBef>
        <a:spcAft>
          <a:spcPct val="0"/>
        </a:spcAft>
        <a:buClr>
          <a:schemeClr val="accent2"/>
        </a:buClr>
        <a:buFont typeface="Wingdings" panose="05000000000000000000" pitchFamily="2" charset="2"/>
        <a:buChar char="Ø"/>
        <a:defRPr sz="1600">
          <a:solidFill>
            <a:schemeClr val="tx1"/>
          </a:solidFill>
          <a:latin typeface="+mn-lt"/>
          <a:ea typeface="+mn-ea"/>
        </a:defRPr>
      </a:lvl3pPr>
      <a:lvl4pPr marL="1510030" indent="-228600" algn="just" rtl="0" eaLnBrk="0" fontAlgn="base" hangingPunct="0">
        <a:lnSpc>
          <a:spcPct val="140000"/>
        </a:lnSpc>
        <a:spcBef>
          <a:spcPct val="20000"/>
        </a:spcBef>
        <a:spcAft>
          <a:spcPct val="0"/>
        </a:spcAft>
        <a:buChar char="–"/>
        <a:defRPr sz="1400">
          <a:solidFill>
            <a:schemeClr val="tx1"/>
          </a:solidFill>
          <a:latin typeface="+mn-lt"/>
          <a:ea typeface="+mn-ea"/>
        </a:defRPr>
      </a:lvl4pPr>
      <a:lvl5pPr marL="1929130" indent="-228600" algn="just" rtl="0" eaLnBrk="0" fontAlgn="base" hangingPunct="0">
        <a:lnSpc>
          <a:spcPct val="140000"/>
        </a:lnSpc>
        <a:spcBef>
          <a:spcPct val="20000"/>
        </a:spcBef>
        <a:spcAft>
          <a:spcPct val="0"/>
        </a:spcAft>
        <a:buChar char="»"/>
        <a:defRPr sz="1200">
          <a:solidFill>
            <a:schemeClr val="tx1"/>
          </a:solidFill>
          <a:latin typeface="+mn-lt"/>
          <a:ea typeface="+mn-ea"/>
        </a:defRPr>
      </a:lvl5pPr>
      <a:lvl6pPr marL="2386330" indent="-228600" algn="just" rtl="0" fontAlgn="base">
        <a:lnSpc>
          <a:spcPct val="140000"/>
        </a:lnSpc>
        <a:spcBef>
          <a:spcPct val="20000"/>
        </a:spcBef>
        <a:spcAft>
          <a:spcPct val="0"/>
        </a:spcAft>
        <a:buChar char="»"/>
        <a:defRPr sz="1200">
          <a:solidFill>
            <a:schemeClr val="tx1"/>
          </a:solidFill>
          <a:latin typeface="+mn-lt"/>
          <a:ea typeface="+mn-ea"/>
        </a:defRPr>
      </a:lvl6pPr>
      <a:lvl7pPr marL="2843530" indent="-228600" algn="just" rtl="0" fontAlgn="base">
        <a:lnSpc>
          <a:spcPct val="140000"/>
        </a:lnSpc>
        <a:spcBef>
          <a:spcPct val="20000"/>
        </a:spcBef>
        <a:spcAft>
          <a:spcPct val="0"/>
        </a:spcAft>
        <a:buChar char="»"/>
        <a:defRPr sz="1200">
          <a:solidFill>
            <a:schemeClr val="tx1"/>
          </a:solidFill>
          <a:latin typeface="+mn-lt"/>
          <a:ea typeface="+mn-ea"/>
        </a:defRPr>
      </a:lvl7pPr>
      <a:lvl8pPr marL="3300730" indent="-228600" algn="just" rtl="0" fontAlgn="base">
        <a:lnSpc>
          <a:spcPct val="140000"/>
        </a:lnSpc>
        <a:spcBef>
          <a:spcPct val="20000"/>
        </a:spcBef>
        <a:spcAft>
          <a:spcPct val="0"/>
        </a:spcAft>
        <a:buChar char="»"/>
        <a:defRPr sz="1200">
          <a:solidFill>
            <a:schemeClr val="tx1"/>
          </a:solidFill>
          <a:latin typeface="+mn-lt"/>
          <a:ea typeface="+mn-ea"/>
        </a:defRPr>
      </a:lvl8pPr>
      <a:lvl9pPr marL="3757930" indent="-228600" algn="just" rtl="0" fontAlgn="base">
        <a:lnSpc>
          <a:spcPct val="140000"/>
        </a:lnSpc>
        <a:spcBef>
          <a:spcPct val="20000"/>
        </a:spcBef>
        <a:spcAft>
          <a:spcPct val="0"/>
        </a:spcAft>
        <a:buChar char="»"/>
        <a:defRPr sz="12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4.jpeg"/><Relationship Id="rId1" Type="http://schemas.openxmlformats.org/officeDocument/2006/relationships/image" Target="../media/image3.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jpeg"/><Relationship Id="rId1" Type="http://schemas.openxmlformats.org/officeDocument/2006/relationships/image" Target="../media/image1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1.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4"/>
          <p:cNvSpPr>
            <a:spLocks noGrp="1"/>
          </p:cNvSpPr>
          <p:nvPr>
            <p:ph type="ctrTitle"/>
          </p:nvPr>
        </p:nvSpPr>
        <p:spPr>
          <a:xfrm>
            <a:off x="996950" y="1873250"/>
            <a:ext cx="7362825" cy="1123950"/>
          </a:xfrm>
          <a:ln/>
          <a:effectLst>
            <a:outerShdw dist="17961" dir="2699999" algn="ctr" rotWithShape="0">
              <a:srgbClr val="777777">
                <a:alpha val="100000"/>
              </a:srgbClr>
            </a:outerShdw>
          </a:effectLst>
        </p:spPr>
        <p:txBody>
          <a:bodyPr vert="horz" wrap="square" lIns="91440" tIns="45720" rIns="91440" bIns="45720" anchor="ctr" anchorCtr="0"/>
          <a:p>
            <a:pPr>
              <a:buClrTx/>
              <a:buSzTx/>
              <a:buFontTx/>
            </a:pPr>
            <a:r>
              <a:rPr lang="zh-CN" altLang="en-US" dirty="0">
                <a:latin typeface="Arial" panose="020B0604020202020204" pitchFamily="34" charset="0"/>
                <a:ea typeface="华文中宋" panose="02010600040101010101" pitchFamily="2" charset="-122"/>
                <a:cs typeface="+mj-cs"/>
              </a:rPr>
              <a:t>第七章 软件详细设计</a:t>
            </a:r>
            <a:endParaRPr lang="zh-CN" altLang="en-US" dirty="0">
              <a:latin typeface="Arial" panose="020B0604020202020204" pitchFamily="34" charset="0"/>
              <a:ea typeface="华文中宋" panose="02010600040101010101" pitchFamily="2" charset="-122"/>
              <a:cs typeface="+mj-cs"/>
            </a:endParaRPr>
          </a:p>
        </p:txBody>
      </p:sp>
      <p:sp>
        <p:nvSpPr>
          <p:cNvPr id="20483"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 name="副标题 1"/>
          <p:cNvSpPr>
            <a:spLocks noGrp="1"/>
          </p:cNvSpPr>
          <p:nvPr>
            <p:ph type="subTitle" idx="1"/>
          </p:nvPr>
        </p:nvSpPr>
        <p:spPr>
          <a:xfrm>
            <a:off x="3924300" y="3213100"/>
            <a:ext cx="3743325" cy="863600"/>
          </a:xfrm>
        </p:spPr>
        <p:txBody>
          <a:bodyPr vert="horz" wrap="square" lIns="91440" tIns="45720" rIns="91440" bIns="45720" numCol="1" anchor="t" anchorCtr="0" compatLnSpc="1">
            <a:sp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0" cap="none" spc="0" normalizeH="0" baseline="0" noProof="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页脚占位符 2"/>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21507" name="Rectangle 2"/>
          <p:cNvSpPr>
            <a:spLocks noGrp="1"/>
          </p:cNvSpPr>
          <p:nvPr>
            <p:ph type="title"/>
          </p:nvPr>
        </p:nvSpPr>
        <p:spPr>
          <a:xfrm>
            <a:off x="1476375" y="260350"/>
            <a:ext cx="6048375" cy="685800"/>
          </a:xfrm>
          <a:ln/>
        </p:spPr>
        <p:txBody>
          <a:bodyPr vert="horz" wrap="square" lIns="91440" tIns="45720" rIns="91440" bIns="45720" anchor="ctr" anchorCtr="0"/>
          <a:p>
            <a:pPr eaLnBrk="1" hangingPunct="1"/>
            <a:r>
              <a:rPr lang="zh-CN" altLang="en-US" dirty="0"/>
              <a:t>本章要点</a:t>
            </a:r>
            <a:endParaRPr lang="zh-CN" altLang="zh-CN" dirty="0"/>
          </a:p>
        </p:txBody>
      </p:sp>
      <p:pic>
        <p:nvPicPr>
          <p:cNvPr id="21508" name="Picture 3"/>
          <p:cNvPicPr>
            <a:picLocks noChangeAspect="1"/>
          </p:cNvPicPr>
          <p:nvPr/>
        </p:nvPicPr>
        <p:blipFill>
          <a:blip r:embed="rId1"/>
          <a:stretch>
            <a:fillRect/>
          </a:stretch>
        </p:blipFill>
        <p:spPr>
          <a:xfrm>
            <a:off x="457200" y="3886200"/>
            <a:ext cx="2895600" cy="1184275"/>
          </a:xfrm>
          <a:prstGeom prst="rect">
            <a:avLst/>
          </a:prstGeom>
          <a:noFill/>
          <a:ln w="9525">
            <a:noFill/>
          </a:ln>
        </p:spPr>
      </p:pic>
      <p:sp>
        <p:nvSpPr>
          <p:cNvPr id="21509" name="Rectangle 4"/>
          <p:cNvSpPr/>
          <p:nvPr/>
        </p:nvSpPr>
        <p:spPr>
          <a:xfrm>
            <a:off x="4546600" y="1773238"/>
            <a:ext cx="3527425" cy="488950"/>
          </a:xfrm>
          <a:prstGeom prst="rect">
            <a:avLst/>
          </a:prstGeom>
          <a:noFill/>
          <a:ln w="9525">
            <a:noFill/>
          </a:ln>
        </p:spPr>
        <p:txBody>
          <a:bodyPr tIns="0" bIns="0" anchor="ctr" anchorCtr="0">
            <a:spAutoFit/>
          </a:bodyPr>
          <a:p>
            <a:pPr eaLnBrk="1" hangingPunct="1">
              <a:lnSpc>
                <a:spcPct val="150000"/>
              </a:lnSpc>
              <a:spcBef>
                <a:spcPct val="50000"/>
              </a:spcBef>
              <a:spcAft>
                <a:spcPct val="50000"/>
              </a:spcAft>
            </a:pPr>
            <a:r>
              <a:rPr lang="zh-CN" altLang="en-US" dirty="0">
                <a:solidFill>
                  <a:srgbClr val="FF0000"/>
                </a:solidFill>
                <a:latin typeface="Times New Roman" panose="02020603050405020304" pitchFamily="18" charset="0"/>
              </a:rPr>
              <a:t>详细设计的概念</a:t>
            </a:r>
            <a:endParaRPr lang="zh-CN" altLang="zh-CN" dirty="0">
              <a:solidFill>
                <a:srgbClr val="FF0000"/>
              </a:solidFill>
              <a:latin typeface="Times New Roman" panose="02020603050405020304" pitchFamily="18" charset="0"/>
            </a:endParaRPr>
          </a:p>
        </p:txBody>
      </p:sp>
      <p:grpSp>
        <p:nvGrpSpPr>
          <p:cNvPr id="21510" name="Group 5"/>
          <p:cNvGrpSpPr/>
          <p:nvPr/>
        </p:nvGrpSpPr>
        <p:grpSpPr>
          <a:xfrm>
            <a:off x="3825875" y="1903413"/>
            <a:ext cx="4275138" cy="469900"/>
            <a:chOff x="0" y="0"/>
            <a:chExt cx="2693" cy="296"/>
          </a:xfrm>
        </p:grpSpPr>
        <p:sp>
          <p:nvSpPr>
            <p:cNvPr id="21519" name="Line 6"/>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21520" name="Picture 7"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grpSp>
        <p:nvGrpSpPr>
          <p:cNvPr id="21511" name="Group 9"/>
          <p:cNvGrpSpPr/>
          <p:nvPr/>
        </p:nvGrpSpPr>
        <p:grpSpPr>
          <a:xfrm>
            <a:off x="3825875" y="2606675"/>
            <a:ext cx="4275138" cy="469900"/>
            <a:chOff x="0" y="0"/>
            <a:chExt cx="2693" cy="296"/>
          </a:xfrm>
        </p:grpSpPr>
        <p:sp>
          <p:nvSpPr>
            <p:cNvPr id="21517" name="Line 10"/>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21518" name="Picture 11"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
        <p:nvSpPr>
          <p:cNvPr id="21512" name="Rectangle 12"/>
          <p:cNvSpPr/>
          <p:nvPr/>
        </p:nvSpPr>
        <p:spPr>
          <a:xfrm>
            <a:off x="4546600" y="2493963"/>
            <a:ext cx="3527425" cy="488950"/>
          </a:xfrm>
          <a:prstGeom prst="rect">
            <a:avLst/>
          </a:prstGeom>
          <a:noFill/>
          <a:ln w="9525">
            <a:noFill/>
          </a:ln>
        </p:spPr>
        <p:txBody>
          <a:bodyPr tIns="0" bIns="0" anchor="ctr" anchorCtr="0">
            <a:spAutoFit/>
          </a:bodyPr>
          <a:p>
            <a:pPr eaLnBrk="1" hangingPunct="1">
              <a:lnSpc>
                <a:spcPct val="150000"/>
              </a:lnSpc>
              <a:spcBef>
                <a:spcPct val="50000"/>
              </a:spcBef>
              <a:spcAft>
                <a:spcPct val="50000"/>
              </a:spcAft>
            </a:pPr>
            <a:r>
              <a:rPr lang="zh-CN" altLang="en-US" dirty="0">
                <a:latin typeface="Times New Roman" panose="02020603050405020304" pitchFamily="18" charset="0"/>
              </a:rPr>
              <a:t>结构程序设计</a:t>
            </a:r>
            <a:endParaRPr lang="zh-CN" altLang="zh-CN" dirty="0">
              <a:latin typeface="Times New Roman" panose="02020603050405020304" pitchFamily="18" charset="0"/>
            </a:endParaRPr>
          </a:p>
        </p:txBody>
      </p:sp>
      <p:grpSp>
        <p:nvGrpSpPr>
          <p:cNvPr id="21513" name="Group 13"/>
          <p:cNvGrpSpPr/>
          <p:nvPr/>
        </p:nvGrpSpPr>
        <p:grpSpPr>
          <a:xfrm>
            <a:off x="3825875" y="3254375"/>
            <a:ext cx="4275138" cy="469900"/>
            <a:chOff x="0" y="0"/>
            <a:chExt cx="2693" cy="296"/>
          </a:xfrm>
        </p:grpSpPr>
        <p:sp>
          <p:nvSpPr>
            <p:cNvPr id="21515" name="Line 14"/>
            <p:cNvSpPr/>
            <p:nvPr/>
          </p:nvSpPr>
          <p:spPr>
            <a:xfrm>
              <a:off x="37" y="296"/>
              <a:ext cx="2656" cy="0"/>
            </a:xfrm>
            <a:prstGeom prst="line">
              <a:avLst/>
            </a:prstGeom>
            <a:ln w="9525" cap="flat" cmpd="sng">
              <a:solidFill>
                <a:srgbClr val="6600CC"/>
              </a:solidFill>
              <a:prstDash val="solid"/>
              <a:headEnd type="none" w="med" len="med"/>
              <a:tailEnd type="none" w="med" len="med"/>
            </a:ln>
          </p:spPr>
        </p:sp>
        <p:pic>
          <p:nvPicPr>
            <p:cNvPr id="21516" name="Picture 15" descr="dian3"/>
            <p:cNvPicPr>
              <a:picLocks noChangeAspect="1"/>
            </p:cNvPicPr>
            <p:nvPr/>
          </p:nvPicPr>
          <p:blipFill>
            <a:blip r:embed="rId2">
              <a:clrChange>
                <a:clrFrom>
                  <a:srgbClr val="FDFFFF"/>
                </a:clrFrom>
                <a:clrTo>
                  <a:srgbClr val="FDFFFF">
                    <a:alpha val="0"/>
                  </a:srgbClr>
                </a:clrTo>
              </a:clrChange>
            </a:blip>
            <a:stretch>
              <a:fillRect/>
            </a:stretch>
          </p:blipFill>
          <p:spPr>
            <a:xfrm>
              <a:off x="0" y="0"/>
              <a:ext cx="187" cy="192"/>
            </a:xfrm>
            <a:prstGeom prst="rect">
              <a:avLst/>
            </a:prstGeom>
            <a:noFill/>
            <a:ln w="9525">
              <a:noFill/>
            </a:ln>
          </p:spPr>
        </p:pic>
      </p:grpSp>
      <p:sp>
        <p:nvSpPr>
          <p:cNvPr id="21514" name="Rectangle 16"/>
          <p:cNvSpPr/>
          <p:nvPr/>
        </p:nvSpPr>
        <p:spPr>
          <a:xfrm>
            <a:off x="4546600" y="3184525"/>
            <a:ext cx="3527425" cy="488950"/>
          </a:xfrm>
          <a:prstGeom prst="rect">
            <a:avLst/>
          </a:prstGeom>
          <a:noFill/>
          <a:ln w="9525">
            <a:noFill/>
          </a:ln>
        </p:spPr>
        <p:txBody>
          <a:bodyPr tIns="0" bIns="0" anchor="ctr" anchorCtr="0">
            <a:spAutoFit/>
          </a:bodyPr>
          <a:p>
            <a:pPr eaLnBrk="1" hangingPunct="1">
              <a:lnSpc>
                <a:spcPct val="150000"/>
              </a:lnSpc>
              <a:spcBef>
                <a:spcPct val="50000"/>
              </a:spcBef>
              <a:spcAft>
                <a:spcPct val="50000"/>
              </a:spcAft>
            </a:pPr>
            <a:r>
              <a:rPr lang="zh-CN" altLang="en-US" dirty="0">
                <a:latin typeface="Times New Roman" panose="02020603050405020304" pitchFamily="18" charset="0"/>
              </a:rPr>
              <a:t>过程设计工具</a:t>
            </a:r>
            <a:endParaRPr lang="zh-CN" altLang="zh-CN" dirty="0">
              <a:latin typeface="Times New Roman" panose="02020603050405020304" pitchFamily="18"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页脚占位符 2"/>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104" name="Rectangle 4"/>
          <p:cNvSpPr>
            <a:spLocks noChangeArrowheads="1"/>
          </p:cNvSpPr>
          <p:nvPr/>
        </p:nvSpPr>
        <p:spPr bwMode="auto">
          <a:xfrm>
            <a:off x="955675" y="1090613"/>
            <a:ext cx="1524000" cy="533400"/>
          </a:xfrm>
          <a:prstGeom prst="rect">
            <a:avLst/>
          </a:prstGeom>
          <a:solidFill>
            <a:srgbClr val="3891A7"/>
          </a:solid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None/>
              <a:defRPr/>
            </a:pPr>
            <a:r>
              <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rPr>
              <a:t>可行性研究</a:t>
            </a: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05" name="Rectangle 5"/>
          <p:cNvSpPr>
            <a:spLocks noChangeArrowheads="1"/>
          </p:cNvSpPr>
          <p:nvPr/>
        </p:nvSpPr>
        <p:spPr bwMode="auto">
          <a:xfrm>
            <a:off x="2098675" y="1776413"/>
            <a:ext cx="1524000" cy="457200"/>
          </a:xfrm>
          <a:prstGeom prst="rect">
            <a:avLst/>
          </a:prstGeom>
          <a:solidFill>
            <a:srgbClr val="3891A7"/>
          </a:solid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None/>
              <a:defRPr/>
            </a:pPr>
            <a:r>
              <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rPr>
              <a:t>需求分析</a:t>
            </a: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06" name="Rectangle 6"/>
          <p:cNvSpPr>
            <a:spLocks noChangeArrowheads="1"/>
          </p:cNvSpPr>
          <p:nvPr/>
        </p:nvSpPr>
        <p:spPr bwMode="auto">
          <a:xfrm>
            <a:off x="3470275" y="2386013"/>
            <a:ext cx="1524000" cy="533400"/>
          </a:xfrm>
          <a:prstGeom prst="rect">
            <a:avLst/>
          </a:prstGeom>
          <a:solidFill>
            <a:srgbClr val="3891A7"/>
          </a:solid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None/>
              <a:defRPr/>
            </a:pPr>
            <a:r>
              <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rPr>
              <a:t>概要设计</a:t>
            </a: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07" name="Rectangle 7"/>
          <p:cNvSpPr>
            <a:spLocks noChangeArrowheads="1"/>
          </p:cNvSpPr>
          <p:nvPr/>
        </p:nvSpPr>
        <p:spPr bwMode="auto">
          <a:xfrm>
            <a:off x="4613275" y="3148013"/>
            <a:ext cx="1524000" cy="533400"/>
          </a:xfrm>
          <a:prstGeom prst="rect">
            <a:avLst/>
          </a:prstGeom>
          <a:solidFill>
            <a:srgbClr val="8DC765"/>
          </a:solidFill>
          <a:ln w="9525">
            <a:solidFill>
              <a:sysClr val="windowText" lastClr="000000"/>
            </a:solidFill>
            <a:miter lim="800000"/>
          </a:ln>
          <a:effectLst/>
        </p:spPr>
        <p:txBody>
          <a:bodyPr wrap="none" anchor="ctr"/>
          <a:lstStyle/>
          <a:p>
            <a:pPr marL="0" marR="0" lvl="0" indent="0" algn="ctr"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None/>
              <a:defRPr/>
            </a:pPr>
            <a:r>
              <a:rPr kumimoji="0" lang="zh-CN" altLang="en-US" sz="1800" b="0" i="0" u="none" strike="noStrike" kern="0" cap="none" spc="0" normalizeH="0" baseline="0" noProof="0">
                <a:ln>
                  <a:noFill/>
                </a:ln>
                <a:solidFill>
                  <a:prstClr val="white">
                    <a:lumMod val="50000"/>
                  </a:prstClr>
                </a:solidFill>
                <a:effectLst/>
                <a:uLnTx/>
                <a:uFillTx/>
                <a:latin typeface="Tahoma" panose="020B0604030504040204" pitchFamily="34" charset="0"/>
                <a:ea typeface="幼圆" panose="02010509060101010101" pitchFamily="49" charset="-122"/>
                <a:cs typeface="+mn-cs"/>
              </a:rPr>
              <a:t>详细设计</a:t>
            </a:r>
            <a:endParaRPr kumimoji="0" lang="zh-CN" altLang="en-US" sz="1800" b="0" i="0" u="none" strike="noStrike" kern="0" cap="none" spc="0" normalizeH="0" baseline="0" noProof="0">
              <a:ln>
                <a:noFill/>
              </a:ln>
              <a:solidFill>
                <a:prstClr val="white">
                  <a:lumMod val="50000"/>
                </a:prstClr>
              </a:solidFill>
              <a:effectLst/>
              <a:uLnTx/>
              <a:uFillTx/>
              <a:latin typeface="Tahoma" panose="020B0604030504040204" pitchFamily="34" charset="0"/>
              <a:ea typeface="幼圆" panose="02010509060101010101" pitchFamily="49" charset="-122"/>
              <a:cs typeface="+mn-cs"/>
            </a:endParaRPr>
          </a:p>
        </p:txBody>
      </p:sp>
      <p:sp>
        <p:nvSpPr>
          <p:cNvPr id="108" name="Rectangle 8"/>
          <p:cNvSpPr>
            <a:spLocks noChangeArrowheads="1"/>
          </p:cNvSpPr>
          <p:nvPr/>
        </p:nvSpPr>
        <p:spPr bwMode="auto">
          <a:xfrm>
            <a:off x="5832475" y="3833813"/>
            <a:ext cx="1524000" cy="533400"/>
          </a:xfrm>
          <a:prstGeom prst="rect">
            <a:avLst/>
          </a:prstGeom>
          <a:solidFill>
            <a:srgbClr val="3891A7"/>
          </a:solid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None/>
              <a:defRPr/>
            </a:pPr>
            <a:r>
              <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rPr>
              <a:t>编码</a:t>
            </a: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09" name="Rectangle 9"/>
          <p:cNvSpPr>
            <a:spLocks noChangeArrowheads="1"/>
          </p:cNvSpPr>
          <p:nvPr/>
        </p:nvSpPr>
        <p:spPr bwMode="auto">
          <a:xfrm>
            <a:off x="6899275" y="4672013"/>
            <a:ext cx="1524000" cy="533400"/>
          </a:xfrm>
          <a:prstGeom prst="rect">
            <a:avLst/>
          </a:prstGeom>
          <a:solidFill>
            <a:srgbClr val="3891A7"/>
          </a:solid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None/>
              <a:defRPr/>
            </a:pPr>
            <a:r>
              <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rPr>
              <a:t>测试</a:t>
            </a: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10" name="Rectangle 10"/>
          <p:cNvSpPr>
            <a:spLocks noChangeArrowheads="1"/>
          </p:cNvSpPr>
          <p:nvPr/>
        </p:nvSpPr>
        <p:spPr bwMode="auto">
          <a:xfrm>
            <a:off x="7585075" y="5510213"/>
            <a:ext cx="1524000" cy="533400"/>
          </a:xfrm>
          <a:prstGeom prst="rect">
            <a:avLst/>
          </a:prstGeom>
          <a:solidFill>
            <a:srgbClr val="3891A7"/>
          </a:solid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None/>
              <a:defRPr/>
            </a:pPr>
            <a:r>
              <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rPr>
              <a:t>运行</a:t>
            </a:r>
            <a:r>
              <a:rPr kumimoji="0" lang="en-US" altLang="zh-CN"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rPr>
              <a:t>/</a:t>
            </a:r>
            <a:r>
              <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rPr>
              <a:t>维护</a:t>
            </a: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nvGrpSpPr>
          <p:cNvPr id="23562" name="Group 11"/>
          <p:cNvGrpSpPr/>
          <p:nvPr/>
        </p:nvGrpSpPr>
        <p:grpSpPr>
          <a:xfrm>
            <a:off x="6137275" y="3452813"/>
            <a:ext cx="685800" cy="381000"/>
            <a:chOff x="960" y="720"/>
            <a:chExt cx="432" cy="288"/>
          </a:xfrm>
        </p:grpSpPr>
        <p:sp>
          <p:nvSpPr>
            <p:cNvPr id="112" name="Line 12"/>
            <p:cNvSpPr>
              <a:spLocks noChangeShapeType="1"/>
            </p:cNvSpPr>
            <p:nvPr/>
          </p:nvSpPr>
          <p:spPr bwMode="auto">
            <a:xfrm>
              <a:off x="960" y="720"/>
              <a:ext cx="432" cy="0"/>
            </a:xfrm>
            <a:prstGeom prst="line">
              <a:avLst/>
            </a:prstGeom>
            <a:noFill/>
            <a:ln w="2857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13" name="Line 13"/>
            <p:cNvSpPr>
              <a:spLocks noChangeShapeType="1"/>
            </p:cNvSpPr>
            <p:nvPr/>
          </p:nvSpPr>
          <p:spPr bwMode="auto">
            <a:xfrm>
              <a:off x="1392" y="720"/>
              <a:ext cx="0" cy="28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63" name="Group 14"/>
          <p:cNvGrpSpPr/>
          <p:nvPr/>
        </p:nvGrpSpPr>
        <p:grpSpPr>
          <a:xfrm>
            <a:off x="2479675" y="1319213"/>
            <a:ext cx="685800" cy="457200"/>
            <a:chOff x="960" y="720"/>
            <a:chExt cx="432" cy="288"/>
          </a:xfrm>
        </p:grpSpPr>
        <p:sp>
          <p:nvSpPr>
            <p:cNvPr id="115" name="Line 15"/>
            <p:cNvSpPr>
              <a:spLocks noChangeShapeType="1"/>
            </p:cNvSpPr>
            <p:nvPr/>
          </p:nvSpPr>
          <p:spPr bwMode="auto">
            <a:xfrm>
              <a:off x="960" y="720"/>
              <a:ext cx="432" cy="0"/>
            </a:xfrm>
            <a:prstGeom prst="line">
              <a:avLst/>
            </a:prstGeom>
            <a:noFill/>
            <a:ln w="2857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16" name="Line 16"/>
            <p:cNvSpPr>
              <a:spLocks noChangeShapeType="1"/>
            </p:cNvSpPr>
            <p:nvPr/>
          </p:nvSpPr>
          <p:spPr bwMode="auto">
            <a:xfrm>
              <a:off x="1392" y="720"/>
              <a:ext cx="0" cy="28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64" name="Group 17"/>
          <p:cNvGrpSpPr/>
          <p:nvPr/>
        </p:nvGrpSpPr>
        <p:grpSpPr>
          <a:xfrm>
            <a:off x="3622675" y="2005013"/>
            <a:ext cx="685800" cy="381000"/>
            <a:chOff x="960" y="720"/>
            <a:chExt cx="432" cy="288"/>
          </a:xfrm>
        </p:grpSpPr>
        <p:sp>
          <p:nvSpPr>
            <p:cNvPr id="118" name="Line 18"/>
            <p:cNvSpPr>
              <a:spLocks noChangeShapeType="1"/>
            </p:cNvSpPr>
            <p:nvPr/>
          </p:nvSpPr>
          <p:spPr bwMode="auto">
            <a:xfrm>
              <a:off x="960" y="720"/>
              <a:ext cx="432" cy="0"/>
            </a:xfrm>
            <a:prstGeom prst="line">
              <a:avLst/>
            </a:prstGeom>
            <a:noFill/>
            <a:ln w="2857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19" name="Line 19"/>
            <p:cNvSpPr>
              <a:spLocks noChangeShapeType="1"/>
            </p:cNvSpPr>
            <p:nvPr/>
          </p:nvSpPr>
          <p:spPr bwMode="auto">
            <a:xfrm>
              <a:off x="1392" y="720"/>
              <a:ext cx="0" cy="28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65" name="Group 20"/>
          <p:cNvGrpSpPr/>
          <p:nvPr/>
        </p:nvGrpSpPr>
        <p:grpSpPr>
          <a:xfrm>
            <a:off x="4994275" y="2690813"/>
            <a:ext cx="685800" cy="457200"/>
            <a:chOff x="960" y="720"/>
            <a:chExt cx="432" cy="288"/>
          </a:xfrm>
        </p:grpSpPr>
        <p:sp>
          <p:nvSpPr>
            <p:cNvPr id="121" name="Line 21"/>
            <p:cNvSpPr>
              <a:spLocks noChangeShapeType="1"/>
            </p:cNvSpPr>
            <p:nvPr/>
          </p:nvSpPr>
          <p:spPr bwMode="auto">
            <a:xfrm>
              <a:off x="960" y="720"/>
              <a:ext cx="432" cy="0"/>
            </a:xfrm>
            <a:prstGeom prst="line">
              <a:avLst/>
            </a:prstGeom>
            <a:noFill/>
            <a:ln w="2857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22" name="Line 22"/>
            <p:cNvSpPr>
              <a:spLocks noChangeShapeType="1"/>
            </p:cNvSpPr>
            <p:nvPr/>
          </p:nvSpPr>
          <p:spPr bwMode="auto">
            <a:xfrm>
              <a:off x="1392" y="720"/>
              <a:ext cx="0" cy="28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66" name="Group 23"/>
          <p:cNvGrpSpPr/>
          <p:nvPr/>
        </p:nvGrpSpPr>
        <p:grpSpPr>
          <a:xfrm>
            <a:off x="8423275" y="5053013"/>
            <a:ext cx="381000" cy="457200"/>
            <a:chOff x="960" y="720"/>
            <a:chExt cx="432" cy="288"/>
          </a:xfrm>
        </p:grpSpPr>
        <p:sp>
          <p:nvSpPr>
            <p:cNvPr id="124" name="Line 24"/>
            <p:cNvSpPr>
              <a:spLocks noChangeShapeType="1"/>
            </p:cNvSpPr>
            <p:nvPr/>
          </p:nvSpPr>
          <p:spPr bwMode="auto">
            <a:xfrm>
              <a:off x="960" y="720"/>
              <a:ext cx="432" cy="0"/>
            </a:xfrm>
            <a:prstGeom prst="line">
              <a:avLst/>
            </a:prstGeom>
            <a:noFill/>
            <a:ln w="2857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25" name="Line 25"/>
            <p:cNvSpPr>
              <a:spLocks noChangeShapeType="1"/>
            </p:cNvSpPr>
            <p:nvPr/>
          </p:nvSpPr>
          <p:spPr bwMode="auto">
            <a:xfrm>
              <a:off x="1392" y="720"/>
              <a:ext cx="0" cy="28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67" name="Group 26"/>
          <p:cNvGrpSpPr/>
          <p:nvPr/>
        </p:nvGrpSpPr>
        <p:grpSpPr>
          <a:xfrm>
            <a:off x="7356475" y="4214813"/>
            <a:ext cx="685800" cy="457200"/>
            <a:chOff x="960" y="720"/>
            <a:chExt cx="432" cy="288"/>
          </a:xfrm>
        </p:grpSpPr>
        <p:sp>
          <p:nvSpPr>
            <p:cNvPr id="127" name="Line 27"/>
            <p:cNvSpPr>
              <a:spLocks noChangeShapeType="1"/>
            </p:cNvSpPr>
            <p:nvPr/>
          </p:nvSpPr>
          <p:spPr bwMode="auto">
            <a:xfrm>
              <a:off x="960" y="720"/>
              <a:ext cx="432" cy="0"/>
            </a:xfrm>
            <a:prstGeom prst="line">
              <a:avLst/>
            </a:prstGeom>
            <a:noFill/>
            <a:ln w="2857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28" name="Line 28"/>
            <p:cNvSpPr>
              <a:spLocks noChangeShapeType="1"/>
            </p:cNvSpPr>
            <p:nvPr/>
          </p:nvSpPr>
          <p:spPr bwMode="auto">
            <a:xfrm>
              <a:off x="1392" y="720"/>
              <a:ext cx="0" cy="28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68" name="Group 29"/>
          <p:cNvGrpSpPr/>
          <p:nvPr/>
        </p:nvGrpSpPr>
        <p:grpSpPr>
          <a:xfrm>
            <a:off x="1412875" y="1624013"/>
            <a:ext cx="609600" cy="533400"/>
            <a:chOff x="288" y="912"/>
            <a:chExt cx="384" cy="336"/>
          </a:xfrm>
        </p:grpSpPr>
        <p:sp>
          <p:nvSpPr>
            <p:cNvPr id="130" name="Line 30"/>
            <p:cNvSpPr>
              <a:spLocks noChangeShapeType="1"/>
            </p:cNvSpPr>
            <p:nvPr/>
          </p:nvSpPr>
          <p:spPr bwMode="auto">
            <a:xfrm>
              <a:off x="288" y="912"/>
              <a:ext cx="0" cy="336"/>
            </a:xfrm>
            <a:prstGeom prst="line">
              <a:avLst/>
            </a:prstGeom>
            <a:noFill/>
            <a:ln w="28575">
              <a:solidFill>
                <a:sysClr val="windowText" lastClr="000000"/>
              </a:solidFill>
              <a:prstDash val="dash"/>
              <a:round/>
              <a:head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31" name="Line 31"/>
            <p:cNvSpPr>
              <a:spLocks noChangeShapeType="1"/>
            </p:cNvSpPr>
            <p:nvPr/>
          </p:nvSpPr>
          <p:spPr bwMode="auto">
            <a:xfrm>
              <a:off x="288" y="1200"/>
              <a:ext cx="384" cy="0"/>
            </a:xfrm>
            <a:prstGeom prst="line">
              <a:avLst/>
            </a:prstGeom>
            <a:noFill/>
            <a:ln w="28575">
              <a:solidFill>
                <a:sysClr val="windowText" lastClr="000000"/>
              </a:solidFill>
              <a:prstDash val="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69" name="Group 32"/>
          <p:cNvGrpSpPr/>
          <p:nvPr/>
        </p:nvGrpSpPr>
        <p:grpSpPr>
          <a:xfrm>
            <a:off x="2860675" y="2233613"/>
            <a:ext cx="609600" cy="533400"/>
            <a:chOff x="288" y="912"/>
            <a:chExt cx="384" cy="336"/>
          </a:xfrm>
        </p:grpSpPr>
        <p:sp>
          <p:nvSpPr>
            <p:cNvPr id="133" name="Line 33"/>
            <p:cNvSpPr>
              <a:spLocks noChangeShapeType="1"/>
            </p:cNvSpPr>
            <p:nvPr/>
          </p:nvSpPr>
          <p:spPr bwMode="auto">
            <a:xfrm>
              <a:off x="288" y="912"/>
              <a:ext cx="0" cy="336"/>
            </a:xfrm>
            <a:prstGeom prst="line">
              <a:avLst/>
            </a:prstGeom>
            <a:noFill/>
            <a:ln w="28575">
              <a:solidFill>
                <a:sysClr val="windowText" lastClr="000000"/>
              </a:solidFill>
              <a:prstDash val="dash"/>
              <a:round/>
              <a:head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34" name="Line 34"/>
            <p:cNvSpPr>
              <a:spLocks noChangeShapeType="1"/>
            </p:cNvSpPr>
            <p:nvPr/>
          </p:nvSpPr>
          <p:spPr bwMode="auto">
            <a:xfrm>
              <a:off x="288" y="1200"/>
              <a:ext cx="384" cy="0"/>
            </a:xfrm>
            <a:prstGeom prst="line">
              <a:avLst/>
            </a:prstGeom>
            <a:noFill/>
            <a:ln w="28575">
              <a:solidFill>
                <a:sysClr val="windowText" lastClr="000000"/>
              </a:solidFill>
              <a:prstDash val="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70" name="Group 35"/>
          <p:cNvGrpSpPr/>
          <p:nvPr/>
        </p:nvGrpSpPr>
        <p:grpSpPr>
          <a:xfrm>
            <a:off x="4003675" y="2919413"/>
            <a:ext cx="609600" cy="533400"/>
            <a:chOff x="288" y="912"/>
            <a:chExt cx="384" cy="336"/>
          </a:xfrm>
        </p:grpSpPr>
        <p:sp>
          <p:nvSpPr>
            <p:cNvPr id="136" name="Line 36"/>
            <p:cNvSpPr>
              <a:spLocks noChangeShapeType="1"/>
            </p:cNvSpPr>
            <p:nvPr/>
          </p:nvSpPr>
          <p:spPr bwMode="auto">
            <a:xfrm>
              <a:off x="288" y="912"/>
              <a:ext cx="0" cy="336"/>
            </a:xfrm>
            <a:prstGeom prst="line">
              <a:avLst/>
            </a:prstGeom>
            <a:noFill/>
            <a:ln w="28575">
              <a:solidFill>
                <a:sysClr val="windowText" lastClr="000000"/>
              </a:solidFill>
              <a:prstDash val="dash"/>
              <a:round/>
              <a:head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37" name="Line 37"/>
            <p:cNvSpPr>
              <a:spLocks noChangeShapeType="1"/>
            </p:cNvSpPr>
            <p:nvPr/>
          </p:nvSpPr>
          <p:spPr bwMode="auto">
            <a:xfrm>
              <a:off x="288" y="1200"/>
              <a:ext cx="384" cy="0"/>
            </a:xfrm>
            <a:prstGeom prst="line">
              <a:avLst/>
            </a:prstGeom>
            <a:noFill/>
            <a:ln w="28575">
              <a:solidFill>
                <a:sysClr val="windowText" lastClr="000000"/>
              </a:solidFill>
              <a:prstDash val="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71" name="Group 38"/>
          <p:cNvGrpSpPr/>
          <p:nvPr/>
        </p:nvGrpSpPr>
        <p:grpSpPr>
          <a:xfrm>
            <a:off x="5299075" y="3681413"/>
            <a:ext cx="609600" cy="533400"/>
            <a:chOff x="288" y="912"/>
            <a:chExt cx="384" cy="336"/>
          </a:xfrm>
        </p:grpSpPr>
        <p:sp>
          <p:nvSpPr>
            <p:cNvPr id="139" name="Line 39"/>
            <p:cNvSpPr>
              <a:spLocks noChangeShapeType="1"/>
            </p:cNvSpPr>
            <p:nvPr/>
          </p:nvSpPr>
          <p:spPr bwMode="auto">
            <a:xfrm>
              <a:off x="288" y="912"/>
              <a:ext cx="0" cy="336"/>
            </a:xfrm>
            <a:prstGeom prst="line">
              <a:avLst/>
            </a:prstGeom>
            <a:noFill/>
            <a:ln w="28575">
              <a:solidFill>
                <a:sysClr val="windowText" lastClr="000000"/>
              </a:solidFill>
              <a:prstDash val="dash"/>
              <a:round/>
              <a:head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40" name="Line 40"/>
            <p:cNvSpPr>
              <a:spLocks noChangeShapeType="1"/>
            </p:cNvSpPr>
            <p:nvPr/>
          </p:nvSpPr>
          <p:spPr bwMode="auto">
            <a:xfrm>
              <a:off x="288" y="1200"/>
              <a:ext cx="384" cy="0"/>
            </a:xfrm>
            <a:prstGeom prst="line">
              <a:avLst/>
            </a:prstGeom>
            <a:noFill/>
            <a:ln w="28575">
              <a:solidFill>
                <a:sysClr val="windowText" lastClr="000000"/>
              </a:solidFill>
              <a:prstDash val="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72" name="Group 41"/>
          <p:cNvGrpSpPr/>
          <p:nvPr/>
        </p:nvGrpSpPr>
        <p:grpSpPr>
          <a:xfrm>
            <a:off x="6213475" y="4443413"/>
            <a:ext cx="609600" cy="533400"/>
            <a:chOff x="288" y="912"/>
            <a:chExt cx="384" cy="336"/>
          </a:xfrm>
        </p:grpSpPr>
        <p:sp>
          <p:nvSpPr>
            <p:cNvPr id="142" name="Line 42"/>
            <p:cNvSpPr>
              <a:spLocks noChangeShapeType="1"/>
            </p:cNvSpPr>
            <p:nvPr/>
          </p:nvSpPr>
          <p:spPr bwMode="auto">
            <a:xfrm>
              <a:off x="288" y="912"/>
              <a:ext cx="0" cy="336"/>
            </a:xfrm>
            <a:prstGeom prst="line">
              <a:avLst/>
            </a:prstGeom>
            <a:noFill/>
            <a:ln w="28575">
              <a:solidFill>
                <a:sysClr val="windowText" lastClr="000000"/>
              </a:solidFill>
              <a:prstDash val="dash"/>
              <a:round/>
              <a:head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43" name="Line 43"/>
            <p:cNvSpPr>
              <a:spLocks noChangeShapeType="1"/>
            </p:cNvSpPr>
            <p:nvPr/>
          </p:nvSpPr>
          <p:spPr bwMode="auto">
            <a:xfrm>
              <a:off x="288" y="1200"/>
              <a:ext cx="384" cy="0"/>
            </a:xfrm>
            <a:prstGeom prst="line">
              <a:avLst/>
            </a:prstGeom>
            <a:noFill/>
            <a:ln w="28575">
              <a:solidFill>
                <a:sysClr val="windowText" lastClr="000000"/>
              </a:solidFill>
              <a:prstDash val="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73" name="Group 44"/>
          <p:cNvGrpSpPr/>
          <p:nvPr/>
        </p:nvGrpSpPr>
        <p:grpSpPr>
          <a:xfrm>
            <a:off x="7051675" y="5281613"/>
            <a:ext cx="609600" cy="533400"/>
            <a:chOff x="288" y="912"/>
            <a:chExt cx="384" cy="336"/>
          </a:xfrm>
        </p:grpSpPr>
        <p:sp>
          <p:nvSpPr>
            <p:cNvPr id="145" name="Line 45"/>
            <p:cNvSpPr>
              <a:spLocks noChangeShapeType="1"/>
            </p:cNvSpPr>
            <p:nvPr/>
          </p:nvSpPr>
          <p:spPr bwMode="auto">
            <a:xfrm>
              <a:off x="288" y="912"/>
              <a:ext cx="0" cy="336"/>
            </a:xfrm>
            <a:prstGeom prst="line">
              <a:avLst/>
            </a:prstGeom>
            <a:noFill/>
            <a:ln w="28575">
              <a:solidFill>
                <a:sysClr val="windowText" lastClr="000000"/>
              </a:solidFill>
              <a:prstDash val="dash"/>
              <a:round/>
              <a:head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46" name="Line 46"/>
            <p:cNvSpPr>
              <a:spLocks noChangeShapeType="1"/>
            </p:cNvSpPr>
            <p:nvPr/>
          </p:nvSpPr>
          <p:spPr bwMode="auto">
            <a:xfrm>
              <a:off x="288" y="1200"/>
              <a:ext cx="384" cy="0"/>
            </a:xfrm>
            <a:prstGeom prst="line">
              <a:avLst/>
            </a:prstGeom>
            <a:noFill/>
            <a:ln w="28575">
              <a:solidFill>
                <a:sysClr val="windowText" lastClr="000000"/>
              </a:solidFill>
              <a:prstDash val="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sp>
        <p:nvSpPr>
          <p:cNvPr id="23574" name="Text Box 47"/>
          <p:cNvSpPr txBox="1"/>
          <p:nvPr/>
        </p:nvSpPr>
        <p:spPr>
          <a:xfrm>
            <a:off x="2536825" y="5662613"/>
            <a:ext cx="3981450" cy="387350"/>
          </a:xfrm>
          <a:prstGeom prst="rect">
            <a:avLst/>
          </a:prstGeom>
          <a:noFill/>
          <a:ln w="9525">
            <a:noFill/>
          </a:ln>
        </p:spPr>
        <p:txBody>
          <a:bodyPr>
            <a:spAutoFit/>
          </a:bodyPr>
          <a:p>
            <a:pPr eaLnBrk="1" hangingPunct="1">
              <a:lnSpc>
                <a:spcPct val="80000"/>
              </a:lnSpc>
              <a:spcBef>
                <a:spcPct val="50000"/>
              </a:spcBef>
              <a:buClr>
                <a:srgbClr val="8DC765"/>
              </a:buClr>
              <a:buSzPct val="70000"/>
            </a:pPr>
            <a:r>
              <a:rPr lang="zh-CN" altLang="en-US" b="0" dirty="0">
                <a:solidFill>
                  <a:srgbClr val="000000"/>
                </a:solidFill>
                <a:latin typeface="Tahoma" panose="020B0604030504040204" pitchFamily="34" charset="0"/>
                <a:ea typeface="幼圆" panose="02010509060101010101" pitchFamily="49" charset="-122"/>
              </a:rPr>
              <a:t>软件生命周期模型结构图</a:t>
            </a:r>
            <a:endParaRPr lang="zh-CN" altLang="en-US" b="0" dirty="0">
              <a:solidFill>
                <a:srgbClr val="000000"/>
              </a:solidFill>
              <a:latin typeface="Tahoma" panose="020B0604030504040204" pitchFamily="34" charset="0"/>
              <a:ea typeface="幼圆" panose="02010509060101010101" pitchFamily="49" charset="-122"/>
            </a:endParaRPr>
          </a:p>
        </p:txBody>
      </p:sp>
      <p:sp>
        <p:nvSpPr>
          <p:cNvPr id="148" name="Rectangle 99"/>
          <p:cNvSpPr>
            <a:spLocks noChangeArrowheads="1"/>
          </p:cNvSpPr>
          <p:nvPr/>
        </p:nvSpPr>
        <p:spPr bwMode="auto">
          <a:xfrm>
            <a:off x="117475" y="404813"/>
            <a:ext cx="1524000" cy="533400"/>
          </a:xfrm>
          <a:prstGeom prst="rect">
            <a:avLst/>
          </a:prstGeom>
          <a:solidFill>
            <a:srgbClr val="3891A7"/>
          </a:solid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None/>
              <a:defRPr/>
            </a:pPr>
            <a:r>
              <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rPr>
              <a:t>问题定义</a:t>
            </a: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nvGrpSpPr>
          <p:cNvPr id="23576" name="Group 100"/>
          <p:cNvGrpSpPr/>
          <p:nvPr/>
        </p:nvGrpSpPr>
        <p:grpSpPr>
          <a:xfrm>
            <a:off x="1641475" y="709613"/>
            <a:ext cx="533400" cy="381000"/>
            <a:chOff x="960" y="720"/>
            <a:chExt cx="432" cy="288"/>
          </a:xfrm>
        </p:grpSpPr>
        <p:sp>
          <p:nvSpPr>
            <p:cNvPr id="150" name="Line 101"/>
            <p:cNvSpPr>
              <a:spLocks noChangeShapeType="1"/>
            </p:cNvSpPr>
            <p:nvPr/>
          </p:nvSpPr>
          <p:spPr bwMode="auto">
            <a:xfrm>
              <a:off x="960" y="720"/>
              <a:ext cx="432" cy="0"/>
            </a:xfrm>
            <a:prstGeom prst="line">
              <a:avLst/>
            </a:prstGeom>
            <a:noFill/>
            <a:ln w="28575">
              <a:solidFill>
                <a:sysClr val="windowText" lastClr="000000"/>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51" name="Line 102"/>
            <p:cNvSpPr>
              <a:spLocks noChangeShapeType="1"/>
            </p:cNvSpPr>
            <p:nvPr/>
          </p:nvSpPr>
          <p:spPr bwMode="auto">
            <a:xfrm>
              <a:off x="1392" y="720"/>
              <a:ext cx="0" cy="288"/>
            </a:xfrm>
            <a:prstGeom prst="line">
              <a:avLst/>
            </a:prstGeom>
            <a:noFill/>
            <a:ln w="28575">
              <a:solidFill>
                <a:sysClr val="windowText" lastClr="000000"/>
              </a:solidFill>
              <a:rou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23577" name="Group 103"/>
          <p:cNvGrpSpPr/>
          <p:nvPr/>
        </p:nvGrpSpPr>
        <p:grpSpPr>
          <a:xfrm>
            <a:off x="574675" y="938213"/>
            <a:ext cx="457200" cy="457200"/>
            <a:chOff x="288" y="912"/>
            <a:chExt cx="384" cy="336"/>
          </a:xfrm>
        </p:grpSpPr>
        <p:sp>
          <p:nvSpPr>
            <p:cNvPr id="153" name="Line 104"/>
            <p:cNvSpPr>
              <a:spLocks noChangeShapeType="1"/>
            </p:cNvSpPr>
            <p:nvPr/>
          </p:nvSpPr>
          <p:spPr bwMode="auto">
            <a:xfrm>
              <a:off x="288" y="912"/>
              <a:ext cx="0" cy="336"/>
            </a:xfrm>
            <a:prstGeom prst="line">
              <a:avLst/>
            </a:prstGeom>
            <a:noFill/>
            <a:ln w="28575">
              <a:solidFill>
                <a:sysClr val="windowText" lastClr="000000"/>
              </a:solidFill>
              <a:prstDash val="dash"/>
              <a:round/>
              <a:head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54" name="Line 105"/>
            <p:cNvSpPr>
              <a:spLocks noChangeShapeType="1"/>
            </p:cNvSpPr>
            <p:nvPr/>
          </p:nvSpPr>
          <p:spPr bwMode="auto">
            <a:xfrm>
              <a:off x="288" y="1200"/>
              <a:ext cx="384" cy="0"/>
            </a:xfrm>
            <a:prstGeom prst="line">
              <a:avLst/>
            </a:prstGeom>
            <a:noFill/>
            <a:ln w="28575">
              <a:solidFill>
                <a:sysClr val="windowText" lastClr="000000"/>
              </a:solidFill>
              <a:prstDash val="dash"/>
              <a:round/>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a:ln/>
        </p:spPr>
        <p:txBody>
          <a:bodyPr vert="horz" wrap="square" lIns="91440" tIns="45720" rIns="91440" bIns="45720" anchor="ctr" anchorCtr="0"/>
          <a:p>
            <a:r>
              <a:rPr lang="zh-CN" altLang="en-US" dirty="0"/>
              <a:t>概要设计与详细设计</a:t>
            </a:r>
            <a:endParaRPr lang="zh-CN" altLang="en-US" dirty="0"/>
          </a:p>
        </p:txBody>
      </p:sp>
      <p:pic>
        <p:nvPicPr>
          <p:cNvPr id="25603" name="内容占位符 3"/>
          <p:cNvPicPr>
            <a:picLocks noChangeAspect="1"/>
          </p:cNvPicPr>
          <p:nvPr>
            <p:ph idx="1"/>
          </p:nvPr>
        </p:nvPicPr>
        <p:blipFill>
          <a:blip r:embed="rId1"/>
          <a:srcRect/>
          <a:stretch>
            <a:fillRect/>
          </a:stretch>
        </p:blipFill>
        <p:spPr>
          <a:xfrm>
            <a:off x="4294188" y="1944688"/>
            <a:ext cx="4529137" cy="3319462"/>
          </a:xfrm>
          <a:ln/>
        </p:spPr>
      </p:pic>
      <p:pic>
        <p:nvPicPr>
          <p:cNvPr id="25604" name="图片 4"/>
          <p:cNvPicPr>
            <a:picLocks noChangeAspect="1"/>
          </p:cNvPicPr>
          <p:nvPr/>
        </p:nvPicPr>
        <p:blipFill>
          <a:blip r:embed="rId2"/>
          <a:stretch>
            <a:fillRect/>
          </a:stretch>
        </p:blipFill>
        <p:spPr>
          <a:xfrm>
            <a:off x="436563" y="1698625"/>
            <a:ext cx="3662362" cy="3565525"/>
          </a:xfrm>
          <a:prstGeom prst="rect">
            <a:avLst/>
          </a:prstGeom>
          <a:noFill/>
          <a:ln w="9525">
            <a:noFill/>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a:ln/>
        </p:spPr>
        <p:txBody>
          <a:bodyPr vert="horz" wrap="square" lIns="91440" tIns="45720" rIns="91440" bIns="45720" anchor="ctr" anchorCtr="0"/>
          <a:p>
            <a:r>
              <a:rPr lang="en-US" altLang="zh-CN" dirty="0"/>
              <a:t>7.1 </a:t>
            </a:r>
            <a:r>
              <a:rPr lang="zh-CN" altLang="en-US" dirty="0"/>
              <a:t>详细设计的概念</a:t>
            </a:r>
            <a:endParaRPr lang="zh-CN" altLang="en-US" dirty="0"/>
          </a:p>
        </p:txBody>
      </p:sp>
      <p:sp>
        <p:nvSpPr>
          <p:cNvPr id="22531" name="内容占位符 2"/>
          <p:cNvSpPr>
            <a:spLocks noGrp="1" noChangeArrowheads="1"/>
          </p:cNvSpPr>
          <p:nvPr>
            <p:ph idx="1"/>
          </p:nvPr>
        </p:nvSpPr>
        <p:spPr>
          <a:xfrm>
            <a:off x="827088" y="1125538"/>
            <a:ext cx="7391400" cy="4889500"/>
          </a:xfrm>
        </p:spPr>
        <p:txBody>
          <a:bodyPr vert="horz" wrap="square" lIns="91440" tIns="45720" rIns="91440" bIns="45720" numCol="1" anchor="t" anchorCtr="0" compatLnSpc="1">
            <a:spAutoFit/>
          </a:bodyPr>
          <a:p>
            <a:pPr>
              <a:buSzPct val="70000"/>
            </a:pPr>
            <a:r>
              <a:rPr lang="en-US" altLang="zh-CN" dirty="0">
                <a:latin typeface="华文中宋" panose="02010600040101010101" pitchFamily="2" charset="-122"/>
                <a:ea typeface="华文中宋" panose="02010600040101010101" pitchFamily="2" charset="-122"/>
                <a:cs typeface="+mn-cs"/>
                <a:sym typeface="+mn-ea"/>
              </a:rPr>
              <a:t>详细设计也叫做过程设计或程序设计，它不同于编码或编程。</a:t>
            </a:r>
            <a:r>
              <a:rPr lang="en-US" altLang="zh-CN" dirty="0">
                <a:solidFill>
                  <a:schemeClr val="accent2"/>
                </a:solidFill>
                <a:latin typeface="华文中宋" panose="02010600040101010101" pitchFamily="2" charset="-122"/>
                <a:ea typeface="华文中宋" panose="02010600040101010101" pitchFamily="2" charset="-122"/>
                <a:cs typeface="+mn-cs"/>
                <a:sym typeface="+mn-ea"/>
              </a:rPr>
              <a:t>在过程设计阶段，要决定各个模块的实现算法，并精确地表达这些算法</a:t>
            </a:r>
            <a:r>
              <a:rPr lang="zh-CN" altLang="en-US" dirty="0">
                <a:latin typeface="华文中宋" panose="02010600040101010101" pitchFamily="2" charset="-122"/>
                <a:ea typeface="华文中宋" panose="02010600040101010101" pitchFamily="2" charset="-122"/>
                <a:cs typeface="+mn-cs"/>
                <a:sym typeface="+mn-ea"/>
              </a:rPr>
              <a:t>，即设计出程序的详细规格说明（</a:t>
            </a:r>
            <a:r>
              <a:rPr lang="zh-CN" altLang="en-US" dirty="0">
                <a:solidFill>
                  <a:srgbClr val="262699"/>
                </a:solidFill>
                <a:latin typeface="华文中宋" panose="02010600040101010101" pitchFamily="2" charset="-122"/>
                <a:ea typeface="华文中宋" panose="02010600040101010101" pitchFamily="2" charset="-122"/>
                <a:cs typeface="+mn-cs"/>
                <a:sym typeface="+mn-ea"/>
              </a:rPr>
              <a:t>数据结构＋算法</a:t>
            </a:r>
            <a:r>
              <a:rPr lang="zh-CN" altLang="en-US" dirty="0">
                <a:latin typeface="华文中宋" panose="02010600040101010101" pitchFamily="2" charset="-122"/>
                <a:ea typeface="华文中宋" panose="02010600040101010101" pitchFamily="2" charset="-122"/>
                <a:cs typeface="+mn-cs"/>
                <a:sym typeface="+mn-ea"/>
              </a:rPr>
              <a:t>）</a:t>
            </a:r>
            <a:endParaRPr lang="zh-CN" altLang="en-US" dirty="0">
              <a:latin typeface="华文中宋" panose="02010600040101010101" pitchFamily="2" charset="-122"/>
              <a:ea typeface="华文中宋" panose="02010600040101010101" pitchFamily="2" charset="-122"/>
              <a:cs typeface="+mn-cs"/>
              <a:sym typeface="+mn-ea"/>
            </a:endParaRPr>
          </a:p>
          <a:p>
            <a:pPr>
              <a:buSzPct val="70000"/>
            </a:pPr>
            <a:r>
              <a:rPr lang="zh-CN" altLang="en-US" dirty="0">
                <a:latin typeface="华文中宋" panose="02010600040101010101" pitchFamily="2" charset="-122"/>
                <a:ea typeface="华文中宋" panose="02010600040101010101" pitchFamily="2" charset="-122"/>
                <a:cs typeface="+mn-cs"/>
                <a:sym typeface="+mn-ea"/>
              </a:rPr>
              <a:t>从软件开发的</a:t>
            </a:r>
            <a:r>
              <a:rPr lang="zh-CN" altLang="en-US" dirty="0">
                <a:solidFill>
                  <a:schemeClr val="tx1"/>
                </a:solidFill>
                <a:latin typeface="华文中宋" panose="02010600040101010101" pitchFamily="2" charset="-122"/>
                <a:ea typeface="华文中宋" panose="02010600040101010101" pitchFamily="2" charset="-122"/>
                <a:cs typeface="+mn-cs"/>
                <a:sym typeface="+mn-ea"/>
              </a:rPr>
              <a:t>工程化观点</a:t>
            </a:r>
            <a:r>
              <a:rPr lang="zh-CN" altLang="en-US" dirty="0">
                <a:latin typeface="华文中宋" panose="02010600040101010101" pitchFamily="2" charset="-122"/>
                <a:ea typeface="华文中宋" panose="02010600040101010101" pitchFamily="2" charset="-122"/>
                <a:cs typeface="+mn-cs"/>
                <a:sym typeface="+mn-ea"/>
              </a:rPr>
              <a:t>来看，在使用程序设计语言编制程序以前，需要对所采用算法的逻辑关系进行分析，</a:t>
            </a:r>
            <a:r>
              <a:rPr lang="zh-CN" altLang="en-US" dirty="0">
                <a:solidFill>
                  <a:schemeClr val="accent2"/>
                </a:solidFill>
                <a:latin typeface="华文中宋" panose="02010600040101010101" pitchFamily="2" charset="-122"/>
                <a:ea typeface="华文中宋" panose="02010600040101010101" pitchFamily="2" charset="-122"/>
                <a:cs typeface="+mn-cs"/>
                <a:sym typeface="+mn-ea"/>
              </a:rPr>
              <a:t>设计出全部必要的过程细节，并给予清晰的表达，使之成为编码的依据，这就是详细设计的任务</a:t>
            </a:r>
            <a:r>
              <a:rPr lang="zh-CN" altLang="en-US" dirty="0">
                <a:latin typeface="华文中宋" panose="02010600040101010101" pitchFamily="2" charset="-122"/>
                <a:ea typeface="华文中宋" panose="02010600040101010101" pitchFamily="2" charset="-122"/>
                <a:cs typeface="+mn-cs"/>
                <a:sym typeface="+mn-ea"/>
              </a:rPr>
              <a:t>。</a:t>
            </a:r>
            <a:endParaRPr lang="zh-CN" altLang="en-US"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sym typeface="+mn-ea"/>
              </a:rPr>
              <a:t>Program Design ≠ Coding</a:t>
            </a:r>
            <a:endParaRPr lang="en-US" altLang="zh-CN" dirty="0">
              <a:latin typeface="华文中宋" panose="02010600040101010101" pitchFamily="2" charset="-122"/>
              <a:ea typeface="华文中宋" panose="02010600040101010101" pitchFamily="2" charset="-122"/>
              <a:cs typeface="+mn-cs"/>
              <a:sym typeface="+mn-ea"/>
            </a:endParaRPr>
          </a:p>
        </p:txBody>
      </p:sp>
      <p:sp>
        <p:nvSpPr>
          <p:cNvPr id="245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a:ln/>
        </p:spPr>
        <p:txBody>
          <a:bodyPr vert="horz" wrap="square" lIns="91440" tIns="45720" rIns="91440" bIns="45720" anchor="ctr" anchorCtr="0"/>
          <a:p>
            <a:r>
              <a:rPr lang="zh-CN" altLang="en-US" dirty="0"/>
              <a:t>详细设计的过程</a:t>
            </a:r>
            <a:endParaRPr lang="zh-CN" altLang="en-US" dirty="0"/>
          </a:p>
        </p:txBody>
      </p:sp>
      <p:sp>
        <p:nvSpPr>
          <p:cNvPr id="22531" name="内容占位符 2"/>
          <p:cNvSpPr>
            <a:spLocks noGrp="1" noChangeArrowheads="1"/>
          </p:cNvSpPr>
          <p:nvPr>
            <p:ph idx="1"/>
          </p:nvPr>
        </p:nvSpPr>
        <p:spPr>
          <a:xfrm>
            <a:off x="876300" y="1208088"/>
            <a:ext cx="7391400" cy="466725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1.确定每个模块的算法，选择适当工具表达算法执行过程；</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2.确定每一个模块的数据结构；</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3.为每一个模块设计一组测试用例；</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4.编写《详细设计说明书》；</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5.设计评审。</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765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sym typeface="+mn-ea"/>
              </a:rPr>
              <a:t>详细设计说明书的内容</a:t>
            </a:r>
            <a:endPar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8675" name="内容占位符 2"/>
          <p:cNvSpPr>
            <a:spLocks noGrp="1"/>
          </p:cNvSpPr>
          <p:nvPr>
            <p:ph idx="1"/>
          </p:nvPr>
        </p:nvSpPr>
        <p:spPr>
          <a:xfrm>
            <a:off x="827088" y="1052513"/>
            <a:ext cx="7391400" cy="5408295"/>
          </a:xfrm>
          <a:ln/>
        </p:spPr>
        <p:txBody>
          <a:bodyPr vert="horz" wrap="square" lIns="91440" tIns="45720" rIns="91440" bIns="45720" anchor="t" anchorCtr="0">
            <a:spAutoFit/>
          </a:bodyPr>
          <a:p>
            <a:pPr marL="147320" indent="-342900" algn="just" defTabSz="914400">
              <a:lnSpc>
                <a:spcPct val="100000"/>
              </a:lnSpc>
              <a:buSzPct val="70000"/>
              <a:buFont typeface="Arial" panose="020B0604020202020204" pitchFamily="34" charset="0"/>
              <a:buChar char="•"/>
              <a:defRPr/>
            </a:pPr>
            <a:r>
              <a:rPr lang="en-US" altLang="zh-CN" sz="2400" noProof="0" dirty="0">
                <a:ln>
                  <a:noFill/>
                </a:ln>
                <a:effectLst/>
                <a:uLnTx/>
                <a:uFillTx/>
                <a:cs typeface="+mn-cs"/>
              </a:rPr>
              <a:t>程序描述：程序简要描述，意义和特点</a:t>
            </a:r>
            <a:endParaRPr lang="en-US" altLang="zh-CN" sz="2400" noProof="0" dirty="0">
              <a:ln>
                <a:noFill/>
              </a:ln>
              <a:effectLst/>
              <a:uLnTx/>
              <a:uFillTx/>
              <a:cs typeface="+mn-cs"/>
            </a:endParaRPr>
          </a:p>
          <a:p>
            <a:pPr marL="147320" indent="-342900" algn="just" defTabSz="914400">
              <a:lnSpc>
                <a:spcPct val="100000"/>
              </a:lnSpc>
              <a:buSzPct val="70000"/>
              <a:buFont typeface="Arial" panose="020B0604020202020204" pitchFamily="34" charset="0"/>
              <a:buChar char="•"/>
              <a:defRPr/>
            </a:pPr>
            <a:r>
              <a:rPr lang="en-US" altLang="zh-CN" sz="2400" noProof="0" dirty="0">
                <a:ln>
                  <a:noFill/>
                </a:ln>
                <a:effectLst/>
                <a:uLnTx/>
                <a:uFillTx/>
                <a:cs typeface="+mn-cs"/>
              </a:rPr>
              <a:t>功能：程序应具备的功能</a:t>
            </a:r>
            <a:endParaRPr lang="en-US" altLang="zh-CN" sz="2400" noProof="0" dirty="0">
              <a:ln>
                <a:noFill/>
              </a:ln>
              <a:effectLst/>
              <a:uLnTx/>
              <a:uFillTx/>
              <a:cs typeface="+mn-cs"/>
            </a:endParaRPr>
          </a:p>
          <a:p>
            <a:pPr marL="147320" indent="-342900" algn="just" defTabSz="914400">
              <a:lnSpc>
                <a:spcPct val="100000"/>
              </a:lnSpc>
              <a:buSzPct val="70000"/>
              <a:buFont typeface="Arial" panose="020B0604020202020204" pitchFamily="34" charset="0"/>
              <a:buChar char="•"/>
              <a:defRPr/>
            </a:pPr>
            <a:r>
              <a:rPr lang="en-US" altLang="zh-CN" sz="2400" noProof="0" dirty="0">
                <a:ln>
                  <a:noFill/>
                </a:ln>
                <a:effectLst/>
                <a:uLnTx/>
                <a:uFillTx/>
                <a:cs typeface="+mn-cs"/>
              </a:rPr>
              <a:t>性能：精度、灵活性和时间特性等</a:t>
            </a:r>
            <a:endParaRPr lang="en-US" altLang="zh-CN" sz="2400" noProof="0" dirty="0">
              <a:ln>
                <a:noFill/>
              </a:ln>
              <a:effectLst/>
              <a:uLnTx/>
              <a:uFillTx/>
              <a:cs typeface="+mn-cs"/>
            </a:endParaRPr>
          </a:p>
          <a:p>
            <a:pPr marL="147320" indent="-342900" algn="just" defTabSz="914400">
              <a:lnSpc>
                <a:spcPct val="100000"/>
              </a:lnSpc>
              <a:buSzPct val="70000"/>
              <a:buFont typeface="Arial" panose="020B0604020202020204" pitchFamily="34" charset="0"/>
              <a:buChar char="•"/>
              <a:defRPr/>
            </a:pPr>
            <a:r>
              <a:rPr lang="en-US" altLang="zh-CN" sz="2400" noProof="0" dirty="0">
                <a:ln>
                  <a:noFill/>
                </a:ln>
                <a:solidFill>
                  <a:srgbClr val="C00000"/>
                </a:solidFill>
                <a:effectLst/>
                <a:uLnTx/>
                <a:uFillTx/>
                <a:cs typeface="+mn-cs"/>
              </a:rPr>
              <a:t>输入项</a:t>
            </a:r>
            <a:endParaRPr lang="en-US" altLang="zh-CN" sz="2400" noProof="0" dirty="0">
              <a:ln>
                <a:noFill/>
              </a:ln>
              <a:solidFill>
                <a:srgbClr val="C00000"/>
              </a:solidFill>
              <a:effectLst/>
              <a:uLnTx/>
              <a:uFillTx/>
              <a:cs typeface="+mn-cs"/>
            </a:endParaRPr>
          </a:p>
          <a:p>
            <a:pPr marL="147320" indent="-342900" algn="just" defTabSz="914400">
              <a:lnSpc>
                <a:spcPct val="100000"/>
              </a:lnSpc>
              <a:buSzPct val="70000"/>
              <a:buFont typeface="Arial" panose="020B0604020202020204" pitchFamily="34" charset="0"/>
              <a:buChar char="•"/>
              <a:defRPr/>
            </a:pPr>
            <a:r>
              <a:rPr lang="en-US" altLang="zh-CN" sz="2400" noProof="0" dirty="0">
                <a:ln>
                  <a:noFill/>
                </a:ln>
                <a:solidFill>
                  <a:srgbClr val="C00000"/>
                </a:solidFill>
                <a:effectLst/>
                <a:uLnTx/>
                <a:uFillTx/>
                <a:cs typeface="+mn-cs"/>
              </a:rPr>
              <a:t>输出项</a:t>
            </a:r>
            <a:endParaRPr lang="en-US" altLang="zh-CN" sz="2400" noProof="0" dirty="0">
              <a:ln>
                <a:noFill/>
              </a:ln>
              <a:solidFill>
                <a:srgbClr val="C00000"/>
              </a:solidFill>
              <a:effectLst/>
              <a:uLnTx/>
              <a:uFillTx/>
              <a:cs typeface="+mn-cs"/>
            </a:endParaRPr>
          </a:p>
          <a:p>
            <a:pPr marL="147320" indent="-342900" algn="just" defTabSz="914400">
              <a:lnSpc>
                <a:spcPct val="100000"/>
              </a:lnSpc>
              <a:buSzPct val="70000"/>
              <a:buFont typeface="Arial" panose="020B0604020202020204" pitchFamily="34" charset="0"/>
              <a:buChar char="•"/>
              <a:defRPr/>
            </a:pPr>
            <a:r>
              <a:rPr lang="en-US" altLang="zh-CN" sz="2400" noProof="0" dirty="0">
                <a:ln>
                  <a:noFill/>
                </a:ln>
                <a:solidFill>
                  <a:srgbClr val="C00000"/>
                </a:solidFill>
                <a:effectLst/>
                <a:uLnTx/>
                <a:uFillTx/>
                <a:cs typeface="+mn-cs"/>
              </a:rPr>
              <a:t>算法：具体的计算步骤和过程</a:t>
            </a:r>
            <a:endParaRPr lang="en-US" altLang="zh-CN" sz="2400" noProof="0" dirty="0">
              <a:ln>
                <a:noFill/>
              </a:ln>
              <a:solidFill>
                <a:srgbClr val="C00000"/>
              </a:solidFill>
              <a:effectLst/>
              <a:uLnTx/>
              <a:uFillTx/>
              <a:cs typeface="+mn-cs"/>
            </a:endParaRPr>
          </a:p>
          <a:p>
            <a:pPr marL="147320" indent="-342900" algn="just" defTabSz="914400">
              <a:lnSpc>
                <a:spcPct val="100000"/>
              </a:lnSpc>
              <a:buSzPct val="70000"/>
              <a:buFont typeface="Arial" panose="020B0604020202020204" pitchFamily="34" charset="0"/>
              <a:buChar char="•"/>
              <a:defRPr/>
            </a:pPr>
            <a:r>
              <a:rPr lang="en-US" altLang="zh-CN" sz="2400" noProof="0" dirty="0">
                <a:ln>
                  <a:noFill/>
                </a:ln>
                <a:solidFill>
                  <a:srgbClr val="C00000"/>
                </a:solidFill>
                <a:effectLst/>
                <a:uLnTx/>
                <a:uFillTx/>
                <a:cs typeface="+mn-cs"/>
              </a:rPr>
              <a:t>接口</a:t>
            </a:r>
            <a:r>
              <a:rPr lang="en-US" altLang="zh-CN" sz="2400" noProof="0" dirty="0">
                <a:ln>
                  <a:noFill/>
                </a:ln>
                <a:effectLst/>
                <a:uLnTx/>
                <a:uFillTx/>
                <a:cs typeface="+mn-cs"/>
              </a:rPr>
              <a:t>：模块的隶属关系、调用方式和参数、与模块直接关联的数据结构（如数据库表、文件等）</a:t>
            </a:r>
            <a:endParaRPr lang="en-US" altLang="zh-CN" sz="2400" noProof="0" dirty="0">
              <a:ln>
                <a:noFill/>
              </a:ln>
              <a:effectLst/>
              <a:uLnTx/>
              <a:uFillTx/>
              <a:cs typeface="+mn-cs"/>
            </a:endParaRPr>
          </a:p>
          <a:p>
            <a:pPr marL="147320" indent="-342900" algn="just" defTabSz="914400">
              <a:lnSpc>
                <a:spcPct val="100000"/>
              </a:lnSpc>
              <a:buSzPct val="70000"/>
              <a:buFont typeface="Arial" panose="020B0604020202020204" pitchFamily="34" charset="0"/>
              <a:buChar char="•"/>
              <a:defRPr/>
            </a:pPr>
            <a:r>
              <a:rPr lang="en-US" altLang="zh-CN" sz="2400" noProof="0" dirty="0">
                <a:ln>
                  <a:noFill/>
                </a:ln>
                <a:effectLst/>
                <a:uLnTx/>
                <a:uFillTx/>
                <a:cs typeface="+mn-cs"/>
              </a:rPr>
              <a:t>存储分配（根据需要）</a:t>
            </a:r>
            <a:endParaRPr lang="en-US" altLang="zh-CN" sz="2400" noProof="0" dirty="0">
              <a:ln>
                <a:noFill/>
              </a:ln>
              <a:effectLst/>
              <a:uLnTx/>
              <a:uFillTx/>
              <a:cs typeface="+mn-cs"/>
            </a:endParaRPr>
          </a:p>
          <a:p>
            <a:pPr marL="147320" indent="-342900" algn="just" defTabSz="914400">
              <a:lnSpc>
                <a:spcPct val="100000"/>
              </a:lnSpc>
              <a:buSzPct val="70000"/>
              <a:buFont typeface="Arial" panose="020B0604020202020204" pitchFamily="34" charset="0"/>
              <a:buChar char="•"/>
              <a:defRPr/>
            </a:pPr>
            <a:r>
              <a:rPr lang="en-US" altLang="zh-CN" sz="2400" noProof="0" dirty="0">
                <a:ln>
                  <a:noFill/>
                </a:ln>
                <a:effectLst/>
                <a:uLnTx/>
                <a:uFillTx/>
                <a:cs typeface="+mn-cs"/>
              </a:rPr>
              <a:t>注释设计：程序注释说明</a:t>
            </a:r>
            <a:endParaRPr lang="en-US" altLang="zh-CN" sz="2400" noProof="0" dirty="0">
              <a:ln>
                <a:noFill/>
              </a:ln>
              <a:effectLst/>
              <a:uLnTx/>
              <a:uFillTx/>
              <a:cs typeface="+mn-cs"/>
            </a:endParaRPr>
          </a:p>
          <a:p>
            <a:pPr marL="147320" indent="-342900" algn="just" defTabSz="914400">
              <a:lnSpc>
                <a:spcPct val="100000"/>
              </a:lnSpc>
              <a:buSzPct val="70000"/>
              <a:buFont typeface="Arial" panose="020B0604020202020204" pitchFamily="34" charset="0"/>
              <a:buChar char="•"/>
              <a:defRPr/>
            </a:pPr>
            <a:r>
              <a:rPr lang="en-US" altLang="zh-CN" sz="2400" noProof="0" dirty="0">
                <a:ln>
                  <a:noFill/>
                </a:ln>
                <a:effectLst/>
                <a:uLnTx/>
                <a:uFillTx/>
                <a:cs typeface="+mn-cs"/>
              </a:rPr>
              <a:t>限制条件：程序运行中所受的限制条件</a:t>
            </a:r>
            <a:endParaRPr lang="en-US" altLang="zh-CN" sz="2400" noProof="0" dirty="0">
              <a:ln>
                <a:noFill/>
              </a:ln>
              <a:effectLst/>
              <a:uLnTx/>
              <a:uFillTx/>
              <a:cs typeface="+mn-cs"/>
            </a:endParaRPr>
          </a:p>
          <a:p>
            <a:pPr>
              <a:buSzPct val="70000"/>
            </a:pPr>
            <a:endParaRPr lang="zh-CN" altLang="en-US" dirty="0">
              <a:latin typeface="宋体" panose="02010600030101010101" pitchFamily="2" charset="-122"/>
              <a:ea typeface="宋体" panose="02010600030101010101" pitchFamily="2" charset="-122"/>
              <a:cs typeface="+mn-cs"/>
            </a:endParaRPr>
          </a:p>
        </p:txBody>
      </p:sp>
      <p:sp>
        <p:nvSpPr>
          <p:cNvPr id="2867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p:txBody>
          <a:bodyPr vert="horz" wrap="square" lIns="91440" tIns="45720" rIns="91440" bIns="45720"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sym typeface="+mn-ea"/>
              </a:rPr>
              <a:t>详细设计的优化</a:t>
            </a:r>
            <a:endParaRPr kumimoji="0" lang="zh-CN" altLang="en-US" sz="2800" b="1" i="0" u="none" strike="noStrike" kern="0" cap="none" spc="0" normalizeH="0" baseline="0" noProof="1">
              <a:ln>
                <a:noFill/>
              </a:ln>
              <a:solidFill>
                <a:srgbClr val="333399"/>
              </a:solidFill>
              <a:effectLst/>
              <a:uLnTx/>
              <a:uFillTx/>
              <a:latin typeface="华文中宋" panose="02010600040101010101" pitchFamily="2" charset="-122"/>
              <a:ea typeface="华文中宋" panose="02010600040101010101" pitchFamily="2" charset="-122"/>
              <a:cs typeface="+mj-cs"/>
            </a:endParaRPr>
          </a:p>
        </p:txBody>
      </p:sp>
      <p:sp>
        <p:nvSpPr>
          <p:cNvPr id="26627" name="内容占位符 2"/>
          <p:cNvSpPr>
            <a:spLocks noGrp="1"/>
          </p:cNvSpPr>
          <p:nvPr>
            <p:ph idx="1"/>
          </p:nvPr>
        </p:nvSpPr>
        <p:spPr>
          <a:xfrm>
            <a:off x="827088" y="1379538"/>
            <a:ext cx="7391400" cy="348678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先在不考虑时间因素的前提下开发并精化软件结构</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选出最耗时的模块，仔细设计处理算法</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孤立出大量占有处理机资源的模块</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必要时重新设计或用依赖于机器的语言重写大量占有资源的模块</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2662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a:ln/>
        </p:spPr>
        <p:txBody>
          <a:bodyPr vert="horz" wrap="square" lIns="91440" tIns="45720" rIns="91440" bIns="45720" anchor="ctr" anchorCtr="0"/>
          <a:p>
            <a:r>
              <a:rPr lang="zh-CN" altLang="en-US" dirty="0"/>
              <a:t>有些人觉得详细设计是否有必要？</a:t>
            </a:r>
            <a:endParaRPr lang="zh-CN" altLang="en-US" dirty="0"/>
          </a:p>
        </p:txBody>
      </p:sp>
      <p:sp>
        <p:nvSpPr>
          <p:cNvPr id="25603" name="内容占位符 2"/>
          <p:cNvSpPr>
            <a:spLocks noGrp="1" noChangeArrowheads="1"/>
          </p:cNvSpPr>
          <p:nvPr>
            <p:ph idx="1"/>
          </p:nvPr>
        </p:nvSpPr>
        <p:spPr>
          <a:xfrm>
            <a:off x="876300" y="1376363"/>
            <a:ext cx="7391400" cy="528193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当详细设计和编码人员实际为同一人时</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观点：既然是同一人，自己做事心里有数，整体想清楚了就开始编码，而不愿意写详细设计文档</a:t>
            </a: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当详细设计和编码人员不是同一人时：</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观点：详细设计要</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做的很细才有效果，如果详细设计做的不够细，那还不如直接看需求文档</a:t>
            </a:r>
            <a:endPar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95580" marR="0" lvl="0" indent="-195580" algn="just" defTabSz="914400" rtl="0" eaLnBrk="0" fontAlgn="base" latinLnBrk="0" hangingPunct="0">
              <a:lnSpc>
                <a:spcPct val="150000"/>
              </a:lnSpc>
              <a:spcBef>
                <a:spcPct val="20000"/>
              </a:spcBef>
              <a:spcAft>
                <a:spcPct val="0"/>
              </a:spcAft>
              <a:buClr>
                <a:schemeClr val="accent2"/>
              </a:buClr>
              <a:buSzPct val="70000"/>
              <a:buFont typeface="Wingdings" panose="05000000000000000000" pitchFamily="2" charset="2"/>
              <a:buChar char="l"/>
              <a:defRPr/>
            </a:pPr>
            <a:r>
              <a:rPr kumimoji="0" lang="zh-CN" altLang="en-US" sz="2200" b="0" i="0" u="none" strike="noStrike" kern="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cs typeface="+mn-cs"/>
              </a:rPr>
              <a:t>对此你怎么看？</a:t>
            </a:r>
            <a:endParaRPr kumimoji="0" lang="en-US" altLang="zh-CN" sz="2200" b="0" i="0" u="none" strike="noStrike" kern="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None/>
              <a:defRPr/>
            </a:pPr>
            <a:endParaRPr kumimoji="0" lang="zh-CN" altLang="en-US" sz="2400" b="1"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297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ln/>
        </p:spPr>
        <p:txBody>
          <a:bodyPr vert="horz" wrap="square" lIns="91440" tIns="45720" rIns="91440" bIns="45720" anchor="ctr" anchorCtr="0"/>
          <a:p>
            <a:r>
              <a:rPr lang="en-US" altLang="zh-CN" dirty="0"/>
              <a:t>7.2 </a:t>
            </a:r>
            <a:r>
              <a:rPr lang="zh-CN" altLang="en-US" dirty="0"/>
              <a:t>结构化程序设计</a:t>
            </a:r>
            <a:endParaRPr lang="zh-CN" altLang="en-US" dirty="0"/>
          </a:p>
        </p:txBody>
      </p:sp>
      <p:sp>
        <p:nvSpPr>
          <p:cNvPr id="29699" name="内容占位符 2"/>
          <p:cNvSpPr>
            <a:spLocks noGrp="1" noChangeArrowheads="1"/>
          </p:cNvSpPr>
          <p:nvPr>
            <p:ph idx="1"/>
          </p:nvPr>
        </p:nvSpPr>
        <p:spPr>
          <a:xfrm>
            <a:off x="827088" y="1268413"/>
            <a:ext cx="7777163" cy="42132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结构化程序设计的提出</a:t>
            </a: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结构程序设计概念最早</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1965</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年由</a:t>
            </a:r>
            <a:r>
              <a:rPr kumimoji="0" lang="en-US" altLang="zh-CN" sz="24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E.W.Dijkstra</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提出</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“可以从高级语言中取消</a:t>
            </a: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GOTO</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语句”</a:t>
            </a:r>
            <a:endPar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“程序的质量与程序中所包含的</a:t>
            </a: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GOTO</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语句的数量成反比”</a:t>
            </a:r>
            <a:endPar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1966</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年</a:t>
            </a:r>
            <a:r>
              <a:rPr kumimoji="0" lang="en-US" altLang="zh-CN" sz="24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bohm</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和</a:t>
            </a:r>
            <a:r>
              <a:rPr kumimoji="0" lang="en-US" altLang="zh-CN" sz="24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Jacopini</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证明了</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只用三种基本的控制结构能实现任何单入口单出口的程序</a:t>
            </a:r>
            <a:endPar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endPar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07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a:ln/>
        </p:spPr>
        <p:txBody>
          <a:bodyPr vert="horz" wrap="square" lIns="91440" tIns="45720" rIns="91440" bIns="45720" anchor="ctr" anchorCtr="0"/>
          <a:p>
            <a:r>
              <a:rPr lang="zh-CN" altLang="en-US" dirty="0"/>
              <a:t>结构化程序设计</a:t>
            </a:r>
            <a:endParaRPr lang="zh-CN" altLang="en-US" dirty="0"/>
          </a:p>
        </p:txBody>
      </p:sp>
      <p:sp>
        <p:nvSpPr>
          <p:cNvPr id="30723" name="内容占位符 2"/>
          <p:cNvSpPr>
            <a:spLocks noGrp="1" noChangeArrowheads="1"/>
          </p:cNvSpPr>
          <p:nvPr>
            <p:ph idx="1"/>
          </p:nvPr>
        </p:nvSpPr>
        <p:spPr>
          <a:xfrm>
            <a:off x="827088" y="1196975"/>
            <a:ext cx="7391400" cy="524700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1971</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IBM</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公司成功地使用了结构程序设计技术</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000" b="0" i="0" u="none" strike="noStrike" kern="0" cap="none" spc="0" normalizeH="0" baseline="0" noProof="0" dirty="0">
                <a:ln>
                  <a:noFill/>
                </a:ln>
                <a:solidFill>
                  <a:schemeClr val="tx1"/>
                </a:solidFill>
                <a:effectLst/>
                <a:uLnTx/>
                <a:uFillTx/>
                <a:cs typeface="华文中宋" panose="02010600040101010101" pitchFamily="2" charset="-122"/>
              </a:rPr>
              <a:t>纽约时报信息库管理系统</a:t>
            </a:r>
            <a:endParaRPr kumimoji="0" lang="zh-CN" altLang="en-US" sz="2000" b="0" i="0" u="none" strike="noStrike" kern="0" cap="none" spc="0" normalizeH="0" baseline="0" noProof="0" dirty="0">
              <a:ln>
                <a:noFill/>
              </a:ln>
              <a:solidFill>
                <a:schemeClr val="tx1"/>
              </a:solidFill>
              <a:effectLst/>
              <a:uLnTx/>
              <a:uFillTx/>
              <a:cs typeface="华文中宋" panose="02010600040101010101" pitchFamily="2" charset="-122"/>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cs typeface="华文中宋" panose="02010600040101010101" pitchFamily="2" charset="-122"/>
              </a:rPr>
              <a:t>	</a:t>
            </a:r>
            <a:r>
              <a:rPr kumimoji="0" lang="zh-CN" altLang="en-US" sz="2000" b="0" i="0" u="none" strike="noStrike" kern="0" cap="none" spc="0" normalizeH="0" baseline="0" noProof="0" dirty="0">
                <a:ln>
                  <a:noFill/>
                </a:ln>
                <a:solidFill>
                  <a:schemeClr val="tx1"/>
                </a:solidFill>
                <a:effectLst/>
                <a:uLnTx/>
                <a:uFillTx/>
                <a:cs typeface="华文中宋" panose="02010600040101010101" pitchFamily="2" charset="-122"/>
              </a:rPr>
              <a:t>美国宇航局空间实验室飞行模拟系统</a:t>
            </a:r>
            <a:endParaRPr kumimoji="0" lang="zh-CN" altLang="en-US" sz="2000" b="0" i="0" u="none" strike="noStrike" kern="0" cap="none" spc="0" normalizeH="0" baseline="0" noProof="0" dirty="0">
              <a:ln>
                <a:noFill/>
              </a:ln>
              <a:solidFill>
                <a:schemeClr val="tx1"/>
              </a:solidFill>
              <a:effectLst/>
              <a:uLnTx/>
              <a:uFillTx/>
              <a:cs typeface="华文中宋" panose="02010600040101010101" pitchFamily="2" charset="-122"/>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1972</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年</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IBM</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公司的</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Mills</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进一步补充了结构程序设计的规则</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结构程序设计是尽可能少用</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GOTO</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语句的程序设计方法</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。最好仅在检测出错误时才使用</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GOTO</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语句，而且应该总是使用前向</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GOTO</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语句</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17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a:ln/>
        </p:spPr>
        <p:txBody>
          <a:bodyPr vert="horz" wrap="square" lIns="91440" tIns="45720" rIns="91440" bIns="45720" anchor="ctr" anchorCtr="0"/>
          <a:p>
            <a:r>
              <a:rPr lang="zh-CN" altLang="en-US" dirty="0"/>
              <a:t>结构程序</a:t>
            </a:r>
            <a:endParaRPr lang="zh-CN" altLang="en-US" dirty="0"/>
          </a:p>
        </p:txBody>
      </p:sp>
      <p:sp>
        <p:nvSpPr>
          <p:cNvPr id="32771" name="内容占位符 2"/>
          <p:cNvSpPr>
            <a:spLocks noGrp="1"/>
          </p:cNvSpPr>
          <p:nvPr>
            <p:ph idx="1"/>
          </p:nvPr>
        </p:nvSpPr>
        <p:spPr>
          <a:xfrm>
            <a:off x="827088" y="1196975"/>
            <a:ext cx="7391400" cy="439420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只允许使用顺序、</a:t>
            </a:r>
            <a:r>
              <a:rPr lang="en-US" altLang="zh-CN" dirty="0">
                <a:latin typeface="华文中宋" panose="02010600040101010101" pitchFamily="2" charset="-122"/>
                <a:ea typeface="华文中宋" panose="02010600040101010101" pitchFamily="2" charset="-122"/>
                <a:cs typeface="+mn-cs"/>
              </a:rPr>
              <a:t>IF-THEN-ELSE</a:t>
            </a:r>
            <a:r>
              <a:rPr lang="zh-CN" altLang="en-US" dirty="0">
                <a:latin typeface="华文中宋" panose="02010600040101010101" pitchFamily="2" charset="-122"/>
                <a:ea typeface="华文中宋" panose="02010600040101010101" pitchFamily="2" charset="-122"/>
                <a:cs typeface="+mn-cs"/>
              </a:rPr>
              <a:t>分支和</a:t>
            </a:r>
            <a:r>
              <a:rPr lang="en-US" altLang="zh-CN" dirty="0">
                <a:latin typeface="华文中宋" panose="02010600040101010101" pitchFamily="2" charset="-122"/>
                <a:ea typeface="华文中宋" panose="02010600040101010101" pitchFamily="2" charset="-122"/>
                <a:cs typeface="+mn-cs"/>
              </a:rPr>
              <a:t>DO-WHILE</a:t>
            </a:r>
            <a:r>
              <a:rPr lang="zh-CN" altLang="en-US" dirty="0">
                <a:latin typeface="华文中宋" panose="02010600040101010101" pitchFamily="2" charset="-122"/>
                <a:ea typeface="华文中宋" panose="02010600040101010101" pitchFamily="2" charset="-122"/>
                <a:cs typeface="+mn-cs"/>
              </a:rPr>
              <a:t>型循环这三种基本控制结构，称为经典的结构程序设计</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还允许使用</a:t>
            </a:r>
            <a:r>
              <a:rPr lang="en-US" altLang="zh-CN" dirty="0">
                <a:latin typeface="华文中宋" panose="02010600040101010101" pitchFamily="2" charset="-122"/>
                <a:ea typeface="华文中宋" panose="02010600040101010101" pitchFamily="2" charset="-122"/>
                <a:cs typeface="+mn-cs"/>
              </a:rPr>
              <a:t>DO-CASE</a:t>
            </a:r>
            <a:r>
              <a:rPr lang="zh-CN" altLang="en-US" dirty="0">
                <a:latin typeface="华文中宋" panose="02010600040101010101" pitchFamily="2" charset="-122"/>
                <a:ea typeface="华文中宋" panose="02010600040101010101" pitchFamily="2" charset="-122"/>
                <a:cs typeface="+mn-cs"/>
              </a:rPr>
              <a:t>多分支结构和</a:t>
            </a:r>
            <a:r>
              <a:rPr lang="en-US" altLang="zh-CN" dirty="0">
                <a:latin typeface="华文中宋" panose="02010600040101010101" pitchFamily="2" charset="-122"/>
                <a:ea typeface="华文中宋" panose="02010600040101010101" pitchFamily="2" charset="-122"/>
                <a:cs typeface="+mn-cs"/>
              </a:rPr>
              <a:t>DO-UNTIL</a:t>
            </a:r>
            <a:r>
              <a:rPr lang="zh-CN" altLang="en-US" dirty="0">
                <a:latin typeface="华文中宋" panose="02010600040101010101" pitchFamily="2" charset="-122"/>
                <a:ea typeface="华文中宋" panose="02010600040101010101" pitchFamily="2" charset="-122"/>
                <a:cs typeface="+mn-cs"/>
              </a:rPr>
              <a:t>循环结构，称为扩展的结构程序设计</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如果再加上允许使用</a:t>
            </a:r>
            <a:r>
              <a:rPr lang="en-US" altLang="zh-CN" dirty="0">
                <a:latin typeface="华文中宋" panose="02010600040101010101" pitchFamily="2" charset="-122"/>
                <a:ea typeface="华文中宋" panose="02010600040101010101" pitchFamily="2" charset="-122"/>
                <a:cs typeface="+mn-cs"/>
              </a:rPr>
              <a:t>LEAVE(</a:t>
            </a:r>
            <a:r>
              <a:rPr lang="zh-CN" altLang="en-US" dirty="0">
                <a:latin typeface="华文中宋" panose="02010600040101010101" pitchFamily="2" charset="-122"/>
                <a:ea typeface="华文中宋" panose="02010600040101010101" pitchFamily="2" charset="-122"/>
                <a:cs typeface="+mn-cs"/>
              </a:rPr>
              <a:t>或</a:t>
            </a:r>
            <a:r>
              <a:rPr lang="en-US" altLang="zh-CN" dirty="0">
                <a:latin typeface="华文中宋" panose="02010600040101010101" pitchFamily="2" charset="-122"/>
                <a:ea typeface="华文中宋" panose="02010600040101010101" pitchFamily="2" charset="-122"/>
                <a:cs typeface="+mn-cs"/>
              </a:rPr>
              <a:t>BREAK)</a:t>
            </a:r>
            <a:r>
              <a:rPr lang="zh-CN" altLang="en-US" dirty="0">
                <a:latin typeface="华文中宋" panose="02010600040101010101" pitchFamily="2" charset="-122"/>
                <a:ea typeface="华文中宋" panose="02010600040101010101" pitchFamily="2" charset="-122"/>
                <a:cs typeface="+mn-cs"/>
              </a:rPr>
              <a:t>结构，称为修正的结构程序设计</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3277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a:ln/>
        </p:spPr>
        <p:txBody>
          <a:bodyPr vert="horz" wrap="square" lIns="91440" tIns="45720" rIns="91440" bIns="45720" anchor="ctr" anchorCtr="0"/>
          <a:p>
            <a:r>
              <a:rPr lang="zh-CN" altLang="en-US" dirty="0"/>
              <a:t>结构程序设计结构</a:t>
            </a:r>
            <a:endParaRPr lang="zh-CN" altLang="en-US" dirty="0"/>
          </a:p>
        </p:txBody>
      </p:sp>
      <p:sp>
        <p:nvSpPr>
          <p:cNvPr id="33795" name="内容占位符 2"/>
          <p:cNvSpPr>
            <a:spLocks noGrp="1"/>
          </p:cNvSpPr>
          <p:nvPr>
            <p:ph idx="1"/>
          </p:nvPr>
        </p:nvSpPr>
        <p:spPr>
          <a:xfrm>
            <a:off x="827088" y="1379538"/>
            <a:ext cx="7391400" cy="554037"/>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种基本的控制结构</a:t>
            </a:r>
            <a:endParaRPr lang="zh-CN" altLang="en-US" dirty="0">
              <a:latin typeface="华文中宋" panose="02010600040101010101" pitchFamily="2" charset="-122"/>
              <a:ea typeface="华文中宋" panose="02010600040101010101" pitchFamily="2" charset="-122"/>
              <a:cs typeface="+mn-cs"/>
            </a:endParaRPr>
          </a:p>
        </p:txBody>
      </p:sp>
      <p:sp>
        <p:nvSpPr>
          <p:cNvPr id="3379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33797" name="Picture 3" descr="rj58"/>
          <p:cNvPicPr>
            <a:picLocks noChangeAspect="1"/>
          </p:cNvPicPr>
          <p:nvPr/>
        </p:nvPicPr>
        <p:blipFill>
          <a:blip r:embed="rId1"/>
          <a:stretch>
            <a:fillRect/>
          </a:stretch>
        </p:blipFill>
        <p:spPr>
          <a:xfrm>
            <a:off x="1763713" y="2084388"/>
            <a:ext cx="4968875" cy="4008437"/>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p:cNvSpPr>
          <p:nvPr>
            <p:ph type="title"/>
          </p:nvPr>
        </p:nvSpPr>
        <p:spPr>
          <a:ln/>
        </p:spPr>
        <p:txBody>
          <a:bodyPr vert="horz" wrap="square" lIns="91440" tIns="45720" rIns="91440" bIns="45720" anchor="ctr" anchorCtr="0"/>
          <a:p>
            <a:r>
              <a:rPr lang="zh-CN" altLang="en-US" dirty="0"/>
              <a:t>结构程序设计结构</a:t>
            </a:r>
            <a:endParaRPr lang="zh-CN" altLang="en-US" dirty="0"/>
          </a:p>
        </p:txBody>
      </p:sp>
      <p:sp>
        <p:nvSpPr>
          <p:cNvPr id="34819" name="内容占位符 2"/>
          <p:cNvSpPr>
            <a:spLocks noGrp="1"/>
          </p:cNvSpPr>
          <p:nvPr>
            <p:ph idx="1"/>
          </p:nvPr>
        </p:nvSpPr>
        <p:spPr>
          <a:xfrm>
            <a:off x="827088" y="1379538"/>
            <a:ext cx="7391400" cy="608012"/>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扩展的结构化程序设计</a:t>
            </a:r>
            <a:endParaRPr lang="zh-CN" altLang="en-US" dirty="0">
              <a:latin typeface="华文中宋" panose="02010600040101010101" pitchFamily="2" charset="-122"/>
              <a:ea typeface="华文中宋" panose="02010600040101010101" pitchFamily="2" charset="-122"/>
              <a:cs typeface="+mn-cs"/>
            </a:endParaRPr>
          </a:p>
        </p:txBody>
      </p:sp>
      <p:sp>
        <p:nvSpPr>
          <p:cNvPr id="348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34821" name="Picture 3" descr="rj59"/>
          <p:cNvPicPr>
            <a:picLocks noChangeAspect="1"/>
          </p:cNvPicPr>
          <p:nvPr/>
        </p:nvPicPr>
        <p:blipFill>
          <a:blip r:embed="rId1"/>
          <a:stretch>
            <a:fillRect/>
          </a:stretch>
        </p:blipFill>
        <p:spPr>
          <a:xfrm>
            <a:off x="900113" y="2292350"/>
            <a:ext cx="7273925" cy="3440113"/>
          </a:xfrm>
          <a:prstGeom prst="rect">
            <a:avLst/>
          </a:prstGeom>
          <a:noFill/>
          <a:ln w="9525">
            <a:noFill/>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1"/>
          <p:cNvSpPr>
            <a:spLocks noGrp="1"/>
          </p:cNvSpPr>
          <p:nvPr>
            <p:ph type="title"/>
          </p:nvPr>
        </p:nvSpPr>
        <p:spPr>
          <a:ln/>
        </p:spPr>
        <p:txBody>
          <a:bodyPr vert="horz" wrap="square" lIns="91440" tIns="45720" rIns="91440" bIns="45720" anchor="ctr" anchorCtr="0"/>
          <a:p>
            <a:r>
              <a:rPr lang="zh-CN" altLang="en-US" dirty="0"/>
              <a:t>结构程序设计遵循的基本原则</a:t>
            </a:r>
            <a:endParaRPr lang="zh-CN" altLang="en-US" dirty="0"/>
          </a:p>
        </p:txBody>
      </p:sp>
      <p:sp>
        <p:nvSpPr>
          <p:cNvPr id="35843" name="内容占位符 2"/>
          <p:cNvSpPr>
            <a:spLocks noGrp="1"/>
          </p:cNvSpPr>
          <p:nvPr>
            <p:ph idx="1"/>
          </p:nvPr>
        </p:nvSpPr>
        <p:spPr>
          <a:xfrm>
            <a:off x="827088" y="1379538"/>
            <a:ext cx="7391400" cy="1144587"/>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1.</a:t>
            </a:r>
            <a:r>
              <a:rPr lang="zh-CN" altLang="en-US" dirty="0">
                <a:latin typeface="华文中宋" panose="02010600040101010101" pitchFamily="2" charset="-122"/>
                <a:ea typeface="华文中宋" panose="02010600040101010101" pitchFamily="2" charset="-122"/>
                <a:cs typeface="+mn-cs"/>
              </a:rPr>
              <a:t>采用自顶向下、逐步求精的模块化方法设计程序</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358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9157" name="文本框 2"/>
          <p:cNvSpPr txBox="1"/>
          <p:nvPr/>
        </p:nvSpPr>
        <p:spPr>
          <a:xfrm>
            <a:off x="1360488" y="2524125"/>
            <a:ext cx="6597650" cy="278447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27305" marR="0" lvl="0" indent="-6350" algn="l" defTabSz="914400" rtl="0" eaLnBrk="1" fontAlgn="base" latinLnBrk="0" hangingPunct="1">
              <a:lnSpc>
                <a:spcPct val="125000"/>
              </a:lnSpc>
              <a:spcBef>
                <a:spcPts val="600"/>
              </a:spcBef>
              <a:spcAft>
                <a:spcPct val="0"/>
              </a:spcAft>
              <a:buClrTx/>
              <a:buSzPct val="80000"/>
              <a:buFont typeface="Wingdings" panose="05000000000000000000" pitchFamily="2" charset="2"/>
              <a:buChar char="l"/>
              <a:defRPr/>
            </a:pPr>
            <a:r>
              <a:rPr kumimoji="0" lang="zh-CN" altLang="en-US" sz="2200" b="0" i="0" u="none" strike="noStrike" kern="1200" cap="none" spc="0" normalizeH="0" baseline="0" noProof="1">
                <a:ln>
                  <a:noFill/>
                </a:ln>
                <a:solidFill>
                  <a:srgbClr val="320E04"/>
                </a:solidFill>
                <a:effectLst/>
                <a:uLnTx/>
                <a:uFillTx/>
                <a:latin typeface="Gill Sans MT" pitchFamily="34" charset="0"/>
                <a:ea typeface="楷体_GB2312" pitchFamily="49" charset="-122"/>
                <a:cs typeface="+mn-cs"/>
              </a:rPr>
              <a:t> </a:t>
            </a:r>
            <a:r>
              <a:rPr kumimoji="0" lang="zh-CN" altLang="en-US" sz="2200" b="0" i="0" u="none" strike="noStrike" kern="1200" cap="none" spc="0" normalizeH="0" baseline="0" noProof="1">
                <a:ln>
                  <a:noFill/>
                </a:ln>
                <a:solidFill>
                  <a:srgbClr val="320E04"/>
                </a:solidFill>
                <a:effectLst/>
                <a:uLnTx/>
                <a:uFillTx/>
                <a:latin typeface="华文新魏" panose="02010800040101010101" pitchFamily="2" charset="-122"/>
                <a:ea typeface="华文新魏" panose="02010800040101010101" pitchFamily="2" charset="-122"/>
                <a:cs typeface="+mn-cs"/>
              </a:rPr>
              <a:t>自底向上的程序设计方法，编写出的程序往往局部结构较好，而整体结构不佳，有时会导致程序设计不理想或失败。</a:t>
            </a:r>
            <a:endParaRPr kumimoji="0" lang="zh-CN" altLang="en-US" sz="2200" b="0" i="0" u="none" strike="noStrike" kern="1200" cap="none" spc="0" normalizeH="0" baseline="0" noProof="1">
              <a:ln>
                <a:noFill/>
              </a:ln>
              <a:solidFill>
                <a:srgbClr val="320E04"/>
              </a:solidFill>
              <a:effectLst/>
              <a:uLnTx/>
              <a:uFillTx/>
              <a:latin typeface="华文新魏" panose="02010800040101010101" pitchFamily="2" charset="-122"/>
              <a:ea typeface="华文新魏" panose="02010800040101010101" pitchFamily="2" charset="-122"/>
              <a:cs typeface="+mn-cs"/>
            </a:endParaRPr>
          </a:p>
          <a:p>
            <a:pPr marL="27305" marR="0" lvl="0" indent="-6350" algn="l" defTabSz="914400" rtl="0" eaLnBrk="1" fontAlgn="base" latinLnBrk="0" hangingPunct="1">
              <a:lnSpc>
                <a:spcPct val="125000"/>
              </a:lnSpc>
              <a:spcBef>
                <a:spcPts val="600"/>
              </a:spcBef>
              <a:spcAft>
                <a:spcPct val="0"/>
              </a:spcAft>
              <a:buClrTx/>
              <a:buSzPct val="80000"/>
              <a:buFont typeface="Wingdings" panose="05000000000000000000" pitchFamily="2" charset="2"/>
              <a:buChar char="l"/>
              <a:defRPr/>
            </a:pPr>
            <a:r>
              <a:rPr kumimoji="0" lang="zh-CN" altLang="en-US" sz="2200" b="0" i="0" u="none" strike="noStrike" kern="1200" cap="none" spc="0" normalizeH="0" baseline="0" noProof="1">
                <a:ln>
                  <a:noFill/>
                </a:ln>
                <a:solidFill>
                  <a:srgbClr val="320E04"/>
                </a:solidFill>
                <a:effectLst/>
                <a:uLnTx/>
                <a:uFillTx/>
                <a:latin typeface="华文新魏" panose="02010800040101010101" pitchFamily="2" charset="-122"/>
                <a:ea typeface="华文新魏" panose="02010800040101010101" pitchFamily="2" charset="-122"/>
                <a:cs typeface="+mn-cs"/>
              </a:rPr>
              <a:t>自顶向下逐步求精的方法符合人们解决复杂问题的普遍规律，整体结构清晰、合理。</a:t>
            </a:r>
            <a:endParaRPr kumimoji="0" lang="en-US" altLang="zh-CN" sz="2200" b="0" i="0" u="none" strike="noStrike" kern="1200" cap="none" spc="0" normalizeH="0" baseline="0" noProof="1">
              <a:ln>
                <a:noFill/>
              </a:ln>
              <a:solidFill>
                <a:srgbClr val="320E04"/>
              </a:solidFill>
              <a:effectLst/>
              <a:uLnTx/>
              <a:uFillTx/>
              <a:latin typeface="华文新魏" panose="02010800040101010101" pitchFamily="2" charset="-122"/>
              <a:ea typeface="华文新魏" panose="02010800040101010101" pitchFamily="2" charset="-122"/>
              <a:cs typeface="+mn-cs"/>
            </a:endParaRPr>
          </a:p>
          <a:p>
            <a:pPr marL="27305" marR="0" lvl="0" indent="-6350" algn="l" defTabSz="914400" rtl="0" eaLnBrk="1" fontAlgn="base" latinLnBrk="0" hangingPunct="1">
              <a:lnSpc>
                <a:spcPct val="125000"/>
              </a:lnSpc>
              <a:spcBef>
                <a:spcPts val="600"/>
              </a:spcBef>
              <a:spcAft>
                <a:spcPct val="0"/>
              </a:spcAft>
              <a:buClrTx/>
              <a:buSzPct val="80000"/>
              <a:buFont typeface="Wingdings" panose="05000000000000000000" pitchFamily="2" charset="2"/>
              <a:buChar char="l"/>
              <a:defRPr/>
            </a:pPr>
            <a:r>
              <a:rPr kumimoji="0" lang="zh-CN" altLang="en-US" sz="2200" b="0" i="0" u="none" strike="noStrike" kern="1200" cap="none" spc="0" normalizeH="0" baseline="0" noProof="1">
                <a:ln>
                  <a:noFill/>
                </a:ln>
                <a:solidFill>
                  <a:srgbClr val="320E04"/>
                </a:solidFill>
                <a:effectLst/>
                <a:uLnTx/>
                <a:uFillTx/>
                <a:latin typeface="华文新魏" panose="02010800040101010101" pitchFamily="2" charset="-122"/>
                <a:ea typeface="华文新魏" panose="02010800040101010101" pitchFamily="2" charset="-122"/>
                <a:cs typeface="+mn-cs"/>
              </a:rPr>
              <a:t>软件可读性好，提高了软件的可维护性</a:t>
            </a:r>
            <a:endParaRPr kumimoji="0" lang="zh-CN" altLang="en-US" sz="2200" b="1" i="0" u="none" strike="noStrike" kern="1200" cap="none" spc="0" normalizeH="0" baseline="0" noProof="1">
              <a:ln>
                <a:noFill/>
              </a:ln>
              <a:solidFill>
                <a:schemeClr val="dk1"/>
              </a:solidFill>
              <a:effectLst/>
              <a:uLnTx/>
              <a:uFillTx/>
              <a:latin typeface="华文新魏" panose="02010800040101010101" pitchFamily="2" charset="-122"/>
              <a:ea typeface="华文新魏" panose="02010800040101010101" pitchFamily="2" charset="-122"/>
              <a:cs typeface="+mn-c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1"/>
          <p:cNvSpPr>
            <a:spLocks noGrp="1"/>
          </p:cNvSpPr>
          <p:nvPr>
            <p:ph type="title"/>
          </p:nvPr>
        </p:nvSpPr>
        <p:spPr>
          <a:xfrm>
            <a:off x="1471613" y="260350"/>
            <a:ext cx="6365875" cy="685800"/>
          </a:xfrm>
          <a:ln/>
        </p:spPr>
        <p:txBody>
          <a:bodyPr vert="horz" wrap="square" lIns="91440" tIns="45720" rIns="91440" bIns="45720" anchor="ctr" anchorCtr="0"/>
          <a:p>
            <a:r>
              <a:rPr lang="zh-CN" altLang="en-US" dirty="0"/>
              <a:t>结构程序设计遵循的基本原则</a:t>
            </a:r>
            <a:endParaRPr lang="zh-CN" altLang="en-US" dirty="0"/>
          </a:p>
        </p:txBody>
      </p:sp>
      <p:sp>
        <p:nvSpPr>
          <p:cNvPr id="36867" name="内容占位符 2"/>
          <p:cNvSpPr>
            <a:spLocks noGrp="1"/>
          </p:cNvSpPr>
          <p:nvPr>
            <p:ph idx="1"/>
          </p:nvPr>
        </p:nvSpPr>
        <p:spPr>
          <a:xfrm>
            <a:off x="827088" y="1379538"/>
            <a:ext cx="7391400" cy="1789112"/>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2.</a:t>
            </a:r>
            <a:r>
              <a:rPr lang="zh-CN" altLang="en-US" dirty="0">
                <a:latin typeface="华文中宋" panose="02010600040101010101" pitchFamily="2" charset="-122"/>
                <a:ea typeface="华文中宋" panose="02010600040101010101" pitchFamily="2" charset="-122"/>
                <a:cs typeface="+mn-cs"/>
              </a:rPr>
              <a:t>尽量使用“基本结构”编程</a:t>
            </a:r>
            <a:endParaRPr lang="en-US" altLang="zh-CN" dirty="0">
              <a:latin typeface="华文中宋" panose="02010600040101010101" pitchFamily="2" charset="-122"/>
              <a:ea typeface="华文中宋" panose="02010600040101010101" pitchFamily="2" charset="-122"/>
              <a:cs typeface="+mn-cs"/>
            </a:endParaRPr>
          </a:p>
          <a:p>
            <a:pPr>
              <a:buSzPct val="70000"/>
            </a:pPr>
            <a:endParaRPr lang="en-US" altLang="zh-CN"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3.</a:t>
            </a:r>
            <a:r>
              <a:rPr lang="zh-CN" altLang="en-US" dirty="0">
                <a:latin typeface="华文中宋" panose="02010600040101010101" pitchFamily="2" charset="-122"/>
                <a:ea typeface="华文中宋" panose="02010600040101010101" pitchFamily="2" charset="-122"/>
                <a:cs typeface="+mn-cs"/>
              </a:rPr>
              <a:t>限制或不使用goto语句</a:t>
            </a:r>
            <a:endParaRPr lang="zh-CN" altLang="en-US" dirty="0">
              <a:latin typeface="华文中宋" panose="02010600040101010101" pitchFamily="2" charset="-122"/>
              <a:ea typeface="华文中宋" panose="02010600040101010101" pitchFamily="2" charset="-122"/>
              <a:cs typeface="+mn-cs"/>
            </a:endParaRPr>
          </a:p>
        </p:txBody>
      </p:sp>
      <p:sp>
        <p:nvSpPr>
          <p:cNvPr id="3686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50181" name="文本框 2"/>
          <p:cNvSpPr txBox="1"/>
          <p:nvPr/>
        </p:nvSpPr>
        <p:spPr>
          <a:xfrm>
            <a:off x="1393825" y="3617913"/>
            <a:ext cx="6048375" cy="829945"/>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marL="27305" marR="0" lvl="0" indent="-6350" algn="l" defTabSz="914400" rtl="0" eaLnBrk="1" fontAlgn="base" latinLnBrk="0" hangingPunct="1">
              <a:lnSpc>
                <a:spcPct val="100000"/>
              </a:lnSpc>
              <a:spcBef>
                <a:spcPts val="600"/>
              </a:spcBef>
              <a:spcAft>
                <a:spcPct val="0"/>
              </a:spcAft>
              <a:buClrTx/>
              <a:buSzPct val="80000"/>
              <a:buFont typeface="Wingdings" panose="05000000000000000000" pitchFamily="2" charset="2"/>
              <a:buChar char="l"/>
              <a:defRPr/>
            </a:pPr>
            <a:r>
              <a:rPr kumimoji="0" lang="zh-CN" altLang="en-US" b="0" i="0" u="none" strike="noStrike" kern="1200" cap="none" spc="0" normalizeH="0" baseline="0" noProof="1">
                <a:ln>
                  <a:noFill/>
                </a:ln>
                <a:solidFill>
                  <a:srgbClr val="320E04"/>
                </a:solidFill>
                <a:effectLst/>
                <a:uLnTx/>
                <a:uFillTx/>
                <a:latin typeface="华文中宋" panose="02010600040101010101" pitchFamily="2" charset="-122"/>
                <a:ea typeface="华文中宋" panose="02010600040101010101" pitchFamily="2" charset="-122"/>
                <a:cs typeface="华文中宋" panose="02010600040101010101" pitchFamily="2" charset="-122"/>
              </a:rPr>
              <a:t>大量的资料数据表明：软件产品的质量与软件中</a:t>
            </a:r>
            <a:r>
              <a:rPr kumimoji="0" lang="en-US" altLang="zh-CN" b="0" i="0" u="none" strike="noStrike" kern="1200" cap="none" spc="0" normalizeH="0" baseline="0" noProof="1">
                <a:ln>
                  <a:noFill/>
                </a:ln>
                <a:solidFill>
                  <a:srgbClr val="320E04"/>
                </a:solidFill>
                <a:effectLst/>
                <a:uLnTx/>
                <a:uFillTx/>
                <a:latin typeface="华文中宋" panose="02010600040101010101" pitchFamily="2" charset="-122"/>
                <a:ea typeface="华文中宋" panose="02010600040101010101" pitchFamily="2" charset="-122"/>
                <a:cs typeface="华文中宋" panose="02010600040101010101" pitchFamily="2" charset="-122"/>
              </a:rPr>
              <a:t>goto</a:t>
            </a:r>
            <a:r>
              <a:rPr kumimoji="0" lang="zh-CN" altLang="en-US" b="0" i="0" u="none" strike="noStrike" kern="1200" cap="none" spc="0" normalizeH="0" baseline="0" noProof="1">
                <a:ln>
                  <a:noFill/>
                </a:ln>
                <a:solidFill>
                  <a:srgbClr val="320E04"/>
                </a:solidFill>
                <a:effectLst/>
                <a:uLnTx/>
                <a:uFillTx/>
                <a:latin typeface="华文中宋" panose="02010600040101010101" pitchFamily="2" charset="-122"/>
                <a:ea typeface="华文中宋" panose="02010600040101010101" pitchFamily="2" charset="-122"/>
                <a:cs typeface="华文中宋" panose="02010600040101010101" pitchFamily="2" charset="-122"/>
              </a:rPr>
              <a:t>语句的数量成反比；</a:t>
            </a:r>
            <a:endParaRPr kumimoji="0" lang="zh-CN" altLang="en-US" b="0" i="0" u="none" strike="noStrike" kern="1200" cap="none" spc="0" normalizeH="0" baseline="0" noProof="1">
              <a:ln>
                <a:noFill/>
              </a:ln>
              <a:solidFill>
                <a:srgbClr val="320E04"/>
              </a:solidFill>
              <a:effectLst/>
              <a:uLnTx/>
              <a:uFillTx/>
              <a:latin typeface="华文中宋" panose="02010600040101010101" pitchFamily="2" charset="-122"/>
              <a:ea typeface="华文中宋" panose="02010600040101010101" pitchFamily="2" charset="-122"/>
              <a:cs typeface="华文中宋" panose="0201060004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a:ln/>
        </p:spPr>
        <p:txBody>
          <a:bodyPr vert="horz" wrap="square" lIns="91440" tIns="45720" rIns="91440" bIns="45720" anchor="ctr" anchorCtr="0"/>
          <a:p>
            <a:r>
              <a:rPr lang="zh-CN" altLang="en-US" dirty="0"/>
              <a:t>结构程序设计的好处</a:t>
            </a:r>
            <a:endParaRPr lang="zh-CN" altLang="en-US" dirty="0"/>
          </a:p>
        </p:txBody>
      </p:sp>
      <p:sp>
        <p:nvSpPr>
          <p:cNvPr id="37891" name="内容占位符 2"/>
          <p:cNvSpPr>
            <a:spLocks noGrp="1" noChangeArrowheads="1"/>
          </p:cNvSpPr>
          <p:nvPr>
            <p:ph idx="1"/>
          </p:nvPr>
        </p:nvSpPr>
        <p:spPr>
          <a:xfrm>
            <a:off x="611188" y="817563"/>
            <a:ext cx="7705725" cy="44418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自顶向下逐步求精的软件开发方法比较符合人们解决复杂问题的规律，因此可以</a:t>
            </a:r>
            <a:r>
              <a:rPr kumimoji="0" lang="zh-CN" altLang="en-US" sz="23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提高软件开发的成功率和生产率。</a:t>
            </a:r>
            <a:endParaRPr kumimoji="0" lang="en-US" altLang="zh-CN" sz="23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endParaRPr kumimoji="0" lang="zh-CN" altLang="en-US"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由全局到局部，由整体到细节的逐步求精过程开发出的软件具有良好的层次结构，</a:t>
            </a:r>
            <a:r>
              <a:rPr kumimoji="0" lang="zh-CN" altLang="en-US" sz="23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更易于开发人员的阅读和理解。</a:t>
            </a:r>
            <a:endParaRPr kumimoji="0" lang="en-US" altLang="zh-CN" sz="23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endParaRPr kumimoji="0" lang="zh-CN" altLang="en-US"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20000"/>
              </a:lnSpc>
              <a:spcBef>
                <a:spcPct val="20000"/>
              </a:spcBef>
              <a:spcAft>
                <a:spcPct val="0"/>
              </a:spcAft>
              <a:buClr>
                <a:schemeClr val="accent2"/>
              </a:buClr>
              <a:buSzPct val="70000"/>
              <a:buFont typeface="Wingdings" panose="05000000000000000000" pitchFamily="2" charset="2"/>
              <a:buChar char="l"/>
              <a:defRPr/>
            </a:pPr>
            <a:r>
              <a:rPr kumimoji="0" lang="zh-CN" altLang="en-US"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限制或不使用</a:t>
            </a:r>
            <a:r>
              <a:rPr kumimoji="0" lang="en-US" altLang="zh-CN" sz="23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goto</a:t>
            </a:r>
            <a:r>
              <a:rPr kumimoji="0" lang="zh-CN" altLang="en-US" sz="23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语句，使得程序的静态结构和动态执行情况较为接近，</a:t>
            </a:r>
            <a:r>
              <a:rPr kumimoji="0" lang="zh-CN" altLang="en-US" sz="23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对于错误的诊断和纠正比较容易。</a:t>
            </a:r>
            <a:endParaRPr kumimoji="0" lang="zh-CN" altLang="en-US" sz="23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378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1"/>
          <p:cNvSpPr>
            <a:spLocks noGrp="1"/>
          </p:cNvSpPr>
          <p:nvPr>
            <p:ph type="title"/>
          </p:nvPr>
        </p:nvSpPr>
        <p:spPr>
          <a:ln/>
        </p:spPr>
        <p:txBody>
          <a:bodyPr vert="horz" wrap="square" lIns="91440" tIns="45720" rIns="91440" bIns="45720" anchor="ctr" anchorCtr="0"/>
          <a:p>
            <a:r>
              <a:rPr lang="en-US" altLang="zh-CN" dirty="0"/>
              <a:t>7.3 </a:t>
            </a:r>
            <a:r>
              <a:rPr lang="zh-CN" altLang="en-US" dirty="0"/>
              <a:t>详细设计工具</a:t>
            </a:r>
            <a:endParaRPr lang="zh-CN" altLang="en-US" dirty="0"/>
          </a:p>
        </p:txBody>
      </p:sp>
      <p:sp>
        <p:nvSpPr>
          <p:cNvPr id="38915" name="内容占位符 2"/>
          <p:cNvSpPr>
            <a:spLocks noGrp="1" noChangeArrowheads="1"/>
          </p:cNvSpPr>
          <p:nvPr>
            <p:ph idx="1"/>
          </p:nvPr>
        </p:nvSpPr>
        <p:spPr>
          <a:xfrm>
            <a:off x="827088" y="1379538"/>
            <a:ext cx="7391400" cy="43942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在详细设计阶段，要决定各个模块的实现算法，并精确地表达这些算法。表达过程规格说明的工具叫做详细设计工具，它可以分为以下三类</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3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图形工具</a:t>
            </a:r>
            <a:endParaRPr kumimoji="0" lang="en-US" altLang="zh-CN" sz="3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3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0" lang="zh-CN" altLang="en-US" sz="3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表格工具</a:t>
            </a:r>
            <a:endParaRPr kumimoji="0" lang="en-US" altLang="zh-CN" sz="3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3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	</a:t>
            </a:r>
            <a:r>
              <a:rPr kumimoji="0" lang="zh-CN" altLang="en-US" sz="3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语言工具</a:t>
            </a:r>
            <a:endParaRPr kumimoji="0" lang="en-US" altLang="zh-CN" sz="3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89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1"/>
          <p:cNvSpPr>
            <a:spLocks noGrp="1"/>
          </p:cNvSpPr>
          <p:nvPr>
            <p:ph type="title"/>
          </p:nvPr>
        </p:nvSpPr>
        <p:spPr>
          <a:ln/>
        </p:spPr>
        <p:txBody>
          <a:bodyPr vert="horz" wrap="square" lIns="91440" tIns="45720" rIns="91440" bIns="45720" anchor="ctr" anchorCtr="0"/>
          <a:p>
            <a:r>
              <a:rPr lang="zh-CN" altLang="en-US" dirty="0"/>
              <a:t>过程设计工具</a:t>
            </a:r>
            <a:endParaRPr lang="zh-CN" altLang="en-US" dirty="0"/>
          </a:p>
        </p:txBody>
      </p:sp>
      <p:sp>
        <p:nvSpPr>
          <p:cNvPr id="39939" name="内容占位符 2"/>
          <p:cNvSpPr>
            <a:spLocks noGrp="1" noChangeArrowheads="1"/>
          </p:cNvSpPr>
          <p:nvPr>
            <p:ph idx="1"/>
          </p:nvPr>
        </p:nvSpPr>
        <p:spPr>
          <a:xfrm>
            <a:off x="827088" y="1268413"/>
            <a:ext cx="7391400" cy="4646613"/>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图形工具</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程序流程图</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(FC)</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None/>
              <a:defRPr/>
            </a:pP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盒图</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(NS)</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None/>
              <a:defRPr/>
            </a:pP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问题分析图</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(PAD)</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表格工具</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判定表</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None/>
              <a:defRPr/>
            </a:pP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判定树</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语言工具</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过程设计语言</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(PDL)</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399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1"/>
          <p:cNvSpPr>
            <a:spLocks noGrp="1"/>
          </p:cNvSpPr>
          <p:nvPr>
            <p:ph type="title"/>
          </p:nvPr>
        </p:nvSpPr>
        <p:spPr>
          <a:ln/>
        </p:spPr>
        <p:txBody>
          <a:bodyPr vert="horz" wrap="square" lIns="91440" tIns="45720" rIns="91440" bIns="45720" anchor="ctr" anchorCtr="0"/>
          <a:p>
            <a:r>
              <a:rPr lang="en-US" altLang="zh-CN" dirty="0"/>
              <a:t>7.3.1 </a:t>
            </a:r>
            <a:r>
              <a:rPr lang="zh-CN" altLang="en-US" dirty="0"/>
              <a:t>过程设计工具</a:t>
            </a:r>
            <a:r>
              <a:rPr lang="en-US" altLang="zh-CN" dirty="0"/>
              <a:t>--</a:t>
            </a:r>
            <a:r>
              <a:rPr lang="zh-CN" altLang="en-US" dirty="0"/>
              <a:t>程序流程图</a:t>
            </a:r>
            <a:endParaRPr lang="zh-CN" altLang="en-US" dirty="0"/>
          </a:p>
        </p:txBody>
      </p:sp>
      <p:sp>
        <p:nvSpPr>
          <p:cNvPr id="40963" name="内容占位符 2"/>
          <p:cNvSpPr>
            <a:spLocks noGrp="1" noChangeArrowheads="1"/>
          </p:cNvSpPr>
          <p:nvPr>
            <p:ph idx="1"/>
          </p:nvPr>
        </p:nvSpPr>
        <p:spPr>
          <a:xfrm>
            <a:off x="827088" y="1268413"/>
            <a:ext cx="7391400" cy="46069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a:t>
            </a: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程序流程图</a:t>
            </a: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程序流程图独立于任何一种程序设计语言，比较直观、清晰，易于学习掌握。</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在</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年代末到</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70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年代中期，程序流程图一直是软件设计的工具</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它以对控制流程的描绘直观、易于掌握而被设计人员青睐</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096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986" name="Picture 4"/>
          <p:cNvPicPr>
            <a:picLocks noChangeAspect="1"/>
          </p:cNvPicPr>
          <p:nvPr/>
        </p:nvPicPr>
        <p:blipFill>
          <a:blip r:embed="rId1"/>
          <a:stretch>
            <a:fillRect/>
          </a:stretch>
        </p:blipFill>
        <p:spPr>
          <a:xfrm>
            <a:off x="1547813" y="2682875"/>
            <a:ext cx="6508750" cy="3313113"/>
          </a:xfrm>
          <a:prstGeom prst="rect">
            <a:avLst/>
          </a:prstGeom>
          <a:noFill/>
          <a:ln w="9525">
            <a:noFill/>
          </a:ln>
        </p:spPr>
      </p:pic>
      <p:sp>
        <p:nvSpPr>
          <p:cNvPr id="41987" name="标题 1"/>
          <p:cNvSpPr>
            <a:spLocks noGrp="1"/>
          </p:cNvSpPr>
          <p:nvPr>
            <p:ph type="title"/>
          </p:nvPr>
        </p:nvSpPr>
        <p:spPr>
          <a:ln/>
        </p:spPr>
        <p:txBody>
          <a:bodyPr vert="horz" wrap="square" lIns="91440" tIns="45720" rIns="91440" bIns="45720" anchor="ctr" anchorCtr="0"/>
          <a:p>
            <a:r>
              <a:rPr lang="zh-CN" altLang="en-US" dirty="0"/>
              <a:t>程序流程图基本结构</a:t>
            </a:r>
            <a:endParaRPr lang="zh-CN" altLang="en-US" dirty="0"/>
          </a:p>
        </p:txBody>
      </p:sp>
      <p:sp>
        <p:nvSpPr>
          <p:cNvPr id="41988" name="内容占位符 2"/>
          <p:cNvSpPr>
            <a:spLocks noGrp="1"/>
          </p:cNvSpPr>
          <p:nvPr>
            <p:ph idx="1"/>
          </p:nvPr>
        </p:nvSpPr>
        <p:spPr>
          <a:xfrm>
            <a:off x="876300" y="946150"/>
            <a:ext cx="7391400" cy="1714500"/>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程序流程图使用五种基本控制结构如下图。</a:t>
            </a:r>
            <a:endParaRPr lang="zh-CN" altLang="en-US"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任何复杂的程序流程图都应由这五种基本控制结构组合或嵌套而成。</a:t>
            </a:r>
            <a:endParaRPr lang="zh-CN" altLang="en-US" dirty="0">
              <a:latin typeface="华文中宋" panose="02010600040101010101" pitchFamily="2" charset="-122"/>
              <a:ea typeface="华文中宋" panose="02010600040101010101" pitchFamily="2" charset="-122"/>
              <a:cs typeface="+mn-cs"/>
            </a:endParaRPr>
          </a:p>
        </p:txBody>
      </p:sp>
      <p:sp>
        <p:nvSpPr>
          <p:cNvPr id="41989"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标题 1"/>
          <p:cNvSpPr>
            <a:spLocks noGrp="1"/>
          </p:cNvSpPr>
          <p:nvPr>
            <p:ph type="title"/>
          </p:nvPr>
        </p:nvSpPr>
        <p:spPr>
          <a:ln/>
        </p:spPr>
        <p:txBody>
          <a:bodyPr vert="horz" wrap="square" lIns="91440" tIns="45720" rIns="91440" bIns="45720" anchor="ctr" anchorCtr="0"/>
          <a:p>
            <a:r>
              <a:rPr lang="zh-CN" altLang="en-US" dirty="0"/>
              <a:t>程序流程图</a:t>
            </a:r>
            <a:r>
              <a:rPr lang="en-US" altLang="zh-CN" dirty="0"/>
              <a:t>--</a:t>
            </a:r>
            <a:r>
              <a:rPr lang="zh-CN" altLang="en-US" dirty="0"/>
              <a:t>示例</a:t>
            </a:r>
            <a:endParaRPr lang="zh-CN" altLang="en-US" dirty="0"/>
          </a:p>
        </p:txBody>
      </p:sp>
      <p:sp>
        <p:nvSpPr>
          <p:cNvPr id="4301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43012" name="Picture 5"/>
          <p:cNvPicPr>
            <a:picLocks noChangeAspect="1"/>
          </p:cNvPicPr>
          <p:nvPr/>
        </p:nvPicPr>
        <p:blipFill>
          <a:blip r:embed="rId1"/>
          <a:stretch>
            <a:fillRect/>
          </a:stretch>
        </p:blipFill>
        <p:spPr>
          <a:xfrm>
            <a:off x="381000" y="1092200"/>
            <a:ext cx="8382000" cy="2724150"/>
          </a:xfrm>
          <a:prstGeom prst="rect">
            <a:avLst/>
          </a:prstGeom>
          <a:noFill/>
          <a:ln w="9525">
            <a:noFill/>
          </a:ln>
        </p:spPr>
      </p:pic>
      <p:sp>
        <p:nvSpPr>
          <p:cNvPr id="46085" name="内容占位符 1"/>
          <p:cNvSpPr>
            <a:spLocks noGrp="1" noChangeArrowheads="1"/>
          </p:cNvSpPr>
          <p:nvPr>
            <p:ph idx="1"/>
          </p:nvPr>
        </p:nvSpPr>
        <p:spPr>
          <a:xfrm>
            <a:off x="684213" y="1125538"/>
            <a:ext cx="1079500" cy="55245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示例</a:t>
            </a:r>
            <a:endParaRPr kumimoji="0" lang="zh-CN" altLang="en-US" sz="24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pic>
        <p:nvPicPr>
          <p:cNvPr id="43014" name="Picture 6"/>
          <p:cNvPicPr>
            <a:picLocks noChangeAspect="1"/>
          </p:cNvPicPr>
          <p:nvPr/>
        </p:nvPicPr>
        <p:blipFill>
          <a:blip r:embed="rId2"/>
          <a:stretch>
            <a:fillRect/>
          </a:stretch>
        </p:blipFill>
        <p:spPr>
          <a:xfrm>
            <a:off x="274638" y="3816350"/>
            <a:ext cx="8474075" cy="2565400"/>
          </a:xfrm>
          <a:prstGeom prst="rect">
            <a:avLst/>
          </a:prstGeom>
          <a:solidFill>
            <a:srgbClr val="FFFF99"/>
          </a:solidFill>
          <a:ln w="9525">
            <a:noFill/>
          </a:ln>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1"/>
          <p:cNvSpPr>
            <a:spLocks noGrp="1"/>
          </p:cNvSpPr>
          <p:nvPr>
            <p:ph type="title"/>
          </p:nvPr>
        </p:nvSpPr>
        <p:spPr>
          <a:ln/>
        </p:spPr>
        <p:txBody>
          <a:bodyPr vert="horz" wrap="square" lIns="91440" tIns="45720" rIns="91440" bIns="45720" anchor="ctr" anchorCtr="0"/>
          <a:p>
            <a:r>
              <a:rPr lang="zh-CN" altLang="en-US" dirty="0"/>
              <a:t>程序流程图的优缺点</a:t>
            </a:r>
            <a:endParaRPr lang="zh-CN" altLang="en-US" dirty="0"/>
          </a:p>
        </p:txBody>
      </p:sp>
      <p:sp>
        <p:nvSpPr>
          <p:cNvPr id="47107" name="内容占位符 2"/>
          <p:cNvSpPr>
            <a:spLocks noGrp="1" noChangeArrowheads="1"/>
          </p:cNvSpPr>
          <p:nvPr>
            <p:ph idx="1"/>
          </p:nvPr>
        </p:nvSpPr>
        <p:spPr>
          <a:xfrm>
            <a:off x="514350" y="1036638"/>
            <a:ext cx="8289925" cy="51847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优点：</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对控制流程的描绘很直观，便于初学者掌握。</a:t>
            </a: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缺点：</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zh-CN" altLang="en-US" sz="2400" b="0" i="0" u="none" strike="noStrike" kern="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cs typeface="+mn-cs"/>
              </a:rPr>
              <a:t>本质上不具备逐步求精的特点</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，对于提高大型系统的可理解性作用甚微；</a:t>
            </a: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(2)程序流程图中用箭头代表控制流，因此程序员不受何约束，可以完全不顾结构化程序设计的精神，</a:t>
            </a:r>
            <a:r>
              <a:rPr kumimoji="0" lang="en-US" altLang="zh-CN" sz="2400" b="0" i="0" u="none" strike="noStrike" kern="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cs typeface="+mn-cs"/>
              </a:rPr>
              <a:t>随意转移控制</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(3)</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不易表示数据结构；</a:t>
            </a: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440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44037" name="文本框 2"/>
          <p:cNvSpPr txBox="1"/>
          <p:nvPr/>
        </p:nvSpPr>
        <p:spPr>
          <a:xfrm>
            <a:off x="3371850" y="5759450"/>
            <a:ext cx="2376488" cy="461963"/>
          </a:xfrm>
          <a:prstGeom prst="rect">
            <a:avLst/>
          </a:prstGeom>
          <a:noFill/>
          <a:ln w="9525">
            <a:noFill/>
          </a:ln>
        </p:spPr>
        <p:txBody>
          <a:bodyPr>
            <a:spAutoFit/>
          </a:bodyPr>
          <a:p>
            <a:r>
              <a:rPr lang="zh-CN" altLang="en-US" dirty="0">
                <a:solidFill>
                  <a:srgbClr val="C00000"/>
                </a:solidFill>
                <a:latin typeface="华文中宋" panose="02010600040101010101" pitchFamily="2" charset="-122"/>
              </a:rPr>
              <a:t>趋势：停止使用</a:t>
            </a:r>
            <a:endParaRPr lang="zh-CN" altLang="en-US" dirty="0">
              <a:solidFill>
                <a:srgbClr val="C00000"/>
              </a:solidFill>
              <a:latin typeface="华文中宋" panose="0201060004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1"/>
          <p:cNvSpPr>
            <a:spLocks noGrp="1"/>
          </p:cNvSpPr>
          <p:nvPr>
            <p:ph type="title"/>
          </p:nvPr>
        </p:nvSpPr>
        <p:spPr>
          <a:ln/>
        </p:spPr>
        <p:txBody>
          <a:bodyPr vert="horz" wrap="square" lIns="91440" tIns="45720" rIns="91440" bIns="45720" anchor="ctr" anchorCtr="0"/>
          <a:p>
            <a:r>
              <a:rPr lang="en-US" altLang="zh-CN" dirty="0"/>
              <a:t>7.3.2 </a:t>
            </a:r>
            <a:r>
              <a:rPr lang="zh-CN" altLang="en-US" dirty="0"/>
              <a:t>过程设计工具</a:t>
            </a:r>
            <a:r>
              <a:rPr lang="en-US" altLang="zh-CN" dirty="0"/>
              <a:t>--N-S</a:t>
            </a:r>
            <a:r>
              <a:rPr lang="zh-CN" altLang="en-US" dirty="0"/>
              <a:t>图</a:t>
            </a:r>
            <a:endParaRPr lang="zh-CN" altLang="en-US" dirty="0"/>
          </a:p>
        </p:txBody>
      </p:sp>
      <p:sp>
        <p:nvSpPr>
          <p:cNvPr id="48131" name="内容占位符 2"/>
          <p:cNvSpPr>
            <a:spLocks noGrp="1" noChangeArrowheads="1"/>
          </p:cNvSpPr>
          <p:nvPr>
            <p:ph idx="1"/>
          </p:nvPr>
        </p:nvSpPr>
        <p:spPr>
          <a:xfrm>
            <a:off x="827088" y="1106488"/>
            <a:ext cx="7391400" cy="2052638"/>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2.</a:t>
            </a: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过程设计工具：</a:t>
            </a:r>
            <a:r>
              <a:rPr kumimoji="0" lang="en-US" altLang="zh-CN" sz="2800" b="0" i="0" u="none" strike="noStrike" kern="0" cap="none" spc="0" normalizeH="0" baseline="0" noProof="1">
                <a:ln>
                  <a:noFill/>
                </a:ln>
                <a:solidFill>
                  <a:schemeClr val="accent6"/>
                </a:solidFill>
                <a:effectLst/>
                <a:uLnTx/>
                <a:uFillTx/>
                <a:latin typeface="华文中宋" panose="02010600040101010101" pitchFamily="2" charset="-122"/>
                <a:ea typeface="华文中宋" panose="02010600040101010101" pitchFamily="2" charset="-122"/>
                <a:cs typeface="+mn-cs"/>
                <a:sym typeface="+mn-ea"/>
              </a:rPr>
              <a:t>N-S</a:t>
            </a:r>
            <a:r>
              <a:rPr kumimoji="0" lang="zh-CN" altLang="en-US" sz="2800" b="0" i="0" u="none" strike="noStrike" kern="0" cap="none" spc="0" normalizeH="0" baseline="0" noProof="1">
                <a:ln>
                  <a:noFill/>
                </a:ln>
                <a:solidFill>
                  <a:schemeClr val="accent6"/>
                </a:solidFill>
                <a:effectLst/>
                <a:uLnTx/>
                <a:uFillTx/>
                <a:latin typeface="华文中宋" panose="02010600040101010101" pitchFamily="2" charset="-122"/>
                <a:ea typeface="华文中宋" panose="02010600040101010101" pitchFamily="2" charset="-122"/>
                <a:cs typeface="+mn-cs"/>
                <a:sym typeface="+mn-ea"/>
              </a:rPr>
              <a:t>图</a:t>
            </a: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1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N-S</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图是</a:t>
            </a:r>
            <a:r>
              <a:rPr kumimoji="0" lang="en-US" altLang="zh-CN" sz="24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Nassi</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和</a:t>
            </a:r>
            <a:r>
              <a:rPr kumimoji="0" lang="en-US" altLang="zh-CN" sz="2400" b="0" i="0" u="none" strike="noStrike" kern="0" cap="none" spc="0" normalizeH="0" baseline="0" noProof="0" dirty="0" err="1">
                <a:ln>
                  <a:noFill/>
                </a:ln>
                <a:solidFill>
                  <a:schemeClr val="tx1"/>
                </a:solidFill>
                <a:effectLst/>
                <a:uLnTx/>
                <a:uFillTx/>
                <a:latin typeface="华文中宋" panose="02010600040101010101" pitchFamily="2" charset="-122"/>
                <a:ea typeface="华文中宋" panose="02010600040101010101" pitchFamily="2" charset="-122"/>
                <a:cs typeface="+mn-cs"/>
              </a:rPr>
              <a:t>Shneiderman</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提出来的，它体现了结构程序设计精神，是目前过程设计中广泛使用的一种图形工具。也叫</a:t>
            </a:r>
            <a:r>
              <a:rPr kumimoji="0" lang="zh-CN" altLang="en-US" sz="2800" b="0" i="0" u="none" strike="noStrike" kern="0" cap="none" spc="0" normalizeH="0" baseline="0" noProof="0" dirty="0">
                <a:ln>
                  <a:noFill/>
                </a:ln>
                <a:solidFill>
                  <a:schemeClr val="accent6"/>
                </a:solidFill>
                <a:effectLst/>
                <a:uLnTx/>
                <a:uFillTx/>
                <a:latin typeface="华文中宋" panose="02010600040101010101" pitchFamily="2" charset="-122"/>
                <a:ea typeface="华文中宋" panose="02010600040101010101" pitchFamily="2" charset="-122"/>
                <a:cs typeface="+mn-cs"/>
                <a:sym typeface="+mn-ea"/>
              </a:rPr>
              <a:t>盒图。</a:t>
            </a: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4506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45061" name="图片 40"/>
          <p:cNvPicPr>
            <a:picLocks noChangeAspect="1"/>
          </p:cNvPicPr>
          <p:nvPr/>
        </p:nvPicPr>
        <p:blipFill>
          <a:blip r:embed="rId1"/>
          <a:stretch>
            <a:fillRect/>
          </a:stretch>
        </p:blipFill>
        <p:spPr>
          <a:xfrm>
            <a:off x="938213" y="3203575"/>
            <a:ext cx="7600950" cy="2659063"/>
          </a:xfrm>
          <a:prstGeom prst="rect">
            <a:avLst/>
          </a:prstGeom>
          <a:noFill/>
          <a:ln w="9525">
            <a:noFill/>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a:ln/>
        </p:spPr>
        <p:txBody>
          <a:bodyPr vert="horz" wrap="square" lIns="91440" tIns="45720" rIns="91440" bIns="45720" anchor="ctr" anchorCtr="0"/>
          <a:p>
            <a:r>
              <a:rPr lang="en-US" altLang="zh-CN" dirty="0"/>
              <a:t>N-S</a:t>
            </a:r>
            <a:r>
              <a:rPr lang="zh-CN" altLang="en-US" dirty="0"/>
              <a:t>图</a:t>
            </a:r>
            <a:endParaRPr lang="zh-CN" altLang="en-US" dirty="0"/>
          </a:p>
        </p:txBody>
      </p:sp>
      <p:sp>
        <p:nvSpPr>
          <p:cNvPr id="47107"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47108" name="Picture 9"/>
          <p:cNvPicPr>
            <a:picLocks noChangeAspect="1"/>
          </p:cNvPicPr>
          <p:nvPr/>
        </p:nvPicPr>
        <p:blipFill>
          <a:blip r:embed="rId1"/>
          <a:stretch>
            <a:fillRect/>
          </a:stretch>
        </p:blipFill>
        <p:spPr>
          <a:xfrm>
            <a:off x="71438" y="1606550"/>
            <a:ext cx="4429125" cy="4537075"/>
          </a:xfrm>
          <a:prstGeom prst="rect">
            <a:avLst/>
          </a:prstGeom>
          <a:noFill/>
          <a:ln w="9525">
            <a:noFill/>
          </a:ln>
        </p:spPr>
      </p:pic>
      <p:pic>
        <p:nvPicPr>
          <p:cNvPr id="7" name="Picture 7"/>
          <p:cNvPicPr>
            <a:picLocks noChangeAspect="1"/>
          </p:cNvPicPr>
          <p:nvPr/>
        </p:nvPicPr>
        <p:blipFill>
          <a:blip r:embed="rId2"/>
          <a:stretch>
            <a:fillRect/>
          </a:stretch>
        </p:blipFill>
        <p:spPr>
          <a:xfrm>
            <a:off x="4929188" y="1804988"/>
            <a:ext cx="3852862" cy="3865562"/>
          </a:xfrm>
          <a:prstGeom prst="rect">
            <a:avLst/>
          </a:prstGeom>
          <a:noFill/>
          <a:ln w="9525">
            <a:noFill/>
          </a:ln>
        </p:spPr>
      </p:pic>
      <p:sp>
        <p:nvSpPr>
          <p:cNvPr id="2" name="右箭头 1"/>
          <p:cNvSpPr/>
          <p:nvPr/>
        </p:nvSpPr>
        <p:spPr>
          <a:xfrm>
            <a:off x="4406900" y="3440113"/>
            <a:ext cx="504825" cy="360363"/>
          </a:xfrm>
          <a:prstGeom prst="rightArrow">
            <a:avLst/>
          </a:prstGeom>
        </p:spPr>
        <p:style>
          <a:lnRef idx="1">
            <a:schemeClr val="accent1"/>
          </a:lnRef>
          <a:fillRef idx="2">
            <a:schemeClr val="accent1"/>
          </a:fillRef>
          <a:effectRef idx="1">
            <a:schemeClr val="accent1"/>
          </a:effectRef>
          <a:fontRef idx="minor">
            <a:schemeClr val="dk1"/>
          </a:fontRef>
        </p:style>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1">
              <a:ln>
                <a:noFill/>
              </a:ln>
              <a:solidFill>
                <a:schemeClr val="accent2"/>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a:ln/>
        </p:spPr>
        <p:txBody>
          <a:bodyPr vert="horz" wrap="square" lIns="91440" tIns="45720" rIns="91440" bIns="45720" anchor="ctr" anchorCtr="0"/>
          <a:p>
            <a:r>
              <a:rPr lang="en-US" altLang="zh-CN" dirty="0"/>
              <a:t>N-S</a:t>
            </a:r>
            <a:r>
              <a:rPr lang="zh-CN" altLang="en-US" dirty="0"/>
              <a:t>图的优缺点</a:t>
            </a:r>
            <a:endParaRPr lang="zh-CN" altLang="en-US" dirty="0"/>
          </a:p>
        </p:txBody>
      </p:sp>
      <p:sp>
        <p:nvSpPr>
          <p:cNvPr id="52227" name="内容占位符 2"/>
          <p:cNvSpPr>
            <a:spLocks noGrp="1" noChangeArrowheads="1"/>
          </p:cNvSpPr>
          <p:nvPr>
            <p:ph idx="1"/>
          </p:nvPr>
        </p:nvSpPr>
        <p:spPr>
          <a:xfrm>
            <a:off x="692150" y="1270000"/>
            <a:ext cx="7851775" cy="4521200"/>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优点：</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功能域</a:t>
            </a: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一个特定控制结构的作用域</a:t>
            </a: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明确</a:t>
            </a: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可以从盒图上一眼看出来。</a:t>
            </a:r>
            <a:endPar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2.</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没有箭头不允许随意转移控制，</a:t>
            </a:r>
            <a:r>
              <a:rPr kumimoji="0" lang="zh-CN" altLang="en-US" sz="2000" b="0" i="0" u="none" strike="noStrike" kern="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cs typeface="+mn-cs"/>
              </a:rPr>
              <a:t>不可能任意转移控制</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3.</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很容易确定局部和全程数据的作用域。</a:t>
            </a:r>
            <a:endPar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4.</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很容易表现嵌套关系，也可以表示模块的层次结构。</a:t>
            </a:r>
            <a:endPar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rgbClr val="3333CC"/>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rPr>
              <a:t>缺点：</a:t>
            </a:r>
            <a:endParaRPr kumimoji="0" lang="en-US" altLang="zh-CN" sz="2400" b="0" i="0" u="none" strike="noStrike" kern="0" cap="none" spc="0" normalizeH="0" baseline="0" noProof="0" dirty="0">
              <a:ln>
                <a:noFill/>
              </a:ln>
              <a:solidFill>
                <a:srgbClr val="000000"/>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rgbClr val="3333CC"/>
              </a:buClr>
              <a:buSzPct val="70000"/>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zh-CN" altLang="en-US" sz="20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随着程序内嵌套的层数增多时，内层方框越来越小，会增加画图的难度，影响清晰度。</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4813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内容占位符 2"/>
          <p:cNvSpPr>
            <a:spLocks noGrp="1"/>
          </p:cNvSpPr>
          <p:nvPr>
            <p:ph idx="1"/>
          </p:nvPr>
        </p:nvSpPr>
        <p:spPr>
          <a:xfrm>
            <a:off x="827088" y="1379538"/>
            <a:ext cx="7391400" cy="552450"/>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N-S</a:t>
            </a:r>
            <a:r>
              <a:rPr lang="zh-CN" altLang="en-US" dirty="0">
                <a:latin typeface="华文中宋" panose="02010600040101010101" pitchFamily="2" charset="-122"/>
                <a:ea typeface="华文中宋" panose="02010600040101010101" pitchFamily="2" charset="-122"/>
                <a:cs typeface="+mn-cs"/>
              </a:rPr>
              <a:t>图的嵌套定义形式</a:t>
            </a:r>
            <a:endParaRPr lang="zh-CN" altLang="en-US" dirty="0">
              <a:latin typeface="华文中宋" panose="02010600040101010101" pitchFamily="2" charset="-122"/>
              <a:ea typeface="华文中宋" panose="02010600040101010101" pitchFamily="2" charset="-122"/>
              <a:cs typeface="+mn-cs"/>
            </a:endParaRPr>
          </a:p>
        </p:txBody>
      </p:sp>
      <p:sp>
        <p:nvSpPr>
          <p:cNvPr id="49155"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49156" name="Picture 5"/>
          <p:cNvPicPr>
            <a:picLocks noChangeAspect="1"/>
          </p:cNvPicPr>
          <p:nvPr/>
        </p:nvPicPr>
        <p:blipFill>
          <a:blip r:embed="rId1"/>
          <a:stretch>
            <a:fillRect/>
          </a:stretch>
        </p:blipFill>
        <p:spPr>
          <a:xfrm>
            <a:off x="631825" y="2182813"/>
            <a:ext cx="8188325" cy="3549650"/>
          </a:xfrm>
          <a:prstGeom prst="rect">
            <a:avLst/>
          </a:prstGeom>
          <a:noFill/>
          <a:ln w="9525">
            <a:noFill/>
          </a:ln>
        </p:spPr>
      </p:pic>
      <p:sp>
        <p:nvSpPr>
          <p:cNvPr id="49157" name="标题 1"/>
          <p:cNvSpPr>
            <a:spLocks noGrp="1"/>
          </p:cNvSpPr>
          <p:nvPr>
            <p:ph type="title"/>
          </p:nvPr>
        </p:nvSpPr>
        <p:spPr>
          <a:ln/>
        </p:spPr>
        <p:txBody>
          <a:bodyPr vert="horz" wrap="square" lIns="91440" tIns="45720" rIns="91440" bIns="45720" anchor="ctr" anchorCtr="0"/>
          <a:p>
            <a:r>
              <a:rPr lang="en-US" altLang="zh-CN" dirty="0"/>
              <a:t>N-S</a:t>
            </a:r>
            <a:r>
              <a:rPr lang="zh-CN" altLang="en-US" dirty="0"/>
              <a:t>图</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标题 1"/>
          <p:cNvSpPr>
            <a:spLocks noGrp="1"/>
          </p:cNvSpPr>
          <p:nvPr>
            <p:ph type="title"/>
          </p:nvPr>
        </p:nvSpPr>
        <p:spPr>
          <a:ln/>
        </p:spPr>
        <p:txBody>
          <a:bodyPr vert="horz" wrap="square" lIns="91440" tIns="45720" rIns="91440" bIns="45720" anchor="ctr" anchorCtr="0"/>
          <a:p>
            <a:r>
              <a:rPr lang="en-US" altLang="zh-CN" dirty="0"/>
              <a:t>7.3.3 </a:t>
            </a:r>
            <a:r>
              <a:rPr lang="zh-CN" altLang="en-US" dirty="0"/>
              <a:t>过程设计工具</a:t>
            </a:r>
            <a:r>
              <a:rPr lang="en-US" altLang="zh-CN" dirty="0"/>
              <a:t>--PAD</a:t>
            </a:r>
            <a:r>
              <a:rPr lang="zh-CN" altLang="en-US" dirty="0"/>
              <a:t>图</a:t>
            </a:r>
            <a:endParaRPr lang="zh-CN" altLang="en-US" dirty="0"/>
          </a:p>
        </p:txBody>
      </p:sp>
      <p:sp>
        <p:nvSpPr>
          <p:cNvPr id="51203" name="内容占位符 2"/>
          <p:cNvSpPr>
            <a:spLocks noGrp="1"/>
          </p:cNvSpPr>
          <p:nvPr>
            <p:ph idx="1"/>
          </p:nvPr>
        </p:nvSpPr>
        <p:spPr>
          <a:xfrm>
            <a:off x="827088" y="1379538"/>
            <a:ext cx="7391400" cy="4003675"/>
          </a:xfrm>
          <a:ln/>
        </p:spPr>
        <p:txBody>
          <a:bodyPr vert="horz" wrap="square" lIns="91440" tIns="45720" rIns="91440" bIns="45720" anchor="t" anchorCtr="0">
            <a:spAutoFit/>
          </a:bodyPr>
          <a:p>
            <a:pPr>
              <a:buSzPct val="70000"/>
            </a:pPr>
            <a:r>
              <a:rPr lang="en-US" altLang="zh-CN" dirty="0">
                <a:latin typeface="华文中宋" panose="02010600040101010101" pitchFamily="2" charset="-122"/>
                <a:ea typeface="华文中宋" panose="02010600040101010101" pitchFamily="2" charset="-122"/>
                <a:cs typeface="+mn-cs"/>
              </a:rPr>
              <a:t>PAD</a:t>
            </a:r>
            <a:r>
              <a:rPr lang="zh-CN" altLang="en-US" dirty="0">
                <a:latin typeface="华文中宋" panose="02010600040101010101" pitchFamily="2" charset="-122"/>
                <a:ea typeface="华文中宋" panose="02010600040101010101" pitchFamily="2" charset="-122"/>
                <a:cs typeface="+mn-cs"/>
              </a:rPr>
              <a:t>（</a:t>
            </a:r>
            <a:r>
              <a:rPr lang="en-US" altLang="zh-CN" dirty="0">
                <a:latin typeface="华文中宋" panose="02010600040101010101" pitchFamily="2" charset="-122"/>
                <a:ea typeface="华文中宋" panose="02010600040101010101" pitchFamily="2" charset="-122"/>
                <a:cs typeface="+mn-cs"/>
              </a:rPr>
              <a:t>Problem Analysis Diagram</a:t>
            </a:r>
            <a:r>
              <a:rPr lang="zh-CN" altLang="en-US" dirty="0">
                <a:latin typeface="华文中宋" panose="02010600040101010101" pitchFamily="2" charset="-122"/>
                <a:ea typeface="华文中宋" panose="02010600040101010101" pitchFamily="2" charset="-122"/>
                <a:cs typeface="+mn-cs"/>
              </a:rPr>
              <a:t>）问题分析图</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日立公司中央研究所在</a:t>
            </a:r>
            <a:r>
              <a:rPr lang="en-US" altLang="zh-CN" dirty="0">
                <a:latin typeface="华文中宋" panose="02010600040101010101" pitchFamily="2" charset="-122"/>
                <a:ea typeface="华文中宋" panose="02010600040101010101" pitchFamily="2" charset="-122"/>
                <a:cs typeface="+mn-cs"/>
              </a:rPr>
              <a:t>1973</a:t>
            </a:r>
            <a:r>
              <a:rPr lang="zh-CN" altLang="en-US" dirty="0">
                <a:latin typeface="华文中宋" panose="02010600040101010101" pitchFamily="2" charset="-122"/>
                <a:ea typeface="华文中宋" panose="02010600040101010101" pitchFamily="2" charset="-122"/>
                <a:cs typeface="+mn-cs"/>
              </a:rPr>
              <a:t>年研究开发</a:t>
            </a:r>
            <a:r>
              <a:rPr lang="en-US" altLang="zh-CN"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用结构化程序设计思想表现程序逻辑结构的图形工具，现在已被ISO认可。</a:t>
            </a:r>
            <a:endParaRPr lang="zh-CN" altLang="en-US"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PAD</a:t>
            </a:r>
            <a:r>
              <a:rPr lang="zh-CN" altLang="en-US" dirty="0">
                <a:latin typeface="华文中宋" panose="02010600040101010101" pitchFamily="2" charset="-122"/>
                <a:ea typeface="华文中宋" panose="02010600040101010101" pitchFamily="2" charset="-122"/>
                <a:cs typeface="+mn-cs"/>
              </a:rPr>
              <a:t>图是一种</a:t>
            </a:r>
            <a:r>
              <a:rPr lang="zh-CN" altLang="en-US" dirty="0">
                <a:solidFill>
                  <a:srgbClr val="C00000"/>
                </a:solidFill>
                <a:latin typeface="华文中宋" panose="02010600040101010101" pitchFamily="2" charset="-122"/>
                <a:ea typeface="华文中宋" panose="02010600040101010101" pitchFamily="2" charset="-122"/>
                <a:cs typeface="+mn-cs"/>
              </a:rPr>
              <a:t>由左往右展开的二维树型结构</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a:buSzPct val="70000"/>
            </a:pPr>
            <a:r>
              <a:rPr lang="en-US" altLang="zh-CN" dirty="0">
                <a:latin typeface="华文中宋" panose="02010600040101010101" pitchFamily="2" charset="-122"/>
                <a:ea typeface="华文中宋" panose="02010600040101010101" pitchFamily="2" charset="-122"/>
                <a:cs typeface="+mn-cs"/>
              </a:rPr>
              <a:t>PAD</a:t>
            </a:r>
            <a:r>
              <a:rPr lang="zh-CN" altLang="en-US" dirty="0">
                <a:latin typeface="华文中宋" panose="02010600040101010101" pitchFamily="2" charset="-122"/>
                <a:ea typeface="华文中宋" panose="02010600040101010101" pitchFamily="2" charset="-122"/>
                <a:cs typeface="+mn-cs"/>
              </a:rPr>
              <a:t>图的控制流程为</a:t>
            </a:r>
            <a:r>
              <a:rPr lang="zh-CN" altLang="en-US" dirty="0">
                <a:solidFill>
                  <a:srgbClr val="C00000"/>
                </a:solidFill>
                <a:latin typeface="华文中宋" panose="02010600040101010101" pitchFamily="2" charset="-122"/>
                <a:ea typeface="华文中宋" panose="02010600040101010101" pitchFamily="2" charset="-122"/>
                <a:cs typeface="+mn-cs"/>
              </a:rPr>
              <a:t>自上而下、从左到右</a:t>
            </a:r>
            <a:r>
              <a:rPr lang="zh-CN" altLang="en-US" dirty="0">
                <a:latin typeface="华文中宋" panose="02010600040101010101" pitchFamily="2" charset="-122"/>
                <a:ea typeface="华文中宋" panose="02010600040101010101" pitchFamily="2" charset="-122"/>
                <a:cs typeface="+mn-cs"/>
              </a:rPr>
              <a:t>地执行</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5120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1"/>
          <p:cNvSpPr>
            <a:spLocks noGrp="1"/>
          </p:cNvSpPr>
          <p:nvPr>
            <p:ph type="title"/>
          </p:nvPr>
        </p:nvSpPr>
        <p:spPr>
          <a:ln/>
        </p:spPr>
        <p:txBody>
          <a:bodyPr vert="horz" wrap="square" lIns="91440" tIns="45720" rIns="91440" bIns="45720" anchor="ctr" anchorCtr="0"/>
          <a:p>
            <a:r>
              <a:rPr lang="en-US" altLang="zh-CN" dirty="0"/>
              <a:t>PAD的执行顺序</a:t>
            </a:r>
            <a:endParaRPr lang="zh-CN" altLang="en-US" dirty="0"/>
          </a:p>
        </p:txBody>
      </p:sp>
      <p:sp>
        <p:nvSpPr>
          <p:cNvPr id="52227" name="内容占位符 2"/>
          <p:cNvSpPr>
            <a:spLocks noGrp="1"/>
          </p:cNvSpPr>
          <p:nvPr>
            <p:ph idx="1"/>
          </p:nvPr>
        </p:nvSpPr>
        <p:spPr>
          <a:xfrm>
            <a:off x="827088" y="1379538"/>
            <a:ext cx="7391400" cy="3265487"/>
          </a:xfrm>
          <a:ln/>
        </p:spPr>
        <p:txBody>
          <a:bodyPr vert="horz" wrap="square" lIns="91440" tIns="45720" rIns="91440" bIns="45720" anchor="t" anchorCtr="0">
            <a:spAutoFit/>
          </a:bodyPr>
          <a:p>
            <a:pPr>
              <a:buSzPct val="70000"/>
            </a:pPr>
            <a:r>
              <a:rPr lang="zh-CN" altLang="zh-CN" dirty="0">
                <a:latin typeface="华文中宋" panose="02010600040101010101" pitchFamily="2" charset="-122"/>
                <a:ea typeface="华文中宋" panose="02010600040101010101" pitchFamily="2" charset="-122"/>
                <a:cs typeface="+mn-cs"/>
              </a:rPr>
              <a:t>PAD所描述程序的</a:t>
            </a:r>
            <a:r>
              <a:rPr lang="zh-CN" altLang="zh-CN" dirty="0">
                <a:solidFill>
                  <a:srgbClr val="C00000"/>
                </a:solidFill>
                <a:latin typeface="华文中宋" panose="02010600040101010101" pitchFamily="2" charset="-122"/>
                <a:ea typeface="华文中宋" panose="02010600040101010101" pitchFamily="2" charset="-122"/>
                <a:cs typeface="+mn-cs"/>
              </a:rPr>
              <a:t>层次关系表现在纵线</a:t>
            </a:r>
            <a:r>
              <a:rPr lang="zh-CN" altLang="zh-CN" dirty="0">
                <a:latin typeface="华文中宋" panose="02010600040101010101" pitchFamily="2" charset="-122"/>
                <a:ea typeface="华文中宋" panose="02010600040101010101" pitchFamily="2" charset="-122"/>
                <a:cs typeface="+mn-cs"/>
              </a:rPr>
              <a:t>上。每条纵线表示了一个层次。</a:t>
            </a:r>
            <a:endParaRPr lang="zh-CN" altLang="zh-CN"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PAD的执行顺序</a:t>
            </a:r>
            <a:r>
              <a:rPr lang="zh-CN" altLang="en-US" dirty="0">
                <a:solidFill>
                  <a:srgbClr val="C00000"/>
                </a:solidFill>
                <a:latin typeface="华文中宋" panose="02010600040101010101" pitchFamily="2" charset="-122"/>
                <a:ea typeface="华文中宋" panose="02010600040101010101" pitchFamily="2" charset="-122"/>
                <a:cs typeface="+mn-cs"/>
              </a:rPr>
              <a:t>从最左主干线的上端的结点开始，自上而下依次执行</a:t>
            </a:r>
            <a:r>
              <a:rPr lang="zh-CN" altLang="en-US" dirty="0">
                <a:latin typeface="华文中宋" panose="02010600040101010101" pitchFamily="2" charset="-122"/>
                <a:ea typeface="华文中宋" panose="02010600040101010101" pitchFamily="2" charset="-122"/>
                <a:cs typeface="+mn-cs"/>
              </a:rPr>
              <a:t>。每遇到判断或循环，就自左而右进入下一层，从表示下一层的纵线上端开始执行，直到该纵线下端，再返回上一层的纵线的转入处。</a:t>
            </a:r>
            <a:endParaRPr lang="zh-CN" altLang="en-US" dirty="0">
              <a:latin typeface="华文中宋" panose="02010600040101010101" pitchFamily="2" charset="-122"/>
              <a:ea typeface="华文中宋" panose="02010600040101010101" pitchFamily="2" charset="-122"/>
              <a:cs typeface="+mn-cs"/>
            </a:endParaRPr>
          </a:p>
        </p:txBody>
      </p:sp>
      <p:sp>
        <p:nvSpPr>
          <p:cNvPr id="52228"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4"/>
          <p:cNvGrpSpPr/>
          <p:nvPr/>
        </p:nvGrpSpPr>
        <p:grpSpPr>
          <a:xfrm>
            <a:off x="684213" y="1412875"/>
            <a:ext cx="1295400" cy="1806575"/>
            <a:chOff x="290" y="240"/>
            <a:chExt cx="816" cy="1138"/>
          </a:xfrm>
        </p:grpSpPr>
        <p:sp>
          <p:nvSpPr>
            <p:cNvPr id="6" name="Text Box 5"/>
            <p:cNvSpPr txBox="1">
              <a:spLocks noChangeArrowheads="1"/>
            </p:cNvSpPr>
            <p:nvPr/>
          </p:nvSpPr>
          <p:spPr bwMode="auto">
            <a:xfrm>
              <a:off x="453" y="340"/>
              <a:ext cx="453" cy="272"/>
            </a:xfrm>
            <a:prstGeom prst="rect">
              <a:avLst/>
            </a:prstGeom>
            <a:noFill/>
            <a:ln w="9525">
              <a:solidFill>
                <a:sysClr val="windowText" lastClr="000000"/>
              </a:solidFill>
              <a:miter lim="800000"/>
            </a:ln>
          </p:spPr>
          <p:txBody>
            <a:bodyPr tIns="108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a:t>
              </a:r>
              <a:endParaRPr kumimoji="1" lang="en-US" altLang="zh-CN" sz="24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7" name="Text Box 6"/>
            <p:cNvSpPr txBox="1">
              <a:spLocks noChangeArrowheads="1"/>
            </p:cNvSpPr>
            <p:nvPr/>
          </p:nvSpPr>
          <p:spPr bwMode="auto">
            <a:xfrm>
              <a:off x="453" y="680"/>
              <a:ext cx="453" cy="272"/>
            </a:xfrm>
            <a:prstGeom prst="rect">
              <a:avLst/>
            </a:prstGeom>
            <a:noFill/>
            <a:ln w="9525">
              <a:solidFill>
                <a:sysClr val="windowText" lastClr="000000"/>
              </a:solidFill>
              <a:miter lim="800000"/>
            </a:ln>
          </p:spPr>
          <p:txBody>
            <a:bodyPr tIns="468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B</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8" name="Line 7"/>
            <p:cNvSpPr>
              <a:spLocks noChangeShapeType="1"/>
            </p:cNvSpPr>
            <p:nvPr/>
          </p:nvSpPr>
          <p:spPr bwMode="auto">
            <a:xfrm>
              <a:off x="453" y="240"/>
              <a:ext cx="0" cy="816"/>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9" name="Text Box 8"/>
            <p:cNvSpPr txBox="1">
              <a:spLocks noChangeArrowheads="1"/>
            </p:cNvSpPr>
            <p:nvPr/>
          </p:nvSpPr>
          <p:spPr bwMode="auto">
            <a:xfrm>
              <a:off x="290" y="1128"/>
              <a:ext cx="816" cy="250"/>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Sequential</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10" name="Group 9"/>
          <p:cNvGrpSpPr/>
          <p:nvPr/>
        </p:nvGrpSpPr>
        <p:grpSpPr>
          <a:xfrm>
            <a:off x="6170613" y="1489075"/>
            <a:ext cx="2232025" cy="1755775"/>
            <a:chOff x="3840" y="272"/>
            <a:chExt cx="1406" cy="1106"/>
          </a:xfrm>
        </p:grpSpPr>
        <p:grpSp>
          <p:nvGrpSpPr>
            <p:cNvPr id="53300" name="Group 10"/>
            <p:cNvGrpSpPr/>
            <p:nvPr/>
          </p:nvGrpSpPr>
          <p:grpSpPr>
            <a:xfrm>
              <a:off x="3853" y="272"/>
              <a:ext cx="1393" cy="385"/>
              <a:chOff x="3853" y="272"/>
              <a:chExt cx="1393" cy="385"/>
            </a:xfrm>
          </p:grpSpPr>
          <p:sp>
            <p:nvSpPr>
              <p:cNvPr id="19" name="Line 11"/>
              <p:cNvSpPr>
                <a:spLocks noChangeShapeType="1"/>
              </p:cNvSpPr>
              <p:nvPr/>
            </p:nvSpPr>
            <p:spPr bwMode="auto">
              <a:xfrm>
                <a:off x="3853" y="272"/>
                <a:ext cx="0" cy="385"/>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0" name="Text Box 12"/>
              <p:cNvSpPr txBox="1">
                <a:spLocks noChangeArrowheads="1"/>
              </p:cNvSpPr>
              <p:nvPr/>
            </p:nvSpPr>
            <p:spPr bwMode="auto">
              <a:xfrm>
                <a:off x="3853" y="340"/>
                <a:ext cx="816" cy="249"/>
              </a:xfrm>
              <a:prstGeom prst="rect">
                <a:avLst/>
              </a:prstGeom>
              <a:noFill/>
              <a:ln w="9525">
                <a:solidFill>
                  <a:sysClr val="windowText" lastClr="000000"/>
                </a:solidFill>
                <a:miter lim="800000"/>
              </a:ln>
            </p:spPr>
            <p:txBody>
              <a:bodyPr lIns="18000" tIns="10800" rIns="180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While P</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1" name="Line 13"/>
              <p:cNvSpPr>
                <a:spLocks noChangeShapeType="1"/>
              </p:cNvSpPr>
              <p:nvPr/>
            </p:nvSpPr>
            <p:spPr bwMode="auto">
              <a:xfrm>
                <a:off x="4608" y="340"/>
                <a:ext cx="0" cy="249"/>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2" name="Line 14"/>
              <p:cNvSpPr>
                <a:spLocks noChangeShapeType="1"/>
              </p:cNvSpPr>
              <p:nvPr/>
            </p:nvSpPr>
            <p:spPr bwMode="auto">
              <a:xfrm>
                <a:off x="4670" y="476"/>
                <a:ext cx="192"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3" name="Text Box 15"/>
              <p:cNvSpPr txBox="1">
                <a:spLocks noChangeArrowheads="1"/>
              </p:cNvSpPr>
              <p:nvPr/>
            </p:nvSpPr>
            <p:spPr bwMode="auto">
              <a:xfrm>
                <a:off x="4862" y="340"/>
                <a:ext cx="384" cy="250"/>
              </a:xfrm>
              <a:prstGeom prst="rect">
                <a:avLst/>
              </a:prstGeom>
              <a:noFill/>
              <a:ln w="9525">
                <a:solidFill>
                  <a:sysClr val="windowText" lastClr="000000"/>
                </a:solidFill>
                <a:miter lim="800000"/>
              </a:ln>
            </p:spPr>
            <p:txBody>
              <a:bodyPr tIns="10800" bIns="1080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S</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53301" name="Group 16"/>
            <p:cNvGrpSpPr/>
            <p:nvPr/>
          </p:nvGrpSpPr>
          <p:grpSpPr>
            <a:xfrm>
              <a:off x="3840" y="768"/>
              <a:ext cx="1393" cy="385"/>
              <a:chOff x="3853" y="272"/>
              <a:chExt cx="1393" cy="385"/>
            </a:xfrm>
          </p:grpSpPr>
          <p:sp>
            <p:nvSpPr>
              <p:cNvPr id="14" name="Line 17"/>
              <p:cNvSpPr>
                <a:spLocks noChangeShapeType="1"/>
              </p:cNvSpPr>
              <p:nvPr/>
            </p:nvSpPr>
            <p:spPr bwMode="auto">
              <a:xfrm>
                <a:off x="3853" y="272"/>
                <a:ext cx="0" cy="385"/>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5" name="Text Box 18"/>
              <p:cNvSpPr txBox="1">
                <a:spLocks noChangeArrowheads="1"/>
              </p:cNvSpPr>
              <p:nvPr/>
            </p:nvSpPr>
            <p:spPr bwMode="auto">
              <a:xfrm>
                <a:off x="3853" y="340"/>
                <a:ext cx="816" cy="249"/>
              </a:xfrm>
              <a:prstGeom prst="rect">
                <a:avLst/>
              </a:prstGeom>
              <a:noFill/>
              <a:ln w="9525">
                <a:solidFill>
                  <a:sysClr val="windowText" lastClr="000000"/>
                </a:solidFill>
                <a:miter lim="800000"/>
              </a:ln>
            </p:spPr>
            <p:txBody>
              <a:bodyPr lIns="18000" tIns="10800" rIns="180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Until P</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6" name="Line 19"/>
              <p:cNvSpPr>
                <a:spLocks noChangeShapeType="1"/>
              </p:cNvSpPr>
              <p:nvPr/>
            </p:nvSpPr>
            <p:spPr bwMode="auto">
              <a:xfrm>
                <a:off x="4608" y="340"/>
                <a:ext cx="0" cy="249"/>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7" name="Line 20"/>
              <p:cNvSpPr>
                <a:spLocks noChangeShapeType="1"/>
              </p:cNvSpPr>
              <p:nvPr/>
            </p:nvSpPr>
            <p:spPr bwMode="auto">
              <a:xfrm>
                <a:off x="4670" y="476"/>
                <a:ext cx="192"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8" name="Text Box 21"/>
              <p:cNvSpPr txBox="1">
                <a:spLocks noChangeArrowheads="1"/>
              </p:cNvSpPr>
              <p:nvPr/>
            </p:nvSpPr>
            <p:spPr bwMode="auto">
              <a:xfrm>
                <a:off x="4862" y="340"/>
                <a:ext cx="384" cy="250"/>
              </a:xfrm>
              <a:prstGeom prst="rect">
                <a:avLst/>
              </a:prstGeom>
              <a:noFill/>
              <a:ln w="9525">
                <a:solidFill>
                  <a:sysClr val="windowText" lastClr="000000"/>
                </a:solidFill>
                <a:miter lim="800000"/>
              </a:ln>
            </p:spPr>
            <p:txBody>
              <a:bodyPr tIns="10800" bIns="1080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S</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13" name="Text Box 22"/>
            <p:cNvSpPr txBox="1">
              <a:spLocks noChangeArrowheads="1"/>
            </p:cNvSpPr>
            <p:nvPr/>
          </p:nvSpPr>
          <p:spPr bwMode="auto">
            <a:xfrm>
              <a:off x="4171" y="1128"/>
              <a:ext cx="816" cy="250"/>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Loops</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24" name="Group 23"/>
          <p:cNvGrpSpPr/>
          <p:nvPr/>
        </p:nvGrpSpPr>
        <p:grpSpPr>
          <a:xfrm>
            <a:off x="2665413" y="1565275"/>
            <a:ext cx="3195637" cy="1681163"/>
            <a:chOff x="1539" y="272"/>
            <a:chExt cx="2013" cy="1059"/>
          </a:xfrm>
        </p:grpSpPr>
        <p:sp>
          <p:nvSpPr>
            <p:cNvPr id="25" name="Line 24"/>
            <p:cNvSpPr>
              <a:spLocks noChangeShapeType="1"/>
            </p:cNvSpPr>
            <p:nvPr/>
          </p:nvSpPr>
          <p:spPr bwMode="auto">
            <a:xfrm>
              <a:off x="1541" y="272"/>
              <a:ext cx="0" cy="723"/>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nvGrpSpPr>
            <p:cNvPr id="53284" name="Group 25"/>
            <p:cNvGrpSpPr/>
            <p:nvPr/>
          </p:nvGrpSpPr>
          <p:grpSpPr>
            <a:xfrm>
              <a:off x="1541" y="430"/>
              <a:ext cx="816" cy="192"/>
              <a:chOff x="1541" y="430"/>
              <a:chExt cx="816" cy="192"/>
            </a:xfrm>
          </p:grpSpPr>
          <p:sp>
            <p:nvSpPr>
              <p:cNvPr id="40" name="Line 26"/>
              <p:cNvSpPr>
                <a:spLocks noChangeShapeType="1"/>
              </p:cNvSpPr>
              <p:nvPr/>
            </p:nvSpPr>
            <p:spPr bwMode="auto">
              <a:xfrm>
                <a:off x="1541" y="430"/>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41" name="Line 27"/>
              <p:cNvSpPr>
                <a:spLocks noChangeShapeType="1"/>
              </p:cNvSpPr>
              <p:nvPr/>
            </p:nvSpPr>
            <p:spPr bwMode="auto">
              <a:xfrm flipH="1">
                <a:off x="2040" y="430"/>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53285" name="Group 28"/>
            <p:cNvGrpSpPr/>
            <p:nvPr/>
          </p:nvGrpSpPr>
          <p:grpSpPr>
            <a:xfrm flipV="1">
              <a:off x="1541" y="612"/>
              <a:ext cx="816" cy="192"/>
              <a:chOff x="1541" y="430"/>
              <a:chExt cx="816" cy="192"/>
            </a:xfrm>
          </p:grpSpPr>
          <p:sp>
            <p:nvSpPr>
              <p:cNvPr id="38" name="Line 29"/>
              <p:cNvSpPr>
                <a:spLocks noChangeShapeType="1"/>
              </p:cNvSpPr>
              <p:nvPr/>
            </p:nvSpPr>
            <p:spPr bwMode="auto">
              <a:xfrm>
                <a:off x="1541" y="430"/>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9" name="Line 30"/>
              <p:cNvSpPr>
                <a:spLocks noChangeShapeType="1"/>
              </p:cNvSpPr>
              <p:nvPr/>
            </p:nvSpPr>
            <p:spPr bwMode="auto">
              <a:xfrm flipH="1">
                <a:off x="2040" y="430"/>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sp>
          <p:nvSpPr>
            <p:cNvPr id="28" name="Text Box 31"/>
            <p:cNvSpPr txBox="1">
              <a:spLocks noChangeArrowheads="1"/>
            </p:cNvSpPr>
            <p:nvPr/>
          </p:nvSpPr>
          <p:spPr bwMode="auto">
            <a:xfrm>
              <a:off x="1632" y="480"/>
              <a:ext cx="384" cy="288"/>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P</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9" name="Text Box 32"/>
            <p:cNvSpPr txBox="1">
              <a:spLocks noChangeArrowheads="1"/>
            </p:cNvSpPr>
            <p:nvPr/>
          </p:nvSpPr>
          <p:spPr bwMode="auto">
            <a:xfrm>
              <a:off x="2352" y="288"/>
              <a:ext cx="384" cy="294"/>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0" name="Text Box 33"/>
            <p:cNvSpPr txBox="1">
              <a:spLocks noChangeArrowheads="1"/>
            </p:cNvSpPr>
            <p:nvPr/>
          </p:nvSpPr>
          <p:spPr bwMode="auto">
            <a:xfrm>
              <a:off x="2352" y="672"/>
              <a:ext cx="384" cy="294"/>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B</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53289" name="Group 34"/>
            <p:cNvGrpSpPr/>
            <p:nvPr/>
          </p:nvGrpSpPr>
          <p:grpSpPr>
            <a:xfrm>
              <a:off x="2880" y="336"/>
              <a:ext cx="672" cy="212"/>
              <a:chOff x="2880" y="336"/>
              <a:chExt cx="672" cy="212"/>
            </a:xfrm>
          </p:grpSpPr>
          <p:sp>
            <p:nvSpPr>
              <p:cNvPr id="36" name="Line 35"/>
              <p:cNvSpPr>
                <a:spLocks noChangeShapeType="1"/>
              </p:cNvSpPr>
              <p:nvPr/>
            </p:nvSpPr>
            <p:spPr bwMode="auto">
              <a:xfrm flipH="1">
                <a:off x="2880" y="432"/>
                <a:ext cx="192" cy="0"/>
              </a:xfrm>
              <a:prstGeom prst="line">
                <a:avLst/>
              </a:prstGeom>
              <a:noFill/>
              <a:ln w="9525">
                <a:solidFill>
                  <a:srgbClr val="3366FF"/>
                </a:solidFill>
                <a:round/>
                <a:tailEnd type="arrow"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7" name="Text Box 36"/>
              <p:cNvSpPr txBox="1">
                <a:spLocks noChangeArrowheads="1"/>
              </p:cNvSpPr>
              <p:nvPr/>
            </p:nvSpPr>
            <p:spPr bwMode="auto">
              <a:xfrm>
                <a:off x="3072" y="336"/>
                <a:ext cx="480" cy="212"/>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THEN</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53290" name="Group 37"/>
            <p:cNvGrpSpPr/>
            <p:nvPr/>
          </p:nvGrpSpPr>
          <p:grpSpPr>
            <a:xfrm>
              <a:off x="2880" y="672"/>
              <a:ext cx="672" cy="212"/>
              <a:chOff x="2880" y="336"/>
              <a:chExt cx="672" cy="212"/>
            </a:xfrm>
          </p:grpSpPr>
          <p:sp>
            <p:nvSpPr>
              <p:cNvPr id="34" name="Line 38"/>
              <p:cNvSpPr>
                <a:spLocks noChangeShapeType="1"/>
              </p:cNvSpPr>
              <p:nvPr/>
            </p:nvSpPr>
            <p:spPr bwMode="auto">
              <a:xfrm flipH="1">
                <a:off x="2880" y="432"/>
                <a:ext cx="192" cy="0"/>
              </a:xfrm>
              <a:prstGeom prst="line">
                <a:avLst/>
              </a:prstGeom>
              <a:noFill/>
              <a:ln w="9525">
                <a:solidFill>
                  <a:srgbClr val="3366FF"/>
                </a:solidFill>
                <a:round/>
                <a:tailEnd type="arrow"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5" name="Text Box 39"/>
              <p:cNvSpPr txBox="1">
                <a:spLocks noChangeArrowheads="1"/>
              </p:cNvSpPr>
              <p:nvPr/>
            </p:nvSpPr>
            <p:spPr bwMode="auto">
              <a:xfrm>
                <a:off x="3072" y="336"/>
                <a:ext cx="480" cy="212"/>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ELSE</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33" name="Text Box 40"/>
            <p:cNvSpPr txBox="1">
              <a:spLocks noChangeArrowheads="1"/>
            </p:cNvSpPr>
            <p:nvPr/>
          </p:nvSpPr>
          <p:spPr bwMode="auto">
            <a:xfrm>
              <a:off x="1539" y="1081"/>
              <a:ext cx="1152" cy="250"/>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Selective</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42" name="Group 41"/>
          <p:cNvGrpSpPr/>
          <p:nvPr/>
        </p:nvGrpSpPr>
        <p:grpSpPr>
          <a:xfrm>
            <a:off x="684213" y="3698875"/>
            <a:ext cx="1976437" cy="2454275"/>
            <a:chOff x="435" y="1824"/>
            <a:chExt cx="1245" cy="1546"/>
          </a:xfrm>
        </p:grpSpPr>
        <p:sp>
          <p:nvSpPr>
            <p:cNvPr id="43" name="Line 42"/>
            <p:cNvSpPr>
              <a:spLocks noChangeShapeType="1"/>
            </p:cNvSpPr>
            <p:nvPr/>
          </p:nvSpPr>
          <p:spPr bwMode="auto">
            <a:xfrm>
              <a:off x="482" y="1824"/>
              <a:ext cx="0" cy="136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44" name="Line 43"/>
            <p:cNvSpPr>
              <a:spLocks noChangeShapeType="1"/>
            </p:cNvSpPr>
            <p:nvPr/>
          </p:nvSpPr>
          <p:spPr bwMode="auto">
            <a:xfrm>
              <a:off x="482" y="1982"/>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45" name="Line 44"/>
            <p:cNvSpPr>
              <a:spLocks noChangeShapeType="1"/>
            </p:cNvSpPr>
            <p:nvPr/>
          </p:nvSpPr>
          <p:spPr bwMode="auto">
            <a:xfrm flipH="1">
              <a:off x="981" y="1982"/>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46" name="Text Box 45"/>
            <p:cNvSpPr txBox="1">
              <a:spLocks noChangeArrowheads="1"/>
            </p:cNvSpPr>
            <p:nvPr/>
          </p:nvSpPr>
          <p:spPr bwMode="auto">
            <a:xfrm>
              <a:off x="435" y="2448"/>
              <a:ext cx="483" cy="288"/>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P =</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7" name="Text Box 46"/>
            <p:cNvSpPr txBox="1">
              <a:spLocks noChangeArrowheads="1"/>
            </p:cNvSpPr>
            <p:nvPr/>
          </p:nvSpPr>
          <p:spPr bwMode="auto">
            <a:xfrm>
              <a:off x="1293" y="1840"/>
              <a:ext cx="384" cy="294"/>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A1</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8" name="Text Box 47"/>
            <p:cNvSpPr txBox="1">
              <a:spLocks noChangeArrowheads="1"/>
            </p:cNvSpPr>
            <p:nvPr/>
          </p:nvSpPr>
          <p:spPr bwMode="auto">
            <a:xfrm>
              <a:off x="1293" y="2224"/>
              <a:ext cx="384" cy="294"/>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A2</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9" name="Text Box 48"/>
            <p:cNvSpPr txBox="1">
              <a:spLocks noChangeArrowheads="1"/>
            </p:cNvSpPr>
            <p:nvPr/>
          </p:nvSpPr>
          <p:spPr bwMode="auto">
            <a:xfrm>
              <a:off x="480" y="3120"/>
              <a:ext cx="1152" cy="250"/>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Case</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53272" name="Group 49"/>
            <p:cNvGrpSpPr/>
            <p:nvPr/>
          </p:nvGrpSpPr>
          <p:grpSpPr>
            <a:xfrm>
              <a:off x="482" y="2833"/>
              <a:ext cx="1198" cy="302"/>
              <a:chOff x="482" y="3400"/>
              <a:chExt cx="1198" cy="302"/>
            </a:xfrm>
          </p:grpSpPr>
          <p:sp>
            <p:nvSpPr>
              <p:cNvPr id="58" name="Line 50"/>
              <p:cNvSpPr>
                <a:spLocks noChangeShapeType="1"/>
              </p:cNvSpPr>
              <p:nvPr/>
            </p:nvSpPr>
            <p:spPr bwMode="auto">
              <a:xfrm flipV="1">
                <a:off x="482" y="3592"/>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59" name="Line 51"/>
              <p:cNvSpPr>
                <a:spLocks noChangeShapeType="1"/>
              </p:cNvSpPr>
              <p:nvPr/>
            </p:nvSpPr>
            <p:spPr bwMode="auto">
              <a:xfrm flipH="1" flipV="1">
                <a:off x="981" y="3400"/>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60" name="Text Box 52"/>
              <p:cNvSpPr txBox="1">
                <a:spLocks noChangeArrowheads="1"/>
              </p:cNvSpPr>
              <p:nvPr/>
            </p:nvSpPr>
            <p:spPr bwMode="auto">
              <a:xfrm>
                <a:off x="1296" y="3408"/>
                <a:ext cx="384" cy="294"/>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An</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51" name="Line 53"/>
            <p:cNvSpPr>
              <a:spLocks noChangeShapeType="1"/>
            </p:cNvSpPr>
            <p:nvPr/>
          </p:nvSpPr>
          <p:spPr bwMode="auto">
            <a:xfrm flipH="1" flipV="1">
              <a:off x="981" y="2160"/>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52" name="Line 54"/>
            <p:cNvSpPr>
              <a:spLocks noChangeShapeType="1"/>
            </p:cNvSpPr>
            <p:nvPr/>
          </p:nvSpPr>
          <p:spPr bwMode="auto">
            <a:xfrm>
              <a:off x="1174" y="2353"/>
              <a:ext cx="118"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53" name="Line 55"/>
            <p:cNvSpPr>
              <a:spLocks noChangeShapeType="1"/>
            </p:cNvSpPr>
            <p:nvPr/>
          </p:nvSpPr>
          <p:spPr bwMode="auto">
            <a:xfrm flipH="1">
              <a:off x="981" y="2352"/>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54" name="Text Box 56"/>
            <p:cNvSpPr txBox="1">
              <a:spLocks noChangeArrowheads="1"/>
            </p:cNvSpPr>
            <p:nvPr/>
          </p:nvSpPr>
          <p:spPr bwMode="auto">
            <a:xfrm>
              <a:off x="816" y="1968"/>
              <a:ext cx="288" cy="231"/>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1</a:t>
              </a:r>
              <a:endPar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5" name="Text Box 57"/>
            <p:cNvSpPr txBox="1">
              <a:spLocks noChangeArrowheads="1"/>
            </p:cNvSpPr>
            <p:nvPr/>
          </p:nvSpPr>
          <p:spPr bwMode="auto">
            <a:xfrm>
              <a:off x="816" y="2256"/>
              <a:ext cx="288" cy="231"/>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a:t>
              </a:r>
              <a:endPar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6" name="Text Box 58"/>
            <p:cNvSpPr txBox="1">
              <a:spLocks noChangeArrowheads="1"/>
            </p:cNvSpPr>
            <p:nvPr/>
          </p:nvSpPr>
          <p:spPr bwMode="auto">
            <a:xfrm>
              <a:off x="816" y="2808"/>
              <a:ext cx="288" cy="231"/>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n</a:t>
              </a:r>
              <a:endPar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7" name="Text Box 59"/>
            <p:cNvSpPr txBox="1">
              <a:spLocks noChangeArrowheads="1"/>
            </p:cNvSpPr>
            <p:nvPr/>
          </p:nvSpPr>
          <p:spPr bwMode="auto">
            <a:xfrm>
              <a:off x="816" y="2588"/>
              <a:ext cx="346" cy="336"/>
            </a:xfrm>
            <a:prstGeom prst="rect">
              <a:avLst/>
            </a:prstGeom>
            <a:noFill/>
            <a:ln>
              <a:noFill/>
            </a:ln>
          </p:spPr>
          <p:txBody>
            <a:bodyPr vert="eaVert">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61" name="Group 60"/>
          <p:cNvGrpSpPr/>
          <p:nvPr/>
        </p:nvGrpSpPr>
        <p:grpSpPr>
          <a:xfrm>
            <a:off x="3579813" y="4384675"/>
            <a:ext cx="1219200" cy="1235075"/>
            <a:chOff x="1920" y="1968"/>
            <a:chExt cx="768" cy="778"/>
          </a:xfrm>
        </p:grpSpPr>
        <p:sp>
          <p:nvSpPr>
            <p:cNvPr id="62" name="Oval 61"/>
            <p:cNvSpPr>
              <a:spLocks noChangeArrowheads="1"/>
            </p:cNvSpPr>
            <p:nvPr/>
          </p:nvSpPr>
          <p:spPr bwMode="auto">
            <a:xfrm>
              <a:off x="2112" y="1968"/>
              <a:ext cx="227" cy="227"/>
            </a:xfrm>
            <a:prstGeom prst="ellipse">
              <a:avLst/>
            </a:prstGeom>
            <a:noFill/>
            <a:ln w="9525">
              <a:solidFill>
                <a:sysClr val="windowText" lastClr="000000"/>
              </a:solidFill>
              <a:round/>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63" name="Text Box 62"/>
            <p:cNvSpPr txBox="1">
              <a:spLocks noChangeArrowheads="1"/>
            </p:cNvSpPr>
            <p:nvPr/>
          </p:nvSpPr>
          <p:spPr bwMode="auto">
            <a:xfrm>
              <a:off x="1920" y="2304"/>
              <a:ext cx="768" cy="442"/>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Statement Index</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64" name="Group 63"/>
          <p:cNvGrpSpPr/>
          <p:nvPr/>
        </p:nvGrpSpPr>
        <p:grpSpPr>
          <a:xfrm>
            <a:off x="6246813" y="4384675"/>
            <a:ext cx="1295400" cy="1158875"/>
            <a:chOff x="3360" y="1872"/>
            <a:chExt cx="816" cy="730"/>
          </a:xfrm>
        </p:grpSpPr>
        <p:grpSp>
          <p:nvGrpSpPr>
            <p:cNvPr id="53258" name="Group 64"/>
            <p:cNvGrpSpPr/>
            <p:nvPr/>
          </p:nvGrpSpPr>
          <p:grpSpPr>
            <a:xfrm>
              <a:off x="3454" y="1872"/>
              <a:ext cx="578" cy="313"/>
              <a:chOff x="3454" y="1872"/>
              <a:chExt cx="578" cy="313"/>
            </a:xfrm>
          </p:grpSpPr>
          <p:sp>
            <p:nvSpPr>
              <p:cNvPr id="67" name="Text Box 65"/>
              <p:cNvSpPr txBox="1">
                <a:spLocks noChangeArrowheads="1"/>
              </p:cNvSpPr>
              <p:nvPr/>
            </p:nvSpPr>
            <p:spPr bwMode="auto">
              <a:xfrm>
                <a:off x="3456" y="1872"/>
                <a:ext cx="576" cy="250"/>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def</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68" name="Line 66"/>
              <p:cNvSpPr>
                <a:spLocks noChangeShapeType="1"/>
              </p:cNvSpPr>
              <p:nvPr/>
            </p:nvSpPr>
            <p:spPr bwMode="auto">
              <a:xfrm>
                <a:off x="3456" y="2112"/>
                <a:ext cx="57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69" name="Line 67"/>
              <p:cNvSpPr>
                <a:spLocks noChangeShapeType="1"/>
              </p:cNvSpPr>
              <p:nvPr/>
            </p:nvSpPr>
            <p:spPr bwMode="auto">
              <a:xfrm>
                <a:off x="3454" y="2185"/>
                <a:ext cx="57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sp>
          <p:nvSpPr>
            <p:cNvPr id="66" name="Text Box 68"/>
            <p:cNvSpPr txBox="1">
              <a:spLocks noChangeArrowheads="1"/>
            </p:cNvSpPr>
            <p:nvPr/>
          </p:nvSpPr>
          <p:spPr bwMode="auto">
            <a:xfrm>
              <a:off x="3360" y="2352"/>
              <a:ext cx="816" cy="250"/>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Definition</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53257" name="标题 1"/>
          <p:cNvSpPr>
            <a:spLocks noGrp="1"/>
          </p:cNvSpPr>
          <p:nvPr>
            <p:ph type="title"/>
          </p:nvPr>
        </p:nvSpPr>
        <p:spPr>
          <a:ln/>
        </p:spPr>
        <p:txBody>
          <a:bodyPr vert="horz" wrap="square" lIns="91440" tIns="45720" rIns="91440" bIns="45720" anchor="ctr" anchorCtr="0"/>
          <a:p>
            <a:r>
              <a:rPr lang="en-US" altLang="zh-CN" dirty="0"/>
              <a:t>PAD</a:t>
            </a:r>
            <a:r>
              <a:rPr lang="zh-CN" altLang="en-US" dirty="0"/>
              <a:t>图的结构</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box(in)">
                                      <p:cBhvr>
                                        <p:cTn id="11" dur="500"/>
                                        <p:tgtEl>
                                          <p:spTgt spid="24"/>
                                        </p:tgtEl>
                                      </p:cBhvr>
                                    </p:animEffect>
                                  </p:childTnLst>
                                  <p:subTnLst>
                                    <p:audio>
                                      <p:cMediaNode>
                                        <p:cTn display="0" masterRel="sameClick">
                                          <p:stCondLst>
                                            <p:cond evt="begin" delay="0">
                                              <p:tn val="9"/>
                                            </p:cond>
                                          </p:stCondLst>
                                          <p:endCondLst>
                                            <p:cond evt="onStopAudio" delay="0">
                                              <p:tgtEl>
                                                <p:sldTgt/>
                                              </p:tgtEl>
                                            </p:cond>
                                          </p:endCondLst>
                                        </p:cTn>
                                        <p:tgtEl>
                                          <p:sndTgt r:embed="rId1" name="CAMERA.WAV"/>
                                        </p:tgtEl>
                                      </p:cMediaNode>
                                    </p:audio>
                                  </p:subTnLst>
                                </p:cTn>
                              </p:par>
                            </p:childTnLst>
                          </p:cTn>
                        </p:par>
                        <p:par>
                          <p:cTn id="12" fill="hold">
                            <p:stCondLst>
                              <p:cond delay="1000"/>
                            </p:stCondLst>
                            <p:childTnLst>
                              <p:par>
                                <p:cTn id="13" presetID="4" presetClass="entr" presetSubtype="16"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ox(in)">
                                      <p:cBhvr>
                                        <p:cTn id="15" dur="500"/>
                                        <p:tgtEl>
                                          <p:spTgt spid="10"/>
                                        </p:tgtEl>
                                      </p:cBhvr>
                                    </p:animEffect>
                                  </p:childTnLst>
                                  <p:subTnLst>
                                    <p:audio>
                                      <p:cMediaNode>
                                        <p:cTn display="0" masterRel="sameClick">
                                          <p:stCondLst>
                                            <p:cond evt="begin" delay="0">
                                              <p:tn val="13"/>
                                            </p:cond>
                                          </p:stCondLst>
                                          <p:endCondLst>
                                            <p:cond evt="onStopAudio" delay="0">
                                              <p:tgtEl>
                                                <p:sldTgt/>
                                              </p:tgtEl>
                                            </p:cond>
                                          </p:endCondLst>
                                        </p:cTn>
                                        <p:tgtEl>
                                          <p:sndTgt r:embed="rId1" name="CAMERA.WAV"/>
                                        </p:tgtEl>
                                      </p:cMediaNode>
                                    </p:audio>
                                  </p:subTnLst>
                                </p:cTn>
                              </p:par>
                            </p:childTnLst>
                          </p:cTn>
                        </p:par>
                        <p:par>
                          <p:cTn id="16" fill="hold">
                            <p:stCondLst>
                              <p:cond delay="1500"/>
                            </p:stCondLst>
                            <p:childTnLst>
                              <p:par>
                                <p:cTn id="17" presetID="4" presetClass="entr" presetSubtype="16"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box(in)">
                                      <p:cBhvr>
                                        <p:cTn id="19" dur="500"/>
                                        <p:tgtEl>
                                          <p:spTgt spid="42"/>
                                        </p:tgtEl>
                                      </p:cBhvr>
                                    </p:animEffect>
                                  </p:childTnLst>
                                  <p:subTnLst>
                                    <p:audio>
                                      <p:cMediaNode>
                                        <p:cTn display="0" masterRel="sameClick">
                                          <p:stCondLst>
                                            <p:cond evt="begin" delay="0">
                                              <p:tn val="17"/>
                                            </p:cond>
                                          </p:stCondLst>
                                          <p:endCondLst>
                                            <p:cond evt="onStopAudio" delay="0">
                                              <p:tgtEl>
                                                <p:sldTgt/>
                                              </p:tgtEl>
                                            </p:cond>
                                          </p:endCondLst>
                                        </p:cTn>
                                        <p:tgtEl>
                                          <p:sndTgt r:embed="rId1" name="CAMERA.WAV"/>
                                        </p:tgtEl>
                                      </p:cMediaNode>
                                    </p:audio>
                                  </p:subTnLst>
                                </p:cTn>
                              </p:par>
                            </p:childTnLst>
                          </p:cTn>
                        </p:par>
                        <p:par>
                          <p:cTn id="20" fill="hold">
                            <p:stCondLst>
                              <p:cond delay="2000"/>
                            </p:stCondLst>
                            <p:childTnLst>
                              <p:par>
                                <p:cTn id="21" presetID="4" presetClass="entr" presetSubtype="16" fill="hold" nodeType="afterEffect">
                                  <p:stCondLst>
                                    <p:cond delay="0"/>
                                  </p:stCondLst>
                                  <p:childTnLst>
                                    <p:set>
                                      <p:cBhvr>
                                        <p:cTn id="22" dur="1" fill="hold">
                                          <p:stCondLst>
                                            <p:cond delay="0"/>
                                          </p:stCondLst>
                                        </p:cTn>
                                        <p:tgtEl>
                                          <p:spTgt spid="61"/>
                                        </p:tgtEl>
                                        <p:attrNameLst>
                                          <p:attrName>style.visibility</p:attrName>
                                        </p:attrNameLst>
                                      </p:cBhvr>
                                      <p:to>
                                        <p:strVal val="visible"/>
                                      </p:to>
                                    </p:set>
                                    <p:animEffect transition="in" filter="box(in)">
                                      <p:cBhvr>
                                        <p:cTn id="23" dur="500"/>
                                        <p:tgtEl>
                                          <p:spTgt spid="61"/>
                                        </p:tgtEl>
                                      </p:cBhvr>
                                    </p:animEffect>
                                  </p:childTnLst>
                                  <p:subTnLst>
                                    <p:audio>
                                      <p:cMediaNode>
                                        <p:cTn display="0" masterRel="sameClick">
                                          <p:stCondLst>
                                            <p:cond evt="begin" delay="0">
                                              <p:tn val="21"/>
                                            </p:cond>
                                          </p:stCondLst>
                                          <p:endCondLst>
                                            <p:cond evt="onStopAudio" delay="0">
                                              <p:tgtEl>
                                                <p:sldTgt/>
                                              </p:tgtEl>
                                            </p:cond>
                                          </p:endCondLst>
                                        </p:cTn>
                                        <p:tgtEl>
                                          <p:sndTgt r:embed="rId1" name="CAMERA.WAV"/>
                                        </p:tgtEl>
                                      </p:cMediaNode>
                                    </p:audio>
                                  </p:subTnLst>
                                </p:cTn>
                              </p:par>
                            </p:childTnLst>
                          </p:cTn>
                        </p:par>
                        <p:par>
                          <p:cTn id="24" fill="hold">
                            <p:stCondLst>
                              <p:cond delay="2500"/>
                            </p:stCondLst>
                            <p:childTnLst>
                              <p:par>
                                <p:cTn id="25" presetID="4" presetClass="entr" presetSubtype="16" fill="hold"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box(in)">
                                      <p:cBhvr>
                                        <p:cTn id="27" dur="500"/>
                                        <p:tgtEl>
                                          <p:spTgt spid="64"/>
                                        </p:tgtEl>
                                      </p:cBhvr>
                                    </p:animEffect>
                                  </p:childTnLst>
                                  <p:subTnLs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4"/>
          <p:cNvGrpSpPr/>
          <p:nvPr/>
        </p:nvGrpSpPr>
        <p:grpSpPr>
          <a:xfrm>
            <a:off x="2424113" y="1125538"/>
            <a:ext cx="3360737" cy="3017837"/>
            <a:chOff x="1056" y="1133"/>
            <a:chExt cx="2117" cy="2222"/>
          </a:xfrm>
        </p:grpSpPr>
        <p:grpSp>
          <p:nvGrpSpPr>
            <p:cNvPr id="54316" name="Group 5"/>
            <p:cNvGrpSpPr/>
            <p:nvPr/>
          </p:nvGrpSpPr>
          <p:grpSpPr>
            <a:xfrm>
              <a:off x="1065" y="1992"/>
              <a:ext cx="1056" cy="305"/>
              <a:chOff x="1065" y="1992"/>
              <a:chExt cx="1056" cy="305"/>
            </a:xfrm>
          </p:grpSpPr>
          <p:sp>
            <p:nvSpPr>
              <p:cNvPr id="31" name="AutoShape 6"/>
              <p:cNvSpPr>
                <a:spLocks noChangeArrowheads="1"/>
              </p:cNvSpPr>
              <p:nvPr/>
            </p:nvSpPr>
            <p:spPr bwMode="auto">
              <a:xfrm>
                <a:off x="1133" y="2040"/>
                <a:ext cx="907" cy="22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472 h 21600"/>
                  <a:gd name="T14" fmla="*/ 17099 w 21600"/>
                  <a:gd name="T15" fmla="*/ 17128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9525">
                <a:solidFill>
                  <a:sysClr val="windowText" lastClr="000000"/>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2" name="AutoShape 7"/>
              <p:cNvSpPr>
                <a:spLocks noChangeArrowheads="1"/>
              </p:cNvSpPr>
              <p:nvPr/>
            </p:nvSpPr>
            <p:spPr bwMode="auto">
              <a:xfrm>
                <a:off x="1133" y="2040"/>
                <a:ext cx="227" cy="227"/>
              </a:xfrm>
              <a:prstGeom prst="rtTriangle">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3" name="AutoShape 8"/>
              <p:cNvSpPr>
                <a:spLocks noChangeArrowheads="1"/>
              </p:cNvSpPr>
              <p:nvPr/>
            </p:nvSpPr>
            <p:spPr bwMode="auto">
              <a:xfrm flipH="1">
                <a:off x="1813" y="2040"/>
                <a:ext cx="227" cy="227"/>
              </a:xfrm>
              <a:prstGeom prst="rtTriangle">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4" name="Text Box 9"/>
              <p:cNvSpPr txBox="1">
                <a:spLocks noChangeArrowheads="1"/>
              </p:cNvSpPr>
              <p:nvPr/>
            </p:nvSpPr>
            <p:spPr bwMode="auto">
              <a:xfrm>
                <a:off x="1104" y="1992"/>
                <a:ext cx="960" cy="244"/>
              </a:xfrm>
              <a:prstGeom prst="rect">
                <a:avLst/>
              </a:prstGeom>
              <a:noFill/>
              <a:ln>
                <a:noFill/>
              </a:ln>
            </p:spPr>
            <p:txBody>
              <a:bodyPr lIns="18000" tIns="10800" rIns="18000" bIns="1080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4</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5" name="Text Box 10"/>
              <p:cNvSpPr txBox="1">
                <a:spLocks noChangeArrowheads="1"/>
              </p:cNvSpPr>
              <p:nvPr/>
            </p:nvSpPr>
            <p:spPr bwMode="auto">
              <a:xfrm>
                <a:off x="1065" y="2086"/>
                <a:ext cx="240" cy="215"/>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T</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6" name="Text Box 11"/>
              <p:cNvSpPr txBox="1">
                <a:spLocks noChangeArrowheads="1"/>
              </p:cNvSpPr>
              <p:nvPr/>
            </p:nvSpPr>
            <p:spPr bwMode="auto">
              <a:xfrm>
                <a:off x="1881" y="2086"/>
                <a:ext cx="240" cy="215"/>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F</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54317" name="Group 12"/>
            <p:cNvGrpSpPr/>
            <p:nvPr/>
          </p:nvGrpSpPr>
          <p:grpSpPr>
            <a:xfrm>
              <a:off x="1083" y="2267"/>
              <a:ext cx="576" cy="635"/>
              <a:chOff x="1083" y="2267"/>
              <a:chExt cx="576" cy="635"/>
            </a:xfrm>
          </p:grpSpPr>
          <p:sp>
            <p:nvSpPr>
              <p:cNvPr id="28" name="Rectangle 13"/>
              <p:cNvSpPr>
                <a:spLocks noChangeArrowheads="1"/>
              </p:cNvSpPr>
              <p:nvPr/>
            </p:nvSpPr>
            <p:spPr bwMode="auto">
              <a:xfrm>
                <a:off x="1133" y="2267"/>
                <a:ext cx="476" cy="635"/>
              </a:xfrm>
              <a:prstGeom prst="rect">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9" name="Text Box 14"/>
              <p:cNvSpPr txBox="1">
                <a:spLocks noChangeArrowheads="1"/>
              </p:cNvSpPr>
              <p:nvPr/>
            </p:nvSpPr>
            <p:spPr bwMode="auto">
              <a:xfrm>
                <a:off x="1083" y="2592"/>
                <a:ext cx="576" cy="303"/>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80000"/>
                  </a:lnSpc>
                  <a:spcBef>
                    <a:spcPct val="50000"/>
                  </a:spcBef>
                  <a:spcAft>
                    <a:spcPts val="0"/>
                  </a:spcAft>
                  <a:buClrTx/>
                  <a:buSzTx/>
                  <a:buFontTx/>
                  <a:buNone/>
                  <a:defRPr/>
                </a:pPr>
                <a:r>
                  <a:rPr kumimoji="1" lang="en-US" altLang="zh-CN" sz="1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Do-Until </a:t>
                </a:r>
                <a:r>
                  <a:rPr kumimoji="1" lang="en-US" altLang="zh-CN" sz="18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18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5</a:t>
                </a:r>
                <a:endParaRPr kumimoji="1" lang="en-US" altLang="zh-CN" sz="1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0" name="Text Box 15"/>
              <p:cNvSpPr txBox="1">
                <a:spLocks noChangeArrowheads="1"/>
              </p:cNvSpPr>
              <p:nvPr/>
            </p:nvSpPr>
            <p:spPr bwMode="auto">
              <a:xfrm>
                <a:off x="1133" y="2267"/>
                <a:ext cx="336" cy="293"/>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i</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54318" name="Group 16"/>
            <p:cNvGrpSpPr/>
            <p:nvPr/>
          </p:nvGrpSpPr>
          <p:grpSpPr>
            <a:xfrm>
              <a:off x="1609" y="2267"/>
              <a:ext cx="431" cy="634"/>
              <a:chOff x="1609" y="2267"/>
              <a:chExt cx="431" cy="634"/>
            </a:xfrm>
          </p:grpSpPr>
          <p:sp>
            <p:nvSpPr>
              <p:cNvPr id="26" name="Text Box 17"/>
              <p:cNvSpPr txBox="1">
                <a:spLocks noChangeArrowheads="1"/>
              </p:cNvSpPr>
              <p:nvPr/>
            </p:nvSpPr>
            <p:spPr bwMode="auto">
              <a:xfrm>
                <a:off x="1609" y="2267"/>
                <a:ext cx="431" cy="318"/>
              </a:xfrm>
              <a:prstGeom prst="rect">
                <a:avLst/>
              </a:prstGeom>
              <a:noFill/>
              <a:ln w="9525">
                <a:solidFill>
                  <a:sysClr val="windowText" lastClr="000000"/>
                </a:solidFill>
                <a:miter lim="800000"/>
              </a:ln>
            </p:spPr>
            <p:txBody>
              <a:bodyPr bIns="118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g</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7" name="Text Box 18"/>
              <p:cNvSpPr txBox="1">
                <a:spLocks noChangeArrowheads="1"/>
              </p:cNvSpPr>
              <p:nvPr/>
            </p:nvSpPr>
            <p:spPr bwMode="auto">
              <a:xfrm>
                <a:off x="1609" y="2585"/>
                <a:ext cx="431" cy="320"/>
              </a:xfrm>
              <a:prstGeom prst="rect">
                <a:avLst/>
              </a:prstGeom>
              <a:noFill/>
              <a:ln w="9525">
                <a:solidFill>
                  <a:sysClr val="windowText" lastClr="000000"/>
                </a:solidFill>
                <a:miter lim="800000"/>
              </a:ln>
            </p:spPr>
            <p:txBody>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h</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9" name="Text Box 19"/>
            <p:cNvSpPr txBox="1">
              <a:spLocks noChangeArrowheads="1"/>
            </p:cNvSpPr>
            <p:nvPr/>
          </p:nvSpPr>
          <p:spPr bwMode="auto">
            <a:xfrm>
              <a:off x="1133" y="1813"/>
              <a:ext cx="907" cy="227"/>
            </a:xfrm>
            <a:prstGeom prst="rect">
              <a:avLst/>
            </a:prstGeom>
            <a:noFill/>
            <a:ln w="9525">
              <a:solidFill>
                <a:sysClr val="windowText" lastClr="000000"/>
              </a:solidFill>
              <a:miter lim="800000"/>
            </a:ln>
          </p:spPr>
          <p:txBody>
            <a:bodyPr tIns="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f</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54320" name="Group 20"/>
            <p:cNvGrpSpPr/>
            <p:nvPr/>
          </p:nvGrpSpPr>
          <p:grpSpPr>
            <a:xfrm>
              <a:off x="2040" y="1813"/>
              <a:ext cx="907" cy="1088"/>
              <a:chOff x="2040" y="1813"/>
              <a:chExt cx="907" cy="1088"/>
            </a:xfrm>
          </p:grpSpPr>
          <p:sp>
            <p:nvSpPr>
              <p:cNvPr id="23" name="Rectangle 21"/>
              <p:cNvSpPr>
                <a:spLocks noChangeArrowheads="1"/>
              </p:cNvSpPr>
              <p:nvPr/>
            </p:nvSpPr>
            <p:spPr bwMode="auto">
              <a:xfrm>
                <a:off x="2040" y="1813"/>
                <a:ext cx="907" cy="1088"/>
              </a:xfrm>
              <a:prstGeom prst="rect">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4" name="Oval 22"/>
              <p:cNvSpPr>
                <a:spLocks noChangeArrowheads="1"/>
              </p:cNvSpPr>
              <p:nvPr/>
            </p:nvSpPr>
            <p:spPr bwMode="auto">
              <a:xfrm>
                <a:off x="2160" y="2018"/>
                <a:ext cx="672" cy="672"/>
              </a:xfrm>
              <a:prstGeom prst="ellipse">
                <a:avLst/>
              </a:prstGeom>
              <a:noFill/>
              <a:ln w="9525">
                <a:solidFill>
                  <a:sysClr val="windowText" lastClr="000000"/>
                </a:solidFill>
                <a:round/>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5" name="Text Box 23"/>
              <p:cNvSpPr txBox="1">
                <a:spLocks noChangeArrowheads="1"/>
              </p:cNvSpPr>
              <p:nvPr/>
            </p:nvSpPr>
            <p:spPr bwMode="auto">
              <a:xfrm>
                <a:off x="2208" y="2205"/>
                <a:ext cx="528" cy="291"/>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k</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54321" name="Group 24"/>
            <p:cNvGrpSpPr/>
            <p:nvPr/>
          </p:nvGrpSpPr>
          <p:grpSpPr>
            <a:xfrm>
              <a:off x="1056" y="1539"/>
              <a:ext cx="1977" cy="305"/>
              <a:chOff x="1056" y="1539"/>
              <a:chExt cx="1977" cy="305"/>
            </a:xfrm>
          </p:grpSpPr>
          <p:sp>
            <p:nvSpPr>
              <p:cNvPr id="17" name="AutoShape 25"/>
              <p:cNvSpPr>
                <a:spLocks noChangeArrowheads="1"/>
              </p:cNvSpPr>
              <p:nvPr/>
            </p:nvSpPr>
            <p:spPr bwMode="auto">
              <a:xfrm>
                <a:off x="1133" y="1584"/>
                <a:ext cx="1814" cy="22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472 h 21600"/>
                  <a:gd name="T14" fmla="*/ 17099 w 21600"/>
                  <a:gd name="T15" fmla="*/ 17128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9525">
                <a:solidFill>
                  <a:sysClr val="windowText" lastClr="000000"/>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8" name="Text Box 26"/>
              <p:cNvSpPr txBox="1">
                <a:spLocks noChangeArrowheads="1"/>
              </p:cNvSpPr>
              <p:nvPr/>
            </p:nvSpPr>
            <p:spPr bwMode="auto">
              <a:xfrm>
                <a:off x="1632" y="1539"/>
                <a:ext cx="816" cy="244"/>
              </a:xfrm>
              <a:prstGeom prst="rect">
                <a:avLst/>
              </a:prstGeom>
              <a:noFill/>
              <a:ln>
                <a:noFill/>
              </a:ln>
            </p:spPr>
            <p:txBody>
              <a:bodyPr tIns="10800" bIns="1080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1</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9" name="AutoShape 27"/>
              <p:cNvSpPr>
                <a:spLocks noChangeArrowheads="1"/>
              </p:cNvSpPr>
              <p:nvPr/>
            </p:nvSpPr>
            <p:spPr bwMode="auto">
              <a:xfrm>
                <a:off x="1133" y="1584"/>
                <a:ext cx="453" cy="228"/>
              </a:xfrm>
              <a:prstGeom prst="rtTriangle">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0" name="AutoShape 28"/>
              <p:cNvSpPr>
                <a:spLocks noChangeArrowheads="1"/>
              </p:cNvSpPr>
              <p:nvPr/>
            </p:nvSpPr>
            <p:spPr bwMode="auto">
              <a:xfrm flipH="1">
                <a:off x="2493" y="1584"/>
                <a:ext cx="453" cy="228"/>
              </a:xfrm>
              <a:prstGeom prst="rtTriangle">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1" name="Text Box 29"/>
              <p:cNvSpPr txBox="1">
                <a:spLocks noChangeArrowheads="1"/>
              </p:cNvSpPr>
              <p:nvPr/>
            </p:nvSpPr>
            <p:spPr bwMode="auto">
              <a:xfrm>
                <a:off x="1056" y="1632"/>
                <a:ext cx="336" cy="212"/>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T</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22" name="Text Box 30"/>
              <p:cNvSpPr txBox="1">
                <a:spLocks noChangeArrowheads="1"/>
              </p:cNvSpPr>
              <p:nvPr/>
            </p:nvSpPr>
            <p:spPr bwMode="auto">
              <a:xfrm>
                <a:off x="2697" y="1632"/>
                <a:ext cx="336" cy="212"/>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F</a:t>
                </a:r>
                <a:endParaRPr kumimoji="1" lang="en-US" altLang="zh-CN" sz="16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12" name="Text Box 31"/>
            <p:cNvSpPr txBox="1">
              <a:spLocks noChangeArrowheads="1"/>
            </p:cNvSpPr>
            <p:nvPr/>
          </p:nvSpPr>
          <p:spPr bwMode="auto">
            <a:xfrm>
              <a:off x="1133" y="1360"/>
              <a:ext cx="1814" cy="227"/>
            </a:xfrm>
            <a:prstGeom prst="rect">
              <a:avLst/>
            </a:prstGeom>
            <a:noFill/>
            <a:ln w="9525">
              <a:solidFill>
                <a:sysClr val="windowText" lastClr="000000"/>
              </a:solidFill>
              <a:miter lim="800000"/>
            </a:ln>
          </p:spPr>
          <p:txBody>
            <a:bodyPr tIns="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b</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3" name="Text Box 32"/>
            <p:cNvSpPr txBox="1">
              <a:spLocks noChangeArrowheads="1"/>
            </p:cNvSpPr>
            <p:nvPr/>
          </p:nvSpPr>
          <p:spPr bwMode="auto">
            <a:xfrm>
              <a:off x="1133" y="2901"/>
              <a:ext cx="1814" cy="227"/>
            </a:xfrm>
            <a:prstGeom prst="rect">
              <a:avLst/>
            </a:prstGeom>
            <a:noFill/>
            <a:ln>
              <a:noFill/>
            </a:ln>
          </p:spPr>
          <p:txBody>
            <a:bodyPr tIns="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Do-Until  </a:t>
              </a:r>
              <a:r>
                <a:rPr kumimoji="1" lang="en-US" altLang="zh-CN" sz="20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0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6</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4" name="Rectangle 33"/>
            <p:cNvSpPr>
              <a:spLocks noChangeArrowheads="1"/>
            </p:cNvSpPr>
            <p:nvPr/>
          </p:nvSpPr>
          <p:spPr bwMode="auto">
            <a:xfrm>
              <a:off x="1133" y="1360"/>
              <a:ext cx="2040" cy="1768"/>
            </a:xfrm>
            <a:prstGeom prst="rect">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5" name="Text Box 34"/>
            <p:cNvSpPr txBox="1">
              <a:spLocks noChangeArrowheads="1"/>
            </p:cNvSpPr>
            <p:nvPr/>
          </p:nvSpPr>
          <p:spPr bwMode="auto">
            <a:xfrm>
              <a:off x="1133" y="1133"/>
              <a:ext cx="2040" cy="227"/>
            </a:xfrm>
            <a:prstGeom prst="rect">
              <a:avLst/>
            </a:prstGeom>
            <a:noFill/>
            <a:ln w="9525">
              <a:solidFill>
                <a:sysClr val="windowText" lastClr="000000"/>
              </a:solidFill>
              <a:miter lim="800000"/>
            </a:ln>
          </p:spPr>
          <p:txBody>
            <a:bodyPr tIns="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6" name="Text Box 35"/>
            <p:cNvSpPr txBox="1">
              <a:spLocks noChangeArrowheads="1"/>
            </p:cNvSpPr>
            <p:nvPr/>
          </p:nvSpPr>
          <p:spPr bwMode="auto">
            <a:xfrm>
              <a:off x="1133" y="3128"/>
              <a:ext cx="2040" cy="227"/>
            </a:xfrm>
            <a:prstGeom prst="rect">
              <a:avLst/>
            </a:prstGeom>
            <a:noFill/>
            <a:ln w="9525">
              <a:solidFill>
                <a:sysClr val="windowText" lastClr="000000"/>
              </a:solidFill>
              <a:miter lim="800000"/>
            </a:ln>
          </p:spPr>
          <p:txBody>
            <a:bodyPr tIns="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j</a:t>
              </a:r>
              <a:endParaRPr kumimoji="1" lang="en-US" altLang="zh-CN" sz="2400" b="0" i="1"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37" name="Group 55"/>
          <p:cNvGrpSpPr/>
          <p:nvPr/>
        </p:nvGrpSpPr>
        <p:grpSpPr>
          <a:xfrm>
            <a:off x="923925" y="4265613"/>
            <a:ext cx="7392988" cy="1970087"/>
            <a:chOff x="240" y="288"/>
            <a:chExt cx="4657" cy="1768"/>
          </a:xfrm>
        </p:grpSpPr>
        <p:sp>
          <p:nvSpPr>
            <p:cNvPr id="38" name="Text Box 56"/>
            <p:cNvSpPr txBox="1">
              <a:spLocks noChangeArrowheads="1"/>
            </p:cNvSpPr>
            <p:nvPr/>
          </p:nvSpPr>
          <p:spPr bwMode="auto">
            <a:xfrm>
              <a:off x="240" y="288"/>
              <a:ext cx="672" cy="249"/>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开始 </a:t>
              </a:r>
              <a:r>
                <a:rPr kumimoji="1"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sym typeface="Symbol" panose="05050102010706020507" pitchFamily="18" charset="2"/>
                </a:rPr>
                <a:t></a:t>
              </a:r>
              <a:endParaRPr kumimoji="1"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sp>
          <p:nvSpPr>
            <p:cNvPr id="39" name="Text Box 57"/>
            <p:cNvSpPr txBox="1">
              <a:spLocks noChangeArrowheads="1"/>
            </p:cNvSpPr>
            <p:nvPr/>
          </p:nvSpPr>
          <p:spPr bwMode="auto">
            <a:xfrm>
              <a:off x="240" y="1775"/>
              <a:ext cx="672" cy="251"/>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rPr>
                <a:t>结束 </a:t>
              </a:r>
              <a:r>
                <a:rPr kumimoji="1"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sym typeface="Symbol" panose="05050102010706020507" pitchFamily="18" charset="2"/>
                </a:rPr>
                <a:t></a:t>
              </a:r>
              <a:endParaRPr kumimoji="1" lang="zh-CN" altLang="en-US" sz="2000" b="0"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mn-cs"/>
              </a:endParaRPr>
            </a:p>
          </p:txBody>
        </p:sp>
        <p:grpSp>
          <p:nvGrpSpPr>
            <p:cNvPr id="54279" name="Group 58"/>
            <p:cNvGrpSpPr/>
            <p:nvPr/>
          </p:nvGrpSpPr>
          <p:grpSpPr>
            <a:xfrm>
              <a:off x="864" y="336"/>
              <a:ext cx="4033" cy="1720"/>
              <a:chOff x="1344" y="864"/>
              <a:chExt cx="4033" cy="1720"/>
            </a:xfrm>
          </p:grpSpPr>
          <p:sp>
            <p:nvSpPr>
              <p:cNvPr id="41" name="Text Box 59"/>
              <p:cNvSpPr txBox="1">
                <a:spLocks noChangeArrowheads="1"/>
              </p:cNvSpPr>
              <p:nvPr/>
            </p:nvSpPr>
            <p:spPr bwMode="auto">
              <a:xfrm>
                <a:off x="1344" y="967"/>
                <a:ext cx="453" cy="271"/>
              </a:xfrm>
              <a:prstGeom prst="rect">
                <a:avLst/>
              </a:prstGeom>
              <a:noFill/>
              <a:ln w="9525">
                <a:solidFill>
                  <a:sysClr val="windowText" lastClr="000000"/>
                </a:solidFill>
                <a:miter lim="800000"/>
              </a:ln>
            </p:spPr>
            <p:txBody>
              <a:bodyPr tIns="108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2" name="Text Box 60"/>
              <p:cNvSpPr txBox="1">
                <a:spLocks noChangeArrowheads="1"/>
              </p:cNvSpPr>
              <p:nvPr/>
            </p:nvSpPr>
            <p:spPr bwMode="auto">
              <a:xfrm>
                <a:off x="1344" y="2154"/>
                <a:ext cx="453" cy="271"/>
              </a:xfrm>
              <a:prstGeom prst="rect">
                <a:avLst/>
              </a:prstGeom>
              <a:noFill/>
              <a:ln w="9525">
                <a:solidFill>
                  <a:sysClr val="windowText" lastClr="000000"/>
                </a:solidFill>
                <a:miter lim="800000"/>
              </a:ln>
            </p:spPr>
            <p:txBody>
              <a:bodyPr tIns="468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j</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3" name="Line 61"/>
              <p:cNvSpPr>
                <a:spLocks noChangeShapeType="1"/>
              </p:cNvSpPr>
              <p:nvPr/>
            </p:nvSpPr>
            <p:spPr bwMode="auto">
              <a:xfrm>
                <a:off x="1344" y="957"/>
                <a:ext cx="0" cy="1473"/>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44" name="Line 62"/>
              <p:cNvSpPr>
                <a:spLocks noChangeShapeType="1"/>
              </p:cNvSpPr>
              <p:nvPr/>
            </p:nvSpPr>
            <p:spPr bwMode="auto">
              <a:xfrm>
                <a:off x="3984" y="1058"/>
                <a:ext cx="0" cy="407"/>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nvGrpSpPr>
              <p:cNvPr id="54284" name="Group 63"/>
              <p:cNvGrpSpPr/>
              <p:nvPr/>
            </p:nvGrpSpPr>
            <p:grpSpPr>
              <a:xfrm>
                <a:off x="3984" y="1060"/>
                <a:ext cx="1393" cy="264"/>
                <a:chOff x="3984" y="1130"/>
                <a:chExt cx="1393" cy="264"/>
              </a:xfrm>
            </p:grpSpPr>
            <p:sp>
              <p:nvSpPr>
                <p:cNvPr id="73" name="Text Box 64"/>
                <p:cNvSpPr txBox="1">
                  <a:spLocks noChangeArrowheads="1"/>
                </p:cNvSpPr>
                <p:nvPr/>
              </p:nvSpPr>
              <p:spPr bwMode="auto">
                <a:xfrm>
                  <a:off x="3984" y="1132"/>
                  <a:ext cx="816" cy="264"/>
                </a:xfrm>
                <a:prstGeom prst="rect">
                  <a:avLst/>
                </a:prstGeom>
                <a:noFill/>
                <a:ln w="9525">
                  <a:solidFill>
                    <a:sysClr val="windowText" lastClr="000000"/>
                  </a:solidFill>
                  <a:miter lim="800000"/>
                </a:ln>
              </p:spPr>
              <p:txBody>
                <a:bodyPr lIns="18000" tIns="10800" rIns="180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Until</a:t>
                  </a: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5</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74" name="Line 65"/>
                <p:cNvSpPr>
                  <a:spLocks noChangeShapeType="1"/>
                </p:cNvSpPr>
                <p:nvPr/>
              </p:nvSpPr>
              <p:spPr bwMode="auto">
                <a:xfrm>
                  <a:off x="4739" y="1132"/>
                  <a:ext cx="0" cy="264"/>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75" name="Line 66"/>
                <p:cNvSpPr>
                  <a:spLocks noChangeShapeType="1"/>
                </p:cNvSpPr>
                <p:nvPr/>
              </p:nvSpPr>
              <p:spPr bwMode="auto">
                <a:xfrm>
                  <a:off x="4801" y="1276"/>
                  <a:ext cx="192"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76" name="Text Box 67"/>
                <p:cNvSpPr txBox="1">
                  <a:spLocks noChangeArrowheads="1"/>
                </p:cNvSpPr>
                <p:nvPr/>
              </p:nvSpPr>
              <p:spPr bwMode="auto">
                <a:xfrm>
                  <a:off x="4993" y="1132"/>
                  <a:ext cx="384" cy="248"/>
                </a:xfrm>
                <a:prstGeom prst="rect">
                  <a:avLst/>
                </a:prstGeom>
                <a:noFill/>
                <a:ln w="9525">
                  <a:solidFill>
                    <a:sysClr val="windowText" lastClr="000000"/>
                  </a:solidFill>
                  <a:miter lim="800000"/>
                </a:ln>
              </p:spPr>
              <p:txBody>
                <a:bodyPr tIns="10800" bIns="1080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i</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sp>
            <p:nvSpPr>
              <p:cNvPr id="46" name="Text Box 68"/>
              <p:cNvSpPr txBox="1">
                <a:spLocks noChangeArrowheads="1"/>
              </p:cNvSpPr>
              <p:nvPr/>
            </p:nvSpPr>
            <p:spPr bwMode="auto">
              <a:xfrm>
                <a:off x="1344" y="1537"/>
                <a:ext cx="816" cy="271"/>
              </a:xfrm>
              <a:prstGeom prst="rect">
                <a:avLst/>
              </a:prstGeom>
              <a:noFill/>
              <a:ln w="9525">
                <a:solidFill>
                  <a:sysClr val="windowText" lastClr="000000"/>
                </a:solidFill>
                <a:miter lim="800000"/>
              </a:ln>
            </p:spPr>
            <p:txBody>
              <a:bodyPr lIns="18000" tIns="10800" rIns="180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Until</a:t>
                </a: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6</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7" name="Line 69"/>
              <p:cNvSpPr>
                <a:spLocks noChangeShapeType="1"/>
              </p:cNvSpPr>
              <p:nvPr/>
            </p:nvSpPr>
            <p:spPr bwMode="auto">
              <a:xfrm>
                <a:off x="2099" y="1537"/>
                <a:ext cx="0" cy="271"/>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48" name="Line 70"/>
              <p:cNvSpPr>
                <a:spLocks noChangeShapeType="1"/>
              </p:cNvSpPr>
              <p:nvPr/>
            </p:nvSpPr>
            <p:spPr bwMode="auto">
              <a:xfrm>
                <a:off x="2161" y="1684"/>
                <a:ext cx="192"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nvGrpSpPr>
              <p:cNvPr id="54288" name="Group 71"/>
              <p:cNvGrpSpPr/>
              <p:nvPr/>
            </p:nvGrpSpPr>
            <p:grpSpPr>
              <a:xfrm>
                <a:off x="2353" y="1287"/>
                <a:ext cx="1195" cy="1130"/>
                <a:chOff x="2353" y="1287"/>
                <a:chExt cx="1195" cy="1130"/>
              </a:xfrm>
            </p:grpSpPr>
            <p:sp>
              <p:nvSpPr>
                <p:cNvPr id="62" name="Text Box 72"/>
                <p:cNvSpPr txBox="1">
                  <a:spLocks noChangeArrowheads="1"/>
                </p:cNvSpPr>
                <p:nvPr/>
              </p:nvSpPr>
              <p:spPr bwMode="auto">
                <a:xfrm>
                  <a:off x="2353" y="1289"/>
                  <a:ext cx="384" cy="248"/>
                </a:xfrm>
                <a:prstGeom prst="rect">
                  <a:avLst/>
                </a:prstGeom>
                <a:noFill/>
                <a:ln w="9525">
                  <a:solidFill>
                    <a:sysClr val="windowText" lastClr="000000"/>
                  </a:solidFill>
                  <a:miter lim="800000"/>
                </a:ln>
              </p:spPr>
              <p:txBody>
                <a:bodyPr tIns="10800" bIns="1080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b</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63" name="Line 73"/>
                <p:cNvSpPr>
                  <a:spLocks noChangeShapeType="1"/>
                </p:cNvSpPr>
                <p:nvPr/>
              </p:nvSpPr>
              <p:spPr bwMode="auto">
                <a:xfrm>
                  <a:off x="2353" y="1296"/>
                  <a:ext cx="0" cy="977"/>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nvGrpSpPr>
                <p:cNvPr id="54303" name="Group 74"/>
                <p:cNvGrpSpPr/>
                <p:nvPr/>
              </p:nvGrpSpPr>
              <p:grpSpPr>
                <a:xfrm>
                  <a:off x="2353" y="1881"/>
                  <a:ext cx="1195" cy="536"/>
                  <a:chOff x="3314" y="974"/>
                  <a:chExt cx="1195" cy="536"/>
                </a:xfrm>
              </p:grpSpPr>
              <p:grpSp>
                <p:nvGrpSpPr>
                  <p:cNvPr id="54304" name="Group 75"/>
                  <p:cNvGrpSpPr/>
                  <p:nvPr/>
                </p:nvGrpSpPr>
                <p:grpSpPr>
                  <a:xfrm>
                    <a:off x="3314" y="974"/>
                    <a:ext cx="816" cy="192"/>
                    <a:chOff x="1541" y="430"/>
                    <a:chExt cx="816" cy="192"/>
                  </a:xfrm>
                </p:grpSpPr>
                <p:sp>
                  <p:nvSpPr>
                    <p:cNvPr id="71" name="Line 76"/>
                    <p:cNvSpPr>
                      <a:spLocks noChangeShapeType="1"/>
                    </p:cNvSpPr>
                    <p:nvPr/>
                  </p:nvSpPr>
                  <p:spPr bwMode="auto">
                    <a:xfrm>
                      <a:off x="1541" y="432"/>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72" name="Line 77"/>
                    <p:cNvSpPr>
                      <a:spLocks noChangeShapeType="1"/>
                    </p:cNvSpPr>
                    <p:nvPr/>
                  </p:nvSpPr>
                  <p:spPr bwMode="auto">
                    <a:xfrm flipH="1">
                      <a:off x="2040" y="432"/>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54305" name="Group 78"/>
                  <p:cNvGrpSpPr/>
                  <p:nvPr/>
                </p:nvGrpSpPr>
                <p:grpSpPr>
                  <a:xfrm flipV="1">
                    <a:off x="3314" y="1156"/>
                    <a:ext cx="816" cy="192"/>
                    <a:chOff x="1541" y="430"/>
                    <a:chExt cx="816" cy="192"/>
                  </a:xfrm>
                </p:grpSpPr>
                <p:sp>
                  <p:nvSpPr>
                    <p:cNvPr id="69" name="Line 79"/>
                    <p:cNvSpPr>
                      <a:spLocks noChangeShapeType="1"/>
                    </p:cNvSpPr>
                    <p:nvPr/>
                  </p:nvSpPr>
                  <p:spPr bwMode="auto">
                    <a:xfrm>
                      <a:off x="1541" y="430"/>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70" name="Line 80"/>
                    <p:cNvSpPr>
                      <a:spLocks noChangeShapeType="1"/>
                    </p:cNvSpPr>
                    <p:nvPr/>
                  </p:nvSpPr>
                  <p:spPr bwMode="auto">
                    <a:xfrm flipH="1">
                      <a:off x="2040" y="430"/>
                      <a:ext cx="192" cy="187"/>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sp>
                <p:nvSpPr>
                  <p:cNvPr id="67" name="Text Box 81"/>
                  <p:cNvSpPr txBox="1">
                    <a:spLocks noChangeArrowheads="1"/>
                  </p:cNvSpPr>
                  <p:nvPr/>
                </p:nvSpPr>
                <p:spPr bwMode="auto">
                  <a:xfrm>
                    <a:off x="3405" y="1026"/>
                    <a:ext cx="384" cy="289"/>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1</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68" name="Text Box 82"/>
                  <p:cNvSpPr txBox="1">
                    <a:spLocks noChangeArrowheads="1"/>
                  </p:cNvSpPr>
                  <p:nvPr/>
                </p:nvSpPr>
                <p:spPr bwMode="auto">
                  <a:xfrm>
                    <a:off x="4125" y="1217"/>
                    <a:ext cx="384" cy="293"/>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k</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sp>
            <p:nvSpPr>
              <p:cNvPr id="50" name="Text Box 83"/>
              <p:cNvSpPr txBox="1">
                <a:spLocks noChangeArrowheads="1"/>
              </p:cNvSpPr>
              <p:nvPr/>
            </p:nvSpPr>
            <p:spPr bwMode="auto">
              <a:xfrm>
                <a:off x="3168" y="864"/>
                <a:ext cx="384" cy="249"/>
              </a:xfrm>
              <a:prstGeom prst="rect">
                <a:avLst/>
              </a:prstGeom>
              <a:noFill/>
              <a:ln w="9525">
                <a:solidFill>
                  <a:sysClr val="windowText" lastClr="000000"/>
                </a:solidFill>
                <a:miter lim="800000"/>
              </a:ln>
            </p:spPr>
            <p:txBody>
              <a:bodyPr tIns="10800" bIns="1080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f</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1" name="Line 84"/>
              <p:cNvSpPr>
                <a:spLocks noChangeShapeType="1"/>
              </p:cNvSpPr>
              <p:nvPr/>
            </p:nvSpPr>
            <p:spPr bwMode="auto">
              <a:xfrm>
                <a:off x="3168" y="873"/>
                <a:ext cx="0" cy="1021"/>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nvGrpSpPr>
              <p:cNvPr id="54291" name="Group 85"/>
              <p:cNvGrpSpPr/>
              <p:nvPr/>
            </p:nvGrpSpPr>
            <p:grpSpPr>
              <a:xfrm>
                <a:off x="3168" y="1458"/>
                <a:ext cx="816" cy="192"/>
                <a:chOff x="1541" y="430"/>
                <a:chExt cx="816" cy="192"/>
              </a:xfrm>
            </p:grpSpPr>
            <p:sp>
              <p:nvSpPr>
                <p:cNvPr id="60" name="Line 86"/>
                <p:cNvSpPr>
                  <a:spLocks noChangeShapeType="1"/>
                </p:cNvSpPr>
                <p:nvPr/>
              </p:nvSpPr>
              <p:spPr bwMode="auto">
                <a:xfrm>
                  <a:off x="1541" y="432"/>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61" name="Line 87"/>
                <p:cNvSpPr>
                  <a:spLocks noChangeShapeType="1"/>
                </p:cNvSpPr>
                <p:nvPr/>
              </p:nvSpPr>
              <p:spPr bwMode="auto">
                <a:xfrm flipH="1">
                  <a:off x="2040" y="432"/>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nvGrpSpPr>
              <p:cNvPr id="54292" name="Group 88"/>
              <p:cNvGrpSpPr/>
              <p:nvPr/>
            </p:nvGrpSpPr>
            <p:grpSpPr>
              <a:xfrm flipV="1">
                <a:off x="3168" y="1640"/>
                <a:ext cx="816" cy="192"/>
                <a:chOff x="1541" y="430"/>
                <a:chExt cx="816" cy="192"/>
              </a:xfrm>
            </p:grpSpPr>
            <p:sp>
              <p:nvSpPr>
                <p:cNvPr id="58" name="Line 89"/>
                <p:cNvSpPr>
                  <a:spLocks noChangeShapeType="1"/>
                </p:cNvSpPr>
                <p:nvPr/>
              </p:nvSpPr>
              <p:spPr bwMode="auto">
                <a:xfrm>
                  <a:off x="1541" y="430"/>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59" name="Line 90"/>
                <p:cNvSpPr>
                  <a:spLocks noChangeShapeType="1"/>
                </p:cNvSpPr>
                <p:nvPr/>
              </p:nvSpPr>
              <p:spPr bwMode="auto">
                <a:xfrm flipH="1">
                  <a:off x="2040" y="430"/>
                  <a:ext cx="192" cy="187"/>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sp>
            <p:nvSpPr>
              <p:cNvPr id="54" name="Text Box 91"/>
              <p:cNvSpPr txBox="1">
                <a:spLocks noChangeArrowheads="1"/>
              </p:cNvSpPr>
              <p:nvPr/>
            </p:nvSpPr>
            <p:spPr bwMode="auto">
              <a:xfrm>
                <a:off x="3259" y="1508"/>
                <a:ext cx="384" cy="288"/>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4</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5" name="Text Box 92"/>
              <p:cNvSpPr txBox="1">
                <a:spLocks noChangeArrowheads="1"/>
              </p:cNvSpPr>
              <p:nvPr/>
            </p:nvSpPr>
            <p:spPr bwMode="auto">
              <a:xfrm>
                <a:off x="3980" y="1936"/>
                <a:ext cx="453" cy="272"/>
              </a:xfrm>
              <a:prstGeom prst="rect">
                <a:avLst/>
              </a:prstGeom>
              <a:noFill/>
              <a:ln w="9525">
                <a:solidFill>
                  <a:sysClr val="windowText" lastClr="000000"/>
                </a:solidFill>
                <a:miter lim="800000"/>
              </a:ln>
            </p:spPr>
            <p:txBody>
              <a:bodyPr tIns="108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g</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6" name="Text Box 93"/>
              <p:cNvSpPr txBox="1">
                <a:spLocks noChangeArrowheads="1"/>
              </p:cNvSpPr>
              <p:nvPr/>
            </p:nvSpPr>
            <p:spPr bwMode="auto">
              <a:xfrm>
                <a:off x="3980" y="2298"/>
                <a:ext cx="453" cy="272"/>
              </a:xfrm>
              <a:prstGeom prst="rect">
                <a:avLst/>
              </a:prstGeom>
              <a:noFill/>
              <a:ln w="9525">
                <a:solidFill>
                  <a:sysClr val="windowText" lastClr="000000"/>
                </a:solidFill>
                <a:miter lim="800000"/>
              </a:ln>
            </p:spPr>
            <p:txBody>
              <a:bodyPr tIns="468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h</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7" name="Line 94"/>
              <p:cNvSpPr>
                <a:spLocks noChangeShapeType="1"/>
              </p:cNvSpPr>
              <p:nvPr/>
            </p:nvSpPr>
            <p:spPr bwMode="auto">
              <a:xfrm>
                <a:off x="3980" y="1836"/>
                <a:ext cx="0" cy="748"/>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23" presetClass="entr" presetSubtype="528"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500" fill="hold"/>
                                        <p:tgtEl>
                                          <p:spTgt spid="37"/>
                                        </p:tgtEl>
                                        <p:attrNameLst>
                                          <p:attrName>ppt_w</p:attrName>
                                        </p:attrNameLst>
                                      </p:cBhvr>
                                      <p:tavLst>
                                        <p:tav tm="0">
                                          <p:val>
                                            <p:fltVal val="0.000000"/>
                                          </p:val>
                                        </p:tav>
                                        <p:tav tm="100000">
                                          <p:val>
                                            <p:strVal val="#ppt_w"/>
                                          </p:val>
                                        </p:tav>
                                      </p:tavLst>
                                    </p:anim>
                                    <p:anim calcmode="lin" valueType="num">
                                      <p:cBhvr>
                                        <p:cTn id="13" dur="500" fill="hold"/>
                                        <p:tgtEl>
                                          <p:spTgt spid="37"/>
                                        </p:tgtEl>
                                        <p:attrNameLst>
                                          <p:attrName>ppt_h</p:attrName>
                                        </p:attrNameLst>
                                      </p:cBhvr>
                                      <p:tavLst>
                                        <p:tav tm="0">
                                          <p:val>
                                            <p:fltVal val="0.000000"/>
                                          </p:val>
                                        </p:tav>
                                        <p:tav tm="100000">
                                          <p:val>
                                            <p:strVal val="#ppt_h"/>
                                          </p:val>
                                        </p:tav>
                                      </p:tavLst>
                                    </p:anim>
                                    <p:anim calcmode="lin" valueType="num">
                                      <p:cBhvr>
                                        <p:cTn id="14" dur="500" fill="hold"/>
                                        <p:tgtEl>
                                          <p:spTgt spid="37"/>
                                        </p:tgtEl>
                                        <p:attrNameLst>
                                          <p:attrName>ppt_x</p:attrName>
                                        </p:attrNameLst>
                                      </p:cBhvr>
                                      <p:tavLst>
                                        <p:tav tm="0">
                                          <p:val>
                                            <p:fltVal val="0.500000"/>
                                          </p:val>
                                        </p:tav>
                                        <p:tav tm="100000">
                                          <p:val>
                                            <p:strVal val="#ppt_x"/>
                                          </p:val>
                                        </p:tav>
                                      </p:tavLst>
                                    </p:anim>
                                    <p:anim calcmode="lin" valueType="num">
                                      <p:cBhvr>
                                        <p:cTn id="15" dur="500" fill="hold"/>
                                        <p:tgtEl>
                                          <p:spTgt spid="37"/>
                                        </p:tgtEl>
                                        <p:attrNameLst>
                                          <p:attrName>ppt_y</p:attrName>
                                        </p:attrNameLst>
                                      </p:cBhvr>
                                      <p:tavLst>
                                        <p:tav tm="0">
                                          <p:val>
                                            <p:fltVal val="0.500000"/>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标题 1"/>
          <p:cNvSpPr>
            <a:spLocks noGrp="1"/>
          </p:cNvSpPr>
          <p:nvPr>
            <p:ph type="title"/>
          </p:nvPr>
        </p:nvSpPr>
        <p:spPr>
          <a:ln/>
        </p:spPr>
        <p:txBody>
          <a:bodyPr vert="horz" wrap="square" lIns="91440" tIns="45720" rIns="91440" bIns="45720" anchor="ctr" anchorCtr="0"/>
          <a:p>
            <a:r>
              <a:rPr lang="en-US" altLang="zh-CN" dirty="0"/>
              <a:t>PAD</a:t>
            </a:r>
            <a:r>
              <a:rPr lang="zh-CN" altLang="en-US" dirty="0"/>
              <a:t>图求精</a:t>
            </a:r>
            <a:endParaRPr lang="zh-CN" altLang="en-US" dirty="0"/>
          </a:p>
        </p:txBody>
      </p:sp>
      <p:sp>
        <p:nvSpPr>
          <p:cNvPr id="55299" name="内容占位符 2"/>
          <p:cNvSpPr>
            <a:spLocks noGrp="1"/>
          </p:cNvSpPr>
          <p:nvPr>
            <p:ph idx="1"/>
          </p:nvPr>
        </p:nvSpPr>
        <p:spPr>
          <a:xfrm>
            <a:off x="766763" y="1190625"/>
            <a:ext cx="7391400" cy="554038"/>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例 使用</a:t>
            </a:r>
            <a:r>
              <a:rPr lang="en-US" altLang="zh-CN" dirty="0">
                <a:latin typeface="华文中宋" panose="02010600040101010101" pitchFamily="2" charset="-122"/>
                <a:ea typeface="华文中宋" panose="02010600040101010101" pitchFamily="2" charset="-122"/>
                <a:cs typeface="+mn-cs"/>
              </a:rPr>
              <a:t>PAD</a:t>
            </a:r>
            <a:r>
              <a:rPr lang="zh-CN" altLang="en-US" dirty="0">
                <a:latin typeface="华文中宋" panose="02010600040101010101" pitchFamily="2" charset="-122"/>
                <a:ea typeface="华文中宋" panose="02010600040101010101" pitchFamily="2" charset="-122"/>
                <a:cs typeface="+mn-cs"/>
              </a:rPr>
              <a:t>图提供的定义功能来</a:t>
            </a:r>
            <a:r>
              <a:rPr lang="zh-CN" altLang="en-US" dirty="0">
                <a:solidFill>
                  <a:srgbClr val="C00000"/>
                </a:solidFill>
                <a:latin typeface="华文中宋" panose="02010600040101010101" pitchFamily="2" charset="-122"/>
                <a:ea typeface="华文中宋" panose="02010600040101010101" pitchFamily="2" charset="-122"/>
                <a:cs typeface="+mn-cs"/>
              </a:rPr>
              <a:t>逐步求精</a:t>
            </a:r>
            <a:endParaRPr lang="zh-CN" altLang="en-US" dirty="0">
              <a:solidFill>
                <a:srgbClr val="C00000"/>
              </a:solidFill>
              <a:latin typeface="华文中宋" panose="02010600040101010101" pitchFamily="2" charset="-122"/>
              <a:ea typeface="华文中宋" panose="02010600040101010101" pitchFamily="2" charset="-122"/>
              <a:cs typeface="+mn-cs"/>
            </a:endParaRPr>
          </a:p>
        </p:txBody>
      </p:sp>
      <p:sp>
        <p:nvSpPr>
          <p:cNvPr id="5530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5301" name="Picture 3" descr="rj63"/>
          <p:cNvPicPr>
            <a:picLocks noChangeAspect="1"/>
          </p:cNvPicPr>
          <p:nvPr/>
        </p:nvPicPr>
        <p:blipFill>
          <a:blip r:embed="rId1"/>
          <a:stretch>
            <a:fillRect/>
          </a:stretch>
        </p:blipFill>
        <p:spPr>
          <a:xfrm>
            <a:off x="611188" y="2058988"/>
            <a:ext cx="7704137" cy="4033837"/>
          </a:xfrm>
          <a:prstGeom prst="rect">
            <a:avLst/>
          </a:prstGeom>
          <a:noFill/>
          <a:ln w="9525">
            <a:noFill/>
          </a:ln>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标题 1"/>
          <p:cNvSpPr>
            <a:spLocks noGrp="1"/>
          </p:cNvSpPr>
          <p:nvPr>
            <p:ph type="title"/>
          </p:nvPr>
        </p:nvSpPr>
        <p:spPr>
          <a:ln/>
        </p:spPr>
        <p:txBody>
          <a:bodyPr vert="horz" wrap="square" lIns="91440" tIns="45720" rIns="91440" bIns="45720" anchor="ctr" anchorCtr="0"/>
          <a:p>
            <a:r>
              <a:rPr lang="en-US" altLang="zh-CN" dirty="0"/>
              <a:t>N-S</a:t>
            </a:r>
            <a:r>
              <a:rPr lang="zh-CN" altLang="en-US" dirty="0"/>
              <a:t>图与</a:t>
            </a:r>
            <a:r>
              <a:rPr lang="en-US" altLang="zh-CN" dirty="0"/>
              <a:t>PAD</a:t>
            </a:r>
            <a:r>
              <a:rPr lang="zh-CN" altLang="en-US" dirty="0"/>
              <a:t>图的转换</a:t>
            </a:r>
            <a:endParaRPr lang="zh-CN" altLang="en-US" dirty="0"/>
          </a:p>
        </p:txBody>
      </p:sp>
      <p:sp>
        <p:nvSpPr>
          <p:cNvPr id="56323" name="内容占位符 2"/>
          <p:cNvSpPr>
            <a:spLocks noGrp="1"/>
          </p:cNvSpPr>
          <p:nvPr>
            <p:ph idx="1"/>
          </p:nvPr>
        </p:nvSpPr>
        <p:spPr>
          <a:xfrm>
            <a:off x="827088" y="1379538"/>
            <a:ext cx="7391400" cy="608012"/>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使用</a:t>
            </a:r>
            <a:r>
              <a:rPr lang="en-US" altLang="zh-CN" dirty="0">
                <a:latin typeface="华文中宋" panose="02010600040101010101" pitchFamily="2" charset="-122"/>
                <a:ea typeface="+mn-ea"/>
                <a:cs typeface="+mn-cs"/>
              </a:rPr>
              <a:t>PAD</a:t>
            </a:r>
            <a:r>
              <a:rPr lang="zh-CN" altLang="en-US" dirty="0">
                <a:latin typeface="华文中宋" panose="02010600040101010101" pitchFamily="2" charset="-122"/>
                <a:ea typeface="华文中宋" panose="02010600040101010101" pitchFamily="2" charset="-122"/>
                <a:cs typeface="+mn-cs"/>
              </a:rPr>
              <a:t>图提供的定义功能来逐步求精</a:t>
            </a:r>
            <a:endParaRPr lang="zh-CN" altLang="en-US" dirty="0">
              <a:latin typeface="华文中宋" panose="02010600040101010101" pitchFamily="2" charset="-122"/>
              <a:ea typeface="华文中宋" panose="02010600040101010101" pitchFamily="2" charset="-122"/>
              <a:cs typeface="+mn-cs"/>
            </a:endParaRPr>
          </a:p>
        </p:txBody>
      </p:sp>
      <p:sp>
        <p:nvSpPr>
          <p:cNvPr id="5632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5" name="Group 36"/>
          <p:cNvGrpSpPr/>
          <p:nvPr/>
        </p:nvGrpSpPr>
        <p:grpSpPr>
          <a:xfrm>
            <a:off x="460375" y="2670175"/>
            <a:ext cx="2887663" cy="2054225"/>
            <a:chOff x="3168" y="859"/>
            <a:chExt cx="1819" cy="1294"/>
          </a:xfrm>
        </p:grpSpPr>
        <p:grpSp>
          <p:nvGrpSpPr>
            <p:cNvPr id="56352" name="Group 37"/>
            <p:cNvGrpSpPr/>
            <p:nvPr/>
          </p:nvGrpSpPr>
          <p:grpSpPr>
            <a:xfrm>
              <a:off x="3173" y="1106"/>
              <a:ext cx="1814" cy="1047"/>
              <a:chOff x="3173" y="1106"/>
              <a:chExt cx="1814" cy="1047"/>
            </a:xfrm>
          </p:grpSpPr>
          <p:grpSp>
            <p:nvGrpSpPr>
              <p:cNvPr id="56354" name="Group 38"/>
              <p:cNvGrpSpPr/>
              <p:nvPr/>
            </p:nvGrpSpPr>
            <p:grpSpPr>
              <a:xfrm>
                <a:off x="3173" y="1106"/>
                <a:ext cx="1814" cy="259"/>
                <a:chOff x="3173" y="1106"/>
                <a:chExt cx="1814" cy="259"/>
              </a:xfrm>
            </p:grpSpPr>
            <p:sp>
              <p:nvSpPr>
                <p:cNvPr id="19" name="AutoShape 39"/>
                <p:cNvSpPr>
                  <a:spLocks noChangeArrowheads="1"/>
                </p:cNvSpPr>
                <p:nvPr/>
              </p:nvSpPr>
              <p:spPr bwMode="auto">
                <a:xfrm>
                  <a:off x="3173" y="1133"/>
                  <a:ext cx="1814" cy="22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472 h 21600"/>
                    <a:gd name="T14" fmla="*/ 17099 w 21600"/>
                    <a:gd name="T15" fmla="*/ 17128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9525">
                  <a:solidFill>
                    <a:sysClr val="windowText" lastClr="000000"/>
                  </a:solidFill>
                  <a:miter lim="800000"/>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0" name="AutoShape 40"/>
                <p:cNvSpPr>
                  <a:spLocks noChangeArrowheads="1"/>
                </p:cNvSpPr>
                <p:nvPr/>
              </p:nvSpPr>
              <p:spPr bwMode="auto">
                <a:xfrm>
                  <a:off x="3173" y="1133"/>
                  <a:ext cx="453" cy="227"/>
                </a:xfrm>
                <a:prstGeom prst="rtTriangle">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1" name="AutoShape 41"/>
                <p:cNvSpPr>
                  <a:spLocks noChangeArrowheads="1"/>
                </p:cNvSpPr>
                <p:nvPr/>
              </p:nvSpPr>
              <p:spPr bwMode="auto">
                <a:xfrm flipH="1">
                  <a:off x="4534" y="1133"/>
                  <a:ext cx="453" cy="227"/>
                </a:xfrm>
                <a:prstGeom prst="rtTriangle">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2" name="Text Box 42"/>
                <p:cNvSpPr txBox="1">
                  <a:spLocks noChangeArrowheads="1"/>
                </p:cNvSpPr>
                <p:nvPr/>
              </p:nvSpPr>
              <p:spPr bwMode="auto">
                <a:xfrm>
                  <a:off x="3600" y="1106"/>
                  <a:ext cx="960" cy="259"/>
                </a:xfrm>
                <a:prstGeom prst="rect">
                  <a:avLst/>
                </a:prstGeom>
                <a:noFill/>
                <a:ln>
                  <a:noFill/>
                </a:ln>
              </p:spPr>
              <p:txBody>
                <a:bodyPr tIns="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2</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56355" name="Group 43"/>
              <p:cNvGrpSpPr/>
              <p:nvPr/>
            </p:nvGrpSpPr>
            <p:grpSpPr>
              <a:xfrm>
                <a:off x="3173" y="1360"/>
                <a:ext cx="907" cy="793"/>
                <a:chOff x="3173" y="1360"/>
                <a:chExt cx="907" cy="793"/>
              </a:xfrm>
            </p:grpSpPr>
            <p:sp>
              <p:nvSpPr>
                <p:cNvPr id="15" name="Text Box 44"/>
                <p:cNvSpPr txBox="1">
                  <a:spLocks noChangeArrowheads="1"/>
                </p:cNvSpPr>
                <p:nvPr/>
              </p:nvSpPr>
              <p:spPr bwMode="auto">
                <a:xfrm>
                  <a:off x="3173" y="1360"/>
                  <a:ext cx="907" cy="227"/>
                </a:xfrm>
                <a:prstGeom prst="rect">
                  <a:avLst/>
                </a:prstGeom>
                <a:noFill/>
                <a:ln w="9525">
                  <a:solidFill>
                    <a:sysClr val="windowText" lastClr="000000"/>
                  </a:solidFill>
                  <a:miter lim="800000"/>
                </a:ln>
              </p:spPr>
              <p:txBody>
                <a:bodyPr tIns="108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6" name="Rectangle 45"/>
                <p:cNvSpPr>
                  <a:spLocks noChangeArrowheads="1"/>
                </p:cNvSpPr>
                <p:nvPr/>
              </p:nvSpPr>
              <p:spPr bwMode="auto">
                <a:xfrm>
                  <a:off x="3173" y="1586"/>
                  <a:ext cx="907" cy="567"/>
                </a:xfrm>
                <a:prstGeom prst="rect">
                  <a:avLst/>
                </a:prstGeom>
                <a:noFill/>
                <a:ln w="9525">
                  <a:solidFill>
                    <a:sysClr val="windowText" lastClr="000000"/>
                  </a:solidFill>
                  <a:miter lim="800000"/>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7" name="Text Box 46"/>
                <p:cNvSpPr txBox="1">
                  <a:spLocks noChangeArrowheads="1"/>
                </p:cNvSpPr>
                <p:nvPr/>
              </p:nvSpPr>
              <p:spPr bwMode="auto">
                <a:xfrm>
                  <a:off x="3513" y="1858"/>
                  <a:ext cx="567" cy="295"/>
                </a:xfrm>
                <a:prstGeom prst="rect">
                  <a:avLst/>
                </a:prstGeom>
                <a:noFill/>
                <a:ln w="9525">
                  <a:solidFill>
                    <a:sysClr val="windowText" lastClr="000000"/>
                  </a:solidFill>
                  <a:miter lim="800000"/>
                </a:ln>
              </p:spPr>
              <p:txBody>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c</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8" name="Text Box 47"/>
                <p:cNvSpPr txBox="1">
                  <a:spLocks noChangeArrowheads="1"/>
                </p:cNvSpPr>
                <p:nvPr/>
              </p:nvSpPr>
              <p:spPr bwMode="auto">
                <a:xfrm>
                  <a:off x="3189" y="1632"/>
                  <a:ext cx="795" cy="442"/>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Do-While </a:t>
                  </a:r>
                  <a:r>
                    <a:rPr kumimoji="1" lang="en-US" altLang="zh-CN" sz="20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0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56356" name="Group 48"/>
              <p:cNvGrpSpPr/>
              <p:nvPr/>
            </p:nvGrpSpPr>
            <p:grpSpPr>
              <a:xfrm>
                <a:off x="4080" y="1360"/>
                <a:ext cx="907" cy="793"/>
                <a:chOff x="4080" y="1360"/>
                <a:chExt cx="907" cy="793"/>
              </a:xfrm>
            </p:grpSpPr>
            <p:sp>
              <p:nvSpPr>
                <p:cNvPr id="11" name="Text Box 49"/>
                <p:cNvSpPr txBox="1">
                  <a:spLocks noChangeArrowheads="1"/>
                </p:cNvSpPr>
                <p:nvPr/>
              </p:nvSpPr>
              <p:spPr bwMode="auto">
                <a:xfrm>
                  <a:off x="4080" y="1360"/>
                  <a:ext cx="453" cy="227"/>
                </a:xfrm>
                <a:prstGeom prst="rect">
                  <a:avLst/>
                </a:prstGeom>
                <a:noFill/>
                <a:ln w="9525">
                  <a:solidFill>
                    <a:sysClr val="windowText" lastClr="000000"/>
                  </a:solidFill>
                  <a:miter lim="800000"/>
                </a:ln>
              </p:spPr>
              <p:txBody>
                <a:bodyPr tIns="108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2" name="Text Box 50"/>
                <p:cNvSpPr txBox="1">
                  <a:spLocks noChangeArrowheads="1"/>
                </p:cNvSpPr>
                <p:nvPr/>
              </p:nvSpPr>
              <p:spPr bwMode="auto">
                <a:xfrm>
                  <a:off x="4534" y="1360"/>
                  <a:ext cx="453" cy="227"/>
                </a:xfrm>
                <a:prstGeom prst="rect">
                  <a:avLst/>
                </a:prstGeom>
                <a:noFill/>
                <a:ln w="9525">
                  <a:solidFill>
                    <a:sysClr val="windowText" lastClr="000000"/>
                  </a:solidFill>
                  <a:miter lim="800000"/>
                </a:ln>
              </p:spPr>
              <p:txBody>
                <a:bodyPr tIns="108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3" name="Text Box 51"/>
                <p:cNvSpPr txBox="1">
                  <a:spLocks noChangeArrowheads="1"/>
                </p:cNvSpPr>
                <p:nvPr/>
              </p:nvSpPr>
              <p:spPr bwMode="auto">
                <a:xfrm>
                  <a:off x="4080" y="1586"/>
                  <a:ext cx="453" cy="567"/>
                </a:xfrm>
                <a:prstGeom prst="rect">
                  <a:avLst/>
                </a:prstGeom>
                <a:noFill/>
                <a:ln w="9525">
                  <a:solidFill>
                    <a:sysClr val="windowText" lastClr="000000"/>
                  </a:solidFill>
                  <a:miter lim="800000"/>
                </a:ln>
              </p:spPr>
              <p:txBody>
                <a:bodyPr tIns="2520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14" name="Text Box 52"/>
                <p:cNvSpPr txBox="1">
                  <a:spLocks noChangeArrowheads="1"/>
                </p:cNvSpPr>
                <p:nvPr/>
              </p:nvSpPr>
              <p:spPr bwMode="auto">
                <a:xfrm>
                  <a:off x="4534" y="1586"/>
                  <a:ext cx="453" cy="567"/>
                </a:xfrm>
                <a:prstGeom prst="rect">
                  <a:avLst/>
                </a:prstGeom>
                <a:noFill/>
                <a:ln w="9525">
                  <a:solidFill>
                    <a:sysClr val="windowText" lastClr="000000"/>
                  </a:solidFill>
                  <a:miter lim="800000"/>
                </a:ln>
              </p:spPr>
              <p:txBody>
                <a:bodyPr tIns="2520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e</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sp>
          <p:nvSpPr>
            <p:cNvPr id="7" name="Text Box 53"/>
            <p:cNvSpPr txBox="1">
              <a:spLocks noChangeArrowheads="1"/>
            </p:cNvSpPr>
            <p:nvPr/>
          </p:nvSpPr>
          <p:spPr bwMode="auto">
            <a:xfrm>
              <a:off x="3168" y="859"/>
              <a:ext cx="384" cy="288"/>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k </a:t>
              </a: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nvGrpSpPr>
          <p:cNvPr id="23" name="Group 95"/>
          <p:cNvGrpSpPr/>
          <p:nvPr/>
        </p:nvGrpSpPr>
        <p:grpSpPr>
          <a:xfrm>
            <a:off x="4005263" y="3148013"/>
            <a:ext cx="5030787" cy="1649412"/>
            <a:chOff x="1200" y="2352"/>
            <a:chExt cx="3169" cy="1039"/>
          </a:xfrm>
        </p:grpSpPr>
        <p:grpSp>
          <p:nvGrpSpPr>
            <p:cNvPr id="56327" name="Group 96"/>
            <p:cNvGrpSpPr/>
            <p:nvPr/>
          </p:nvGrpSpPr>
          <p:grpSpPr>
            <a:xfrm>
              <a:off x="1582" y="2592"/>
              <a:ext cx="578" cy="313"/>
              <a:chOff x="3454" y="1872"/>
              <a:chExt cx="578" cy="313"/>
            </a:xfrm>
          </p:grpSpPr>
          <p:sp>
            <p:nvSpPr>
              <p:cNvPr id="46" name="Text Box 97"/>
              <p:cNvSpPr txBox="1">
                <a:spLocks noChangeArrowheads="1"/>
              </p:cNvSpPr>
              <p:nvPr/>
            </p:nvSpPr>
            <p:spPr bwMode="auto">
              <a:xfrm>
                <a:off x="3456" y="1872"/>
                <a:ext cx="576" cy="250"/>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def</a:t>
                </a:r>
                <a:endPar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7" name="Line 98"/>
              <p:cNvSpPr>
                <a:spLocks noChangeShapeType="1"/>
              </p:cNvSpPr>
              <p:nvPr/>
            </p:nvSpPr>
            <p:spPr bwMode="auto">
              <a:xfrm>
                <a:off x="3456" y="2112"/>
                <a:ext cx="57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48" name="Line 99"/>
              <p:cNvSpPr>
                <a:spLocks noChangeShapeType="1"/>
              </p:cNvSpPr>
              <p:nvPr/>
            </p:nvSpPr>
            <p:spPr bwMode="auto">
              <a:xfrm>
                <a:off x="3454" y="2185"/>
                <a:ext cx="57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grpSp>
        <p:sp>
          <p:nvSpPr>
            <p:cNvPr id="25" name="Text Box 100"/>
            <p:cNvSpPr txBox="1">
              <a:spLocks noChangeArrowheads="1"/>
            </p:cNvSpPr>
            <p:nvPr/>
          </p:nvSpPr>
          <p:spPr bwMode="auto">
            <a:xfrm>
              <a:off x="1200" y="2688"/>
              <a:ext cx="384" cy="294"/>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k</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56329" name="Group 101"/>
            <p:cNvGrpSpPr/>
            <p:nvPr/>
          </p:nvGrpSpPr>
          <p:grpSpPr>
            <a:xfrm>
              <a:off x="2112" y="2352"/>
              <a:ext cx="2257" cy="1039"/>
              <a:chOff x="2112" y="2276"/>
              <a:chExt cx="2257" cy="1039"/>
            </a:xfrm>
          </p:grpSpPr>
          <p:sp>
            <p:nvSpPr>
              <p:cNvPr id="27" name="Line 102"/>
              <p:cNvSpPr>
                <a:spLocks noChangeShapeType="1"/>
              </p:cNvSpPr>
              <p:nvPr/>
            </p:nvSpPr>
            <p:spPr bwMode="auto">
              <a:xfrm>
                <a:off x="2160" y="2414"/>
                <a:ext cx="0" cy="748"/>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8" name="Line 103"/>
              <p:cNvSpPr>
                <a:spLocks noChangeShapeType="1"/>
              </p:cNvSpPr>
              <p:nvPr/>
            </p:nvSpPr>
            <p:spPr bwMode="auto">
              <a:xfrm>
                <a:off x="2159" y="2414"/>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29" name="Line 104"/>
              <p:cNvSpPr>
                <a:spLocks noChangeShapeType="1"/>
              </p:cNvSpPr>
              <p:nvPr/>
            </p:nvSpPr>
            <p:spPr bwMode="auto">
              <a:xfrm flipH="1">
                <a:off x="2658" y="2414"/>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0" name="Text Box 105"/>
              <p:cNvSpPr txBox="1">
                <a:spLocks noChangeArrowheads="1"/>
              </p:cNvSpPr>
              <p:nvPr/>
            </p:nvSpPr>
            <p:spPr bwMode="auto">
              <a:xfrm>
                <a:off x="2112" y="2640"/>
                <a:ext cx="483" cy="244"/>
              </a:xfrm>
              <a:prstGeom prst="rect">
                <a:avLst/>
              </a:prstGeom>
              <a:noFill/>
              <a:ln>
                <a:noFill/>
              </a:ln>
            </p:spPr>
            <p:txBody>
              <a:bodyPr tIns="10800" bIns="1080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2</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1" name="Text Box 106"/>
              <p:cNvSpPr txBox="1">
                <a:spLocks noChangeArrowheads="1"/>
              </p:cNvSpPr>
              <p:nvPr/>
            </p:nvSpPr>
            <p:spPr bwMode="auto">
              <a:xfrm>
                <a:off x="2970" y="2656"/>
                <a:ext cx="384" cy="294"/>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d</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2" name="Line 107"/>
              <p:cNvSpPr>
                <a:spLocks noChangeShapeType="1"/>
              </p:cNvSpPr>
              <p:nvPr/>
            </p:nvSpPr>
            <p:spPr bwMode="auto">
              <a:xfrm flipV="1">
                <a:off x="2159" y="3161"/>
                <a:ext cx="816"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3" name="Line 108"/>
              <p:cNvSpPr>
                <a:spLocks noChangeShapeType="1"/>
              </p:cNvSpPr>
              <p:nvPr/>
            </p:nvSpPr>
            <p:spPr bwMode="auto">
              <a:xfrm flipH="1" flipV="1">
                <a:off x="2658" y="2969"/>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4" name="Text Box 109"/>
              <p:cNvSpPr txBox="1">
                <a:spLocks noChangeArrowheads="1"/>
              </p:cNvSpPr>
              <p:nvPr/>
            </p:nvSpPr>
            <p:spPr bwMode="auto">
              <a:xfrm>
                <a:off x="2973" y="3021"/>
                <a:ext cx="384" cy="294"/>
              </a:xfrm>
              <a:prstGeom prst="rect">
                <a:avLst/>
              </a:prstGeom>
              <a:noFill/>
              <a:ln w="9525">
                <a:solidFill>
                  <a:sysClr val="windowText" lastClr="000000"/>
                </a:solidFill>
                <a:miter lim="800000"/>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e</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5" name="Line 110"/>
              <p:cNvSpPr>
                <a:spLocks noChangeShapeType="1"/>
              </p:cNvSpPr>
              <p:nvPr/>
            </p:nvSpPr>
            <p:spPr bwMode="auto">
              <a:xfrm flipH="1" flipV="1">
                <a:off x="2658" y="2592"/>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6" name="Line 111"/>
              <p:cNvSpPr>
                <a:spLocks noChangeShapeType="1"/>
              </p:cNvSpPr>
              <p:nvPr/>
            </p:nvSpPr>
            <p:spPr bwMode="auto">
              <a:xfrm>
                <a:off x="2851" y="2785"/>
                <a:ext cx="118"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7" name="Line 112"/>
              <p:cNvSpPr>
                <a:spLocks noChangeShapeType="1"/>
              </p:cNvSpPr>
              <p:nvPr/>
            </p:nvSpPr>
            <p:spPr bwMode="auto">
              <a:xfrm flipH="1">
                <a:off x="2658" y="2784"/>
                <a:ext cx="192" cy="192"/>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38" name="Text Box 113"/>
              <p:cNvSpPr txBox="1">
                <a:spLocks noChangeArrowheads="1"/>
              </p:cNvSpPr>
              <p:nvPr/>
            </p:nvSpPr>
            <p:spPr bwMode="auto">
              <a:xfrm>
                <a:off x="2493" y="2400"/>
                <a:ext cx="288" cy="231"/>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1</a:t>
                </a:r>
                <a:endParaRPr kumimoji="1" lang="en-US" altLang="zh-CN" sz="1800" b="0" i="0" u="none" strike="noStrike" kern="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39" name="Text Box 114"/>
              <p:cNvSpPr txBox="1">
                <a:spLocks noChangeArrowheads="1"/>
              </p:cNvSpPr>
              <p:nvPr/>
            </p:nvSpPr>
            <p:spPr bwMode="auto">
              <a:xfrm>
                <a:off x="2493" y="2688"/>
                <a:ext cx="288" cy="231"/>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2</a:t>
                </a:r>
                <a:endPar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0" name="Text Box 115"/>
              <p:cNvSpPr txBox="1">
                <a:spLocks noChangeArrowheads="1"/>
              </p:cNvSpPr>
              <p:nvPr/>
            </p:nvSpPr>
            <p:spPr bwMode="auto">
              <a:xfrm>
                <a:off x="2496" y="2951"/>
                <a:ext cx="288" cy="231"/>
              </a:xfrm>
              <a:prstGeom prst="rect">
                <a:avLst/>
              </a:prstGeom>
              <a:noFill/>
              <a:ln>
                <a:noFill/>
              </a:ln>
            </p:spPr>
            <p:txBody>
              <a:bodyPr>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3</a:t>
                </a:r>
                <a:endParaRPr kumimoji="1" lang="en-US" altLang="zh-CN" sz="18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56344" name="Group 116"/>
              <p:cNvGrpSpPr/>
              <p:nvPr/>
            </p:nvGrpSpPr>
            <p:grpSpPr>
              <a:xfrm>
                <a:off x="2969" y="2276"/>
                <a:ext cx="1400" cy="271"/>
                <a:chOff x="2969" y="2276"/>
                <a:chExt cx="1400" cy="249"/>
              </a:xfrm>
            </p:grpSpPr>
            <p:sp>
              <p:nvSpPr>
                <p:cNvPr id="42" name="Text Box 117"/>
                <p:cNvSpPr txBox="1">
                  <a:spLocks noChangeArrowheads="1"/>
                </p:cNvSpPr>
                <p:nvPr/>
              </p:nvSpPr>
              <p:spPr bwMode="auto">
                <a:xfrm>
                  <a:off x="2969" y="2276"/>
                  <a:ext cx="816" cy="249"/>
                </a:xfrm>
                <a:prstGeom prst="rect">
                  <a:avLst/>
                </a:prstGeom>
                <a:noFill/>
                <a:ln w="9525">
                  <a:solidFill>
                    <a:sysClr val="windowText" lastClr="000000"/>
                  </a:solidFill>
                  <a:miter lim="800000"/>
                </a:ln>
              </p:spPr>
              <p:txBody>
                <a:bodyPr lIns="18000" tIns="10800" rIns="18000" bIns="10800"/>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defRPr/>
                  </a:pP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0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While</a:t>
                  </a:r>
                  <a:r>
                    <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x</a:t>
                  </a:r>
                  <a:r>
                    <a:rPr kumimoji="1" lang="en-US" altLang="zh-CN" sz="2400" b="0" i="0" u="none" strike="noStrike" kern="0" cap="none" spc="0" normalizeH="0" baseline="-25000" noProof="0">
                      <a:ln>
                        <a:noFill/>
                      </a:ln>
                      <a:solidFill>
                        <a:prstClr val="black"/>
                      </a:solidFill>
                      <a:effectLst/>
                      <a:uLnTx/>
                      <a:uFillTx/>
                      <a:latin typeface="Times New Roman" panose="02020603050405020304" pitchFamily="18" charset="0"/>
                      <a:ea typeface="宋体" panose="02010600030101010101" pitchFamily="2" charset="-122"/>
                      <a:cs typeface="+mn-cs"/>
                    </a:rPr>
                    <a:t>3</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43" name="Line 118"/>
                <p:cNvSpPr>
                  <a:spLocks noChangeShapeType="1"/>
                </p:cNvSpPr>
                <p:nvPr/>
              </p:nvSpPr>
              <p:spPr bwMode="auto">
                <a:xfrm>
                  <a:off x="3731" y="2276"/>
                  <a:ext cx="0" cy="249"/>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44" name="Line 119"/>
                <p:cNvSpPr>
                  <a:spLocks noChangeShapeType="1"/>
                </p:cNvSpPr>
                <p:nvPr/>
              </p:nvSpPr>
              <p:spPr bwMode="auto">
                <a:xfrm>
                  <a:off x="3793" y="2412"/>
                  <a:ext cx="192" cy="0"/>
                </a:xfrm>
                <a:prstGeom prst="line">
                  <a:avLst/>
                </a:prstGeom>
                <a:noFill/>
                <a:ln w="9525">
                  <a:solidFill>
                    <a:sysClr val="windowText" lastClr="000000"/>
                  </a:solidFill>
                  <a:rou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45" name="Text Box 120"/>
                <p:cNvSpPr txBox="1">
                  <a:spLocks noChangeArrowheads="1"/>
                </p:cNvSpPr>
                <p:nvPr/>
              </p:nvSpPr>
              <p:spPr bwMode="auto">
                <a:xfrm>
                  <a:off x="3985" y="2276"/>
                  <a:ext cx="384" cy="230"/>
                </a:xfrm>
                <a:prstGeom prst="rect">
                  <a:avLst/>
                </a:prstGeom>
                <a:noFill/>
                <a:ln w="9525">
                  <a:solidFill>
                    <a:sysClr val="windowText" lastClr="000000"/>
                  </a:solidFill>
                  <a:miter lim="800000"/>
                </a:ln>
              </p:spPr>
              <p:txBody>
                <a:bodyPr tIns="10800" bIns="10800">
                  <a:spAutoFit/>
                </a:bodyP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defRPr/>
                  </a:pPr>
                  <a:r>
                    <a:rPr kumimoji="1" lang="en-US" altLang="zh-CN" sz="2400" b="0" i="1"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rPr>
                    <a:t>c</a:t>
                  </a:r>
                  <a:endParaRPr kumimoji="1" lang="en-US" altLang="zh-CN" sz="2400" b="0" i="0" u="none" strike="noStrike" kern="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ox(in)">
                                      <p:cBhvr>
                                        <p:cTn id="12" dur="500"/>
                                        <p:tgtEl>
                                          <p:spTgt spid="23"/>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标题 1"/>
          <p:cNvSpPr>
            <a:spLocks noGrp="1"/>
          </p:cNvSpPr>
          <p:nvPr>
            <p:ph type="title"/>
          </p:nvPr>
        </p:nvSpPr>
        <p:spPr>
          <a:ln/>
        </p:spPr>
        <p:txBody>
          <a:bodyPr vert="horz" wrap="square" lIns="91440" tIns="45720" rIns="91440" bIns="45720" anchor="ctr" anchorCtr="0"/>
          <a:p>
            <a:r>
              <a:rPr lang="en-US" altLang="zh-CN" dirty="0"/>
              <a:t>PAD</a:t>
            </a:r>
            <a:r>
              <a:rPr lang="zh-CN" altLang="en-US" dirty="0"/>
              <a:t>图的优点</a:t>
            </a:r>
            <a:endParaRPr lang="zh-CN" altLang="en-US" dirty="0"/>
          </a:p>
        </p:txBody>
      </p:sp>
      <p:sp>
        <p:nvSpPr>
          <p:cNvPr id="58371" name="内容占位符 2"/>
          <p:cNvSpPr>
            <a:spLocks noGrp="1" noChangeArrowheads="1"/>
          </p:cNvSpPr>
          <p:nvPr>
            <p:ph idx="1"/>
          </p:nvPr>
        </p:nvSpPr>
        <p:spPr>
          <a:xfrm>
            <a:off x="682625" y="1112838"/>
            <a:ext cx="7777163" cy="519747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PAD</a:t>
            </a: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图的主要优点：</a:t>
            </a: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zh-CN" altLang="en-US" sz="2400" b="0" i="0" u="none" strike="noStrike" kern="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cs typeface="+mn-cs"/>
              </a:rPr>
              <a:t>程序结构清晰，结构化程度高</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。图中的竖线为程序的层次线，最左边竖线是程序的主线， 其后一层一层展开，层次关系一目了然。</a:t>
            </a: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2.</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支持自顶向下，</a:t>
            </a:r>
            <a:r>
              <a:rPr kumimoji="0" lang="zh-CN" altLang="en-US" sz="2400" b="0" i="0" u="none" strike="noStrike" kern="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cs typeface="+mn-cs"/>
              </a:rPr>
              <a:t>逐步求精的设计方法</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3.</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既可以表示程序逻辑，</a:t>
            </a:r>
            <a:r>
              <a:rPr kumimoji="0" lang="zh-CN" altLang="en-US" sz="2400" b="0" i="0" u="none" strike="noStrike" kern="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cs typeface="+mn-cs"/>
              </a:rPr>
              <a:t>也可以描绘数据结构</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4.</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用</a:t>
            </a:r>
            <a:r>
              <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PAD</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图表现程序逻辑，易读易写，使用方便。</a:t>
            </a: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5.</a:t>
            </a:r>
            <a:r>
              <a:rPr kumimoji="0" lang="zh-CN" altLang="en-US" sz="2400" b="0" i="0" u="none" strike="noStrike" kern="0" cap="none" spc="0" normalizeH="0" baseline="0" noProof="0" dirty="0">
                <a:ln>
                  <a:noFill/>
                </a:ln>
                <a:solidFill>
                  <a:srgbClr val="C00000"/>
                </a:solidFill>
                <a:effectLst/>
                <a:uLnTx/>
                <a:uFillTx/>
                <a:latin typeface="华文新魏" panose="02010800040101010101" pitchFamily="2" charset="-122"/>
                <a:ea typeface="华文新魏" panose="02010800040101010101" pitchFamily="2" charset="-122"/>
                <a:cs typeface="+mn-cs"/>
              </a:rPr>
              <a:t>容易转换成高级语言源程</a:t>
            </a:r>
            <a:r>
              <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序，也可用软件工具实现自动转换。</a:t>
            </a:r>
            <a:endParaRPr kumimoji="0" lang="zh-CN" altLang="en-US" sz="24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5734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内容占位符 2"/>
          <p:cNvSpPr>
            <a:spLocks noGrp="1"/>
          </p:cNvSpPr>
          <p:nvPr>
            <p:ph idx="1"/>
          </p:nvPr>
        </p:nvSpPr>
        <p:spPr>
          <a:xfrm>
            <a:off x="1520825" y="287338"/>
            <a:ext cx="6329363" cy="608012"/>
          </a:xfrm>
          <a:ln/>
        </p:spPr>
        <p:txBody>
          <a:bodyPr vert="horz" wrap="square" lIns="91440" tIns="45720" rIns="91440" bIns="45720" anchor="t" anchorCtr="0">
            <a:spAutoFit/>
          </a:bodyPr>
          <a:p>
            <a:pPr marL="0" indent="0" algn="ctr">
              <a:buSzPct val="70000"/>
              <a:buFont typeface="Wingdings" panose="05000000000000000000" pitchFamily="2" charset="2"/>
              <a:buNone/>
            </a:pPr>
            <a:r>
              <a:rPr lang="zh-CN" altLang="en-US" dirty="0">
                <a:latin typeface="华文中宋" panose="02010600040101010101" pitchFamily="2" charset="-122"/>
                <a:ea typeface="华文中宋" panose="02010600040101010101" pitchFamily="2" charset="-122"/>
                <a:cs typeface="+mn-cs"/>
              </a:rPr>
              <a:t>练习：下图中红框中转化为</a:t>
            </a:r>
            <a:r>
              <a:rPr lang="en-US" altLang="zh-CN" dirty="0">
                <a:latin typeface="华文中宋" panose="02010600040101010101" pitchFamily="2" charset="-122"/>
                <a:ea typeface="华文中宋" panose="02010600040101010101" pitchFamily="2" charset="-122"/>
                <a:cs typeface="+mn-cs"/>
              </a:rPr>
              <a:t>PAD</a:t>
            </a:r>
            <a:r>
              <a:rPr lang="zh-CN" altLang="en-US" dirty="0">
                <a:latin typeface="华文中宋" panose="02010600040101010101" pitchFamily="2" charset="-122"/>
                <a:ea typeface="华文中宋" panose="02010600040101010101" pitchFamily="2" charset="-122"/>
                <a:cs typeface="+mn-cs"/>
              </a:rPr>
              <a:t>图</a:t>
            </a:r>
            <a:endParaRPr lang="zh-CN" altLang="en-US" dirty="0">
              <a:latin typeface="华文中宋" panose="02010600040101010101" pitchFamily="2" charset="-122"/>
              <a:ea typeface="华文中宋" panose="02010600040101010101" pitchFamily="2" charset="-122"/>
              <a:cs typeface="+mn-cs"/>
            </a:endParaRPr>
          </a:p>
        </p:txBody>
      </p:sp>
      <p:sp>
        <p:nvSpPr>
          <p:cNvPr id="58371"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8372" name="Picture 7"/>
          <p:cNvPicPr>
            <a:picLocks noChangeAspect="1"/>
          </p:cNvPicPr>
          <p:nvPr/>
        </p:nvPicPr>
        <p:blipFill>
          <a:blip r:embed="rId1"/>
          <a:stretch>
            <a:fillRect/>
          </a:stretch>
        </p:blipFill>
        <p:spPr>
          <a:xfrm>
            <a:off x="214313" y="1758950"/>
            <a:ext cx="3484562" cy="4233863"/>
          </a:xfrm>
          <a:prstGeom prst="rect">
            <a:avLst/>
          </a:prstGeom>
          <a:noFill/>
          <a:ln w="9525">
            <a:noFill/>
          </a:ln>
        </p:spPr>
      </p:pic>
      <p:sp>
        <p:nvSpPr>
          <p:cNvPr id="58373" name="矩形 1"/>
          <p:cNvSpPr/>
          <p:nvPr/>
        </p:nvSpPr>
        <p:spPr>
          <a:xfrm>
            <a:off x="214313" y="3041650"/>
            <a:ext cx="1620837" cy="2016125"/>
          </a:xfrm>
          <a:prstGeom prst="rect">
            <a:avLst/>
          </a:prstGeom>
          <a:noFill/>
          <a:ln w="44450" cap="flat" cmpd="sng">
            <a:solidFill>
              <a:srgbClr val="FF0000"/>
            </a:solidFill>
            <a:prstDash val="solid"/>
            <a:round/>
            <a:headEnd type="none" w="med" len="med"/>
            <a:tailEnd type="none" w="med" len="med"/>
          </a:ln>
        </p:spPr>
        <p:txBody>
          <a:bodyPr/>
          <a:p>
            <a:pPr marL="342900" indent="-342900" eaLnBrk="1" hangingPunct="1">
              <a:lnSpc>
                <a:spcPct val="80000"/>
              </a:lnSpc>
              <a:spcBef>
                <a:spcPct val="20000"/>
              </a:spcBef>
              <a:buClr>
                <a:srgbClr val="8DC765"/>
              </a:buClr>
              <a:buSzPct val="70000"/>
              <a:buFont typeface="Wingdings" panose="05000000000000000000" pitchFamily="2" charset="2"/>
              <a:buChar char="n"/>
            </a:pPr>
            <a:endParaRPr lang="zh-CN" altLang="en-US" b="0" dirty="0">
              <a:solidFill>
                <a:srgbClr val="000000"/>
              </a:solidFill>
              <a:latin typeface="Tahoma" panose="020B0604030504040204" pitchFamily="34" charset="0"/>
              <a:ea typeface="幼圆" panose="02010509060101010101" pitchFamily="49" charset="-122"/>
            </a:endParaRPr>
          </a:p>
        </p:txBody>
      </p:sp>
      <p:pic>
        <p:nvPicPr>
          <p:cNvPr id="58374" name="Picture 6"/>
          <p:cNvPicPr>
            <a:picLocks noChangeAspect="1"/>
          </p:cNvPicPr>
          <p:nvPr/>
        </p:nvPicPr>
        <p:blipFill>
          <a:blip r:embed="rId2"/>
          <a:stretch>
            <a:fillRect/>
          </a:stretch>
        </p:blipFill>
        <p:spPr>
          <a:xfrm>
            <a:off x="3702050" y="2252663"/>
            <a:ext cx="5441950" cy="3092450"/>
          </a:xfrm>
          <a:prstGeom prst="rect">
            <a:avLst/>
          </a:prstGeom>
          <a:noFill/>
          <a:ln w="9525">
            <a:noFill/>
          </a:ln>
        </p:spPr>
      </p:pic>
      <p:sp>
        <p:nvSpPr>
          <p:cNvPr id="8" name="矩形 5"/>
          <p:cNvSpPr/>
          <p:nvPr/>
        </p:nvSpPr>
        <p:spPr>
          <a:xfrm>
            <a:off x="6011863" y="2333625"/>
            <a:ext cx="3132138" cy="2082800"/>
          </a:xfrm>
          <a:prstGeom prst="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a:lstStyle/>
          <a:p>
            <a:pPr marL="342900" marR="0" lvl="0" indent="-342900" algn="l" defTabSz="914400" rtl="0" eaLnBrk="1" fontAlgn="base" latinLnBrk="0" hangingPunct="1">
              <a:lnSpc>
                <a:spcPct val="80000"/>
              </a:lnSpc>
              <a:spcBef>
                <a:spcPct val="20000"/>
              </a:spcBef>
              <a:spcAft>
                <a:spcPct val="0"/>
              </a:spcAft>
              <a:buClr>
                <a:srgbClr val="8DC765"/>
              </a:buClr>
              <a:buSzPct val="70000"/>
              <a:buFont typeface="Wingdings" panose="05000000000000000000" pitchFamily="2" charset="2"/>
              <a:buChar char="n"/>
              <a:defRPr/>
            </a:pPr>
            <a:endParaRPr kumimoji="0" lang="zh-CN" altLang="en-US" sz="2400" b="0" i="0" u="none" strike="noStrike" kern="1200" cap="none" spc="0" normalizeH="0" baseline="0" noProof="1">
              <a:ln>
                <a:noFill/>
              </a:ln>
              <a:solidFill>
                <a:srgbClr val="000000"/>
              </a:solidFill>
              <a:effectLst/>
              <a:uLnTx/>
              <a:uFillTx/>
              <a:latin typeface="Tahoma" panose="020B0604030504040204" pitchFamily="34" charset="0"/>
              <a:ea typeface="幼圆" panose="02010509060101010101"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1+ppt_h/2"/>
                                          </p:val>
                                        </p:tav>
                                      </p:tavLst>
                                    </p:anim>
                                    <p:set>
                                      <p:cBhvr>
                                        <p:cTn id="8"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标题 1"/>
          <p:cNvSpPr>
            <a:spLocks noGrp="1"/>
          </p:cNvSpPr>
          <p:nvPr>
            <p:ph type="title"/>
          </p:nvPr>
        </p:nvSpPr>
        <p:spPr>
          <a:ln/>
        </p:spPr>
        <p:txBody>
          <a:bodyPr vert="horz" wrap="square" lIns="91440" tIns="45720" rIns="91440" bIns="45720" anchor="ctr" anchorCtr="0"/>
          <a:p>
            <a:r>
              <a:rPr lang="zh-CN" altLang="en-US" dirty="0"/>
              <a:t>过程设计工具</a:t>
            </a:r>
            <a:r>
              <a:rPr lang="en-US" altLang="zh-CN" dirty="0"/>
              <a:t>--</a:t>
            </a:r>
            <a:r>
              <a:rPr lang="zh-CN" altLang="en-US" dirty="0"/>
              <a:t>判定表</a:t>
            </a:r>
            <a:endParaRPr lang="zh-CN" altLang="en-US" dirty="0"/>
          </a:p>
        </p:txBody>
      </p:sp>
      <p:sp>
        <p:nvSpPr>
          <p:cNvPr id="63491" name="内容占位符 2"/>
          <p:cNvSpPr>
            <a:spLocks noGrp="1" noChangeArrowheads="1"/>
          </p:cNvSpPr>
          <p:nvPr>
            <p:ph idx="1"/>
          </p:nvPr>
        </p:nvSpPr>
        <p:spPr>
          <a:xfrm>
            <a:off x="565150" y="1268413"/>
            <a:ext cx="7391400" cy="512286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过程设计工具：判定表</a:t>
            </a: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判定表能够清晰地</a:t>
            </a:r>
            <a:r>
              <a:rPr kumimoji="0" lang="en-US" altLang="zh-CN"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表示复杂的条件组合与所产生的动作之前的关系</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。判定表中条件取值只能是“T”和“F”。</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一张判定表由四部分组成：</a:t>
            </a: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左上部列出所有的条件</a:t>
            </a:r>
            <a:r>
              <a:rPr kumimoji="0" lang="en-US" altLang="zh-CN"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Ⅰ</a:t>
            </a:r>
            <a:endParaRPr kumimoji="0" lang="en-US" altLang="zh-CN"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左下部是所有可能的操作</a:t>
            </a:r>
            <a:r>
              <a:rPr kumimoji="0" lang="en-US" altLang="zh-CN"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Ⅲ</a:t>
            </a:r>
            <a:endParaRPr kumimoji="0" lang="en-US" altLang="zh-CN"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右上部是各种条件的组合矩阵</a:t>
            </a:r>
            <a:r>
              <a:rPr kumimoji="0" lang="en-US" altLang="zh-CN"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Ⅱ</a:t>
            </a:r>
            <a:endParaRPr kumimoji="0" lang="en-US" altLang="zh-CN"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en-US" altLang="zh-CN"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右下部是每种条件组合对应的动作</a:t>
            </a:r>
            <a:endParaRPr kumimoji="0" lang="zh-CN" altLang="en-US" sz="2200" b="0" i="0" u="none" strike="noStrike" kern="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6042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pic>
        <p:nvPicPr>
          <p:cNvPr id="5" name="Picture 6"/>
          <p:cNvPicPr>
            <a:picLocks noChangeAspect="1"/>
          </p:cNvPicPr>
          <p:nvPr/>
        </p:nvPicPr>
        <p:blipFill>
          <a:blip r:embed="rId1"/>
          <a:stretch>
            <a:fillRect/>
          </a:stretch>
        </p:blipFill>
        <p:spPr>
          <a:xfrm>
            <a:off x="6084888" y="3789363"/>
            <a:ext cx="3014662" cy="24130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标题 1"/>
          <p:cNvSpPr>
            <a:spLocks noGrp="1"/>
          </p:cNvSpPr>
          <p:nvPr>
            <p:ph type="title"/>
          </p:nvPr>
        </p:nvSpPr>
        <p:spPr>
          <a:ln/>
        </p:spPr>
        <p:txBody>
          <a:bodyPr vert="horz" wrap="square" lIns="91440" tIns="45720" rIns="91440" bIns="45720" anchor="ctr" anchorCtr="0"/>
          <a:p>
            <a:r>
              <a:rPr lang="zh-CN" altLang="en-US" dirty="0"/>
              <a:t>判定表举例</a:t>
            </a:r>
            <a:endParaRPr lang="zh-CN" altLang="en-US" dirty="0"/>
          </a:p>
        </p:txBody>
      </p:sp>
      <p:sp>
        <p:nvSpPr>
          <p:cNvPr id="64515" name="内容占位符 2"/>
          <p:cNvSpPr>
            <a:spLocks noGrp="1" noChangeArrowheads="1"/>
          </p:cNvSpPr>
          <p:nvPr>
            <p:ph idx="1"/>
          </p:nvPr>
        </p:nvSpPr>
        <p:spPr>
          <a:xfrm>
            <a:off x="827088" y="893763"/>
            <a:ext cx="7391400" cy="4406900"/>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某航空公司规定，乘客可以免费托运重量不超过</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公斤的行李。当行李重量超过</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30</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公斤时，头等舱国内乘客超重部分每公斤收费</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4</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元，其他舱的国内乘客超重部分每公斤收费</a:t>
            </a:r>
            <a:r>
              <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6</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元，对于外国乘客超重部分每公斤收费比国内乘客多一倍，对于残疾乘客超重部分每公斤收费比正常乘客减少一半。</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144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aphicFrame>
        <p:nvGraphicFramePr>
          <p:cNvPr id="5" name="Group 138"/>
          <p:cNvGraphicFramePr>
            <a:graphicFrameLocks noGrp="1"/>
          </p:cNvGraphicFramePr>
          <p:nvPr/>
        </p:nvGraphicFramePr>
        <p:xfrm>
          <a:off x="468313" y="1196975"/>
          <a:ext cx="8101013" cy="5008563"/>
        </p:xfrm>
        <a:graphic>
          <a:graphicData uri="http://schemas.openxmlformats.org/drawingml/2006/table">
            <a:tbl>
              <a:tblPr/>
              <a:tblGrid>
                <a:gridCol w="1521954"/>
                <a:gridCol w="575630"/>
                <a:gridCol w="795635"/>
                <a:gridCol w="795635"/>
                <a:gridCol w="723305"/>
                <a:gridCol w="723305"/>
                <a:gridCol w="795635"/>
                <a:gridCol w="723305"/>
                <a:gridCol w="723305"/>
                <a:gridCol w="723305"/>
              </a:tblGrid>
              <a:tr h="396220">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国内乘客</a:t>
                      </a:r>
                      <a:endPar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28575"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396220">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头等仓</a:t>
                      </a:r>
                      <a:endPar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436761">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残疾乘客</a:t>
                      </a:r>
                      <a:endPar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701019">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行李重量</a:t>
                      </a:r>
                      <a:r>
                        <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sym typeface="Symbol" panose="05050102010706020507" pitchFamily="18" charset="2"/>
                        </a:rPr>
                        <a:t></a:t>
                      </a: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sym typeface="Symbol" panose="05050102010706020507" pitchFamily="18" charset="2"/>
                        </a:rPr>
                        <a:t>30</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Tahoma" panose="020B0604030504040204" pitchFamily="34" charset="0"/>
                          <a:ea typeface="幼圆" panose="02010509060101010101" pitchFamily="49" charset="-122"/>
                        </a:rPr>
                        <a:t> F</a:t>
                      </a:r>
                      <a:endParaRPr kumimoji="0" lang="en-US" altLang="zh-CN" sz="2000" b="1" i="0" u="none" strike="noStrike" cap="none" normalizeH="0" baseline="0" dirty="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 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 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 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 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 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 F</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396220">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免费         </a:t>
                      </a:r>
                      <a:endParaRPr kumimoji="0" lang="zh-CN" altLang="en-US"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Tahoma" panose="020B0604030504040204" pitchFamily="34" charset="0"/>
                          <a:ea typeface="幼圆" panose="02010509060101010101" pitchFamily="49" charset="-122"/>
                        </a:rPr>
                        <a:t>√</a:t>
                      </a:r>
                      <a:endParaRPr kumimoji="0" lang="en-US" altLang="zh-CN" sz="2000" b="1" i="0" u="none" strike="noStrike" cap="none" normalizeH="0" baseline="0" dirty="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dirty="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396220">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(W-30)*2</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396220">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(W-30)*3</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396220">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(W-30)*4</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396220">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(W-30)*6</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396220">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(W-30)*8</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12700" cap="flat" cmpd="sng" algn="ctr">
                      <a:solidFill>
                        <a:sysClr val="windowText" lastClr="000000"/>
                      </a:solidFill>
                      <a:prstDash val="solid"/>
                      <a:round/>
                      <a:headEnd type="none" w="sm" len="sm"/>
                      <a:tailEnd type="none" w="sm" len="sm"/>
                    </a:lnB>
                    <a:lnTlToBr>
                      <a:noFill/>
                    </a:lnTlToBr>
                    <a:lnBlToTr>
                      <a:noFill/>
                    </a:lnBlToTr>
                    <a:noFill/>
                  </a:tcPr>
                </a:tc>
              </a:tr>
              <a:tr h="701019">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(W-30)*12</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28575"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r>
                        <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rPr>
                        <a:t>√</a:t>
                      </a:r>
                      <a:endParaRPr kumimoji="0" lang="en-US"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12700"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c>
                  <a:txBody>
                    <a:bodyPr/>
                    <a:lstStyle>
                      <a:lvl1pPr marL="0" algn="l" defTabSz="914400" rtl="0" eaLnBrk="0" latinLnBrk="0" hangingPunct="0">
                        <a:defRPr sz="2800" kern="1200">
                          <a:solidFill>
                            <a:schemeClr val="tx1"/>
                          </a:solidFill>
                          <a:latin typeface="Tahoma" panose="020B0604030504040204" pitchFamily="34" charset="0"/>
                          <a:ea typeface="幼圆" panose="02010509060101010101" pitchFamily="49" charset="-122"/>
                        </a:defRPr>
                      </a:lvl1pPr>
                      <a:lvl2pPr marL="742950" indent="-285750" algn="l" defTabSz="914400" rtl="0" eaLnBrk="0" latinLnBrk="0" hangingPunct="0">
                        <a:buClr>
                          <a:schemeClr val="tx1"/>
                        </a:buClr>
                        <a:defRPr sz="2400" kern="1200">
                          <a:solidFill>
                            <a:schemeClr val="tx1"/>
                          </a:solidFill>
                          <a:latin typeface="Tahoma" panose="020B0604030504040204" pitchFamily="34" charset="0"/>
                          <a:ea typeface="华文楷体" panose="02010600040101010101" pitchFamily="2" charset="-122"/>
                        </a:defRPr>
                      </a:lvl2pPr>
                      <a:lvl3pPr marL="1143000" indent="-228600" algn="l" defTabSz="914400" rtl="0" eaLnBrk="0" latinLnBrk="0" hangingPunct="0">
                        <a:defRPr sz="2000" kern="1200">
                          <a:solidFill>
                            <a:srgbClr val="FFCC99"/>
                          </a:solidFill>
                          <a:latin typeface="Tahoma" panose="020B0604030504040204" pitchFamily="34" charset="0"/>
                          <a:ea typeface="宋体" panose="02010600030101010101" pitchFamily="2" charset="-122"/>
                        </a:defRPr>
                      </a:lvl3pPr>
                      <a:lvl4pPr marL="1600200" indent="-228600" algn="l" defTabSz="914400" rtl="0" eaLnBrk="0" latinLnBrk="0" hangingPunct="0">
                        <a:buClr>
                          <a:schemeClr val="tx1"/>
                        </a:buClr>
                        <a:defRPr sz="1800" kern="1200">
                          <a:solidFill>
                            <a:srgbClr val="FFFF00"/>
                          </a:solidFill>
                          <a:latin typeface="Tahoma" panose="020B0604030504040204" pitchFamily="34" charset="0"/>
                          <a:ea typeface="华文楷体" panose="02010600040101010101" pitchFamily="2" charset="-122"/>
                        </a:defRPr>
                      </a:lvl4pPr>
                      <a:lvl5pPr marL="2057400" indent="-228600" algn="l" defTabSz="914400" rtl="0" eaLnBrk="0" latinLnBrk="0" hangingPunct="0">
                        <a:defRPr sz="1800" kern="1200">
                          <a:solidFill>
                            <a:schemeClr val="tx1"/>
                          </a:solidFill>
                          <a:latin typeface="Tahoma" panose="020B0604030504040204" pitchFamily="34" charset="0"/>
                          <a:ea typeface="宋体" panose="02010600030101010101" pitchFamily="2" charset="-122"/>
                        </a:defRPr>
                      </a:lvl5pPr>
                      <a:lvl6pPr marL="25146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6pPr>
                      <a:lvl7pPr marL="29718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7pPr>
                      <a:lvl8pPr marL="34290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8pPr>
                      <a:lvl9pPr marL="3886200" indent="-228600" algn="l" defTabSz="914400" rtl="0" eaLnBrk="0" fontAlgn="base" latinLnBrk="0" hangingPunct="0">
                        <a:spcBef>
                          <a:spcPct val="20000"/>
                        </a:spcBef>
                        <a:spcAft>
                          <a:spcPct val="0"/>
                        </a:spcAft>
                        <a:buClr>
                          <a:schemeClr val="hlink"/>
                        </a:buClr>
                        <a:buSzPct val="70000"/>
                        <a:buFont typeface="Wingdings" panose="05000000000000000000" pitchFamily="2" charset="2"/>
                        <a:defRPr sz="1800" kern="12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pPr>
                      <a:endParaRPr kumimoji="0" lang="zh-CN" altLang="zh-CN" sz="2000" b="1" i="0" u="none" strike="noStrike" cap="none" normalizeH="0" baseline="0" dirty="0">
                        <a:ln>
                          <a:noFill/>
                        </a:ln>
                        <a:solidFill>
                          <a:schemeClr val="tx1"/>
                        </a:solidFill>
                        <a:effectLst/>
                        <a:latin typeface="Tahoma" panose="020B0604030504040204" pitchFamily="34" charset="0"/>
                        <a:ea typeface="幼圆" panose="02010509060101010101" pitchFamily="49" charset="-122"/>
                      </a:endParaRPr>
                    </a:p>
                  </a:txBody>
                  <a:tcPr marL="91428" marR="91428" marT="45711" marB="45711" anchor="ctr" horzOverflow="overflow">
                    <a:lnL w="12700" cap="flat" cmpd="sng" algn="ctr">
                      <a:solidFill>
                        <a:sysClr val="windowText" lastClr="000000"/>
                      </a:solidFill>
                      <a:prstDash val="solid"/>
                      <a:round/>
                      <a:headEnd type="none" w="sm" len="sm"/>
                      <a:tailEnd type="none" w="sm" len="sm"/>
                    </a:lnL>
                    <a:lnR w="28575" cap="flat" cmpd="sng" algn="ctr">
                      <a:solidFill>
                        <a:sysClr val="windowText" lastClr="000000"/>
                      </a:solidFill>
                      <a:prstDash val="solid"/>
                      <a:round/>
                      <a:headEnd type="none" w="sm" len="sm"/>
                      <a:tailEnd type="none" w="sm" len="sm"/>
                    </a:lnR>
                    <a:lnT w="12700" cap="flat" cmpd="sng" algn="ctr">
                      <a:solidFill>
                        <a:sysClr val="windowText" lastClr="000000"/>
                      </a:solidFill>
                      <a:prstDash val="solid"/>
                      <a:round/>
                      <a:headEnd type="none" w="sm" len="sm"/>
                      <a:tailEnd type="none" w="sm" len="sm"/>
                    </a:lnT>
                    <a:lnB w="28575" cap="flat" cmpd="sng" algn="ctr">
                      <a:solidFill>
                        <a:sysClr val="windowText" lastClr="000000"/>
                      </a:solidFill>
                      <a:prstDash val="solid"/>
                      <a:round/>
                      <a:headEnd type="none" w="sm" len="sm"/>
                      <a:tailEnd type="none" w="sm" len="sm"/>
                    </a:lnB>
                    <a:lnTlToBr>
                      <a:noFill/>
                    </a:lnTlToBr>
                    <a:lnBlToTr>
                      <a:noFill/>
                    </a:lnBlToTr>
                    <a:noFill/>
                  </a:tcPr>
                </a:tc>
              </a:tr>
            </a:tbl>
          </a:graphicData>
        </a:graphic>
      </p:graphicFrame>
      <p:sp>
        <p:nvSpPr>
          <p:cNvPr id="62601" name="标题 1"/>
          <p:cNvSpPr>
            <a:spLocks noGrp="1"/>
          </p:cNvSpPr>
          <p:nvPr>
            <p:ph type="title"/>
          </p:nvPr>
        </p:nvSpPr>
        <p:spPr>
          <a:ln/>
        </p:spPr>
        <p:txBody>
          <a:bodyPr vert="horz" wrap="square" lIns="91440" tIns="45720" rIns="91440" bIns="45720" anchor="ctr" anchorCtr="0"/>
          <a:p>
            <a:r>
              <a:rPr lang="zh-CN" altLang="en-US" dirty="0"/>
              <a:t>判定表举例</a:t>
            </a:r>
            <a:endParaRPr lang="zh-CN" alt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标题 1"/>
          <p:cNvSpPr>
            <a:spLocks noGrp="1"/>
          </p:cNvSpPr>
          <p:nvPr>
            <p:ph type="title"/>
          </p:nvPr>
        </p:nvSpPr>
        <p:spPr>
          <a:ln/>
        </p:spPr>
        <p:txBody>
          <a:bodyPr vert="horz" wrap="square" lIns="91440" tIns="45720" rIns="91440" bIns="45720" anchor="ctr" anchorCtr="0"/>
          <a:p>
            <a:r>
              <a:rPr lang="zh-CN" altLang="en-US" dirty="0"/>
              <a:t>判定表的特点</a:t>
            </a:r>
            <a:endParaRPr lang="zh-CN" altLang="en-US" dirty="0"/>
          </a:p>
        </p:txBody>
      </p:sp>
      <p:sp>
        <p:nvSpPr>
          <p:cNvPr id="66563" name="内容占位符 2"/>
          <p:cNvSpPr>
            <a:spLocks noGrp="1" noChangeArrowheads="1"/>
          </p:cNvSpPr>
          <p:nvPr>
            <p:ph idx="1"/>
          </p:nvPr>
        </p:nvSpPr>
        <p:spPr>
          <a:xfrm>
            <a:off x="827088" y="871538"/>
            <a:ext cx="7921625" cy="4213225"/>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endParaRPr kumimoji="0" lang="en-US" altLang="zh-CN"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1.</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当算法中包含多重嵌套的条件选择时，用程序流程图、</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N-S</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图或</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PAD</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都不易清楚地描述。然而，判定表却能清晰地表达复杂的条件组合与应做动作之间的对应关系</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2.</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判定表缺乏通用性，没法和</a:t>
            </a: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PAD</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图那样良好的转换成代码</a:t>
            </a:r>
            <a:endPar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en-US" altLang="zh-CN"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3.</a:t>
            </a:r>
            <a:r>
              <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无法清晰表示顺序和重复等处理</a:t>
            </a:r>
            <a:endParaRPr kumimoji="0" lang="zh-CN" altLang="en-US" sz="22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6349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标题 1"/>
          <p:cNvSpPr>
            <a:spLocks noGrp="1"/>
          </p:cNvSpPr>
          <p:nvPr>
            <p:ph type="title"/>
          </p:nvPr>
        </p:nvSpPr>
        <p:spPr>
          <a:ln/>
        </p:spPr>
        <p:txBody>
          <a:bodyPr vert="horz" wrap="square" lIns="91440" tIns="45720" rIns="91440" bIns="45720" anchor="ctr" anchorCtr="0"/>
          <a:p>
            <a:r>
              <a:rPr lang="en-US" altLang="zh-CN" dirty="0"/>
              <a:t>7.3.5 </a:t>
            </a:r>
            <a:r>
              <a:rPr lang="zh-CN" altLang="en-US" dirty="0"/>
              <a:t>过程设计工具</a:t>
            </a:r>
            <a:r>
              <a:rPr lang="en-US" altLang="zh-CN" dirty="0"/>
              <a:t>--</a:t>
            </a:r>
            <a:r>
              <a:rPr lang="zh-CN" altLang="en-US" dirty="0"/>
              <a:t>判定树</a:t>
            </a:r>
            <a:endParaRPr lang="zh-CN" altLang="en-US" dirty="0"/>
          </a:p>
        </p:txBody>
      </p:sp>
      <p:sp>
        <p:nvSpPr>
          <p:cNvPr id="64515" name="内容占位符 2"/>
          <p:cNvSpPr>
            <a:spLocks noGrp="1"/>
          </p:cNvSpPr>
          <p:nvPr>
            <p:ph idx="1"/>
          </p:nvPr>
        </p:nvSpPr>
        <p:spPr>
          <a:xfrm>
            <a:off x="876300" y="1081088"/>
            <a:ext cx="7391400" cy="28225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判定树又称决策树，和判定表类似，</a:t>
            </a:r>
            <a:r>
              <a:rPr lang="zh-CN" altLang="en-US" dirty="0">
                <a:solidFill>
                  <a:srgbClr val="C00000"/>
                </a:solidFill>
                <a:latin typeface="华文中宋" panose="02010600040101010101" pitchFamily="2" charset="-122"/>
                <a:ea typeface="华文中宋" panose="02010600040101010101" pitchFamily="2" charset="-122"/>
                <a:cs typeface="+mn-cs"/>
              </a:rPr>
              <a:t>适合描述问题处理中具有多重判断</a:t>
            </a:r>
            <a:r>
              <a:rPr lang="zh-CN" altLang="en-US" dirty="0">
                <a:latin typeface="华文中宋" panose="02010600040101010101" pitchFamily="2" charset="-122"/>
                <a:ea typeface="华文中宋" panose="02010600040101010101" pitchFamily="2" charset="-122"/>
                <a:cs typeface="+mn-cs"/>
              </a:rPr>
              <a:t>，</a:t>
            </a:r>
            <a:r>
              <a:rPr lang="zh-CN" altLang="en-US" dirty="0">
                <a:solidFill>
                  <a:srgbClr val="C00000"/>
                </a:solidFill>
                <a:latin typeface="华文中宋" panose="02010600040101010101" pitchFamily="2" charset="-122"/>
                <a:ea typeface="华文中宋" panose="02010600040101010101" pitchFamily="2" charset="-122"/>
                <a:cs typeface="+mn-cs"/>
              </a:rPr>
              <a:t>即每个决策与若干条件有关</a:t>
            </a:r>
            <a:r>
              <a:rPr lang="zh-CN" altLang="en-US" dirty="0">
                <a:latin typeface="华文中宋" panose="02010600040101010101" pitchFamily="2" charset="-122"/>
                <a:ea typeface="华文中宋" panose="02010600040101010101" pitchFamily="2" charset="-122"/>
                <a:cs typeface="+mn-cs"/>
              </a:rPr>
              <a:t>。</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使用判定树进行描述时，应该从问题的文字描述中分清哪些是判定条件，哪些是判定的决策。</a:t>
            </a:r>
            <a:endParaRPr lang="zh-CN" altLang="en-US" dirty="0">
              <a:latin typeface="华文中宋" panose="02010600040101010101" pitchFamily="2" charset="-122"/>
              <a:ea typeface="华文中宋" panose="02010600040101010101" pitchFamily="2" charset="-122"/>
              <a:cs typeface="+mn-cs"/>
            </a:endParaRPr>
          </a:p>
          <a:p>
            <a:pPr>
              <a:buSzPct val="70000"/>
            </a:pPr>
            <a:r>
              <a:rPr lang="zh-CN" altLang="en-US" dirty="0">
                <a:latin typeface="华文中宋" panose="02010600040101010101" pitchFamily="2" charset="-122"/>
                <a:ea typeface="华文中宋" panose="02010600040101010101" pitchFamily="2" charset="-122"/>
                <a:cs typeface="+mn-cs"/>
              </a:rPr>
              <a:t>判定树的符号</a:t>
            </a:r>
            <a:endParaRPr lang="zh-CN" altLang="en-US" dirty="0">
              <a:latin typeface="华文中宋" panose="02010600040101010101" pitchFamily="2" charset="-122"/>
              <a:ea typeface="华文中宋" panose="02010600040101010101" pitchFamily="2" charset="-122"/>
              <a:cs typeface="+mn-cs"/>
            </a:endParaRPr>
          </a:p>
        </p:txBody>
      </p:sp>
      <p:sp>
        <p:nvSpPr>
          <p:cNvPr id="6451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grpSp>
        <p:nvGrpSpPr>
          <p:cNvPr id="64517" name="组合 1"/>
          <p:cNvGrpSpPr/>
          <p:nvPr/>
        </p:nvGrpSpPr>
        <p:grpSpPr>
          <a:xfrm>
            <a:off x="2187575" y="3768725"/>
            <a:ext cx="4875213" cy="2405063"/>
            <a:chOff x="3825" y="6148"/>
            <a:chExt cx="7677" cy="3786"/>
          </a:xfrm>
        </p:grpSpPr>
        <p:pic>
          <p:nvPicPr>
            <p:cNvPr id="64518" name="Picture 4" descr="QQ截图20111031194335"/>
            <p:cNvPicPr>
              <a:picLocks noChangeAspect="1"/>
            </p:cNvPicPr>
            <p:nvPr/>
          </p:nvPicPr>
          <p:blipFill>
            <a:blip r:embed="rId1"/>
            <a:stretch>
              <a:fillRect/>
            </a:stretch>
          </p:blipFill>
          <p:spPr>
            <a:xfrm>
              <a:off x="3825" y="6222"/>
              <a:ext cx="4750" cy="3652"/>
            </a:xfrm>
            <a:prstGeom prst="rect">
              <a:avLst/>
            </a:prstGeom>
            <a:noFill/>
            <a:ln w="9525">
              <a:noFill/>
            </a:ln>
          </p:spPr>
        </p:pic>
        <p:sp>
          <p:nvSpPr>
            <p:cNvPr id="6" name="Line 6"/>
            <p:cNvSpPr>
              <a:spLocks noChangeShapeType="1"/>
            </p:cNvSpPr>
            <p:nvPr/>
          </p:nvSpPr>
          <p:spPr bwMode="auto">
            <a:xfrm>
              <a:off x="8900" y="7368"/>
              <a:ext cx="1135" cy="0"/>
            </a:xfrm>
            <a:prstGeom prst="line">
              <a:avLst/>
            </a:prstGeom>
            <a:noFill/>
            <a:ln w="9525">
              <a:solidFill>
                <a:srgbClr val="E7DEC9"/>
              </a:solidFill>
              <a:round/>
            </a:ln>
          </p:spPr>
          <p:txBody>
            <a:bodyPr lIns="90000" tIns="46800" rIns="90000" bIns="4680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7" name="Line 7"/>
            <p:cNvSpPr>
              <a:spLocks noChangeShapeType="1"/>
            </p:cNvSpPr>
            <p:nvPr/>
          </p:nvSpPr>
          <p:spPr bwMode="auto">
            <a:xfrm>
              <a:off x="8897" y="8839"/>
              <a:ext cx="1022" cy="0"/>
            </a:xfrm>
            <a:prstGeom prst="line">
              <a:avLst/>
            </a:prstGeom>
            <a:noFill/>
            <a:ln w="9525">
              <a:solidFill>
                <a:sysClr val="window" lastClr="FFFFFF"/>
              </a:solidFill>
              <a:round/>
            </a:ln>
          </p:spPr>
          <p:txBody>
            <a:bodyPr lIns="90000" tIns="46800" rIns="90000" bIns="4680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8" name="Line 8"/>
            <p:cNvSpPr>
              <a:spLocks noChangeShapeType="1"/>
            </p:cNvSpPr>
            <p:nvPr/>
          </p:nvSpPr>
          <p:spPr bwMode="auto">
            <a:xfrm>
              <a:off x="8900" y="7368"/>
              <a:ext cx="1135" cy="0"/>
            </a:xfrm>
            <a:prstGeom prst="line">
              <a:avLst/>
            </a:prstGeom>
            <a:noFill/>
            <a:ln w="9525">
              <a:solidFill>
                <a:srgbClr val="E7DEC9"/>
              </a:solidFill>
              <a:round/>
            </a:ln>
          </p:spPr>
          <p:txBody>
            <a:bodyPr lIns="90000" tIns="46800" rIns="90000" bIns="4680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9" name="Line 9"/>
            <p:cNvSpPr>
              <a:spLocks noChangeShapeType="1"/>
            </p:cNvSpPr>
            <p:nvPr/>
          </p:nvSpPr>
          <p:spPr bwMode="auto">
            <a:xfrm>
              <a:off x="8900" y="7368"/>
              <a:ext cx="1135" cy="0"/>
            </a:xfrm>
            <a:prstGeom prst="line">
              <a:avLst/>
            </a:prstGeom>
            <a:noFill/>
            <a:ln w="9525">
              <a:solidFill>
                <a:srgbClr val="E7DEC9"/>
              </a:solidFill>
              <a:round/>
            </a:ln>
          </p:spPr>
          <p:txBody>
            <a:bodyPr lIns="90000" tIns="46800" rIns="90000" bIns="4680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0" name="Line 10"/>
            <p:cNvSpPr>
              <a:spLocks noChangeShapeType="1"/>
            </p:cNvSpPr>
            <p:nvPr/>
          </p:nvSpPr>
          <p:spPr bwMode="auto">
            <a:xfrm>
              <a:off x="8900" y="7368"/>
              <a:ext cx="1135" cy="0"/>
            </a:xfrm>
            <a:prstGeom prst="line">
              <a:avLst/>
            </a:prstGeom>
            <a:noFill/>
            <a:ln w="9525">
              <a:solidFill>
                <a:sysClr val="window" lastClr="FFFFFF"/>
              </a:solidFill>
              <a:round/>
            </a:ln>
          </p:spPr>
          <p:txBody>
            <a:bodyPr lIns="90000" tIns="46800" rIns="90000" bIns="4680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pic>
          <p:nvPicPr>
            <p:cNvPr id="64524" name="Picture 11" descr="444444"/>
            <p:cNvPicPr>
              <a:picLocks noChangeAspect="1"/>
            </p:cNvPicPr>
            <p:nvPr/>
          </p:nvPicPr>
          <p:blipFill>
            <a:blip r:embed="rId2"/>
            <a:stretch>
              <a:fillRect/>
            </a:stretch>
          </p:blipFill>
          <p:spPr>
            <a:xfrm>
              <a:off x="8550" y="6147"/>
              <a:ext cx="2952" cy="3787"/>
            </a:xfrm>
            <a:prstGeom prst="rect">
              <a:avLst/>
            </a:prstGeom>
            <a:noFill/>
            <a:ln w="9525">
              <a:noFill/>
            </a:ln>
          </p:spPr>
        </p:pic>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1"/>
          <p:cNvSpPr>
            <a:spLocks noGrp="1"/>
          </p:cNvSpPr>
          <p:nvPr>
            <p:ph type="title"/>
          </p:nvPr>
        </p:nvSpPr>
        <p:spPr>
          <a:ln/>
        </p:spPr>
        <p:txBody>
          <a:bodyPr vert="horz" wrap="square" lIns="91440" tIns="45720" rIns="91440" bIns="45720" anchor="ctr" anchorCtr="0"/>
          <a:p>
            <a:r>
              <a:rPr lang="zh-CN" altLang="en-US" dirty="0"/>
              <a:t>判定树举例</a:t>
            </a:r>
            <a:endParaRPr lang="zh-CN" altLang="en-US" dirty="0"/>
          </a:p>
        </p:txBody>
      </p:sp>
      <p:sp>
        <p:nvSpPr>
          <p:cNvPr id="65539" name="内容占位符 2"/>
          <p:cNvSpPr>
            <a:spLocks noGrp="1"/>
          </p:cNvSpPr>
          <p:nvPr>
            <p:ph idx="1"/>
          </p:nvPr>
        </p:nvSpPr>
        <p:spPr>
          <a:xfrm>
            <a:off x="827088" y="1957388"/>
            <a:ext cx="7561262" cy="2695575"/>
          </a:xfrm>
          <a:ln/>
        </p:spPr>
        <p:txBody>
          <a:bodyPr vert="horz" wrap="square" lIns="91440" tIns="45720" rIns="91440" bIns="45720" anchor="t" anchorCtr="0">
            <a:spAutoFit/>
          </a:bodyPr>
          <a:p>
            <a:pPr>
              <a:buSzPct val="70000"/>
            </a:pPr>
            <a:r>
              <a:rPr lang="zh-CN" altLang="en-US" dirty="0">
                <a:latin typeface="华文中宋" panose="02010600040101010101" pitchFamily="2" charset="-122"/>
                <a:ea typeface="华文中宋" panose="02010600040101010101" pitchFamily="2" charset="-122"/>
                <a:cs typeface="+mn-cs"/>
              </a:rPr>
              <a:t>例</a:t>
            </a:r>
            <a:r>
              <a:rPr lang="en-US" altLang="zh-CN" dirty="0">
                <a:latin typeface="华文中宋" panose="02010600040101010101" pitchFamily="2" charset="-122"/>
                <a:ea typeface="华文中宋" panose="02010600040101010101" pitchFamily="2" charset="-122"/>
                <a:cs typeface="+mn-cs"/>
              </a:rPr>
              <a:t>:</a:t>
            </a:r>
            <a:r>
              <a:rPr lang="zh-CN" altLang="en-US" dirty="0">
                <a:latin typeface="华文中宋" panose="02010600040101010101" pitchFamily="2" charset="-122"/>
                <a:ea typeface="华文中宋" panose="02010600040101010101" pitchFamily="2" charset="-122"/>
                <a:cs typeface="+mn-cs"/>
              </a:rPr>
              <a:t>某航空公司规定乘客可以免费托运</a:t>
            </a:r>
            <a:r>
              <a:rPr lang="en-US" altLang="zh-CN" dirty="0">
                <a:latin typeface="华文中宋" panose="02010600040101010101" pitchFamily="2" charset="-122"/>
                <a:ea typeface="华文中宋" panose="02010600040101010101" pitchFamily="2" charset="-122"/>
                <a:cs typeface="+mn-cs"/>
              </a:rPr>
              <a:t>30KG</a:t>
            </a:r>
            <a:r>
              <a:rPr lang="zh-CN" altLang="en-US" dirty="0">
                <a:latin typeface="华文中宋" panose="02010600040101010101" pitchFamily="2" charset="-122"/>
                <a:ea typeface="华文中宋" panose="02010600040101010101" pitchFamily="2" charset="-122"/>
                <a:cs typeface="+mn-cs"/>
              </a:rPr>
              <a:t>的物品，超出部分收费，头等舱国内乘客</a:t>
            </a:r>
            <a:r>
              <a:rPr lang="en-US" altLang="zh-CN" dirty="0">
                <a:latin typeface="华文中宋" panose="02010600040101010101" pitchFamily="2" charset="-122"/>
                <a:ea typeface="华文中宋" panose="02010600040101010101" pitchFamily="2" charset="-122"/>
                <a:cs typeface="+mn-cs"/>
              </a:rPr>
              <a:t>1kg</a:t>
            </a:r>
            <a:r>
              <a:rPr lang="zh-CN" altLang="en-US" dirty="0">
                <a:latin typeface="华文中宋" panose="02010600040101010101" pitchFamily="2" charset="-122"/>
                <a:ea typeface="华文中宋" panose="02010600040101010101" pitchFamily="2" charset="-122"/>
                <a:cs typeface="+mn-cs"/>
              </a:rPr>
              <a:t>收费</a:t>
            </a:r>
            <a:r>
              <a:rPr lang="en-US" altLang="zh-CN" dirty="0">
                <a:latin typeface="华文中宋" panose="02010600040101010101" pitchFamily="2" charset="-122"/>
                <a:ea typeface="华文中宋" panose="02010600040101010101" pitchFamily="2" charset="-122"/>
                <a:cs typeface="+mn-cs"/>
              </a:rPr>
              <a:t>4</a:t>
            </a:r>
            <a:r>
              <a:rPr lang="zh-CN" altLang="en-US" dirty="0">
                <a:latin typeface="华文中宋" panose="02010600040101010101" pitchFamily="2" charset="-122"/>
                <a:ea typeface="华文中宋" panose="02010600040101010101" pitchFamily="2" charset="-122"/>
                <a:cs typeface="+mn-cs"/>
              </a:rPr>
              <a:t>元，其他舱国内乘客</a:t>
            </a:r>
            <a:r>
              <a:rPr lang="en-US" altLang="zh-CN" dirty="0">
                <a:latin typeface="华文中宋" panose="02010600040101010101" pitchFamily="2" charset="-122"/>
                <a:ea typeface="华文中宋" panose="02010600040101010101" pitchFamily="2" charset="-122"/>
                <a:cs typeface="+mn-cs"/>
              </a:rPr>
              <a:t>1kg</a:t>
            </a:r>
            <a:r>
              <a:rPr lang="zh-CN" altLang="en-US" dirty="0">
                <a:latin typeface="华文中宋" panose="02010600040101010101" pitchFamily="2" charset="-122"/>
                <a:ea typeface="华文中宋" panose="02010600040101010101" pitchFamily="2" charset="-122"/>
                <a:cs typeface="+mn-cs"/>
              </a:rPr>
              <a:t>收费</a:t>
            </a:r>
            <a:r>
              <a:rPr lang="en-US" altLang="zh-CN" dirty="0">
                <a:latin typeface="华文中宋" panose="02010600040101010101" pitchFamily="2" charset="-122"/>
                <a:ea typeface="华文中宋" panose="02010600040101010101" pitchFamily="2" charset="-122"/>
                <a:cs typeface="+mn-cs"/>
              </a:rPr>
              <a:t>6</a:t>
            </a:r>
            <a:r>
              <a:rPr lang="zh-CN" altLang="en-US" dirty="0">
                <a:latin typeface="华文中宋" panose="02010600040101010101" pitchFamily="2" charset="-122"/>
                <a:ea typeface="华文中宋" panose="02010600040101010101" pitchFamily="2" charset="-122"/>
                <a:cs typeface="+mn-cs"/>
              </a:rPr>
              <a:t>元，国外乘客费用翻倍，残疾人半价 </a:t>
            </a:r>
            <a:endParaRPr lang="zh-CN" altLang="en-US" dirty="0">
              <a:latin typeface="华文中宋" panose="02010600040101010101" pitchFamily="2" charset="-122"/>
              <a:ea typeface="华文中宋" panose="02010600040101010101" pitchFamily="2" charset="-122"/>
              <a:cs typeface="+mn-cs"/>
            </a:endParaRPr>
          </a:p>
          <a:p>
            <a:pPr>
              <a:buSzPct val="70000"/>
            </a:pPr>
            <a:endParaRPr lang="zh-CN" altLang="en-US" dirty="0">
              <a:latin typeface="华文中宋" panose="02010600040101010101" pitchFamily="2" charset="-122"/>
              <a:ea typeface="华文中宋" panose="02010600040101010101" pitchFamily="2" charset="-122"/>
              <a:cs typeface="+mn-cs"/>
            </a:endParaRPr>
          </a:p>
        </p:txBody>
      </p:sp>
      <p:sp>
        <p:nvSpPr>
          <p:cNvPr id="6554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
        <p:nvSpPr>
          <p:cNvPr id="66563" name="Text Box 4"/>
          <p:cNvSpPr txBox="1"/>
          <p:nvPr/>
        </p:nvSpPr>
        <p:spPr>
          <a:xfrm>
            <a:off x="6019800" y="1074738"/>
            <a:ext cx="2895600" cy="5203825"/>
          </a:xfrm>
          <a:prstGeom prst="rect">
            <a:avLst/>
          </a:prstGeom>
          <a:noFill/>
          <a:ln w="12700">
            <a:noFill/>
          </a:ln>
        </p:spPr>
        <p:txBody>
          <a:bodyPr>
            <a:spAutoFit/>
          </a:bodyPr>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残疾乘客  </a:t>
            </a:r>
            <a:r>
              <a:rPr lang="en-US" altLang="zh-CN" dirty="0">
                <a:solidFill>
                  <a:srgbClr val="000000"/>
                </a:solidFill>
                <a:latin typeface="Times New Roman" panose="02020603050405020304" pitchFamily="18" charset="0"/>
                <a:ea typeface="宋体" panose="02010600030101010101" pitchFamily="2" charset="-122"/>
              </a:rPr>
              <a:t>(w-30)*2</a:t>
            </a:r>
            <a:r>
              <a:rPr lang="zh-CN" altLang="en-US" dirty="0">
                <a:solidFill>
                  <a:srgbClr val="000000"/>
                </a:solidFill>
                <a:latin typeface="Times New Roman" panose="02020603050405020304" pitchFamily="18" charset="0"/>
                <a:ea typeface="宋体" panose="02010600030101010101" pitchFamily="2" charset="-122"/>
              </a:rPr>
              <a:t>正常乘客  </a:t>
            </a:r>
            <a:r>
              <a:rPr lang="en-US" altLang="zh-CN" dirty="0">
                <a:solidFill>
                  <a:srgbClr val="000000"/>
                </a:solidFill>
                <a:latin typeface="Times New Roman" panose="02020603050405020304" pitchFamily="18" charset="0"/>
                <a:ea typeface="宋体" panose="02010600030101010101" pitchFamily="2" charset="-122"/>
              </a:rPr>
              <a:t>(w-30)*4</a:t>
            </a:r>
            <a:endParaRPr lang="en-US" altLang="zh-CN"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en-US" altLang="zh-CN"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残疾乘客  </a:t>
            </a:r>
            <a:r>
              <a:rPr lang="en-US" altLang="zh-CN" dirty="0">
                <a:solidFill>
                  <a:srgbClr val="000000"/>
                </a:solidFill>
                <a:latin typeface="Times New Roman" panose="02020603050405020304" pitchFamily="18" charset="0"/>
                <a:ea typeface="宋体" panose="02010600030101010101" pitchFamily="2" charset="-122"/>
              </a:rPr>
              <a:t>(w-30)*3</a:t>
            </a:r>
            <a:r>
              <a:rPr lang="zh-CN" altLang="en-US" dirty="0">
                <a:solidFill>
                  <a:srgbClr val="000000"/>
                </a:solidFill>
                <a:latin typeface="Times New Roman" panose="02020603050405020304" pitchFamily="18" charset="0"/>
                <a:ea typeface="宋体" panose="02010600030101010101" pitchFamily="2" charset="-122"/>
              </a:rPr>
              <a:t>正常乘客  </a:t>
            </a:r>
            <a:r>
              <a:rPr lang="en-US" altLang="zh-CN" dirty="0">
                <a:solidFill>
                  <a:srgbClr val="000000"/>
                </a:solidFill>
                <a:latin typeface="Times New Roman" panose="02020603050405020304" pitchFamily="18" charset="0"/>
                <a:ea typeface="宋体" panose="02010600030101010101" pitchFamily="2" charset="-122"/>
              </a:rPr>
              <a:t>(w-30)*6</a:t>
            </a:r>
            <a:endParaRPr lang="en-US" altLang="zh-CN"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en-US" altLang="zh-CN"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残疾乘客  </a:t>
            </a:r>
            <a:r>
              <a:rPr lang="en-US" altLang="zh-CN" dirty="0">
                <a:solidFill>
                  <a:srgbClr val="000000"/>
                </a:solidFill>
                <a:latin typeface="Times New Roman" panose="02020603050405020304" pitchFamily="18" charset="0"/>
                <a:ea typeface="宋体" panose="02010600030101010101" pitchFamily="2" charset="-122"/>
              </a:rPr>
              <a:t>(w-30)*4</a:t>
            </a:r>
            <a:r>
              <a:rPr lang="zh-CN" altLang="en-US" dirty="0">
                <a:solidFill>
                  <a:srgbClr val="000000"/>
                </a:solidFill>
                <a:latin typeface="Times New Roman" panose="02020603050405020304" pitchFamily="18" charset="0"/>
                <a:ea typeface="宋体" panose="02010600030101010101" pitchFamily="2" charset="-122"/>
              </a:rPr>
              <a:t>正常乘客  </a:t>
            </a:r>
            <a:r>
              <a:rPr lang="en-US" altLang="zh-CN" dirty="0">
                <a:solidFill>
                  <a:srgbClr val="000000"/>
                </a:solidFill>
                <a:latin typeface="Times New Roman" panose="02020603050405020304" pitchFamily="18" charset="0"/>
                <a:ea typeface="宋体" panose="02010600030101010101" pitchFamily="2" charset="-122"/>
              </a:rPr>
              <a:t>(w-30)*8</a:t>
            </a:r>
            <a:endParaRPr lang="en-US" altLang="zh-CN"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en-US" altLang="zh-CN"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残疾乘客  </a:t>
            </a:r>
            <a:r>
              <a:rPr lang="en-US" altLang="zh-CN" dirty="0">
                <a:solidFill>
                  <a:srgbClr val="000000"/>
                </a:solidFill>
                <a:latin typeface="Times New Roman" panose="02020603050405020304" pitchFamily="18" charset="0"/>
                <a:ea typeface="宋体" panose="02010600030101010101" pitchFamily="2" charset="-122"/>
              </a:rPr>
              <a:t>(w-30)*6</a:t>
            </a:r>
            <a:r>
              <a:rPr lang="zh-CN" altLang="en-US" dirty="0">
                <a:solidFill>
                  <a:srgbClr val="000000"/>
                </a:solidFill>
                <a:latin typeface="Times New Roman" panose="02020603050405020304" pitchFamily="18" charset="0"/>
                <a:ea typeface="宋体" panose="02010600030101010101" pitchFamily="2" charset="-122"/>
              </a:rPr>
              <a:t>正常乘客  </a:t>
            </a:r>
            <a:r>
              <a:rPr lang="en-US" altLang="zh-CN" dirty="0">
                <a:solidFill>
                  <a:srgbClr val="000000"/>
                </a:solidFill>
                <a:latin typeface="Times New Roman" panose="02020603050405020304" pitchFamily="18" charset="0"/>
                <a:ea typeface="宋体" panose="02010600030101010101" pitchFamily="2" charset="-122"/>
              </a:rPr>
              <a:t>(w-30)*12</a:t>
            </a:r>
            <a:endParaRPr lang="en-US" altLang="zh-CN" dirty="0">
              <a:solidFill>
                <a:srgbClr val="000000"/>
              </a:solidFill>
              <a:latin typeface="Times New Roman" panose="02020603050405020304" pitchFamily="18" charset="0"/>
              <a:ea typeface="宋体" panose="02010600030101010101" pitchFamily="2" charset="-122"/>
            </a:endParaRPr>
          </a:p>
        </p:txBody>
      </p:sp>
      <p:sp>
        <p:nvSpPr>
          <p:cNvPr id="66564" name="Text Box 5"/>
          <p:cNvSpPr txBox="1"/>
          <p:nvPr/>
        </p:nvSpPr>
        <p:spPr>
          <a:xfrm>
            <a:off x="4724400" y="1169988"/>
            <a:ext cx="1219200" cy="4657725"/>
          </a:xfrm>
          <a:prstGeom prst="rect">
            <a:avLst/>
          </a:prstGeom>
          <a:noFill/>
          <a:ln w="12700">
            <a:noFill/>
          </a:ln>
        </p:spPr>
        <p:txBody>
          <a:bodyPr>
            <a:spAutoFit/>
          </a:bodyPr>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头等舱</a:t>
            </a: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其它舱</a:t>
            </a: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sz="1600"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头等舱</a:t>
            </a: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其它舱</a:t>
            </a:r>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66565" name="Text Box 6"/>
          <p:cNvSpPr txBox="1"/>
          <p:nvPr/>
        </p:nvSpPr>
        <p:spPr>
          <a:xfrm>
            <a:off x="3200400" y="2051050"/>
            <a:ext cx="1676400" cy="2786063"/>
          </a:xfrm>
          <a:prstGeom prst="rect">
            <a:avLst/>
          </a:prstGeom>
          <a:noFill/>
          <a:ln w="12700">
            <a:noFill/>
          </a:ln>
        </p:spPr>
        <p:txBody>
          <a:bodyPr>
            <a:spAutoFit/>
          </a:bodyPr>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国内乘客</a:t>
            </a: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sz="1000"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sz="1000"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sz="1000"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国外乘客</a:t>
            </a:r>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66566" name="Text Box 7"/>
          <p:cNvSpPr txBox="1"/>
          <p:nvPr/>
        </p:nvSpPr>
        <p:spPr>
          <a:xfrm>
            <a:off x="1600200" y="2692400"/>
            <a:ext cx="1447800" cy="3378200"/>
          </a:xfrm>
          <a:prstGeom prst="rect">
            <a:avLst/>
          </a:prstGeom>
          <a:noFill/>
          <a:ln w="12700">
            <a:noFill/>
          </a:ln>
        </p:spPr>
        <p:txBody>
          <a:bodyPr>
            <a:spAutoFit/>
          </a:bodyPr>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行李重量</a:t>
            </a:r>
            <a:r>
              <a:rPr lang="en-US" altLang="zh-CN" dirty="0">
                <a:solidFill>
                  <a:srgbClr val="000000"/>
                </a:solidFill>
                <a:latin typeface="Times New Roman" panose="02020603050405020304" pitchFamily="18" charset="0"/>
                <a:ea typeface="宋体" panose="02010600030101010101" pitchFamily="2" charset="-122"/>
              </a:rPr>
              <a:t>&gt;30</a:t>
            </a:r>
            <a:r>
              <a:rPr lang="zh-CN" altLang="en-US" dirty="0">
                <a:solidFill>
                  <a:srgbClr val="000000"/>
                </a:solidFill>
                <a:latin typeface="Times New Roman" panose="02020603050405020304" pitchFamily="18" charset="0"/>
                <a:ea typeface="宋体" panose="02010600030101010101" pitchFamily="2" charset="-122"/>
              </a:rPr>
              <a:t>公斤</a:t>
            </a: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endParaRPr lang="zh-CN" altLang="en-US" dirty="0">
              <a:solidFill>
                <a:srgbClr val="000000"/>
              </a:solidFill>
              <a:latin typeface="Times New Roman" panose="02020603050405020304" pitchFamily="18" charset="0"/>
              <a:ea typeface="宋体" panose="02010600030101010101" pitchFamily="2" charset="-122"/>
            </a:endParaRPr>
          </a:p>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行李重量</a:t>
            </a:r>
            <a:r>
              <a:rPr lang="zh-CN" altLang="en-US"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dirty="0">
                <a:solidFill>
                  <a:srgbClr val="000000"/>
                </a:solidFill>
                <a:latin typeface="Times New Roman" panose="02020603050405020304" pitchFamily="18" charset="0"/>
                <a:ea typeface="宋体" panose="02010600030101010101" pitchFamily="2" charset="-122"/>
              </a:rPr>
              <a:t>30</a:t>
            </a:r>
            <a:r>
              <a:rPr lang="zh-CN" altLang="en-US" dirty="0">
                <a:solidFill>
                  <a:srgbClr val="000000"/>
                </a:solidFill>
                <a:latin typeface="Times New Roman" panose="02020603050405020304" pitchFamily="18" charset="0"/>
                <a:ea typeface="宋体" panose="02010600030101010101" pitchFamily="2" charset="-122"/>
              </a:rPr>
              <a:t>公斤</a:t>
            </a:r>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66567" name="Text Box 8"/>
          <p:cNvSpPr txBox="1"/>
          <p:nvPr/>
        </p:nvSpPr>
        <p:spPr>
          <a:xfrm>
            <a:off x="381000" y="3832225"/>
            <a:ext cx="1143000" cy="822325"/>
          </a:xfrm>
          <a:prstGeom prst="rect">
            <a:avLst/>
          </a:prstGeom>
          <a:noFill/>
          <a:ln w="12700">
            <a:noFill/>
          </a:ln>
        </p:spPr>
        <p:txBody>
          <a:bodyPr>
            <a:spAutoFit/>
          </a:bodyPr>
          <a:p>
            <a:pPr algn="ct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行李费算法</a:t>
            </a:r>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10" name="AutoShape 9"/>
          <p:cNvSpPr/>
          <p:nvPr/>
        </p:nvSpPr>
        <p:spPr bwMode="auto">
          <a:xfrm>
            <a:off x="1447800" y="2903538"/>
            <a:ext cx="76200" cy="2924175"/>
          </a:xfrm>
          <a:prstGeom prst="leftBrace">
            <a:avLst>
              <a:gd name="adj1" fmla="val 319792"/>
              <a:gd name="adj2" fmla="val 50000"/>
            </a:avLst>
          </a:prstGeom>
          <a:noFill/>
          <a:ln w="12700" cap="sq">
            <a:solidFill>
              <a:sysClr val="windowText" lastClr="000000"/>
            </a:solidFill>
            <a:round/>
            <a:headEnd type="none" w="sm" len="sm"/>
            <a:tailEnd type="none" w="sm" len="sm"/>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1" name="AutoShape 10"/>
          <p:cNvSpPr/>
          <p:nvPr/>
        </p:nvSpPr>
        <p:spPr bwMode="auto">
          <a:xfrm>
            <a:off x="3048000" y="2289175"/>
            <a:ext cx="76200" cy="2125663"/>
          </a:xfrm>
          <a:prstGeom prst="leftBrace">
            <a:avLst>
              <a:gd name="adj1" fmla="val 232465"/>
              <a:gd name="adj2" fmla="val 50000"/>
            </a:avLst>
          </a:prstGeom>
          <a:noFill/>
          <a:ln w="12700" cap="sq">
            <a:solidFill>
              <a:sysClr val="windowText" lastClr="000000"/>
            </a:solidFill>
            <a:round/>
            <a:headEnd type="none" w="sm" len="sm"/>
            <a:tailEnd type="none" w="sm" len="sm"/>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2" name="AutoShape 11"/>
          <p:cNvSpPr/>
          <p:nvPr/>
        </p:nvSpPr>
        <p:spPr bwMode="auto">
          <a:xfrm>
            <a:off x="4572000" y="1490663"/>
            <a:ext cx="152400" cy="1641475"/>
          </a:xfrm>
          <a:prstGeom prst="leftBrace">
            <a:avLst>
              <a:gd name="adj1" fmla="val 89757"/>
              <a:gd name="adj2" fmla="val 50000"/>
            </a:avLst>
          </a:prstGeom>
          <a:noFill/>
          <a:ln w="12700" cap="sq">
            <a:solidFill>
              <a:sysClr val="windowText" lastClr="000000"/>
            </a:solidFill>
            <a:round/>
            <a:headEnd type="none" w="sm" len="sm"/>
            <a:tailEnd type="none" w="sm" len="sm"/>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3" name="AutoShape 12"/>
          <p:cNvSpPr/>
          <p:nvPr/>
        </p:nvSpPr>
        <p:spPr bwMode="auto">
          <a:xfrm>
            <a:off x="4572000" y="4449763"/>
            <a:ext cx="76200" cy="1196975"/>
          </a:xfrm>
          <a:prstGeom prst="leftBrace">
            <a:avLst>
              <a:gd name="adj1" fmla="val 130903"/>
              <a:gd name="adj2" fmla="val 50000"/>
            </a:avLst>
          </a:prstGeom>
          <a:noFill/>
          <a:ln w="12700" cap="sq">
            <a:solidFill>
              <a:sysClr val="windowText" lastClr="000000"/>
            </a:solidFill>
            <a:round/>
            <a:headEnd type="none" w="sm" len="sm"/>
            <a:tailEnd type="none" w="sm" len="sm"/>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4" name="AutoShape 13"/>
          <p:cNvSpPr/>
          <p:nvPr/>
        </p:nvSpPr>
        <p:spPr bwMode="auto">
          <a:xfrm>
            <a:off x="5867400" y="1058863"/>
            <a:ext cx="76200" cy="930275"/>
          </a:xfrm>
          <a:prstGeom prst="leftBrace">
            <a:avLst>
              <a:gd name="adj1" fmla="val 101736"/>
              <a:gd name="adj2" fmla="val 50000"/>
            </a:avLst>
          </a:prstGeom>
          <a:noFill/>
          <a:ln w="12700" cap="sq">
            <a:solidFill>
              <a:sysClr val="windowText" lastClr="000000"/>
            </a:solidFill>
            <a:round/>
            <a:headEnd type="none" w="sm" len="sm"/>
            <a:tailEnd type="none" w="sm" len="sm"/>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5" name="AutoShape 14"/>
          <p:cNvSpPr/>
          <p:nvPr/>
        </p:nvSpPr>
        <p:spPr bwMode="auto">
          <a:xfrm>
            <a:off x="5867400" y="2506663"/>
            <a:ext cx="76200" cy="930275"/>
          </a:xfrm>
          <a:prstGeom prst="leftBrace">
            <a:avLst>
              <a:gd name="adj1" fmla="val 101736"/>
              <a:gd name="adj2" fmla="val 50000"/>
            </a:avLst>
          </a:prstGeom>
          <a:noFill/>
          <a:ln w="12700" cap="sq">
            <a:solidFill>
              <a:sysClr val="windowText" lastClr="000000"/>
            </a:solidFill>
            <a:round/>
            <a:headEnd type="none" w="sm" len="sm"/>
            <a:tailEnd type="none" w="sm" len="sm"/>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6" name="AutoShape 15"/>
          <p:cNvSpPr/>
          <p:nvPr/>
        </p:nvSpPr>
        <p:spPr bwMode="auto">
          <a:xfrm>
            <a:off x="5867400" y="4030663"/>
            <a:ext cx="76200" cy="930275"/>
          </a:xfrm>
          <a:prstGeom prst="leftBrace">
            <a:avLst>
              <a:gd name="adj1" fmla="val 101736"/>
              <a:gd name="adj2" fmla="val 50000"/>
            </a:avLst>
          </a:prstGeom>
          <a:noFill/>
          <a:ln w="12700" cap="sq">
            <a:solidFill>
              <a:sysClr val="windowText" lastClr="000000"/>
            </a:solidFill>
            <a:round/>
            <a:headEnd type="none" w="sm" len="sm"/>
            <a:tailEnd type="none" w="sm" len="sm"/>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7" name="AutoShape 16"/>
          <p:cNvSpPr/>
          <p:nvPr/>
        </p:nvSpPr>
        <p:spPr bwMode="auto">
          <a:xfrm>
            <a:off x="5867400" y="5402263"/>
            <a:ext cx="76200" cy="930275"/>
          </a:xfrm>
          <a:prstGeom prst="leftBrace">
            <a:avLst>
              <a:gd name="adj1" fmla="val 101736"/>
              <a:gd name="adj2" fmla="val 50000"/>
            </a:avLst>
          </a:prstGeom>
          <a:noFill/>
          <a:ln w="12700" cap="sq">
            <a:solidFill>
              <a:sysClr val="windowText" lastClr="000000"/>
            </a:solidFill>
            <a:round/>
            <a:headEnd type="none" w="sm" len="sm"/>
            <a:tailEnd type="none" w="sm" len="sm"/>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18" name="AutoShape 17"/>
          <p:cNvSpPr/>
          <p:nvPr/>
        </p:nvSpPr>
        <p:spPr bwMode="auto">
          <a:xfrm>
            <a:off x="3048000" y="5451475"/>
            <a:ext cx="76200" cy="930275"/>
          </a:xfrm>
          <a:prstGeom prst="leftBrace">
            <a:avLst>
              <a:gd name="adj1" fmla="val 101736"/>
              <a:gd name="adj2" fmla="val 50000"/>
            </a:avLst>
          </a:prstGeom>
          <a:noFill/>
          <a:ln w="12700" cap="sq">
            <a:solidFill>
              <a:sysClr val="windowText" lastClr="000000"/>
            </a:solidFill>
            <a:round/>
            <a:headEnd type="none" w="sm" len="sm"/>
            <a:tailEnd type="none" w="sm" len="sm"/>
          </a:ln>
        </p:spPr>
        <p:txBody>
          <a:bodyPr wrap="none" anchor="ctr"/>
          <a:lstStyle>
            <a:lvl1pPr>
              <a:spcBef>
                <a:spcPts val="600"/>
              </a:spcBef>
              <a:buClr>
                <a:schemeClr val="accent1"/>
              </a:buClr>
              <a:buSzPct val="80000"/>
              <a:buFont typeface="Wingdings 2" panose="05020102010507070707" pitchFamily="82" charset="2"/>
              <a:buChar char=""/>
              <a:defRPr sz="3200">
                <a:solidFill>
                  <a:schemeClr val="tx1"/>
                </a:solidFill>
                <a:latin typeface="Gill Sans MT"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chemeClr val="tx1"/>
                </a:solidFill>
                <a:latin typeface="Gill Sans MT"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82" charset="2"/>
              <a:buChar char=""/>
              <a:defRPr sz="2400">
                <a:solidFill>
                  <a:schemeClr val="tx1"/>
                </a:solidFill>
                <a:latin typeface="Gill Sans MT" pitchFamily="34" charset="0"/>
                <a:ea typeface="华文中宋" panose="02010600040101010101" pitchFamily="2" charset="-122"/>
              </a:defRPr>
            </a:lvl3pPr>
            <a:lvl4pPr marL="1600200" indent="-228600">
              <a:spcBef>
                <a:spcPct val="20000"/>
              </a:spcBef>
              <a:buClr>
                <a:srgbClr val="C32D2E"/>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4pPr>
            <a:lvl5pPr marL="2057400" indent="-228600">
              <a:spcBef>
                <a:spcPct val="20000"/>
              </a:spcBef>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5pPr>
            <a:lvl6pPr marL="25146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6pPr>
            <a:lvl7pPr marL="29718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7pPr>
            <a:lvl8pPr marL="34290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8pPr>
            <a:lvl9pPr marL="3886200" indent="-228600" eaLnBrk="0" fontAlgn="base" hangingPunct="0">
              <a:spcBef>
                <a:spcPct val="20000"/>
              </a:spcBef>
              <a:spcAft>
                <a:spcPct val="0"/>
              </a:spcAft>
              <a:buClr>
                <a:srgbClr val="84AA33"/>
              </a:buClr>
              <a:buFont typeface="Wingdings 2" panose="05020102010507070707" pitchFamily="82" charset="2"/>
              <a:buChar char=""/>
              <a:defRPr sz="2000">
                <a:solidFill>
                  <a:schemeClr val="tx1"/>
                </a:solidFill>
                <a:latin typeface="Gill Sans MT" pitchFamily="34" charset="0"/>
                <a:ea typeface="华文中宋" panose="02010600040101010101" pitchFamily="2" charset="-122"/>
              </a:defRPr>
            </a:lvl9pPr>
          </a:lstStyle>
          <a:p>
            <a:pPr marL="0" marR="0" lvl="0" indent="0" algn="l" defTabSz="914400" rtl="0" eaLnBrk="1" fontAlgn="auto" latinLnBrk="0" hangingPunct="1">
              <a:lnSpc>
                <a:spcPct val="80000"/>
              </a:lnSpc>
              <a:spcBef>
                <a:spcPct val="20000"/>
              </a:spcBef>
              <a:spcAft>
                <a:spcPts val="0"/>
              </a:spcAft>
              <a:buClr>
                <a:srgbClr val="8DC765"/>
              </a:buClr>
              <a:buSzPct val="70000"/>
              <a:buFont typeface="Wingdings" panose="05000000000000000000" pitchFamily="2" charset="2"/>
              <a:buChar char="n"/>
              <a:defRPr/>
            </a:pPr>
            <a:endParaRPr kumimoji="0" lang="zh-CN" altLang="en-US" sz="2400" b="0" i="0" u="none" strike="noStrike" kern="0" cap="none" spc="0" normalizeH="0" baseline="0" noProof="0">
              <a:ln>
                <a:noFill/>
              </a:ln>
              <a:solidFill>
                <a:prstClr val="black"/>
              </a:solidFill>
              <a:effectLst/>
              <a:uLnTx/>
              <a:uFillTx/>
              <a:latin typeface="Tahoma" panose="020B0604030504040204" pitchFamily="34" charset="0"/>
              <a:ea typeface="幼圆" panose="02010509060101010101" pitchFamily="49" charset="-122"/>
              <a:cs typeface="+mn-cs"/>
            </a:endParaRPr>
          </a:p>
        </p:txBody>
      </p:sp>
      <p:sp>
        <p:nvSpPr>
          <p:cNvPr id="66577" name="Text Box 18"/>
          <p:cNvSpPr txBox="1"/>
          <p:nvPr/>
        </p:nvSpPr>
        <p:spPr>
          <a:xfrm>
            <a:off x="3124200" y="5478463"/>
            <a:ext cx="1143000" cy="457200"/>
          </a:xfrm>
          <a:prstGeom prst="rect">
            <a:avLst/>
          </a:prstGeom>
          <a:noFill/>
          <a:ln w="12700">
            <a:noFill/>
          </a:ln>
        </p:spPr>
        <p:txBody>
          <a:bodyPr>
            <a:spAutoFit/>
          </a:bodyPr>
          <a:p>
            <a:pPr eaLnBrk="1" hangingPunct="1">
              <a:spcBef>
                <a:spcPct val="50000"/>
              </a:spcBef>
            </a:pPr>
            <a:r>
              <a:rPr lang="zh-CN" altLang="en-US" dirty="0">
                <a:solidFill>
                  <a:srgbClr val="000000"/>
                </a:solidFill>
                <a:latin typeface="Times New Roman" panose="02020603050405020304" pitchFamily="18" charset="0"/>
                <a:ea typeface="宋体" panose="02010600030101010101" pitchFamily="2" charset="-122"/>
              </a:rPr>
              <a:t>免费</a:t>
            </a:r>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2723" name="文本框 21"/>
          <p:cNvSpPr txBox="1">
            <a:spLocks noChangeArrowheads="1"/>
          </p:cNvSpPr>
          <p:nvPr/>
        </p:nvSpPr>
        <p:spPr bwMode="auto">
          <a:xfrm>
            <a:off x="287338" y="1052513"/>
            <a:ext cx="4360863" cy="1077913"/>
          </a:xfrm>
          <a:prstGeom prst="rect">
            <a:avLst/>
          </a:prstGeom>
          <a:noFill/>
          <a:ln>
            <a:noFill/>
          </a:ln>
        </p:spPr>
        <p:txBody>
          <a:bodyPr>
            <a:spAutoFit/>
          </a:bodyPr>
          <a:lstStyle>
            <a:lvl1pPr>
              <a:defRPr sz="2400" b="1">
                <a:solidFill>
                  <a:schemeClr val="accent2"/>
                </a:solidFill>
                <a:latin typeface="华文中宋" panose="02010600040101010101" pitchFamily="2" charset="-122"/>
                <a:ea typeface="华文中宋" panose="02010600040101010101" pitchFamily="2" charset="-122"/>
              </a:defRPr>
            </a:lvl1pPr>
            <a:lvl2pPr marL="742950" indent="-285750">
              <a:defRPr sz="2400" b="1">
                <a:solidFill>
                  <a:schemeClr val="accent2"/>
                </a:solidFill>
                <a:latin typeface="华文中宋" panose="02010600040101010101" pitchFamily="2" charset="-122"/>
                <a:ea typeface="华文中宋" panose="02010600040101010101" pitchFamily="2" charset="-122"/>
              </a:defRPr>
            </a:lvl2pPr>
            <a:lvl3pPr marL="1143000" indent="-228600">
              <a:defRPr sz="2400" b="1">
                <a:solidFill>
                  <a:schemeClr val="accent2"/>
                </a:solidFill>
                <a:latin typeface="华文中宋" panose="02010600040101010101" pitchFamily="2" charset="-122"/>
                <a:ea typeface="华文中宋" panose="02010600040101010101" pitchFamily="2" charset="-122"/>
              </a:defRPr>
            </a:lvl3pPr>
            <a:lvl4pPr marL="1600200" indent="-228600">
              <a:defRPr sz="2400" b="1">
                <a:solidFill>
                  <a:schemeClr val="accent2"/>
                </a:solidFill>
                <a:latin typeface="华文中宋" panose="02010600040101010101" pitchFamily="2" charset="-122"/>
                <a:ea typeface="华文中宋" panose="02010600040101010101" pitchFamily="2" charset="-122"/>
              </a:defRPr>
            </a:lvl4pPr>
            <a:lvl5pPr marL="2057400" indent="-228600">
              <a:defRPr sz="2400" b="1">
                <a:solidFill>
                  <a:schemeClr val="accent2"/>
                </a:solidFill>
                <a:latin typeface="华文中宋" panose="02010600040101010101" pitchFamily="2" charset="-122"/>
                <a:ea typeface="华文中宋" panose="02010600040101010101" pitchFamily="2" charset="-122"/>
              </a:defRPr>
            </a:lvl5pPr>
            <a:lvl6pPr marL="25146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6pPr>
            <a:lvl7pPr marL="29718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7pPr>
            <a:lvl8pPr marL="34290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8pPr>
            <a:lvl9pPr marL="3886200" indent="-228600" eaLnBrk="0" fontAlgn="base" hangingPunct="0">
              <a:spcBef>
                <a:spcPct val="0"/>
              </a:spcBef>
              <a:spcAft>
                <a:spcPct val="0"/>
              </a:spcAft>
              <a:defRPr sz="2400" b="1">
                <a:solidFill>
                  <a:schemeClr val="accent2"/>
                </a:solidFill>
                <a:latin typeface="华文中宋" panose="02010600040101010101" pitchFamily="2" charset="-122"/>
                <a:ea typeface="华文中宋" panose="0201060004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例</a:t>
            </a:r>
            <a:r>
              <a:rPr kumimoji="0" lang="en-US" altLang="zh-CN"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a:t>
            </a:r>
            <a:r>
              <a:rPr kumimoji="0" lang="zh-CN" altLang="en-US"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某航空公司规定乘客可以免费托运</a:t>
            </a:r>
            <a:r>
              <a:rPr kumimoji="0" lang="en-US" altLang="zh-CN"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30KG</a:t>
            </a:r>
            <a:r>
              <a:rPr kumimoji="0" lang="zh-CN" altLang="en-US"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的物品，超出部分收费，头等舱国内乘客</a:t>
            </a:r>
            <a:r>
              <a:rPr kumimoji="0" lang="en-US" altLang="zh-CN"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1kg</a:t>
            </a:r>
            <a:r>
              <a:rPr kumimoji="0" lang="zh-CN" altLang="en-US"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收费</a:t>
            </a:r>
            <a:r>
              <a:rPr kumimoji="0" lang="en-US" altLang="zh-CN"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4</a:t>
            </a:r>
            <a:r>
              <a:rPr kumimoji="0" lang="zh-CN" altLang="en-US"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元，其他舱国内乘客</a:t>
            </a:r>
            <a:r>
              <a:rPr kumimoji="0" lang="en-US" altLang="zh-CN"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1kg</a:t>
            </a:r>
            <a:r>
              <a:rPr kumimoji="0" lang="zh-CN" altLang="en-US"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收费</a:t>
            </a:r>
            <a:r>
              <a:rPr kumimoji="0" lang="en-US" altLang="zh-CN"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6</a:t>
            </a:r>
            <a:r>
              <a:rPr kumimoji="0" lang="zh-CN" altLang="en-US"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元，国外乘客费用翻倍，残疾人半价 </a:t>
            </a:r>
            <a:endParaRPr kumimoji="0" lang="zh-CN" altLang="en-US" sz="1600" b="0" i="0" u="none" strike="noStrike" kern="120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标题 1"/>
          <p:cNvSpPr>
            <a:spLocks noGrp="1"/>
          </p:cNvSpPr>
          <p:nvPr>
            <p:ph type="title"/>
          </p:nvPr>
        </p:nvSpPr>
        <p:spPr>
          <a:ln/>
        </p:spPr>
        <p:txBody>
          <a:bodyPr vert="horz" wrap="square" lIns="91440" tIns="45720" rIns="91440" bIns="45720" anchor="ctr" anchorCtr="0"/>
          <a:p>
            <a:r>
              <a:rPr lang="zh-CN" altLang="zh-CN" b="0" dirty="0">
                <a:solidFill>
                  <a:srgbClr val="C00000"/>
                </a:solidFill>
                <a:latin typeface="Calibri" panose="020F0502020204030204" pitchFamily="34" charset="0"/>
                <a:ea typeface="宋体" panose="02010600030101010101" pitchFamily="2" charset="-122"/>
              </a:rPr>
              <a:t>第一个分枝是至关重要的</a:t>
            </a:r>
            <a:endParaRPr lang="zh-CN" altLang="en-US" dirty="0"/>
          </a:p>
        </p:txBody>
      </p:sp>
      <p:graphicFrame>
        <p:nvGraphicFramePr>
          <p:cNvPr id="81922" name="对象 -2147482597"/>
          <p:cNvGraphicFramePr>
            <a:graphicFrameLocks noChangeAspect="1"/>
          </p:cNvGraphicFramePr>
          <p:nvPr/>
        </p:nvGraphicFramePr>
        <p:xfrm>
          <a:off x="1139825" y="1730375"/>
          <a:ext cx="7038975" cy="4800600"/>
        </p:xfrm>
        <a:graphic>
          <a:graphicData uri="http://schemas.openxmlformats.org/presentationml/2006/ole">
            <mc:AlternateContent xmlns:mc="http://schemas.openxmlformats.org/markup-compatibility/2006">
              <mc:Choice xmlns:v="urn:schemas-microsoft-com:vml" Requires="v">
                <p:oleObj spid="_x0000_s3076" name="" r:id="rId1" imgW="11607800" imgH="8775700" progId="Visio.Drawing.15">
                  <p:embed/>
                </p:oleObj>
              </mc:Choice>
              <mc:Fallback>
                <p:oleObj name="" r:id="rId1" imgW="11607800" imgH="8775700" progId="Visio.Drawing.15">
                  <p:embed/>
                  <p:pic>
                    <p:nvPicPr>
                      <p:cNvPr id="0" name="图片 3075"/>
                      <p:cNvPicPr/>
                      <p:nvPr/>
                    </p:nvPicPr>
                    <p:blipFill>
                      <a:blip r:embed="rId2"/>
                      <a:stretch>
                        <a:fillRect/>
                      </a:stretch>
                    </p:blipFill>
                    <p:spPr>
                      <a:xfrm>
                        <a:off x="1139825" y="1730375"/>
                        <a:ext cx="7038975" cy="4800600"/>
                      </a:xfrm>
                      <a:prstGeom prst="rect">
                        <a:avLst/>
                      </a:prstGeom>
                      <a:noFill/>
                      <a:ln w="38100">
                        <a:noFill/>
                        <a:miter/>
                      </a:ln>
                    </p:spPr>
                  </p:pic>
                </p:oleObj>
              </mc:Fallback>
            </mc:AlternateContent>
          </a:graphicData>
        </a:graphic>
      </p:graphicFrame>
      <p:sp>
        <p:nvSpPr>
          <p:cNvPr id="68612" name="文本框 99"/>
          <p:cNvSpPr txBox="1"/>
          <p:nvPr/>
        </p:nvSpPr>
        <p:spPr>
          <a:xfrm>
            <a:off x="752475" y="1022350"/>
            <a:ext cx="7502525" cy="706438"/>
          </a:xfrm>
          <a:prstGeom prst="rect">
            <a:avLst/>
          </a:prstGeom>
          <a:noFill/>
          <a:ln w="9525">
            <a:noFill/>
          </a:ln>
        </p:spPr>
        <p:txBody>
          <a:bodyPr>
            <a:spAutoFit/>
          </a:bodyPr>
          <a:p>
            <a:pPr eaLnBrk="1" hangingPunct="1"/>
            <a:r>
              <a:rPr lang="zh-CN" altLang="zh-CN" sz="2000" b="0" dirty="0">
                <a:solidFill>
                  <a:schemeClr val="tx1"/>
                </a:solidFill>
                <a:latin typeface="Calibri" panose="020F0502020204030204" pitchFamily="34" charset="0"/>
                <a:ea typeface="宋体" panose="02010600030101010101" pitchFamily="2" charset="-122"/>
              </a:rPr>
              <a:t>判定树的分枝次序对于最终画出的判定树的简洁程度有较大影响，所以</a:t>
            </a:r>
            <a:r>
              <a:rPr lang="zh-CN" altLang="zh-CN" sz="2000" b="0" dirty="0">
                <a:solidFill>
                  <a:srgbClr val="C00000"/>
                </a:solidFill>
                <a:latin typeface="Calibri" panose="020F0502020204030204" pitchFamily="34" charset="0"/>
                <a:ea typeface="宋体" panose="02010600030101010101" pitchFamily="2" charset="-122"/>
              </a:rPr>
              <a:t>选择哪一个条件作为第一个分枝是至关重要的</a:t>
            </a:r>
            <a:r>
              <a:rPr lang="zh-CN" altLang="zh-CN" sz="2000" b="0" dirty="0">
                <a:solidFill>
                  <a:schemeClr val="tx1"/>
                </a:solidFill>
                <a:latin typeface="Calibri" panose="020F0502020204030204" pitchFamily="34" charset="0"/>
                <a:ea typeface="宋体" panose="02010600030101010101" pitchFamily="2" charset="-122"/>
              </a:rPr>
              <a:t>。</a:t>
            </a:r>
            <a:endParaRPr lang="zh-CN" altLang="en-US" sz="2000" b="0" dirty="0">
              <a:solidFill>
                <a:schemeClr val="tx1"/>
              </a:solidFill>
              <a:latin typeface="Calibri" panose="020F050202020403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22"/>
                                        </p:tgtEl>
                                        <p:attrNameLst>
                                          <p:attrName>style.visibility</p:attrName>
                                        </p:attrNameLst>
                                      </p:cBhvr>
                                      <p:to>
                                        <p:strVal val="visible"/>
                                      </p:to>
                                    </p:set>
                                    <p:anim calcmode="lin" valueType="num">
                                      <p:cBhvr additive="base">
                                        <p:cTn id="7" dur="500" fill="hold"/>
                                        <p:tgtEl>
                                          <p:spTgt spid="81922"/>
                                        </p:tgtEl>
                                        <p:attrNameLst>
                                          <p:attrName>ppt_x</p:attrName>
                                        </p:attrNameLst>
                                      </p:cBhvr>
                                      <p:tavLst>
                                        <p:tav tm="0">
                                          <p:val>
                                            <p:strVal val="#ppt_x"/>
                                          </p:val>
                                        </p:tav>
                                        <p:tav tm="100000">
                                          <p:val>
                                            <p:strVal val="#ppt_x"/>
                                          </p:val>
                                        </p:tav>
                                      </p:tavLst>
                                    </p:anim>
                                    <p:anim calcmode="lin" valueType="num">
                                      <p:cBhvr additive="base">
                                        <p:cTn id="8" dur="500" fill="hold"/>
                                        <p:tgtEl>
                                          <p:spTgt spid="819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1"/>
          <p:cNvSpPr>
            <a:spLocks noGrp="1"/>
          </p:cNvSpPr>
          <p:nvPr>
            <p:ph type="title"/>
          </p:nvPr>
        </p:nvSpPr>
        <p:spPr>
          <a:ln/>
        </p:spPr>
        <p:txBody>
          <a:bodyPr vert="horz" wrap="square" lIns="91440" tIns="45720" rIns="91440" bIns="45720" anchor="ctr" anchorCtr="0"/>
          <a:p>
            <a:r>
              <a:rPr lang="zh-CN" altLang="en-US" dirty="0"/>
              <a:t>判定树的特点</a:t>
            </a:r>
            <a:endParaRPr lang="zh-CN" altLang="en-US" dirty="0"/>
          </a:p>
        </p:txBody>
      </p:sp>
      <p:sp>
        <p:nvSpPr>
          <p:cNvPr id="69635" name="内容占位符 2"/>
          <p:cNvSpPr>
            <a:spLocks noGrp="1"/>
          </p:cNvSpPr>
          <p:nvPr>
            <p:ph idx="1"/>
          </p:nvPr>
        </p:nvSpPr>
        <p:spPr>
          <a:xfrm>
            <a:off x="876300" y="1641475"/>
            <a:ext cx="7391400" cy="2305050"/>
          </a:xfrm>
          <a:ln/>
        </p:spPr>
        <p:txBody>
          <a:bodyPr vert="horz" wrap="square" lIns="91440" tIns="45720" rIns="91440" bIns="45720" anchor="t" anchorCtr="0">
            <a:spAutoFit/>
          </a:bodyPr>
          <a:p>
            <a:pPr>
              <a:buSzPct val="70000"/>
            </a:pPr>
            <a:r>
              <a:rPr lang="zh-CN" altLang="zh-CN" dirty="0">
                <a:latin typeface="华文新魏" panose="02010800040101010101" pitchFamily="2" charset="-122"/>
                <a:ea typeface="华文新魏" panose="02010800040101010101" pitchFamily="2" charset="-122"/>
                <a:cs typeface="+mn-cs"/>
              </a:rPr>
              <a:t>表示复杂的条件组合与应做的动作之间的对应关系。</a:t>
            </a:r>
            <a:endParaRPr lang="zh-CN" altLang="zh-CN" dirty="0">
              <a:latin typeface="华文新魏" panose="02010800040101010101" pitchFamily="2" charset="-122"/>
              <a:ea typeface="华文新魏" panose="02010800040101010101" pitchFamily="2" charset="-122"/>
              <a:cs typeface="+mn-cs"/>
            </a:endParaRPr>
          </a:p>
          <a:p>
            <a:pPr>
              <a:buSzPct val="70000"/>
            </a:pPr>
            <a:r>
              <a:rPr lang="zh-CN" altLang="zh-CN" dirty="0">
                <a:latin typeface="华文新魏" panose="02010800040101010101" pitchFamily="2" charset="-122"/>
                <a:ea typeface="华文新魏" panose="02010800040101010101" pitchFamily="2" charset="-122"/>
                <a:cs typeface="+mn-cs"/>
              </a:rPr>
              <a:t>判定树形式简单，长期以来一直受到重视。</a:t>
            </a:r>
            <a:endParaRPr lang="zh-CN" altLang="zh-CN" dirty="0">
              <a:latin typeface="华文新魏" panose="02010800040101010101" pitchFamily="2" charset="-122"/>
              <a:ea typeface="华文新魏" panose="02010800040101010101" pitchFamily="2" charset="-122"/>
              <a:cs typeface="+mn-cs"/>
            </a:endParaRPr>
          </a:p>
          <a:p>
            <a:pPr>
              <a:buSzPct val="70000"/>
            </a:pPr>
            <a:r>
              <a:rPr lang="zh-CN" altLang="zh-CN" dirty="0">
                <a:latin typeface="华文新魏" panose="02010800040101010101" pitchFamily="2" charset="-122"/>
                <a:ea typeface="华文新魏" panose="02010800040101010101" pitchFamily="2" charset="-122"/>
                <a:cs typeface="+mn-cs"/>
              </a:rPr>
              <a:t>判定树的</a:t>
            </a:r>
            <a:r>
              <a:rPr lang="zh-CN" altLang="zh-CN" dirty="0">
                <a:solidFill>
                  <a:srgbClr val="C00000"/>
                </a:solidFill>
                <a:latin typeface="华文新魏" panose="02010800040101010101" pitchFamily="2" charset="-122"/>
                <a:ea typeface="华文新魏" panose="02010800040101010101" pitchFamily="2" charset="-122"/>
                <a:cs typeface="+mn-cs"/>
              </a:rPr>
              <a:t>简洁性不如判定表</a:t>
            </a:r>
            <a:r>
              <a:rPr lang="zh-CN" altLang="zh-CN" dirty="0">
                <a:latin typeface="华文新魏" panose="02010800040101010101" pitchFamily="2" charset="-122"/>
                <a:ea typeface="华文新魏" panose="02010800040101010101" pitchFamily="2" charset="-122"/>
                <a:cs typeface="+mn-cs"/>
              </a:rPr>
              <a:t>，经常出现同一个值重复写多遍，且叶端重复次数急剧增加。</a:t>
            </a:r>
            <a:r>
              <a:rPr lang="en-US" altLang="zh-CN" dirty="0">
                <a:latin typeface="华文楷体" panose="02010600040101010101" pitchFamily="2" charset="-122"/>
                <a:ea typeface="华文楷体" panose="02010600040101010101" pitchFamily="2" charset="-122"/>
                <a:cs typeface="+mn-cs"/>
              </a:rPr>
              <a:t> </a:t>
            </a:r>
            <a:endParaRPr lang="en-US" altLang="zh-CN" dirty="0">
              <a:latin typeface="华文楷体" panose="02010600040101010101" pitchFamily="2" charset="-122"/>
              <a:ea typeface="华文楷体" panose="02010600040101010101" pitchFamily="2" charset="-122"/>
              <a:cs typeface="+mn-cs"/>
            </a:endParaRPr>
          </a:p>
        </p:txBody>
      </p:sp>
      <p:sp>
        <p:nvSpPr>
          <p:cNvPr id="6963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标题 1"/>
          <p:cNvSpPr>
            <a:spLocks noGrp="1"/>
          </p:cNvSpPr>
          <p:nvPr>
            <p:ph type="title"/>
          </p:nvPr>
        </p:nvSpPr>
        <p:spPr>
          <a:ln/>
        </p:spPr>
        <p:txBody>
          <a:bodyPr vert="horz" wrap="square" lIns="91440" tIns="45720" rIns="91440" bIns="45720" anchor="ctr" anchorCtr="0"/>
          <a:p>
            <a:r>
              <a:rPr lang="en-US" altLang="zh-CN" dirty="0"/>
              <a:t>7.3.6 </a:t>
            </a:r>
            <a:r>
              <a:rPr lang="zh-CN" altLang="en-US" dirty="0"/>
              <a:t>过程设计工具</a:t>
            </a:r>
            <a:r>
              <a:rPr lang="en-US" altLang="zh-CN" dirty="0"/>
              <a:t>--</a:t>
            </a:r>
            <a:r>
              <a:rPr lang="zh-CN" altLang="en-US" dirty="0"/>
              <a:t>伪码和PDL</a:t>
            </a:r>
            <a:endParaRPr lang="zh-CN" altLang="en-US" dirty="0"/>
          </a:p>
        </p:txBody>
      </p:sp>
      <p:sp>
        <p:nvSpPr>
          <p:cNvPr id="71683" name="内容占位符 2"/>
          <p:cNvSpPr>
            <a:spLocks noGrp="1" noChangeArrowheads="1"/>
          </p:cNvSpPr>
          <p:nvPr>
            <p:ph idx="1"/>
          </p:nvPr>
        </p:nvSpPr>
        <p:spPr>
          <a:xfrm>
            <a:off x="827088" y="1379538"/>
            <a:ext cx="7391400" cy="4532313"/>
          </a:xfrm>
        </p:spPr>
        <p:txBody>
          <a:bodyPr vert="horz" wrap="square" lIns="91440" tIns="45720" rIns="91440" bIns="45720" numCol="1" anchor="t" anchorCtr="0" compatLnSpc="1">
            <a:spAutoFit/>
          </a:bodyPr>
          <a:lstStyle/>
          <a:p>
            <a:pPr marL="0" marR="0" lvl="0" indent="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None/>
              <a:defRPr/>
            </a:pPr>
            <a:r>
              <a:rPr kumimoji="0" lang="zh-CN" altLang="en-US"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过程设计语言</a:t>
            </a:r>
            <a:r>
              <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PDL</a:t>
            </a:r>
            <a:r>
              <a:rPr kumimoji="0"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sym typeface="+mn-ea"/>
              </a:rPr>
              <a:t>（Program Design Language）</a:t>
            </a:r>
            <a:endParaRPr kumimoji="0" lang="en-US" altLang="zh-CN" sz="28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PDL是一种用于</a:t>
            </a:r>
            <a:r>
              <a:rPr kumimoji="0"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描述功能模块的算法设计和加工细节的语言</a:t>
            </a:r>
            <a:r>
              <a:rPr kumimoji="0"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，称为设计程序用语言，也称伪码。</a:t>
            </a:r>
            <a:endParaRPr kumimoji="0"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伪码的语法规则分为</a:t>
            </a:r>
            <a:r>
              <a:rPr kumimoji="0" lang="zh-CN" altLang="en-US" sz="24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“外语法”和“内语法”</a:t>
            </a:r>
            <a:r>
              <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rPr>
              <a:t>。外语法应当符合一般程序设计语言常用语句的语法规则；而内语法可以用英语中一些简单的句子、短语和通用的数学符号，来描述程序应执行的功能。</a:t>
            </a: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endParaRPr kumimoji="0" lang="zh-CN" altLang="en-US" sz="2400" b="0" i="0" u="none" strike="noStrike" kern="0" cap="none" spc="0" normalizeH="0" baseline="0" noProof="0" dirty="0">
              <a:ln>
                <a:noFill/>
              </a:ln>
              <a:solidFill>
                <a:schemeClr val="tx1"/>
              </a:solidFill>
              <a:effectLst/>
              <a:uLnTx/>
              <a:uFillTx/>
              <a:latin typeface="华文中宋" panose="02010600040101010101" pitchFamily="2" charset="-122"/>
              <a:ea typeface="华文中宋" panose="02010600040101010101" pitchFamily="2" charset="-122"/>
              <a:cs typeface="+mn-cs"/>
            </a:endParaRPr>
          </a:p>
        </p:txBody>
      </p:sp>
      <p:sp>
        <p:nvSpPr>
          <p:cNvPr id="71684"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标题 1"/>
          <p:cNvSpPr>
            <a:spLocks noGrp="1"/>
          </p:cNvSpPr>
          <p:nvPr>
            <p:ph type="title"/>
          </p:nvPr>
        </p:nvSpPr>
        <p:spPr>
          <a:ln/>
        </p:spPr>
        <p:txBody>
          <a:bodyPr vert="horz" wrap="square" lIns="91440" tIns="45720" rIns="91440" bIns="45720" anchor="ctr" anchorCtr="0"/>
          <a:p>
            <a:r>
              <a:rPr lang="zh-CN" altLang="en-US" dirty="0"/>
              <a:t>PDL的一般语法规则</a:t>
            </a:r>
            <a:endParaRPr lang="zh-CN" altLang="en-US" dirty="0"/>
          </a:p>
        </p:txBody>
      </p:sp>
      <p:sp>
        <p:nvSpPr>
          <p:cNvPr id="72707" name="内容占位符 2"/>
          <p:cNvSpPr>
            <a:spLocks noGrp="1"/>
          </p:cNvSpPr>
          <p:nvPr>
            <p:ph idx="1"/>
          </p:nvPr>
        </p:nvSpPr>
        <p:spPr>
          <a:xfrm>
            <a:off x="520700" y="1152525"/>
            <a:ext cx="8102600" cy="4216400"/>
          </a:xfrm>
          <a:ln/>
        </p:spPr>
        <p:txBody>
          <a:bodyPr vert="horz" wrap="square" lIns="91440" tIns="45720" rIns="91440" bIns="45720" anchor="t" anchorCtr="0">
            <a:spAutoFit/>
          </a:bodyPr>
          <a:p>
            <a:pPr>
              <a:buSzPct val="70000"/>
            </a:pPr>
            <a:r>
              <a:rPr lang="zh-CN" altLang="zh-CN" sz="2000" dirty="0">
                <a:latin typeface="华文中宋" panose="02010600040101010101" pitchFamily="2" charset="-122"/>
                <a:ea typeface="华文中宋" panose="02010600040101010101" pitchFamily="2" charset="-122"/>
                <a:cs typeface="+mn-cs"/>
              </a:rPr>
              <a:t>1)</a:t>
            </a:r>
            <a:r>
              <a:rPr lang="zh-CN" altLang="zh-CN" sz="2000" dirty="0">
                <a:solidFill>
                  <a:srgbClr val="C00000"/>
                </a:solidFill>
                <a:latin typeface="华文中宋" panose="02010600040101010101" pitchFamily="2" charset="-122"/>
                <a:ea typeface="华文中宋" panose="02010600040101010101" pitchFamily="2" charset="-122"/>
                <a:cs typeface="+mn-cs"/>
              </a:rPr>
              <a:t>在算法中的某些指令或子任务可以用文字来叙述</a:t>
            </a:r>
            <a:r>
              <a:rPr lang="zh-CN" altLang="zh-CN" sz="2000" dirty="0">
                <a:latin typeface="华文中宋" panose="02010600040101010101" pitchFamily="2" charset="-122"/>
                <a:ea typeface="华文中宋" panose="02010600040101010101" pitchFamily="2" charset="-122"/>
                <a:cs typeface="+mn-cs"/>
              </a:rPr>
              <a:t>，例如，“x是A中的最大项”，这样做的目的是为了减少与主要问题无关的细节，使算法本身更清晰。</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2) </a:t>
            </a:r>
            <a:r>
              <a:rPr lang="zh-CN" altLang="zh-CN" sz="2000" dirty="0">
                <a:solidFill>
                  <a:srgbClr val="C00000"/>
                </a:solidFill>
                <a:latin typeface="华文中宋" panose="02010600040101010101" pitchFamily="2" charset="-122"/>
                <a:ea typeface="华文中宋" panose="02010600040101010101" pitchFamily="2" charset="-122"/>
                <a:cs typeface="+mn-cs"/>
              </a:rPr>
              <a:t>算术表达式可以使用通常的算术运算符</a:t>
            </a:r>
            <a:r>
              <a:rPr lang="zh-CN" altLang="zh-CN" sz="2000" dirty="0">
                <a:latin typeface="华文中宋" panose="02010600040101010101" pitchFamily="2" charset="-122"/>
                <a:ea typeface="华文中宋" panose="02010600040101010101" pitchFamily="2" charset="-122"/>
                <a:cs typeface="+mn-cs"/>
              </a:rPr>
              <a:t>，逻辑表达式可以使用关系运算符=,≠,&lt;,&gt;,≤和≥，以及与（and）、或（or）、非（not）</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3) 赋值语句是如下形式的语句：a←b ，语句的含义是将b的值赋给a</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4) 若a和b都是变量、数组项，那么记号a↔b 表示a和b的内容进行交换。</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5) 条件语句有if-then格式和if-then-else两种形式：</a:t>
            </a:r>
            <a:endParaRPr lang="zh-CN" altLang="zh-CN" sz="2000" dirty="0">
              <a:latin typeface="华文中宋" panose="02010600040101010101" pitchFamily="2" charset="-122"/>
              <a:ea typeface="华文中宋" panose="02010600040101010101" pitchFamily="2" charset="-122"/>
              <a:cs typeface="+mn-cs"/>
            </a:endParaRPr>
          </a:p>
        </p:txBody>
      </p:sp>
      <p:sp>
        <p:nvSpPr>
          <p:cNvPr id="72708"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1"/>
          <p:cNvSpPr>
            <a:spLocks noGrp="1"/>
          </p:cNvSpPr>
          <p:nvPr>
            <p:ph type="title"/>
          </p:nvPr>
        </p:nvSpPr>
        <p:spPr>
          <a:ln/>
        </p:spPr>
        <p:txBody>
          <a:bodyPr vert="horz" wrap="square" lIns="91440" tIns="45720" rIns="91440" bIns="45720" anchor="ctr" anchorCtr="0"/>
          <a:p>
            <a:r>
              <a:rPr lang="zh-CN" altLang="en-US" dirty="0"/>
              <a:t>PDL的一般语法规则</a:t>
            </a:r>
            <a:endParaRPr lang="zh-CN" altLang="en-US" dirty="0"/>
          </a:p>
        </p:txBody>
      </p:sp>
      <p:sp>
        <p:nvSpPr>
          <p:cNvPr id="73731" name="内容占位符 2"/>
          <p:cNvSpPr>
            <a:spLocks noGrp="1"/>
          </p:cNvSpPr>
          <p:nvPr>
            <p:ph idx="1"/>
          </p:nvPr>
        </p:nvSpPr>
        <p:spPr>
          <a:xfrm>
            <a:off x="692150" y="1189038"/>
            <a:ext cx="7759700" cy="2430462"/>
          </a:xfrm>
          <a:ln/>
        </p:spPr>
        <p:txBody>
          <a:bodyPr vert="horz" wrap="square" lIns="91440" tIns="45720" rIns="91440" bIns="45720" anchor="t" anchorCtr="0">
            <a:spAutoFit/>
          </a:bodyPr>
          <a:p>
            <a:pPr>
              <a:buSzPct val="70000"/>
            </a:pPr>
            <a:r>
              <a:rPr lang="zh-CN" altLang="zh-CN" sz="2000" dirty="0">
                <a:latin typeface="华文中宋" panose="02010600040101010101" pitchFamily="2" charset="-122"/>
                <a:ea typeface="华文中宋" panose="02010600040101010101" pitchFamily="2" charset="-122"/>
                <a:cs typeface="+mn-cs"/>
              </a:rPr>
              <a:t>6) 有两种循环指令：while和for。</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7) exit语句可以在通常的结束条件满足之前，被用来结束while循环或者for循环的执行。</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8) return用来指出一个算法执行的终点。</a:t>
            </a:r>
            <a:endParaRPr lang="zh-CN" altLang="zh-CN" sz="2000" dirty="0">
              <a:latin typeface="华文中宋" panose="02010600040101010101" pitchFamily="2" charset="-122"/>
              <a:ea typeface="华文中宋" panose="02010600040101010101" pitchFamily="2" charset="-122"/>
              <a:cs typeface="+mn-cs"/>
            </a:endParaRPr>
          </a:p>
          <a:p>
            <a:pPr>
              <a:buSzPct val="70000"/>
            </a:pPr>
            <a:r>
              <a:rPr lang="zh-CN" altLang="zh-CN" sz="2000" dirty="0">
                <a:latin typeface="华文中宋" panose="02010600040101010101" pitchFamily="2" charset="-122"/>
                <a:ea typeface="华文中宋" panose="02010600040101010101" pitchFamily="2" charset="-122"/>
                <a:cs typeface="+mn-cs"/>
              </a:rPr>
              <a:t>9) 算法中的注释被括在/* */之中。</a:t>
            </a:r>
            <a:endParaRPr lang="zh-CN" altLang="zh-CN" sz="2000" dirty="0">
              <a:latin typeface="华文中宋" panose="02010600040101010101" pitchFamily="2" charset="-122"/>
              <a:ea typeface="华文中宋" panose="02010600040101010101" pitchFamily="2" charset="-122"/>
              <a:cs typeface="+mn-cs"/>
            </a:endParaRPr>
          </a:p>
        </p:txBody>
      </p:sp>
      <p:sp>
        <p:nvSpPr>
          <p:cNvPr id="73732" name="页脚占位符 3"/>
          <p:cNvSpPr txBox="1">
            <a:spLocks noGrp="1"/>
          </p:cNvSpPr>
          <p:nvPr>
            <p:ph type="ftr" sz="quarter" idx="10"/>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1"/>
          <p:cNvSpPr>
            <a:spLocks noGrp="1"/>
          </p:cNvSpPr>
          <p:nvPr>
            <p:ph type="title"/>
          </p:nvPr>
        </p:nvSpPr>
        <p:spPr>
          <a:ln/>
        </p:spPr>
        <p:txBody>
          <a:bodyPr vert="horz" wrap="square" lIns="91440" tIns="45720" rIns="91440" bIns="45720" anchor="ctr" anchorCtr="0"/>
          <a:p>
            <a:r>
              <a:rPr lang="en-US" altLang="zh-CN" dirty="0"/>
              <a:t>PDL</a:t>
            </a:r>
            <a:r>
              <a:rPr lang="zh-CN" altLang="en-US" dirty="0"/>
              <a:t>举例：航空公司计算行李费</a:t>
            </a:r>
            <a:endParaRPr lang="zh-CN" altLang="en-US" dirty="0"/>
          </a:p>
        </p:txBody>
      </p:sp>
      <p:sp>
        <p:nvSpPr>
          <p:cNvPr id="74755" name="内容占位符 2"/>
          <p:cNvSpPr>
            <a:spLocks noGrp="1"/>
          </p:cNvSpPr>
          <p:nvPr>
            <p:ph idx="1"/>
          </p:nvPr>
        </p:nvSpPr>
        <p:spPr>
          <a:xfrm>
            <a:off x="711200" y="1128713"/>
            <a:ext cx="7391400" cy="5072062"/>
          </a:xfrm>
          <a:ln/>
        </p:spPr>
        <p:txBody>
          <a:bodyPr vert="horz" wrap="square" lIns="91440" tIns="45720" rIns="91440" bIns="45720" anchor="t" anchorCtr="0">
            <a:spAutoFit/>
          </a:bodyPr>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if (Weight&gt;30) then</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if (</a:t>
            </a:r>
            <a:r>
              <a:rPr lang="zh-CN" altLang="en-US" sz="1400" dirty="0">
                <a:solidFill>
                  <a:srgbClr val="C00000"/>
                </a:solidFill>
                <a:latin typeface="华文中宋" panose="02010600040101010101" pitchFamily="2" charset="-122"/>
                <a:ea typeface="华文中宋" panose="02010600040101010101" pitchFamily="2" charset="-122"/>
                <a:cs typeface="+mn-cs"/>
              </a:rPr>
              <a:t>Domestic passengers</a:t>
            </a:r>
            <a:r>
              <a:rPr lang="zh-CN" altLang="en-US" sz="1400" dirty="0">
                <a:latin typeface="华文中宋" panose="02010600040101010101" pitchFamily="2" charset="-122"/>
                <a:ea typeface="华文中宋" panose="02010600040101010101" pitchFamily="2" charset="-122"/>
                <a:cs typeface="+mn-cs"/>
              </a:rPr>
              <a:t>) then</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if (</a:t>
            </a:r>
            <a:r>
              <a:rPr lang="zh-CN" altLang="en-US" sz="1400" dirty="0">
                <a:solidFill>
                  <a:srgbClr val="C00000"/>
                </a:solidFill>
                <a:latin typeface="华文中宋" panose="02010600040101010101" pitchFamily="2" charset="-122"/>
                <a:ea typeface="华文中宋" panose="02010600040101010101" pitchFamily="2" charset="-122"/>
                <a:cs typeface="+mn-cs"/>
              </a:rPr>
              <a:t>First class</a:t>
            </a:r>
            <a:r>
              <a:rPr lang="zh-CN" altLang="en-US" sz="1400" dirty="0">
                <a:latin typeface="华文中宋" panose="02010600040101010101" pitchFamily="2" charset="-122"/>
                <a:ea typeface="华文中宋" panose="02010600040101010101" pitchFamily="2" charset="-122"/>
                <a:cs typeface="+mn-cs"/>
              </a:rPr>
              <a:t>) then</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if (</a:t>
            </a:r>
            <a:r>
              <a:rPr lang="zh-CN" altLang="en-US" sz="1400" dirty="0">
                <a:solidFill>
                  <a:srgbClr val="C00000"/>
                </a:solidFill>
                <a:latin typeface="华文中宋" panose="02010600040101010101" pitchFamily="2" charset="-122"/>
                <a:ea typeface="华文中宋" panose="02010600040101010101" pitchFamily="2" charset="-122"/>
                <a:cs typeface="+mn-cs"/>
              </a:rPr>
              <a:t>Passengers with disabilities</a:t>
            </a:r>
            <a:r>
              <a:rPr lang="zh-CN" altLang="en-US" sz="1400" dirty="0">
                <a:latin typeface="华文中宋" panose="02010600040101010101" pitchFamily="2" charset="-122"/>
                <a:ea typeface="华文中宋" panose="02010600040101010101" pitchFamily="2" charset="-122"/>
                <a:cs typeface="+mn-cs"/>
              </a:rPr>
              <a:t>) then</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cost</a:t>
            </a:r>
            <a:r>
              <a:rPr lang="zh-CN" altLang="zh-CN" sz="1400" dirty="0">
                <a:latin typeface="华文中宋" panose="02010600040101010101" pitchFamily="2" charset="-122"/>
                <a:ea typeface="华文中宋" panose="02010600040101010101" pitchFamily="2" charset="-122"/>
                <a:cs typeface="+mn-cs"/>
              </a:rPr>
              <a:t> ←</a:t>
            </a:r>
            <a:r>
              <a:rPr lang="zh-CN" altLang="en-US" sz="1400" dirty="0">
                <a:latin typeface="华文中宋" panose="02010600040101010101" pitchFamily="2" charset="-122"/>
                <a:ea typeface="华文中宋" panose="02010600040101010101" pitchFamily="2" charset="-122"/>
                <a:cs typeface="+mn-cs"/>
              </a:rPr>
              <a:t>(Weight-30)*2</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else</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cost</a:t>
            </a:r>
            <a:r>
              <a:rPr lang="zh-CN" altLang="zh-CN" sz="1400" dirty="0">
                <a:latin typeface="华文中宋" panose="02010600040101010101" pitchFamily="2" charset="-122"/>
                <a:ea typeface="华文中宋" panose="02010600040101010101" pitchFamily="2" charset="-122"/>
                <a:cs typeface="+mn-cs"/>
              </a:rPr>
              <a:t> ←</a:t>
            </a:r>
            <a:r>
              <a:rPr lang="zh-CN" altLang="en-US" sz="1400" dirty="0">
                <a:latin typeface="华文中宋" panose="02010600040101010101" pitchFamily="2" charset="-122"/>
                <a:ea typeface="华文中宋" panose="02010600040101010101" pitchFamily="2" charset="-122"/>
                <a:cs typeface="+mn-cs"/>
              </a:rPr>
              <a:t>(Weight -30)*4</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end</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else </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if (</a:t>
            </a:r>
            <a:r>
              <a:rPr lang="zh-CN" altLang="en-US" sz="1400" dirty="0">
                <a:solidFill>
                  <a:srgbClr val="C00000"/>
                </a:solidFill>
                <a:latin typeface="华文中宋" panose="02010600040101010101" pitchFamily="2" charset="-122"/>
                <a:ea typeface="华文中宋" panose="02010600040101010101" pitchFamily="2" charset="-122"/>
                <a:cs typeface="+mn-cs"/>
              </a:rPr>
              <a:t>Passengers with disabilities</a:t>
            </a:r>
            <a:r>
              <a:rPr lang="zh-CN" altLang="en-US" sz="1400" dirty="0">
                <a:latin typeface="华文中宋" panose="02010600040101010101" pitchFamily="2" charset="-122"/>
                <a:ea typeface="华文中宋" panose="02010600040101010101" pitchFamily="2" charset="-122"/>
                <a:cs typeface="+mn-cs"/>
              </a:rPr>
              <a:t>) then</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cost</a:t>
            </a:r>
            <a:r>
              <a:rPr lang="zh-CN" altLang="zh-CN" sz="1400" dirty="0">
                <a:latin typeface="华文中宋" panose="02010600040101010101" pitchFamily="2" charset="-122"/>
                <a:ea typeface="华文中宋" panose="02010600040101010101" pitchFamily="2" charset="-122"/>
                <a:cs typeface="+mn-cs"/>
              </a:rPr>
              <a:t> ←</a:t>
            </a:r>
            <a:r>
              <a:rPr lang="zh-CN" altLang="en-US" sz="1400" dirty="0">
                <a:latin typeface="华文中宋" panose="02010600040101010101" pitchFamily="2" charset="-122"/>
                <a:ea typeface="华文中宋" panose="02010600040101010101" pitchFamily="2" charset="-122"/>
                <a:cs typeface="+mn-cs"/>
              </a:rPr>
              <a:t>(Weight-30)*3</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else</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cost</a:t>
            </a:r>
            <a:r>
              <a:rPr lang="zh-CN" altLang="zh-CN" sz="1400" dirty="0">
                <a:latin typeface="华文中宋" panose="02010600040101010101" pitchFamily="2" charset="-122"/>
                <a:ea typeface="华文中宋" panose="02010600040101010101" pitchFamily="2" charset="-122"/>
                <a:cs typeface="+mn-cs"/>
              </a:rPr>
              <a:t> ←</a:t>
            </a:r>
            <a:r>
              <a:rPr lang="zh-CN" altLang="en-US" sz="1400" dirty="0">
                <a:latin typeface="华文中宋" panose="02010600040101010101" pitchFamily="2" charset="-122"/>
                <a:ea typeface="华文中宋" panose="02010600040101010101" pitchFamily="2" charset="-122"/>
                <a:cs typeface="+mn-cs"/>
              </a:rPr>
              <a:t>(Weight -30)*6</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end</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end</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else</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     ……</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end</a:t>
            </a:r>
            <a:endParaRPr lang="zh-CN" altLang="en-US" sz="1400" dirty="0">
              <a:latin typeface="华文中宋" panose="02010600040101010101" pitchFamily="2" charset="-122"/>
              <a:ea typeface="华文中宋" panose="02010600040101010101" pitchFamily="2" charset="-122"/>
              <a:cs typeface="+mn-cs"/>
            </a:endParaRPr>
          </a:p>
          <a:p>
            <a:pPr marL="0" indent="0">
              <a:lnSpc>
                <a:spcPct val="100000"/>
              </a:lnSpc>
              <a:buSzPct val="70000"/>
              <a:buFont typeface="Wingdings" panose="05000000000000000000" pitchFamily="2" charset="2"/>
              <a:buNone/>
            </a:pPr>
            <a:r>
              <a:rPr lang="zh-CN" altLang="en-US" sz="1400" dirty="0">
                <a:latin typeface="华文中宋" panose="02010600040101010101" pitchFamily="2" charset="-122"/>
                <a:ea typeface="华文中宋" panose="02010600040101010101" pitchFamily="2" charset="-122"/>
                <a:cs typeface="+mn-cs"/>
              </a:rPr>
              <a:t>end</a:t>
            </a:r>
            <a:endParaRPr lang="zh-CN" altLang="en-US" sz="1400" dirty="0">
              <a:latin typeface="华文中宋" panose="02010600040101010101" pitchFamily="2" charset="-122"/>
              <a:ea typeface="华文中宋" panose="02010600040101010101" pitchFamily="2" charset="-122"/>
              <a:cs typeface="+mn-cs"/>
            </a:endParaRPr>
          </a:p>
        </p:txBody>
      </p:sp>
      <p:sp>
        <p:nvSpPr>
          <p:cNvPr id="74756"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1"/>
          <p:cNvSpPr>
            <a:spLocks noGrp="1"/>
          </p:cNvSpPr>
          <p:nvPr>
            <p:ph type="title"/>
          </p:nvPr>
        </p:nvSpPr>
        <p:spPr>
          <a:ln/>
        </p:spPr>
        <p:txBody>
          <a:bodyPr vert="horz" wrap="square" lIns="91440" tIns="45720" rIns="91440" bIns="45720" anchor="ctr" anchorCtr="0"/>
          <a:p>
            <a:r>
              <a:rPr lang="en-US" altLang="zh-CN" dirty="0"/>
              <a:t>PDL</a:t>
            </a:r>
            <a:r>
              <a:rPr lang="zh-CN" altLang="en-US" dirty="0"/>
              <a:t>的特点</a:t>
            </a:r>
            <a:endParaRPr lang="zh-CN" altLang="en-US" dirty="0"/>
          </a:p>
        </p:txBody>
      </p:sp>
      <p:sp>
        <p:nvSpPr>
          <p:cNvPr id="81923" name="内容占位符 2"/>
          <p:cNvSpPr>
            <a:spLocks noGrp="1" noChangeArrowheads="1"/>
          </p:cNvSpPr>
          <p:nvPr>
            <p:ph idx="1"/>
          </p:nvPr>
        </p:nvSpPr>
        <p:spPr>
          <a:xfrm>
            <a:off x="728663" y="1068388"/>
            <a:ext cx="7391400" cy="5076825"/>
          </a:xfrm>
        </p:spPr>
        <p:txBody>
          <a:bodyPr vert="horz" wrap="square" lIns="91440" tIns="45720" rIns="91440" bIns="45720" numCol="1" anchor="t" anchorCtr="0" compatLnSpc="1">
            <a:spAutoFit/>
          </a:bodyPr>
          <a:lstStyle/>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有固定的关键字外语法</a:t>
            </a:r>
            <a:r>
              <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，提供全部结构化控制结构、数据说明和模块特征。属于外语法的关键字是有限的词汇集，它们能对PDL正文进行结构分割，使之变得易于理解。</a:t>
            </a:r>
            <a:endPar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内语法使用自然语言来描述处理特性</a:t>
            </a:r>
            <a:r>
              <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。内语法比较灵活，只要写清楚就可以，不必考虑语法错误，以利于人们可把主要精力放在描述算法的逻辑上。</a:t>
            </a:r>
            <a:endPar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可用于说明数据结构</a:t>
            </a:r>
            <a:r>
              <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，包括简单的（如标量和数组）与复杂的（如链表和层次结构）的数据结构。</a:t>
            </a:r>
            <a:endPar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 </a:t>
            </a:r>
            <a:r>
              <a:rPr kumimoji="0"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有子程序定义与调用机制</a:t>
            </a:r>
            <a:r>
              <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，用以表达各种方式的接口说明。</a:t>
            </a:r>
            <a:endPar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a:p>
            <a:pPr marL="195580" marR="0" lvl="0" indent="-195580" algn="just" defTabSz="914400" rtl="0" eaLnBrk="0" fontAlgn="base" latinLnBrk="0" hangingPunct="0">
              <a:lnSpc>
                <a:spcPct val="140000"/>
              </a:lnSpc>
              <a:spcBef>
                <a:spcPct val="20000"/>
              </a:spcBef>
              <a:spcAft>
                <a:spcPct val="0"/>
              </a:spcAft>
              <a:buClr>
                <a:schemeClr val="accent2"/>
              </a:buClr>
              <a:buSzPct val="70000"/>
              <a:buFont typeface="Wingdings" panose="05000000000000000000" pitchFamily="2" charset="2"/>
              <a:buChar char="l"/>
              <a:defRPr/>
            </a:pPr>
            <a:r>
              <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使用PDL语言，</a:t>
            </a:r>
            <a:r>
              <a:rPr kumimoji="0" sz="2000" b="0" i="0" u="none" strike="noStrike" kern="0" cap="none" spc="0" normalizeH="0" baseline="0" noProof="0" dirty="0">
                <a:ln>
                  <a:noFill/>
                </a:ln>
                <a:solidFill>
                  <a:srgbClr val="C00000"/>
                </a:solidFill>
                <a:effectLst/>
                <a:uLnTx/>
                <a:uFillTx/>
                <a:latin typeface="华文中宋" panose="02010600040101010101" pitchFamily="2" charset="-122"/>
                <a:ea typeface="华文中宋" panose="02010600040101010101" pitchFamily="2" charset="-122"/>
                <a:cs typeface="+mn-cs"/>
              </a:rPr>
              <a:t>可以做到逐步求精</a:t>
            </a:r>
            <a:r>
              <a:rPr kumimoji="0"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rPr>
              <a:t>：从比较概括和抽象的PDL程序起，逐步写出更详细的、更精确的描述。</a:t>
            </a:r>
            <a:endParaRPr kumimoji="0" lang="zh-CN" altLang="en-US" sz="2000" b="0" i="0" u="none" strike="noStrike" kern="0" cap="none" spc="0" normalizeH="0" baseline="0" noProof="0" dirty="0">
              <a:ln>
                <a:noFill/>
              </a:ln>
              <a:solidFill>
                <a:schemeClr val="accent2">
                  <a:lumMod val="75000"/>
                </a:schemeClr>
              </a:solidFill>
              <a:effectLst/>
              <a:uLnTx/>
              <a:uFillTx/>
              <a:latin typeface="华文中宋" panose="02010600040101010101" pitchFamily="2" charset="-122"/>
              <a:ea typeface="华文中宋" panose="02010600040101010101" pitchFamily="2" charset="-122"/>
              <a:cs typeface="+mn-cs"/>
            </a:endParaRPr>
          </a:p>
        </p:txBody>
      </p:sp>
      <p:sp>
        <p:nvSpPr>
          <p:cNvPr id="75780" name="页脚占位符 3"/>
          <p:cNvSpPr txBox="1">
            <a:spLocks noGrp="1"/>
          </p:cNvSpPr>
          <p:nvPr>
            <p:ph type="ftr" sz="quarter" idx="3"/>
          </p:nvPr>
        </p:nvSpPr>
        <p:spPr>
          <a:xfrm>
            <a:off x="7812088" y="6381750"/>
            <a:ext cx="1331912" cy="476250"/>
          </a:xfrm>
          <a:ln/>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chemeClr val="accent2"/>
                </a:solidFill>
                <a:latin typeface="华文中宋" panose="02010600040101010101" pitchFamily="2" charset="-122"/>
                <a:ea typeface="华文中宋" panose="02010600040101010101" pitchFamily="2" charset="-122"/>
                <a:cs typeface="+mn-cs"/>
              </a:defRPr>
            </a:lvl5pPr>
          </a:lstStyle>
          <a:p>
            <a:pPr lvl="0" algn="ctr" eaLnBrk="1" hangingPunct="1"/>
            <a:r>
              <a:rPr lang="zh-CN" altLang="zh-CN" sz="1800" dirty="0">
                <a:latin typeface="Times New Roman" panose="02020603050405020304" pitchFamily="18" charset="0"/>
                <a:ea typeface="宋体" panose="02010600030101010101" pitchFamily="2" charset="-122"/>
              </a:rPr>
              <a:t>　　</a:t>
            </a:r>
            <a:fld id="{9A0DB2DC-4C9A-4742-B13C-FB6460FD3503}" type="slidenum">
              <a:rPr lang="en-US" altLang="zh-CN" sz="1800" dirty="0">
                <a:latin typeface="Times New Roman" panose="02020603050405020304" pitchFamily="18" charset="0"/>
                <a:ea typeface="宋体" panose="02010600030101010101" pitchFamily="2" charset="-122"/>
              </a:rPr>
            </a:fld>
            <a:r>
              <a:rPr lang="zh-CN" altLang="zh-CN" sz="1800" dirty="0">
                <a:latin typeface="Times New Roman" panose="02020603050405020304" pitchFamily="18" charset="0"/>
                <a:ea typeface="宋体" panose="02010600030101010101" pitchFamily="2" charset="-122"/>
              </a:rPr>
              <a:t>　　　　　　</a:t>
            </a:r>
            <a:endParaRPr lang="zh-CN" altLang="zh-CN" sz="1800" dirty="0">
              <a:latin typeface="Times New Roman" panose="02020603050405020304" pitchFamily="18" charset="0"/>
              <a:ea typeface="宋体" panose="02010600030101010101" pitchFamily="2" charset="-122"/>
            </a:endParaRPr>
          </a:p>
        </p:txBody>
      </p:sp>
    </p:spTree>
  </p:cSld>
  <p:clrMapOvr>
    <a:masterClrMapping/>
  </p:clrMapOvr>
  <p:transition/>
</p:sld>
</file>

<file path=ppt/theme/theme1.xml><?xml version="1.0" encoding="utf-8"?>
<a:theme xmlns:a="http://schemas.openxmlformats.org/drawingml/2006/main" name="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华为3Com培训胶片模板ISSUE1.1">
  <a:themeElements>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华为3Com培训胶片模板ISSUE1.1">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ctr"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sz="2400" b="1" i="0" u="none" strike="noStrike" cap="none" normalizeH="0" baseline="0" smtClean="0">
            <a:ln>
              <a:noFill/>
            </a:ln>
            <a:solidFill>
              <a:schemeClr val="accent2"/>
            </a:solidFill>
            <a:effectLst/>
            <a:latin typeface="华文中宋" panose="02010600040101010101" pitchFamily="2" charset="-122"/>
            <a:ea typeface="华文中宋" panose="02010600040101010101" pitchFamily="2" charset="-122"/>
          </a:defRPr>
        </a:defPPr>
      </a:lstStyle>
    </a:lnDef>
  </a:objectDefaults>
  <a:extraClrSchemeLst>
    <a:extraClrScheme>
      <a:clrScheme name="华为3Com培训胶片模板ISSUE1.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华为3Com培训胶片模板ISSUE1.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华为3Com培训胶片模板ISSUE1.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华为3Com培训胶片模板ISSUE1.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华为3Com培训胶片模板ISSUE1.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华为3Com培训胶片模板ISSUE1.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华为3Com培训胶片模板ISSUE1.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5892</Words>
  <Application>WPS 演示</Application>
  <PresentationFormat>全屏显示(4:3)</PresentationFormat>
  <Paragraphs>729</Paragraphs>
  <Slides>49</Slides>
  <Notes>6</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1</vt:i4>
      </vt:variant>
      <vt:variant>
        <vt:lpstr>幻灯片标题</vt:lpstr>
      </vt:variant>
      <vt:variant>
        <vt:i4>49</vt:i4>
      </vt:variant>
    </vt:vector>
  </HeadingPairs>
  <TitlesOfParts>
    <vt:vector size="74" baseType="lpstr">
      <vt:lpstr>Arial</vt:lpstr>
      <vt:lpstr>宋体</vt:lpstr>
      <vt:lpstr>Wingdings</vt:lpstr>
      <vt:lpstr>华文中宋</vt:lpstr>
      <vt:lpstr>Times New Roman</vt:lpstr>
      <vt:lpstr>Tahoma</vt:lpstr>
      <vt:lpstr>幼圆</vt:lpstr>
      <vt:lpstr>+mn-ea</vt:lpstr>
      <vt:lpstr>ksdb</vt:lpstr>
      <vt:lpstr>华文新魏</vt:lpstr>
      <vt:lpstr>Gill Sans MT</vt:lpstr>
      <vt:lpstr>楷体_GB2312</vt:lpstr>
      <vt:lpstr>新宋体</vt:lpstr>
      <vt:lpstr>Symbol</vt:lpstr>
      <vt:lpstr>Calibri</vt:lpstr>
      <vt:lpstr>华文楷体</vt:lpstr>
      <vt:lpstr>Wingdings 2</vt:lpstr>
      <vt:lpstr>Verdana</vt:lpstr>
      <vt:lpstr>微软雅黑</vt:lpstr>
      <vt:lpstr>Arial Unicode MS</vt:lpstr>
      <vt:lpstr>方正兰亭黑简体</vt:lpstr>
      <vt:lpstr>仿宋</vt:lpstr>
      <vt:lpstr>华为3Com培训胶片模板ISSUE1.1</vt:lpstr>
      <vt:lpstr>1_华为3Com培训胶片模板ISSUE1.1</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ECJTU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xiexin</dc:creator>
  <cp:lastModifiedBy>芦效峰</cp:lastModifiedBy>
  <cp:revision>116</cp:revision>
  <dcterms:created xsi:type="dcterms:W3CDTF">2006-02-20T02:27:42Z</dcterms:created>
  <dcterms:modified xsi:type="dcterms:W3CDTF">2025-11-20T01:33:30Z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EF74C34AD96642958B85009277E48088_12</vt:lpwstr>
  </property>
</Properties>
</file>