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530" r:id="rId3"/>
    <p:sldId id="538" r:id="rId4"/>
    <p:sldId id="598" r:id="rId5"/>
    <p:sldId id="600" r:id="rId6"/>
    <p:sldId id="599" r:id="rId7"/>
    <p:sldId id="540" r:id="rId8"/>
    <p:sldId id="601" r:id="rId9"/>
    <p:sldId id="602" r:id="rId10"/>
    <p:sldId id="603" r:id="rId11"/>
    <p:sldId id="541" r:id="rId12"/>
    <p:sldId id="543" r:id="rId13"/>
    <p:sldId id="544" r:id="rId14"/>
    <p:sldId id="605" r:id="rId15"/>
    <p:sldId id="546" r:id="rId16"/>
    <p:sldId id="604" r:id="rId17"/>
    <p:sldId id="545" r:id="rId18"/>
    <p:sldId id="606" r:id="rId19"/>
    <p:sldId id="547" r:id="rId20"/>
    <p:sldId id="548" r:id="rId21"/>
    <p:sldId id="613" r:id="rId22"/>
    <p:sldId id="607" r:id="rId23"/>
    <p:sldId id="549" r:id="rId24"/>
    <p:sldId id="550" r:id="rId25"/>
    <p:sldId id="551" r:id="rId26"/>
    <p:sldId id="552" r:id="rId27"/>
    <p:sldId id="553" r:id="rId28"/>
    <p:sldId id="554" r:id="rId29"/>
    <p:sldId id="555" r:id="rId30"/>
    <p:sldId id="608" r:id="rId31"/>
    <p:sldId id="556" r:id="rId32"/>
    <p:sldId id="558" r:id="rId33"/>
    <p:sldId id="559" r:id="rId34"/>
    <p:sldId id="560" r:id="rId35"/>
    <p:sldId id="564" r:id="rId36"/>
    <p:sldId id="565" r:id="rId37"/>
    <p:sldId id="566" r:id="rId38"/>
    <p:sldId id="567" r:id="rId39"/>
    <p:sldId id="569" r:id="rId40"/>
    <p:sldId id="570" r:id="rId41"/>
    <p:sldId id="571" r:id="rId42"/>
    <p:sldId id="609" r:id="rId43"/>
    <p:sldId id="573" r:id="rId44"/>
    <p:sldId id="574" r:id="rId45"/>
    <p:sldId id="610" r:id="rId46"/>
    <p:sldId id="575" r:id="rId47"/>
    <p:sldId id="576" r:id="rId48"/>
    <p:sldId id="577" r:id="rId49"/>
    <p:sldId id="578" r:id="rId50"/>
    <p:sldId id="579" r:id="rId51"/>
    <p:sldId id="580" r:id="rId52"/>
    <p:sldId id="582" r:id="rId53"/>
    <p:sldId id="586" r:id="rId54"/>
    <p:sldId id="588" r:id="rId55"/>
    <p:sldId id="611" r:id="rId56"/>
    <p:sldId id="612" r:id="rId57"/>
    <p:sldId id="589" r:id="rId58"/>
    <p:sldId id="590" r:id="rId59"/>
    <p:sldId id="591" r:id="rId60"/>
    <p:sldId id="593" r:id="rId61"/>
    <p:sldId id="594" r:id="rId63"/>
    <p:sldId id="618" r:id="rId64"/>
    <p:sldId id="619" r:id="rId65"/>
    <p:sldId id="620" r:id="rId66"/>
    <p:sldId id="622" r:id="rId67"/>
    <p:sldId id="621" r:id="rId68"/>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003"/>
  </p:normalViewPr>
  <p:slideViewPr>
    <p:cSldViewPr showGuides="1">
      <p:cViewPr>
        <p:scale>
          <a:sx n="66" d="100"/>
          <a:sy n="66" d="100"/>
        </p:scale>
        <p:origin x="1930" y="816"/>
      </p:cViewPr>
      <p:guideLst>
        <p:guide orient="horz" pos="2160"/>
        <p:guide pos="29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notesMaster" Target="notesMasters/notesMaster1.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99BCEC0-EACB-496E-B704-4DAF4BF4D869}" type="doc">
      <dgm:prSet loTypeId="urn:microsoft.com/office/officeart/2005/8/layout/process1" loCatId="process" qsTypeId="urn:microsoft.com/office/officeart/2005/8/quickstyle/simple3" qsCatId="simple" csTypeId="urn:microsoft.com/office/officeart/2005/8/colors/accent1_2" csCatId="accent1" phldr="1"/>
      <dgm:spPr/>
    </dgm:pt>
    <dgm:pt modelId="{D953CF0B-A1E4-4799-A991-762F50F23A2F}">
      <dgm:prSet phldrT="[文本]" custT="1"/>
      <dgm:spPr/>
      <dgm:t>
        <a:bodyPr/>
        <a:lstStyle/>
        <a:p>
          <a:pPr algn="ctr"/>
          <a:r>
            <a:rPr lang="zh-CN" altLang="en-US" sz="2000"/>
            <a:t>定义系统</a:t>
          </a:r>
        </a:p>
      </dgm:t>
    </dgm:pt>
    <dgm:pt modelId="{35E2EDDF-5E54-4BC6-985A-2B70271A24DE}" cxnId="{F0FD5BBA-92EC-4427-829A-4023C456EC68}" type="parTrans">
      <dgm:prSet/>
      <dgm:spPr/>
      <dgm:t>
        <a:bodyPr/>
        <a:lstStyle/>
        <a:p>
          <a:pPr algn="ctr"/>
          <a:endParaRPr lang="zh-CN" altLang="en-US" sz="2000"/>
        </a:p>
      </dgm:t>
    </dgm:pt>
    <dgm:pt modelId="{49C8AFA5-904F-4273-BBBE-8A9D459CD086}" cxnId="{F0FD5BBA-92EC-4427-829A-4023C456EC68}" type="sibTrans">
      <dgm:prSet custT="1"/>
      <dgm:spPr/>
      <dgm:t>
        <a:bodyPr/>
        <a:lstStyle/>
        <a:p>
          <a:pPr algn="ctr"/>
          <a:endParaRPr lang="zh-CN" altLang="en-US" sz="2000"/>
        </a:p>
      </dgm:t>
    </dgm:pt>
    <dgm:pt modelId="{2EF22D36-8EE2-4CEA-9280-2ECC93CF4CC8}">
      <dgm:prSet phldrT="[文本]" custT="1"/>
      <dgm:spPr/>
      <dgm:t>
        <a:bodyPr/>
        <a:lstStyle/>
        <a:p>
          <a:pPr algn="ctr"/>
          <a:r>
            <a:rPr lang="zh-CN" altLang="en-US" sz="2000"/>
            <a:t>确定执行者和用例</a:t>
          </a:r>
        </a:p>
      </dgm:t>
    </dgm:pt>
    <dgm:pt modelId="{2F50A931-3319-457E-B3A9-2823361342A5}" cxnId="{B8C0AF27-29A9-475A-8693-DAF5B2471B76}" type="parTrans">
      <dgm:prSet/>
      <dgm:spPr/>
      <dgm:t>
        <a:bodyPr/>
        <a:lstStyle/>
        <a:p>
          <a:pPr algn="ctr"/>
          <a:endParaRPr lang="zh-CN" altLang="en-US" sz="2000"/>
        </a:p>
      </dgm:t>
    </dgm:pt>
    <dgm:pt modelId="{D2DA0510-DB1C-4587-BCC7-2CF9F15FCAA2}" cxnId="{B8C0AF27-29A9-475A-8693-DAF5B2471B76}" type="sibTrans">
      <dgm:prSet custT="1"/>
      <dgm:spPr/>
      <dgm:t>
        <a:bodyPr/>
        <a:lstStyle/>
        <a:p>
          <a:pPr algn="ctr"/>
          <a:endParaRPr lang="zh-CN" altLang="en-US" sz="2000"/>
        </a:p>
      </dgm:t>
    </dgm:pt>
    <dgm:pt modelId="{26983084-C32B-41B8-96EB-A72BAE7B116B}">
      <dgm:prSet phldrT="[文本]" custT="1"/>
      <dgm:spPr/>
      <dgm:t>
        <a:bodyPr/>
        <a:lstStyle/>
        <a:p>
          <a:pPr algn="ctr"/>
          <a:r>
            <a:rPr lang="zh-CN" altLang="en-US" sz="2000"/>
            <a:t>定义用例关系</a:t>
          </a:r>
        </a:p>
      </dgm:t>
    </dgm:pt>
    <dgm:pt modelId="{AEC8F8EF-0E7C-44FB-A401-1DC1B2835E7C}" cxnId="{E213853B-F73D-4783-A2C4-5A2EFBF3B2B8}" type="parTrans">
      <dgm:prSet/>
      <dgm:spPr/>
      <dgm:t>
        <a:bodyPr/>
        <a:lstStyle/>
        <a:p>
          <a:pPr algn="ctr"/>
          <a:endParaRPr lang="zh-CN" altLang="en-US" sz="2000"/>
        </a:p>
      </dgm:t>
    </dgm:pt>
    <dgm:pt modelId="{0EC978F7-6487-4C0F-B79B-ACB0BCD92A1E}" cxnId="{E213853B-F73D-4783-A2C4-5A2EFBF3B2B8}" type="sibTrans">
      <dgm:prSet custT="1"/>
      <dgm:spPr/>
      <dgm:t>
        <a:bodyPr/>
        <a:lstStyle/>
        <a:p>
          <a:pPr algn="ctr"/>
          <a:endParaRPr lang="zh-CN" altLang="en-US" sz="2000"/>
        </a:p>
      </dgm:t>
    </dgm:pt>
    <dgm:pt modelId="{D491EEE1-5ACB-468B-9F11-FAE54E78E6E3}">
      <dgm:prSet phldrT="[文本]" custT="1"/>
      <dgm:spPr/>
      <dgm:t>
        <a:bodyPr/>
        <a:lstStyle/>
        <a:p>
          <a:pPr algn="ctr"/>
          <a:r>
            <a:rPr lang="zh-CN" altLang="en-US" sz="2000"/>
            <a:t>描述用例</a:t>
          </a:r>
        </a:p>
      </dgm:t>
    </dgm:pt>
    <dgm:pt modelId="{A6DD984A-A814-47E2-A4D0-539AFC723A6A}" cxnId="{A4A53350-4AC2-48F4-A2A0-95C7D45D7091}" type="parTrans">
      <dgm:prSet/>
      <dgm:spPr/>
      <dgm:t>
        <a:bodyPr/>
        <a:lstStyle/>
        <a:p>
          <a:pPr algn="ctr"/>
          <a:endParaRPr lang="zh-CN" altLang="en-US" sz="2000"/>
        </a:p>
      </dgm:t>
    </dgm:pt>
    <dgm:pt modelId="{783A8D22-5ACB-4604-8AD7-3AE174DA5F53}" cxnId="{A4A53350-4AC2-48F4-A2A0-95C7D45D7091}" type="sibTrans">
      <dgm:prSet custT="1"/>
      <dgm:spPr/>
      <dgm:t>
        <a:bodyPr/>
        <a:lstStyle/>
        <a:p>
          <a:pPr algn="ctr"/>
          <a:endParaRPr lang="zh-CN" altLang="en-US" sz="2000"/>
        </a:p>
      </dgm:t>
    </dgm:pt>
    <dgm:pt modelId="{1D4B557D-9B89-4364-8AF5-FE84A99D30DC}">
      <dgm:prSet phldrT="[文本]" custT="1"/>
      <dgm:spPr/>
      <dgm:t>
        <a:bodyPr/>
        <a:lstStyle/>
        <a:p>
          <a:pPr algn="ctr"/>
          <a:r>
            <a:rPr lang="zh-CN" altLang="en-US" sz="2000"/>
            <a:t>确认模型</a:t>
          </a:r>
        </a:p>
      </dgm:t>
    </dgm:pt>
    <dgm:pt modelId="{B253FBA1-AA7F-4033-A82D-DCF7E3D0C8F0}" cxnId="{0B00F87C-01E7-4457-B538-C760C4C6A672}" type="parTrans">
      <dgm:prSet/>
      <dgm:spPr/>
      <dgm:t>
        <a:bodyPr/>
        <a:lstStyle/>
        <a:p>
          <a:pPr algn="ctr"/>
          <a:endParaRPr lang="zh-CN" altLang="en-US" sz="2000"/>
        </a:p>
      </dgm:t>
    </dgm:pt>
    <dgm:pt modelId="{37DCA624-3E66-438D-9518-F90C3887C615}" cxnId="{0B00F87C-01E7-4457-B538-C760C4C6A672}" type="sibTrans">
      <dgm:prSet/>
      <dgm:spPr/>
      <dgm:t>
        <a:bodyPr/>
        <a:lstStyle/>
        <a:p>
          <a:pPr algn="ctr"/>
          <a:endParaRPr lang="zh-CN" altLang="en-US" sz="2000"/>
        </a:p>
      </dgm:t>
    </dgm:pt>
    <dgm:pt modelId="{1C30AF64-B54C-4816-BCB8-44D094C9D450}" type="pres">
      <dgm:prSet presAssocID="{A99BCEC0-EACB-496E-B704-4DAF4BF4D869}" presName="Name0" presStyleCnt="0">
        <dgm:presLayoutVars>
          <dgm:dir/>
          <dgm:resizeHandles val="exact"/>
        </dgm:presLayoutVars>
      </dgm:prSet>
      <dgm:spPr/>
    </dgm:pt>
    <dgm:pt modelId="{7A7E0461-A943-4195-9219-8C1DE3FD808C}" type="pres">
      <dgm:prSet presAssocID="{D953CF0B-A1E4-4799-A991-762F50F23A2F}" presName="node" presStyleLbl="node1" presStyleIdx="0" presStyleCnt="5">
        <dgm:presLayoutVars>
          <dgm:bulletEnabled val="1"/>
        </dgm:presLayoutVars>
      </dgm:prSet>
      <dgm:spPr/>
      <dgm:t>
        <a:bodyPr/>
        <a:lstStyle/>
        <a:p>
          <a:endParaRPr lang="zh-CN" altLang="en-US"/>
        </a:p>
      </dgm:t>
    </dgm:pt>
    <dgm:pt modelId="{D66EE09C-48B0-4DA8-9D2F-234274D18013}" type="pres">
      <dgm:prSet presAssocID="{49C8AFA5-904F-4273-BBBE-8A9D459CD086}" presName="sibTrans" presStyleLbl="sibTrans2D1" presStyleIdx="0" presStyleCnt="4"/>
      <dgm:spPr/>
      <dgm:t>
        <a:bodyPr/>
        <a:lstStyle/>
        <a:p>
          <a:endParaRPr lang="zh-CN" altLang="en-US"/>
        </a:p>
      </dgm:t>
    </dgm:pt>
    <dgm:pt modelId="{3DEBFD52-D005-4EAC-A49B-66A3524C0818}" type="pres">
      <dgm:prSet presAssocID="{49C8AFA5-904F-4273-BBBE-8A9D459CD086}" presName="connectorText" presStyleLbl="sibTrans2D1" presStyleIdx="0" presStyleCnt="4"/>
      <dgm:spPr/>
      <dgm:t>
        <a:bodyPr/>
        <a:lstStyle/>
        <a:p>
          <a:endParaRPr lang="zh-CN" altLang="en-US"/>
        </a:p>
      </dgm:t>
    </dgm:pt>
    <dgm:pt modelId="{7126CBDD-A0F1-4EB0-98F5-9F3F019084A8}" type="pres">
      <dgm:prSet presAssocID="{2EF22D36-8EE2-4CEA-9280-2ECC93CF4CC8}" presName="node" presStyleLbl="node1" presStyleIdx="1" presStyleCnt="5">
        <dgm:presLayoutVars>
          <dgm:bulletEnabled val="1"/>
        </dgm:presLayoutVars>
      </dgm:prSet>
      <dgm:spPr/>
      <dgm:t>
        <a:bodyPr/>
        <a:lstStyle/>
        <a:p>
          <a:endParaRPr lang="zh-CN" altLang="en-US"/>
        </a:p>
      </dgm:t>
    </dgm:pt>
    <dgm:pt modelId="{C2394506-9E32-48EA-8589-521A2BCFD3BF}" type="pres">
      <dgm:prSet presAssocID="{D2DA0510-DB1C-4587-BCC7-2CF9F15FCAA2}" presName="sibTrans" presStyleLbl="sibTrans2D1" presStyleIdx="1" presStyleCnt="4"/>
      <dgm:spPr/>
      <dgm:t>
        <a:bodyPr/>
        <a:lstStyle/>
        <a:p>
          <a:endParaRPr lang="zh-CN" altLang="en-US"/>
        </a:p>
      </dgm:t>
    </dgm:pt>
    <dgm:pt modelId="{3EFAC98D-CD17-4B11-9F8F-E81FC3C427D8}" type="pres">
      <dgm:prSet presAssocID="{D2DA0510-DB1C-4587-BCC7-2CF9F15FCAA2}" presName="connectorText" presStyleLbl="sibTrans2D1" presStyleIdx="1" presStyleCnt="4"/>
      <dgm:spPr/>
      <dgm:t>
        <a:bodyPr/>
        <a:lstStyle/>
        <a:p>
          <a:endParaRPr lang="zh-CN" altLang="en-US"/>
        </a:p>
      </dgm:t>
    </dgm:pt>
    <dgm:pt modelId="{EA19A4BD-71EB-4A95-BEA8-8668765D345B}" type="pres">
      <dgm:prSet presAssocID="{26983084-C32B-41B8-96EB-A72BAE7B116B}" presName="node" presStyleLbl="node1" presStyleIdx="2" presStyleCnt="5">
        <dgm:presLayoutVars>
          <dgm:bulletEnabled val="1"/>
        </dgm:presLayoutVars>
      </dgm:prSet>
      <dgm:spPr/>
      <dgm:t>
        <a:bodyPr/>
        <a:lstStyle/>
        <a:p>
          <a:endParaRPr lang="zh-CN" altLang="en-US"/>
        </a:p>
      </dgm:t>
    </dgm:pt>
    <dgm:pt modelId="{9503B5B9-3CFC-4CE1-926A-1E9982A8F666}" type="pres">
      <dgm:prSet presAssocID="{0EC978F7-6487-4C0F-B79B-ACB0BCD92A1E}" presName="sibTrans" presStyleLbl="sibTrans2D1" presStyleIdx="2" presStyleCnt="4"/>
      <dgm:spPr/>
      <dgm:t>
        <a:bodyPr/>
        <a:lstStyle/>
        <a:p>
          <a:endParaRPr lang="zh-CN" altLang="en-US"/>
        </a:p>
      </dgm:t>
    </dgm:pt>
    <dgm:pt modelId="{08016A95-2574-464C-80EA-47C92AC41CA7}" type="pres">
      <dgm:prSet presAssocID="{0EC978F7-6487-4C0F-B79B-ACB0BCD92A1E}" presName="connectorText" presStyleLbl="sibTrans2D1" presStyleIdx="2" presStyleCnt="4"/>
      <dgm:spPr/>
      <dgm:t>
        <a:bodyPr/>
        <a:lstStyle/>
        <a:p>
          <a:endParaRPr lang="zh-CN" altLang="en-US"/>
        </a:p>
      </dgm:t>
    </dgm:pt>
    <dgm:pt modelId="{A286C152-4BF1-41FE-B894-6174AB77A32A}" type="pres">
      <dgm:prSet presAssocID="{D491EEE1-5ACB-468B-9F11-FAE54E78E6E3}" presName="node" presStyleLbl="node1" presStyleIdx="3" presStyleCnt="5">
        <dgm:presLayoutVars>
          <dgm:bulletEnabled val="1"/>
        </dgm:presLayoutVars>
      </dgm:prSet>
      <dgm:spPr/>
      <dgm:t>
        <a:bodyPr/>
        <a:lstStyle/>
        <a:p>
          <a:endParaRPr lang="zh-CN" altLang="en-US"/>
        </a:p>
      </dgm:t>
    </dgm:pt>
    <dgm:pt modelId="{005FEB3C-937C-42E6-A455-798FD45FBF98}" type="pres">
      <dgm:prSet presAssocID="{783A8D22-5ACB-4604-8AD7-3AE174DA5F53}" presName="sibTrans" presStyleLbl="sibTrans2D1" presStyleIdx="3" presStyleCnt="4"/>
      <dgm:spPr/>
      <dgm:t>
        <a:bodyPr/>
        <a:lstStyle/>
        <a:p>
          <a:endParaRPr lang="zh-CN" altLang="en-US"/>
        </a:p>
      </dgm:t>
    </dgm:pt>
    <dgm:pt modelId="{9A6758A1-D7F0-45A3-A323-F2845A87F9F1}" type="pres">
      <dgm:prSet presAssocID="{783A8D22-5ACB-4604-8AD7-3AE174DA5F53}" presName="connectorText" presStyleLbl="sibTrans2D1" presStyleIdx="3" presStyleCnt="4"/>
      <dgm:spPr/>
      <dgm:t>
        <a:bodyPr/>
        <a:lstStyle/>
        <a:p>
          <a:endParaRPr lang="zh-CN" altLang="en-US"/>
        </a:p>
      </dgm:t>
    </dgm:pt>
    <dgm:pt modelId="{5ED21590-F0A8-4400-99BF-0DCEBDBC14D4}" type="pres">
      <dgm:prSet presAssocID="{1D4B557D-9B89-4364-8AF5-FE84A99D30DC}" presName="node" presStyleLbl="node1" presStyleIdx="4" presStyleCnt="5">
        <dgm:presLayoutVars>
          <dgm:bulletEnabled val="1"/>
        </dgm:presLayoutVars>
      </dgm:prSet>
      <dgm:spPr/>
      <dgm:t>
        <a:bodyPr/>
        <a:lstStyle/>
        <a:p>
          <a:endParaRPr lang="zh-CN" altLang="en-US"/>
        </a:p>
      </dgm:t>
    </dgm:pt>
  </dgm:ptLst>
  <dgm:cxnLst>
    <dgm:cxn modelId="{8B193E99-ED18-41AC-9064-955B6EEFED97}" type="presOf" srcId="{0EC978F7-6487-4C0F-B79B-ACB0BCD92A1E}" destId="{9503B5B9-3CFC-4CE1-926A-1E9982A8F666}" srcOrd="0" destOrd="0" presId="urn:microsoft.com/office/officeart/2005/8/layout/process1"/>
    <dgm:cxn modelId="{1AFFC314-4CF1-4E16-B44D-8B3423D69301}" type="presOf" srcId="{A99BCEC0-EACB-496E-B704-4DAF4BF4D869}" destId="{1C30AF64-B54C-4816-BCB8-44D094C9D450}" srcOrd="0" destOrd="0" presId="urn:microsoft.com/office/officeart/2005/8/layout/process1"/>
    <dgm:cxn modelId="{0B00F87C-01E7-4457-B538-C760C4C6A672}" srcId="{A99BCEC0-EACB-496E-B704-4DAF4BF4D869}" destId="{1D4B557D-9B89-4364-8AF5-FE84A99D30DC}" srcOrd="4" destOrd="0" parTransId="{B253FBA1-AA7F-4033-A82D-DCF7E3D0C8F0}" sibTransId="{37DCA624-3E66-438D-9518-F90C3887C615}"/>
    <dgm:cxn modelId="{A4A53350-4AC2-48F4-A2A0-95C7D45D7091}" srcId="{A99BCEC0-EACB-496E-B704-4DAF4BF4D869}" destId="{D491EEE1-5ACB-468B-9F11-FAE54E78E6E3}" srcOrd="3" destOrd="0" parTransId="{A6DD984A-A814-47E2-A4D0-539AFC723A6A}" sibTransId="{783A8D22-5ACB-4604-8AD7-3AE174DA5F53}"/>
    <dgm:cxn modelId="{9954D9DB-D98D-4479-9A90-14CADD2254FA}" type="presOf" srcId="{26983084-C32B-41B8-96EB-A72BAE7B116B}" destId="{EA19A4BD-71EB-4A95-BEA8-8668765D345B}" srcOrd="0" destOrd="0" presId="urn:microsoft.com/office/officeart/2005/8/layout/process1"/>
    <dgm:cxn modelId="{F7F3472B-C742-431B-8CF6-276B53BC962A}" type="presOf" srcId="{49C8AFA5-904F-4273-BBBE-8A9D459CD086}" destId="{3DEBFD52-D005-4EAC-A49B-66A3524C0818}" srcOrd="1" destOrd="0" presId="urn:microsoft.com/office/officeart/2005/8/layout/process1"/>
    <dgm:cxn modelId="{B8C0AF27-29A9-475A-8693-DAF5B2471B76}" srcId="{A99BCEC0-EACB-496E-B704-4DAF4BF4D869}" destId="{2EF22D36-8EE2-4CEA-9280-2ECC93CF4CC8}" srcOrd="1" destOrd="0" parTransId="{2F50A931-3319-457E-B3A9-2823361342A5}" sibTransId="{D2DA0510-DB1C-4587-BCC7-2CF9F15FCAA2}"/>
    <dgm:cxn modelId="{9D289906-95F4-45F0-BF0D-BA2EC4BD555F}" type="presOf" srcId="{1D4B557D-9B89-4364-8AF5-FE84A99D30DC}" destId="{5ED21590-F0A8-4400-99BF-0DCEBDBC14D4}" srcOrd="0" destOrd="0" presId="urn:microsoft.com/office/officeart/2005/8/layout/process1"/>
    <dgm:cxn modelId="{0EF37A0C-6FF8-4CB0-9CEB-08817F140862}" type="presOf" srcId="{D953CF0B-A1E4-4799-A991-762F50F23A2F}" destId="{7A7E0461-A943-4195-9219-8C1DE3FD808C}" srcOrd="0" destOrd="0" presId="urn:microsoft.com/office/officeart/2005/8/layout/process1"/>
    <dgm:cxn modelId="{3FAB07F7-DED3-46D4-BC73-395F45C8FE12}" type="presOf" srcId="{2EF22D36-8EE2-4CEA-9280-2ECC93CF4CC8}" destId="{7126CBDD-A0F1-4EB0-98F5-9F3F019084A8}" srcOrd="0" destOrd="0" presId="urn:microsoft.com/office/officeart/2005/8/layout/process1"/>
    <dgm:cxn modelId="{4F0CDBE8-8463-46A5-BF9E-80284193C2C6}" type="presOf" srcId="{D491EEE1-5ACB-468B-9F11-FAE54E78E6E3}" destId="{A286C152-4BF1-41FE-B894-6174AB77A32A}" srcOrd="0" destOrd="0" presId="urn:microsoft.com/office/officeart/2005/8/layout/process1"/>
    <dgm:cxn modelId="{AA0CC335-71BD-4ED3-8CDF-664ACCCF0675}" type="presOf" srcId="{49C8AFA5-904F-4273-BBBE-8A9D459CD086}" destId="{D66EE09C-48B0-4DA8-9D2F-234274D18013}" srcOrd="0" destOrd="0" presId="urn:microsoft.com/office/officeart/2005/8/layout/process1"/>
    <dgm:cxn modelId="{510262B3-4D9F-4B02-9CA5-540905C1CF0D}" type="presOf" srcId="{D2DA0510-DB1C-4587-BCC7-2CF9F15FCAA2}" destId="{3EFAC98D-CD17-4B11-9F8F-E81FC3C427D8}" srcOrd="1" destOrd="0" presId="urn:microsoft.com/office/officeart/2005/8/layout/process1"/>
    <dgm:cxn modelId="{A62F1639-7C9B-4D6E-BBD4-C07417705EBE}" type="presOf" srcId="{783A8D22-5ACB-4604-8AD7-3AE174DA5F53}" destId="{9A6758A1-D7F0-45A3-A323-F2845A87F9F1}" srcOrd="1" destOrd="0" presId="urn:microsoft.com/office/officeart/2005/8/layout/process1"/>
    <dgm:cxn modelId="{90BE27CB-CF26-4C09-B6EB-FC6161F235A4}" type="presOf" srcId="{D2DA0510-DB1C-4587-BCC7-2CF9F15FCAA2}" destId="{C2394506-9E32-48EA-8589-521A2BCFD3BF}" srcOrd="0" destOrd="0" presId="urn:microsoft.com/office/officeart/2005/8/layout/process1"/>
    <dgm:cxn modelId="{5B80FAEB-B2A5-4340-A2E3-F0E722760D51}" type="presOf" srcId="{783A8D22-5ACB-4604-8AD7-3AE174DA5F53}" destId="{005FEB3C-937C-42E6-A455-798FD45FBF98}" srcOrd="0" destOrd="0" presId="urn:microsoft.com/office/officeart/2005/8/layout/process1"/>
    <dgm:cxn modelId="{E213853B-F73D-4783-A2C4-5A2EFBF3B2B8}" srcId="{A99BCEC0-EACB-496E-B704-4DAF4BF4D869}" destId="{26983084-C32B-41B8-96EB-A72BAE7B116B}" srcOrd="2" destOrd="0" parTransId="{AEC8F8EF-0E7C-44FB-A401-1DC1B2835E7C}" sibTransId="{0EC978F7-6487-4C0F-B79B-ACB0BCD92A1E}"/>
    <dgm:cxn modelId="{52446FD9-087F-4F9B-8859-4FCE117A4868}" type="presOf" srcId="{0EC978F7-6487-4C0F-B79B-ACB0BCD92A1E}" destId="{08016A95-2574-464C-80EA-47C92AC41CA7}" srcOrd="1" destOrd="0" presId="urn:microsoft.com/office/officeart/2005/8/layout/process1"/>
    <dgm:cxn modelId="{F0FD5BBA-92EC-4427-829A-4023C456EC68}" srcId="{A99BCEC0-EACB-496E-B704-4DAF4BF4D869}" destId="{D953CF0B-A1E4-4799-A991-762F50F23A2F}" srcOrd="0" destOrd="0" parTransId="{35E2EDDF-5E54-4BC6-985A-2B70271A24DE}" sibTransId="{49C8AFA5-904F-4273-BBBE-8A9D459CD086}"/>
    <dgm:cxn modelId="{1040BA7F-AC9A-46DB-9A03-40C3620E2171}" type="presParOf" srcId="{1C30AF64-B54C-4816-BCB8-44D094C9D450}" destId="{7A7E0461-A943-4195-9219-8C1DE3FD808C}" srcOrd="0" destOrd="0" presId="urn:microsoft.com/office/officeart/2005/8/layout/process1"/>
    <dgm:cxn modelId="{5E53270B-DE95-44A2-891F-DB1BA3C49ADA}" type="presParOf" srcId="{1C30AF64-B54C-4816-BCB8-44D094C9D450}" destId="{D66EE09C-48B0-4DA8-9D2F-234274D18013}" srcOrd="1" destOrd="0" presId="urn:microsoft.com/office/officeart/2005/8/layout/process1"/>
    <dgm:cxn modelId="{6EEEE98B-E072-4ECC-91B2-A274FD8C71F6}" type="presParOf" srcId="{D66EE09C-48B0-4DA8-9D2F-234274D18013}" destId="{3DEBFD52-D005-4EAC-A49B-66A3524C0818}" srcOrd="0" destOrd="0" presId="urn:microsoft.com/office/officeart/2005/8/layout/process1"/>
    <dgm:cxn modelId="{2CBDC5A9-0C26-4DDB-A1F3-D5B6793CF5F0}" type="presParOf" srcId="{1C30AF64-B54C-4816-BCB8-44D094C9D450}" destId="{7126CBDD-A0F1-4EB0-98F5-9F3F019084A8}" srcOrd="2" destOrd="0" presId="urn:microsoft.com/office/officeart/2005/8/layout/process1"/>
    <dgm:cxn modelId="{8D67F196-0008-4CCC-9E5D-62D8A8321241}" type="presParOf" srcId="{1C30AF64-B54C-4816-BCB8-44D094C9D450}" destId="{C2394506-9E32-48EA-8589-521A2BCFD3BF}" srcOrd="3" destOrd="0" presId="urn:microsoft.com/office/officeart/2005/8/layout/process1"/>
    <dgm:cxn modelId="{DAE0FCBD-C379-4A66-B477-E275E8F99CF1}" type="presParOf" srcId="{C2394506-9E32-48EA-8589-521A2BCFD3BF}" destId="{3EFAC98D-CD17-4B11-9F8F-E81FC3C427D8}" srcOrd="0" destOrd="0" presId="urn:microsoft.com/office/officeart/2005/8/layout/process1"/>
    <dgm:cxn modelId="{6742E365-704F-4FC0-A672-FFE284F0F791}" type="presParOf" srcId="{1C30AF64-B54C-4816-BCB8-44D094C9D450}" destId="{EA19A4BD-71EB-4A95-BEA8-8668765D345B}" srcOrd="4" destOrd="0" presId="urn:microsoft.com/office/officeart/2005/8/layout/process1"/>
    <dgm:cxn modelId="{3666F8C8-E443-4BB0-9988-66EAB6B6F3A9}" type="presParOf" srcId="{1C30AF64-B54C-4816-BCB8-44D094C9D450}" destId="{9503B5B9-3CFC-4CE1-926A-1E9982A8F666}" srcOrd="5" destOrd="0" presId="urn:microsoft.com/office/officeart/2005/8/layout/process1"/>
    <dgm:cxn modelId="{481D8A3B-1D4A-427C-88E0-AE2E479F8FFA}" type="presParOf" srcId="{9503B5B9-3CFC-4CE1-926A-1E9982A8F666}" destId="{08016A95-2574-464C-80EA-47C92AC41CA7}" srcOrd="0" destOrd="0" presId="urn:microsoft.com/office/officeart/2005/8/layout/process1"/>
    <dgm:cxn modelId="{78B124B2-9768-4671-98CC-A28E732BE77B}" type="presParOf" srcId="{1C30AF64-B54C-4816-BCB8-44D094C9D450}" destId="{A286C152-4BF1-41FE-B894-6174AB77A32A}" srcOrd="6" destOrd="0" presId="urn:microsoft.com/office/officeart/2005/8/layout/process1"/>
    <dgm:cxn modelId="{A4F1E933-6C45-4FFC-96CC-79E9A22A4D15}" type="presParOf" srcId="{1C30AF64-B54C-4816-BCB8-44D094C9D450}" destId="{005FEB3C-937C-42E6-A455-798FD45FBF98}" srcOrd="7" destOrd="0" presId="urn:microsoft.com/office/officeart/2005/8/layout/process1"/>
    <dgm:cxn modelId="{56D1B0BE-0DF0-4F76-98F5-22C78D7D240D}" type="presParOf" srcId="{005FEB3C-937C-42E6-A455-798FD45FBF98}" destId="{9A6758A1-D7F0-45A3-A323-F2845A87F9F1}" srcOrd="0" destOrd="0" presId="urn:microsoft.com/office/officeart/2005/8/layout/process1"/>
    <dgm:cxn modelId="{409C9C61-24D1-4116-A354-6102CA4D573C}" type="presParOf" srcId="{1C30AF64-B54C-4816-BCB8-44D094C9D450}" destId="{5ED21590-F0A8-4400-99BF-0DCEBDBC14D4}" srcOrd="8"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96944" cy="2088232"/>
        <a:chOff x="0" y="0"/>
        <a:chExt cx="8496944" cy="2088232"/>
      </a:xfrm>
    </dsp:grpSpPr>
    <dsp:sp modelId="{7A7E0461-A943-4195-9219-8C1DE3FD808C}">
      <dsp:nvSpPr>
        <dsp:cNvPr id="3" name="圆角矩形 2"/>
        <dsp:cNvSpPr/>
      </dsp:nvSpPr>
      <dsp:spPr bwMode="white">
        <a:xfrm>
          <a:off x="0" y="657891"/>
          <a:ext cx="1287416" cy="772449"/>
        </a:xfrm>
        <a:prstGeom prst="roundRect">
          <a:avLst>
            <a:gd name="adj" fmla="val 10000"/>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a:t>定义系统</a:t>
          </a:r>
        </a:p>
      </dsp:txBody>
      <dsp:txXfrm>
        <a:off x="0" y="657891"/>
        <a:ext cx="1287416" cy="772449"/>
      </dsp:txXfrm>
    </dsp:sp>
    <dsp:sp modelId="{D66EE09C-48B0-4DA8-9D2F-234274D18013}">
      <dsp:nvSpPr>
        <dsp:cNvPr id="4" name="右箭头 3"/>
        <dsp:cNvSpPr/>
      </dsp:nvSpPr>
      <dsp:spPr bwMode="white">
        <a:xfrm>
          <a:off x="1408433" y="884476"/>
          <a:ext cx="272932" cy="319279"/>
        </a:xfrm>
        <a:prstGeom prst="rightArrow">
          <a:avLst>
            <a:gd name="adj1" fmla="val 60000"/>
            <a:gd name="adj2" fmla="val 50000"/>
          </a:avLst>
        </a:prstGeom>
      </dsp:spPr>
      <dsp:style>
        <a:lnRef idx="0">
          <a:schemeClr val="accent1">
            <a:tint val="60000"/>
          </a:schemeClr>
        </a:lnRef>
        <a:fillRef idx="2">
          <a:schemeClr val="accent1">
            <a:tint val="60000"/>
          </a:schemeClr>
        </a:fillRef>
        <a:effectRef idx="1">
          <a:scrgbClr r="0" g="0" b="0"/>
        </a:effectRef>
        <a:fontRef idx="minor">
          <a:schemeClr val="dk1"/>
        </a:fontRef>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2000"/>
        </a:p>
      </dsp:txBody>
      <dsp:txXfrm>
        <a:off x="1408433" y="884476"/>
        <a:ext cx="272932" cy="319279"/>
      </dsp:txXfrm>
    </dsp:sp>
    <dsp:sp modelId="{7126CBDD-A0F1-4EB0-98F5-9F3F019084A8}">
      <dsp:nvSpPr>
        <dsp:cNvPr id="5" name="圆角矩形 4"/>
        <dsp:cNvSpPr/>
      </dsp:nvSpPr>
      <dsp:spPr bwMode="white">
        <a:xfrm>
          <a:off x="1802382" y="657891"/>
          <a:ext cx="1287416" cy="772449"/>
        </a:xfrm>
        <a:prstGeom prst="roundRect">
          <a:avLst>
            <a:gd name="adj" fmla="val 10000"/>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a:t>确定执行者和用例</a:t>
          </a:r>
        </a:p>
      </dsp:txBody>
      <dsp:txXfrm>
        <a:off x="1802382" y="657891"/>
        <a:ext cx="1287416" cy="772449"/>
      </dsp:txXfrm>
    </dsp:sp>
    <dsp:sp modelId="{C2394506-9E32-48EA-8589-521A2BCFD3BF}">
      <dsp:nvSpPr>
        <dsp:cNvPr id="6" name="右箭头 5"/>
        <dsp:cNvSpPr/>
      </dsp:nvSpPr>
      <dsp:spPr bwMode="white">
        <a:xfrm>
          <a:off x="3210815" y="884476"/>
          <a:ext cx="272932" cy="319279"/>
        </a:xfrm>
        <a:prstGeom prst="rightArrow">
          <a:avLst>
            <a:gd name="adj1" fmla="val 60000"/>
            <a:gd name="adj2" fmla="val 50000"/>
          </a:avLst>
        </a:prstGeom>
      </dsp:spPr>
      <dsp:style>
        <a:lnRef idx="0">
          <a:schemeClr val="accent1">
            <a:tint val="60000"/>
          </a:schemeClr>
        </a:lnRef>
        <a:fillRef idx="2">
          <a:schemeClr val="accent1">
            <a:tint val="60000"/>
          </a:schemeClr>
        </a:fillRef>
        <a:effectRef idx="1">
          <a:scrgbClr r="0" g="0" b="0"/>
        </a:effectRef>
        <a:fontRef idx="minor">
          <a:schemeClr val="dk1"/>
        </a:fontRef>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2000"/>
        </a:p>
      </dsp:txBody>
      <dsp:txXfrm>
        <a:off x="3210815" y="884476"/>
        <a:ext cx="272932" cy="319279"/>
      </dsp:txXfrm>
    </dsp:sp>
    <dsp:sp modelId="{EA19A4BD-71EB-4A95-BEA8-8668765D345B}">
      <dsp:nvSpPr>
        <dsp:cNvPr id="7" name="圆角矩形 6"/>
        <dsp:cNvSpPr/>
      </dsp:nvSpPr>
      <dsp:spPr bwMode="white">
        <a:xfrm>
          <a:off x="3604764" y="657891"/>
          <a:ext cx="1287416" cy="772449"/>
        </a:xfrm>
        <a:prstGeom prst="roundRect">
          <a:avLst>
            <a:gd name="adj" fmla="val 10000"/>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a:t>定义用例关系</a:t>
          </a:r>
        </a:p>
      </dsp:txBody>
      <dsp:txXfrm>
        <a:off x="3604764" y="657891"/>
        <a:ext cx="1287416" cy="772449"/>
      </dsp:txXfrm>
    </dsp:sp>
    <dsp:sp modelId="{9503B5B9-3CFC-4CE1-926A-1E9982A8F666}">
      <dsp:nvSpPr>
        <dsp:cNvPr id="8" name="右箭头 7"/>
        <dsp:cNvSpPr/>
      </dsp:nvSpPr>
      <dsp:spPr bwMode="white">
        <a:xfrm>
          <a:off x="5013197" y="884476"/>
          <a:ext cx="272932" cy="319279"/>
        </a:xfrm>
        <a:prstGeom prst="rightArrow">
          <a:avLst>
            <a:gd name="adj1" fmla="val 60000"/>
            <a:gd name="adj2" fmla="val 50000"/>
          </a:avLst>
        </a:prstGeom>
      </dsp:spPr>
      <dsp:style>
        <a:lnRef idx="0">
          <a:schemeClr val="accent1">
            <a:tint val="60000"/>
          </a:schemeClr>
        </a:lnRef>
        <a:fillRef idx="2">
          <a:schemeClr val="accent1">
            <a:tint val="60000"/>
          </a:schemeClr>
        </a:fillRef>
        <a:effectRef idx="1">
          <a:scrgbClr r="0" g="0" b="0"/>
        </a:effectRef>
        <a:fontRef idx="minor">
          <a:schemeClr val="dk1"/>
        </a:fontRef>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2000"/>
        </a:p>
      </dsp:txBody>
      <dsp:txXfrm>
        <a:off x="5013197" y="884476"/>
        <a:ext cx="272932" cy="319279"/>
      </dsp:txXfrm>
    </dsp:sp>
    <dsp:sp modelId="{A286C152-4BF1-41FE-B894-6174AB77A32A}">
      <dsp:nvSpPr>
        <dsp:cNvPr id="9" name="圆角矩形 8"/>
        <dsp:cNvSpPr/>
      </dsp:nvSpPr>
      <dsp:spPr bwMode="white">
        <a:xfrm>
          <a:off x="5407146" y="657891"/>
          <a:ext cx="1287416" cy="772449"/>
        </a:xfrm>
        <a:prstGeom prst="roundRect">
          <a:avLst>
            <a:gd name="adj" fmla="val 10000"/>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a:t>描述用例</a:t>
          </a:r>
        </a:p>
      </dsp:txBody>
      <dsp:txXfrm>
        <a:off x="5407146" y="657891"/>
        <a:ext cx="1287416" cy="772449"/>
      </dsp:txXfrm>
    </dsp:sp>
    <dsp:sp modelId="{005FEB3C-937C-42E6-A455-798FD45FBF98}">
      <dsp:nvSpPr>
        <dsp:cNvPr id="10" name="右箭头 9"/>
        <dsp:cNvSpPr/>
      </dsp:nvSpPr>
      <dsp:spPr bwMode="white">
        <a:xfrm>
          <a:off x="6815579" y="884476"/>
          <a:ext cx="272932" cy="319279"/>
        </a:xfrm>
        <a:prstGeom prst="rightArrow">
          <a:avLst>
            <a:gd name="adj1" fmla="val 60000"/>
            <a:gd name="adj2" fmla="val 50000"/>
          </a:avLst>
        </a:prstGeom>
      </dsp:spPr>
      <dsp:style>
        <a:lnRef idx="0">
          <a:schemeClr val="accent1">
            <a:tint val="60000"/>
          </a:schemeClr>
        </a:lnRef>
        <a:fillRef idx="2">
          <a:schemeClr val="accent1">
            <a:tint val="60000"/>
          </a:schemeClr>
        </a:fillRef>
        <a:effectRef idx="1">
          <a:scrgbClr r="0" g="0" b="0"/>
        </a:effectRef>
        <a:fontRef idx="minor">
          <a:schemeClr val="dk1"/>
        </a:fontRef>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2000"/>
        </a:p>
      </dsp:txBody>
      <dsp:txXfrm>
        <a:off x="6815579" y="884476"/>
        <a:ext cx="272932" cy="319279"/>
      </dsp:txXfrm>
    </dsp:sp>
    <dsp:sp modelId="{5ED21590-F0A8-4400-99BF-0DCEBDBC14D4}">
      <dsp:nvSpPr>
        <dsp:cNvPr id="11" name="圆角矩形 10"/>
        <dsp:cNvSpPr/>
      </dsp:nvSpPr>
      <dsp:spPr bwMode="white">
        <a:xfrm>
          <a:off x="7209528" y="657891"/>
          <a:ext cx="1287416" cy="772449"/>
        </a:xfrm>
        <a:prstGeom prst="roundRect">
          <a:avLst>
            <a:gd name="adj" fmla="val 10000"/>
          </a:avLst>
        </a:prstGeom>
        <a:sp3d prstMaterial="dkEdge">
          <a:bevelT w="8200" h="38100"/>
        </a:sp3d>
      </dsp:spPr>
      <dsp:style>
        <a:lnRef idx="0">
          <a:schemeClr val="lt1"/>
        </a:lnRef>
        <a:fillRef idx="2">
          <a:schemeClr val="accent1"/>
        </a:fillRef>
        <a:effectRef idx="1">
          <a:scrgbClr r="0" g="0" b="0"/>
        </a:effectRef>
        <a:fontRef idx="minor">
          <a:schemeClr val="dk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a:t>确认模型</a:t>
          </a:r>
        </a:p>
      </dsp:txBody>
      <dsp:txXfrm>
        <a:off x="7209528" y="657891"/>
        <a:ext cx="1287416" cy="77244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5199E13-1BC1-4D04-A671-F241FDC5DE48}"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8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0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5DB171C-5603-4538-A813-7FC21CB804C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33D68E7-8FF2-4367-B503-183D3117C1FF}"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DA4FE09-1F4E-474B-98F6-2BAA65ABD3CC}"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3EC2267-6A1B-4172-80E9-B735EA1BD0A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9BA36125-E06E-4B68-865E-3059FD20E0F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A9D5213-233A-4DBB-A8CC-C18608DD6C0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DC79DAFA-96AA-4181-AD84-2AB5C676A69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03B2EB6-2FC5-4BB9-837B-665196D5C6E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6410D57-2560-4AB9-9746-B2F04CA716B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52ABF9B-1494-4081-B01E-338E8BDAB27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9854CCE9-A77A-4C0B-919A-C01BE0A988E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F54DFEF-8058-4744-B41B-39332F00B613}"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62E3468-9C10-4E17-ADE6-CE91CD5F6A4C}"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F294504-A465-490E-820A-564F26BB13E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A604409-64B9-4932-A412-597C9FEB703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iming>
    <p:tnLst>
      <p:par>
        <p:cTn id="1" dur="indefinite" restart="never" nodeType="tmRoot"/>
      </p:par>
    </p:tnLst>
  </p:timing>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8.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0.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3.emf"/><Relationship Id="rId1"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12.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oleObject" Target="../embeddings/oleObject13.bin"/></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14.bin"/></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oleObject" Target="../embeddings/oleObject15.bin"/></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16.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17.bin"/></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18.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19.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oleObject" Target="../embeddings/oleObject20.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35.emf"/><Relationship Id="rId1" Type="http://schemas.openxmlformats.org/officeDocument/2006/relationships/oleObject" Target="../embeddings/oleObject21.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36.emf"/><Relationship Id="rId1" Type="http://schemas.openxmlformats.org/officeDocument/2006/relationships/oleObject" Target="../embeddings/oleObject22.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37.emf"/><Relationship Id="rId1" Type="http://schemas.openxmlformats.org/officeDocument/2006/relationships/oleObject" Target="../embeddings/oleObject2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323850" y="2133600"/>
            <a:ext cx="8712200" cy="1079500"/>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br>
              <a:rPr lang="en-US" altLang="zh-CN" dirty="0">
                <a:latin typeface="Arial" panose="020B0604020202020204" pitchFamily="34" charset="0"/>
                <a:ea typeface="华文中宋" panose="02010600040101010101" pitchFamily="2" charset="-122"/>
                <a:cs typeface="+mj-cs"/>
              </a:rPr>
            </a:br>
            <a:r>
              <a:rPr lang="zh-CN" altLang="en-US" dirty="0">
                <a:latin typeface="Arial" panose="020B0604020202020204" pitchFamily="34" charset="0"/>
                <a:ea typeface="华文中宋" panose="02010600040101010101" pitchFamily="2" charset="-122"/>
                <a:cs typeface="+mj-cs"/>
              </a:rPr>
              <a:t>第五章 </a:t>
            </a:r>
            <a:br>
              <a:rPr lang="en-US" altLang="zh-CN" dirty="0">
                <a:latin typeface="Arial" panose="020B0604020202020204" pitchFamily="34" charset="0"/>
                <a:ea typeface="华文中宋" panose="02010600040101010101" pitchFamily="2" charset="-122"/>
                <a:cs typeface="+mj-cs"/>
              </a:rPr>
            </a:br>
            <a:r>
              <a:rPr lang="zh-CN" altLang="en-US" dirty="0">
                <a:latin typeface="Arial" panose="020B0604020202020204" pitchFamily="34" charset="0"/>
                <a:ea typeface="华文中宋" panose="02010600040101010101" pitchFamily="2" charset="-122"/>
                <a:cs typeface="+mj-cs"/>
              </a:rPr>
              <a:t>面向对象分析</a:t>
            </a:r>
            <a:br>
              <a:rPr lang="zh-CN" altLang="en-US" dirty="0">
                <a:latin typeface="Arial" panose="020B0604020202020204" pitchFamily="34" charset="0"/>
                <a:ea typeface="华文中宋" panose="02010600040101010101" pitchFamily="2" charset="-122"/>
                <a:cs typeface="+mj-cs"/>
              </a:rPr>
            </a:br>
            <a:endParaRPr lang="zh-CN" altLang="en-US" dirty="0">
              <a:latin typeface="Arial" panose="020B0604020202020204" pitchFamily="34" charset="0"/>
              <a:ea typeface="华文中宋" panose="02010600040101010101" pitchFamily="2" charset="-122"/>
              <a:cs typeface="+mj-cs"/>
            </a:endParaRPr>
          </a:p>
        </p:txBody>
      </p:sp>
      <p:sp>
        <p:nvSpPr>
          <p:cNvPr id="1843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a:xfrm>
            <a:off x="1476375" y="0"/>
            <a:ext cx="6365875" cy="946150"/>
          </a:xfrm>
          <a:ln/>
        </p:spPr>
        <p:txBody>
          <a:bodyPr vert="horz" wrap="square" lIns="91440" tIns="45720" rIns="91440" bIns="45720" anchor="ctr" anchorCtr="0"/>
          <a:p>
            <a:r>
              <a:rPr lang="en-US" altLang="zh-CN" dirty="0"/>
              <a:t>1 </a:t>
            </a:r>
            <a:r>
              <a:rPr lang="zh-CN" altLang="en-US" dirty="0"/>
              <a:t>面向对象方法学</a:t>
            </a:r>
            <a:br>
              <a:rPr lang="en-US" altLang="zh-CN" dirty="0"/>
            </a:br>
            <a:r>
              <a:rPr lang="en-US" altLang="zh-CN" dirty="0"/>
              <a:t>1.1 </a:t>
            </a:r>
            <a:r>
              <a:rPr lang="zh-CN" altLang="zh-CN" dirty="0"/>
              <a:t>结构化开发方法的不足</a:t>
            </a:r>
            <a:endParaRPr lang="zh-CN" altLang="en-US" dirty="0"/>
          </a:p>
        </p:txBody>
      </p:sp>
      <p:sp>
        <p:nvSpPr>
          <p:cNvPr id="19459" name="内容占位符 2"/>
          <p:cNvSpPr>
            <a:spLocks noGrp="1"/>
          </p:cNvSpPr>
          <p:nvPr>
            <p:ph idx="1"/>
          </p:nvPr>
        </p:nvSpPr>
        <p:spPr>
          <a:xfrm>
            <a:off x="827088" y="1484313"/>
            <a:ext cx="7391400" cy="3268662"/>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zh-CN" dirty="0">
                <a:solidFill>
                  <a:srgbClr val="FF0000"/>
                </a:solidFill>
                <a:latin typeface="华文中宋" panose="02010600040101010101" pitchFamily="2" charset="-122"/>
                <a:ea typeface="华文中宋" panose="02010600040101010101" pitchFamily="2" charset="-122"/>
                <a:cs typeface="+mn-cs"/>
              </a:rPr>
              <a:t>结构化开发方法的</a:t>
            </a:r>
            <a:r>
              <a:rPr lang="zh-CN" altLang="en-US" dirty="0">
                <a:solidFill>
                  <a:srgbClr val="FF0000"/>
                </a:solidFill>
                <a:latin typeface="华文中宋" panose="02010600040101010101" pitchFamily="2" charset="-122"/>
                <a:ea typeface="华文中宋" panose="02010600040101010101" pitchFamily="2" charset="-122"/>
                <a:cs typeface="+mn-cs"/>
              </a:rPr>
              <a:t>核心思想</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zh-CN" dirty="0">
                <a:solidFill>
                  <a:srgbClr val="0070C0"/>
                </a:solidFill>
                <a:latin typeface="华文中宋" panose="02010600040101010101" pitchFamily="2" charset="-122"/>
                <a:ea typeface="华文中宋" panose="02010600040101010101" pitchFamily="2" charset="-122"/>
                <a:cs typeface="+mn-cs"/>
              </a:rPr>
              <a:t>结构化方法的核心思想是将整个软件按功能分解为一个个处理模块，每个模块完成一个基本功能</a:t>
            </a:r>
            <a:r>
              <a:rPr lang="zh-CN" altLang="zh-CN" dirty="0">
                <a:latin typeface="华文中宋" panose="02010600040101010101" pitchFamily="2" charset="-122"/>
                <a:ea typeface="华文中宋" panose="02010600040101010101" pitchFamily="2" charset="-122"/>
                <a:cs typeface="+mn-cs"/>
              </a:rPr>
              <a:t>，多个模块组合在一起实现整个系统的功能。由于软件设计的问题，</a:t>
            </a:r>
            <a:r>
              <a:rPr lang="zh-CN" altLang="zh-CN" dirty="0">
                <a:solidFill>
                  <a:srgbClr val="C00000"/>
                </a:solidFill>
                <a:latin typeface="华文中宋" panose="02010600040101010101" pitchFamily="2" charset="-122"/>
                <a:ea typeface="华文中宋" panose="02010600040101010101" pitchFamily="2" charset="-122"/>
                <a:cs typeface="+mn-cs"/>
              </a:rPr>
              <a:t>一些模块之间的藕合可能比较紧密</a:t>
            </a:r>
            <a:r>
              <a:rPr lang="zh-CN" altLang="zh-CN" dirty="0">
                <a:latin typeface="华文中宋" panose="02010600040101010101" pitchFamily="2" charset="-122"/>
                <a:ea typeface="华文中宋" panose="02010600040101010101" pitchFamily="2" charset="-122"/>
                <a:cs typeface="+mn-cs"/>
              </a:rPr>
              <a:t>，</a:t>
            </a:r>
            <a:r>
              <a:rPr lang="zh-CN" altLang="zh-CN" dirty="0">
                <a:solidFill>
                  <a:srgbClr val="C00000"/>
                </a:solidFill>
                <a:latin typeface="华文中宋" panose="02010600040101010101" pitchFamily="2" charset="-122"/>
                <a:ea typeface="华文中宋" panose="02010600040101010101" pitchFamily="2" charset="-122"/>
                <a:cs typeface="+mn-cs"/>
              </a:rPr>
              <a:t>这样就会出现一个模块的修改对系统其他部分的影响比较大</a:t>
            </a:r>
            <a:r>
              <a:rPr lang="zh-CN" altLang="zh-CN"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194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zh-CN" altLang="zh-CN" dirty="0"/>
              <a:t>结构化开发方法的不足</a:t>
            </a:r>
            <a:r>
              <a:rPr lang="zh-CN" altLang="en-US" dirty="0"/>
              <a:t>：</a:t>
            </a:r>
            <a:endParaRPr lang="en-US" altLang="zh-CN" dirty="0"/>
          </a:p>
        </p:txBody>
      </p:sp>
      <p:sp>
        <p:nvSpPr>
          <p:cNvPr id="20483" name="内容占位符 2"/>
          <p:cNvSpPr>
            <a:spLocks noGrp="1"/>
          </p:cNvSpPr>
          <p:nvPr>
            <p:ph idx="1"/>
          </p:nvPr>
        </p:nvSpPr>
        <p:spPr>
          <a:xfrm>
            <a:off x="539750" y="1196975"/>
            <a:ext cx="8135938" cy="4449763"/>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由于开发人员对用户需求的理解存在偏差，开发完成的软件与用户的实际需求</a:t>
            </a:r>
            <a:r>
              <a:rPr lang="zh-CN" altLang="en-US" dirty="0">
                <a:latin typeface="华文中宋" panose="02010600040101010101" pitchFamily="2" charset="-122"/>
                <a:ea typeface="华文中宋" panose="02010600040101010101" pitchFamily="2" charset="-122"/>
                <a:cs typeface="+mn-cs"/>
              </a:rPr>
              <a:t>常常</a:t>
            </a:r>
            <a:r>
              <a:rPr lang="zh-CN" altLang="zh-CN" dirty="0">
                <a:latin typeface="华文中宋" panose="02010600040101010101" pitchFamily="2" charset="-122"/>
                <a:ea typeface="华文中宋" panose="02010600040101010101" pitchFamily="2" charset="-122"/>
                <a:cs typeface="+mn-cs"/>
              </a:rPr>
              <a:t>有差别，不能满足用户的需要</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软件开发效率低下。</a:t>
            </a:r>
            <a:r>
              <a:rPr lang="zh-CN" altLang="zh-CN" dirty="0">
                <a:solidFill>
                  <a:srgbClr val="FF0000"/>
                </a:solidFill>
                <a:latin typeface="华文中宋" panose="02010600040101010101" pitchFamily="2" charset="-122"/>
                <a:ea typeface="华文中宋" panose="02010600040101010101" pitchFamily="2" charset="-122"/>
                <a:cs typeface="+mn-cs"/>
              </a:rPr>
              <a:t>用结构化方法开发软件时受需求变化的影响非常大</a:t>
            </a:r>
            <a:r>
              <a:rPr lang="zh-CN" altLang="zh-CN" dirty="0">
                <a:latin typeface="华文中宋" panose="02010600040101010101" pitchFamily="2" charset="-122"/>
                <a:ea typeface="华文中宋" panose="02010600040101010101" pitchFamily="2" charset="-122"/>
                <a:cs typeface="+mn-cs"/>
              </a:rPr>
              <a:t>，导致软件开发过程中的不断返工。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软件维护困难。</a:t>
            </a:r>
            <a:r>
              <a:rPr lang="zh-CN" altLang="zh-CN" dirty="0">
                <a:solidFill>
                  <a:srgbClr val="FF0000"/>
                </a:solidFill>
                <a:latin typeface="华文中宋" panose="02010600040101010101" pitchFamily="2" charset="-122"/>
                <a:ea typeface="华文中宋" panose="02010600040101010101" pitchFamily="2" charset="-122"/>
                <a:cs typeface="+mn-cs"/>
              </a:rPr>
              <a:t>一个模块的修改对系统其他部分的影响比较大</a:t>
            </a:r>
            <a:r>
              <a:rPr lang="zh-CN" altLang="zh-CN" dirty="0">
                <a:latin typeface="华文中宋" panose="02010600040101010101" pitchFamily="2" charset="-122"/>
                <a:ea typeface="华文中宋" panose="02010600040101010101" pitchFamily="2" charset="-122"/>
                <a:cs typeface="+mn-cs"/>
              </a:rPr>
              <a:t>，使得维护系统比较困难。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软件可复用性差。</a:t>
            </a:r>
            <a:r>
              <a:rPr lang="zh-CN" altLang="zh-CN" dirty="0">
                <a:latin typeface="华文中宋" panose="02010600040101010101" pitchFamily="2" charset="-122"/>
                <a:ea typeface="华文中宋" panose="02010600040101010101" pitchFamily="2" charset="-122"/>
                <a:cs typeface="+mn-cs"/>
              </a:rPr>
              <a:t>结构化方法开发的软件除了一些接口简单的数学函数外，其他软件的可复用性一般都比较差</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p:txBody>
      </p:sp>
      <p:sp>
        <p:nvSpPr>
          <p:cNvPr id="204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ln/>
        </p:spPr>
        <p:txBody>
          <a:bodyPr vert="horz" wrap="square" lIns="91440" tIns="45720" rIns="91440" bIns="45720" anchor="ctr" anchorCtr="0"/>
          <a:p>
            <a:r>
              <a:rPr lang="en-US" altLang="zh-CN" dirty="0"/>
              <a:t>1.2 </a:t>
            </a:r>
            <a:r>
              <a:rPr lang="zh-CN" altLang="en-US" dirty="0"/>
              <a:t>面向对象开发方法</a:t>
            </a:r>
            <a:endParaRPr lang="zh-CN" altLang="en-US" dirty="0"/>
          </a:p>
        </p:txBody>
      </p:sp>
      <p:sp>
        <p:nvSpPr>
          <p:cNvPr id="22531" name="内容占位符 2"/>
          <p:cNvSpPr>
            <a:spLocks noGrp="1" noChangeArrowheads="1"/>
          </p:cNvSpPr>
          <p:nvPr>
            <p:ph idx="1"/>
          </p:nvPr>
        </p:nvSpPr>
        <p:spPr>
          <a:xfrm>
            <a:off x="698500" y="1003300"/>
            <a:ext cx="8121650" cy="54483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面向对象方</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法是</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一种把面向对象的思想应用于软件开发过程中，指导开发活动的系统方法，简称</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OO (Object-Oriented)</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方法，是建立在</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对象</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概念基础上的方法学。</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面向对象方法学的出发点和基本原则，是尽可能模拟人类习惯的思维方式，使开发软件的方法与过程尽可能接近人类认识世界、解决问题的过程。</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通常，客观世界中的实体有静态属性又有动态行为，然而</a:t>
            </a:r>
            <a:r>
              <a:rPr kumimoji="0" lang="zh-CN" altLang="zh-CN" sz="2000" b="0"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传统语言提供的解空间对象实质上仅仅是描述实体属性的数据，必须在程序中从外部对其施加操作，才能模拟它的行为</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。而实际上，数据以及对数据施加的处理是密不可分的</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面向对象方法将数据与对数据的处理封装在一个统一体中，外界只需要发消息请求对象执行它的某些操作。</a:t>
            </a: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15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ln/>
        </p:spPr>
        <p:txBody>
          <a:bodyPr vert="horz" wrap="square" lIns="91440" tIns="45720" rIns="91440" bIns="45720" anchor="ctr" anchorCtr="0"/>
          <a:p>
            <a:r>
              <a:rPr lang="zh-CN" altLang="en-US" dirty="0"/>
              <a:t>面向对象方法学</a:t>
            </a:r>
            <a:endParaRPr lang="zh-CN" altLang="en-US" dirty="0"/>
          </a:p>
        </p:txBody>
      </p:sp>
      <p:sp>
        <p:nvSpPr>
          <p:cNvPr id="21507" name="内容占位符 2"/>
          <p:cNvSpPr>
            <a:spLocks noGrp="1"/>
          </p:cNvSpPr>
          <p:nvPr>
            <p:ph idx="1"/>
          </p:nvPr>
        </p:nvSpPr>
        <p:spPr>
          <a:xfrm>
            <a:off x="827088" y="1125538"/>
            <a:ext cx="7391400" cy="505301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面向对象分析和</a:t>
            </a:r>
            <a:r>
              <a:rPr kumimoji="0" lang="zh-CN" altLang="en-US"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设计解决了两</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个经典问题</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问题一</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传统的分析和设计方法将数据模型和处理模型分离</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。处理模型和数据模型实际上是描述解决一个问题的两个方面，但是建立两个模型使得系统分析人员很难检查它们的一致性和正确性。</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问题二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如何从系统分析平滑</a:t>
            </a:r>
            <a:r>
              <a:rPr kumimoji="0" lang="zh-CN" altLang="en-US" sz="2000" b="0" i="0" u="none" strike="noStrike" kern="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地</a:t>
            </a:r>
            <a:r>
              <a:rPr kumimoji="0" lang="zh-CN" altLang="zh-CN" sz="2000" b="0" i="0" u="none" strike="noStrike" kern="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过渡到系统设计</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传统的分析方法</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中</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分析模型到设计模型转变并不规范，容易引入错误。</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  UML</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将分析和设计模型统一，所使用的符号统一</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25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ln/>
        </p:spPr>
        <p:txBody>
          <a:bodyPr vert="horz" wrap="square" lIns="91440" tIns="45720" rIns="91440" bIns="45720" anchor="ctr" anchorCtr="0"/>
          <a:p>
            <a:r>
              <a:rPr lang="en-US" altLang="zh-CN" dirty="0"/>
              <a:t>1.3</a:t>
            </a:r>
            <a:r>
              <a:rPr lang="zh-CN" altLang="en-US" dirty="0"/>
              <a:t>面向对象常用概念</a:t>
            </a:r>
            <a:endParaRPr lang="zh-CN" altLang="en-US" dirty="0"/>
          </a:p>
        </p:txBody>
      </p:sp>
      <p:sp>
        <p:nvSpPr>
          <p:cNvPr id="23555" name="内容占位符 2"/>
          <p:cNvSpPr>
            <a:spLocks noGrp="1"/>
          </p:cNvSpPr>
          <p:nvPr>
            <p:ph idx="1"/>
          </p:nvPr>
        </p:nvSpPr>
        <p:spPr>
          <a:xfrm>
            <a:off x="827088" y="1196975"/>
            <a:ext cx="7391400" cy="4154488"/>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对象</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类</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消息</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方法</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继承多态性</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重载</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235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xfrm>
            <a:off x="1476375" y="0"/>
            <a:ext cx="6365875" cy="946150"/>
          </a:xfrm>
          <a:ln/>
        </p:spPr>
        <p:txBody>
          <a:bodyPr vert="horz" wrap="square" lIns="91440" tIns="45720" rIns="91440" bIns="45720" anchor="ctr" anchorCtr="0"/>
          <a:p>
            <a:r>
              <a:rPr lang="en-US" altLang="zh-CN" dirty="0"/>
              <a:t>2 UML</a:t>
            </a:r>
            <a:r>
              <a:rPr lang="zh-CN" altLang="en-US" dirty="0"/>
              <a:t>统一建模语言</a:t>
            </a:r>
            <a:br>
              <a:rPr lang="en-US" altLang="zh-CN" dirty="0"/>
            </a:br>
            <a:r>
              <a:rPr lang="en-US" altLang="zh-CN" dirty="0"/>
              <a:t>2.1 </a:t>
            </a:r>
            <a:r>
              <a:rPr lang="zh-CN" altLang="en-US" dirty="0"/>
              <a:t>面向对象分析方法</a:t>
            </a:r>
            <a:endParaRPr lang="zh-CN" altLang="en-US" dirty="0"/>
          </a:p>
        </p:txBody>
      </p:sp>
      <p:sp>
        <p:nvSpPr>
          <p:cNvPr id="24579" name="内容占位符 2"/>
          <p:cNvSpPr>
            <a:spLocks noGrp="1"/>
          </p:cNvSpPr>
          <p:nvPr>
            <p:ph idx="1"/>
          </p:nvPr>
        </p:nvSpPr>
        <p:spPr>
          <a:xfrm>
            <a:off x="827088" y="1196975"/>
            <a:ext cx="7921625" cy="3741738"/>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上世纪</a:t>
            </a:r>
            <a:r>
              <a:rPr lang="en-US" altLang="zh-CN" dirty="0">
                <a:latin typeface="华文中宋" panose="02010600040101010101" pitchFamily="2" charset="-122"/>
                <a:ea typeface="华文中宋" panose="02010600040101010101" pitchFamily="2" charset="-122"/>
                <a:cs typeface="+mn-cs"/>
              </a:rPr>
              <a:t>90</a:t>
            </a:r>
            <a:r>
              <a:rPr lang="zh-CN" altLang="en-US" dirty="0">
                <a:latin typeface="华文中宋" panose="02010600040101010101" pitchFamily="2" charset="-122"/>
                <a:ea typeface="华文中宋" panose="02010600040101010101" pitchFamily="2" charset="-122"/>
                <a:cs typeface="+mn-cs"/>
              </a:rPr>
              <a:t>年代，提出来很多种面向对象设计方法，</a:t>
            </a:r>
            <a:r>
              <a:rPr lang="zh-CN" altLang="zh-CN" dirty="0">
                <a:latin typeface="华文中宋" panose="02010600040101010101" pitchFamily="2" charset="-122"/>
                <a:ea typeface="华文中宋" panose="02010600040101010101" pitchFamily="2" charset="-122"/>
                <a:cs typeface="+mn-cs"/>
              </a:rPr>
              <a:t>每种方法都有一套自己的描述符号和实现过程，每种方法都支持</a:t>
            </a: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种基本的活动：识别对象和类，描述对象和类之间的关系，通过描述每个类的功能定义对象的行为。</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Booch</a:t>
            </a:r>
            <a:r>
              <a:rPr lang="zh-CN" altLang="zh-CN" dirty="0">
                <a:latin typeface="华文中宋" panose="02010600040101010101" pitchFamily="2" charset="-122"/>
                <a:ea typeface="华文中宋" panose="02010600040101010101" pitchFamily="2" charset="-122"/>
                <a:cs typeface="+mn-cs"/>
              </a:rPr>
              <a:t>方法</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OMT</a:t>
            </a:r>
            <a:r>
              <a:rPr lang="zh-CN" altLang="zh-CN" dirty="0">
                <a:latin typeface="华文中宋" panose="02010600040101010101" pitchFamily="2" charset="-122"/>
                <a:ea typeface="华文中宋" panose="02010600040101010101" pitchFamily="2" charset="-122"/>
                <a:cs typeface="+mn-cs"/>
              </a:rPr>
              <a:t>方法</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Coad/Yourdon</a:t>
            </a:r>
            <a:r>
              <a:rPr lang="zh-CN" altLang="zh-CN" dirty="0">
                <a:latin typeface="华文中宋" panose="02010600040101010101" pitchFamily="2" charset="-122"/>
                <a:ea typeface="华文中宋" panose="02010600040101010101" pitchFamily="2" charset="-122"/>
                <a:cs typeface="+mn-cs"/>
              </a:rPr>
              <a:t>方法</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OOSE</a:t>
            </a:r>
            <a:r>
              <a:rPr lang="zh-CN" altLang="en-US" dirty="0">
                <a:latin typeface="华文中宋" panose="02010600040101010101" pitchFamily="2" charset="-122"/>
                <a:ea typeface="华文中宋" panose="02010600040101010101" pitchFamily="2" charset="-122"/>
                <a:cs typeface="+mn-cs"/>
              </a:rPr>
              <a:t>方法等</a:t>
            </a:r>
            <a:endParaRPr lang="zh-CN" altLang="en-US" dirty="0">
              <a:latin typeface="华文中宋" panose="02010600040101010101" pitchFamily="2" charset="-122"/>
              <a:ea typeface="华文中宋" panose="02010600040101010101" pitchFamily="2" charset="-122"/>
              <a:cs typeface="+mn-cs"/>
            </a:endParaRPr>
          </a:p>
        </p:txBody>
      </p:sp>
      <p:sp>
        <p:nvSpPr>
          <p:cNvPr id="245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r>
              <a:rPr lang="en-US" altLang="zh-CN" dirty="0"/>
              <a:t>2.2 UML</a:t>
            </a:r>
            <a:r>
              <a:rPr lang="zh-CN" altLang="en-US" dirty="0"/>
              <a:t>简介</a:t>
            </a:r>
            <a:endParaRPr lang="zh-CN" altLang="en-US" dirty="0"/>
          </a:p>
        </p:txBody>
      </p:sp>
      <p:sp>
        <p:nvSpPr>
          <p:cNvPr id="21507" name="内容占位符 2"/>
          <p:cNvSpPr>
            <a:spLocks noGrp="1"/>
          </p:cNvSpPr>
          <p:nvPr>
            <p:ph idx="1"/>
          </p:nvPr>
        </p:nvSpPr>
        <p:spPr>
          <a:xfrm>
            <a:off x="827088" y="1196975"/>
            <a:ext cx="7921625" cy="48196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smtClean="0">
                <a:ln>
                  <a:noFill/>
                </a:ln>
                <a:solidFill>
                  <a:schemeClr val="tx2"/>
                </a:solidFill>
                <a:effectLst/>
                <a:uLnTx/>
                <a:uFillTx/>
                <a:latin typeface="华文中宋" panose="02010600040101010101" pitchFamily="2" charset="-122"/>
                <a:ea typeface="华文中宋" panose="02010600040101010101" pitchFamily="2" charset="-122"/>
                <a:cs typeface="+mn-cs"/>
              </a:rPr>
              <a:t>1996</a:t>
            </a:r>
            <a:r>
              <a:rPr kumimoji="0" lang="zh-CN" altLang="en-US" sz="2000" b="0" i="0" u="none" strike="noStrike" kern="0" cap="none" spc="0" normalizeH="0" baseline="0" noProof="0" dirty="0" smtClean="0">
                <a:ln>
                  <a:noFill/>
                </a:ln>
                <a:solidFill>
                  <a:schemeClr val="tx2"/>
                </a:solidFill>
                <a:effectLst/>
                <a:uLnTx/>
                <a:uFillTx/>
                <a:latin typeface="华文中宋" panose="02010600040101010101" pitchFamily="2" charset="-122"/>
                <a:ea typeface="华文中宋" panose="02010600040101010101" pitchFamily="2" charset="-122"/>
                <a:cs typeface="+mn-cs"/>
              </a:rPr>
              <a:t>年发布，</a:t>
            </a:r>
            <a:r>
              <a:rPr kumimoji="0" lang="en-US" altLang="zh-CN" sz="2000" b="0" i="0" u="none" strike="noStrike" kern="0" cap="none" spc="0" normalizeH="0" baseline="0" noProof="0" dirty="0" smtClean="0">
                <a:ln>
                  <a:noFill/>
                </a:ln>
                <a:solidFill>
                  <a:schemeClr val="tx2"/>
                </a:solidFill>
                <a:effectLst/>
                <a:uLnTx/>
                <a:uFillTx/>
                <a:latin typeface="华文中宋" panose="02010600040101010101" pitchFamily="2" charset="-122"/>
                <a:ea typeface="华文中宋" panose="02010600040101010101" pitchFamily="2" charset="-122"/>
                <a:cs typeface="+mn-cs"/>
              </a:rPr>
              <a:t>UML</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Unified Modeling Language</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）是软件界第一个统一的建模</a:t>
            </a: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语言，</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该</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方法结合了</a:t>
            </a:r>
            <a:r>
              <a:rPr kumimoji="0" lang="en-US" altLang="zh-CN" sz="20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Booch</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OMT,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OOSE</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方法的优点，统一了符号体系，并从其它的方法和工程实践中吸收了许多经过实际检验的概念和技术。它是一种标准的表示，</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为不同领域的用户提供了统一的交流标准 </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UML</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图。</a:t>
            </a:r>
            <a:endPar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的价值在于它综合并体现了世界上面向对象</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方法</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的</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最好实践经验</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，支持用例</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驱动，</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以架构为</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中心，递增和迭代地</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进行软件开发。</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56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ctr" anchorCtr="0"/>
          <a:p>
            <a:r>
              <a:rPr lang="en-US" altLang="zh-CN" dirty="0">
                <a:solidFill>
                  <a:schemeClr val="tx2"/>
                </a:solidFill>
              </a:rPr>
              <a:t>UML</a:t>
            </a:r>
            <a:r>
              <a:rPr lang="zh-CN" altLang="en-US" dirty="0">
                <a:solidFill>
                  <a:schemeClr val="tx2"/>
                </a:solidFill>
              </a:rPr>
              <a:t>的类型</a:t>
            </a:r>
            <a:endParaRPr lang="zh-CN" altLang="en-US" dirty="0"/>
          </a:p>
        </p:txBody>
      </p:sp>
      <p:sp>
        <p:nvSpPr>
          <p:cNvPr id="26627" name="内容占位符 2"/>
          <p:cNvSpPr>
            <a:spLocks noGrp="1"/>
          </p:cNvSpPr>
          <p:nvPr>
            <p:ph idx="1"/>
          </p:nvPr>
        </p:nvSpPr>
        <p:spPr>
          <a:xfrm>
            <a:off x="539750" y="1095375"/>
            <a:ext cx="8064500" cy="4770438"/>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UML</a:t>
            </a:r>
            <a:r>
              <a:rPr lang="zh-CN" altLang="en-US" dirty="0">
                <a:latin typeface="华文中宋" panose="02010600040101010101" pitchFamily="2" charset="-122"/>
                <a:ea typeface="华文中宋" panose="02010600040101010101" pitchFamily="2" charset="-122"/>
                <a:cs typeface="+mn-cs"/>
              </a:rPr>
              <a:t>的特点：</a:t>
            </a:r>
            <a:r>
              <a:rPr lang="zh-CN" altLang="zh-CN" dirty="0">
                <a:latin typeface="华文中宋" panose="02010600040101010101" pitchFamily="2" charset="-122"/>
                <a:ea typeface="华文中宋" panose="02010600040101010101" pitchFamily="2" charset="-122"/>
                <a:cs typeface="+mn-cs"/>
              </a:rPr>
              <a:t>统一标准</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面向对象</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可视化描述能力强</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 </a:t>
            </a:r>
            <a:r>
              <a:rPr lang="zh-CN" altLang="zh-CN" dirty="0">
                <a:latin typeface="华文中宋" panose="02010600040101010101" pitchFamily="2" charset="-122"/>
                <a:ea typeface="华文中宋" panose="02010600040101010101" pitchFamily="2" charset="-122"/>
                <a:cs typeface="+mn-cs"/>
              </a:rPr>
              <a:t>独立于过程</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易掌握、易用</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UML</a:t>
            </a:r>
            <a:r>
              <a:rPr lang="zh-CN" altLang="zh-CN" dirty="0">
                <a:latin typeface="华文中宋" panose="02010600040101010101" pitchFamily="2" charset="-122"/>
                <a:ea typeface="华文中宋" panose="02010600040101010101" pitchFamily="2" charset="-122"/>
                <a:cs typeface="+mn-cs"/>
              </a:rPr>
              <a:t>的重要内容可以由下列五类图（共</a:t>
            </a:r>
            <a:r>
              <a:rPr lang="en-US" altLang="zh-CN" dirty="0">
                <a:latin typeface="华文中宋" panose="02010600040101010101" pitchFamily="2" charset="-122"/>
                <a:ea typeface="华文中宋" panose="02010600040101010101" pitchFamily="2" charset="-122"/>
                <a:cs typeface="+mn-cs"/>
              </a:rPr>
              <a:t>10</a:t>
            </a:r>
            <a:r>
              <a:rPr lang="zh-CN" altLang="zh-CN" dirty="0">
                <a:latin typeface="华文中宋" panose="02010600040101010101" pitchFamily="2" charset="-122"/>
                <a:ea typeface="华文中宋" panose="02010600040101010101" pitchFamily="2" charset="-122"/>
                <a:cs typeface="+mn-cs"/>
              </a:rPr>
              <a:t>种图形）来定义：</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第一类是用例图</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第二类是静态图</a:t>
            </a:r>
            <a:r>
              <a:rPr lang="en-US" altLang="zh-CN" dirty="0">
                <a:solidFill>
                  <a:srgbClr val="FF0000"/>
                </a:solidFill>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(Static diagram)</a:t>
            </a:r>
            <a:r>
              <a:rPr lang="zh-CN" altLang="zh-CN" dirty="0">
                <a:latin typeface="华文中宋" panose="02010600040101010101" pitchFamily="2" charset="-122"/>
                <a:ea typeface="华文中宋" panose="02010600040101010101" pitchFamily="2" charset="-122"/>
                <a:cs typeface="+mn-cs"/>
              </a:rPr>
              <a:t>，包括类图、对象图和包图。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第三类是行为图</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Behavior diagram</a:t>
            </a:r>
            <a:r>
              <a:rPr lang="zh-CN"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，包括活动图和状态图。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第四类是交互图</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Interactive diagram</a:t>
            </a:r>
            <a:r>
              <a:rPr lang="zh-CN"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，包括顺序图和合作图。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FF0000"/>
                </a:solidFill>
                <a:latin typeface="华文中宋" panose="02010600040101010101" pitchFamily="2" charset="-122"/>
                <a:ea typeface="华文中宋" panose="02010600040101010101" pitchFamily="2" charset="-122"/>
                <a:cs typeface="+mn-cs"/>
              </a:rPr>
              <a:t>第五类是实现图</a:t>
            </a:r>
            <a:r>
              <a:rPr lang="en-US" altLang="zh-CN" dirty="0">
                <a:solidFill>
                  <a:srgbClr val="FF0000"/>
                </a:solidFill>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(Implementation diagram)</a:t>
            </a:r>
            <a:r>
              <a:rPr lang="zh-CN" altLang="en-US" dirty="0">
                <a:latin typeface="华文中宋" panose="02010600040101010101" pitchFamily="2" charset="-122"/>
                <a:ea typeface="华文中宋" panose="02010600040101010101" pitchFamily="2" charset="-122"/>
                <a:cs typeface="+mn-cs"/>
              </a:rPr>
              <a:t>，包括</a:t>
            </a:r>
            <a:r>
              <a:rPr lang="zh-CN" altLang="zh-CN" dirty="0">
                <a:latin typeface="华文中宋" panose="02010600040101010101" pitchFamily="2" charset="-122"/>
                <a:ea typeface="华文中宋" panose="02010600040101010101" pitchFamily="2" charset="-122"/>
                <a:cs typeface="+mn-cs"/>
              </a:rPr>
              <a:t>组件图和部署图</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
        <p:nvSpPr>
          <p:cNvPr id="26629" name="矩形 1"/>
          <p:cNvSpPr/>
          <p:nvPr/>
        </p:nvSpPr>
        <p:spPr>
          <a:xfrm>
            <a:off x="7972425" y="490538"/>
            <a:ext cx="800100" cy="460375"/>
          </a:xfrm>
          <a:prstGeom prst="rect">
            <a:avLst/>
          </a:prstGeom>
          <a:noFill/>
          <a:ln w="9525">
            <a:noFill/>
          </a:ln>
        </p:spPr>
        <p:txBody>
          <a:bodyPr wrap="none">
            <a:spAutoFit/>
          </a:bodyPr>
          <a:p>
            <a:r>
              <a:rPr lang="zh-CN" altLang="en-US" dirty="0">
                <a:solidFill>
                  <a:schemeClr val="tx2"/>
                </a:solidFill>
                <a:latin typeface="华文中宋" panose="02010600040101010101" pitchFamily="2" charset="-122"/>
              </a:rPr>
              <a:t>特点</a:t>
            </a:r>
            <a:endParaRPr lang="zh-CN" altLang="en-US" dirty="0">
              <a:latin typeface="华文中宋" panose="0201060004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xfrm>
            <a:off x="1476375" y="0"/>
            <a:ext cx="6365875" cy="946150"/>
          </a:xfrm>
          <a:ln/>
        </p:spPr>
        <p:txBody>
          <a:bodyPr vert="horz" wrap="square" lIns="91440" tIns="45720" rIns="91440" bIns="45720" anchor="ctr" anchorCtr="0"/>
          <a:p>
            <a:r>
              <a:rPr lang="en-US" altLang="zh-CN" dirty="0"/>
              <a:t>3 </a:t>
            </a:r>
            <a:r>
              <a:rPr lang="zh-CN" altLang="en-US" dirty="0"/>
              <a:t>用例建模</a:t>
            </a:r>
            <a:br>
              <a:rPr lang="en-US" altLang="zh-CN" dirty="0"/>
            </a:br>
            <a:r>
              <a:rPr lang="en-US" altLang="zh-CN" dirty="0"/>
              <a:t>3.1</a:t>
            </a:r>
            <a:r>
              <a:rPr lang="zh-CN" altLang="zh-CN" dirty="0"/>
              <a:t>用例与执行者</a:t>
            </a:r>
            <a:endParaRPr lang="zh-CN" altLang="en-US" dirty="0"/>
          </a:p>
        </p:txBody>
      </p:sp>
      <p:sp>
        <p:nvSpPr>
          <p:cNvPr id="28675" name="内容占位符 2"/>
          <p:cNvSpPr>
            <a:spLocks noGrp="1"/>
          </p:cNvSpPr>
          <p:nvPr>
            <p:ph idx="1"/>
          </p:nvPr>
        </p:nvSpPr>
        <p:spPr>
          <a:xfrm>
            <a:off x="827088" y="1192213"/>
            <a:ext cx="7994650" cy="4432300"/>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1992</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年由</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Jacobson</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提出了</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Use case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的概念及可视化的表示方法</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—Use case</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图，并加入由他提出的面向对象的软件工程</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(OOSE)</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用例建模技术，是</a:t>
            </a:r>
            <a:r>
              <a:rPr kumimoji="0" lang="zh-CN" altLang="zh-CN" sz="2000" b="0"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从用户的角度来描述系统的功能需求</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在宏观上给出模型的总体轮廓</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。通过对典型用例的分析，使开发者能够与用户进行充分交流，有效地了解和获取用户需求。</a:t>
            </a:r>
            <a:r>
              <a:rPr kumimoji="0" lang="zh-CN" altLang="zh-CN"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 </a:t>
            </a:r>
            <a:endParaRPr kumimoji="0" lang="en-US" altLang="zh-CN"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Use case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的概念受到了</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IT</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界的欢迎，被广泛应用到了面向对象的系统分析中。基于用例的需求方法，已成为面向对象的分析方法的主流。</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sng"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用例模型被推荐为获取和识别需求的首选工具</a:t>
            </a:r>
            <a:r>
              <a:rPr kumimoji="0" lang="en-US" altLang="zh-CN" sz="2000" b="0" i="0" u="sng"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endParaRPr>
          </a:p>
        </p:txBody>
      </p:sp>
      <p:sp>
        <p:nvSpPr>
          <p:cNvPr id="276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a:ln/>
        </p:spPr>
        <p:txBody>
          <a:bodyPr vert="horz" wrap="square" lIns="91440" tIns="45720" rIns="91440" bIns="45720" anchor="ctr" anchorCtr="0"/>
          <a:p>
            <a:r>
              <a:rPr lang="en-US" altLang="zh-CN" dirty="0"/>
              <a:t>Use case</a:t>
            </a:r>
            <a:r>
              <a:rPr lang="zh-CN" altLang="en-US" dirty="0"/>
              <a:t>图</a:t>
            </a:r>
            <a:endParaRPr lang="zh-CN" altLang="en-US" dirty="0"/>
          </a:p>
        </p:txBody>
      </p:sp>
      <p:sp>
        <p:nvSpPr>
          <p:cNvPr id="28675" name="内容占位符 2"/>
          <p:cNvSpPr>
            <a:spLocks noGrp="1"/>
          </p:cNvSpPr>
          <p:nvPr>
            <p:ph idx="1"/>
          </p:nvPr>
        </p:nvSpPr>
        <p:spPr>
          <a:xfrm>
            <a:off x="827088" y="1125538"/>
            <a:ext cx="7391400" cy="3786187"/>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采用“基于用例的方法”来识别和获取需求，是从外部的角度来看系统功能，建立系统的用例模型描述外部执行者所理解的系统功能，即待开发系统的功能需求。</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用例模型由若干个用例图构成，在</a:t>
            </a:r>
            <a:r>
              <a:rPr lang="en-US" altLang="zh-CN" dirty="0">
                <a:latin typeface="华文中宋" panose="02010600040101010101" pitchFamily="2" charset="-122"/>
                <a:ea typeface="华文中宋" panose="02010600040101010101" pitchFamily="2" charset="-122"/>
                <a:cs typeface="+mn-cs"/>
              </a:rPr>
              <a:t>UML</a:t>
            </a:r>
            <a:r>
              <a:rPr lang="zh-CN" altLang="zh-CN" dirty="0">
                <a:latin typeface="华文中宋" panose="02010600040101010101" pitchFamily="2" charset="-122"/>
                <a:ea typeface="华文中宋" panose="02010600040101010101" pitchFamily="2" charset="-122"/>
                <a:cs typeface="+mn-cs"/>
              </a:rPr>
              <a:t>中构成用例图的主要元素是用例和执行者及它们之间的联系。</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b="1" dirty="0">
                <a:latin typeface="华文中宋" panose="02010600040101010101" pitchFamily="2" charset="-122"/>
                <a:ea typeface="华文中宋" panose="02010600040101010101" pitchFamily="2" charset="-122"/>
                <a:cs typeface="+mn-cs"/>
              </a:rPr>
              <a:t>用例</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表示一个子系统，或系统一个独立的功能。</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b="1" dirty="0">
                <a:latin typeface="华文中宋" panose="02010600040101010101" pitchFamily="2" charset="-122"/>
                <a:ea typeface="华文中宋" panose="02010600040101010101" pitchFamily="2" charset="-122"/>
                <a:cs typeface="+mn-cs"/>
              </a:rPr>
              <a:t>角</a:t>
            </a:r>
            <a:r>
              <a:rPr lang="zh-CN" altLang="en-US" dirty="0">
                <a:latin typeface="华文中宋" panose="02010600040101010101" pitchFamily="2" charset="-122"/>
                <a:ea typeface="华文中宋" panose="02010600040101010101" pitchFamily="2" charset="-122"/>
                <a:cs typeface="+mn-cs"/>
              </a:rPr>
              <a:t>色</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表示外部的“执行者”。</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b="1" dirty="0">
                <a:latin typeface="华文中宋" panose="02010600040101010101" pitchFamily="2" charset="-122"/>
                <a:ea typeface="华文中宋" panose="02010600040101010101" pitchFamily="2" charset="-122"/>
                <a:cs typeface="+mn-cs"/>
              </a:rPr>
              <a:t>用例</a:t>
            </a:r>
            <a:r>
              <a:rPr lang="en-US" altLang="zh-CN" b="1"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                   </a:t>
            </a:r>
            <a:r>
              <a:rPr lang="zh-CN" altLang="en-US" b="1" dirty="0">
                <a:latin typeface="华文中宋" panose="02010600040101010101" pitchFamily="2" charset="-122"/>
                <a:ea typeface="华文中宋" panose="02010600040101010101" pitchFamily="2" charset="-122"/>
                <a:cs typeface="+mn-cs"/>
              </a:rPr>
              <a:t>角色</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              </a:t>
            </a:r>
            <a:r>
              <a:rPr lang="zh-CN" altLang="en-US" b="1" dirty="0">
                <a:latin typeface="华文中宋" panose="02010600040101010101" pitchFamily="2" charset="-122"/>
                <a:ea typeface="华文中宋" panose="02010600040101010101" pitchFamily="2" charset="-122"/>
                <a:cs typeface="+mn-cs"/>
              </a:rPr>
              <a:t>连接</a:t>
            </a:r>
            <a:r>
              <a:rPr lang="en-US" altLang="zh-CN" b="1" dirty="0">
                <a:latin typeface="华文中宋" panose="02010600040101010101" pitchFamily="2" charset="-122"/>
                <a:ea typeface="华文中宋" panose="02010600040101010101" pitchFamily="2" charset="-122"/>
                <a:cs typeface="+mn-cs"/>
              </a:rPr>
              <a:t>:</a:t>
            </a:r>
            <a:endParaRPr lang="zh-CN" altLang="en-US" b="1" dirty="0">
              <a:latin typeface="华文中宋" panose="02010600040101010101" pitchFamily="2" charset="-122"/>
              <a:ea typeface="华文中宋" panose="02010600040101010101" pitchFamily="2" charset="-122"/>
              <a:cs typeface="+mn-cs"/>
            </a:endParaRPr>
          </a:p>
        </p:txBody>
      </p:sp>
      <p:sp>
        <p:nvSpPr>
          <p:cNvPr id="286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
        <p:nvSpPr>
          <p:cNvPr id="5" name="Oval 10"/>
          <p:cNvSpPr>
            <a:spLocks noChangeArrowheads="1"/>
          </p:cNvSpPr>
          <p:nvPr/>
        </p:nvSpPr>
        <p:spPr bwMode="auto">
          <a:xfrm>
            <a:off x="1908175" y="5102225"/>
            <a:ext cx="1247775" cy="392113"/>
          </a:xfrm>
          <a:prstGeom prst="ellipse">
            <a:avLst/>
          </a:prstGeom>
          <a:solidFill>
            <a:srgbClr val="FFFF66"/>
          </a:solidFill>
          <a:ln w="28575">
            <a:solidFill>
              <a:srgbClr val="990033"/>
            </a:solidFill>
            <a:round/>
            <a:tailEnd type="none" w="sm" len="med"/>
          </a:ln>
        </p:spPr>
        <p:txBody>
          <a:bodyPr wrap="none" anchor="ct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用例</a:t>
            </a:r>
            <a:endPar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grpSp>
        <p:nvGrpSpPr>
          <p:cNvPr id="28678" name="组合 5"/>
          <p:cNvGrpSpPr/>
          <p:nvPr/>
        </p:nvGrpSpPr>
        <p:grpSpPr>
          <a:xfrm>
            <a:off x="4645025" y="4956175"/>
            <a:ext cx="504825" cy="735013"/>
            <a:chOff x="4643438" y="5300663"/>
            <a:chExt cx="504825" cy="735012"/>
          </a:xfrm>
        </p:grpSpPr>
        <p:sp>
          <p:nvSpPr>
            <p:cNvPr id="2" name="Oval 11"/>
            <p:cNvSpPr>
              <a:spLocks noChangeArrowheads="1"/>
            </p:cNvSpPr>
            <p:nvPr/>
          </p:nvSpPr>
          <p:spPr bwMode="auto">
            <a:xfrm>
              <a:off x="4743451" y="5300663"/>
              <a:ext cx="231775" cy="217488"/>
            </a:xfrm>
            <a:prstGeom prst="ellipse">
              <a:avLst/>
            </a:prstGeom>
            <a:noFill/>
            <a:ln w="28575">
              <a:solidFill>
                <a:schemeClr val="tx2"/>
              </a:solidFill>
              <a:round/>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3" name="Line 13"/>
            <p:cNvSpPr>
              <a:spLocks noChangeShapeType="1"/>
            </p:cNvSpPr>
            <p:nvPr/>
          </p:nvSpPr>
          <p:spPr bwMode="auto">
            <a:xfrm flipV="1">
              <a:off x="4643438" y="5657851"/>
              <a:ext cx="504825" cy="3175"/>
            </a:xfrm>
            <a:prstGeom prst="line">
              <a:avLst/>
            </a:prstGeom>
            <a:noFill/>
            <a:ln w="28575">
              <a:solidFill>
                <a:schemeClr val="tx2"/>
              </a:solidFill>
              <a:round/>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4" name="Line 12"/>
            <p:cNvSpPr>
              <a:spLocks noChangeShapeType="1"/>
            </p:cNvSpPr>
            <p:nvPr/>
          </p:nvSpPr>
          <p:spPr bwMode="auto">
            <a:xfrm>
              <a:off x="4859338" y="5516563"/>
              <a:ext cx="0" cy="274638"/>
            </a:xfrm>
            <a:prstGeom prst="line">
              <a:avLst/>
            </a:prstGeom>
            <a:noFill/>
            <a:ln w="28575">
              <a:solidFill>
                <a:schemeClr val="tx2"/>
              </a:solidFill>
              <a:round/>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7" name="Line 15"/>
            <p:cNvSpPr>
              <a:spLocks noChangeShapeType="1"/>
            </p:cNvSpPr>
            <p:nvPr/>
          </p:nvSpPr>
          <p:spPr bwMode="auto">
            <a:xfrm>
              <a:off x="4859338" y="5759450"/>
              <a:ext cx="246063" cy="276225"/>
            </a:xfrm>
            <a:prstGeom prst="line">
              <a:avLst/>
            </a:prstGeom>
            <a:noFill/>
            <a:ln w="28575">
              <a:solidFill>
                <a:schemeClr val="tx2"/>
              </a:solidFill>
              <a:round/>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9" name="Line 14"/>
            <p:cNvSpPr>
              <a:spLocks noChangeShapeType="1"/>
            </p:cNvSpPr>
            <p:nvPr/>
          </p:nvSpPr>
          <p:spPr bwMode="auto">
            <a:xfrm flipH="1">
              <a:off x="4643438" y="5759450"/>
              <a:ext cx="217488" cy="261937"/>
            </a:xfrm>
            <a:prstGeom prst="line">
              <a:avLst/>
            </a:prstGeom>
            <a:noFill/>
            <a:ln w="28575">
              <a:solidFill>
                <a:schemeClr val="tx2"/>
              </a:solidFill>
              <a:round/>
              <a:tailEnd type="none" w="sm" len="med"/>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sp>
        <p:nvSpPr>
          <p:cNvPr id="11" name="Line 17"/>
          <p:cNvSpPr>
            <a:spLocks noChangeShapeType="1"/>
          </p:cNvSpPr>
          <p:nvPr/>
        </p:nvSpPr>
        <p:spPr bwMode="auto">
          <a:xfrm>
            <a:off x="7319963" y="5365750"/>
            <a:ext cx="898525" cy="0"/>
          </a:xfrm>
          <a:prstGeom prst="line">
            <a:avLst/>
          </a:prstGeom>
          <a:noFill/>
          <a:ln w="28575">
            <a:solidFill>
              <a:schemeClr val="tx1"/>
            </a:solidFill>
            <a:round/>
            <a:tailEnd type="triangle" w="lg" len="lg"/>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1</a:t>
            </a:r>
            <a:r>
              <a:rPr lang="zh-CN" altLang="en-US" dirty="0"/>
              <a:t>）用例</a:t>
            </a:r>
            <a:endParaRPr lang="zh-CN" altLang="en-US" dirty="0"/>
          </a:p>
        </p:txBody>
      </p:sp>
      <p:sp>
        <p:nvSpPr>
          <p:cNvPr id="30723" name="内容占位符 2"/>
          <p:cNvSpPr>
            <a:spLocks noGrp="1"/>
          </p:cNvSpPr>
          <p:nvPr>
            <p:ph idx="1"/>
          </p:nvPr>
        </p:nvSpPr>
        <p:spPr>
          <a:xfrm>
            <a:off x="485775" y="1060450"/>
            <a:ext cx="7993063" cy="52006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用例是系统提供的功能块</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，它揭示了人们如何使用系统。从本质上讲，一</a:t>
            </a:r>
            <a:r>
              <a:rPr kumimoji="0" lang="zh-CN" altLang="zh-CN"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个用例是用户与计算机之间的一次典型交互作用</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中，用例被定义成系统执行的一系列动作（功能）。</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在结构化的方法中，我们是将功能逐步分解成系统能够处理的模块。而在面向对象的方法中，我们关心的是用户要系统完成什么，用户要告诉系统什么信息，系统要返回给用户什么信息。</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用例有以下特点</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用例捕获某些用户可见的需求</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实现一个具体的用户目标。</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用例由执行者激活</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并提供确切的值给执行者。</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用例可大可小</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但它必须是对一个具体的用户目标实现的完整描述。</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97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zh-CN" altLang="en-US" dirty="0"/>
              <a:t>用例</a:t>
            </a:r>
            <a:endParaRPr lang="zh-CN" altLang="en-US" dirty="0"/>
          </a:p>
        </p:txBody>
      </p:sp>
      <p:sp>
        <p:nvSpPr>
          <p:cNvPr id="30723" name="内容占位符 2"/>
          <p:cNvSpPr>
            <a:spLocks noGrp="1"/>
          </p:cNvSpPr>
          <p:nvPr>
            <p:ph idx="1"/>
          </p:nvPr>
        </p:nvSpPr>
        <p:spPr>
          <a:xfrm>
            <a:off x="485775" y="1060450"/>
            <a:ext cx="7993063" cy="15875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自动售货机系统的用例图，自动售货机系统由三个主要的用例组成：买饮料、供货、取货款（图中的自动售货机图片仅为增加直观性）</a:t>
            </a:r>
            <a:endParaRPr lang="en-US" altLang="zh-CN" dirty="0">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30725" name="对象 2"/>
          <p:cNvGraphicFramePr>
            <a:graphicFrameLocks noChangeAspect="1"/>
          </p:cNvGraphicFramePr>
          <p:nvPr/>
        </p:nvGraphicFramePr>
        <p:xfrm>
          <a:off x="1887538" y="2762250"/>
          <a:ext cx="5543550" cy="3403600"/>
        </p:xfrm>
        <a:graphic>
          <a:graphicData uri="http://schemas.openxmlformats.org/presentationml/2006/ole">
            <mc:AlternateContent xmlns:mc="http://schemas.openxmlformats.org/markup-compatibility/2006">
              <mc:Choice xmlns:v="urn:schemas-microsoft-com:vml" Requires="v">
                <p:oleObj spid="_x0000_s3077" name="" r:id="rId1" imgW="9561195" imgH="6748780" progId="Visio.Drawing.15">
                  <p:embed/>
                </p:oleObj>
              </mc:Choice>
              <mc:Fallback>
                <p:oleObj name="" r:id="rId1" imgW="9561195" imgH="6748780" progId="Visio.Drawing.15">
                  <p:embed/>
                  <p:pic>
                    <p:nvPicPr>
                      <p:cNvPr id="0" name="图片 3076"/>
                      <p:cNvPicPr/>
                      <p:nvPr/>
                    </p:nvPicPr>
                    <p:blipFill>
                      <a:blip r:embed="rId2"/>
                      <a:stretch>
                        <a:fillRect/>
                      </a:stretch>
                    </p:blipFill>
                    <p:spPr>
                      <a:xfrm>
                        <a:off x="1887538" y="2762250"/>
                        <a:ext cx="5543550" cy="3403600"/>
                      </a:xfrm>
                      <a:prstGeom prst="rect">
                        <a:avLst/>
                      </a:prstGeom>
                      <a:noFill/>
                      <a:ln w="38100">
                        <a:noFill/>
                        <a:miter/>
                      </a:ln>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zh-CN" altLang="en-US" dirty="0"/>
              <a:t>如何确定用例</a:t>
            </a:r>
            <a:endParaRPr lang="zh-CN" altLang="en-US" dirty="0"/>
          </a:p>
        </p:txBody>
      </p:sp>
      <p:sp>
        <p:nvSpPr>
          <p:cNvPr id="32771" name="内容占位符 2"/>
          <p:cNvSpPr>
            <a:spLocks noGrp="1" noChangeArrowheads="1"/>
          </p:cNvSpPr>
          <p:nvPr>
            <p:ph idx="1"/>
          </p:nvPr>
        </p:nvSpPr>
        <p:spPr>
          <a:xfrm>
            <a:off x="827088" y="1379538"/>
            <a:ext cx="7391400" cy="47704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与系统实现有关的主要问题是什么？</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系统需要哪些输入</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输出？这些输入</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输出从何来？到哪里去？</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执行者需要系统提供哪些功能？</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p"/>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执行者是否需要对系统的信息进行读、创建、修改、删除或存储？</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每个用例应该有一个相关的说明，描述该用例的作用。例如，自动售货机系统的售货用例说明</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售</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货——顾客投入钱币，选择所购商品，自动售货机系统检查该商品的数量及价格，并找零。</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17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2</a:t>
            </a:r>
            <a:r>
              <a:rPr lang="zh-CN" altLang="en-US" dirty="0"/>
              <a:t>）执行者</a:t>
            </a:r>
            <a:r>
              <a:rPr lang="en-US" altLang="zh-CN" dirty="0"/>
              <a:t>(Actor)</a:t>
            </a:r>
            <a:endParaRPr lang="zh-CN" altLang="en-US" dirty="0"/>
          </a:p>
        </p:txBody>
      </p:sp>
      <p:sp>
        <p:nvSpPr>
          <p:cNvPr id="32771" name="内容占位符 2"/>
          <p:cNvSpPr>
            <a:spLocks noGrp="1"/>
          </p:cNvSpPr>
          <p:nvPr>
            <p:ph idx="1"/>
          </p:nvPr>
        </p:nvSpPr>
        <p:spPr>
          <a:xfrm>
            <a:off x="827088" y="1196975"/>
            <a:ext cx="7391400" cy="3662363"/>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执行者</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参与者是指与系统交互的人或物</a:t>
            </a:r>
            <a:r>
              <a:rPr lang="zh-CN" altLang="en-US" dirty="0">
                <a:latin typeface="华文中宋" panose="02010600040101010101" pitchFamily="2" charset="-122"/>
                <a:ea typeface="华文中宋" panose="02010600040101010101" pitchFamily="2" charset="-122"/>
                <a:cs typeface="+mn-cs"/>
              </a:rPr>
              <a:t>。执行者在用例图中是用类似人的图形表示，但执行者可以是人，也可以是一个外界系统。</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0070C0"/>
                </a:solidFill>
                <a:latin typeface="华文中宋" panose="02010600040101010101" pitchFamily="2" charset="-122"/>
                <a:ea typeface="华文中宋" panose="02010600040101010101" pitchFamily="2" charset="-122"/>
                <a:cs typeface="+mn-cs"/>
              </a:rPr>
              <a:t>执行者触发用例，并与用例进行信息交换</a:t>
            </a:r>
            <a:r>
              <a:rPr lang="zh-CN" altLang="zh-CN" dirty="0">
                <a:latin typeface="华文中宋" panose="02010600040101010101" pitchFamily="2" charset="-122"/>
                <a:ea typeface="华文中宋" panose="02010600040101010101" pitchFamily="2" charset="-122"/>
                <a:cs typeface="+mn-cs"/>
              </a:rPr>
              <a:t>。一个执行者可与多个用例联系，一个用例也可与多个执行者联系。</a:t>
            </a:r>
            <a:r>
              <a:rPr lang="zh-CN" altLang="en-US" b="1" dirty="0">
                <a:solidFill>
                  <a:srgbClr val="FF0000"/>
                </a:solidFill>
                <a:latin typeface="华文中宋" panose="02010600040101010101" pitchFamily="2" charset="-122"/>
                <a:ea typeface="华文中宋" panose="02010600040101010101" pitchFamily="2" charset="-122"/>
                <a:cs typeface="+mn-cs"/>
              </a:rPr>
              <a:t>注意：用例总是由执行者启动的</a:t>
            </a:r>
            <a:endParaRPr lang="en-US" altLang="zh-CN" b="1" dirty="0">
              <a:solidFill>
                <a:srgbClr val="FF0000"/>
              </a:solidFill>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执行者有</a:t>
            </a: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类：系统的使用者</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即用户</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、外部系统、时间</a:t>
            </a:r>
            <a:r>
              <a:rPr lang="zh-CN" altLang="en-US" dirty="0">
                <a:latin typeface="华文中宋" panose="02010600040101010101" pitchFamily="2" charset="-122"/>
                <a:ea typeface="华文中宋" panose="02010600040101010101" pitchFamily="2" charset="-122"/>
                <a:cs typeface="+mn-cs"/>
              </a:rPr>
              <a:t>（时钟）</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ln/>
        </p:spPr>
        <p:txBody>
          <a:bodyPr vert="horz" wrap="square" lIns="91440" tIns="45720" rIns="91440" bIns="45720" anchor="ctr" anchorCtr="0"/>
          <a:p>
            <a:r>
              <a:rPr lang="zh-CN" altLang="en-US" dirty="0"/>
              <a:t>自动售货系统中的执行者</a:t>
            </a:r>
            <a:endParaRPr lang="zh-CN" altLang="en-US" dirty="0"/>
          </a:p>
        </p:txBody>
      </p:sp>
      <p:sp>
        <p:nvSpPr>
          <p:cNvPr id="3379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33796" name="Picture 32" descr="https://timgsa.baidu.com/timg?image&amp;quality=80&amp;size=b9999_10000&amp;sec=1585569963293&amp;di=f1cf98bb36a4aa985dfd67f3a7774643&amp;imgtype=0&amp;src=http%3A%2F%2Fimg.yzt-tools.com%2F20190425%2F0c8d4fe2f14cd2963334a22fb66ec212.jpg%3Fx-oss-process%3Dimage%2Fresize%2Cw_600%2Fauto-orient%2C1%2Fquality%2Cq_90%2Fformat%2Cjpg"/>
          <p:cNvPicPr>
            <a:picLocks noChangeAspect="1"/>
          </p:cNvPicPr>
          <p:nvPr/>
        </p:nvPicPr>
        <p:blipFill>
          <a:blip r:embed="rId1"/>
          <a:stretch>
            <a:fillRect/>
          </a:stretch>
        </p:blipFill>
        <p:spPr>
          <a:xfrm>
            <a:off x="4356100" y="2043113"/>
            <a:ext cx="3676650" cy="2898775"/>
          </a:xfrm>
          <a:prstGeom prst="rect">
            <a:avLst/>
          </a:prstGeom>
          <a:noFill/>
          <a:ln w="9525">
            <a:noFill/>
          </a:ln>
        </p:spPr>
      </p:pic>
      <p:sp>
        <p:nvSpPr>
          <p:cNvPr id="33797" name="Text Box 29"/>
          <p:cNvSpPr txBox="1"/>
          <p:nvPr/>
        </p:nvSpPr>
        <p:spPr>
          <a:xfrm>
            <a:off x="5219700" y="5108575"/>
            <a:ext cx="1809750" cy="33655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1600" dirty="0">
                <a:latin typeface="宋体" panose="02010600030101010101" pitchFamily="2" charset="-122"/>
              </a:rPr>
              <a:t>图  自动售货系统</a:t>
            </a:r>
            <a:endParaRPr lang="zh-CN" altLang="en-US" sz="1600" dirty="0">
              <a:latin typeface="宋体" panose="02010600030101010101" pitchFamily="2" charset="-122"/>
            </a:endParaRPr>
          </a:p>
        </p:txBody>
      </p:sp>
      <p:sp>
        <p:nvSpPr>
          <p:cNvPr id="8" name="椭圆 7"/>
          <p:cNvSpPr/>
          <p:nvPr/>
        </p:nvSpPr>
        <p:spPr bwMode="auto">
          <a:xfrm>
            <a:off x="2051050" y="2276475"/>
            <a:ext cx="288925" cy="288925"/>
          </a:xfrm>
          <a:prstGeom prst="ellipse">
            <a:avLst/>
          </a:prstGeom>
        </p:spPr>
        <p:style>
          <a:lnRef idx="2">
            <a:schemeClr val="dk1"/>
          </a:lnRef>
          <a:fillRef idx="1">
            <a:schemeClr val="lt1"/>
          </a:fillRef>
          <a:effectRef idx="0">
            <a:schemeClr val="dk1"/>
          </a:effectRef>
          <a:fontRef idx="minor">
            <a:schemeClr val="dk1"/>
          </a:fontRef>
        </p:style>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2" name="椭圆 11"/>
          <p:cNvSpPr/>
          <p:nvPr/>
        </p:nvSpPr>
        <p:spPr bwMode="auto">
          <a:xfrm>
            <a:off x="2051050" y="3284538"/>
            <a:ext cx="288925" cy="288925"/>
          </a:xfrm>
          <a:prstGeom prst="ellipse">
            <a:avLst/>
          </a:prstGeom>
        </p:spPr>
        <p:style>
          <a:lnRef idx="2">
            <a:schemeClr val="dk1"/>
          </a:lnRef>
          <a:fillRef idx="1">
            <a:schemeClr val="lt1"/>
          </a:fillRef>
          <a:effectRef idx="0">
            <a:schemeClr val="dk1"/>
          </a:effectRef>
          <a:fontRef idx="minor">
            <a:schemeClr val="dk1"/>
          </a:fontRef>
        </p:style>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4" name="椭圆 13"/>
          <p:cNvSpPr/>
          <p:nvPr/>
        </p:nvSpPr>
        <p:spPr bwMode="auto">
          <a:xfrm>
            <a:off x="2051050" y="4292600"/>
            <a:ext cx="288925" cy="288925"/>
          </a:xfrm>
          <a:prstGeom prst="ellipse">
            <a:avLst/>
          </a:prstGeom>
        </p:spPr>
        <p:style>
          <a:lnRef idx="2">
            <a:schemeClr val="dk1"/>
          </a:lnRef>
          <a:fillRef idx="1">
            <a:schemeClr val="lt1"/>
          </a:fillRef>
          <a:effectRef idx="0">
            <a:schemeClr val="dk1"/>
          </a:effectRef>
          <a:fontRef idx="minor">
            <a:schemeClr val="dk1"/>
          </a:fontRef>
        </p:style>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cxnSp>
        <p:nvCxnSpPr>
          <p:cNvPr id="18" name="直接连接符 17"/>
          <p:cNvCxnSpPr/>
          <p:nvPr/>
        </p:nvCxnSpPr>
        <p:spPr bwMode="auto">
          <a:xfrm>
            <a:off x="2051050" y="2636838"/>
            <a:ext cx="288925" cy="0"/>
          </a:xfrm>
          <a:prstGeom prst="line">
            <a:avLst/>
          </a:prstGeom>
        </p:spPr>
        <p:style>
          <a:lnRef idx="1">
            <a:schemeClr val="dk1"/>
          </a:lnRef>
          <a:fillRef idx="0">
            <a:schemeClr val="dk1"/>
          </a:fillRef>
          <a:effectRef idx="0">
            <a:schemeClr val="dk1"/>
          </a:effectRef>
          <a:fontRef idx="minor">
            <a:schemeClr val="tx1"/>
          </a:fontRef>
        </p:style>
      </p:cxnSp>
      <p:cxnSp>
        <p:nvCxnSpPr>
          <p:cNvPr id="24" name="直接连接符 23"/>
          <p:cNvCxnSpPr/>
          <p:nvPr/>
        </p:nvCxnSpPr>
        <p:spPr bwMode="auto">
          <a:xfrm>
            <a:off x="2051050" y="3716338"/>
            <a:ext cx="288925" cy="0"/>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bwMode="auto">
          <a:xfrm>
            <a:off x="2051050" y="4724400"/>
            <a:ext cx="288925" cy="0"/>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p:cNvCxnSpPr>
            <a:stCxn id="8" idx="4"/>
          </p:cNvCxnSpPr>
          <p:nvPr/>
        </p:nvCxnSpPr>
        <p:spPr bwMode="auto">
          <a:xfrm>
            <a:off x="2195513" y="2565400"/>
            <a:ext cx="0" cy="287338"/>
          </a:xfrm>
          <a:prstGeom prst="line">
            <a:avLst/>
          </a:prstGeom>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bwMode="auto">
          <a:xfrm>
            <a:off x="2195513" y="3573463"/>
            <a:ext cx="0" cy="287338"/>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bwMode="auto">
          <a:xfrm>
            <a:off x="2195513" y="4581525"/>
            <a:ext cx="0" cy="287338"/>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bwMode="auto">
          <a:xfrm>
            <a:off x="2195513" y="2852738"/>
            <a:ext cx="288925" cy="215900"/>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bwMode="auto">
          <a:xfrm flipH="1">
            <a:off x="1908175" y="2835275"/>
            <a:ext cx="287338" cy="306388"/>
          </a:xfrm>
          <a:prstGeom prst="line">
            <a:avLst/>
          </a:prstGeom>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bwMode="auto">
          <a:xfrm>
            <a:off x="2195513" y="3860800"/>
            <a:ext cx="288925" cy="215900"/>
          </a:xfrm>
          <a:prstGeom prst="line">
            <a:avLst/>
          </a:prstGeom>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bwMode="auto">
          <a:xfrm flipH="1">
            <a:off x="1908175" y="3843338"/>
            <a:ext cx="287338" cy="306388"/>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bwMode="auto">
          <a:xfrm>
            <a:off x="2195513" y="4868863"/>
            <a:ext cx="288925" cy="215900"/>
          </a:xfrm>
          <a:prstGeom prst="line">
            <a:avLst/>
          </a:prstGeom>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bwMode="auto">
          <a:xfrm flipH="1">
            <a:off x="1908175" y="4851400"/>
            <a:ext cx="287338" cy="306388"/>
          </a:xfrm>
          <a:prstGeom prst="line">
            <a:avLst/>
          </a:prstGeom>
        </p:spPr>
        <p:style>
          <a:lnRef idx="1">
            <a:schemeClr val="dk1"/>
          </a:lnRef>
          <a:fillRef idx="0">
            <a:schemeClr val="dk1"/>
          </a:fillRef>
          <a:effectRef idx="0">
            <a:schemeClr val="dk1"/>
          </a:effectRef>
          <a:fontRef idx="minor">
            <a:schemeClr val="tx1"/>
          </a:fontRef>
        </p:style>
      </p:cxnSp>
      <p:sp>
        <p:nvSpPr>
          <p:cNvPr id="33813" name="文本框 21503"/>
          <p:cNvSpPr txBox="1"/>
          <p:nvPr/>
        </p:nvSpPr>
        <p:spPr>
          <a:xfrm>
            <a:off x="2627313" y="2565400"/>
            <a:ext cx="1081087" cy="461963"/>
          </a:xfrm>
          <a:prstGeom prst="rect">
            <a:avLst/>
          </a:prstGeom>
          <a:noFill/>
          <a:ln w="9525">
            <a:noFill/>
          </a:ln>
        </p:spPr>
        <p:txBody>
          <a:bodyPr>
            <a:spAutoFit/>
          </a:bodyPr>
          <a:p>
            <a:r>
              <a:rPr lang="zh-CN" altLang="en-US" dirty="0">
                <a:latin typeface="华文中宋" panose="02010600040101010101" pitchFamily="2" charset="-122"/>
              </a:rPr>
              <a:t>客户</a:t>
            </a:r>
            <a:endParaRPr lang="zh-CN" altLang="en-US" dirty="0">
              <a:latin typeface="华文中宋" panose="02010600040101010101" pitchFamily="2" charset="-122"/>
            </a:endParaRPr>
          </a:p>
        </p:txBody>
      </p:sp>
      <p:sp>
        <p:nvSpPr>
          <p:cNvPr id="33814" name="文本框 21504"/>
          <p:cNvSpPr txBox="1"/>
          <p:nvPr/>
        </p:nvSpPr>
        <p:spPr>
          <a:xfrm>
            <a:off x="2627313" y="3543300"/>
            <a:ext cx="1223962" cy="461963"/>
          </a:xfrm>
          <a:prstGeom prst="rect">
            <a:avLst/>
          </a:prstGeom>
          <a:noFill/>
          <a:ln w="9525">
            <a:noFill/>
          </a:ln>
        </p:spPr>
        <p:txBody>
          <a:bodyPr>
            <a:spAutoFit/>
          </a:bodyPr>
          <a:p>
            <a:r>
              <a:rPr lang="zh-CN" altLang="en-US" dirty="0">
                <a:latin typeface="华文中宋" panose="02010600040101010101" pitchFamily="2" charset="-122"/>
              </a:rPr>
              <a:t>供货人</a:t>
            </a:r>
            <a:endParaRPr lang="zh-CN" altLang="en-US" dirty="0">
              <a:latin typeface="华文中宋" panose="02010600040101010101" pitchFamily="2" charset="-122"/>
            </a:endParaRPr>
          </a:p>
        </p:txBody>
      </p:sp>
      <p:sp>
        <p:nvSpPr>
          <p:cNvPr id="33815" name="文本框 21508"/>
          <p:cNvSpPr txBox="1"/>
          <p:nvPr/>
        </p:nvSpPr>
        <p:spPr>
          <a:xfrm>
            <a:off x="2627313" y="4551363"/>
            <a:ext cx="1223962" cy="461962"/>
          </a:xfrm>
          <a:prstGeom prst="rect">
            <a:avLst/>
          </a:prstGeom>
          <a:noFill/>
          <a:ln w="9525">
            <a:noFill/>
          </a:ln>
        </p:spPr>
        <p:txBody>
          <a:bodyPr>
            <a:spAutoFit/>
          </a:bodyPr>
          <a:p>
            <a:r>
              <a:rPr lang="zh-CN" altLang="en-US" dirty="0">
                <a:latin typeface="华文中宋" panose="02010600040101010101" pitchFamily="2" charset="-122"/>
              </a:rPr>
              <a:t>收银员</a:t>
            </a:r>
            <a:endParaRPr lang="zh-CN" altLang="en-US" dirty="0">
              <a:latin typeface="华文中宋" panose="0201060004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a:ln/>
        </p:spPr>
        <p:txBody>
          <a:bodyPr vert="horz" wrap="square" lIns="91440" tIns="45720" rIns="91440" bIns="45720" anchor="ctr" anchorCtr="0"/>
          <a:p>
            <a:r>
              <a:rPr lang="zh-CN" altLang="en-US" dirty="0"/>
              <a:t>确定执行者</a:t>
            </a:r>
            <a:r>
              <a:rPr lang="en-US" altLang="zh-CN" dirty="0"/>
              <a:t>(Actor)</a:t>
            </a:r>
            <a:endParaRPr lang="zh-CN" altLang="en-US" dirty="0"/>
          </a:p>
        </p:txBody>
      </p:sp>
      <p:sp>
        <p:nvSpPr>
          <p:cNvPr id="21507" name="内容占位符 2"/>
          <p:cNvSpPr>
            <a:spLocks noGrp="1"/>
          </p:cNvSpPr>
          <p:nvPr>
            <p:ph idx="1"/>
          </p:nvPr>
        </p:nvSpPr>
        <p:spPr>
          <a:xfrm>
            <a:off x="827088" y="1196975"/>
            <a:ext cx="7705725" cy="51403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面对一个大系统，要列出所有用例的清单常常十分网难。比较可行的方法是先列出所有参与者的清单，再对每个参与者列出用例，问题就会变得比较容易</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如何</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确定执行者：</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1.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谁使用系统的主要功能</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主执行者</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2.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谁需要从系统获得对日常工作的支持和服务？</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3.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谁需要维护管理系统的日常运行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副执行者</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4.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系统需要控制哪些硬件设备？</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5.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系统需要与其他哪些系统交互？</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6.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谁需要使用系统产生的结果</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48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en-US" altLang="zh-CN" dirty="0"/>
              <a:t>3.2 </a:t>
            </a:r>
            <a:r>
              <a:rPr lang="zh-CN" altLang="en-US" dirty="0"/>
              <a:t>用例关系</a:t>
            </a:r>
            <a:endParaRPr lang="zh-CN" altLang="en-US" dirty="0"/>
          </a:p>
        </p:txBody>
      </p:sp>
      <p:sp>
        <p:nvSpPr>
          <p:cNvPr id="36867" name="内容占位符 2"/>
          <p:cNvSpPr>
            <a:spLocks noGrp="1" noChangeArrowheads="1"/>
          </p:cNvSpPr>
          <p:nvPr>
            <p:ph idx="1"/>
          </p:nvPr>
        </p:nvSpPr>
        <p:spPr>
          <a:xfrm>
            <a:off x="827088" y="1147763"/>
            <a:ext cx="7391400" cy="34163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在用例图中除了执行者与用例之外，还必须描述用例之间的关系。用例之间存在以下几种关系。</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）泛化关系</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(Generalization)</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代表一般与特殊的关系，类似继承。在用例泛化中，</a:t>
            </a:r>
            <a:r>
              <a:rPr kumimoji="0" lang="zh-CN" altLang="en-US"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子用例表示父用例的特殊形式</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子用例继承了父用例的行为和属性</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，也可以增加新的行为和属性或覆盖父用例中的行为。</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例子：一个租赁或销售系统用例</a:t>
            </a: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35845" name="对象 2"/>
          <p:cNvGraphicFramePr>
            <a:graphicFrameLocks noChangeAspect="1"/>
          </p:cNvGraphicFramePr>
          <p:nvPr/>
        </p:nvGraphicFramePr>
        <p:xfrm>
          <a:off x="611188" y="4564063"/>
          <a:ext cx="8037512" cy="1601787"/>
        </p:xfrm>
        <a:graphic>
          <a:graphicData uri="http://schemas.openxmlformats.org/presentationml/2006/ole">
            <mc:AlternateContent xmlns:mc="http://schemas.openxmlformats.org/markup-compatibility/2006">
              <mc:Choice xmlns:v="urn:schemas-microsoft-com:vml" Requires="v">
                <p:oleObj spid="_x0000_s3081" name="" r:id="rId1" imgW="13754100" imgH="2120900" progId="Visio.Drawing.15">
                  <p:embed/>
                </p:oleObj>
              </mc:Choice>
              <mc:Fallback>
                <p:oleObj name="" r:id="rId1" imgW="13754100" imgH="2120900" progId="Visio.Drawing.15">
                  <p:embed/>
                  <p:pic>
                    <p:nvPicPr>
                      <p:cNvPr id="0" name="图片 3080"/>
                      <p:cNvPicPr/>
                      <p:nvPr/>
                    </p:nvPicPr>
                    <p:blipFill>
                      <a:blip r:embed="rId2"/>
                      <a:stretch>
                        <a:fillRect/>
                      </a:stretch>
                    </p:blipFill>
                    <p:spPr>
                      <a:xfrm>
                        <a:off x="611188" y="4564063"/>
                        <a:ext cx="8037512" cy="1601787"/>
                      </a:xfrm>
                      <a:prstGeom prst="rect">
                        <a:avLst/>
                      </a:prstGeom>
                      <a:noFill/>
                      <a:ln w="38100">
                        <a:noFill/>
                        <a:miter/>
                      </a:ln>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2</a:t>
            </a:r>
            <a:r>
              <a:rPr lang="zh-CN" altLang="en-US" dirty="0"/>
              <a:t>）包含关系</a:t>
            </a:r>
            <a:endParaRPr lang="zh-CN" altLang="en-US" dirty="0"/>
          </a:p>
        </p:txBody>
      </p:sp>
      <p:sp>
        <p:nvSpPr>
          <p:cNvPr id="36867" name="内容占位符 2"/>
          <p:cNvSpPr>
            <a:spLocks noGrp="1"/>
          </p:cNvSpPr>
          <p:nvPr>
            <p:ph idx="1"/>
          </p:nvPr>
        </p:nvSpPr>
        <p:spPr>
          <a:xfrm>
            <a:off x="827088" y="1379538"/>
            <a:ext cx="7632700" cy="2338387"/>
          </a:xfrm>
          <a:ln/>
        </p:spPr>
        <p:txBody>
          <a:bodyPr vert="horz" wrap="square" lIns="91440" tIns="45720" rIns="91440" bIns="45720" anchor="t" anchorCtr="0">
            <a:spAutoFit/>
          </a:bodyPr>
          <a:p>
            <a:pPr>
              <a:lnSpc>
                <a:spcPct val="110000"/>
              </a:lnSpc>
              <a:buSzPct val="70000"/>
            </a:pPr>
            <a:r>
              <a:rPr lang="zh-CN" altLang="zh-CN" dirty="0">
                <a:latin typeface="华文中宋" panose="02010600040101010101" pitchFamily="2" charset="-122"/>
                <a:ea typeface="华文中宋" panose="02010600040101010101" pitchFamily="2" charset="-122"/>
                <a:cs typeface="+mn-cs"/>
              </a:rPr>
              <a:t>一个用例（基用例，基本用例）可以包含其他用例（包含用例）具有的行为，并把它所包含的用例行为作为自身用例的一部分，这被称为包含关系。</a:t>
            </a:r>
            <a:endParaRPr lang="en-US" altLang="zh-CN" dirty="0">
              <a:latin typeface="华文中宋" panose="02010600040101010101" pitchFamily="2" charset="-122"/>
              <a:ea typeface="华文中宋" panose="02010600040101010101" pitchFamily="2" charset="-122"/>
              <a:cs typeface="+mn-cs"/>
            </a:endParaRPr>
          </a:p>
          <a:p>
            <a:pPr>
              <a:lnSpc>
                <a:spcPct val="110000"/>
              </a:lnSpc>
              <a:buSzPct val="70000"/>
            </a:pPr>
            <a:r>
              <a:rPr lang="en-US" altLang="zh-CN" dirty="0">
                <a:latin typeface="华文中宋" panose="02010600040101010101" pitchFamily="2" charset="-122"/>
                <a:ea typeface="华文中宋" panose="02010600040101010101" pitchFamily="2" charset="-122"/>
                <a:cs typeface="+mn-cs"/>
              </a:rPr>
              <a:t>UML</a:t>
            </a:r>
            <a:r>
              <a:rPr lang="zh-CN" altLang="en-US" dirty="0">
                <a:latin typeface="华文中宋" panose="02010600040101010101" pitchFamily="2" charset="-122"/>
                <a:ea typeface="华文中宋" panose="02010600040101010101" pitchFamily="2" charset="-122"/>
                <a:cs typeface="+mn-cs"/>
              </a:rPr>
              <a:t>中，包含关系表示为虚线箭头加</a:t>
            </a:r>
            <a:r>
              <a:rPr lang="en-US" altLang="zh-CN" dirty="0">
                <a:latin typeface="华文中宋" panose="02010600040101010101" pitchFamily="2" charset="-122"/>
                <a:ea typeface="华文中宋" panose="02010600040101010101" pitchFamily="2" charset="-122"/>
                <a:cs typeface="+mn-cs"/>
              </a:rPr>
              <a:t>&lt;&lt;inlcude&gt;&gt;</a:t>
            </a:r>
            <a:r>
              <a:rPr lang="zh-CN" altLang="en-US" dirty="0">
                <a:latin typeface="华文中宋" panose="02010600040101010101" pitchFamily="2" charset="-122"/>
                <a:ea typeface="华文中宋" panose="02010600040101010101" pitchFamily="2" charset="-122"/>
                <a:cs typeface="+mn-cs"/>
              </a:rPr>
              <a:t>箭头从基本用例指向包含用例。</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例子：一个租赁或销售系统用例</a:t>
            </a:r>
            <a:endParaRPr lang="en-US" altLang="zh-CN" dirty="0">
              <a:latin typeface="华文中宋" panose="02010600040101010101" pitchFamily="2" charset="-122"/>
              <a:ea typeface="华文中宋" panose="02010600040101010101" pitchFamily="2" charset="-122"/>
              <a:cs typeface="+mn-cs"/>
            </a:endParaRPr>
          </a:p>
        </p:txBody>
      </p:sp>
      <p:sp>
        <p:nvSpPr>
          <p:cNvPr id="368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36869" name="对象 2"/>
          <p:cNvGraphicFramePr>
            <a:graphicFrameLocks noChangeAspect="1"/>
          </p:cNvGraphicFramePr>
          <p:nvPr/>
        </p:nvGraphicFramePr>
        <p:xfrm>
          <a:off x="323850" y="4437063"/>
          <a:ext cx="8623300" cy="1008062"/>
        </p:xfrm>
        <a:graphic>
          <a:graphicData uri="http://schemas.openxmlformats.org/presentationml/2006/ole">
            <mc:AlternateContent xmlns:mc="http://schemas.openxmlformats.org/markup-compatibility/2006">
              <mc:Choice xmlns:v="urn:schemas-microsoft-com:vml" Requires="v">
                <p:oleObj spid="_x0000_s3080" name="" r:id="rId1" imgW="13627100" imgH="800100" progId="Visio.Drawing.15">
                  <p:embed/>
                </p:oleObj>
              </mc:Choice>
              <mc:Fallback>
                <p:oleObj name="" r:id="rId1" imgW="13627100" imgH="800100" progId="Visio.Drawing.15">
                  <p:embed/>
                  <p:pic>
                    <p:nvPicPr>
                      <p:cNvPr id="0" name="图片 3079"/>
                      <p:cNvPicPr/>
                      <p:nvPr/>
                    </p:nvPicPr>
                    <p:blipFill>
                      <a:blip r:embed="rId2"/>
                      <a:stretch>
                        <a:fillRect/>
                      </a:stretch>
                    </p:blipFill>
                    <p:spPr>
                      <a:xfrm>
                        <a:off x="323850" y="4437063"/>
                        <a:ext cx="8623300" cy="1008062"/>
                      </a:xfrm>
                      <a:prstGeom prst="rect">
                        <a:avLst/>
                      </a:prstGeom>
                      <a:noFill/>
                      <a:ln w="38100">
                        <a:noFill/>
                        <a:miter/>
                      </a:ln>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2</a:t>
            </a:r>
            <a:r>
              <a:rPr lang="zh-CN" altLang="en-US" dirty="0"/>
              <a:t>）包含关系</a:t>
            </a:r>
            <a:endParaRPr lang="zh-CN" altLang="en-US" dirty="0"/>
          </a:p>
        </p:txBody>
      </p:sp>
      <p:sp>
        <p:nvSpPr>
          <p:cNvPr id="37891" name="内容占位符 2"/>
          <p:cNvSpPr>
            <a:spLocks noGrp="1"/>
          </p:cNvSpPr>
          <p:nvPr>
            <p:ph idx="1"/>
          </p:nvPr>
        </p:nvSpPr>
        <p:spPr>
          <a:xfrm>
            <a:off x="827088" y="1138238"/>
            <a:ext cx="7391400" cy="2530475"/>
          </a:xfrm>
          <a:ln/>
        </p:spPr>
        <p:txBody>
          <a:bodyPr vert="horz" wrap="square" lIns="91440" tIns="45720" rIns="91440" bIns="45720" anchor="t" anchorCtr="0">
            <a:spAutoFit/>
          </a:bodyPr>
          <a:p>
            <a:pPr>
              <a:lnSpc>
                <a:spcPct val="110000"/>
              </a:lnSpc>
              <a:buSzPct val="70000"/>
            </a:pPr>
            <a:r>
              <a:rPr lang="zh-CN" altLang="zh-CN" dirty="0">
                <a:latin typeface="华文中宋" panose="02010600040101010101" pitchFamily="2" charset="-122"/>
                <a:ea typeface="华文中宋" panose="02010600040101010101" pitchFamily="2" charset="-122"/>
                <a:cs typeface="+mn-cs"/>
              </a:rPr>
              <a:t>包含关系的典型应用就是复用。</a:t>
            </a:r>
            <a:r>
              <a:rPr lang="zh-CN" altLang="en-US" dirty="0">
                <a:latin typeface="华文中宋" panose="02010600040101010101" pitchFamily="2" charset="-122"/>
                <a:ea typeface="华文中宋" panose="02010600040101010101" pitchFamily="2" charset="-122"/>
                <a:cs typeface="+mn-cs"/>
              </a:rPr>
              <a:t>下</a:t>
            </a:r>
            <a:r>
              <a:rPr lang="zh-CN" altLang="zh-CN" dirty="0">
                <a:latin typeface="华文中宋" panose="02010600040101010101" pitchFamily="2" charset="-122"/>
                <a:ea typeface="华文中宋" panose="02010600040101010101" pitchFamily="2" charset="-122"/>
                <a:cs typeface="+mn-cs"/>
              </a:rPr>
              <a:t>图显示从一个较大的用例</a:t>
            </a:r>
            <a:r>
              <a:rPr lang="en-US" altLang="zh-CN" dirty="0">
                <a:latin typeface="华文中宋" panose="02010600040101010101" pitchFamily="2" charset="-122"/>
                <a:ea typeface="华文中宋" panose="02010600040101010101" pitchFamily="2" charset="-122"/>
                <a:cs typeface="+mn-cs"/>
              </a:rPr>
              <a:t>A</a:t>
            </a:r>
            <a:r>
              <a:rPr lang="zh-CN" altLang="zh-CN" dirty="0">
                <a:latin typeface="华文中宋" panose="02010600040101010101" pitchFamily="2" charset="-122"/>
                <a:ea typeface="华文中宋" panose="02010600040101010101" pitchFamily="2" charset="-122"/>
                <a:cs typeface="+mn-cs"/>
              </a:rPr>
              <a:t>中抽取一部分较小的功能作为一个较小的用例</a:t>
            </a:r>
            <a:r>
              <a:rPr lang="en-US" altLang="zh-CN" dirty="0">
                <a:latin typeface="华文中宋" panose="02010600040101010101" pitchFamily="2" charset="-122"/>
                <a:ea typeface="华文中宋" panose="02010600040101010101" pitchFamily="2" charset="-122"/>
                <a:cs typeface="+mn-cs"/>
              </a:rPr>
              <a:t>B</a:t>
            </a:r>
            <a:r>
              <a:rPr lang="zh-CN" altLang="zh-CN" dirty="0">
                <a:latin typeface="华文中宋" panose="02010600040101010101" pitchFamily="2" charset="-122"/>
                <a:ea typeface="华文中宋" panose="02010600040101010101" pitchFamily="2" charset="-122"/>
                <a:cs typeface="+mn-cs"/>
              </a:rPr>
              <a:t>，则较大用例剩余部分构成的用例</a:t>
            </a:r>
            <a:r>
              <a:rPr lang="en-US" altLang="zh-CN" dirty="0">
                <a:latin typeface="华文中宋" panose="02010600040101010101" pitchFamily="2" charset="-122"/>
                <a:ea typeface="华文中宋" panose="02010600040101010101" pitchFamily="2" charset="-122"/>
                <a:cs typeface="+mn-cs"/>
              </a:rPr>
              <a:t>(A-B)</a:t>
            </a:r>
            <a:r>
              <a:rPr lang="zh-CN" altLang="zh-CN" dirty="0">
                <a:latin typeface="华文中宋" panose="02010600040101010101" pitchFamily="2" charset="-122"/>
                <a:ea typeface="华文中宋" panose="02010600040101010101" pitchFamily="2" charset="-122"/>
                <a:cs typeface="+mn-cs"/>
              </a:rPr>
              <a:t>在工作时要使用较小的用例</a:t>
            </a:r>
            <a:r>
              <a:rPr lang="en-US" altLang="zh-CN" dirty="0">
                <a:latin typeface="华文中宋" panose="02010600040101010101" pitchFamily="2" charset="-122"/>
                <a:ea typeface="华文中宋" panose="02010600040101010101" pitchFamily="2" charset="-122"/>
                <a:cs typeface="+mn-cs"/>
              </a:rPr>
              <a:t>B</a:t>
            </a:r>
            <a:r>
              <a:rPr lang="zh-CN" altLang="zh-CN" dirty="0">
                <a:latin typeface="华文中宋" panose="02010600040101010101" pitchFamily="2" charset="-122"/>
                <a:ea typeface="华文中宋" panose="02010600040101010101" pitchFamily="2" charset="-122"/>
                <a:cs typeface="+mn-cs"/>
              </a:rPr>
              <a:t>。将用例</a:t>
            </a:r>
            <a:r>
              <a:rPr lang="en-US" altLang="zh-CN" dirty="0">
                <a:latin typeface="华文中宋" panose="02010600040101010101" pitchFamily="2" charset="-122"/>
                <a:ea typeface="华文中宋" panose="02010600040101010101" pitchFamily="2" charset="-122"/>
                <a:cs typeface="+mn-cs"/>
              </a:rPr>
              <a:t>B</a:t>
            </a:r>
            <a:r>
              <a:rPr lang="zh-CN" altLang="zh-CN" dirty="0">
                <a:latin typeface="华文中宋" panose="02010600040101010101" pitchFamily="2" charset="-122"/>
                <a:ea typeface="华文中宋" panose="02010600040101010101" pitchFamily="2" charset="-122"/>
                <a:cs typeface="+mn-cs"/>
              </a:rPr>
              <a:t>从用例</a:t>
            </a:r>
            <a:r>
              <a:rPr lang="en-US" altLang="zh-CN" dirty="0">
                <a:latin typeface="华文中宋" panose="02010600040101010101" pitchFamily="2" charset="-122"/>
                <a:ea typeface="华文中宋" panose="02010600040101010101" pitchFamily="2" charset="-122"/>
                <a:cs typeface="+mn-cs"/>
              </a:rPr>
              <a:t>A</a:t>
            </a:r>
            <a:r>
              <a:rPr lang="zh-CN" altLang="zh-CN" dirty="0">
                <a:latin typeface="华文中宋" panose="02010600040101010101" pitchFamily="2" charset="-122"/>
                <a:ea typeface="华文中宋" panose="02010600040101010101" pitchFamily="2" charset="-122"/>
                <a:cs typeface="+mn-cs"/>
              </a:rPr>
              <a:t>中提取出来作为一个单独用例的</a:t>
            </a:r>
            <a:r>
              <a:rPr lang="zh-CN" altLang="zh-CN" dirty="0">
                <a:solidFill>
                  <a:srgbClr val="0070C0"/>
                </a:solidFill>
                <a:latin typeface="华文中宋" panose="02010600040101010101" pitchFamily="2" charset="-122"/>
                <a:ea typeface="华文中宋" panose="02010600040101010101" pitchFamily="2" charset="-122"/>
                <a:cs typeface="+mn-cs"/>
              </a:rPr>
              <a:t>作用是该用例</a:t>
            </a:r>
            <a:r>
              <a:rPr lang="en-US" altLang="zh-CN" dirty="0">
                <a:solidFill>
                  <a:srgbClr val="0070C0"/>
                </a:solidFill>
                <a:latin typeface="华文中宋" panose="02010600040101010101" pitchFamily="2" charset="-122"/>
                <a:ea typeface="华文中宋" panose="02010600040101010101" pitchFamily="2" charset="-122"/>
                <a:cs typeface="+mn-cs"/>
              </a:rPr>
              <a:t>B</a:t>
            </a:r>
            <a:r>
              <a:rPr lang="zh-CN" altLang="zh-CN" dirty="0">
                <a:solidFill>
                  <a:srgbClr val="0070C0"/>
                </a:solidFill>
                <a:latin typeface="华文中宋" panose="02010600040101010101" pitchFamily="2" charset="-122"/>
                <a:ea typeface="华文中宋" panose="02010600040101010101" pitchFamily="2" charset="-122"/>
                <a:cs typeface="+mn-cs"/>
              </a:rPr>
              <a:t>可以被多个其他用例所使用</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p:txBody>
      </p:sp>
      <p:sp>
        <p:nvSpPr>
          <p:cNvPr id="378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37893" name="图片 5" descr="Use case B is extracted from larger use case A as a separate use case."/>
          <p:cNvPicPr>
            <a:picLocks noChangeAspect="1"/>
          </p:cNvPicPr>
          <p:nvPr/>
        </p:nvPicPr>
        <p:blipFill>
          <a:blip r:embed="rId1"/>
          <a:stretch>
            <a:fillRect/>
          </a:stretch>
        </p:blipFill>
        <p:spPr>
          <a:xfrm>
            <a:off x="827088" y="3908425"/>
            <a:ext cx="7704137" cy="1824038"/>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endParaRPr lang="zh-CN" altLang="en-US" dirty="0"/>
          </a:p>
        </p:txBody>
      </p:sp>
      <p:sp>
        <p:nvSpPr>
          <p:cNvPr id="38915" name="内容占位符 2"/>
          <p:cNvSpPr>
            <a:spLocks noGrp="1"/>
          </p:cNvSpPr>
          <p:nvPr>
            <p:ph idx="1"/>
          </p:nvPr>
        </p:nvSpPr>
        <p:spPr>
          <a:xfrm>
            <a:off x="684213" y="946150"/>
            <a:ext cx="8135937" cy="176847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案例：自动售货机系统中供货与取货款这两个用例的开始动作都是打开机器，而它们最后的动作都是关闭机器。因此，将开始动作抽象为“打开机器”用例，将最后的动作抽象为“关闭机器”用例，则供货用例与取货款用例在执行时必须包含这两个用例</a:t>
            </a:r>
            <a:endParaRPr lang="zh-CN" altLang="en-US" dirty="0">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38917" name="对象 5"/>
          <p:cNvGraphicFramePr>
            <a:graphicFrameLocks noChangeAspect="1"/>
          </p:cNvGraphicFramePr>
          <p:nvPr/>
        </p:nvGraphicFramePr>
        <p:xfrm>
          <a:off x="1692275" y="2879725"/>
          <a:ext cx="5327650" cy="3594100"/>
        </p:xfrm>
        <a:graphic>
          <a:graphicData uri="http://schemas.openxmlformats.org/presentationml/2006/ole">
            <mc:AlternateContent xmlns:mc="http://schemas.openxmlformats.org/markup-compatibility/2006">
              <mc:Choice xmlns:v="urn:schemas-microsoft-com:vml" Requires="v">
                <p:oleObj spid="_x0000_s3079" name="" r:id="rId1" imgW="7941310" imgH="6052820" progId="Visio.Drawing.15">
                  <p:embed/>
                </p:oleObj>
              </mc:Choice>
              <mc:Fallback>
                <p:oleObj name="" r:id="rId1" imgW="7941310" imgH="6052820" progId="Visio.Drawing.15">
                  <p:embed/>
                  <p:pic>
                    <p:nvPicPr>
                      <p:cNvPr id="0" name="图片 3078"/>
                      <p:cNvPicPr/>
                      <p:nvPr/>
                    </p:nvPicPr>
                    <p:blipFill>
                      <a:blip r:embed="rId2"/>
                      <a:stretch>
                        <a:fillRect/>
                      </a:stretch>
                    </p:blipFill>
                    <p:spPr>
                      <a:xfrm>
                        <a:off x="1692275" y="2879725"/>
                        <a:ext cx="5327650" cy="3594100"/>
                      </a:xfrm>
                      <a:prstGeom prst="rect">
                        <a:avLst/>
                      </a:prstGeom>
                      <a:noFill/>
                      <a:ln w="38100">
                        <a:noFill/>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用例之间的关系</a:t>
            </a:r>
            <a:r>
              <a:rPr lang="en-US" altLang="zh-CN" dirty="0"/>
              <a:t>—</a:t>
            </a:r>
            <a:r>
              <a:rPr lang="zh-CN" altLang="en-US" dirty="0"/>
              <a:t>包含关系</a:t>
            </a:r>
            <a:endParaRPr lang="zh-CN" altLang="en-US" dirty="0"/>
          </a:p>
        </p:txBody>
      </p:sp>
      <p:sp>
        <p:nvSpPr>
          <p:cNvPr id="39939" name="内容占位符 2"/>
          <p:cNvSpPr>
            <a:spLocks noGrp="1"/>
          </p:cNvSpPr>
          <p:nvPr>
            <p:ph idx="1"/>
          </p:nvPr>
        </p:nvSpPr>
        <p:spPr>
          <a:xfrm>
            <a:off x="827088" y="1379538"/>
            <a:ext cx="7391400" cy="158750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有时当某用例的事件流过于复杂时，为了简化用例的描述，我们也可以把某一段事件流抽象成为一个被包含的用例。</a:t>
            </a:r>
            <a:endParaRPr lang="zh-CN" altLang="en-US" dirty="0">
              <a:latin typeface="华文中宋" panose="02010600040101010101" pitchFamily="2" charset="-122"/>
              <a:ea typeface="华文中宋" panose="020106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39941" name="对象 2"/>
          <p:cNvGraphicFramePr>
            <a:graphicFrameLocks noChangeAspect="1"/>
          </p:cNvGraphicFramePr>
          <p:nvPr/>
        </p:nvGraphicFramePr>
        <p:xfrm>
          <a:off x="1547813" y="2967038"/>
          <a:ext cx="6461125" cy="3414712"/>
        </p:xfrm>
        <a:graphic>
          <a:graphicData uri="http://schemas.openxmlformats.org/presentationml/2006/ole">
            <mc:AlternateContent xmlns:mc="http://schemas.openxmlformats.org/markup-compatibility/2006">
              <mc:Choice xmlns:v="urn:schemas-microsoft-com:vml" Requires="v">
                <p:oleObj spid="_x0000_s3078" name="" r:id="rId1" imgW="8001000" imgH="3886200" progId="Visio.Drawing.15">
                  <p:embed/>
                </p:oleObj>
              </mc:Choice>
              <mc:Fallback>
                <p:oleObj name="" r:id="rId1" imgW="8001000" imgH="3886200" progId="Visio.Drawing.15">
                  <p:embed/>
                  <p:pic>
                    <p:nvPicPr>
                      <p:cNvPr id="0" name="图片 3077"/>
                      <p:cNvPicPr/>
                      <p:nvPr/>
                    </p:nvPicPr>
                    <p:blipFill>
                      <a:blip r:embed="rId2"/>
                      <a:stretch>
                        <a:fillRect/>
                      </a:stretch>
                    </p:blipFill>
                    <p:spPr>
                      <a:xfrm>
                        <a:off x="1547813" y="2967038"/>
                        <a:ext cx="6461125" cy="3414712"/>
                      </a:xfrm>
                      <a:prstGeom prst="rect">
                        <a:avLst/>
                      </a:prstGeom>
                      <a:noFill/>
                      <a:ln w="38100">
                        <a:noFill/>
                        <a:miter/>
                      </a:ln>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3</a:t>
            </a:r>
            <a:r>
              <a:rPr lang="zh-CN" altLang="en-US" dirty="0"/>
              <a:t>）扩展关系</a:t>
            </a:r>
            <a:endParaRPr lang="zh-CN" altLang="en-US" dirty="0"/>
          </a:p>
        </p:txBody>
      </p:sp>
      <p:sp>
        <p:nvSpPr>
          <p:cNvPr id="40963" name="内容占位符 2"/>
          <p:cNvSpPr>
            <a:spLocks noGrp="1" noChangeArrowheads="1"/>
          </p:cNvSpPr>
          <p:nvPr>
            <p:ph idx="1"/>
          </p:nvPr>
        </p:nvSpPr>
        <p:spPr>
          <a:xfrm>
            <a:off x="696913" y="1196975"/>
            <a:ext cx="7546975" cy="26035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扩展</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将</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基用例中</a:t>
            </a: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一段相对独立并且可选的动作</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，用扩展用例加以封装，再让它从基用例中声明的扩展点</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(extension points)</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上进行扩展，从而</a:t>
            </a:r>
            <a:r>
              <a:rPr kumimoji="0" lang="zh-CN" altLang="zh-CN" sz="20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使基用例行为更简练、目标更集中</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箭头</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指向的用例为被拓展的用例，称为</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基础用例</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；箭头出发的用例为</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扩展用例</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40965" name="图片 1"/>
          <p:cNvPicPr>
            <a:picLocks noChangeAspect="1"/>
          </p:cNvPicPr>
          <p:nvPr/>
        </p:nvPicPr>
        <p:blipFill>
          <a:blip r:embed="rId1"/>
          <a:stretch>
            <a:fillRect/>
          </a:stretch>
        </p:blipFill>
        <p:spPr>
          <a:xfrm>
            <a:off x="1619250" y="4365625"/>
            <a:ext cx="5695950" cy="1079500"/>
          </a:xfrm>
          <a:prstGeom prst="rect">
            <a:avLst/>
          </a:prstGeom>
          <a:noFill/>
          <a:ln w="9525">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ctr" anchorCtr="0"/>
          <a:p>
            <a:r>
              <a:rPr lang="zh-CN" altLang="en-US" dirty="0"/>
              <a:t>用例之间的关系</a:t>
            </a:r>
            <a:r>
              <a:rPr lang="en-US" altLang="zh-CN" dirty="0"/>
              <a:t>—</a:t>
            </a:r>
            <a:r>
              <a:rPr lang="zh-CN" altLang="en-US" dirty="0"/>
              <a:t>扩展关系</a:t>
            </a:r>
            <a:endParaRPr lang="zh-CN" altLang="en-US" dirty="0"/>
          </a:p>
        </p:txBody>
      </p:sp>
      <p:sp>
        <p:nvSpPr>
          <p:cNvPr id="41987" name="内容占位符 2"/>
          <p:cNvSpPr>
            <a:spLocks noGrp="1" noChangeArrowheads="1"/>
          </p:cNvSpPr>
          <p:nvPr>
            <p:ph idx="1"/>
          </p:nvPr>
        </p:nvSpPr>
        <p:spPr>
          <a:xfrm>
            <a:off x="827088" y="1379538"/>
            <a:ext cx="7391400" cy="29241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扩展</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关系可以有控制条件，</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当用例实例执行到达一个扩展点时，控制条件决定是否执行扩展。因此扩展</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关系可处理</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事件流的</a:t>
            </a:r>
            <a:r>
              <a:rPr kumimoji="0" lang="zh-CN" altLang="en-US" sz="20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异常或者可选事件</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基本用例不知道扩展的任何细节。</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没有扩展用例</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基本用例是完整的。</a:t>
            </a:r>
            <a:endPar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扩展关系与包含关系的区别是：没有扩展用例，基本用例是完整的。</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zh-CN" altLang="en-US" dirty="0"/>
              <a:t>扩展关系举例</a:t>
            </a:r>
            <a:endParaRPr lang="zh-CN" altLang="en-US" dirty="0"/>
          </a:p>
        </p:txBody>
      </p:sp>
      <p:sp>
        <p:nvSpPr>
          <p:cNvPr id="43011" name="内容占位符 2"/>
          <p:cNvSpPr>
            <a:spLocks noGrp="1"/>
          </p:cNvSpPr>
          <p:nvPr>
            <p:ph idx="1"/>
          </p:nvPr>
        </p:nvSpPr>
        <p:spPr>
          <a:xfrm>
            <a:off x="827088" y="1379538"/>
            <a:ext cx="7391400" cy="3600450"/>
          </a:xfrm>
          <a:ln/>
        </p:spPr>
        <p:txBody>
          <a:bodyPr vert="horz" wrap="square" lIns="91440" tIns="45720" rIns="91440" bIns="45720" anchor="t" anchorCtr="0">
            <a:spAutoFit/>
          </a:bodyPr>
          <a:p>
            <a:pPr>
              <a:lnSpc>
                <a:spcPct val="120000"/>
              </a:lnSpc>
              <a:buSzPct val="70000"/>
            </a:pPr>
            <a:r>
              <a:rPr lang="zh-CN" altLang="en-US" sz="2300" b="1" dirty="0">
                <a:latin typeface="华文中宋" panose="02010600040101010101" pitchFamily="2" charset="-122"/>
                <a:ea typeface="华文中宋" panose="02010600040101010101" pitchFamily="2" charset="-122"/>
                <a:cs typeface="+mn-cs"/>
              </a:rPr>
              <a:t>例：</a:t>
            </a:r>
            <a:r>
              <a:rPr lang="zh-CN" altLang="en-US" sz="2300" dirty="0">
                <a:latin typeface="华文中宋" panose="02010600040101010101" pitchFamily="2" charset="-122"/>
                <a:ea typeface="华文中宋" panose="02010600040101010101" pitchFamily="2" charset="-122"/>
                <a:cs typeface="+mn-cs"/>
              </a:rPr>
              <a:t>汽车租赁系统用例图</a:t>
            </a:r>
            <a:r>
              <a:rPr lang="en-US" altLang="zh-CN" sz="2300" dirty="0">
                <a:latin typeface="华文中宋" panose="02010600040101010101" pitchFamily="2" charset="-122"/>
                <a:ea typeface="华文中宋" panose="02010600040101010101" pitchFamily="2" charset="-122"/>
                <a:cs typeface="+mn-cs"/>
              </a:rPr>
              <a:t>(</a:t>
            </a:r>
            <a:r>
              <a:rPr lang="zh-CN" altLang="en-US" sz="2300" dirty="0">
                <a:latin typeface="华文中宋" panose="02010600040101010101" pitchFamily="2" charset="-122"/>
                <a:ea typeface="华文中宋" panose="02010600040101010101" pitchFamily="2" charset="-122"/>
                <a:cs typeface="+mn-cs"/>
              </a:rPr>
              <a:t>部分</a:t>
            </a:r>
            <a:r>
              <a:rPr lang="en-US" altLang="zh-CN" sz="2300" dirty="0">
                <a:latin typeface="华文中宋" panose="02010600040101010101" pitchFamily="2" charset="-122"/>
                <a:ea typeface="华文中宋" panose="02010600040101010101" pitchFamily="2" charset="-122"/>
                <a:cs typeface="+mn-cs"/>
              </a:rPr>
              <a:t>)</a:t>
            </a:r>
            <a:r>
              <a:rPr lang="zh-CN" altLang="en-US" sz="2300" dirty="0">
                <a:latin typeface="华文中宋" panose="02010600040101010101" pitchFamily="2" charset="-122"/>
                <a:ea typeface="华文中宋" panose="02010600040101010101" pitchFamily="2" charset="-122"/>
                <a:cs typeface="+mn-cs"/>
              </a:rPr>
              <a:t>。基本用例是“还车”扩展用例是“交纳罚金”。如果一切顺利汽车可以被归还，那么执行“还车”用例即可。但是如果超过了还车的时间或汽车受损，按照规定客户要交纳一定的罚金，这时就不能执行提供的常规动作。因此可以在用例“还车”中增加扩展点，即特定条件为超时或损坏，如果满足条件，将执行扩展用例“交纳罚金” 。</a:t>
            </a:r>
            <a:endParaRPr lang="zh-CN" altLang="en-US" sz="2300"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430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43013" name="图片 1"/>
          <p:cNvPicPr>
            <a:picLocks noChangeAspect="1"/>
          </p:cNvPicPr>
          <p:nvPr/>
        </p:nvPicPr>
        <p:blipFill>
          <a:blip r:embed="rId1"/>
          <a:stretch>
            <a:fillRect/>
          </a:stretch>
        </p:blipFill>
        <p:spPr>
          <a:xfrm>
            <a:off x="1547813" y="4808538"/>
            <a:ext cx="5694362" cy="852487"/>
          </a:xfrm>
          <a:prstGeom prst="rect">
            <a:avLst/>
          </a:prstGeom>
          <a:noFill/>
          <a:ln w="9525">
            <a:noFill/>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zh-CN" altLang="en-US" dirty="0"/>
              <a:t>（</a:t>
            </a:r>
            <a:r>
              <a:rPr lang="en-US" altLang="zh-CN" dirty="0"/>
              <a:t>4</a:t>
            </a:r>
            <a:r>
              <a:rPr lang="zh-CN" altLang="en-US" dirty="0"/>
              <a:t>）执行者与用例关系</a:t>
            </a:r>
            <a:r>
              <a:rPr lang="en-US" altLang="zh-CN" dirty="0"/>
              <a:t>—</a:t>
            </a:r>
            <a:r>
              <a:rPr lang="zh-CN" altLang="en-US" dirty="0"/>
              <a:t>关联关系</a:t>
            </a:r>
            <a:endParaRPr lang="zh-CN" altLang="en-US" dirty="0"/>
          </a:p>
        </p:txBody>
      </p:sp>
      <p:sp>
        <p:nvSpPr>
          <p:cNvPr id="44035" name="内容占位符 2"/>
          <p:cNvSpPr>
            <a:spLocks noGrp="1"/>
          </p:cNvSpPr>
          <p:nvPr>
            <p:ph idx="1"/>
          </p:nvPr>
        </p:nvSpPr>
        <p:spPr>
          <a:xfrm>
            <a:off x="827088" y="1268413"/>
            <a:ext cx="7391400" cy="3919537"/>
          </a:xfrm>
          <a:ln/>
        </p:spPr>
        <p:txBody>
          <a:bodyPr vert="horz" wrap="square" lIns="91440" tIns="45720" rIns="91440" bIns="45720" anchor="t" anchorCtr="0">
            <a:spAutoFit/>
          </a:bodyPr>
          <a:p>
            <a:pPr>
              <a:lnSpc>
                <a:spcPct val="150000"/>
              </a:lnSpc>
              <a:buSzPct val="70000"/>
            </a:pPr>
            <a:r>
              <a:rPr lang="zh-CN" altLang="en-US" dirty="0">
                <a:latin typeface="华文中宋" panose="02010600040101010101" pitchFamily="2" charset="-122"/>
                <a:ea typeface="华文中宋" panose="02010600040101010101" pitchFamily="2" charset="-122"/>
                <a:cs typeface="+mn-cs"/>
              </a:rPr>
              <a:t>关联关系表示参与者和用例之间的通信。在</a:t>
            </a:r>
            <a:r>
              <a:rPr lang="en-US" altLang="zh-CN" dirty="0">
                <a:latin typeface="华文中宋" panose="02010600040101010101" pitchFamily="2" charset="-122"/>
                <a:ea typeface="华文中宋" panose="02010600040101010101" pitchFamily="2" charset="-122"/>
                <a:cs typeface="+mn-cs"/>
              </a:rPr>
              <a:t>UML</a:t>
            </a:r>
            <a:r>
              <a:rPr lang="zh-CN" altLang="en-US" dirty="0">
                <a:latin typeface="华文中宋" panose="02010600040101010101" pitchFamily="2" charset="-122"/>
                <a:ea typeface="华文中宋" panose="02010600040101010101" pitchFamily="2" charset="-122"/>
                <a:cs typeface="+mn-cs"/>
              </a:rPr>
              <a:t>中关联关系用直线或箭头表示。如果参与者启动用例，箭头指向用例；如果参与者利用了用例提供的服务，箭头指向参与者。如果二者是互动的，则是直线。</a:t>
            </a:r>
            <a:endParaRPr lang="en-US" altLang="zh-CN" dirty="0">
              <a:latin typeface="华文中宋" panose="02010600040101010101" pitchFamily="2" charset="-122"/>
              <a:ea typeface="华文中宋" panose="02010600040101010101" pitchFamily="2" charset="-122"/>
              <a:cs typeface="+mn-cs"/>
            </a:endParaRPr>
          </a:p>
          <a:p>
            <a:pPr>
              <a:lnSpc>
                <a:spcPct val="150000"/>
              </a:lnSpc>
              <a:buSzPct val="70000"/>
            </a:pPr>
            <a:r>
              <a:rPr lang="zh-CN" altLang="en-US" b="1" dirty="0">
                <a:latin typeface="华文中宋" panose="02010600040101010101" pitchFamily="2" charset="-122"/>
                <a:ea typeface="华文中宋" panose="02010600040101010101" pitchFamily="2" charset="-122"/>
                <a:cs typeface="+mn-cs"/>
              </a:rPr>
              <a:t>例：</a:t>
            </a:r>
            <a:r>
              <a:rPr lang="zh-CN" altLang="en-US" dirty="0">
                <a:latin typeface="华文中宋" panose="02010600040101010101" pitchFamily="2" charset="-122"/>
                <a:ea typeface="华文中宋" panose="02010600040101010101" pitchFamily="2" charset="-122"/>
                <a:cs typeface="+mn-cs"/>
              </a:rPr>
              <a:t>汽车租赁系统用例图</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部分</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显示的是“客户”参与者以及与他交互的</a:t>
            </a: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个用例：预定、取车、还车。</a:t>
            </a:r>
            <a:endParaRPr lang="zh-CN" altLang="en-US" dirty="0">
              <a:latin typeface="华文中宋" panose="02010600040101010101" pitchFamily="2" charset="-122"/>
              <a:ea typeface="华文中宋" panose="02010600040101010101" pitchFamily="2" charset="-122"/>
              <a:cs typeface="+mn-cs"/>
            </a:endParaRPr>
          </a:p>
          <a:p>
            <a:pPr>
              <a:lnSpc>
                <a:spcPct val="150000"/>
              </a:lnSpc>
              <a:buSzPct val="70000"/>
            </a:pPr>
            <a:endParaRPr lang="zh-CN" altLang="en-US" dirty="0">
              <a:latin typeface="华文中宋" panose="02010600040101010101" pitchFamily="2" charset="-122"/>
              <a:ea typeface="华文中宋" panose="02010600040101010101" pitchFamily="2" charset="-122"/>
              <a:cs typeface="+mn-cs"/>
            </a:endParaRPr>
          </a:p>
          <a:p>
            <a:pPr>
              <a:lnSpc>
                <a:spcPct val="150000"/>
              </a:lnSpc>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zh-CN" altLang="en-US" dirty="0"/>
              <a:t>参与者与用例的关系</a:t>
            </a:r>
            <a:r>
              <a:rPr lang="en-US" altLang="zh-CN" dirty="0"/>
              <a:t>—</a:t>
            </a:r>
            <a:r>
              <a:rPr lang="zh-CN" altLang="en-US" dirty="0"/>
              <a:t>关联关系</a:t>
            </a:r>
            <a:endParaRPr lang="zh-CN" altLang="en-US" dirty="0"/>
          </a:p>
        </p:txBody>
      </p:sp>
      <p:sp>
        <p:nvSpPr>
          <p:cNvPr id="4505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45060" name="Picture 5" descr="关联"/>
          <p:cNvPicPr>
            <a:picLocks noChangeAspect="1"/>
          </p:cNvPicPr>
          <p:nvPr/>
        </p:nvPicPr>
        <p:blipFill>
          <a:blip r:embed="rId1"/>
          <a:stretch>
            <a:fillRect/>
          </a:stretch>
        </p:blipFill>
        <p:spPr>
          <a:xfrm>
            <a:off x="971550" y="1628775"/>
            <a:ext cx="7200900" cy="3916363"/>
          </a:xfrm>
          <a:prstGeom prst="rect">
            <a:avLst/>
          </a:prstGeom>
          <a:noFill/>
          <a:ln w="9525">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zh-CN" altLang="en-US" dirty="0"/>
              <a:t>案例</a:t>
            </a:r>
            <a:endParaRPr lang="zh-CN" altLang="en-US" dirty="0"/>
          </a:p>
        </p:txBody>
      </p:sp>
      <p:sp>
        <p:nvSpPr>
          <p:cNvPr id="21507" name="内容占位符 2"/>
          <p:cNvSpPr>
            <a:spLocks noGrp="1"/>
          </p:cNvSpPr>
          <p:nvPr>
            <p:ph idx="1"/>
          </p:nvPr>
        </p:nvSpPr>
        <p:spPr>
          <a:xfrm>
            <a:off x="827088" y="1379538"/>
            <a:ext cx="7391400" cy="29241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0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例子</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：棋牌馆管理系统用例模型局部 </a:t>
            </a:r>
            <a:endPar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系统主要功能：以</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Internet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形式向客户提供座位预定的服务，并且如果暂时无法获取座位的信息，允许客户进入“等候队列”，当有人退订之后即使通知客户。另外，该系统还将为总台服务员提供作座位安排以及结账的功能，要求能够支持现金和银行卡两种结账方式。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60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用例图</a:t>
            </a:r>
            <a:endParaRPr lang="zh-CN" altLang="en-US" dirty="0"/>
          </a:p>
        </p:txBody>
      </p:sp>
      <p:sp>
        <p:nvSpPr>
          <p:cNvPr id="4710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47108" name="对象 5"/>
          <p:cNvGraphicFramePr>
            <a:graphicFrameLocks noChangeAspect="1"/>
          </p:cNvGraphicFramePr>
          <p:nvPr/>
        </p:nvGraphicFramePr>
        <p:xfrm>
          <a:off x="1187450" y="1484313"/>
          <a:ext cx="6913563" cy="4505325"/>
        </p:xfrm>
        <a:graphic>
          <a:graphicData uri="http://schemas.openxmlformats.org/presentationml/2006/ole">
            <mc:AlternateContent xmlns:mc="http://schemas.openxmlformats.org/markup-compatibility/2006">
              <mc:Choice xmlns:v="urn:schemas-microsoft-com:vml" Requires="v">
                <p:oleObj spid="_x0000_s3076" name="" r:id="rId1" imgW="9770110" imgH="6381115" progId="Visio.Drawing.15">
                  <p:embed/>
                </p:oleObj>
              </mc:Choice>
              <mc:Fallback>
                <p:oleObj name="" r:id="rId1" imgW="9770110" imgH="6381115" progId="Visio.Drawing.15">
                  <p:embed/>
                  <p:pic>
                    <p:nvPicPr>
                      <p:cNvPr id="0" name="图片 3075"/>
                      <p:cNvPicPr/>
                      <p:nvPr/>
                    </p:nvPicPr>
                    <p:blipFill>
                      <a:blip r:embed="rId2"/>
                      <a:stretch>
                        <a:fillRect/>
                      </a:stretch>
                    </p:blipFill>
                    <p:spPr>
                      <a:xfrm>
                        <a:off x="1187450" y="1484313"/>
                        <a:ext cx="6913563" cy="4505325"/>
                      </a:xfrm>
                      <a:prstGeom prst="rect">
                        <a:avLst/>
                      </a:prstGeom>
                      <a:noFill/>
                      <a:ln w="38100">
                        <a:noFill/>
                        <a:miter/>
                      </a:ln>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ln/>
        </p:spPr>
        <p:txBody>
          <a:bodyPr vert="horz" wrap="square" lIns="91440" tIns="45720" rIns="91440" bIns="45720" anchor="ctr" anchorCtr="0"/>
          <a:p>
            <a:r>
              <a:rPr lang="zh-CN" altLang="en-US" dirty="0"/>
              <a:t>用例图</a:t>
            </a:r>
            <a:r>
              <a:rPr lang="en-US" altLang="zh-CN" dirty="0"/>
              <a:t>—</a:t>
            </a:r>
            <a:r>
              <a:rPr lang="zh-CN" altLang="en-US" dirty="0"/>
              <a:t>读图小结</a:t>
            </a:r>
            <a:endParaRPr lang="zh-CN" altLang="en-US" dirty="0"/>
          </a:p>
        </p:txBody>
      </p:sp>
      <p:sp>
        <p:nvSpPr>
          <p:cNvPr id="47107" name="内容占位符 2"/>
          <p:cNvSpPr>
            <a:spLocks noGrp="1" noChangeArrowheads="1"/>
          </p:cNvSpPr>
          <p:nvPr>
            <p:ph idx="1"/>
          </p:nvPr>
        </p:nvSpPr>
        <p:spPr>
          <a:xfrm>
            <a:off x="395288" y="1196975"/>
            <a:ext cx="8353425" cy="46053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首先定义了三个基用例：预订座位、安排座位和处理结账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客户通过</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Internet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启动“预订座位”用例，在“预订座位”用例的执行过程中，将“检查座位信息”</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被包含用例</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，如果没有空闲的座位或满意的座位，可以选择进入等候队列，这样就将启动</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扩展用例</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“处理等候队列”。</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总台服务员在客户到棋牌馆时，启动“安排座位”，在执行过程中，启动</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被包含用例</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“检查座位信息”。</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当客户要离开棋牌馆时，总台服务员将启动“处理结账”用例并且定义了两种“收款”用例，一个是“处理现金结账”，另一个是“处理银行卡结账”，而后一个用例将通过与外部系统“银联</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POS</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系统”交互来完成</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smtClean="0">
                <a:ln>
                  <a:noFill/>
                </a:ln>
                <a:solidFill>
                  <a:srgbClr val="0070C0"/>
                </a:solidFill>
                <a:effectLst/>
                <a:uLnTx/>
                <a:uFillTx/>
                <a:latin typeface="华文中宋" panose="02010600040101010101" pitchFamily="2" charset="-122"/>
                <a:ea typeface="华文中宋" panose="02010600040101010101" pitchFamily="2" charset="-122"/>
                <a:cs typeface="+mn-cs"/>
              </a:rPr>
              <a:t>泛化关系</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81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en-US" dirty="0"/>
              <a:t>该用例图中的关系</a:t>
            </a:r>
            <a:endParaRPr lang="zh-CN" altLang="en-US" dirty="0"/>
          </a:p>
        </p:txBody>
      </p:sp>
      <p:sp>
        <p:nvSpPr>
          <p:cNvPr id="21507" name="内容占位符 2"/>
          <p:cNvSpPr>
            <a:spLocks noGrp="1"/>
          </p:cNvSpPr>
          <p:nvPr>
            <p:ph idx="1"/>
          </p:nvPr>
        </p:nvSpPr>
        <p:spPr>
          <a:xfrm>
            <a:off x="827088" y="1196975"/>
            <a:ext cx="7391400" cy="50323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l"/>
              <a:defRPr/>
            </a:pP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包含关系：</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用例预定座位就包含了用例检查座位信息。</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被包含的用例</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此例中的检查座位详情</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不是孤立存在的，它仅作为某些包含它的更大的基用例</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此例中的预订座位、安排座位</a:t>
            </a:r>
            <a:r>
              <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的一部分出现</a:t>
            </a:r>
            <a:endPar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l"/>
              <a:defRPr/>
            </a:pPr>
            <a:endPar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l"/>
              <a:defRPr/>
            </a:pPr>
            <a:r>
              <a:rPr kumimoji="0" lang="zh-CN" altLang="en-US" sz="20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扩展关系</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用例处理等候队列就是对用例预定座位的一个扩展。</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处理等候队列并不是在每次预定座位的时候都会发生。</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基用例是可以独立于扩展用例存在的，只是在特定的条件下，它的行为可以被另一个用例的行为所扩展</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91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49157" name="Picture 8"/>
          <p:cNvPicPr>
            <a:picLocks noChangeAspect="1"/>
          </p:cNvPicPr>
          <p:nvPr/>
        </p:nvPicPr>
        <p:blipFill>
          <a:blip r:embed="rId1"/>
          <a:stretch>
            <a:fillRect/>
          </a:stretch>
        </p:blipFill>
        <p:spPr>
          <a:xfrm>
            <a:off x="1042988" y="2500313"/>
            <a:ext cx="3887787" cy="2244725"/>
          </a:xfrm>
          <a:prstGeom prst="rect">
            <a:avLst/>
          </a:prstGeom>
          <a:noFill/>
          <a:ln w="9525">
            <a:noFill/>
          </a:ln>
        </p:spPr>
      </p:pic>
      <p:pic>
        <p:nvPicPr>
          <p:cNvPr id="49158" name="Picture 10"/>
          <p:cNvPicPr>
            <a:picLocks noChangeAspect="1"/>
          </p:cNvPicPr>
          <p:nvPr/>
        </p:nvPicPr>
        <p:blipFill>
          <a:blip r:embed="rId2"/>
          <a:stretch>
            <a:fillRect/>
          </a:stretch>
        </p:blipFill>
        <p:spPr>
          <a:xfrm>
            <a:off x="4930775" y="2492375"/>
            <a:ext cx="3671888" cy="2324100"/>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ln/>
        </p:spPr>
        <p:txBody>
          <a:bodyPr vert="horz" wrap="square" lIns="91440" tIns="45720" rIns="91440" bIns="45720" anchor="ctr" anchorCtr="0"/>
          <a:p>
            <a:r>
              <a:rPr lang="en-US" altLang="zh-CN" dirty="0"/>
              <a:t>3.3 </a:t>
            </a:r>
            <a:r>
              <a:rPr lang="zh-CN" altLang="en-US" dirty="0"/>
              <a:t>用例模型</a:t>
            </a:r>
            <a:endParaRPr lang="zh-CN" altLang="en-US" dirty="0"/>
          </a:p>
        </p:txBody>
      </p:sp>
      <p:sp>
        <p:nvSpPr>
          <p:cNvPr id="50179" name="内容占位符 2"/>
          <p:cNvSpPr>
            <a:spLocks noGrp="1"/>
          </p:cNvSpPr>
          <p:nvPr>
            <p:ph idx="1"/>
          </p:nvPr>
        </p:nvSpPr>
        <p:spPr>
          <a:xfrm>
            <a:off x="827088" y="1379538"/>
            <a:ext cx="7391400" cy="106997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建立系统用例模型的过程就是对系统进行功能需求分析的过程，用例建模的过程</a:t>
            </a:r>
            <a:r>
              <a:rPr lang="zh-CN" altLang="en-US"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p:txBody>
      </p:sp>
      <p:sp>
        <p:nvSpPr>
          <p:cNvPr id="501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5" name="图示 4"/>
          <p:cNvGraphicFramePr/>
          <p:nvPr/>
        </p:nvGraphicFramePr>
        <p:xfrm>
          <a:off x="395536" y="3068960"/>
          <a:ext cx="8496944" cy="20882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zh-CN" altLang="en-US" dirty="0"/>
              <a:t>用例描述</a:t>
            </a:r>
            <a:endParaRPr lang="zh-CN" altLang="en-US" dirty="0"/>
          </a:p>
        </p:txBody>
      </p:sp>
      <p:graphicFrame>
        <p:nvGraphicFramePr>
          <p:cNvPr id="2" name="内容占位符 1"/>
          <p:cNvGraphicFramePr>
            <a:graphicFrameLocks noGrp="1"/>
          </p:cNvGraphicFramePr>
          <p:nvPr>
            <p:ph idx="1"/>
          </p:nvPr>
        </p:nvGraphicFramePr>
        <p:xfrm>
          <a:off x="1187450" y="1557338"/>
          <a:ext cx="6789738" cy="3959225"/>
        </p:xfrm>
        <a:graphic>
          <a:graphicData uri="http://schemas.openxmlformats.org/drawingml/2006/table">
            <a:tbl>
              <a:tblPr firstRow="1" firstCol="1" bandRow="1">
                <a:tableStyleId>{5C22544A-7EE6-4342-B048-85BDC9FD1C3A}</a:tableStyleId>
              </a:tblPr>
              <a:tblGrid>
                <a:gridCol w="1212265"/>
                <a:gridCol w="5577473"/>
              </a:tblGrid>
              <a:tr h="368010">
                <a:tc>
                  <a:txBody>
                    <a:bodyPr/>
                    <a:lstStyle/>
                    <a:p>
                      <a:pPr indent="266700" algn="ctr">
                        <a:lnSpc>
                          <a:spcPct val="115000"/>
                        </a:lnSpc>
                        <a:spcAft>
                          <a:spcPts val="0"/>
                        </a:spcAft>
                      </a:pPr>
                      <a:r>
                        <a:rPr lang="zh-CN" sz="1600" kern="100">
                          <a:effectLst/>
                        </a:rPr>
                        <a:t>项目</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ctr">
                        <a:lnSpc>
                          <a:spcPct val="115000"/>
                        </a:lnSpc>
                        <a:spcAft>
                          <a:spcPts val="0"/>
                        </a:spcAft>
                      </a:pPr>
                      <a:r>
                        <a:rPr lang="zh-CN" sz="1600" kern="100">
                          <a:effectLst/>
                        </a:rPr>
                        <a:t>内容描述</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9739">
                <a:tc>
                  <a:txBody>
                    <a:bodyPr/>
                    <a:lstStyle/>
                    <a:p>
                      <a:pPr indent="266700" algn="ctr">
                        <a:lnSpc>
                          <a:spcPct val="115000"/>
                        </a:lnSpc>
                        <a:spcAft>
                          <a:spcPts val="0"/>
                        </a:spcAft>
                      </a:pPr>
                      <a:r>
                        <a:rPr lang="en-US" sz="1600" kern="100">
                          <a:effectLst/>
                        </a:rPr>
                        <a:t>ID</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用例的标识</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名称</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对用例内容的精确描述，体现了用例所描述的任务</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参与者</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描述系统的参与者和每个参与者的目标</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645406">
                <a:tc>
                  <a:txBody>
                    <a:bodyPr/>
                    <a:lstStyle/>
                    <a:p>
                      <a:pPr indent="266700" algn="ctr">
                        <a:lnSpc>
                          <a:spcPct val="115000"/>
                        </a:lnSpc>
                        <a:spcAft>
                          <a:spcPts val="0"/>
                        </a:spcAft>
                      </a:pPr>
                      <a:r>
                        <a:rPr lang="zh-CN" sz="1600" kern="100">
                          <a:effectLst/>
                        </a:rPr>
                        <a:t>触发条件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标识启动用例的事件，可能是系统外部的事件，也可能是系统内部的事件，还可能是正常流程的第一个步骤</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前置条件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用例能够正常启动和工作的系统状态条件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后置条件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用例执行完成后的系统状态条件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正常流程</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a:effectLst/>
                        </a:rPr>
                        <a:t>在常见和符合预期的条件下，系统与外界的行为交互序列</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扩展流程</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dirty="0">
                          <a:effectLst/>
                        </a:rPr>
                        <a:t>用例中可能发生的其他场景</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r h="368010">
                <a:tc>
                  <a:txBody>
                    <a:bodyPr/>
                    <a:lstStyle/>
                    <a:p>
                      <a:pPr indent="266700" algn="ctr">
                        <a:lnSpc>
                          <a:spcPct val="115000"/>
                        </a:lnSpc>
                        <a:spcAft>
                          <a:spcPts val="0"/>
                        </a:spcAft>
                      </a:pPr>
                      <a:r>
                        <a:rPr lang="zh-CN" sz="1600" kern="100">
                          <a:effectLst/>
                        </a:rPr>
                        <a:t>特殊需求</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c>
                  <a:txBody>
                    <a:bodyPr/>
                    <a:lstStyle/>
                    <a:p>
                      <a:pPr indent="266700" algn="l">
                        <a:lnSpc>
                          <a:spcPct val="115000"/>
                        </a:lnSpc>
                        <a:spcAft>
                          <a:spcPts val="0"/>
                        </a:spcAft>
                      </a:pPr>
                      <a:r>
                        <a:rPr lang="zh-CN" sz="1600" kern="100" dirty="0">
                          <a:effectLst/>
                        </a:rPr>
                        <a:t>和用例相关的其他特殊需求，尤其是非功能性需求</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0836" marR="10836" marT="0" marB="0"/>
                </a:tc>
              </a:tr>
            </a:tbl>
          </a:graphicData>
        </a:graphic>
      </p:graphicFrame>
      <p:sp>
        <p:nvSpPr>
          <p:cNvPr id="5123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zh-CN" altLang="en-US" dirty="0"/>
              <a:t>案例：医院病房监护系统</a:t>
            </a:r>
            <a:endParaRPr lang="zh-CN" altLang="en-US" dirty="0"/>
          </a:p>
        </p:txBody>
      </p:sp>
      <p:sp>
        <p:nvSpPr>
          <p:cNvPr id="5222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pic>
        <p:nvPicPr>
          <p:cNvPr id="52228" name="图片 1"/>
          <p:cNvPicPr>
            <a:picLocks noChangeAspect="1"/>
          </p:cNvPicPr>
          <p:nvPr/>
        </p:nvPicPr>
        <p:blipFill>
          <a:blip r:embed="rId1"/>
          <a:stretch>
            <a:fillRect/>
          </a:stretch>
        </p:blipFill>
        <p:spPr>
          <a:xfrm>
            <a:off x="909638" y="1341438"/>
            <a:ext cx="7334250" cy="4414837"/>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zh-CN" altLang="en-US" dirty="0"/>
              <a:t>例子：医院病房监护系统</a:t>
            </a:r>
            <a:endParaRPr lang="zh-CN" altLang="en-US" dirty="0"/>
          </a:p>
        </p:txBody>
      </p:sp>
      <p:sp>
        <p:nvSpPr>
          <p:cNvPr id="21507" name="内容占位符 2"/>
          <p:cNvSpPr>
            <a:spLocks noGrp="1"/>
          </p:cNvSpPr>
          <p:nvPr>
            <p:ph idx="1"/>
          </p:nvPr>
        </p:nvSpPr>
        <p:spPr>
          <a:xfrm>
            <a:off x="827088" y="1379538"/>
            <a:ext cx="7391400" cy="43211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a:t>
            </a: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描述系统的静态结构</a:t>
            </a:r>
            <a:endPar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通过以下六个问题识别角色</a:t>
            </a:r>
            <a:endParaRPr kumimoji="0" lang="en-US" altLang="zh-CN"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1.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谁使用系统的主要功能</a:t>
            </a: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主执行者</a:t>
            </a: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2.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谁需要从系统获得对日常工作的支持和服务？</a:t>
            </a:r>
            <a:endPar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3.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谁需要维护管理系统的日常运行</a:t>
            </a: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副执行者</a:t>
            </a: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4.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系统需要控制哪些硬件设备？</a:t>
            </a:r>
            <a:endPar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5.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系统需要与其他哪些系统交互？</a:t>
            </a:r>
            <a:endPar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6. </a:t>
            </a:r>
            <a:r>
              <a:rPr kumimoji="0" lang="zh-CN" altLang="en-US" sz="20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谁需要使用系统产生的结果？</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32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zh-CN" altLang="en-US" dirty="0"/>
              <a:t>例子：医院病房监护系统</a:t>
            </a:r>
            <a:endParaRPr lang="zh-CN" altLang="en-US" dirty="0"/>
          </a:p>
        </p:txBody>
      </p:sp>
      <p:sp>
        <p:nvSpPr>
          <p:cNvPr id="54275" name="内容占位符 2"/>
          <p:cNvSpPr>
            <a:spLocks noGrp="1"/>
          </p:cNvSpPr>
          <p:nvPr>
            <p:ph idx="1"/>
          </p:nvPr>
        </p:nvSpPr>
        <p:spPr>
          <a:xfrm>
            <a:off x="827088" y="1379538"/>
            <a:ext cx="7391400" cy="4643437"/>
          </a:xfrm>
          <a:ln/>
        </p:spPr>
        <p:txBody>
          <a:bodyPr vert="horz" wrap="square" lIns="91440" tIns="45720" rIns="91440" bIns="45720" anchor="t" anchorCtr="0">
            <a:spAutoFit/>
          </a:bodyPr>
          <a:p>
            <a:pPr>
              <a:lnSpc>
                <a:spcPct val="100000"/>
              </a:lnSpc>
              <a:buSzPct val="70000"/>
            </a:pPr>
            <a:r>
              <a:rPr lang="zh-CN" altLang="en-US" sz="2300" dirty="0">
                <a:latin typeface="华文中宋" panose="02010600040101010101" pitchFamily="2" charset="-122"/>
                <a:ea typeface="华文中宋" panose="02010600040101010101" pitchFamily="2" charset="-122"/>
                <a:cs typeface="+mn-cs"/>
              </a:rPr>
              <a:t>通过回答这六个问题以后，再进一步分析可以识别出本系统的四个角色：值班护士，医生，病人，标准病症信号库。</a:t>
            </a:r>
            <a:endParaRPr lang="zh-CN" altLang="en-US" sz="2300"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角色描述版</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p:txBody>
      </p:sp>
      <p:sp>
        <p:nvSpPr>
          <p:cNvPr id="542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pSp>
        <p:nvGrpSpPr>
          <p:cNvPr id="54277" name="Group 3"/>
          <p:cNvGrpSpPr/>
          <p:nvPr/>
        </p:nvGrpSpPr>
        <p:grpSpPr>
          <a:xfrm>
            <a:off x="107950" y="3136900"/>
            <a:ext cx="2259013" cy="2740025"/>
            <a:chOff x="1056" y="480"/>
            <a:chExt cx="1248" cy="1475"/>
          </a:xfrm>
        </p:grpSpPr>
        <p:sp>
          <p:nvSpPr>
            <p:cNvPr id="54287" name="Rectangle 4"/>
            <p:cNvSpPr/>
            <p:nvPr/>
          </p:nvSpPr>
          <p:spPr>
            <a:xfrm>
              <a:off x="1110" y="531"/>
              <a:ext cx="1152" cy="1381"/>
            </a:xfrm>
            <a:prstGeom prst="rect">
              <a:avLst/>
            </a:prstGeom>
            <a:noFill/>
            <a:ln w="635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95000"/>
                </a:lnSpc>
                <a:spcBef>
                  <a:spcPct val="0"/>
                </a:spcBef>
                <a:buClrTx/>
                <a:buSzTx/>
                <a:buFontTx/>
                <a:buNone/>
              </a:pPr>
              <a:r>
                <a:rPr lang="zh-CN" altLang="en-US" sz="1600" dirty="0">
                  <a:solidFill>
                    <a:schemeClr val="tx2"/>
                  </a:solidFill>
                  <a:latin typeface="Times New Roman" panose="02020603050405020304" pitchFamily="18" charset="0"/>
                </a:rPr>
                <a:t>角色：</a:t>
              </a:r>
              <a:r>
                <a:rPr lang="zh-CN" altLang="en-US" sz="1600" dirty="0">
                  <a:latin typeface="Times New Roman" panose="02020603050405020304" pitchFamily="18" charset="0"/>
                </a:rPr>
                <a:t>病    人</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solidFill>
                    <a:schemeClr val="tx2"/>
                  </a:solidFill>
                  <a:latin typeface="Times New Roman" panose="02020603050405020304" pitchFamily="18" charset="0"/>
                </a:rPr>
                <a:t>角色职责：</a:t>
              </a: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提供病症信号</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solidFill>
                    <a:schemeClr val="tx2"/>
                  </a:solidFill>
                  <a:latin typeface="Times New Roman" panose="02020603050405020304" pitchFamily="18" charset="0"/>
                </a:rPr>
                <a:t>角色职责识别：</a:t>
              </a: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负责生成、实时提供</a:t>
              </a:r>
              <a:endParaRPr lang="zh-CN" altLang="en-US" sz="1600" dirty="0">
                <a:latin typeface="Times New Roman" panose="02020603050405020304" pitchFamily="18" charset="0"/>
              </a:endParaRPr>
            </a:p>
            <a:p>
              <a:pPr marL="0" lvl="0" indent="0" eaLnBrk="1" hangingPunct="1">
                <a:lnSpc>
                  <a:spcPct val="95000"/>
                </a:lnSpc>
                <a:spcBef>
                  <a:spcPct val="0"/>
                </a:spcBef>
                <a:buClrTx/>
                <a:buSzTx/>
                <a:buFontTx/>
                <a:buNone/>
              </a:pPr>
              <a:r>
                <a:rPr lang="zh-CN" altLang="en-US" sz="1600" dirty="0">
                  <a:latin typeface="Times New Roman" panose="02020603050405020304" pitchFamily="18" charset="0"/>
                </a:rPr>
                <a:t>各种病症信号。</a:t>
              </a:r>
              <a:endParaRPr lang="zh-CN" altLang="en-US" sz="1600" dirty="0">
                <a:latin typeface="Times New Roman" panose="02020603050405020304" pitchFamily="18" charset="0"/>
              </a:endParaRPr>
            </a:p>
          </p:txBody>
        </p:sp>
        <p:sp>
          <p:nvSpPr>
            <p:cNvPr id="7" name="Rectangle 5"/>
            <p:cNvSpPr>
              <a:spLocks noChangeArrowheads="1"/>
            </p:cNvSpPr>
            <p:nvPr/>
          </p:nvSpPr>
          <p:spPr bwMode="auto">
            <a:xfrm>
              <a:off x="1056" y="480"/>
              <a:ext cx="1248" cy="1475"/>
            </a:xfrm>
            <a:prstGeom prst="rect">
              <a:avLst/>
            </a:prstGeom>
            <a:noFill/>
            <a:ln w="63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nvGrpSpPr>
          <p:cNvPr id="54278" name="Group 12"/>
          <p:cNvGrpSpPr/>
          <p:nvPr/>
        </p:nvGrpSpPr>
        <p:grpSpPr>
          <a:xfrm>
            <a:off x="2379663" y="3127375"/>
            <a:ext cx="2192337" cy="2749550"/>
            <a:chOff x="1056" y="2400"/>
            <a:chExt cx="1248" cy="1506"/>
          </a:xfrm>
        </p:grpSpPr>
        <p:sp>
          <p:nvSpPr>
            <p:cNvPr id="54285" name="Rectangle 13"/>
            <p:cNvSpPr/>
            <p:nvPr/>
          </p:nvSpPr>
          <p:spPr>
            <a:xfrm>
              <a:off x="1110" y="2452"/>
              <a:ext cx="1152" cy="1410"/>
            </a:xfrm>
            <a:prstGeom prst="rect">
              <a:avLst/>
            </a:prstGeom>
            <a:noFill/>
            <a:ln w="635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10000"/>
                </a:spcBef>
                <a:buClrTx/>
                <a:buSzTx/>
                <a:buFontTx/>
                <a:buNone/>
              </a:pPr>
              <a:r>
                <a:rPr lang="zh-CN" altLang="en-US" sz="1600" dirty="0">
                  <a:solidFill>
                    <a:schemeClr val="tx2"/>
                  </a:solidFill>
                  <a:latin typeface="Times New Roman" panose="02020603050405020304" pitchFamily="18" charset="0"/>
                </a:rPr>
                <a:t>角色：</a:t>
              </a:r>
              <a:r>
                <a:rPr lang="zh-CN" altLang="en-US" sz="1600" dirty="0">
                  <a:latin typeface="Times New Roman" panose="02020603050405020304" pitchFamily="18" charset="0"/>
                </a:rPr>
                <a:t>医      生</a:t>
              </a:r>
              <a:endParaRPr lang="zh-CN" altLang="en-US" sz="1600" dirty="0">
                <a:latin typeface="Times New Roman" panose="02020603050405020304" pitchFamily="18" charset="0"/>
              </a:endParaRPr>
            </a:p>
            <a:p>
              <a:pPr marL="0" lvl="0" indent="0" eaLnBrk="1" hangingPunct="1">
                <a:lnSpc>
                  <a:spcPct val="100000"/>
                </a:lnSpc>
                <a:spcBef>
                  <a:spcPct val="10000"/>
                </a:spcBef>
                <a:buClrTx/>
                <a:buSzTx/>
                <a:buFontTx/>
                <a:buNone/>
              </a:pPr>
              <a:r>
                <a:rPr lang="zh-CN" altLang="en-US" sz="1600" dirty="0">
                  <a:solidFill>
                    <a:schemeClr val="tx2"/>
                  </a:solidFill>
                  <a:latin typeface="Times New Roman" panose="02020603050405020304" pitchFamily="18" charset="0"/>
                </a:rPr>
                <a:t>角色职责：</a:t>
              </a:r>
              <a:endParaRPr lang="zh-CN" altLang="en-US" sz="1600" dirty="0">
                <a:solidFill>
                  <a:schemeClr val="tx2"/>
                </a:solidFill>
                <a:latin typeface="Times New Roman" panose="02020603050405020304" pitchFamily="18" charset="0"/>
              </a:endParaRPr>
            </a:p>
            <a:p>
              <a:pPr marL="0" lvl="0" indent="0" eaLnBrk="1" hangingPunct="1">
                <a:lnSpc>
                  <a:spcPct val="100000"/>
                </a:lnSpc>
                <a:buClrTx/>
                <a:buSzTx/>
                <a:buFontTx/>
                <a:buNone/>
              </a:pPr>
              <a:r>
                <a:rPr lang="zh-CN" altLang="en-US" sz="1600" dirty="0">
                  <a:latin typeface="Times New Roman" panose="02020603050405020304" pitchFamily="18" charset="0"/>
                </a:rPr>
                <a:t>对病人负责，负责</a:t>
              </a:r>
              <a:endParaRPr lang="zh-CN" altLang="en-US" sz="1600" dirty="0">
                <a:latin typeface="Times New Roman" panose="02020603050405020304" pitchFamily="18" charset="0"/>
              </a:endParaRPr>
            </a:p>
            <a:p>
              <a:pPr marL="0" lvl="0" indent="0" eaLnBrk="1" hangingPunct="1">
                <a:lnSpc>
                  <a:spcPct val="100000"/>
                </a:lnSpc>
                <a:buClrTx/>
                <a:buSzTx/>
                <a:buFontTx/>
                <a:buNone/>
              </a:pPr>
              <a:r>
                <a:rPr lang="zh-CN" altLang="en-US" sz="1600" dirty="0">
                  <a:latin typeface="Times New Roman" panose="02020603050405020304" pitchFamily="18" charset="0"/>
                </a:rPr>
                <a:t>处理病情的变化</a:t>
              </a:r>
              <a:endParaRPr lang="zh-CN" altLang="en-US" sz="1600" dirty="0">
                <a:latin typeface="Times New Roman" panose="02020603050405020304" pitchFamily="18" charset="0"/>
              </a:endParaRPr>
            </a:p>
            <a:p>
              <a:pPr marL="0" lvl="0" indent="0" eaLnBrk="1" hangingPunct="1">
                <a:lnSpc>
                  <a:spcPct val="100000"/>
                </a:lnSpc>
                <a:buClrTx/>
                <a:buSzTx/>
                <a:buFontTx/>
                <a:buNone/>
              </a:pPr>
              <a:r>
                <a:rPr lang="zh-CN" altLang="en-US" sz="1600" dirty="0">
                  <a:solidFill>
                    <a:schemeClr val="tx2"/>
                  </a:solidFill>
                  <a:latin typeface="Times New Roman" panose="02020603050405020304" pitchFamily="18" charset="0"/>
                </a:rPr>
                <a:t>角色职责识别：</a:t>
              </a: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 </a:t>
              </a:r>
              <a:r>
                <a:rPr lang="en-US" altLang="zh-CN" sz="1600" dirty="0">
                  <a:latin typeface="Times New Roman" panose="02020603050405020304" pitchFamily="18" charset="0"/>
                </a:rPr>
                <a:t>(1)</a:t>
              </a:r>
              <a:r>
                <a:rPr lang="zh-CN" altLang="en-US" sz="1600" dirty="0">
                  <a:latin typeface="Times New Roman" panose="02020603050405020304" pitchFamily="18" charset="0"/>
                </a:rPr>
                <a:t>需要系统支持以完</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成其日常工作</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 </a:t>
              </a:r>
              <a:r>
                <a:rPr lang="en-US" altLang="zh-CN" sz="1600" dirty="0">
                  <a:latin typeface="Times New Roman" panose="02020603050405020304" pitchFamily="18" charset="0"/>
                </a:rPr>
                <a:t>(2)</a:t>
              </a:r>
              <a:r>
                <a:rPr lang="zh-CN" altLang="en-US" sz="1600" dirty="0">
                  <a:latin typeface="Times New Roman" panose="02020603050405020304" pitchFamily="18" charset="0"/>
                </a:rPr>
                <a:t>对系统运行结果感</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兴趣</a:t>
              </a:r>
              <a:endParaRPr lang="zh-CN" altLang="en-US" sz="1600" dirty="0">
                <a:latin typeface="Times New Roman" panose="02020603050405020304" pitchFamily="18" charset="0"/>
              </a:endParaRPr>
            </a:p>
          </p:txBody>
        </p:sp>
        <p:sp>
          <p:nvSpPr>
            <p:cNvPr id="10" name="Rectangle 14"/>
            <p:cNvSpPr>
              <a:spLocks noChangeArrowheads="1"/>
            </p:cNvSpPr>
            <p:nvPr/>
          </p:nvSpPr>
          <p:spPr bwMode="auto">
            <a:xfrm>
              <a:off x="1056" y="2400"/>
              <a:ext cx="1248" cy="1506"/>
            </a:xfrm>
            <a:prstGeom prst="rect">
              <a:avLst/>
            </a:prstGeom>
            <a:noFill/>
            <a:ln w="63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nvGrpSpPr>
          <p:cNvPr id="54279" name="Group 6"/>
          <p:cNvGrpSpPr/>
          <p:nvPr/>
        </p:nvGrpSpPr>
        <p:grpSpPr>
          <a:xfrm>
            <a:off x="4578350" y="3127375"/>
            <a:ext cx="2225675" cy="2749550"/>
            <a:chOff x="3360" y="480"/>
            <a:chExt cx="1248" cy="1488"/>
          </a:xfrm>
        </p:grpSpPr>
        <p:sp>
          <p:nvSpPr>
            <p:cNvPr id="54283" name="Rectangle 7"/>
            <p:cNvSpPr/>
            <p:nvPr/>
          </p:nvSpPr>
          <p:spPr>
            <a:xfrm>
              <a:off x="3414" y="531"/>
              <a:ext cx="1152" cy="1394"/>
            </a:xfrm>
            <a:prstGeom prst="rect">
              <a:avLst/>
            </a:prstGeom>
            <a:noFill/>
            <a:ln w="635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endParaRPr lang="en-US" altLang="zh-CN" sz="1000" dirty="0">
                <a:latin typeface="Times New Roman" panose="02020603050405020304" pitchFamily="18" charset="0"/>
              </a:endParaRPr>
            </a:p>
            <a:p>
              <a:pPr marL="0" lvl="0" indent="0" eaLnBrk="1" hangingPunct="1">
                <a:lnSpc>
                  <a:spcPct val="100000"/>
                </a:lnSpc>
                <a:buClrTx/>
                <a:buSzTx/>
                <a:buFontTx/>
                <a:buNone/>
              </a:pPr>
              <a:r>
                <a:rPr lang="zh-CN" altLang="en-US" sz="1600" dirty="0">
                  <a:solidFill>
                    <a:schemeClr val="tx2"/>
                  </a:solidFill>
                  <a:latin typeface="Times New Roman" panose="02020603050405020304" pitchFamily="18" charset="0"/>
                </a:rPr>
                <a:t>角色：</a:t>
              </a:r>
              <a:r>
                <a:rPr lang="zh-CN" altLang="en-US" sz="1600" dirty="0">
                  <a:latin typeface="Times New Roman" panose="02020603050405020304" pitchFamily="18" charset="0"/>
                </a:rPr>
                <a:t>值班护士</a:t>
              </a:r>
              <a:endParaRPr lang="zh-CN" altLang="en-US" sz="1600" dirty="0">
                <a:latin typeface="Times New Roman" panose="02020603050405020304" pitchFamily="18" charset="0"/>
              </a:endParaRPr>
            </a:p>
            <a:p>
              <a:pPr marL="0" lvl="0" indent="0" eaLnBrk="1" hangingPunct="1">
                <a:lnSpc>
                  <a:spcPct val="100000"/>
                </a:lnSpc>
                <a:buClrTx/>
                <a:buSzTx/>
                <a:buFontTx/>
                <a:buNone/>
              </a:pPr>
              <a:r>
                <a:rPr lang="zh-CN" altLang="en-US" sz="1600" dirty="0">
                  <a:solidFill>
                    <a:schemeClr val="tx2"/>
                  </a:solidFill>
                  <a:latin typeface="Times New Roman" panose="02020603050405020304" pitchFamily="18" charset="0"/>
                </a:rPr>
                <a:t>角色职责：</a:t>
              </a:r>
              <a:endParaRPr lang="zh-CN" altLang="en-US" sz="1600" dirty="0">
                <a:solidFill>
                  <a:schemeClr val="tx2"/>
                </a:solidFill>
                <a:latin typeface="Times New Roman" panose="02020603050405020304" pitchFamily="18" charset="0"/>
              </a:endParaRPr>
            </a:p>
            <a:p>
              <a:pPr marL="0" lvl="0" indent="0" eaLnBrk="1" hangingPunct="1">
                <a:lnSpc>
                  <a:spcPct val="100000"/>
                </a:lnSpc>
                <a:buClrTx/>
                <a:buSzTx/>
                <a:buFontTx/>
                <a:buNone/>
              </a:pPr>
              <a:r>
                <a:rPr lang="zh-CN" altLang="en-US" sz="1600" dirty="0">
                  <a:latin typeface="Times New Roman" panose="02020603050405020304" pitchFamily="18" charset="0"/>
                </a:rPr>
                <a:t>负责监视病人的病</a:t>
              </a:r>
              <a:endParaRPr lang="zh-CN" altLang="en-US" sz="1600" dirty="0">
                <a:latin typeface="Times New Roman" panose="02020603050405020304" pitchFamily="18" charset="0"/>
              </a:endParaRPr>
            </a:p>
            <a:p>
              <a:pPr marL="0" lvl="0" indent="0" eaLnBrk="1" hangingPunct="1">
                <a:lnSpc>
                  <a:spcPct val="100000"/>
                </a:lnSpc>
                <a:buClrTx/>
                <a:buSzTx/>
                <a:buFontTx/>
                <a:buNone/>
              </a:pPr>
              <a:r>
                <a:rPr lang="zh-CN" altLang="en-US" sz="1600" dirty="0">
                  <a:latin typeface="Times New Roman" panose="02020603050405020304" pitchFamily="18" charset="0"/>
                </a:rPr>
                <a:t>情变化</a:t>
              </a:r>
              <a:endParaRPr lang="zh-CN" altLang="en-US" sz="1600" dirty="0">
                <a:latin typeface="Times New Roman" panose="02020603050405020304" pitchFamily="18" charset="0"/>
              </a:endParaRPr>
            </a:p>
            <a:p>
              <a:pPr marL="0" lvl="0" indent="0" eaLnBrk="1" hangingPunct="1">
                <a:lnSpc>
                  <a:spcPct val="100000"/>
                </a:lnSpc>
                <a:buClrTx/>
                <a:buSzTx/>
                <a:buFontTx/>
                <a:buNone/>
              </a:pPr>
              <a:r>
                <a:rPr lang="zh-CN" altLang="en-US" sz="1600" dirty="0">
                  <a:solidFill>
                    <a:schemeClr val="tx2"/>
                  </a:solidFill>
                  <a:latin typeface="Times New Roman" panose="02020603050405020304" pitchFamily="18" charset="0"/>
                </a:rPr>
                <a:t>角色职责识别：</a:t>
              </a:r>
              <a:endParaRPr lang="zh-CN" altLang="en-US" sz="1600" dirty="0">
                <a:solidFill>
                  <a:schemeClr val="tx2"/>
                </a:solidFill>
                <a:latin typeface="Times New Roman" panose="02020603050405020304" pitchFamily="18" charset="0"/>
              </a:endParaRPr>
            </a:p>
            <a:p>
              <a:pPr marL="0" lvl="0" indent="0" eaLnBrk="1" hangingPunct="1">
                <a:lnSpc>
                  <a:spcPct val="100000"/>
                </a:lnSpc>
                <a:buClrTx/>
                <a:buSzTx/>
                <a:buFontTx/>
                <a:buNone/>
              </a:pPr>
              <a:r>
                <a:rPr lang="zh-CN" altLang="en-US" sz="1800" dirty="0">
                  <a:latin typeface="Times New Roman" panose="02020603050405020304" pitchFamily="18" charset="0"/>
                </a:rPr>
                <a:t> </a:t>
              </a:r>
              <a:r>
                <a:rPr lang="en-US" altLang="zh-CN" sz="1600" dirty="0">
                  <a:latin typeface="Times New Roman" panose="02020603050405020304" pitchFamily="18" charset="0"/>
                </a:rPr>
                <a:t>(1)</a:t>
              </a:r>
              <a:r>
                <a:rPr lang="zh-CN" altLang="en-US" sz="1600" dirty="0">
                  <a:latin typeface="Times New Roman" panose="02020603050405020304" pitchFamily="18" charset="0"/>
                </a:rPr>
                <a:t>使用系统主要功能</a:t>
              </a:r>
              <a:endParaRPr lang="zh-CN" altLang="en-US" sz="1600" dirty="0">
                <a:latin typeface="Times New Roman" panose="02020603050405020304" pitchFamily="18" charset="0"/>
              </a:endParaRPr>
            </a:p>
            <a:p>
              <a:pPr marL="0" lvl="0" indent="0" eaLnBrk="1" hangingPunct="1">
                <a:lnSpc>
                  <a:spcPct val="100000"/>
                </a:lnSpc>
                <a:spcBef>
                  <a:spcPct val="15000"/>
                </a:spcBef>
                <a:buClrTx/>
                <a:buSzTx/>
                <a:buFontTx/>
                <a:buNone/>
              </a:pPr>
              <a:r>
                <a:rPr lang="zh-CN" altLang="en-US" sz="1600" dirty="0">
                  <a:latin typeface="Times New Roman" panose="02020603050405020304" pitchFamily="18" charset="0"/>
                </a:rPr>
                <a:t> </a:t>
              </a:r>
              <a:r>
                <a:rPr lang="en-US" altLang="zh-CN" sz="1600" dirty="0">
                  <a:latin typeface="Times New Roman" panose="02020603050405020304" pitchFamily="18" charset="0"/>
                </a:rPr>
                <a:t>(2)</a:t>
              </a:r>
              <a:r>
                <a:rPr lang="zh-CN" altLang="en-US" sz="1600" dirty="0">
                  <a:latin typeface="Times New Roman" panose="02020603050405020304" pitchFamily="18" charset="0"/>
                </a:rPr>
                <a:t>对系统运行结果感</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兴趣</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endParaRPr lang="en-US" altLang="zh-CN" sz="1600" dirty="0">
                <a:latin typeface="Times New Roman" panose="02020603050405020304" pitchFamily="18" charset="0"/>
              </a:endParaRPr>
            </a:p>
          </p:txBody>
        </p:sp>
        <p:sp>
          <p:nvSpPr>
            <p:cNvPr id="13" name="Rectangle 8"/>
            <p:cNvSpPr>
              <a:spLocks noChangeArrowheads="1"/>
            </p:cNvSpPr>
            <p:nvPr/>
          </p:nvSpPr>
          <p:spPr bwMode="auto">
            <a:xfrm>
              <a:off x="3360" y="480"/>
              <a:ext cx="1248" cy="1488"/>
            </a:xfrm>
            <a:prstGeom prst="rect">
              <a:avLst/>
            </a:prstGeom>
            <a:noFill/>
            <a:ln w="63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grpSp>
        <p:nvGrpSpPr>
          <p:cNvPr id="54280" name="Group 9"/>
          <p:cNvGrpSpPr/>
          <p:nvPr/>
        </p:nvGrpSpPr>
        <p:grpSpPr>
          <a:xfrm>
            <a:off x="6791325" y="3136900"/>
            <a:ext cx="2101850" cy="2751138"/>
            <a:chOff x="3408" y="2304"/>
            <a:chExt cx="1200" cy="1595"/>
          </a:xfrm>
        </p:grpSpPr>
        <p:sp>
          <p:nvSpPr>
            <p:cNvPr id="54281" name="Rectangle 10"/>
            <p:cNvSpPr/>
            <p:nvPr/>
          </p:nvSpPr>
          <p:spPr>
            <a:xfrm>
              <a:off x="3460" y="2359"/>
              <a:ext cx="1107" cy="1501"/>
            </a:xfrm>
            <a:prstGeom prst="rect">
              <a:avLst/>
            </a:prstGeom>
            <a:noFill/>
            <a:ln w="6350"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endParaRPr lang="en-US" altLang="zh-CN" sz="10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solidFill>
                    <a:schemeClr val="tx2"/>
                  </a:solidFill>
                  <a:latin typeface="Times New Roman" panose="02020603050405020304" pitchFamily="18" charset="0"/>
                </a:rPr>
                <a:t>角色</a:t>
              </a:r>
              <a:r>
                <a:rPr lang="en-US" altLang="zh-CN" sz="1600" dirty="0">
                  <a:solidFill>
                    <a:schemeClr val="tx2"/>
                  </a:solidFill>
                  <a:latin typeface="Times New Roman" panose="02020603050405020304" pitchFamily="18" charset="0"/>
                </a:rPr>
                <a:t>:</a:t>
              </a:r>
              <a:r>
                <a:rPr lang="zh-CN" altLang="en-US" sz="1600" dirty="0">
                  <a:latin typeface="Times New Roman" panose="02020603050405020304" pitchFamily="18" charset="0"/>
                </a:rPr>
                <a:t>标准病症信号库</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solidFill>
                    <a:schemeClr val="tx2"/>
                  </a:solidFill>
                  <a:latin typeface="Times New Roman" panose="02020603050405020304" pitchFamily="18" charset="0"/>
                </a:rPr>
                <a:t>角色职责：</a:t>
              </a: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负责向系统提供病症</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信号的正常值</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solidFill>
                    <a:schemeClr val="tx2"/>
                  </a:solidFill>
                  <a:latin typeface="Times New Roman" panose="02020603050405020304" pitchFamily="18" charset="0"/>
                </a:rPr>
                <a:t>角色职责识别：</a:t>
              </a:r>
              <a:endParaRPr lang="zh-CN" altLang="en-US" sz="1600" dirty="0">
                <a:solidFill>
                  <a:schemeClr val="tx2"/>
                </a:solidFill>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 </a:t>
              </a:r>
              <a:r>
                <a:rPr lang="en-US" altLang="zh-CN" sz="1600" dirty="0">
                  <a:latin typeface="Times New Roman" panose="02020603050405020304" pitchFamily="18" charset="0"/>
                </a:rPr>
                <a:t>(1)</a:t>
              </a:r>
              <a:r>
                <a:rPr lang="zh-CN" altLang="en-US" sz="1600" dirty="0">
                  <a:latin typeface="Times New Roman" panose="02020603050405020304" pitchFamily="18" charset="0"/>
                </a:rPr>
                <a:t>负责保持系统</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正常运行</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r>
                <a:rPr lang="zh-CN" altLang="en-US" sz="1600" dirty="0">
                  <a:latin typeface="Times New Roman" panose="02020603050405020304" pitchFamily="18" charset="0"/>
                </a:rPr>
                <a:t> </a:t>
              </a:r>
              <a:r>
                <a:rPr lang="en-US" altLang="zh-CN" sz="1600" dirty="0">
                  <a:latin typeface="Times New Roman" panose="02020603050405020304" pitchFamily="18" charset="0"/>
                </a:rPr>
                <a:t>(2)</a:t>
              </a:r>
              <a:r>
                <a:rPr lang="zh-CN" altLang="en-US" sz="1600" dirty="0">
                  <a:latin typeface="Times New Roman" panose="02020603050405020304" pitchFamily="18" charset="0"/>
                </a:rPr>
                <a:t>与系统交互</a:t>
              </a:r>
              <a:endParaRPr lang="zh-CN" altLang="en-US" sz="1600" dirty="0">
                <a:latin typeface="Times New Roman" panose="02020603050405020304" pitchFamily="18" charset="0"/>
              </a:endParaRPr>
            </a:p>
            <a:p>
              <a:pPr marL="0" lvl="0" indent="0" eaLnBrk="1" hangingPunct="1">
                <a:lnSpc>
                  <a:spcPct val="100000"/>
                </a:lnSpc>
                <a:spcBef>
                  <a:spcPct val="0"/>
                </a:spcBef>
                <a:buClrTx/>
                <a:buSzTx/>
                <a:buFontTx/>
                <a:buNone/>
              </a:pPr>
              <a:endParaRPr lang="en-US" altLang="zh-CN" sz="1800" dirty="0">
                <a:latin typeface="Times New Roman" panose="02020603050405020304" pitchFamily="18" charset="0"/>
              </a:endParaRPr>
            </a:p>
          </p:txBody>
        </p:sp>
        <p:sp>
          <p:nvSpPr>
            <p:cNvPr id="16" name="Rectangle 11"/>
            <p:cNvSpPr>
              <a:spLocks noChangeArrowheads="1"/>
            </p:cNvSpPr>
            <p:nvPr/>
          </p:nvSpPr>
          <p:spPr bwMode="auto">
            <a:xfrm>
              <a:off x="3408" y="2304"/>
              <a:ext cx="1200" cy="1595"/>
            </a:xfrm>
            <a:prstGeom prst="rect">
              <a:avLst/>
            </a:prstGeom>
            <a:noFill/>
            <a:ln w="6350">
              <a:solidFill>
                <a:schemeClr val="tx1"/>
              </a:solidFill>
              <a:miter lim="800000"/>
            </a:ln>
            <a:effectLst/>
          </p:spPr>
          <p:txBody>
            <a:bodyPr wrap="none" anchor="ct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en-US" dirty="0"/>
              <a:t>案例：医院病房监护系统</a:t>
            </a:r>
            <a:endParaRPr lang="zh-CN" altLang="en-US" dirty="0"/>
          </a:p>
        </p:txBody>
      </p:sp>
      <p:sp>
        <p:nvSpPr>
          <p:cNvPr id="55299" name="内容占位符 2"/>
          <p:cNvSpPr>
            <a:spLocks noGrp="1"/>
          </p:cNvSpPr>
          <p:nvPr>
            <p:ph idx="1"/>
          </p:nvPr>
        </p:nvSpPr>
        <p:spPr>
          <a:xfrm>
            <a:off x="827088" y="1196975"/>
            <a:ext cx="7391400" cy="1282700"/>
          </a:xfrm>
          <a:ln/>
        </p:spPr>
        <p:txBody>
          <a:bodyPr vert="horz" wrap="square" lIns="91440" tIns="45720" rIns="91440" bIns="45720" anchor="t" anchorCtr="0">
            <a:spAutoFit/>
          </a:bodyPr>
          <a:p>
            <a:pPr>
              <a:lnSpc>
                <a:spcPct val="110000"/>
              </a:lnSpc>
              <a:buSzPct val="70000"/>
            </a:pPr>
            <a:r>
              <a:rPr lang="zh-CN" altLang="en-US" dirty="0">
                <a:latin typeface="华文中宋" panose="02010600040101010101" pitchFamily="2" charset="-122"/>
                <a:ea typeface="华文中宋" panose="02010600040101010101" pitchFamily="2" charset="-122"/>
                <a:cs typeface="+mn-cs"/>
              </a:rPr>
              <a:t>通过分析可以初步识别出系统的用例为：中央监护，病症监护，提供标准病症信号，病历管理，病情报告管理。顶层用例图为：</a:t>
            </a:r>
            <a:endParaRPr lang="zh-CN" altLang="en-US" dirty="0">
              <a:latin typeface="华文中宋" panose="02010600040101010101" pitchFamily="2" charset="-122"/>
              <a:ea typeface="华文中宋" panose="02010600040101010101" pitchFamily="2" charset="-122"/>
              <a:cs typeface="+mn-cs"/>
            </a:endParaRPr>
          </a:p>
        </p:txBody>
      </p:sp>
      <p:sp>
        <p:nvSpPr>
          <p:cNvPr id="553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graphicFrame>
        <p:nvGraphicFramePr>
          <p:cNvPr id="55301" name="对象 2"/>
          <p:cNvGraphicFramePr>
            <a:graphicFrameLocks noChangeAspect="1"/>
          </p:cNvGraphicFramePr>
          <p:nvPr/>
        </p:nvGraphicFramePr>
        <p:xfrm>
          <a:off x="1238250" y="2479675"/>
          <a:ext cx="6842125" cy="3960813"/>
        </p:xfrm>
        <a:graphic>
          <a:graphicData uri="http://schemas.openxmlformats.org/presentationml/2006/ole">
            <mc:AlternateContent xmlns:mc="http://schemas.openxmlformats.org/markup-compatibility/2006">
              <mc:Choice xmlns:v="urn:schemas-microsoft-com:vml" Requires="v">
                <p:oleObj spid="_x0000_s3082" name="" r:id="rId1" imgW="9462135" imgH="5496560" progId="Visio.Drawing.15">
                  <p:embed/>
                </p:oleObj>
              </mc:Choice>
              <mc:Fallback>
                <p:oleObj name="" r:id="rId1" imgW="9462135" imgH="5496560" progId="Visio.Drawing.15">
                  <p:embed/>
                  <p:pic>
                    <p:nvPicPr>
                      <p:cNvPr id="0" name="图片 3081"/>
                      <p:cNvPicPr/>
                      <p:nvPr/>
                    </p:nvPicPr>
                    <p:blipFill>
                      <a:blip r:embed="rId2"/>
                      <a:stretch>
                        <a:fillRect/>
                      </a:stretch>
                    </p:blipFill>
                    <p:spPr>
                      <a:xfrm>
                        <a:off x="1238250" y="2479675"/>
                        <a:ext cx="6842125" cy="3960813"/>
                      </a:xfrm>
                      <a:prstGeom prst="rect">
                        <a:avLst/>
                      </a:prstGeom>
                      <a:noFill/>
                      <a:ln w="38100">
                        <a:noFill/>
                        <a:miter/>
                      </a:ln>
                    </p:spPr>
                  </p:pic>
                </p:oleObj>
              </mc:Fallback>
            </mc:AlternateContent>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zh-CN" altLang="en-US" dirty="0"/>
              <a:t>例子：医院病房监护系统</a:t>
            </a:r>
            <a:endParaRPr lang="zh-CN" altLang="en-US" dirty="0"/>
          </a:p>
        </p:txBody>
      </p:sp>
      <p:sp>
        <p:nvSpPr>
          <p:cNvPr id="63491" name="内容占位符 2"/>
          <p:cNvSpPr>
            <a:spLocks noGrp="1" noChangeArrowheads="1"/>
          </p:cNvSpPr>
          <p:nvPr>
            <p:ph idx="1"/>
          </p:nvPr>
        </p:nvSpPr>
        <p:spPr>
          <a:xfrm>
            <a:off x="827088" y="1052513"/>
            <a:ext cx="7391400" cy="62801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将用例细化，可以得到分解的用例：</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 </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中央监护</a:t>
            </a:r>
            <a:endPar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分解为</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分解信号 将从病症监护器传送来的组合病症信号分解为系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统可以处理的信号。</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b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比较信号  将病人的病症信号与标准信号比较 。</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报警  如果病症信号发生异常</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即高于峰值</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，发出报警信号。</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d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数据格式化  将处理后的数据格式化以便写入病历库 。</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病症监护</a:t>
            </a:r>
            <a:endPar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分解为：</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e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信号采集  采集病人的病症信号。</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f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模数转化  将采集来的模拟信号转化为数字信号。</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信号数据组合   将采集到的脉搏，血压等信号数据组合为一组信</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号数据。</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h  </a:t>
            </a:r>
            <a:r>
              <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采样频率改变   根据病人的情况改变监视器采样频率。</a:t>
            </a:r>
            <a:endParaRPr kumimoji="0" lang="zh-CN" altLang="en-US" sz="17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 </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提供标准病症信号 </a:t>
            </a:r>
            <a:r>
              <a:rPr kumimoji="0" lang="en-US" altLang="zh-CN" sz="2000" b="1"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i</a:t>
            </a: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此用例不分解</a:t>
            </a: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63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zh-CN" altLang="en-US" dirty="0"/>
              <a:t>例子：医院病房监护系统</a:t>
            </a:r>
            <a:endParaRPr lang="zh-CN" altLang="en-US" dirty="0"/>
          </a:p>
        </p:txBody>
      </p:sp>
      <p:sp>
        <p:nvSpPr>
          <p:cNvPr id="57347" name="内容占位符 2"/>
          <p:cNvSpPr>
            <a:spLocks noGrp="1"/>
          </p:cNvSpPr>
          <p:nvPr>
            <p:ph idx="1"/>
          </p:nvPr>
        </p:nvSpPr>
        <p:spPr>
          <a:xfrm>
            <a:off x="827088" y="1196975"/>
            <a:ext cx="7391400" cy="4689475"/>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b="1" dirty="0">
                <a:latin typeface="华文中宋" panose="02010600040101010101" pitchFamily="2" charset="-122"/>
                <a:ea typeface="华文中宋" panose="02010600040101010101" pitchFamily="2" charset="-122"/>
                <a:cs typeface="+mn-cs"/>
              </a:rPr>
              <a:t>4. </a:t>
            </a:r>
            <a:r>
              <a:rPr lang="zh-CN" altLang="en-US" b="1" dirty="0">
                <a:latin typeface="华文中宋" panose="02010600040101010101" pitchFamily="2" charset="-122"/>
                <a:ea typeface="华文中宋" panose="02010600040101010101" pitchFamily="2" charset="-122"/>
                <a:cs typeface="+mn-cs"/>
              </a:rPr>
              <a:t>病历管理</a:t>
            </a:r>
            <a:endParaRPr lang="en-US" altLang="zh-CN"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分解为：</a:t>
            </a:r>
            <a:r>
              <a:rPr lang="en-US" altLang="zh-CN" dirty="0">
                <a:latin typeface="华文中宋" panose="02010600040101010101" pitchFamily="2" charset="-122"/>
                <a:ea typeface="华文中宋" panose="02010600040101010101" pitchFamily="2" charset="-122"/>
                <a:cs typeface="+mn-cs"/>
              </a:rPr>
              <a:t>j  </a:t>
            </a:r>
            <a:r>
              <a:rPr lang="zh-CN" altLang="en-US" dirty="0">
                <a:latin typeface="华文中宋" panose="02010600040101010101" pitchFamily="2" charset="-122"/>
                <a:ea typeface="华文中宋" panose="02010600040101010101" pitchFamily="2" charset="-122"/>
                <a:cs typeface="+mn-cs"/>
              </a:rPr>
              <a:t>生成病历</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k  </a:t>
            </a:r>
            <a:r>
              <a:rPr lang="zh-CN" altLang="en-US" dirty="0">
                <a:latin typeface="华文中宋" panose="02010600040101010101" pitchFamily="2" charset="-122"/>
                <a:ea typeface="华文中宋" panose="02010600040101010101" pitchFamily="2" charset="-122"/>
                <a:cs typeface="+mn-cs"/>
              </a:rPr>
              <a:t>查看病历</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l   </a:t>
            </a:r>
            <a:r>
              <a:rPr lang="zh-CN" altLang="en-US" dirty="0">
                <a:latin typeface="华文中宋" panose="02010600040101010101" pitchFamily="2" charset="-122"/>
                <a:ea typeface="华文中宋" panose="02010600040101010101" pitchFamily="2" charset="-122"/>
                <a:cs typeface="+mn-cs"/>
              </a:rPr>
              <a:t>更新病历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m  </a:t>
            </a:r>
            <a:r>
              <a:rPr lang="zh-CN" altLang="en-US" dirty="0">
                <a:latin typeface="华文中宋" panose="02010600040101010101" pitchFamily="2" charset="-122"/>
                <a:ea typeface="华文中宋" panose="02010600040101010101" pitchFamily="2" charset="-122"/>
                <a:cs typeface="+mn-cs"/>
              </a:rPr>
              <a:t>打印病历 </a:t>
            </a:r>
            <a:endParaRPr lang="en-US"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b="1" dirty="0">
                <a:latin typeface="华文中宋" panose="02010600040101010101" pitchFamily="2" charset="-122"/>
                <a:ea typeface="华文中宋" panose="02010600040101010101" pitchFamily="2" charset="-122"/>
                <a:cs typeface="+mn-cs"/>
              </a:rPr>
              <a:t>5. </a:t>
            </a:r>
            <a:r>
              <a:rPr lang="zh-CN" altLang="en-US" b="1" dirty="0">
                <a:latin typeface="华文中宋" panose="02010600040101010101" pitchFamily="2" charset="-122"/>
                <a:ea typeface="华文中宋" panose="02010600040101010101" pitchFamily="2" charset="-122"/>
                <a:cs typeface="+mn-cs"/>
              </a:rPr>
              <a:t>病情报告</a:t>
            </a:r>
            <a:endParaRPr lang="en-US" altLang="zh-CN"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分解为：</a:t>
            </a:r>
            <a:r>
              <a:rPr lang="en-US" altLang="zh-CN" dirty="0">
                <a:latin typeface="华文中宋" panose="02010600040101010101" pitchFamily="2" charset="-122"/>
                <a:ea typeface="华文中宋" panose="02010600040101010101" pitchFamily="2" charset="-122"/>
                <a:cs typeface="+mn-cs"/>
              </a:rPr>
              <a:t>n  </a:t>
            </a:r>
            <a:r>
              <a:rPr lang="zh-CN" altLang="en-US" dirty="0">
                <a:latin typeface="华文中宋" panose="02010600040101010101" pitchFamily="2" charset="-122"/>
                <a:ea typeface="华文中宋" panose="02010600040101010101" pitchFamily="2" charset="-122"/>
                <a:cs typeface="+mn-cs"/>
              </a:rPr>
              <a:t>显示病情报告   在显示器上显示病情</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o  </a:t>
            </a:r>
            <a:r>
              <a:rPr lang="zh-CN" altLang="en-US" dirty="0">
                <a:latin typeface="华文中宋" panose="02010600040101010101" pitchFamily="2" charset="-122"/>
                <a:ea typeface="华文中宋" panose="02010600040101010101" pitchFamily="2" charset="-122"/>
                <a:cs typeface="+mn-cs"/>
              </a:rPr>
              <a:t>打印病情报告    在打印机打印病情报告</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练习：画出用例图</a:t>
            </a:r>
            <a:endParaRPr lang="en-US" altLang="zh-CN" dirty="0">
              <a:latin typeface="华文中宋" panose="02010600040101010101" pitchFamily="2" charset="-122"/>
              <a:ea typeface="华文中宋" panose="020106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xfrm>
            <a:off x="1339850" y="100013"/>
            <a:ext cx="6365875" cy="685800"/>
          </a:xfrm>
          <a:ln/>
        </p:spPr>
        <p:txBody>
          <a:bodyPr vert="horz" wrap="square" lIns="91440" tIns="45720" rIns="91440" bIns="45720" anchor="ctr" anchorCtr="0"/>
          <a:p>
            <a:r>
              <a:rPr lang="zh-CN" altLang="en-US" dirty="0"/>
              <a:t>例子：医院病房监护系统细化的用例图</a:t>
            </a:r>
            <a:endParaRPr lang="zh-CN" altLang="en-US" dirty="0"/>
          </a:p>
        </p:txBody>
      </p:sp>
      <p:sp>
        <p:nvSpPr>
          <p:cNvPr id="5837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solidFill>
                  <a:srgbClr val="3333CC"/>
                </a:solidFill>
                <a:latin typeface="Times New Roman" panose="02020603050405020304" pitchFamily="18" charset="0"/>
                <a:ea typeface="宋体" panose="02010600030101010101" pitchFamily="2" charset="-122"/>
              </a:rPr>
              <a:t>　　</a:t>
            </a:r>
            <a:fld id="{9A0DB2DC-4C9A-4742-B13C-FB6460FD3503}" type="slidenum">
              <a:rPr lang="en-US" altLang="zh-CN" sz="1800" dirty="0">
                <a:solidFill>
                  <a:srgbClr val="3333CC"/>
                </a:solidFill>
                <a:latin typeface="Times New Roman" panose="02020603050405020304" pitchFamily="18" charset="0"/>
                <a:ea typeface="宋体" panose="02010600030101010101" pitchFamily="2" charset="-122"/>
              </a:rPr>
            </a:fld>
            <a:r>
              <a:rPr lang="zh-CN" altLang="zh-CN" sz="1800" dirty="0">
                <a:solidFill>
                  <a:srgbClr val="3333CC"/>
                </a:solidFill>
                <a:latin typeface="Times New Roman" panose="02020603050405020304" pitchFamily="18" charset="0"/>
                <a:ea typeface="宋体" panose="02010600030101010101" pitchFamily="2" charset="-122"/>
              </a:rPr>
              <a:t>　　　　　　</a:t>
            </a:r>
            <a:endParaRPr lang="zh-CN" altLang="zh-CN" sz="1800" dirty="0">
              <a:solidFill>
                <a:srgbClr val="3333CC"/>
              </a:solidFill>
              <a:latin typeface="Times New Roman" panose="02020603050405020304" pitchFamily="18" charset="0"/>
              <a:ea typeface="宋体" panose="02010600030101010101" pitchFamily="2" charset="-122"/>
            </a:endParaRPr>
          </a:p>
        </p:txBody>
      </p:sp>
      <p:sp>
        <p:nvSpPr>
          <p:cNvPr id="58372" name="Rectangle 92"/>
          <p:cNvSpPr/>
          <p:nvPr/>
        </p:nvSpPr>
        <p:spPr>
          <a:xfrm>
            <a:off x="0" y="0"/>
            <a:ext cx="9144000" cy="0"/>
          </a:xfrm>
          <a:prstGeom prst="rect">
            <a:avLst/>
          </a:prstGeom>
          <a:noFill/>
          <a:ln w="9525">
            <a:noFill/>
          </a:ln>
        </p:spPr>
        <p:txBody>
          <a:bodyPr wrap="none" anchor="ctr" anchorCtr="0">
            <a:spAutoFit/>
          </a:bodyPr>
          <a:p>
            <a:endParaRPr lang="zh-CN" altLang="en-US" dirty="0">
              <a:latin typeface="华文中宋" panose="02010600040101010101" pitchFamily="2" charset="-122"/>
            </a:endParaRPr>
          </a:p>
        </p:txBody>
      </p:sp>
      <p:graphicFrame>
        <p:nvGraphicFramePr>
          <p:cNvPr id="58373" name="对象 2"/>
          <p:cNvGraphicFramePr>
            <a:graphicFrameLocks noChangeAspect="1"/>
          </p:cNvGraphicFramePr>
          <p:nvPr/>
        </p:nvGraphicFramePr>
        <p:xfrm>
          <a:off x="611188" y="1206500"/>
          <a:ext cx="8137525" cy="5199063"/>
        </p:xfrm>
        <a:graphic>
          <a:graphicData uri="http://schemas.openxmlformats.org/presentationml/2006/ole">
            <mc:AlternateContent xmlns:mc="http://schemas.openxmlformats.org/markup-compatibility/2006">
              <mc:Choice xmlns:v="urn:schemas-microsoft-com:vml" Requires="v">
                <p:oleObj spid="_x0000_s3083" name="" r:id="rId1" imgW="12045950" imgH="7702550" progId="Visio.Drawing.15">
                  <p:embed/>
                </p:oleObj>
              </mc:Choice>
              <mc:Fallback>
                <p:oleObj name="" r:id="rId1" imgW="12045950" imgH="7702550" progId="Visio.Drawing.15">
                  <p:embed/>
                  <p:pic>
                    <p:nvPicPr>
                      <p:cNvPr id="0" name="图片 3082"/>
                      <p:cNvPicPr/>
                      <p:nvPr/>
                    </p:nvPicPr>
                    <p:blipFill>
                      <a:blip r:embed="rId2"/>
                      <a:stretch>
                        <a:fillRect/>
                      </a:stretch>
                    </p:blipFill>
                    <p:spPr>
                      <a:xfrm>
                        <a:off x="611188" y="1206500"/>
                        <a:ext cx="8137525" cy="5199063"/>
                      </a:xfrm>
                      <a:prstGeom prst="rect">
                        <a:avLst/>
                      </a:prstGeom>
                      <a:noFill/>
                      <a:ln w="38100">
                        <a:noFill/>
                        <a:miter/>
                      </a:ln>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zh-CN" dirty="0"/>
              <a:t>案例：手机打车软件中发起打车申请的用例图</a:t>
            </a:r>
            <a:endParaRPr lang="zh-CN" altLang="en-US" dirty="0"/>
          </a:p>
        </p:txBody>
      </p:sp>
      <p:sp>
        <p:nvSpPr>
          <p:cNvPr id="5939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0420" name="对象 5"/>
          <p:cNvGraphicFramePr>
            <a:graphicFrameLocks noChangeAspect="1"/>
          </p:cNvGraphicFramePr>
          <p:nvPr/>
        </p:nvGraphicFramePr>
        <p:xfrm>
          <a:off x="250825" y="1412875"/>
          <a:ext cx="8651875" cy="4752975"/>
        </p:xfrm>
        <a:graphic>
          <a:graphicData uri="http://schemas.openxmlformats.org/presentationml/2006/ole">
            <mc:AlternateContent xmlns:mc="http://schemas.openxmlformats.org/markup-compatibility/2006">
              <mc:Choice xmlns:v="urn:schemas-microsoft-com:vml" Requires="v">
                <p:oleObj spid="_x0000_s3084" name="" r:id="rId1" imgW="14352270" imgH="7891780" progId="Visio.Drawing.15">
                  <p:embed/>
                </p:oleObj>
              </mc:Choice>
              <mc:Fallback>
                <p:oleObj name="" r:id="rId1" imgW="14352270" imgH="7891780" progId="Visio.Drawing.15">
                  <p:embed/>
                  <p:pic>
                    <p:nvPicPr>
                      <p:cNvPr id="0" name="图片 3083"/>
                      <p:cNvPicPr/>
                      <p:nvPr/>
                    </p:nvPicPr>
                    <p:blipFill>
                      <a:blip r:embed="rId2"/>
                      <a:stretch>
                        <a:fillRect/>
                      </a:stretch>
                    </p:blipFill>
                    <p:spPr>
                      <a:xfrm>
                        <a:off x="250825" y="1412875"/>
                        <a:ext cx="8651875" cy="47529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xfrm>
            <a:off x="1468438" y="260350"/>
            <a:ext cx="6365875" cy="685800"/>
          </a:xfrm>
          <a:ln/>
        </p:spPr>
        <p:txBody>
          <a:bodyPr vert="horz" wrap="square" lIns="91440" tIns="45720" rIns="91440" bIns="45720" anchor="ctr" anchorCtr="0"/>
          <a:p>
            <a:r>
              <a:rPr lang="zh-CN" altLang="en-US" dirty="0"/>
              <a:t>４</a:t>
            </a:r>
            <a:r>
              <a:rPr lang="en-US" altLang="zh-CN" dirty="0"/>
              <a:t> </a:t>
            </a:r>
            <a:r>
              <a:rPr lang="zh-CN" altLang="en-US" dirty="0"/>
              <a:t>活动图</a:t>
            </a:r>
            <a:endParaRPr lang="zh-CN" altLang="en-US" dirty="0"/>
          </a:p>
        </p:txBody>
      </p:sp>
      <p:sp>
        <p:nvSpPr>
          <p:cNvPr id="21507" name="内容占位符 2"/>
          <p:cNvSpPr>
            <a:spLocks noGrp="1"/>
          </p:cNvSpPr>
          <p:nvPr>
            <p:ph idx="1"/>
          </p:nvPr>
        </p:nvSpPr>
        <p:spPr>
          <a:xfrm>
            <a:off x="827088" y="1196975"/>
            <a:ext cx="7561263" cy="47958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４．</a:t>
            </a:r>
            <a:r>
              <a:rPr kumimoji="0" lang="en-US" altLang="zh-CN" sz="28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 </a:t>
            </a:r>
            <a:r>
              <a:rPr kumimoji="0" lang="zh-CN" altLang="en-US" sz="28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活动图概述</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3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活动图是一种用于描述系统行为的模型视图，</a:t>
            </a: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它可用来描述过程（业务过程、工作流、事件流等）中的活动及其迁移。</a:t>
            </a:r>
            <a:r>
              <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简单地讲，活动图是“面向对象的流程图”。</a:t>
            </a:r>
            <a:endPar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活动图能够附加在如下建模元素中以描述该元素的行为</a:t>
            </a:r>
            <a:r>
              <a:rPr kumimoji="0" lang="en-US" altLang="zh-CN"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29130" marR="0" lvl="4" indent="-228600" algn="just" defTabSz="914400" rtl="0" eaLnBrk="0" fontAlgn="base" latinLnBrk="0" hangingPunct="0">
              <a:lnSpc>
                <a:spcPct val="110000"/>
              </a:lnSpc>
              <a:spcBef>
                <a:spcPct val="20000"/>
              </a:spcBef>
              <a:spcAft>
                <a:spcPct val="0"/>
              </a:spcAft>
              <a:buClr>
                <a:schemeClr val="accent2">
                  <a:lumMod val="75000"/>
                </a:schemeClr>
              </a:buClr>
              <a:buSzTx/>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用例</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29130" marR="0" lvl="4" indent="-228600" algn="just" defTabSz="914400" rtl="0" eaLnBrk="0" fontAlgn="base" latinLnBrk="0" hangingPunct="0">
              <a:lnSpc>
                <a:spcPct val="110000"/>
              </a:lnSpc>
              <a:spcBef>
                <a:spcPct val="20000"/>
              </a:spcBef>
              <a:spcAft>
                <a:spcPct val="0"/>
              </a:spcAft>
              <a:buClr>
                <a:schemeClr val="accent2">
                  <a:lumMod val="75000"/>
                </a:schemeClr>
              </a:buClr>
              <a:buSzTx/>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类</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29130" marR="0" lvl="4" indent="-228600" algn="just" defTabSz="914400" rtl="0" eaLnBrk="0" fontAlgn="base" latinLnBrk="0" hangingPunct="0">
              <a:lnSpc>
                <a:spcPct val="110000"/>
              </a:lnSpc>
              <a:spcBef>
                <a:spcPct val="20000"/>
              </a:spcBef>
              <a:spcAft>
                <a:spcPct val="0"/>
              </a:spcAft>
              <a:buClr>
                <a:schemeClr val="accent2">
                  <a:lumMod val="75000"/>
                </a:schemeClr>
              </a:buClr>
              <a:buSzTx/>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接口</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29130" marR="0" lvl="4" indent="-228600" algn="just" defTabSz="914400" rtl="0" eaLnBrk="0" fontAlgn="base" latinLnBrk="0" hangingPunct="0">
              <a:lnSpc>
                <a:spcPct val="110000"/>
              </a:lnSpc>
              <a:spcBef>
                <a:spcPct val="20000"/>
              </a:spcBef>
              <a:spcAft>
                <a:spcPct val="0"/>
              </a:spcAft>
              <a:buClr>
                <a:schemeClr val="accent2">
                  <a:lumMod val="75000"/>
                </a:schemeClr>
              </a:buClr>
              <a:buSzTx/>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组件</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1929130" marR="0" lvl="4" indent="-228600" algn="just" defTabSz="914400" rtl="0" eaLnBrk="0" fontAlgn="base" latinLnBrk="0" hangingPunct="0">
              <a:lnSpc>
                <a:spcPct val="110000"/>
              </a:lnSpc>
              <a:spcBef>
                <a:spcPct val="20000"/>
              </a:spcBef>
              <a:spcAft>
                <a:spcPct val="0"/>
              </a:spcAft>
              <a:buClr>
                <a:schemeClr val="accent2">
                  <a:lumMod val="75000"/>
                </a:schemeClr>
              </a:buClr>
              <a:buSzTx/>
              <a:buFont typeface="Arial" panose="020B0604020202020204" pitchFamily="34" charset="0"/>
              <a:buChar char="•"/>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节点</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活动图的特点</a:t>
            </a:r>
            <a:endParaRPr lang="zh-CN" altLang="en-US" dirty="0"/>
          </a:p>
        </p:txBody>
      </p:sp>
      <p:sp>
        <p:nvSpPr>
          <p:cNvPr id="61443" name="内容占位符 2"/>
          <p:cNvSpPr>
            <a:spLocks noGrp="1"/>
          </p:cNvSpPr>
          <p:nvPr>
            <p:ph idx="1"/>
          </p:nvPr>
        </p:nvSpPr>
        <p:spPr>
          <a:xfrm>
            <a:off x="827088" y="1268413"/>
            <a:ext cx="7921625" cy="3292475"/>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活动图可以</a:t>
            </a:r>
            <a:r>
              <a:rPr lang="zh-CN" altLang="zh-CN" dirty="0">
                <a:solidFill>
                  <a:srgbClr val="0070C0"/>
                </a:solidFill>
                <a:latin typeface="华文中宋" panose="02010600040101010101" pitchFamily="2" charset="-122"/>
                <a:ea typeface="华文中宋" panose="02010600040101010101" pitchFamily="2" charset="-122"/>
                <a:cs typeface="+mn-cs"/>
              </a:rPr>
              <a:t>有效地描述整个系统的流程</a:t>
            </a:r>
            <a:r>
              <a:rPr lang="zh-CN" altLang="zh-CN" dirty="0">
                <a:latin typeface="华文中宋" panose="02010600040101010101" pitchFamily="2" charset="-122"/>
                <a:ea typeface="华文中宋" panose="02010600040101010101" pitchFamily="2" charset="-122"/>
                <a:cs typeface="+mn-cs"/>
              </a:rPr>
              <a:t>，即活动图描述的是系统的全局的动态行为。</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系统任务中存在大量的并发活动，只有活动图是</a:t>
            </a:r>
            <a:r>
              <a:rPr lang="zh-CN" altLang="zh-CN" dirty="0">
                <a:solidFill>
                  <a:srgbClr val="0066FF"/>
                </a:solidFill>
                <a:latin typeface="华文中宋" panose="02010600040101010101" pitchFamily="2" charset="-122"/>
                <a:ea typeface="华文中宋" panose="02010600040101010101" pitchFamily="2" charset="-122"/>
                <a:cs typeface="+mn-cs"/>
              </a:rPr>
              <a:t>唯一能够描述并发活动的</a:t>
            </a:r>
            <a:r>
              <a:rPr lang="en-US" altLang="zh-CN" dirty="0">
                <a:solidFill>
                  <a:srgbClr val="0066FF"/>
                </a:solidFill>
                <a:latin typeface="华文中宋" panose="02010600040101010101" pitchFamily="2" charset="-122"/>
                <a:ea typeface="华文中宋" panose="02010600040101010101" pitchFamily="2" charset="-122"/>
                <a:cs typeface="+mn-cs"/>
              </a:rPr>
              <a:t>UML</a:t>
            </a:r>
            <a:r>
              <a:rPr lang="zh-CN" altLang="zh-CN" dirty="0">
                <a:solidFill>
                  <a:srgbClr val="0066FF"/>
                </a:solidFill>
                <a:latin typeface="华文中宋" panose="02010600040101010101" pitchFamily="2" charset="-122"/>
                <a:ea typeface="华文中宋" panose="02010600040101010101" pitchFamily="2" charset="-122"/>
                <a:cs typeface="+mn-cs"/>
              </a:rPr>
              <a:t>图</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活动图还描述了系统中</a:t>
            </a:r>
            <a:r>
              <a:rPr lang="zh-CN" altLang="zh-CN" dirty="0">
                <a:solidFill>
                  <a:srgbClr val="0070C0"/>
                </a:solidFill>
                <a:latin typeface="华文中宋" panose="02010600040101010101" pitchFamily="2" charset="-122"/>
                <a:ea typeface="华文中宋" panose="02010600040101010101" pitchFamily="2" charset="-122"/>
                <a:cs typeface="+mn-cs"/>
              </a:rPr>
              <a:t>各种活动的执行的顺序</a:t>
            </a:r>
            <a:r>
              <a:rPr lang="zh-CN" altLang="zh-CN" dirty="0">
                <a:latin typeface="华文中宋" panose="02010600040101010101" pitchFamily="2" charset="-122"/>
                <a:ea typeface="华文中宋" panose="02010600040101010101" pitchFamily="2" charset="-122"/>
                <a:cs typeface="+mn-cs"/>
              </a:rPr>
              <a:t>，刻画一个方法中所要进行的各项活动的执行流程。</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活动图能够充分</a:t>
            </a:r>
            <a:r>
              <a:rPr lang="zh-CN" altLang="zh-CN" dirty="0">
                <a:solidFill>
                  <a:srgbClr val="0070C0"/>
                </a:solidFill>
                <a:latin typeface="华文中宋" panose="02010600040101010101" pitchFamily="2" charset="-122"/>
                <a:ea typeface="华文中宋" panose="02010600040101010101" pitchFamily="2" charset="-122"/>
                <a:cs typeface="+mn-cs"/>
              </a:rPr>
              <a:t>刻画不同参与者之间的交互行为</a:t>
            </a:r>
            <a:r>
              <a:rPr lang="zh-CN" altLang="zh-CN"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活动图</a:t>
            </a:r>
            <a:r>
              <a:rPr kumimoji="0"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的</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主要</a:t>
            </a:r>
            <a:r>
              <a:rPr kumimoji="0" lang="zh-CN" altLang="en-US" sz="2800" b="1"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应用</a:t>
            </a:r>
            <a:endParaRPr kumimoji="0" lang="zh-CN" altLang="en-US"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1507" name="内容占位符 2"/>
          <p:cNvSpPr>
            <a:spLocks noGrp="1"/>
          </p:cNvSpPr>
          <p:nvPr>
            <p:ph idx="1"/>
          </p:nvPr>
        </p:nvSpPr>
        <p:spPr>
          <a:xfrm>
            <a:off x="374650" y="1046163"/>
            <a:ext cx="8569325" cy="50165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．描述用例的行为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活动图对用例描述尤其有用，</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它可建模用例的工作流，</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显示用例内部和用例之间的路径；</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它也可以向读者说明需要满足什么条件用例才会有效，以及用例完成后系统保留的条件或者</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状态</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．理解工作流程</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活动图对</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理解业务处理过程</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十分有用。可以画出描述业务工作流的活动图与领域专家进行交流，明确业务处理操作是如何进行的将会有怎样的变化。</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．描述复杂过程的算法</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在这种情况下使用的活动图不过是</a:t>
            </a:r>
            <a:r>
              <a:rPr kumimoji="0" lang="en-US" altLang="zh-CN"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UML</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版的程序流程图，</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常规的顺序、分支过程在活动图中都能得到充分的表现</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8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en-US" altLang="zh-CN" dirty="0"/>
              <a:t>4.2 </a:t>
            </a:r>
            <a:r>
              <a:rPr lang="zh-CN" altLang="en-US" dirty="0"/>
              <a:t>活动图元素</a:t>
            </a:r>
            <a:endParaRPr lang="zh-CN" altLang="en-US" dirty="0"/>
          </a:p>
        </p:txBody>
      </p:sp>
      <p:sp>
        <p:nvSpPr>
          <p:cNvPr id="6349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3492" name="Picture 2"/>
          <p:cNvPicPr>
            <a:picLocks noChangeAspect="1"/>
          </p:cNvPicPr>
          <p:nvPr/>
        </p:nvPicPr>
        <p:blipFill>
          <a:blip r:embed="rId1"/>
          <a:stretch>
            <a:fillRect/>
          </a:stretch>
        </p:blipFill>
        <p:spPr>
          <a:xfrm>
            <a:off x="4356100" y="1125538"/>
            <a:ext cx="4608513" cy="5033962"/>
          </a:xfrm>
          <a:prstGeom prst="rect">
            <a:avLst/>
          </a:prstGeom>
          <a:noFill/>
          <a:ln w="9525">
            <a:noFill/>
          </a:ln>
        </p:spPr>
      </p:pic>
      <p:sp>
        <p:nvSpPr>
          <p:cNvPr id="7" name="内容占位符 2"/>
          <p:cNvSpPr>
            <a:spLocks noGrp="1"/>
          </p:cNvSpPr>
          <p:nvPr>
            <p:ph idx="1"/>
          </p:nvPr>
        </p:nvSpPr>
        <p:spPr>
          <a:xfrm>
            <a:off x="468313" y="1125538"/>
            <a:ext cx="4895850" cy="44497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活动图</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保留了许多传统的流程图</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的特征，它包含如下元素：</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活动</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操作</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状态</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转移</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决策</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zh-CN" altLang="en-US" sz="28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分岔</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联结</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Char char="ü"/>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泳道</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活动</a:t>
            </a:r>
            <a:endParaRPr lang="zh-CN" altLang="en-US" dirty="0"/>
          </a:p>
        </p:txBody>
      </p:sp>
      <p:sp>
        <p:nvSpPr>
          <p:cNvPr id="21507" name="内容占位符 2"/>
          <p:cNvSpPr>
            <a:spLocks noGrp="1"/>
          </p:cNvSpPr>
          <p:nvPr>
            <p:ph idx="1"/>
          </p:nvPr>
        </p:nvSpPr>
        <p:spPr>
          <a:xfrm>
            <a:off x="827088" y="1268413"/>
            <a:ext cx="7391400" cy="44005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活动</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在活动图中，用来指示要完成某项工作的动作或表示工作流的</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步骤，</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具有内部动作的状态</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标记符是一个带有圆角的矩形，如下图所示。</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确定活动名称时应该恰</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当的命</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名，选择准确描述所发生动作的几个词。例如，</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Save File</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或者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Create New Document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就是比较恰当的活动名称，而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Run</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或者</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Update </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对读者而言是不完整的名称。</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45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4517" name="对象 2"/>
          <p:cNvGraphicFramePr>
            <a:graphicFrameLocks noChangeAspect="1"/>
          </p:cNvGraphicFramePr>
          <p:nvPr/>
        </p:nvGraphicFramePr>
        <p:xfrm>
          <a:off x="3203575" y="2565400"/>
          <a:ext cx="2357438" cy="720725"/>
        </p:xfrm>
        <a:graphic>
          <a:graphicData uri="http://schemas.openxmlformats.org/presentationml/2006/ole">
            <mc:AlternateContent xmlns:mc="http://schemas.openxmlformats.org/markup-compatibility/2006">
              <mc:Choice xmlns:v="urn:schemas-microsoft-com:vml" Requires="v">
                <p:oleObj spid="_x0000_s3086" name="" r:id="rId1" imgW="2451100" imgH="774700" progId="Visio.Drawing.15">
                  <p:embed/>
                </p:oleObj>
              </mc:Choice>
              <mc:Fallback>
                <p:oleObj name="" r:id="rId1" imgW="2451100" imgH="774700" progId="Visio.Drawing.15">
                  <p:embed/>
                  <p:pic>
                    <p:nvPicPr>
                      <p:cNvPr id="0" name="图片 3085"/>
                      <p:cNvPicPr/>
                      <p:nvPr/>
                    </p:nvPicPr>
                    <p:blipFill>
                      <a:blip r:embed="rId2"/>
                      <a:stretch>
                        <a:fillRect/>
                      </a:stretch>
                    </p:blipFill>
                    <p:spPr>
                      <a:xfrm>
                        <a:off x="3203575" y="2565400"/>
                        <a:ext cx="2357438" cy="720725"/>
                      </a:xfrm>
                      <a:prstGeom prst="rect">
                        <a:avLst/>
                      </a:prstGeom>
                      <a:noFill/>
                      <a:ln w="38100">
                        <a:noFill/>
                        <a:miter/>
                      </a:ln>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操作</a:t>
            </a:r>
            <a:endParaRPr lang="zh-CN" altLang="en-US" dirty="0"/>
          </a:p>
        </p:txBody>
      </p:sp>
      <p:sp>
        <p:nvSpPr>
          <p:cNvPr id="65539" name="内容占位符 2"/>
          <p:cNvSpPr>
            <a:spLocks noGrp="1"/>
          </p:cNvSpPr>
          <p:nvPr>
            <p:ph idx="1"/>
          </p:nvPr>
        </p:nvSpPr>
        <p:spPr>
          <a:xfrm>
            <a:off x="931863" y="1155700"/>
            <a:ext cx="7391400" cy="3071813"/>
          </a:xfrm>
          <a:ln/>
        </p:spPr>
        <p:txBody>
          <a:bodyPr vert="horz" wrap="square" lIns="91440" tIns="45720" rIns="91440" bIns="45720" anchor="t" anchorCtr="0">
            <a:spAutoFit/>
          </a:bodyPr>
          <a:p>
            <a:pPr>
              <a:lnSpc>
                <a:spcPct val="100000"/>
              </a:lnSpc>
              <a:buSzPct val="70000"/>
            </a:pPr>
            <a:r>
              <a:rPr lang="zh-CN" altLang="en-US" sz="2200" dirty="0">
                <a:latin typeface="华文中宋" panose="02010600040101010101" pitchFamily="2" charset="-122"/>
                <a:ea typeface="华文中宋" panose="02010600040101010101" pitchFamily="2" charset="-122"/>
                <a:cs typeface="+mn-cs"/>
              </a:rPr>
              <a:t>可以用操作在活动中增加更多详细的步骤。</a:t>
            </a:r>
            <a:r>
              <a:rPr lang="zh-CN" altLang="en-US" sz="2200" dirty="0">
                <a:solidFill>
                  <a:srgbClr val="C00000"/>
                </a:solidFill>
                <a:latin typeface="华文中宋" panose="02010600040101010101" pitchFamily="2" charset="-122"/>
                <a:ea typeface="华文中宋" panose="02010600040101010101" pitchFamily="2" charset="-122"/>
                <a:cs typeface="+mn-cs"/>
              </a:rPr>
              <a:t>操作是活动中执行的小步骤。</a:t>
            </a:r>
            <a:r>
              <a:rPr lang="zh-CN" altLang="en-US" sz="2200" dirty="0">
                <a:latin typeface="华文中宋" panose="02010600040101010101" pitchFamily="2" charset="-122"/>
                <a:ea typeface="华文中宋" panose="02010600040101010101" pitchFamily="2" charset="-122"/>
                <a:cs typeface="+mn-cs"/>
              </a:rPr>
              <a:t>在下列情况下发生：</a:t>
            </a:r>
            <a:endParaRPr lang="zh-CN" altLang="en-US" sz="2200" dirty="0">
              <a:latin typeface="华文中宋" panose="02010600040101010101" pitchFamily="2" charset="-122"/>
              <a:ea typeface="华文中宋" panose="02010600040101010101" pitchFamily="2" charset="-122"/>
              <a:cs typeface="+mn-cs"/>
            </a:endParaRPr>
          </a:p>
          <a:p>
            <a:pPr lvl="1">
              <a:lnSpc>
                <a:spcPct val="9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  进入活动时发生的操作，标有</a:t>
            </a:r>
            <a:r>
              <a:rPr lang="en-US" altLang="zh-CN" dirty="0">
                <a:latin typeface="华文中宋" panose="02010600040101010101" pitchFamily="2" charset="-122"/>
                <a:ea typeface="华文中宋" panose="02010600040101010101" pitchFamily="2" charset="-122"/>
              </a:rPr>
              <a:t>entry</a:t>
            </a:r>
            <a:r>
              <a:rPr lang="zh-CN" altLang="en-US" dirty="0">
                <a:latin typeface="华文中宋" panose="02010600040101010101" pitchFamily="2" charset="-122"/>
                <a:ea typeface="华文中宋" panose="02010600040101010101" pitchFamily="2" charset="-122"/>
              </a:rPr>
              <a:t>字样。</a:t>
            </a:r>
            <a:endParaRPr lang="zh-CN" altLang="en-US" dirty="0">
              <a:latin typeface="华文中宋" panose="02010600040101010101" pitchFamily="2" charset="-122"/>
              <a:ea typeface="华文中宋" panose="02010600040101010101" pitchFamily="2" charset="-122"/>
            </a:endParaRPr>
          </a:p>
          <a:p>
            <a:pPr lvl="1">
              <a:lnSpc>
                <a:spcPct val="9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  活动进行时发生的操作，直到离开活动，标有</a:t>
            </a:r>
            <a:r>
              <a:rPr lang="en-US" altLang="zh-CN" dirty="0">
                <a:latin typeface="华文中宋" panose="02010600040101010101" pitchFamily="2" charset="-122"/>
                <a:ea typeface="华文中宋" panose="02010600040101010101" pitchFamily="2" charset="-122"/>
              </a:rPr>
              <a:t>do</a:t>
            </a:r>
            <a:r>
              <a:rPr lang="zh-CN" altLang="en-US" dirty="0">
                <a:latin typeface="华文中宋" panose="02010600040101010101" pitchFamily="2" charset="-122"/>
                <a:ea typeface="华文中宋" panose="02010600040101010101" pitchFamily="2" charset="-122"/>
              </a:rPr>
              <a:t>字样。</a:t>
            </a:r>
            <a:endParaRPr lang="zh-CN" altLang="en-US" dirty="0">
              <a:latin typeface="华文中宋" panose="02010600040101010101" pitchFamily="2" charset="-122"/>
              <a:ea typeface="华文中宋" panose="02010600040101010101" pitchFamily="2" charset="-122"/>
            </a:endParaRPr>
          </a:p>
          <a:p>
            <a:pPr lvl="1">
              <a:lnSpc>
                <a:spcPct val="9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  离开活动时发生的操作，标有</a:t>
            </a:r>
            <a:r>
              <a:rPr lang="en-US" altLang="zh-CN" dirty="0">
                <a:latin typeface="华文中宋" panose="02010600040101010101" pitchFamily="2" charset="-122"/>
                <a:ea typeface="华文中宋" panose="02010600040101010101" pitchFamily="2" charset="-122"/>
              </a:rPr>
              <a:t>exit</a:t>
            </a:r>
            <a:r>
              <a:rPr lang="zh-CN" altLang="en-US" dirty="0">
                <a:latin typeface="华文中宋" panose="02010600040101010101" pitchFamily="2" charset="-122"/>
                <a:ea typeface="华文中宋" panose="02010600040101010101" pitchFamily="2" charset="-122"/>
              </a:rPr>
              <a:t>字样。</a:t>
            </a:r>
            <a:endParaRPr lang="zh-CN" altLang="en-US" dirty="0">
              <a:latin typeface="华文中宋" panose="02010600040101010101" pitchFamily="2" charset="-122"/>
              <a:ea typeface="华文中宋" panose="02010600040101010101" pitchFamily="2" charset="-122"/>
            </a:endParaRPr>
          </a:p>
          <a:p>
            <a:pPr lvl="1">
              <a:lnSpc>
                <a:spcPct val="9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  特定事件发生时的操作，标有</a:t>
            </a:r>
            <a:r>
              <a:rPr lang="en-US" altLang="zh-CN" dirty="0">
                <a:latin typeface="华文中宋" panose="02010600040101010101" pitchFamily="2" charset="-122"/>
                <a:ea typeface="华文中宋" panose="02010600040101010101" pitchFamily="2" charset="-122"/>
              </a:rPr>
              <a:t>event</a:t>
            </a:r>
            <a:r>
              <a:rPr lang="zh-CN" altLang="en-US" dirty="0">
                <a:latin typeface="华文中宋" panose="02010600040101010101" pitchFamily="2" charset="-122"/>
                <a:ea typeface="华文中宋" panose="02010600040101010101" pitchFamily="2" charset="-122"/>
              </a:rPr>
              <a:t>字样和事件名。</a:t>
            </a:r>
            <a:endParaRPr lang="en-US" altLang="zh-CN" dirty="0">
              <a:latin typeface="华文中宋" panose="02010600040101010101" pitchFamily="2" charset="-122"/>
              <a:ea typeface="华文中宋" panose="02010600040101010101" pitchFamily="2" charset="-122"/>
            </a:endParaRPr>
          </a:p>
          <a:p>
            <a:pPr>
              <a:lnSpc>
                <a:spcPct val="100000"/>
              </a:lnSpc>
              <a:buSzPct val="70000"/>
            </a:pPr>
            <a:r>
              <a:rPr lang="zh-CN" altLang="en-US" sz="2200" dirty="0">
                <a:solidFill>
                  <a:srgbClr val="C00000"/>
                </a:solidFill>
                <a:latin typeface="华文中宋" panose="02010600040101010101" pitchFamily="2" charset="-122"/>
                <a:ea typeface="华文中宋" panose="02010600040101010101" pitchFamily="2" charset="-122"/>
                <a:cs typeface="+mn-cs"/>
              </a:rPr>
              <a:t>操作是可选的，</a:t>
            </a:r>
            <a:r>
              <a:rPr lang="zh-CN" altLang="en-US" sz="2200" dirty="0">
                <a:latin typeface="华文中宋" panose="02010600040101010101" pitchFamily="2" charset="-122"/>
                <a:ea typeface="华文中宋" panose="02010600040101010101" pitchFamily="2" charset="-122"/>
                <a:cs typeface="+mn-cs"/>
              </a:rPr>
              <a:t>但提供的详细信息有助于后面完成系统设计。如果包括操作，则其</a:t>
            </a:r>
            <a:r>
              <a:rPr lang="zh-CN" altLang="en-US" sz="2200" dirty="0">
                <a:solidFill>
                  <a:srgbClr val="0066FF"/>
                </a:solidFill>
                <a:latin typeface="华文中宋" panose="02010600040101010101" pitchFamily="2" charset="-122"/>
                <a:ea typeface="华文中宋" panose="02010600040101010101" pitchFamily="2" charset="-122"/>
                <a:cs typeface="+mn-cs"/>
              </a:rPr>
              <a:t>在活动内显示</a:t>
            </a:r>
            <a:r>
              <a:rPr lang="zh-CN" altLang="en-US" sz="2200" dirty="0">
                <a:latin typeface="华文中宋" panose="02010600040101010101" pitchFamily="2" charset="-122"/>
                <a:ea typeface="华文中宋" panose="02010600040101010101" pitchFamily="2" charset="-122"/>
                <a:cs typeface="+mn-cs"/>
              </a:rPr>
              <a:t>，不管其属于上面哪一类。下面是带操作的活动例子。</a:t>
            </a:r>
            <a:endParaRPr lang="zh-CN" altLang="en-US" sz="2200" dirty="0">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5541" name="Picture 3"/>
          <p:cNvPicPr>
            <a:picLocks noChangeAspect="1"/>
          </p:cNvPicPr>
          <p:nvPr/>
        </p:nvPicPr>
        <p:blipFill>
          <a:blip r:embed="rId1"/>
          <a:stretch>
            <a:fillRect/>
          </a:stretch>
        </p:blipFill>
        <p:spPr>
          <a:xfrm>
            <a:off x="144463" y="4227513"/>
            <a:ext cx="8964612" cy="2125662"/>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状态</a:t>
            </a:r>
            <a:endParaRPr lang="zh-CN" altLang="en-US" dirty="0"/>
          </a:p>
        </p:txBody>
      </p:sp>
      <p:sp>
        <p:nvSpPr>
          <p:cNvPr id="26627" name="内容占位符 2"/>
          <p:cNvSpPr>
            <a:spLocks noGrp="1" noChangeArrowheads="1"/>
          </p:cNvSpPr>
          <p:nvPr>
            <p:ph idx="1"/>
          </p:nvPr>
        </p:nvSpPr>
        <p:spPr>
          <a:xfrm>
            <a:off x="827088" y="1196975"/>
            <a:ext cx="7391400" cy="27892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状态</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的标记符与活动类似，也是带圆角的矩形，但状态的圆角比较</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小。</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状态通常使用一个指示系统当前状态的单词或者短语来标识。例如，</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Stopped</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是一个状态，而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stop</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则是一个活动。</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65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6565" name="文本框 6"/>
          <p:cNvSpPr txBox="1"/>
          <p:nvPr/>
        </p:nvSpPr>
        <p:spPr>
          <a:xfrm>
            <a:off x="900113" y="5013325"/>
            <a:ext cx="7391400" cy="1200150"/>
          </a:xfrm>
          <a:prstGeom prst="rect">
            <a:avLst/>
          </a:prstGeom>
          <a:noFill/>
          <a:ln w="9525">
            <a:noFill/>
          </a:ln>
        </p:spPr>
        <p:txBody>
          <a:bodyPr>
            <a:spAutoFit/>
          </a:bodyPr>
          <a:p>
            <a:r>
              <a:rPr lang="en-US" altLang="zh-CN" dirty="0">
                <a:solidFill>
                  <a:schemeClr val="tx1"/>
                </a:solidFill>
                <a:latin typeface="华文中宋" panose="02010600040101010101" pitchFamily="2" charset="-122"/>
              </a:rPr>
              <a:t>UML</a:t>
            </a:r>
            <a:r>
              <a:rPr lang="zh-CN" altLang="en-US" dirty="0">
                <a:solidFill>
                  <a:schemeClr val="tx1"/>
                </a:solidFill>
                <a:latin typeface="华文中宋" panose="02010600040101010101" pitchFamily="2" charset="-122"/>
              </a:rPr>
              <a:t>包含两个特殊状态，即开始状态和结束状态。开始状态以实心黑点表示，结束状态以带有圆圈的实心黑点表示。</a:t>
            </a:r>
            <a:endParaRPr lang="zh-CN" altLang="en-US" dirty="0">
              <a:solidFill>
                <a:schemeClr val="tx1"/>
              </a:solidFill>
              <a:latin typeface="华文中宋" panose="02010600040101010101" pitchFamily="2" charset="-122"/>
            </a:endParaRPr>
          </a:p>
        </p:txBody>
      </p:sp>
      <p:graphicFrame>
        <p:nvGraphicFramePr>
          <p:cNvPr id="66566" name="对象 2"/>
          <p:cNvGraphicFramePr>
            <a:graphicFrameLocks noChangeAspect="1"/>
          </p:cNvGraphicFramePr>
          <p:nvPr/>
        </p:nvGraphicFramePr>
        <p:xfrm>
          <a:off x="3206750" y="3692525"/>
          <a:ext cx="2778125" cy="1087438"/>
        </p:xfrm>
        <a:graphic>
          <a:graphicData uri="http://schemas.openxmlformats.org/presentationml/2006/ole">
            <mc:AlternateContent xmlns:mc="http://schemas.openxmlformats.org/markup-compatibility/2006">
              <mc:Choice xmlns:v="urn:schemas-microsoft-com:vml" Requires="v">
                <p:oleObj spid="_x0000_s3087" name="" r:id="rId1" imgW="2534285" imgH="993775" progId="Visio.Drawing.15">
                  <p:embed/>
                </p:oleObj>
              </mc:Choice>
              <mc:Fallback>
                <p:oleObj name="" r:id="rId1" imgW="2534285" imgH="993775" progId="Visio.Drawing.15">
                  <p:embed/>
                  <p:pic>
                    <p:nvPicPr>
                      <p:cNvPr id="0" name="图片 3086"/>
                      <p:cNvPicPr/>
                      <p:nvPr/>
                    </p:nvPicPr>
                    <p:blipFill>
                      <a:blip r:embed="rId2"/>
                      <a:stretch>
                        <a:fillRect/>
                      </a:stretch>
                    </p:blipFill>
                    <p:spPr>
                      <a:xfrm>
                        <a:off x="3206750" y="3692525"/>
                        <a:ext cx="2778125" cy="1087438"/>
                      </a:xfrm>
                      <a:prstGeom prst="rect">
                        <a:avLst/>
                      </a:prstGeom>
                      <a:noFill/>
                      <a:ln w="38100">
                        <a:noFill/>
                        <a:miter/>
                      </a:ln>
                    </p:spPr>
                  </p:pic>
                </p:oleObj>
              </mc:Fallback>
            </mc:AlternateContent>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内容占位符 2"/>
          <p:cNvSpPr>
            <a:spLocks noGrp="1" noChangeArrowheads="1"/>
          </p:cNvSpPr>
          <p:nvPr>
            <p:ph idx="1"/>
          </p:nvPr>
        </p:nvSpPr>
        <p:spPr>
          <a:xfrm>
            <a:off x="827088" y="1379538"/>
            <a:ext cx="7391400" cy="10699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注意：</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每一个活动图只能有一个开始状态，但是可以有无数个结束状态。如下图所示：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758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7588" name="Picture 3"/>
          <p:cNvPicPr>
            <a:picLocks noChangeAspect="1"/>
          </p:cNvPicPr>
          <p:nvPr/>
        </p:nvPicPr>
        <p:blipFill>
          <a:blip r:embed="rId1"/>
          <a:stretch>
            <a:fillRect/>
          </a:stretch>
        </p:blipFill>
        <p:spPr>
          <a:xfrm>
            <a:off x="1116013" y="2779713"/>
            <a:ext cx="6769100" cy="1944687"/>
          </a:xfrm>
          <a:prstGeom prst="rect">
            <a:avLst/>
          </a:prstGeom>
          <a:noFill/>
          <a:ln w="9525">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转移</a:t>
            </a:r>
            <a:endParaRPr lang="zh-CN" altLang="en-US" dirty="0"/>
          </a:p>
        </p:txBody>
      </p:sp>
      <p:sp>
        <p:nvSpPr>
          <p:cNvPr id="28675" name="内容占位符 2"/>
          <p:cNvSpPr>
            <a:spLocks noGrp="1" noChangeArrowheads="1"/>
          </p:cNvSpPr>
          <p:nvPr>
            <p:ph idx="1"/>
          </p:nvPr>
        </p:nvSpPr>
        <p:spPr>
          <a:xfrm>
            <a:off x="827088" y="1196975"/>
            <a:ext cx="7391400" cy="18462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转移描述由于隐含事件引起的活动变迁，即</a:t>
            </a:r>
            <a:r>
              <a:rPr kumimoji="0" lang="zh-CN" altLang="zh-CN" sz="20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转移可以连接各</a:t>
            </a:r>
            <a:r>
              <a:rPr kumimoji="0" lang="zh-CN" altLang="zh-CN" sz="2000" b="0" i="0" u="none" strike="noStrike" kern="0" cap="none" spc="0" normalizeH="0" baseline="0" noProof="0" dirty="0" smtClean="0">
                <a:ln>
                  <a:noFill/>
                </a:ln>
                <a:solidFill>
                  <a:srgbClr val="0066FF"/>
                </a:solidFill>
                <a:effectLst/>
                <a:uLnTx/>
                <a:uFillTx/>
                <a:latin typeface="华文中宋" panose="02010600040101010101" pitchFamily="2" charset="-122"/>
                <a:ea typeface="华文中宋" panose="02010600040101010101" pitchFamily="2" charset="-122"/>
                <a:cs typeface="+mn-cs"/>
              </a:rPr>
              <a:t>活动及特殊活动</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初态、终态</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决策</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同步线</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转移</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用来指示一种状态到另一个状态的</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控制流，也可以</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显示活动之间或者状态之间的控制流。转移的标记符是带开放箭头的实线，如下图所示。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8613" name="对象 2"/>
          <p:cNvGraphicFramePr>
            <a:graphicFrameLocks noChangeAspect="1"/>
          </p:cNvGraphicFramePr>
          <p:nvPr/>
        </p:nvGraphicFramePr>
        <p:xfrm>
          <a:off x="809625" y="3644900"/>
          <a:ext cx="8085138" cy="2030413"/>
        </p:xfrm>
        <a:graphic>
          <a:graphicData uri="http://schemas.openxmlformats.org/presentationml/2006/ole">
            <mc:AlternateContent xmlns:mc="http://schemas.openxmlformats.org/markup-compatibility/2006">
              <mc:Choice xmlns:v="urn:schemas-microsoft-com:vml" Requires="v">
                <p:oleObj spid="_x0000_s3085" name="" r:id="rId1" imgW="11087100" imgH="2032000" progId="Visio.Drawing.15">
                  <p:embed/>
                </p:oleObj>
              </mc:Choice>
              <mc:Fallback>
                <p:oleObj name="" r:id="rId1" imgW="11087100" imgH="2032000" progId="Visio.Drawing.15">
                  <p:embed/>
                  <p:pic>
                    <p:nvPicPr>
                      <p:cNvPr id="0" name="图片 3084"/>
                      <p:cNvPicPr/>
                      <p:nvPr/>
                    </p:nvPicPr>
                    <p:blipFill>
                      <a:blip r:embed="rId2"/>
                      <a:stretch>
                        <a:fillRect/>
                      </a:stretch>
                    </p:blipFill>
                    <p:spPr>
                      <a:xfrm>
                        <a:off x="809625" y="3644900"/>
                        <a:ext cx="8085138" cy="2030413"/>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决策</a:t>
            </a:r>
            <a:endParaRPr lang="zh-CN" altLang="en-US" dirty="0"/>
          </a:p>
        </p:txBody>
      </p:sp>
      <p:sp>
        <p:nvSpPr>
          <p:cNvPr id="30723" name="内容占位符 2"/>
          <p:cNvSpPr>
            <a:spLocks noGrp="1" noChangeArrowheads="1"/>
          </p:cNvSpPr>
          <p:nvPr>
            <p:ph idx="1"/>
          </p:nvPr>
        </p:nvSpPr>
        <p:spPr>
          <a:xfrm>
            <a:off x="876300" y="1546225"/>
            <a:ext cx="7391400" cy="15875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决策</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是基于判断条件选择控制流继续的方向。决策的</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符号是一个小菱形标记符，然后从这里再按条件控制分支转移到满足条件的活动，如下图所示。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9637" name="Rectangle 7"/>
          <p:cNvSpPr/>
          <p:nvPr/>
        </p:nvSpPr>
        <p:spPr>
          <a:xfrm>
            <a:off x="0" y="0"/>
            <a:ext cx="9144000" cy="0"/>
          </a:xfrm>
          <a:prstGeom prst="rect">
            <a:avLst/>
          </a:prstGeom>
          <a:noFill/>
          <a:ln w="9525">
            <a:noFill/>
          </a:ln>
        </p:spPr>
        <p:txBody>
          <a:bodyPr wrap="none" anchor="ctr" anchorCtr="0">
            <a:spAutoFit/>
          </a:bodyPr>
          <a:p>
            <a:endParaRPr lang="zh-CN" altLang="en-US" dirty="0">
              <a:latin typeface="华文中宋" panose="02010600040101010101" pitchFamily="2" charset="-122"/>
            </a:endParaRPr>
          </a:p>
        </p:txBody>
      </p:sp>
      <p:graphicFrame>
        <p:nvGraphicFramePr>
          <p:cNvPr id="69638" name="对象 2"/>
          <p:cNvGraphicFramePr>
            <a:graphicFrameLocks noChangeAspect="1"/>
          </p:cNvGraphicFramePr>
          <p:nvPr/>
        </p:nvGraphicFramePr>
        <p:xfrm>
          <a:off x="2843213" y="3417888"/>
          <a:ext cx="3889375" cy="2524125"/>
        </p:xfrm>
        <a:graphic>
          <a:graphicData uri="http://schemas.openxmlformats.org/presentationml/2006/ole">
            <mc:AlternateContent xmlns:mc="http://schemas.openxmlformats.org/markup-compatibility/2006">
              <mc:Choice xmlns:v="urn:schemas-microsoft-com:vml" Requires="v">
                <p:oleObj spid="_x0000_s3090" name="" r:id="rId1" imgW="4876800" imgH="3175000" progId="Visio.Drawing.15">
                  <p:embed/>
                </p:oleObj>
              </mc:Choice>
              <mc:Fallback>
                <p:oleObj name="" r:id="rId1" imgW="4876800" imgH="3175000" progId="Visio.Drawing.15">
                  <p:embed/>
                  <p:pic>
                    <p:nvPicPr>
                      <p:cNvPr id="0" name="图片 3089"/>
                      <p:cNvPicPr/>
                      <p:nvPr/>
                    </p:nvPicPr>
                    <p:blipFill>
                      <a:blip r:embed="rId2"/>
                      <a:stretch>
                        <a:fillRect/>
                      </a:stretch>
                    </p:blipFill>
                    <p:spPr>
                      <a:xfrm>
                        <a:off x="2843213" y="3417888"/>
                        <a:ext cx="3889375" cy="2524125"/>
                      </a:xfrm>
                      <a:prstGeom prst="rect">
                        <a:avLst/>
                      </a:prstGeom>
                      <a:noFill/>
                      <a:ln w="38100">
                        <a:noFill/>
                        <a:miter/>
                      </a:ln>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分岔和联结</a:t>
            </a:r>
            <a:endParaRPr lang="zh-CN" altLang="en-US" dirty="0"/>
          </a:p>
        </p:txBody>
      </p:sp>
      <p:sp>
        <p:nvSpPr>
          <p:cNvPr id="34819" name="内容占位符 2"/>
          <p:cNvSpPr>
            <a:spLocks noGrp="1" noChangeArrowheads="1"/>
          </p:cNvSpPr>
          <p:nvPr>
            <p:ph idx="1"/>
          </p:nvPr>
        </p:nvSpPr>
        <p:spPr>
          <a:xfrm>
            <a:off x="827088" y="1125538"/>
            <a:ext cx="7921625" cy="23082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分岔</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用来表示并行活动的分支处理，</a:t>
            </a:r>
            <a:r>
              <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联结</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用来把并行活</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动汇</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集到同步处理。</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分岔和联结在</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的表示方法相似，都用粗黑线表示。分岔具有一个转移人口，两个或者多个转移出口。分岔描述了单向处理控制流分成了多个控制流。联结与此相反，联结具有两个或者多个转移人口，只有一个出口。联结描述了不同的处理控制流合并到一起形成一个单向处理，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06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0661" name="对象 2"/>
          <p:cNvGraphicFramePr>
            <a:graphicFrameLocks noChangeAspect="1"/>
          </p:cNvGraphicFramePr>
          <p:nvPr/>
        </p:nvGraphicFramePr>
        <p:xfrm>
          <a:off x="614363" y="3789363"/>
          <a:ext cx="7864475" cy="2136775"/>
        </p:xfrm>
        <a:graphic>
          <a:graphicData uri="http://schemas.openxmlformats.org/presentationml/2006/ole">
            <mc:AlternateContent xmlns:mc="http://schemas.openxmlformats.org/markup-compatibility/2006">
              <mc:Choice xmlns:v="urn:schemas-microsoft-com:vml" Requires="v">
                <p:oleObj spid="_x0000_s3088" name="" r:id="rId1" imgW="11049000" imgH="3187700" progId="Visio.Drawing.15">
                  <p:embed/>
                </p:oleObj>
              </mc:Choice>
              <mc:Fallback>
                <p:oleObj name="" r:id="rId1" imgW="11049000" imgH="3187700" progId="Visio.Drawing.15">
                  <p:embed/>
                  <p:pic>
                    <p:nvPicPr>
                      <p:cNvPr id="0" name="图片 3087"/>
                      <p:cNvPicPr/>
                      <p:nvPr/>
                    </p:nvPicPr>
                    <p:blipFill>
                      <a:blip r:embed="rId2"/>
                      <a:stretch>
                        <a:fillRect/>
                      </a:stretch>
                    </p:blipFill>
                    <p:spPr>
                      <a:xfrm>
                        <a:off x="614363" y="3789363"/>
                        <a:ext cx="7864475" cy="2136775"/>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内容占位符 2"/>
          <p:cNvSpPr>
            <a:spLocks noGrp="1"/>
          </p:cNvSpPr>
          <p:nvPr>
            <p:ph idx="1"/>
          </p:nvPr>
        </p:nvSpPr>
        <p:spPr>
          <a:xfrm>
            <a:off x="323850" y="1125538"/>
            <a:ext cx="4354513" cy="5041900"/>
          </a:xfrm>
          <a:ln/>
        </p:spPr>
        <p:txBody>
          <a:bodyPr vert="horz" wrap="square" lIns="91440" tIns="45720" rIns="91440" bIns="45720" anchor="t" anchorCtr="0">
            <a:spAutoFit/>
          </a:bodyPr>
          <a:p>
            <a:pPr>
              <a:lnSpc>
                <a:spcPct val="110000"/>
              </a:lnSpc>
              <a:buSzPct val="70000"/>
            </a:pPr>
            <a:r>
              <a:rPr lang="zh-CN" altLang="en-US" dirty="0">
                <a:solidFill>
                  <a:srgbClr val="000000"/>
                </a:solidFill>
                <a:latin typeface="华文中宋" panose="02010600040101010101" pitchFamily="2" charset="-122"/>
                <a:ea typeface="华文中宋" panose="02010600040101010101" pitchFamily="2" charset="-122"/>
                <a:cs typeface="+mn-cs"/>
              </a:rPr>
              <a:t>如果一个处理在其他处理之前到达了联结，它将会等待，直到所有的处理都准备好之后才会向联结传递控制权。</a:t>
            </a:r>
            <a:endParaRPr lang="en-US" altLang="zh-CN" dirty="0">
              <a:solidFill>
                <a:srgbClr val="000000"/>
              </a:solidFill>
              <a:latin typeface="华文中宋" panose="02010600040101010101" pitchFamily="2" charset="-122"/>
              <a:ea typeface="华文中宋" panose="02010600040101010101" pitchFamily="2" charset="-122"/>
              <a:cs typeface="+mn-cs"/>
            </a:endParaRPr>
          </a:p>
          <a:p>
            <a:pPr>
              <a:lnSpc>
                <a:spcPct val="110000"/>
              </a:lnSpc>
              <a:buSzPct val="70000"/>
            </a:pPr>
            <a:r>
              <a:rPr lang="zh-CN" altLang="en-US" dirty="0">
                <a:latin typeface="华文中宋" panose="02010600040101010101" pitchFamily="2" charset="-122"/>
                <a:ea typeface="华文中宋" panose="02010600040101010101" pitchFamily="2" charset="-122"/>
                <a:cs typeface="+mn-cs"/>
              </a:rPr>
              <a:t>下例演示了分岔中的一个处理时间长于另一个的情况。由于我们不知道每一个活动有多长，因此不能保证哪一个首先完成。为此，我们在让用户访问应用程序之前插人了一个联结，以便确保两个独立的处理彼此连接在一起。</a:t>
            </a:r>
            <a:endParaRPr lang="zh-CN" altLang="en-US" dirty="0">
              <a:latin typeface="华文中宋" panose="02010600040101010101" pitchFamily="2" charset="-122"/>
              <a:ea typeface="华文中宋" panose="02010600040101010101" pitchFamily="2" charset="-122"/>
              <a:cs typeface="+mn-cs"/>
            </a:endParaRPr>
          </a:p>
        </p:txBody>
      </p:sp>
      <p:sp>
        <p:nvSpPr>
          <p:cNvPr id="7168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1684" name="对象 2"/>
          <p:cNvGraphicFramePr>
            <a:graphicFrameLocks noChangeAspect="1"/>
          </p:cNvGraphicFramePr>
          <p:nvPr/>
        </p:nvGraphicFramePr>
        <p:xfrm>
          <a:off x="4932363" y="1484313"/>
          <a:ext cx="3887787" cy="4438650"/>
        </p:xfrm>
        <a:graphic>
          <a:graphicData uri="http://schemas.openxmlformats.org/presentationml/2006/ole">
            <mc:AlternateContent xmlns:mc="http://schemas.openxmlformats.org/markup-compatibility/2006">
              <mc:Choice xmlns:v="urn:schemas-microsoft-com:vml" Requires="v">
                <p:oleObj spid="_x0000_s3089" name="" r:id="rId1" imgW="4876800" imgH="5549900" progId="Visio.Drawing.15">
                  <p:embed/>
                </p:oleObj>
              </mc:Choice>
              <mc:Fallback>
                <p:oleObj name="" r:id="rId1" imgW="4876800" imgH="5549900" progId="Visio.Drawing.15">
                  <p:embed/>
                  <p:pic>
                    <p:nvPicPr>
                      <p:cNvPr id="0" name="图片 3088"/>
                      <p:cNvPicPr/>
                      <p:nvPr/>
                    </p:nvPicPr>
                    <p:blipFill>
                      <a:blip r:embed="rId2"/>
                      <a:stretch>
                        <a:fillRect/>
                      </a:stretch>
                    </p:blipFill>
                    <p:spPr>
                      <a:xfrm>
                        <a:off x="4932363" y="1484313"/>
                        <a:ext cx="3887787" cy="4438650"/>
                      </a:xfrm>
                      <a:prstGeom prst="rect">
                        <a:avLst/>
                      </a:prstGeom>
                      <a:noFill/>
                      <a:ln w="38100">
                        <a:noFill/>
                        <a:miter/>
                      </a:ln>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ln/>
        </p:spPr>
        <p:txBody>
          <a:bodyPr vert="horz" wrap="square" lIns="91440" tIns="45720" rIns="91440" bIns="45720" anchor="ctr" anchorCtr="0"/>
          <a:p>
            <a:r>
              <a:rPr lang="zh-CN" altLang="en-US" dirty="0"/>
              <a:t>基本元素</a:t>
            </a:r>
            <a:r>
              <a:rPr lang="en-US" altLang="zh-CN" dirty="0"/>
              <a:t>--</a:t>
            </a:r>
            <a:r>
              <a:rPr lang="zh-CN" altLang="en-US" dirty="0"/>
              <a:t>泳道</a:t>
            </a:r>
            <a:endParaRPr lang="zh-CN" altLang="en-US" dirty="0"/>
          </a:p>
        </p:txBody>
      </p:sp>
      <p:sp>
        <p:nvSpPr>
          <p:cNvPr id="32771" name="内容占位符 2"/>
          <p:cNvSpPr>
            <a:spLocks noGrp="1" noChangeArrowheads="1"/>
          </p:cNvSpPr>
          <p:nvPr>
            <p:ph idx="1"/>
          </p:nvPr>
        </p:nvSpPr>
        <p:spPr>
          <a:xfrm>
            <a:off x="661988" y="1125538"/>
            <a:ext cx="7994650" cy="18764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泳道</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(swim-lane)</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进一步描述完成活动的对象，并聚合一组活动，因此</a:t>
            </a:r>
            <a:r>
              <a:rPr kumimoji="0" lang="zh-CN" altLang="zh-CN" sz="20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泳道也是一种分组机制</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n-cs"/>
              </a:rPr>
              <a:t>泳道</a:t>
            </a:r>
            <a:r>
              <a:rPr kumimoji="0" lang="zh-CN" altLang="en-US" sz="20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rPr>
              <a:t>可以使活动图非常整洁</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，因为它们在很大程度上增强了活动图的可读性。泳道使用几个大矩形框表示如下图所示。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27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72709" name="Picture 3"/>
          <p:cNvPicPr>
            <a:picLocks noChangeAspect="1"/>
          </p:cNvPicPr>
          <p:nvPr/>
        </p:nvPicPr>
        <p:blipFill>
          <a:blip r:embed="rId1"/>
          <a:stretch>
            <a:fillRect/>
          </a:stretch>
        </p:blipFill>
        <p:spPr>
          <a:xfrm>
            <a:off x="2268538" y="3157538"/>
            <a:ext cx="4751387" cy="3025775"/>
          </a:xfrm>
          <a:prstGeom prst="rect">
            <a:avLst/>
          </a:prstGeom>
          <a:noFill/>
          <a:ln w="9525">
            <a:noFill/>
          </a:ln>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内容占位符 2"/>
          <p:cNvSpPr>
            <a:spLocks noGrp="1"/>
          </p:cNvSpPr>
          <p:nvPr>
            <p:ph idx="1"/>
          </p:nvPr>
        </p:nvSpPr>
        <p:spPr>
          <a:xfrm>
            <a:off x="611188" y="1125538"/>
            <a:ext cx="3168650" cy="4200525"/>
          </a:xfrm>
          <a:ln/>
        </p:spPr>
        <p:txBody>
          <a:bodyPr vert="horz" wrap="square" lIns="91440" tIns="45720" rIns="91440" bIns="45720" anchor="t" anchorCtr="0">
            <a:spAutoFit/>
          </a:bodyPr>
          <a:p>
            <a:pPr>
              <a:lnSpc>
                <a:spcPct val="110000"/>
              </a:lnSpc>
              <a:buSzPct val="70000"/>
            </a:pPr>
            <a:r>
              <a:rPr lang="zh-CN" altLang="zh-CN" dirty="0">
                <a:latin typeface="华文中宋" panose="02010600040101010101" pitchFamily="2" charset="-122"/>
                <a:ea typeface="华文中宋" panose="02010600040101010101" pitchFamily="2" charset="-122"/>
                <a:cs typeface="+mn-cs"/>
              </a:rPr>
              <a:t>在学校教务系统中教师和网站之间交叉转移控制流的活动图。</a:t>
            </a:r>
            <a:endParaRPr lang="en-US" altLang="zh-CN" dirty="0">
              <a:latin typeface="华文中宋" panose="02010600040101010101" pitchFamily="2" charset="-122"/>
              <a:ea typeface="华文中宋" panose="02010600040101010101" pitchFamily="2" charset="-122"/>
              <a:cs typeface="+mn-cs"/>
            </a:endParaRPr>
          </a:p>
          <a:p>
            <a:pPr>
              <a:lnSpc>
                <a:spcPct val="110000"/>
              </a:lnSpc>
              <a:buSzPct val="70000"/>
            </a:pPr>
            <a:r>
              <a:rPr lang="zh-CN" altLang="zh-CN" dirty="0">
                <a:latin typeface="华文中宋" panose="02010600040101010101" pitchFamily="2" charset="-122"/>
                <a:ea typeface="华文中宋" panose="02010600040101010101" pitchFamily="2" charset="-122"/>
                <a:cs typeface="+mn-cs"/>
              </a:rPr>
              <a:t>如果没有泳道，该活动图就无法说明教师使用了登录、选择课程、录入成绩活动，网站进行了验证登录、提取学生、写入成绩活动。</a:t>
            </a:r>
            <a:endParaRPr lang="zh-CN" altLang="en-US" dirty="0">
              <a:latin typeface="华文中宋" panose="02010600040101010101" pitchFamily="2" charset="-122"/>
              <a:ea typeface="华文中宋" panose="02010600040101010101" pitchFamily="2" charset="-122"/>
              <a:cs typeface="+mn-cs"/>
            </a:endParaRPr>
          </a:p>
        </p:txBody>
      </p:sp>
      <p:sp>
        <p:nvSpPr>
          <p:cNvPr id="7373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3732" name="对象 2"/>
          <p:cNvGraphicFramePr>
            <a:graphicFrameLocks noChangeAspect="1"/>
          </p:cNvGraphicFramePr>
          <p:nvPr/>
        </p:nvGraphicFramePr>
        <p:xfrm>
          <a:off x="4352925" y="692150"/>
          <a:ext cx="4105275" cy="5583238"/>
        </p:xfrm>
        <a:graphic>
          <a:graphicData uri="http://schemas.openxmlformats.org/presentationml/2006/ole">
            <mc:AlternateContent xmlns:mc="http://schemas.openxmlformats.org/markup-compatibility/2006">
              <mc:Choice xmlns:v="urn:schemas-microsoft-com:vml" Requires="v">
                <p:oleObj spid="_x0000_s3091" name="" r:id="rId1" imgW="6082665" imgH="8279130" progId="Visio.Drawing.15">
                  <p:embed/>
                </p:oleObj>
              </mc:Choice>
              <mc:Fallback>
                <p:oleObj name="" r:id="rId1" imgW="6082665" imgH="8279130" progId="Visio.Drawing.15">
                  <p:embed/>
                  <p:pic>
                    <p:nvPicPr>
                      <p:cNvPr id="0" name="图片 3090"/>
                      <p:cNvPicPr/>
                      <p:nvPr/>
                    </p:nvPicPr>
                    <p:blipFill>
                      <a:blip r:embed="rId2"/>
                      <a:stretch>
                        <a:fillRect/>
                      </a:stretch>
                    </p:blipFill>
                    <p:spPr>
                      <a:xfrm>
                        <a:off x="4352925" y="692150"/>
                        <a:ext cx="4105275" cy="5583238"/>
                      </a:xfrm>
                      <a:prstGeom prst="rect">
                        <a:avLst/>
                      </a:prstGeom>
                      <a:noFill/>
                      <a:ln w="38100">
                        <a:noFill/>
                        <a:miter/>
                      </a:ln>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ln/>
        </p:spPr>
        <p:txBody>
          <a:bodyPr vert="horz" wrap="square" lIns="91440" tIns="45720" rIns="91440" bIns="45720" anchor="ctr" anchorCtr="0"/>
          <a:p>
            <a:r>
              <a:rPr lang="en-US" altLang="zh-CN" dirty="0"/>
              <a:t>4.2 </a:t>
            </a:r>
            <a:r>
              <a:rPr lang="zh-CN" altLang="en-US" dirty="0"/>
              <a:t>创建活动图</a:t>
            </a:r>
            <a:endParaRPr lang="zh-CN" altLang="en-US" dirty="0"/>
          </a:p>
        </p:txBody>
      </p:sp>
      <p:sp>
        <p:nvSpPr>
          <p:cNvPr id="40963" name="内容占位符 2"/>
          <p:cNvSpPr>
            <a:spLocks noGrp="1" noChangeArrowheads="1"/>
          </p:cNvSpPr>
          <p:nvPr>
            <p:ph idx="1"/>
          </p:nvPr>
        </p:nvSpPr>
        <p:spPr>
          <a:xfrm>
            <a:off x="827088" y="1379538"/>
            <a:ext cx="7391400" cy="36036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创建活动图共有</a:t>
            </a: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个任务：</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86080" marR="0" lvl="1"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1</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）标识需要活动图的用例。</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386080" marR="0" lvl="1"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2</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）建模每一个用例的</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rPr>
              <a:t>主路径</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386080" marR="0" lvl="1"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3</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）建模每一个用例的</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rPr>
              <a:t>从路径</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386080" marR="0" lvl="1"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4</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rPr>
              <a:t>添加泳道</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来标识活动的事务分区。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386080" marR="0" lvl="1"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    </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5</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）改进高层活动并</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rPr>
              <a:t>添加更多活动</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rPr>
              <a:t>到图中。</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è"/>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endParaRPr>
          </a:p>
        </p:txBody>
      </p:sp>
      <p:sp>
        <p:nvSpPr>
          <p:cNvPr id="747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zh-CN" altLang="en-US" dirty="0"/>
              <a:t>建模活动图</a:t>
            </a:r>
            <a:r>
              <a:rPr lang="en-US" altLang="zh-CN" dirty="0"/>
              <a:t>--</a:t>
            </a:r>
            <a:r>
              <a:rPr lang="zh-CN" altLang="en-US" dirty="0"/>
              <a:t>标识用例</a:t>
            </a:r>
            <a:endParaRPr lang="zh-CN" altLang="en-US" dirty="0"/>
          </a:p>
        </p:txBody>
      </p:sp>
      <p:sp>
        <p:nvSpPr>
          <p:cNvPr id="75779" name="内容占位符 2"/>
          <p:cNvSpPr>
            <a:spLocks noGrp="1"/>
          </p:cNvSpPr>
          <p:nvPr>
            <p:ph idx="1"/>
          </p:nvPr>
        </p:nvSpPr>
        <p:spPr>
          <a:xfrm>
            <a:off x="755650" y="1236663"/>
            <a:ext cx="7632700" cy="2124075"/>
          </a:xfrm>
          <a:ln/>
        </p:spPr>
        <p:txBody>
          <a:bodyPr vert="horz" wrap="square" lIns="91440" tIns="45720" rIns="91440" bIns="45720" anchor="t" anchorCtr="0">
            <a:spAutoFit/>
          </a:bodyPr>
          <a:p>
            <a:pPr>
              <a:lnSpc>
                <a:spcPct val="110000"/>
              </a:lnSpc>
              <a:buSzPct val="70000"/>
            </a:pPr>
            <a:r>
              <a:rPr lang="zh-CN" altLang="en-US" dirty="0">
                <a:latin typeface="华文中宋" panose="02010600040101010101" pitchFamily="2" charset="-122"/>
                <a:ea typeface="华文中宋" panose="02010600040101010101" pitchFamily="2" charset="-122"/>
                <a:cs typeface="+mn-cs"/>
              </a:rPr>
              <a:t>在建模活动图之前，需要首先确定要建模什么。</a:t>
            </a:r>
            <a:r>
              <a:rPr lang="zh-CN" altLang="zh-CN" dirty="0">
                <a:latin typeface="华文中宋" panose="02010600040101010101" pitchFamily="2" charset="-122"/>
                <a:ea typeface="华文中宋" panose="02010600040101010101" pitchFamily="2" charset="-122"/>
                <a:cs typeface="+mn-cs"/>
              </a:rPr>
              <a:t>下面的教师更新分数用例是一组较大用例的一部分，我们就从它开始。如下图所示。这个用例实际上使用了</a:t>
            </a: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个用例。我们不仅有更新成绩用例，还有保存成绩和加载成绩用例。</a:t>
            </a:r>
            <a:endParaRPr lang="zh-CN" altLang="en-US" dirty="0">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75781" name="Rectangle 7"/>
          <p:cNvSpPr/>
          <p:nvPr/>
        </p:nvSpPr>
        <p:spPr>
          <a:xfrm>
            <a:off x="0" y="0"/>
            <a:ext cx="9144000" cy="0"/>
          </a:xfrm>
          <a:prstGeom prst="rect">
            <a:avLst/>
          </a:prstGeom>
          <a:noFill/>
          <a:ln w="9525">
            <a:noFill/>
          </a:ln>
        </p:spPr>
        <p:txBody>
          <a:bodyPr wrap="none" anchor="ctr" anchorCtr="0">
            <a:spAutoFit/>
          </a:bodyPr>
          <a:p>
            <a:endParaRPr lang="zh-CN" altLang="en-US" dirty="0">
              <a:latin typeface="华文中宋" panose="02010600040101010101" pitchFamily="2" charset="-122"/>
            </a:endParaRPr>
          </a:p>
        </p:txBody>
      </p:sp>
      <p:graphicFrame>
        <p:nvGraphicFramePr>
          <p:cNvPr id="75782" name="对象 2"/>
          <p:cNvGraphicFramePr>
            <a:graphicFrameLocks noChangeAspect="1"/>
          </p:cNvGraphicFramePr>
          <p:nvPr/>
        </p:nvGraphicFramePr>
        <p:xfrm>
          <a:off x="1219200" y="3360738"/>
          <a:ext cx="6880225" cy="2555875"/>
        </p:xfrm>
        <a:graphic>
          <a:graphicData uri="http://schemas.openxmlformats.org/presentationml/2006/ole">
            <mc:AlternateContent xmlns:mc="http://schemas.openxmlformats.org/markup-compatibility/2006">
              <mc:Choice xmlns:v="urn:schemas-microsoft-com:vml" Requires="v">
                <p:oleObj spid="_x0000_s3093" name="" r:id="rId1" imgW="6351270" imgH="2365375" progId="Visio.Drawing.15">
                  <p:embed/>
                </p:oleObj>
              </mc:Choice>
              <mc:Fallback>
                <p:oleObj name="" r:id="rId1" imgW="6351270" imgH="2365375" progId="Visio.Drawing.15">
                  <p:embed/>
                  <p:pic>
                    <p:nvPicPr>
                      <p:cNvPr id="0" name="图片 3092"/>
                      <p:cNvPicPr/>
                      <p:nvPr/>
                    </p:nvPicPr>
                    <p:blipFill>
                      <a:blip r:embed="rId2"/>
                      <a:stretch>
                        <a:fillRect/>
                      </a:stretch>
                    </p:blipFill>
                    <p:spPr>
                      <a:xfrm>
                        <a:off x="1219200" y="3360738"/>
                        <a:ext cx="6880225" cy="2555875"/>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a:ln/>
        </p:spPr>
        <p:txBody>
          <a:bodyPr vert="horz" wrap="square" lIns="91440" tIns="45720" rIns="91440" bIns="45720" anchor="ctr" anchorCtr="0"/>
          <a:p>
            <a:r>
              <a:rPr lang="zh-CN" altLang="en-US" dirty="0"/>
              <a:t>建模活动图</a:t>
            </a:r>
            <a:r>
              <a:rPr lang="en-US" altLang="zh-CN" dirty="0"/>
              <a:t>--</a:t>
            </a:r>
            <a:r>
              <a:rPr lang="zh-CN" altLang="en-US" dirty="0"/>
              <a:t>建模主路径</a:t>
            </a:r>
            <a:endParaRPr lang="zh-CN" altLang="en-US" dirty="0"/>
          </a:p>
        </p:txBody>
      </p:sp>
      <p:sp>
        <p:nvSpPr>
          <p:cNvPr id="74755" name="内容占位符 2"/>
          <p:cNvSpPr>
            <a:spLocks noGrp="1" noChangeArrowheads="1"/>
          </p:cNvSpPr>
          <p:nvPr>
            <p:ph idx="1"/>
          </p:nvPr>
        </p:nvSpPr>
        <p:spPr>
          <a:xfrm>
            <a:off x="827088" y="979488"/>
            <a:ext cx="7391400" cy="29797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）建模主路径</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在开始创建用例的活动图时，往往先建立一条明显的路径执行工作流，然后从该路径进行扩展。</a:t>
            </a:r>
            <a:r>
              <a:rPr kumimoji="0" lang="zh-CN" altLang="en-US" sz="22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该路径仅考虑用例的正常活动路径</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登录、选择学生、加载他们的分数，修改分数，保存修改结果等活动过程</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没有考虑任何错误和判断的路径。</a:t>
            </a: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endParaRPr kumimoji="0" lang="zh-CN" altLang="en-US" sz="22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68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6805" name="对象 2"/>
          <p:cNvGraphicFramePr>
            <a:graphicFrameLocks noChangeAspect="1"/>
          </p:cNvGraphicFramePr>
          <p:nvPr/>
        </p:nvGraphicFramePr>
        <p:xfrm>
          <a:off x="2195513" y="3500438"/>
          <a:ext cx="5646737" cy="2952750"/>
        </p:xfrm>
        <a:graphic>
          <a:graphicData uri="http://schemas.openxmlformats.org/presentationml/2006/ole">
            <mc:AlternateContent xmlns:mc="http://schemas.openxmlformats.org/markup-compatibility/2006">
              <mc:Choice xmlns:v="urn:schemas-microsoft-com:vml" Requires="v">
                <p:oleObj spid="_x0000_s3092" name="" r:id="rId1" imgW="8011160" imgH="4154805" progId="Visio.Drawing.15">
                  <p:embed/>
                </p:oleObj>
              </mc:Choice>
              <mc:Fallback>
                <p:oleObj name="" r:id="rId1" imgW="8011160" imgH="4154805" progId="Visio.Drawing.15">
                  <p:embed/>
                  <p:pic>
                    <p:nvPicPr>
                      <p:cNvPr id="0" name="图片 3091"/>
                      <p:cNvPicPr/>
                      <p:nvPr/>
                    </p:nvPicPr>
                    <p:blipFill>
                      <a:blip r:embed="rId2"/>
                      <a:stretch>
                        <a:fillRect/>
                      </a:stretch>
                    </p:blipFill>
                    <p:spPr>
                      <a:xfrm>
                        <a:off x="2195513" y="3500438"/>
                        <a:ext cx="5646737" cy="2952750"/>
                      </a:xfrm>
                      <a:prstGeom prst="rect">
                        <a:avLst/>
                      </a:prstGeom>
                      <a:noFill/>
                      <a:ln w="38100">
                        <a:noFill/>
                        <a:miter/>
                      </a:ln>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ln/>
        </p:spPr>
        <p:txBody>
          <a:bodyPr vert="horz" wrap="square" lIns="91440" tIns="45720" rIns="91440" bIns="45720" anchor="ctr" anchorCtr="0"/>
          <a:p>
            <a:r>
              <a:rPr lang="zh-CN" altLang="en-US" dirty="0"/>
              <a:t>建模活动图</a:t>
            </a:r>
            <a:r>
              <a:rPr lang="en-US" altLang="zh-CN" dirty="0"/>
              <a:t>--</a:t>
            </a:r>
            <a:r>
              <a:rPr lang="zh-CN" altLang="en-US" dirty="0"/>
              <a:t>添加泳道</a:t>
            </a:r>
            <a:endParaRPr lang="zh-CN" altLang="en-US" dirty="0"/>
          </a:p>
        </p:txBody>
      </p:sp>
      <p:sp>
        <p:nvSpPr>
          <p:cNvPr id="76803" name="内容占位符 2"/>
          <p:cNvSpPr>
            <a:spLocks noGrp="1" noChangeArrowheads="1"/>
          </p:cNvSpPr>
          <p:nvPr>
            <p:ph idx="1"/>
          </p:nvPr>
        </p:nvSpPr>
        <p:spPr>
          <a:xfrm>
            <a:off x="555625" y="1000125"/>
            <a:ext cx="8207375" cy="55959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）建模从</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路径。考虑</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用例其他可能的工作流情况。如处理错误，或许是执行其他活动。 </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）添加泳道</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可把活动图分成了两个游泳道，</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第一</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个游泳道是教师，第二个</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是网站</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。教师是用例的参与者，而网站是提供后台功能的泛化组件。</a:t>
            </a: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这里，我们将再一次反复向活动图添加更多的细节。</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加载学生名单时需要同时加载第一次选课的学生和重新的学生。同时我们还需要考虑可能的出错，如登录失败，在本例中，我们要添加状态以便指示现在处于哪一个转折点</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最后，我们决定让每一个出错消息都在活动图中的自己活动中。</a:t>
            </a:r>
            <a:endParaRPr kumimoji="0" lang="zh-CN" altLang="en-US"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78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a:xfrm>
            <a:off x="323850" y="260350"/>
            <a:ext cx="2952750" cy="685800"/>
          </a:xfrm>
          <a:ln/>
        </p:spPr>
        <p:txBody>
          <a:bodyPr vert="horz" wrap="square" lIns="91440" tIns="45720" rIns="91440" bIns="45720" anchor="ctr" anchorCtr="0"/>
          <a:p>
            <a:r>
              <a:rPr lang="zh-CN" altLang="en-US" dirty="0"/>
              <a:t>建模活动图</a:t>
            </a:r>
            <a:endParaRPr lang="zh-CN" altLang="en-US" dirty="0"/>
          </a:p>
        </p:txBody>
      </p:sp>
      <p:sp>
        <p:nvSpPr>
          <p:cNvPr id="7987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9876" name="对象 2"/>
          <p:cNvGraphicFramePr>
            <a:graphicFrameLocks noChangeAspect="1"/>
          </p:cNvGraphicFramePr>
          <p:nvPr/>
        </p:nvGraphicFramePr>
        <p:xfrm>
          <a:off x="3563938" y="92075"/>
          <a:ext cx="4392612" cy="6727825"/>
        </p:xfrm>
        <a:graphic>
          <a:graphicData uri="http://schemas.openxmlformats.org/presentationml/2006/ole">
            <mc:AlternateContent xmlns:mc="http://schemas.openxmlformats.org/markup-compatibility/2006">
              <mc:Choice xmlns:v="urn:schemas-microsoft-com:vml" Requires="v">
                <p:oleObj spid="_x0000_s3094" name="" r:id="rId1" imgW="9652000" imgH="14795500" progId="Visio.Drawing.15">
                  <p:embed/>
                </p:oleObj>
              </mc:Choice>
              <mc:Fallback>
                <p:oleObj name="" r:id="rId1" imgW="9652000" imgH="14795500" progId="Visio.Drawing.15">
                  <p:embed/>
                  <p:pic>
                    <p:nvPicPr>
                      <p:cNvPr id="0" name="图片 3093"/>
                      <p:cNvPicPr/>
                      <p:nvPr/>
                    </p:nvPicPr>
                    <p:blipFill>
                      <a:blip r:embed="rId2"/>
                      <a:stretch>
                        <a:fillRect/>
                      </a:stretch>
                    </p:blipFill>
                    <p:spPr>
                      <a:xfrm>
                        <a:off x="3563938" y="92075"/>
                        <a:ext cx="4392612" cy="6727825"/>
                      </a:xfrm>
                      <a:prstGeom prst="rect">
                        <a:avLst/>
                      </a:prstGeom>
                      <a:noFill/>
                      <a:ln w="38100">
                        <a:noFill/>
                        <a:miter/>
                      </a:ln>
                    </p:spPr>
                  </p:pic>
                </p:oleObj>
              </mc:Fallback>
            </mc:AlternateContent>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a:xfrm>
            <a:off x="1116013" y="238125"/>
            <a:ext cx="6365875" cy="685800"/>
          </a:xfrm>
          <a:ln/>
        </p:spPr>
        <p:txBody>
          <a:bodyPr vert="horz" wrap="square" lIns="91440" tIns="45720" rIns="91440" bIns="45720" anchor="ctr" anchorCtr="0"/>
          <a:p>
            <a:pPr>
              <a:buNone/>
            </a:pPr>
            <a:r>
              <a:rPr lang="en-US" altLang="zh-CN" dirty="0"/>
              <a:t>5 UML</a:t>
            </a:r>
            <a:r>
              <a:rPr lang="zh-CN" altLang="zh-CN" dirty="0"/>
              <a:t>状态图</a:t>
            </a:r>
            <a:endParaRPr lang="zh-CN" altLang="en-US" dirty="0"/>
          </a:p>
        </p:txBody>
      </p:sp>
      <p:sp>
        <p:nvSpPr>
          <p:cNvPr id="84995" name="内容占位符 2"/>
          <p:cNvSpPr>
            <a:spLocks noGrp="1"/>
          </p:cNvSpPr>
          <p:nvPr>
            <p:ph idx="1"/>
          </p:nvPr>
        </p:nvSpPr>
        <p:spPr>
          <a:xfrm>
            <a:off x="827088" y="1379538"/>
            <a:ext cx="7391400" cy="280193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状态是对象执行了一系列活动的结果。一个对象在其生存周期中可具有多个状态，通常一种状态具有时间的稳定性。</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模型不必同时具有开始和结束状态，因为模型可以总是运行，从不停止。</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状态图中可以包含</a:t>
            </a:r>
            <a:r>
              <a:rPr lang="en-US" altLang="zh-CN" dirty="0">
                <a:latin typeface="华文中宋" panose="02010600040101010101" pitchFamily="2" charset="-122"/>
                <a:ea typeface="华文中宋" panose="02010600040101010101" pitchFamily="2" charset="-122"/>
                <a:cs typeface="+mn-cs"/>
              </a:rPr>
              <a:t>0</a:t>
            </a:r>
            <a:r>
              <a:rPr lang="zh-CN" altLang="zh-CN" dirty="0">
                <a:latin typeface="华文中宋" panose="02010600040101010101" pitchFamily="2" charset="-122"/>
                <a:ea typeface="华文中宋" panose="02010600040101010101" pitchFamily="2" charset="-122"/>
                <a:cs typeface="+mn-cs"/>
              </a:rPr>
              <a:t>到多个开始状态。状态图中也可以包含多个结束状态，每一个都表示一个模型能够终止的点。</a:t>
            </a:r>
            <a:endParaRPr lang="zh-CN" altLang="en-US" dirty="0">
              <a:latin typeface="华文中宋" panose="02010600040101010101" pitchFamily="2" charset="-122"/>
              <a:ea typeface="华文中宋" panose="02010600040101010101" pitchFamily="2" charset="-122"/>
              <a:cs typeface="+mn-cs"/>
            </a:endParaRPr>
          </a:p>
        </p:txBody>
      </p:sp>
      <p:sp>
        <p:nvSpPr>
          <p:cNvPr id="849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84997" name="对象 5"/>
          <p:cNvGraphicFramePr>
            <a:graphicFrameLocks noChangeAspect="1"/>
          </p:cNvGraphicFramePr>
          <p:nvPr/>
        </p:nvGraphicFramePr>
        <p:xfrm>
          <a:off x="974725" y="4508500"/>
          <a:ext cx="7242175" cy="857250"/>
        </p:xfrm>
        <a:graphic>
          <a:graphicData uri="http://schemas.openxmlformats.org/presentationml/2006/ole">
            <mc:AlternateContent xmlns:mc="http://schemas.openxmlformats.org/markup-compatibility/2006">
              <mc:Choice xmlns:v="urn:schemas-microsoft-com:vml" Requires="v">
                <p:oleObj spid="_x0000_s3095" name="" r:id="rId1" imgW="8129905" imgH="993775" progId="Visio.Drawing.15">
                  <p:embed/>
                </p:oleObj>
              </mc:Choice>
              <mc:Fallback>
                <p:oleObj name="" r:id="rId1" imgW="8129905" imgH="993775" progId="Visio.Drawing.15">
                  <p:embed/>
                  <p:pic>
                    <p:nvPicPr>
                      <p:cNvPr id="0" name="图片 3094"/>
                      <p:cNvPicPr/>
                      <p:nvPr/>
                    </p:nvPicPr>
                    <p:blipFill>
                      <a:blip r:embed="rId2"/>
                      <a:stretch>
                        <a:fillRect/>
                      </a:stretch>
                    </p:blipFill>
                    <p:spPr>
                      <a:xfrm>
                        <a:off x="974725" y="4508500"/>
                        <a:ext cx="7242175" cy="857250"/>
                      </a:xfrm>
                      <a:prstGeom prst="rect">
                        <a:avLst/>
                      </a:prstGeom>
                      <a:noFill/>
                      <a:ln w="38100">
                        <a:noFill/>
                        <a:miter/>
                      </a:ln>
                    </p:spPr>
                  </p:pic>
                </p:oleObj>
              </mc:Fallback>
            </mc:AlternateContent>
          </a:graphicData>
        </a:graphic>
      </p:graphicFrame>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p:cNvSpPr>
          <p:nvPr>
            <p:ph type="title"/>
          </p:nvPr>
        </p:nvSpPr>
        <p:spPr>
          <a:xfrm>
            <a:off x="1116013" y="238125"/>
            <a:ext cx="6365875" cy="685800"/>
          </a:xfrm>
          <a:ln/>
        </p:spPr>
        <p:txBody>
          <a:bodyPr vert="horz" wrap="square" lIns="91440" tIns="45720" rIns="91440" bIns="45720" anchor="ctr" anchorCtr="0"/>
          <a:p>
            <a:pPr>
              <a:buNone/>
            </a:pPr>
            <a:r>
              <a:rPr lang="zh-CN" altLang="en-US" dirty="0"/>
              <a:t>事件和转移</a:t>
            </a:r>
            <a:endParaRPr lang="zh-CN" altLang="en-US" dirty="0"/>
          </a:p>
        </p:txBody>
      </p:sp>
      <p:sp>
        <p:nvSpPr>
          <p:cNvPr id="86019" name="内容占位符 2"/>
          <p:cNvSpPr>
            <a:spLocks noGrp="1"/>
          </p:cNvSpPr>
          <p:nvPr>
            <p:ph idx="1"/>
          </p:nvPr>
        </p:nvSpPr>
        <p:spPr>
          <a:xfrm>
            <a:off x="755650" y="1125538"/>
            <a:ext cx="7391400" cy="1771650"/>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UML</a:t>
            </a:r>
            <a:r>
              <a:rPr lang="zh-CN" altLang="zh-CN" dirty="0">
                <a:latin typeface="华文中宋" panose="02010600040101010101" pitchFamily="2" charset="-122"/>
                <a:ea typeface="华文中宋" panose="02010600040101010101" pitchFamily="2" charset="-122"/>
                <a:cs typeface="+mn-cs"/>
              </a:rPr>
              <a:t>预设了</a:t>
            </a: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个标准事件，而且都是无参数事件。</a:t>
            </a:r>
            <a:r>
              <a:rPr lang="en-US" altLang="zh-CN" dirty="0">
                <a:latin typeface="华文中宋" panose="02010600040101010101" pitchFamily="2" charset="-122"/>
                <a:ea typeface="华文中宋" panose="02010600040101010101" pitchFamily="2" charset="-122"/>
                <a:cs typeface="+mn-cs"/>
              </a:rPr>
              <a:t>Entry</a:t>
            </a:r>
            <a:r>
              <a:rPr lang="zh-CN" altLang="zh-CN" dirty="0">
                <a:latin typeface="华文中宋" panose="02010600040101010101" pitchFamily="2" charset="-122"/>
                <a:ea typeface="华文中宋" panose="02010600040101010101" pitchFamily="2" charset="-122"/>
                <a:cs typeface="+mn-cs"/>
              </a:rPr>
              <a:t>（进入）事件用于指明进入该状态时的特定动作；</a:t>
            </a:r>
            <a:r>
              <a:rPr lang="en-US" altLang="zh-CN" dirty="0">
                <a:latin typeface="华文中宋" panose="02010600040101010101" pitchFamily="2" charset="-122"/>
                <a:ea typeface="华文中宋" panose="02010600040101010101" pitchFamily="2" charset="-122"/>
                <a:cs typeface="+mn-cs"/>
              </a:rPr>
              <a:t> exit</a:t>
            </a:r>
            <a:r>
              <a:rPr lang="zh-CN" altLang="zh-CN" dirty="0">
                <a:latin typeface="华文中宋" panose="02010600040101010101" pitchFamily="2" charset="-122"/>
                <a:ea typeface="华文中宋" panose="02010600040101010101" pitchFamily="2" charset="-122"/>
                <a:cs typeface="+mn-cs"/>
              </a:rPr>
              <a:t>（退出）事件用于指明退出该状态时的特定动作；</a:t>
            </a:r>
            <a:r>
              <a:rPr lang="en-US" altLang="zh-CN" dirty="0">
                <a:latin typeface="华文中宋" panose="02010600040101010101" pitchFamily="2" charset="-122"/>
                <a:ea typeface="华文中宋" panose="02010600040101010101" pitchFamily="2" charset="-122"/>
                <a:cs typeface="+mn-cs"/>
              </a:rPr>
              <a:t>do</a:t>
            </a:r>
            <a:r>
              <a:rPr lang="zh-CN" altLang="zh-CN" dirty="0">
                <a:latin typeface="华文中宋" panose="02010600040101010101" pitchFamily="2" charset="-122"/>
                <a:ea typeface="华文中宋" panose="02010600040101010101" pitchFamily="2" charset="-122"/>
                <a:cs typeface="+mn-cs"/>
              </a:rPr>
              <a:t>（执行）事件用于指明在该状态中时执行的动作。</a:t>
            </a:r>
            <a:endParaRPr lang="zh-CN" altLang="en-US" dirty="0">
              <a:latin typeface="华文中宋" panose="02010600040101010101" pitchFamily="2" charset="-122"/>
              <a:ea typeface="华文中宋" panose="02010600040101010101" pitchFamily="2" charset="-122"/>
              <a:cs typeface="+mn-cs"/>
            </a:endParaRPr>
          </a:p>
        </p:txBody>
      </p:sp>
      <p:sp>
        <p:nvSpPr>
          <p:cNvPr id="860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86021" name="对象 6"/>
          <p:cNvGraphicFramePr>
            <a:graphicFrameLocks noChangeAspect="1"/>
          </p:cNvGraphicFramePr>
          <p:nvPr/>
        </p:nvGraphicFramePr>
        <p:xfrm>
          <a:off x="5459413" y="2708275"/>
          <a:ext cx="2016125" cy="1479550"/>
        </p:xfrm>
        <a:graphic>
          <a:graphicData uri="http://schemas.openxmlformats.org/presentationml/2006/ole">
            <mc:AlternateContent xmlns:mc="http://schemas.openxmlformats.org/markup-compatibility/2006">
              <mc:Choice xmlns:v="urn:schemas-microsoft-com:vml" Requires="v">
                <p:oleObj spid="_x0000_s3097" name="" r:id="rId1" imgW="3022600" imgH="2222500" progId="Visio.Drawing.15">
                  <p:embed/>
                </p:oleObj>
              </mc:Choice>
              <mc:Fallback>
                <p:oleObj name="" r:id="rId1" imgW="3022600" imgH="2222500" progId="Visio.Drawing.15">
                  <p:embed/>
                  <p:pic>
                    <p:nvPicPr>
                      <p:cNvPr id="0" name="图片 3096"/>
                      <p:cNvPicPr/>
                      <p:nvPr/>
                    </p:nvPicPr>
                    <p:blipFill>
                      <a:blip r:embed="rId2"/>
                      <a:stretch>
                        <a:fillRect/>
                      </a:stretch>
                    </p:blipFill>
                    <p:spPr>
                      <a:xfrm>
                        <a:off x="5459413" y="2708275"/>
                        <a:ext cx="2016125" cy="1479550"/>
                      </a:xfrm>
                      <a:prstGeom prst="rect">
                        <a:avLst/>
                      </a:prstGeom>
                      <a:noFill/>
                      <a:ln w="38100">
                        <a:noFill/>
                        <a:miter/>
                      </a:ln>
                    </p:spPr>
                  </p:pic>
                </p:oleObj>
              </mc:Fallback>
            </mc:AlternateContent>
          </a:graphicData>
        </a:graphic>
      </p:graphicFrame>
      <p:sp>
        <p:nvSpPr>
          <p:cNvPr id="8" name="矩形 7"/>
          <p:cNvSpPr/>
          <p:nvPr/>
        </p:nvSpPr>
        <p:spPr>
          <a:xfrm>
            <a:off x="625475" y="4408488"/>
            <a:ext cx="7345363" cy="1200150"/>
          </a:xfrm>
          <a:prstGeom prst="rect">
            <a:avLst/>
          </a:prstGeom>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l"/>
              <a:defRPr/>
            </a:pPr>
            <a:r>
              <a:rPr kumimoji="0" lang="zh-CN" altLang="zh-CN" sz="2400" b="1" i="0" u="none" strike="noStrike" kern="100" cap="none" spc="0" normalizeH="0" baseline="0" noProof="0" dirty="0" smtClean="0">
                <a:ln>
                  <a:noFill/>
                </a:ln>
                <a:solidFill>
                  <a:schemeClr val="tx1"/>
                </a:solidFill>
                <a:effectLst/>
                <a:uLnTx/>
                <a:uFillTx/>
                <a:latin typeface="华文中宋" panose="02010600040101010101" pitchFamily="2" charset="-122"/>
                <a:ea typeface="宋体" panose="02010600030101010101" pitchFamily="2" charset="-122"/>
                <a:cs typeface="Times New Roman" panose="02020603050405020304" pitchFamily="18" charset="0"/>
              </a:rPr>
              <a:t>一个对象的状态改变称为状态转移，通常是由事件触发的，事件用来指示是什么导致了模型中状态的改变。</a:t>
            </a:r>
            <a:endParaRPr kumimoji="0" lang="zh-CN" altLang="en-US" sz="2400" b="1"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1"/>
          <p:cNvSpPr>
            <a:spLocks noGrp="1"/>
          </p:cNvSpPr>
          <p:nvPr>
            <p:ph type="title"/>
          </p:nvPr>
        </p:nvSpPr>
        <p:spPr>
          <a:xfrm>
            <a:off x="1116013" y="238125"/>
            <a:ext cx="6365875" cy="685800"/>
          </a:xfrm>
          <a:ln/>
        </p:spPr>
        <p:txBody>
          <a:bodyPr vert="horz" wrap="square" lIns="91440" tIns="45720" rIns="91440" bIns="45720" anchor="ctr" anchorCtr="0"/>
          <a:p>
            <a:pPr>
              <a:buNone/>
            </a:pPr>
            <a:r>
              <a:rPr lang="zh-CN" altLang="en-US" dirty="0"/>
              <a:t>事件</a:t>
            </a:r>
            <a:endParaRPr lang="zh-CN" altLang="en-US" dirty="0"/>
          </a:p>
        </p:txBody>
      </p:sp>
      <p:sp>
        <p:nvSpPr>
          <p:cNvPr id="3" name="内容占位符 2"/>
          <p:cNvSpPr>
            <a:spLocks noGrp="1"/>
          </p:cNvSpPr>
          <p:nvPr>
            <p:ph idx="1"/>
          </p:nvPr>
        </p:nvSpPr>
        <p:spPr>
          <a:xfrm>
            <a:off x="539750" y="1052513"/>
            <a:ext cx="7704138" cy="41735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UML</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中，有</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类事件。 </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条件变为真，表示状态迁移条件满足。 </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收到来自外部对象的信号</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(signal) </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，表示为状态迁移上的事件特征，也称为消息。 </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收到来自外部对象的某个操作中的一个调用，对象用状态的转换而不是用固定的处理过程实现操作。 </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状态迁移上的时间表达式。在状态图中，一般应标出触发转移的事件表达式。如果转移上未标明事件，则表示在源状态的内部活动执行完毕后自动触发转移。</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70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 name="对象 5"/>
          <p:cNvGraphicFramePr>
            <a:graphicFrameLocks noChangeAspect="1"/>
          </p:cNvGraphicFramePr>
          <p:nvPr/>
        </p:nvGraphicFramePr>
        <p:xfrm>
          <a:off x="4549775" y="4949825"/>
          <a:ext cx="3789363" cy="1431925"/>
        </p:xfrm>
        <a:graphic>
          <a:graphicData uri="http://schemas.openxmlformats.org/presentationml/2006/ole">
            <mc:AlternateContent xmlns:mc="http://schemas.openxmlformats.org/markup-compatibility/2006">
              <mc:Choice xmlns:v="urn:schemas-microsoft-com:vml" Requires="v">
                <p:oleObj spid="_x0000_s3096" name="" r:id="rId1" imgW="6235700" imgH="2349500" progId="Visio.Drawing.15">
                  <p:embed/>
                </p:oleObj>
              </mc:Choice>
              <mc:Fallback>
                <p:oleObj name="" r:id="rId1" imgW="6235700" imgH="2349500" progId="Visio.Drawing.15">
                  <p:embed/>
                  <p:pic>
                    <p:nvPicPr>
                      <p:cNvPr id="0" name="图片 3095"/>
                      <p:cNvPicPr/>
                      <p:nvPr/>
                    </p:nvPicPr>
                    <p:blipFill>
                      <a:blip r:embed="rId2"/>
                      <a:stretch>
                        <a:fillRect/>
                      </a:stretch>
                    </p:blipFill>
                    <p:spPr>
                      <a:xfrm>
                        <a:off x="4549775" y="4949825"/>
                        <a:ext cx="3789363" cy="14319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p:cNvSpPr>
          <p:nvPr>
            <p:ph type="title"/>
          </p:nvPr>
        </p:nvSpPr>
        <p:spPr>
          <a:ln/>
        </p:spPr>
        <p:txBody>
          <a:bodyPr vert="horz" wrap="square" lIns="91440" tIns="45720" rIns="91440" bIns="45720" anchor="ctr" anchorCtr="0"/>
          <a:p>
            <a:pPr>
              <a:buNone/>
            </a:pPr>
            <a:r>
              <a:rPr lang="zh-CN" altLang="en-US" dirty="0"/>
              <a:t>条件、</a:t>
            </a:r>
            <a:r>
              <a:rPr lang="zh-CN" altLang="zh-CN" dirty="0"/>
              <a:t>决策点</a:t>
            </a:r>
            <a:r>
              <a:rPr lang="zh-CN" altLang="en-US" dirty="0"/>
              <a:t>和</a:t>
            </a:r>
            <a:r>
              <a:rPr lang="zh-CN" altLang="zh-CN" dirty="0"/>
              <a:t>同步条</a:t>
            </a:r>
            <a:endParaRPr lang="zh-CN" altLang="en-US" dirty="0"/>
          </a:p>
        </p:txBody>
      </p:sp>
      <p:sp>
        <p:nvSpPr>
          <p:cNvPr id="3" name="内容占位符 2"/>
          <p:cNvSpPr>
            <a:spLocks noGrp="1"/>
          </p:cNvSpPr>
          <p:nvPr>
            <p:ph idx="1"/>
          </p:nvPr>
        </p:nvSpPr>
        <p:spPr>
          <a:xfrm>
            <a:off x="827088" y="1379538"/>
            <a:ext cx="7391400" cy="391001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0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条件</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条件用来描述状态转移的前提</a:t>
            </a:r>
            <a:r>
              <a:rPr kumimoji="0" lang="zh-CN"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决策点</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决策点为建模状态图时提供了方便，通过在中心位置分别转移到各自的方向，从而提高了状态图的可视性，</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状态图中使用同步条</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同步条是为了说明并发工作流的分岔与联合。</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80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1"/>
          <p:cNvSpPr>
            <a:spLocks noGrp="1"/>
          </p:cNvSpPr>
          <p:nvPr>
            <p:ph type="title"/>
          </p:nvPr>
        </p:nvSpPr>
        <p:spPr>
          <a:xfrm>
            <a:off x="1116013" y="238125"/>
            <a:ext cx="6365875" cy="685800"/>
          </a:xfrm>
          <a:ln/>
        </p:spPr>
        <p:txBody>
          <a:bodyPr vert="horz" wrap="square" lIns="91440" tIns="45720" rIns="91440" bIns="45720" anchor="ctr" anchorCtr="0"/>
          <a:p>
            <a:pPr>
              <a:buNone/>
            </a:pPr>
            <a:r>
              <a:rPr lang="zh-CN" altLang="en-US" dirty="0"/>
              <a:t>例子</a:t>
            </a:r>
            <a:endParaRPr lang="zh-CN" altLang="zh-CN" dirty="0"/>
          </a:p>
        </p:txBody>
      </p:sp>
      <p:sp>
        <p:nvSpPr>
          <p:cNvPr id="8909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buNone/>
            </a:pPr>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89092" name="对象 5"/>
          <p:cNvGraphicFramePr>
            <a:graphicFrameLocks noChangeAspect="1"/>
          </p:cNvGraphicFramePr>
          <p:nvPr/>
        </p:nvGraphicFramePr>
        <p:xfrm>
          <a:off x="1116013" y="1628775"/>
          <a:ext cx="7194550" cy="3960813"/>
        </p:xfrm>
        <a:graphic>
          <a:graphicData uri="http://schemas.openxmlformats.org/presentationml/2006/ole">
            <mc:AlternateContent xmlns:mc="http://schemas.openxmlformats.org/markup-compatibility/2006">
              <mc:Choice xmlns:v="urn:schemas-microsoft-com:vml" Requires="v">
                <p:oleObj spid="_x0000_s3098" name="" r:id="rId1" imgW="10121900" imgH="5549900" progId="Visio.Drawing.15">
                  <p:embed/>
                </p:oleObj>
              </mc:Choice>
              <mc:Fallback>
                <p:oleObj name="" r:id="rId1" imgW="10121900" imgH="5549900" progId="Visio.Drawing.15">
                  <p:embed/>
                  <p:pic>
                    <p:nvPicPr>
                      <p:cNvPr id="0" name="图片 3097"/>
                      <p:cNvPicPr/>
                      <p:nvPr/>
                    </p:nvPicPr>
                    <p:blipFill>
                      <a:blip r:embed="rId2"/>
                      <a:stretch>
                        <a:fillRect/>
                      </a:stretch>
                    </p:blipFill>
                    <p:spPr>
                      <a:xfrm>
                        <a:off x="1116013" y="1628775"/>
                        <a:ext cx="7194550" cy="3960813"/>
                      </a:xfrm>
                      <a:prstGeom prst="rect">
                        <a:avLst/>
                      </a:prstGeom>
                      <a:noFill/>
                      <a:ln w="38100">
                        <a:noFill/>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9799</Words>
  <Application>WPS 演示</Application>
  <PresentationFormat>全屏显示(4:3)</PresentationFormat>
  <Paragraphs>636</Paragraphs>
  <Slides>65</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23</vt:i4>
      </vt:variant>
      <vt:variant>
        <vt:lpstr>幻灯片标题</vt:lpstr>
      </vt:variant>
      <vt:variant>
        <vt:i4>65</vt:i4>
      </vt:variant>
    </vt:vector>
  </HeadingPairs>
  <TitlesOfParts>
    <vt:vector size="100" baseType="lpstr">
      <vt:lpstr>Arial</vt:lpstr>
      <vt:lpstr>宋体</vt:lpstr>
      <vt:lpstr>Wingdings</vt:lpstr>
      <vt:lpstr>华文中宋</vt:lpstr>
      <vt:lpstr>Times New Roman</vt:lpstr>
      <vt:lpstr>楷体_GB2312</vt:lpstr>
      <vt:lpstr>新宋体</vt:lpstr>
      <vt:lpstr>Calibri</vt:lpstr>
      <vt:lpstr>微软雅黑</vt:lpstr>
      <vt:lpstr>Arial Unicode MS</vt:lpstr>
      <vt:lpstr>楷体_GB2312</vt:lpstr>
      <vt:lpstr>华为3Com培训胶片模板ISSUE1.1</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145</cp:revision>
  <dcterms:created xsi:type="dcterms:W3CDTF">2006-02-20T02:27:42Z</dcterms:created>
  <dcterms:modified xsi:type="dcterms:W3CDTF">2025-10-22T12:44:06Z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D0D290496C6E47EEBBFA2239B38E5EDC_12</vt:lpwstr>
  </property>
</Properties>
</file>