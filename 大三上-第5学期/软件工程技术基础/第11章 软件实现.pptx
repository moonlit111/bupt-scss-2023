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8.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530" r:id="rId3"/>
    <p:sldId id="603" r:id="rId4"/>
    <p:sldId id="529" r:id="rId6"/>
    <p:sldId id="532" r:id="rId7"/>
    <p:sldId id="533" r:id="rId8"/>
    <p:sldId id="531" r:id="rId9"/>
    <p:sldId id="535" r:id="rId10"/>
    <p:sldId id="543" r:id="rId11"/>
    <p:sldId id="534" r:id="rId12"/>
    <p:sldId id="542" r:id="rId13"/>
    <p:sldId id="541" r:id="rId14"/>
    <p:sldId id="540" r:id="rId15"/>
    <p:sldId id="544" r:id="rId16"/>
    <p:sldId id="545" r:id="rId17"/>
    <p:sldId id="546" r:id="rId18"/>
    <p:sldId id="547" r:id="rId19"/>
    <p:sldId id="548" r:id="rId20"/>
    <p:sldId id="549" r:id="rId21"/>
    <p:sldId id="550" r:id="rId22"/>
    <p:sldId id="538" r:id="rId23"/>
    <p:sldId id="551" r:id="rId24"/>
    <p:sldId id="537" r:id="rId25"/>
    <p:sldId id="552" r:id="rId26"/>
    <p:sldId id="558" r:id="rId27"/>
    <p:sldId id="559" r:id="rId28"/>
    <p:sldId id="560" r:id="rId29"/>
    <p:sldId id="561" r:id="rId30"/>
    <p:sldId id="563" r:id="rId31"/>
    <p:sldId id="564" r:id="rId32"/>
    <p:sldId id="565" r:id="rId33"/>
    <p:sldId id="536" r:id="rId34"/>
    <p:sldId id="557" r:id="rId35"/>
    <p:sldId id="556" r:id="rId36"/>
    <p:sldId id="566" r:id="rId37"/>
    <p:sldId id="555" r:id="rId38"/>
    <p:sldId id="571" r:id="rId39"/>
    <p:sldId id="554" r:id="rId40"/>
    <p:sldId id="572" r:id="rId41"/>
    <p:sldId id="553" r:id="rId42"/>
    <p:sldId id="567" r:id="rId43"/>
    <p:sldId id="568" r:id="rId44"/>
    <p:sldId id="569" r:id="rId45"/>
    <p:sldId id="570" r:id="rId46"/>
    <p:sldId id="577" r:id="rId47"/>
    <p:sldId id="578" r:id="rId48"/>
    <p:sldId id="576" r:id="rId49"/>
    <p:sldId id="575" r:id="rId50"/>
    <p:sldId id="574" r:id="rId51"/>
    <p:sldId id="573" r:id="rId52"/>
    <p:sldId id="582" r:id="rId53"/>
    <p:sldId id="581" r:id="rId54"/>
    <p:sldId id="580" r:id="rId55"/>
    <p:sldId id="579" r:id="rId56"/>
    <p:sldId id="589" r:id="rId57"/>
    <p:sldId id="588" r:id="rId58"/>
    <p:sldId id="587" r:id="rId59"/>
    <p:sldId id="586" r:id="rId60"/>
    <p:sldId id="585" r:id="rId61"/>
    <p:sldId id="584" r:id="rId62"/>
    <p:sldId id="583" r:id="rId63"/>
    <p:sldId id="595" r:id="rId64"/>
    <p:sldId id="594" r:id="rId65"/>
    <p:sldId id="593" r:id="rId66"/>
    <p:sldId id="604" r:id="rId67"/>
    <p:sldId id="606" r:id="rId68"/>
    <p:sldId id="607" r:id="rId69"/>
    <p:sldId id="608" r:id="rId70"/>
    <p:sldId id="609" r:id="rId71"/>
    <p:sldId id="592" r:id="rId72"/>
    <p:sldId id="591" r:id="rId73"/>
    <p:sldId id="590" r:id="rId74"/>
    <p:sldId id="601" r:id="rId75"/>
    <p:sldId id="596" r:id="rId76"/>
    <p:sldId id="600" r:id="rId77"/>
    <p:sldId id="599" r:id="rId78"/>
    <p:sldId id="597" r:id="rId79"/>
    <p:sldId id="602" r:id="rId80"/>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0066FF"/>
    <a:srgbClr val="FF3300"/>
    <a:srgbClr val="FF99FF"/>
    <a:srgbClr val="FFCC99"/>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620"/>
    <p:restoredTop sz="94003"/>
  </p:normalViewPr>
  <p:slideViewPr>
    <p:cSldViewPr showGuides="1">
      <p:cViewPr varScale="1">
        <p:scale>
          <a:sx n="100" d="100"/>
          <a:sy n="100" d="100"/>
        </p:scale>
        <p:origin x="946"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3" Type="http://schemas.openxmlformats.org/officeDocument/2006/relationships/tableStyles" Target="tableStyles.xml"/><Relationship Id="rId82" Type="http://schemas.openxmlformats.org/officeDocument/2006/relationships/viewProps" Target="viewProps.xml"/><Relationship Id="rId81" Type="http://schemas.openxmlformats.org/officeDocument/2006/relationships/presProps" Target="presProps.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p:cNvSpPr>
          <p:nvPr>
            <p:ph type="sldImg" idx="2"/>
          </p:nvPr>
        </p:nvSpPr>
        <p:spPr>
          <a:xfrm>
            <a:off x="1143000" y="685800"/>
            <a:ext cx="4572000" cy="3429000"/>
          </a:xfrm>
          <a:prstGeom prst="rect">
            <a:avLst/>
          </a:prstGeom>
          <a:noFill/>
          <a:ln w="9525">
            <a:noFill/>
          </a:ln>
        </p:spPr>
      </p:sp>
      <p:sp>
        <p:nvSpPr>
          <p:cNvPr id="3077" name="Rectangle 5"/>
          <p:cNvSpPr>
            <a:spLocks noGrp="1" noRot="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b="0" smtClean="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9F3C785-3F37-4367-A3A1-F5FADB4F1173}" type="slidenum">
              <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幻灯片图像占位符 1"/>
          <p:cNvSpPr>
            <a:spLocks noGrp="1" noRot="1" noChangeAspect="1" noTextEdit="1"/>
          </p:cNvSpPr>
          <p:nvPr>
            <p:ph type="sldImg"/>
          </p:nvPr>
        </p:nvSpPr>
        <p:spPr>
          <a:ln/>
        </p:spPr>
      </p:sp>
      <p:sp>
        <p:nvSpPr>
          <p:cNvPr id="6147"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61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幻灯片图像占位符 1"/>
          <p:cNvSpPr>
            <a:spLocks noGrp="1" noRot="1" noChangeAspect="1" noTextEdit="1"/>
          </p:cNvSpPr>
          <p:nvPr>
            <p:ph type="sldImg"/>
          </p:nvPr>
        </p:nvSpPr>
        <p:spPr>
          <a:ln/>
        </p:spPr>
      </p:sp>
      <p:sp>
        <p:nvSpPr>
          <p:cNvPr id="11267"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12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幻灯片图像占位符 1"/>
          <p:cNvSpPr>
            <a:spLocks noGrp="1" noRot="1" noChangeAspect="1" noTextEdit="1"/>
          </p:cNvSpPr>
          <p:nvPr>
            <p:ph type="sldImg"/>
          </p:nvPr>
        </p:nvSpPr>
        <p:spPr>
          <a:ln/>
        </p:spPr>
      </p:sp>
      <p:sp>
        <p:nvSpPr>
          <p:cNvPr id="13315"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331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幻灯片图像占位符 1"/>
          <p:cNvSpPr>
            <a:spLocks noGrp="1" noRot="1" noChangeAspect="1" noTextEdit="1"/>
          </p:cNvSpPr>
          <p:nvPr>
            <p:ph type="sldImg"/>
          </p:nvPr>
        </p:nvSpPr>
        <p:spPr>
          <a:ln/>
        </p:spPr>
      </p:sp>
      <p:sp>
        <p:nvSpPr>
          <p:cNvPr id="15363"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536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幻灯片图像占位符 1"/>
          <p:cNvSpPr>
            <a:spLocks noGrp="1" noRot="1" noChangeAspect="1" noTextEdit="1"/>
          </p:cNvSpPr>
          <p:nvPr>
            <p:ph type="sldImg"/>
          </p:nvPr>
        </p:nvSpPr>
        <p:spPr>
          <a:ln/>
        </p:spPr>
      </p:sp>
      <p:sp>
        <p:nvSpPr>
          <p:cNvPr id="17411"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741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幻灯片图像占位符 1"/>
          <p:cNvSpPr>
            <a:spLocks noGrp="1" noRot="1" noChangeAspect="1" noTextEdit="1"/>
          </p:cNvSpPr>
          <p:nvPr>
            <p:ph type="sldImg"/>
          </p:nvPr>
        </p:nvSpPr>
        <p:spPr>
          <a:ln/>
        </p:spPr>
      </p:sp>
      <p:sp>
        <p:nvSpPr>
          <p:cNvPr id="19459"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946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幻灯片图像占位符 1"/>
          <p:cNvSpPr>
            <a:spLocks noGrp="1" noRot="1" noChangeAspect="1" noTextEdit="1"/>
          </p:cNvSpPr>
          <p:nvPr>
            <p:ph type="sldImg"/>
          </p:nvPr>
        </p:nvSpPr>
        <p:spPr>
          <a:ln/>
        </p:spPr>
      </p:sp>
      <p:sp>
        <p:nvSpPr>
          <p:cNvPr id="21507"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2150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幻灯片图像占位符 1"/>
          <p:cNvSpPr>
            <a:spLocks noGrp="1" noRot="1" noChangeAspect="1" noTextEdit="1"/>
          </p:cNvSpPr>
          <p:nvPr>
            <p:ph type="sldImg"/>
          </p:nvPr>
        </p:nvSpPr>
        <p:spPr>
          <a:ln/>
        </p:spPr>
      </p:sp>
      <p:sp>
        <p:nvSpPr>
          <p:cNvPr id="23555"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2355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幻灯片图像占位符 1"/>
          <p:cNvSpPr>
            <a:spLocks noGrp="1" noRot="1" noChangeAspect="1" noTextEdit="1"/>
          </p:cNvSpPr>
          <p:nvPr>
            <p:ph type="sldImg"/>
          </p:nvPr>
        </p:nvSpPr>
        <p:spPr>
          <a:ln/>
        </p:spPr>
      </p:sp>
      <p:sp>
        <p:nvSpPr>
          <p:cNvPr id="25603"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2560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幻灯片图像占位符 1"/>
          <p:cNvSpPr>
            <a:spLocks noGrp="1" noRot="1" noChangeAspect="1" noTextEdit="1"/>
          </p:cNvSpPr>
          <p:nvPr>
            <p:ph type="sldImg"/>
          </p:nvPr>
        </p:nvSpPr>
        <p:spPr>
          <a:ln/>
        </p:spPr>
      </p:sp>
      <p:sp>
        <p:nvSpPr>
          <p:cNvPr id="27651"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2765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幻灯片图像占位符 1"/>
          <p:cNvSpPr>
            <a:spLocks noGrp="1" noRot="1" noChangeAspect="1" noTextEdit="1"/>
          </p:cNvSpPr>
          <p:nvPr>
            <p:ph type="sldImg"/>
          </p:nvPr>
        </p:nvSpPr>
        <p:spPr>
          <a:ln/>
        </p:spPr>
      </p:sp>
      <p:sp>
        <p:nvSpPr>
          <p:cNvPr id="29699"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2970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幻灯片图像占位符 1"/>
          <p:cNvSpPr>
            <a:spLocks noGrp="1" noRot="1" noChangeAspect="1" noTextEdit="1"/>
          </p:cNvSpPr>
          <p:nvPr>
            <p:ph type="sldImg"/>
          </p:nvPr>
        </p:nvSpPr>
        <p:spPr>
          <a:ln/>
        </p:spPr>
      </p:sp>
      <p:sp>
        <p:nvSpPr>
          <p:cNvPr id="31747"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317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337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幻灯片图像占位符 1"/>
          <p:cNvSpPr>
            <a:spLocks noGrp="1" noRot="1" noChangeAspect="1" noTextEdit="1"/>
          </p:cNvSpPr>
          <p:nvPr>
            <p:ph type="sldImg"/>
          </p:nvPr>
        </p:nvSpPr>
        <p:spPr>
          <a:ln/>
        </p:spPr>
      </p:sp>
      <p:sp>
        <p:nvSpPr>
          <p:cNvPr id="35843"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358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幻灯片图像占位符 1"/>
          <p:cNvSpPr>
            <a:spLocks noGrp="1" noRot="1" noChangeAspect="1" noTextEdit="1"/>
          </p:cNvSpPr>
          <p:nvPr>
            <p:ph type="sldImg"/>
          </p:nvPr>
        </p:nvSpPr>
        <p:spPr>
          <a:ln/>
        </p:spPr>
      </p:sp>
      <p:sp>
        <p:nvSpPr>
          <p:cNvPr id="37891"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3789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幻灯片图像占位符 1"/>
          <p:cNvSpPr>
            <a:spLocks noGrp="1" noRot="1" noChangeAspect="1" noTextEdit="1"/>
          </p:cNvSpPr>
          <p:nvPr>
            <p:ph type="sldImg"/>
          </p:nvPr>
        </p:nvSpPr>
        <p:spPr>
          <a:ln/>
        </p:spPr>
      </p:sp>
      <p:sp>
        <p:nvSpPr>
          <p:cNvPr id="39939"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3994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幻灯片图像占位符 1"/>
          <p:cNvSpPr>
            <a:spLocks noGrp="1" noRot="1" noChangeAspect="1" noTextEdit="1"/>
          </p:cNvSpPr>
          <p:nvPr>
            <p:ph type="sldImg"/>
          </p:nvPr>
        </p:nvSpPr>
        <p:spPr>
          <a:ln/>
        </p:spPr>
      </p:sp>
      <p:sp>
        <p:nvSpPr>
          <p:cNvPr id="41987"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4198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幻灯片图像占位符 1"/>
          <p:cNvSpPr>
            <a:spLocks noGrp="1" noRot="1" noChangeAspect="1" noTextEdit="1"/>
          </p:cNvSpPr>
          <p:nvPr>
            <p:ph type="sldImg"/>
          </p:nvPr>
        </p:nvSpPr>
        <p:spPr>
          <a:ln/>
        </p:spPr>
      </p:sp>
      <p:sp>
        <p:nvSpPr>
          <p:cNvPr id="44035"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4403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幻灯片图像占位符 1"/>
          <p:cNvSpPr>
            <a:spLocks noGrp="1" noRot="1" noChangeAspect="1" noTextEdit="1"/>
          </p:cNvSpPr>
          <p:nvPr>
            <p:ph type="sldImg"/>
          </p:nvPr>
        </p:nvSpPr>
        <p:spPr>
          <a:ln/>
        </p:spPr>
      </p:sp>
      <p:sp>
        <p:nvSpPr>
          <p:cNvPr id="46083"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460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幻灯片图像占位符 1"/>
          <p:cNvSpPr>
            <a:spLocks noGrp="1" noRot="1" noChangeAspect="1" noTextEdit="1"/>
          </p:cNvSpPr>
          <p:nvPr>
            <p:ph type="sldImg"/>
          </p:nvPr>
        </p:nvSpPr>
        <p:spPr>
          <a:ln/>
        </p:spPr>
      </p:sp>
      <p:sp>
        <p:nvSpPr>
          <p:cNvPr id="48131"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4813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幻灯片图像占位符 1"/>
          <p:cNvSpPr>
            <a:spLocks noGrp="1" noRot="1" noChangeAspect="1" noTextEdit="1"/>
          </p:cNvSpPr>
          <p:nvPr>
            <p:ph type="sldImg"/>
          </p:nvPr>
        </p:nvSpPr>
        <p:spPr>
          <a:ln/>
        </p:spPr>
      </p:sp>
      <p:sp>
        <p:nvSpPr>
          <p:cNvPr id="50179"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5018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幻灯片图像占位符 1"/>
          <p:cNvSpPr>
            <a:spLocks noGrp="1" noRot="1" noChangeAspect="1" noTextEdit="1"/>
          </p:cNvSpPr>
          <p:nvPr>
            <p:ph type="sldImg"/>
          </p:nvPr>
        </p:nvSpPr>
        <p:spPr>
          <a:ln/>
        </p:spPr>
      </p:sp>
      <p:sp>
        <p:nvSpPr>
          <p:cNvPr id="52227"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5222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幻灯片图像占位符 1"/>
          <p:cNvSpPr>
            <a:spLocks noGrp="1" noRot="1" noChangeAspect="1" noTextEdit="1"/>
          </p:cNvSpPr>
          <p:nvPr>
            <p:ph type="sldImg"/>
          </p:nvPr>
        </p:nvSpPr>
        <p:spPr>
          <a:ln/>
        </p:spPr>
      </p:sp>
      <p:sp>
        <p:nvSpPr>
          <p:cNvPr id="54275"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5427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5632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幻灯片图像占位符 1"/>
          <p:cNvSpPr>
            <a:spLocks noGrp="1" noRot="1" noChangeAspect="1" noTextEdit="1"/>
          </p:cNvSpPr>
          <p:nvPr>
            <p:ph type="sldImg"/>
          </p:nvPr>
        </p:nvSpPr>
        <p:spPr>
          <a:ln/>
        </p:spPr>
      </p:sp>
      <p:sp>
        <p:nvSpPr>
          <p:cNvPr id="58371"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5837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幻灯片图像占位符 1"/>
          <p:cNvSpPr>
            <a:spLocks noGrp="1" noRot="1" noChangeAspect="1" noTextEdit="1"/>
          </p:cNvSpPr>
          <p:nvPr>
            <p:ph type="sldImg"/>
          </p:nvPr>
        </p:nvSpPr>
        <p:spPr>
          <a:ln/>
        </p:spPr>
      </p:sp>
      <p:sp>
        <p:nvSpPr>
          <p:cNvPr id="60419"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6042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624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幻灯片图像占位符 1"/>
          <p:cNvSpPr>
            <a:spLocks noGrp="1" noRot="1" noChangeAspect="1" noTextEdit="1"/>
          </p:cNvSpPr>
          <p:nvPr>
            <p:ph type="sldImg"/>
          </p:nvPr>
        </p:nvSpPr>
        <p:spPr>
          <a:ln/>
        </p:spPr>
      </p:sp>
      <p:sp>
        <p:nvSpPr>
          <p:cNvPr id="64515"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6451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幻灯片图像占位符 1"/>
          <p:cNvSpPr>
            <a:spLocks noGrp="1" noRot="1" noChangeAspect="1" noTextEdit="1"/>
          </p:cNvSpPr>
          <p:nvPr>
            <p:ph type="sldImg"/>
          </p:nvPr>
        </p:nvSpPr>
        <p:spPr>
          <a:ln/>
        </p:spPr>
      </p:sp>
      <p:sp>
        <p:nvSpPr>
          <p:cNvPr id="66563"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6656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幻灯片图像占位符 1"/>
          <p:cNvSpPr>
            <a:spLocks noGrp="1" noRot="1" noChangeAspect="1" noTextEdit="1"/>
          </p:cNvSpPr>
          <p:nvPr>
            <p:ph type="sldImg"/>
          </p:nvPr>
        </p:nvSpPr>
        <p:spPr>
          <a:ln/>
        </p:spPr>
      </p:sp>
      <p:sp>
        <p:nvSpPr>
          <p:cNvPr id="68611"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6861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幻灯片图像占位符 1"/>
          <p:cNvSpPr>
            <a:spLocks noGrp="1" noRot="1" noChangeAspect="1" noTextEdit="1"/>
          </p:cNvSpPr>
          <p:nvPr>
            <p:ph type="sldImg"/>
          </p:nvPr>
        </p:nvSpPr>
        <p:spPr>
          <a:ln/>
        </p:spPr>
      </p:sp>
      <p:sp>
        <p:nvSpPr>
          <p:cNvPr id="70659"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7066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幻灯片图像占位符 1"/>
          <p:cNvSpPr>
            <a:spLocks noGrp="1" noRot="1" noChangeAspect="1" noTextEdit="1"/>
          </p:cNvSpPr>
          <p:nvPr>
            <p:ph type="sldImg"/>
          </p:nvPr>
        </p:nvSpPr>
        <p:spPr>
          <a:ln/>
        </p:spPr>
      </p:sp>
      <p:sp>
        <p:nvSpPr>
          <p:cNvPr id="72707"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7270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幻灯片图像占位符 1"/>
          <p:cNvSpPr>
            <a:spLocks noGrp="1" noRot="1" noChangeAspect="1" noTextEdit="1"/>
          </p:cNvSpPr>
          <p:nvPr>
            <p:ph type="sldImg"/>
          </p:nvPr>
        </p:nvSpPr>
        <p:spPr>
          <a:ln/>
        </p:spPr>
      </p:sp>
      <p:sp>
        <p:nvSpPr>
          <p:cNvPr id="74755"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7475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幻灯片图像占位符 1"/>
          <p:cNvSpPr>
            <a:spLocks noGrp="1" noRot="1" noChangeAspect="1" noTextEdit="1"/>
          </p:cNvSpPr>
          <p:nvPr>
            <p:ph type="sldImg"/>
          </p:nvPr>
        </p:nvSpPr>
        <p:spPr>
          <a:ln/>
        </p:spPr>
      </p:sp>
      <p:sp>
        <p:nvSpPr>
          <p:cNvPr id="76803"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7680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幻灯片图像占位符 1"/>
          <p:cNvSpPr>
            <a:spLocks noGrp="1" noRot="1" noChangeAspect="1" noTextEdit="1"/>
          </p:cNvSpPr>
          <p:nvPr>
            <p:ph type="sldImg"/>
          </p:nvPr>
        </p:nvSpPr>
        <p:spPr>
          <a:ln/>
        </p:spPr>
      </p:sp>
      <p:sp>
        <p:nvSpPr>
          <p:cNvPr id="78851"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7885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幻灯片图像占位符 1"/>
          <p:cNvSpPr>
            <a:spLocks noGrp="1" noRot="1" noChangeAspect="1" noTextEdit="1"/>
          </p:cNvSpPr>
          <p:nvPr>
            <p:ph type="sldImg"/>
          </p:nvPr>
        </p:nvSpPr>
        <p:spPr>
          <a:ln/>
        </p:spPr>
      </p:sp>
      <p:sp>
        <p:nvSpPr>
          <p:cNvPr id="80899"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8090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幻灯片图像占位符 1"/>
          <p:cNvSpPr>
            <a:spLocks noGrp="1" noRot="1" noChangeAspect="1" noTextEdit="1"/>
          </p:cNvSpPr>
          <p:nvPr>
            <p:ph type="sldImg"/>
          </p:nvPr>
        </p:nvSpPr>
        <p:spPr>
          <a:ln/>
        </p:spPr>
      </p:sp>
      <p:sp>
        <p:nvSpPr>
          <p:cNvPr id="82947"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829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幻灯片图像占位符 1"/>
          <p:cNvSpPr>
            <a:spLocks noGrp="1" noRot="1" noChangeAspect="1" noTextEdit="1"/>
          </p:cNvSpPr>
          <p:nvPr>
            <p:ph type="sldImg"/>
          </p:nvPr>
        </p:nvSpPr>
        <p:spPr>
          <a:ln/>
        </p:spPr>
      </p:sp>
      <p:sp>
        <p:nvSpPr>
          <p:cNvPr id="84995"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849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幻灯片图像占位符 1"/>
          <p:cNvSpPr>
            <a:spLocks noGrp="1" noRot="1" noChangeAspect="1" noTextEdit="1"/>
          </p:cNvSpPr>
          <p:nvPr>
            <p:ph type="sldImg"/>
          </p:nvPr>
        </p:nvSpPr>
        <p:spPr>
          <a:ln/>
        </p:spPr>
      </p:sp>
      <p:sp>
        <p:nvSpPr>
          <p:cNvPr id="87043"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870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幻灯片图像占位符 1"/>
          <p:cNvSpPr>
            <a:spLocks noGrp="1" noRot="1" noChangeAspect="1" noTextEdit="1"/>
          </p:cNvSpPr>
          <p:nvPr>
            <p:ph type="sldImg"/>
          </p:nvPr>
        </p:nvSpPr>
        <p:spPr>
          <a:ln/>
        </p:spPr>
      </p:sp>
      <p:sp>
        <p:nvSpPr>
          <p:cNvPr id="89091"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8909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幻灯片图像占位符 1"/>
          <p:cNvSpPr>
            <a:spLocks noGrp="1" noRot="1" noChangeAspect="1" noTextEdit="1"/>
          </p:cNvSpPr>
          <p:nvPr>
            <p:ph type="sldImg"/>
          </p:nvPr>
        </p:nvSpPr>
        <p:spPr>
          <a:ln/>
        </p:spPr>
      </p:sp>
      <p:sp>
        <p:nvSpPr>
          <p:cNvPr id="91139"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9114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9318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幻灯片图像占位符 1"/>
          <p:cNvSpPr>
            <a:spLocks noGrp="1" noRot="1" noChangeAspect="1" noTextEdit="1"/>
          </p:cNvSpPr>
          <p:nvPr>
            <p:ph type="sldImg"/>
          </p:nvPr>
        </p:nvSpPr>
        <p:spPr>
          <a:ln/>
        </p:spPr>
      </p:sp>
      <p:sp>
        <p:nvSpPr>
          <p:cNvPr id="95235"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9523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幻灯片图像占位符 1"/>
          <p:cNvSpPr>
            <a:spLocks noGrp="1" noRot="1" noChangeAspect="1" noTextEdit="1"/>
          </p:cNvSpPr>
          <p:nvPr>
            <p:ph type="sldImg"/>
          </p:nvPr>
        </p:nvSpPr>
        <p:spPr>
          <a:ln/>
        </p:spPr>
      </p:sp>
      <p:sp>
        <p:nvSpPr>
          <p:cNvPr id="97283"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972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幻灯片图像占位符 1"/>
          <p:cNvSpPr>
            <a:spLocks noGrp="1" noRot="1" noChangeAspect="1" noTextEdit="1"/>
          </p:cNvSpPr>
          <p:nvPr>
            <p:ph type="sldImg"/>
          </p:nvPr>
        </p:nvSpPr>
        <p:spPr>
          <a:ln/>
        </p:spPr>
      </p:sp>
      <p:sp>
        <p:nvSpPr>
          <p:cNvPr id="99331"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9933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幻灯片图像占位符 1"/>
          <p:cNvSpPr>
            <a:spLocks noGrp="1" noRot="1" noChangeAspect="1" noTextEdit="1"/>
          </p:cNvSpPr>
          <p:nvPr>
            <p:ph type="sldImg"/>
          </p:nvPr>
        </p:nvSpPr>
        <p:spPr>
          <a:ln/>
        </p:spPr>
      </p:sp>
      <p:sp>
        <p:nvSpPr>
          <p:cNvPr id="101379"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0138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幻灯片图像占位符 1"/>
          <p:cNvSpPr>
            <a:spLocks noGrp="1" noRot="1" noChangeAspect="1" noTextEdit="1"/>
          </p:cNvSpPr>
          <p:nvPr>
            <p:ph type="sldImg"/>
          </p:nvPr>
        </p:nvSpPr>
        <p:spPr>
          <a:ln/>
        </p:spPr>
      </p:sp>
      <p:sp>
        <p:nvSpPr>
          <p:cNvPr id="103427"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0342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幻灯片图像占位符 1"/>
          <p:cNvSpPr>
            <a:spLocks noGrp="1" noRot="1" noChangeAspect="1" noTextEdit="1"/>
          </p:cNvSpPr>
          <p:nvPr>
            <p:ph type="sldImg"/>
          </p:nvPr>
        </p:nvSpPr>
        <p:spPr>
          <a:ln/>
        </p:spPr>
      </p:sp>
      <p:sp>
        <p:nvSpPr>
          <p:cNvPr id="105475"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0547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幻灯片图像占位符 1"/>
          <p:cNvSpPr>
            <a:spLocks noGrp="1" noRot="1" noChangeAspect="1" noTextEdit="1"/>
          </p:cNvSpPr>
          <p:nvPr>
            <p:ph type="sldImg"/>
          </p:nvPr>
        </p:nvSpPr>
        <p:spPr>
          <a:ln/>
        </p:spPr>
      </p:sp>
      <p:sp>
        <p:nvSpPr>
          <p:cNvPr id="107523"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0752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幻灯片图像占位符 1"/>
          <p:cNvSpPr>
            <a:spLocks noGrp="1" noRot="1" noChangeAspect="1" noTextEdit="1"/>
          </p:cNvSpPr>
          <p:nvPr>
            <p:ph type="sldImg"/>
          </p:nvPr>
        </p:nvSpPr>
        <p:spPr>
          <a:ln/>
        </p:spPr>
      </p:sp>
      <p:sp>
        <p:nvSpPr>
          <p:cNvPr id="109571"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0957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幻灯片图像占位符 1"/>
          <p:cNvSpPr>
            <a:spLocks noGrp="1" noRot="1" noChangeAspect="1" noTextEdit="1"/>
          </p:cNvSpPr>
          <p:nvPr>
            <p:ph type="sldImg"/>
          </p:nvPr>
        </p:nvSpPr>
        <p:spPr>
          <a:ln/>
        </p:spPr>
      </p:sp>
      <p:sp>
        <p:nvSpPr>
          <p:cNvPr id="111619"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1162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幻灯片图像占位符 1"/>
          <p:cNvSpPr>
            <a:spLocks noGrp="1" noRot="1" noChangeAspect="1" noTextEdit="1"/>
          </p:cNvSpPr>
          <p:nvPr>
            <p:ph type="sldImg"/>
          </p:nvPr>
        </p:nvSpPr>
        <p:spPr>
          <a:ln/>
        </p:spPr>
      </p:sp>
      <p:sp>
        <p:nvSpPr>
          <p:cNvPr id="113667"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136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幻灯片图像占位符 1"/>
          <p:cNvSpPr>
            <a:spLocks noGrp="1" noRot="1" noChangeAspect="1" noTextEdit="1"/>
          </p:cNvSpPr>
          <p:nvPr>
            <p:ph type="sldImg"/>
          </p:nvPr>
        </p:nvSpPr>
        <p:spPr>
          <a:ln/>
        </p:spPr>
      </p:sp>
      <p:sp>
        <p:nvSpPr>
          <p:cNvPr id="115715"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1571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幻灯片图像占位符 1"/>
          <p:cNvSpPr>
            <a:spLocks noGrp="1" noRot="1" noChangeAspect="1" noTextEdit="1"/>
          </p:cNvSpPr>
          <p:nvPr>
            <p:ph type="sldImg"/>
          </p:nvPr>
        </p:nvSpPr>
        <p:spPr>
          <a:ln/>
        </p:spPr>
      </p:sp>
      <p:sp>
        <p:nvSpPr>
          <p:cNvPr id="117763"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1776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幻灯片图像占位符 1"/>
          <p:cNvSpPr>
            <a:spLocks noGrp="1" noRot="1" noChangeAspect="1" noTextEdit="1"/>
          </p:cNvSpPr>
          <p:nvPr>
            <p:ph type="sldImg"/>
          </p:nvPr>
        </p:nvSpPr>
        <p:spPr>
          <a:ln/>
        </p:spPr>
      </p:sp>
      <p:sp>
        <p:nvSpPr>
          <p:cNvPr id="119811"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1981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幻灯片图像占位符 1"/>
          <p:cNvSpPr>
            <a:spLocks noGrp="1" noRot="1" noChangeAspect="1" noTextEdit="1"/>
          </p:cNvSpPr>
          <p:nvPr>
            <p:ph type="sldImg"/>
          </p:nvPr>
        </p:nvSpPr>
        <p:spPr>
          <a:ln/>
        </p:spPr>
      </p:sp>
      <p:sp>
        <p:nvSpPr>
          <p:cNvPr id="121859"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2186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幻灯片图像占位符 1"/>
          <p:cNvSpPr>
            <a:spLocks noGrp="1" noRot="1" noChangeAspect="1" noTextEdit="1"/>
          </p:cNvSpPr>
          <p:nvPr>
            <p:ph type="sldImg"/>
          </p:nvPr>
        </p:nvSpPr>
        <p:spPr>
          <a:ln/>
        </p:spPr>
      </p:sp>
      <p:sp>
        <p:nvSpPr>
          <p:cNvPr id="123907"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2390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幻灯片图像占位符 1"/>
          <p:cNvSpPr>
            <a:spLocks noGrp="1" noRot="1" noChangeAspect="1" noTextEdit="1"/>
          </p:cNvSpPr>
          <p:nvPr>
            <p:ph type="sldImg"/>
          </p:nvPr>
        </p:nvSpPr>
        <p:spPr>
          <a:ln/>
        </p:spPr>
      </p:sp>
      <p:sp>
        <p:nvSpPr>
          <p:cNvPr id="125955"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2595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幻灯片图像占位符 1"/>
          <p:cNvSpPr>
            <a:spLocks noGrp="1" noRot="1" noChangeAspect="1" noTextEdit="1"/>
          </p:cNvSpPr>
          <p:nvPr>
            <p:ph type="sldImg"/>
          </p:nvPr>
        </p:nvSpPr>
        <p:spPr>
          <a:ln/>
        </p:spPr>
      </p:sp>
      <p:sp>
        <p:nvSpPr>
          <p:cNvPr id="128003"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2800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幻灯片图像占位符 1"/>
          <p:cNvSpPr>
            <a:spLocks noGrp="1" noRot="1" noChangeAspect="1" noTextEdit="1"/>
          </p:cNvSpPr>
          <p:nvPr>
            <p:ph type="sldImg"/>
          </p:nvPr>
        </p:nvSpPr>
        <p:spPr>
          <a:ln/>
        </p:spPr>
      </p:sp>
      <p:sp>
        <p:nvSpPr>
          <p:cNvPr id="130051"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3005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幻灯片图像占位符 1"/>
          <p:cNvSpPr>
            <a:spLocks noGrp="1" noRot="1" noChangeAspect="1" noTextEdit="1"/>
          </p:cNvSpPr>
          <p:nvPr>
            <p:ph type="sldImg"/>
          </p:nvPr>
        </p:nvSpPr>
        <p:spPr>
          <a:ln/>
        </p:spPr>
      </p:sp>
      <p:sp>
        <p:nvSpPr>
          <p:cNvPr id="132099"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3210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幻灯片图像占位符 1"/>
          <p:cNvSpPr>
            <a:spLocks noGrp="1" noRot="1" noChangeAspect="1" noTextEdit="1"/>
          </p:cNvSpPr>
          <p:nvPr>
            <p:ph type="sldImg"/>
          </p:nvPr>
        </p:nvSpPr>
        <p:spPr>
          <a:ln/>
        </p:spPr>
      </p:sp>
      <p:sp>
        <p:nvSpPr>
          <p:cNvPr id="134147"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341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幻灯片图像占位符 1"/>
          <p:cNvSpPr>
            <a:spLocks noGrp="1" noRot="1" noChangeAspect="1" noTextEdit="1"/>
          </p:cNvSpPr>
          <p:nvPr>
            <p:ph type="sldImg"/>
          </p:nvPr>
        </p:nvSpPr>
        <p:spPr>
          <a:ln/>
        </p:spPr>
      </p:sp>
      <p:sp>
        <p:nvSpPr>
          <p:cNvPr id="136195"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361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幻灯片图像占位符 1"/>
          <p:cNvSpPr>
            <a:spLocks noGrp="1" noRot="1" noChangeAspect="1" noTextEdit="1"/>
          </p:cNvSpPr>
          <p:nvPr>
            <p:ph type="sldImg"/>
          </p:nvPr>
        </p:nvSpPr>
        <p:spPr>
          <a:ln/>
        </p:spPr>
      </p:sp>
      <p:sp>
        <p:nvSpPr>
          <p:cNvPr id="138243"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382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幻灯片图像占位符 1"/>
          <p:cNvSpPr>
            <a:spLocks noGrp="1" noRot="1" noChangeAspect="1" noTextEdit="1"/>
          </p:cNvSpPr>
          <p:nvPr>
            <p:ph type="sldImg"/>
          </p:nvPr>
        </p:nvSpPr>
        <p:spPr>
          <a:ln/>
        </p:spPr>
      </p:sp>
      <p:sp>
        <p:nvSpPr>
          <p:cNvPr id="140291"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4029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幻灯片图像占位符 1"/>
          <p:cNvSpPr>
            <a:spLocks noGrp="1" noRot="1" noChangeAspect="1" noTextEdit="1"/>
          </p:cNvSpPr>
          <p:nvPr>
            <p:ph type="sldImg"/>
          </p:nvPr>
        </p:nvSpPr>
        <p:spPr>
          <a:ln/>
        </p:spPr>
      </p:sp>
      <p:sp>
        <p:nvSpPr>
          <p:cNvPr id="142339"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4234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幻灯片图像占位符 1"/>
          <p:cNvSpPr>
            <a:spLocks noGrp="1" noRot="1" noChangeAspect="1" noTextEdit="1"/>
          </p:cNvSpPr>
          <p:nvPr>
            <p:ph type="sldImg"/>
          </p:nvPr>
        </p:nvSpPr>
        <p:spPr>
          <a:ln/>
        </p:spPr>
      </p:sp>
      <p:sp>
        <p:nvSpPr>
          <p:cNvPr id="144387"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4438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幻灯片图像占位符 1"/>
          <p:cNvSpPr>
            <a:spLocks noGrp="1" noRot="1" noChangeAspect="1" noTextEdit="1"/>
          </p:cNvSpPr>
          <p:nvPr>
            <p:ph type="sldImg"/>
          </p:nvPr>
        </p:nvSpPr>
        <p:spPr>
          <a:ln/>
        </p:spPr>
      </p:sp>
      <p:sp>
        <p:nvSpPr>
          <p:cNvPr id="146435"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4643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幻灯片图像占位符 1"/>
          <p:cNvSpPr>
            <a:spLocks noGrp="1" noRot="1" noChangeAspect="1" noTextEdit="1"/>
          </p:cNvSpPr>
          <p:nvPr>
            <p:ph type="sldImg"/>
          </p:nvPr>
        </p:nvSpPr>
        <p:spPr>
          <a:ln/>
        </p:spPr>
      </p:sp>
      <p:sp>
        <p:nvSpPr>
          <p:cNvPr id="148483" name="备注占位符 2"/>
          <p:cNvSpPr>
            <a:spLocks noGrp="1"/>
          </p:cNvSpPr>
          <p:nvPr>
            <p:ph type="body" idx="1"/>
          </p:nvPr>
        </p:nvSpPr>
        <p:spPr>
          <a:ln/>
        </p:spPr>
        <p:txBody>
          <a:bodyPr wrap="square" lIns="91440" tIns="45720" rIns="91440" bIns="45720" anchor="ctr" anchorCtr="0"/>
          <a:p>
            <a:pPr lvl="0"/>
            <a:endParaRPr lang="zh-CN" altLang="en-US" dirty="0"/>
          </a:p>
        </p:txBody>
      </p:sp>
      <p:sp>
        <p:nvSpPr>
          <p:cNvPr id="1484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2" name="Picture 4" descr="cover_01"/>
          <p:cNvPicPr>
            <a:picLocks noChangeAspect="1"/>
          </p:cNvPicPr>
          <p:nvPr/>
        </p:nvPicPr>
        <p:blipFill>
          <a:blip r:embed="rId2"/>
          <a:stretch>
            <a:fillRect/>
          </a:stretch>
        </p:blipFill>
        <p:spPr>
          <a:xfrm>
            <a:off x="-26987" y="0"/>
            <a:ext cx="7380287" cy="6858000"/>
          </a:xfrm>
          <a:prstGeom prst="rect">
            <a:avLst/>
          </a:prstGeom>
          <a:noFill/>
          <a:ln w="9525">
            <a:noFill/>
          </a:ln>
        </p:spPr>
      </p:pic>
      <p:sp>
        <p:nvSpPr>
          <p:cNvPr id="2050" name="Rectangle 2"/>
          <p:cNvSpPr>
            <a:spLocks noGrp="1" noChangeArrowheads="1"/>
          </p:cNvSpPr>
          <p:nvPr>
            <p:ph type="ctrTitle"/>
          </p:nvPr>
        </p:nvSpPr>
        <p:spPr>
          <a:xfrm>
            <a:off x="2555776" y="2132856"/>
            <a:ext cx="6156424" cy="673844"/>
          </a:xfrm>
          <a:effectLst>
            <a:outerShdw dist="17961" dir="2700000" algn="ctr" rotWithShape="0">
              <a:srgbClr val="777777"/>
            </a:outerShdw>
          </a:effectLst>
        </p:spPr>
        <p:txBody>
          <a:bodyPr/>
          <a:lstStyle>
            <a:lvl1pPr>
              <a:defRPr sz="4400">
                <a:solidFill>
                  <a:schemeClr val="accent2"/>
                </a:solidFill>
                <a:latin typeface="Arial" panose="020B0604020202020204" pitchFamily="34" charset="0"/>
              </a:defRPr>
            </a:lvl1pPr>
          </a:lstStyle>
          <a:p>
            <a:pPr lvl="0"/>
            <a:endParaRPr lang="zh-CN" altLang="zh-CN" noProof="0"/>
          </a:p>
        </p:txBody>
      </p:sp>
      <p:sp>
        <p:nvSpPr>
          <p:cNvPr id="2051" name="Rectangle 3"/>
          <p:cNvSpPr>
            <a:spLocks noGrp="1" noChangeArrowheads="1"/>
          </p:cNvSpPr>
          <p:nvPr>
            <p:ph type="subTitle" idx="1"/>
          </p:nvPr>
        </p:nvSpPr>
        <p:spPr>
          <a:xfrm>
            <a:off x="3923928" y="3212976"/>
            <a:ext cx="3744416" cy="864096"/>
          </a:xfrm>
        </p:spPr>
        <p:txBody>
          <a:bodyPr/>
          <a:lstStyle>
            <a:lvl1pPr marL="0" indent="0" algn="ctr">
              <a:lnSpc>
                <a:spcPct val="100000"/>
              </a:lnSpc>
              <a:spcBef>
                <a:spcPct val="0"/>
              </a:spcBef>
              <a:buClrTx/>
              <a:buSzTx/>
              <a:buFontTx/>
              <a:buNone/>
              <a:defRPr sz="2800" b="1">
                <a:effectLst>
                  <a:outerShdw blurRad="38100" dist="38100" dir="2700000" algn="tl">
                    <a:srgbClr val="C0C0C0"/>
                  </a:outerShdw>
                </a:effectLst>
              </a:defRPr>
            </a:lvl1pPr>
          </a:lstStyle>
          <a:p>
            <a:pPr lvl="0"/>
            <a:r>
              <a:rPr lang="zh-CN" noProof="0" dirty="0"/>
              <a:t>单击此处编辑母版副标题样式</a:t>
            </a:r>
            <a:endParaRPr lang="zh-CN" noProof="0" dirty="0"/>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27584" y="1380248"/>
            <a:ext cx="7391400" cy="2283702"/>
          </a:xfrm>
        </p:spPr>
        <p:txBody>
          <a:bodyPr/>
          <a:lstStyle>
            <a:lvl1pPr>
              <a:defRPr sz="2400">
                <a:latin typeface="华文中宋" panose="02010600040101010101" pitchFamily="2" charset="-122"/>
                <a:ea typeface="华文中宋" panose="02010600040101010101" pitchFamily="2" charset="-122"/>
              </a:defRPr>
            </a:lvl1pPr>
            <a:lvl2pPr>
              <a:defRPr sz="2000">
                <a:latin typeface="华文中宋" panose="02010600040101010101" pitchFamily="2" charset="-122"/>
                <a:ea typeface="华文中宋" panose="02010600040101010101" pitchFamily="2" charset="-122"/>
              </a:defRPr>
            </a:lvl2pPr>
            <a:lvl3pPr>
              <a:defRPr sz="1800">
                <a:latin typeface="华文中宋" panose="02010600040101010101" pitchFamily="2" charset="-122"/>
                <a:ea typeface="华文中宋" panose="02010600040101010101" pitchFamily="2" charset="-122"/>
              </a:defRPr>
            </a:lvl3pPr>
            <a:lvl4pPr>
              <a:defRPr sz="1600">
                <a:latin typeface="华文中宋" panose="02010600040101010101" pitchFamily="2" charset="-122"/>
                <a:ea typeface="华文中宋" panose="02010600040101010101" pitchFamily="2" charset="-122"/>
              </a:defRPr>
            </a:lvl4pPr>
            <a:lvl5pPr>
              <a:defRPr sz="1400">
                <a:latin typeface="华文中宋" panose="02010600040101010101" pitchFamily="2" charset="-122"/>
                <a:ea typeface="华文中宋" panose="02010600040101010101"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134AA9F2-EF07-4A4B-B188-F9315E97EE3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134AA9F2-EF07-4A4B-B188-F9315E97EE3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863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134AA9F2-EF07-4A4B-B188-F9315E97EE3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134AA9F2-EF07-4A4B-B188-F9315E97EE3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134AA9F2-EF07-4A4B-B188-F9315E97EE3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134AA9F2-EF07-4A4B-B188-F9315E97EE3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134AA9F2-EF07-4A4B-B188-F9315E97EE3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134AA9F2-EF07-4A4B-B188-F9315E97EE3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134AA9F2-EF07-4A4B-B188-F9315E97EE3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18263" y="260350"/>
            <a:ext cx="1887537" cy="324167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0" y="260350"/>
            <a:ext cx="5510213" cy="324167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134AA9F2-EF07-4A4B-B188-F9315E97EE3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914400" y="1524000"/>
            <a:ext cx="3619500" cy="19780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86300" y="1524000"/>
            <a:ext cx="3619500" cy="19780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134AA9F2-EF07-4A4B-B188-F9315E97EE3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755650" y="260350"/>
            <a:ext cx="7086600" cy="685800"/>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914400" y="1524000"/>
            <a:ext cx="36195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86300" y="1524000"/>
            <a:ext cx="36195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914400" y="2589213"/>
            <a:ext cx="36195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86300" y="2589213"/>
            <a:ext cx="36195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134AA9F2-EF07-4A4B-B188-F9315E97EE3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reserve="1">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524000"/>
            <a:ext cx="7391400" cy="9128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914400" y="2589213"/>
            <a:ext cx="7391400" cy="91281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134AA9F2-EF07-4A4B-B188-F9315E97EE3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755650" y="260350"/>
            <a:ext cx="7550150" cy="32416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134AA9F2-EF07-4A4B-B188-F9315E97EE3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2.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1476375" y="260350"/>
            <a:ext cx="6365875" cy="685800"/>
          </a:xfrm>
          <a:prstGeom prst="rect">
            <a:avLst/>
          </a:prstGeom>
          <a:noFill/>
          <a:ln w="9525">
            <a:noFill/>
          </a:ln>
          <a:effectLst>
            <a:outerShdw dist="17961" dir="2699999" algn="ctr" rotWithShape="0">
              <a:srgbClr val="DDDDDD"/>
            </a:outerShdw>
          </a:effectLst>
        </p:spPr>
        <p:txBody>
          <a:bodyPr anchor="ctr" anchorCtr="0"/>
          <a:p>
            <a:pPr lvl="0"/>
            <a:r>
              <a:rPr lang="zh-CN" altLang="zh-CN" dirty="0"/>
              <a:t>单击此处编辑母版标题样式</a:t>
            </a:r>
            <a:endParaRPr lang="zh-CN" altLang="zh-CN" dirty="0"/>
          </a:p>
        </p:txBody>
      </p:sp>
      <p:sp>
        <p:nvSpPr>
          <p:cNvPr id="1027" name="Rectangle 3"/>
          <p:cNvSpPr>
            <a:spLocks noGrp="1"/>
          </p:cNvSpPr>
          <p:nvPr>
            <p:ph type="body" idx="1"/>
          </p:nvPr>
        </p:nvSpPr>
        <p:spPr>
          <a:xfrm>
            <a:off x="827088" y="1412875"/>
            <a:ext cx="7391400" cy="1978025"/>
          </a:xfrm>
          <a:prstGeom prst="rect">
            <a:avLst/>
          </a:prstGeom>
          <a:noFill/>
          <a:ln w="9525">
            <a:noFill/>
          </a:ln>
        </p:spPr>
        <p:txBody>
          <a:bodyPr>
            <a:spAutoFit/>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28" name="Line 4"/>
          <p:cNvSpPr/>
          <p:nvPr/>
        </p:nvSpPr>
        <p:spPr>
          <a:xfrm flipV="1">
            <a:off x="381000" y="954088"/>
            <a:ext cx="8294688" cy="36512"/>
          </a:xfrm>
          <a:prstGeom prst="line">
            <a:avLst/>
          </a:prstGeom>
          <a:ln w="38100" cap="flat" cmpd="sng">
            <a:solidFill>
              <a:srgbClr val="0066FF"/>
            </a:solidFill>
            <a:prstDash val="solid"/>
            <a:headEnd type="none" w="med" len="med"/>
            <a:tailEnd type="none" w="med" len="med"/>
          </a:ln>
        </p:spPr>
      </p:sp>
      <p:sp>
        <p:nvSpPr>
          <p:cNvPr id="1029" name="Rectangle 5"/>
          <p:cNvSpPr>
            <a:spLocks noGrp="1" noChangeArrowheads="1"/>
          </p:cNvSpPr>
          <p:nvPr>
            <p:ph type="ftr" sz="quarter" idx="3"/>
          </p:nvPr>
        </p:nvSpPr>
        <p:spPr bwMode="auto">
          <a:xfrm>
            <a:off x="7812088" y="6381750"/>
            <a:ext cx="1331913" cy="476250"/>
          </a:xfrm>
          <a:prstGeom prst="rect">
            <a:avLst/>
          </a:prstGeom>
          <a:noFill/>
          <a:ln>
            <a:noFill/>
          </a:ln>
          <a:effectLst/>
        </p:spPr>
        <p:txBody>
          <a:bodyPr vert="horz" wrap="square" lIns="91440" tIns="45720" rIns="91440" bIns="45720" numCol="1" anchor="t" anchorCtr="0" compatLnSpc="1"/>
          <a:lstStyle>
            <a:lvl1pPr algn="ctr" eaLnBrk="1" hangingPunct="1">
              <a:defRPr sz="1800" smtClean="0">
                <a:latin typeface="Times New Roman" panose="02020603050405020304" pitchFamily="18"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134AA9F2-EF07-4A4B-B188-F9315E97EE3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030" name="Rectangle 7"/>
          <p:cNvSpPr>
            <a:spLocks noChangeArrowheads="1"/>
          </p:cNvSpPr>
          <p:nvPr/>
        </p:nvSpPr>
        <p:spPr bwMode="auto">
          <a:xfrm rot="10800000" flipH="1" flipV="1">
            <a:off x="0" y="6413500"/>
            <a:ext cx="5715000" cy="39688"/>
          </a:xfrm>
          <a:prstGeom prst="rect">
            <a:avLst/>
          </a:prstGeom>
          <a:gradFill flip="none" rotWithShape="1">
            <a:gsLst>
              <a:gs pos="0">
                <a:srgbClr val="0066FF"/>
              </a:gs>
              <a:gs pos="100000">
                <a:srgbClr val="FFFFFF"/>
              </a:gs>
            </a:gsLst>
            <a:lin ang="0" scaled="1"/>
            <a:tileRect/>
          </a:gradFill>
          <a:ln w="9525">
            <a:noFill/>
            <a:miter lim="800000"/>
          </a:ln>
          <a:effectLst/>
        </p:spPr>
        <p:txBody>
          <a:bodyPr wrap="none" anchor="ctr"/>
          <a:lstStyle>
            <a:lvl1pPr eaLnBrk="0" hangingPunct="0">
              <a:defRPr sz="2400" b="1">
                <a:solidFill>
                  <a:schemeClr val="accent2"/>
                </a:solidFill>
                <a:latin typeface="华文中宋" panose="02010600040101010101" pitchFamily="2" charset="-122"/>
                <a:ea typeface="华文中宋" panose="02010600040101010101" pitchFamily="2" charset="-122"/>
              </a:defRPr>
            </a:lvl1pPr>
            <a:lvl2pPr marL="742950" indent="-285750" eaLnBrk="0" hangingPunct="0">
              <a:defRPr sz="2400" b="1">
                <a:solidFill>
                  <a:schemeClr val="accent2"/>
                </a:solidFill>
                <a:latin typeface="华文中宋" panose="02010600040101010101" pitchFamily="2" charset="-122"/>
                <a:ea typeface="华文中宋" panose="02010600040101010101" pitchFamily="2" charset="-122"/>
              </a:defRPr>
            </a:lvl2pPr>
            <a:lvl3pPr marL="1143000" indent="-228600" eaLnBrk="0" hangingPunct="0">
              <a:defRPr sz="2400" b="1">
                <a:solidFill>
                  <a:schemeClr val="accent2"/>
                </a:solidFill>
                <a:latin typeface="华文中宋" panose="02010600040101010101" pitchFamily="2" charset="-122"/>
                <a:ea typeface="华文中宋" panose="02010600040101010101" pitchFamily="2" charset="-122"/>
              </a:defRPr>
            </a:lvl3pPr>
            <a:lvl4pPr marL="1600200" indent="-228600" eaLnBrk="0" hangingPunct="0">
              <a:defRPr sz="2400" b="1">
                <a:solidFill>
                  <a:schemeClr val="accent2"/>
                </a:solidFill>
                <a:latin typeface="华文中宋" panose="02010600040101010101" pitchFamily="2" charset="-122"/>
                <a:ea typeface="华文中宋" panose="02010600040101010101" pitchFamily="2" charset="-122"/>
              </a:defRPr>
            </a:lvl4pPr>
            <a:lvl5pPr marL="2057400" indent="-228600" eaLnBrk="0" hangingPunct="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
        <p:nvSpPr>
          <p:cNvPr id="1033" name="Text Box 9"/>
          <p:cNvSpPr txBox="1">
            <a:spLocks noChangeArrowheads="1"/>
          </p:cNvSpPr>
          <p:nvPr/>
        </p:nvSpPr>
        <p:spPr bwMode="auto">
          <a:xfrm>
            <a:off x="539750" y="6380163"/>
            <a:ext cx="2540000" cy="415925"/>
          </a:xfrm>
          <a:prstGeom prst="rect">
            <a:avLst/>
          </a:prstGeom>
          <a:noFill/>
          <a:ln>
            <a:noFill/>
          </a:ln>
          <a:effectLst/>
        </p:spPr>
        <p:txBody>
          <a:bodyPr lIns="0" tIns="0" rIns="0" bIns="0" anchor="ctr">
            <a:spAutoFit/>
          </a:bodyPr>
          <a:lstStyle/>
          <a:p>
            <a:pPr marL="0" marR="0" lvl="0" indent="0" algn="l" defTabSz="914400" rtl="0" eaLnBrk="1" fontAlgn="base" latinLnBrk="0" hangingPunct="1">
              <a:lnSpc>
                <a:spcPct val="150000"/>
              </a:lnSpc>
              <a:spcBef>
                <a:spcPct val="50000"/>
              </a:spcBef>
              <a:spcAft>
                <a:spcPct val="50000"/>
              </a:spcAft>
              <a:buClrTx/>
              <a:buSzTx/>
              <a:buFontTx/>
              <a:buNone/>
              <a:defRPr/>
            </a:pP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r>
              <a:rPr kumimoji="0" lang="zh-CN" altLang="en-US"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软件工</a:t>
            </a:r>
            <a:r>
              <a:rPr kumimoji="0" lang="zh-CN" altLang="en-US" sz="1800" b="0" i="0" u="none" strike="noStrike" kern="1200" cap="none" spc="0" normalizeH="0" baseline="0" noProof="0" dirty="0" smtClean="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程与安全</a:t>
            </a:r>
            <a:r>
              <a:rPr kumimoji="0" lang="en-US" altLang="zh-CN" sz="1800" b="0" i="0" u="none" strike="noStrike" kern="1200" cap="none" spc="0" normalizeH="0" baseline="0" noProof="0" dirty="0" smtClean="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endParaRPr kumimoji="0" 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endParaRPr>
          </a:p>
        </p:txBody>
      </p:sp>
      <p:pic>
        <p:nvPicPr>
          <p:cNvPr id="1032" name="图片 1"/>
          <p:cNvPicPr>
            <a:picLocks noChangeAspect="1"/>
          </p:cNvPicPr>
          <p:nvPr userDrawn="1"/>
        </p:nvPicPr>
        <p:blipFill>
          <a:blip r:embed="rId16"/>
          <a:stretch>
            <a:fillRect/>
          </a:stretch>
        </p:blipFill>
        <p:spPr>
          <a:xfrm>
            <a:off x="8294688" y="71438"/>
            <a:ext cx="763587" cy="7651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fade/>
  </p:transition>
  <p:hf sldNum="0" hdr="0" ftr="0" dt="0"/>
  <p:txStyles>
    <p:titleStyle>
      <a:lvl1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cs typeface="+mj-cs"/>
        </a:defRPr>
      </a:lvl1pPr>
      <a:lvl2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2pPr>
      <a:lvl3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3pPr>
      <a:lvl4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4pPr>
      <a:lvl5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5pPr>
      <a:lvl6pPr marL="4572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9pPr>
    </p:titleStyle>
    <p:body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vl6pPr marL="2386330" indent="-228600" algn="just" rtl="0" fontAlgn="base">
        <a:lnSpc>
          <a:spcPct val="140000"/>
        </a:lnSpc>
        <a:spcBef>
          <a:spcPct val="20000"/>
        </a:spcBef>
        <a:spcAft>
          <a:spcPct val="0"/>
        </a:spcAft>
        <a:buChar char="»"/>
        <a:defRPr sz="1200">
          <a:solidFill>
            <a:schemeClr val="tx1"/>
          </a:solidFill>
          <a:latin typeface="+mn-lt"/>
          <a:ea typeface="+mn-ea"/>
        </a:defRPr>
      </a:lvl6pPr>
      <a:lvl7pPr marL="2843530" indent="-228600" algn="just" rtl="0" fontAlgn="base">
        <a:lnSpc>
          <a:spcPct val="140000"/>
        </a:lnSpc>
        <a:spcBef>
          <a:spcPct val="20000"/>
        </a:spcBef>
        <a:spcAft>
          <a:spcPct val="0"/>
        </a:spcAft>
        <a:buChar char="»"/>
        <a:defRPr sz="1200">
          <a:solidFill>
            <a:schemeClr val="tx1"/>
          </a:solidFill>
          <a:latin typeface="+mn-lt"/>
          <a:ea typeface="+mn-ea"/>
        </a:defRPr>
      </a:lvl7pPr>
      <a:lvl8pPr marL="3300730" indent="-228600" algn="just" rtl="0" fontAlgn="base">
        <a:lnSpc>
          <a:spcPct val="140000"/>
        </a:lnSpc>
        <a:spcBef>
          <a:spcPct val="20000"/>
        </a:spcBef>
        <a:spcAft>
          <a:spcPct val="0"/>
        </a:spcAft>
        <a:buChar char="»"/>
        <a:defRPr sz="1200">
          <a:solidFill>
            <a:schemeClr val="tx1"/>
          </a:solidFill>
          <a:latin typeface="+mn-lt"/>
          <a:ea typeface="+mn-ea"/>
        </a:defRPr>
      </a:lvl8pPr>
      <a:lvl9pPr marL="3757930" indent="-228600" algn="just" rtl="0" fontAlgn="base">
        <a:lnSpc>
          <a:spcPct val="140000"/>
        </a:lnSpc>
        <a:spcBef>
          <a:spcPct val="20000"/>
        </a:spcBef>
        <a:spcAft>
          <a:spcPct val="0"/>
        </a:spcAft>
        <a:buChar char="»"/>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w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4.GI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4.GI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image" Target="../media/image4.GIF"/></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image" Target="../media/image11.png"/><Relationship Id="rId7" Type="http://schemas.openxmlformats.org/officeDocument/2006/relationships/image" Target="../media/image10.png"/><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tags" Target="../tags/tag1.xml"/><Relationship Id="rId2" Type="http://schemas.openxmlformats.org/officeDocument/2006/relationships/image" Target="../media/image6.svg"/><Relationship Id="rId11" Type="http://schemas.openxmlformats.org/officeDocument/2006/relationships/slideLayout" Target="../slideLayouts/slideLayout7.xml"/><Relationship Id="rId10" Type="http://schemas.openxmlformats.org/officeDocument/2006/relationships/image" Target="../media/image13.png"/><Relationship Id="rId1" Type="http://schemas.openxmlformats.org/officeDocument/2006/relationships/image" Target="../media/image5.png"/></Relationships>
</file>

<file path=ppt/slides/_rels/slide66.xml.rels><?xml version="1.0" encoding="UTF-8" standalone="yes"?>
<Relationships xmlns="http://schemas.openxmlformats.org/package/2006/relationships"><Relationship Id="rId6" Type="http://schemas.openxmlformats.org/officeDocument/2006/relationships/notesSlide" Target="../notesSlides/notesSlide61.xml"/><Relationship Id="rId5" Type="http://schemas.openxmlformats.org/officeDocument/2006/relationships/slideLayout" Target="../slideLayouts/slideLayout7.xml"/><Relationship Id="rId4" Type="http://schemas.openxmlformats.org/officeDocument/2006/relationships/image" Target="../media/image15.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4.png"/></Relationships>
</file>

<file path=ppt/slides/_rels/slide6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6.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14.png"/></Relationships>
</file>

<file path=ppt/slides/_rels/slide6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6.png"/><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image" Target="../media/image14.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image" Target="../media/image4.GIF"/></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标题 4"/>
          <p:cNvSpPr>
            <a:spLocks noGrp="1"/>
          </p:cNvSpPr>
          <p:nvPr>
            <p:ph type="ctrTitle"/>
          </p:nvPr>
        </p:nvSpPr>
        <p:spPr>
          <a:xfrm>
            <a:off x="1403350" y="1773238"/>
            <a:ext cx="6156325" cy="2016125"/>
          </a:xfrm>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chemeClr val="accent6"/>
                </a:solidFill>
                <a:effectLst/>
                <a:uLnTx/>
                <a:uFillTx/>
                <a:latin typeface="华文中宋" panose="02010600040101010101" pitchFamily="2" charset="-122"/>
                <a:ea typeface="华文中宋" panose="02010600040101010101" pitchFamily="2" charset="-122"/>
                <a:cs typeface="+mj-cs"/>
              </a:rPr>
              <a:t>第</a:t>
            </a:r>
            <a:r>
              <a:rPr kumimoji="0" lang="zh-CN" altLang="en-US" sz="4400" b="1" i="0" u="none" strike="noStrike" kern="0" cap="none" spc="0" normalizeH="0" baseline="0" noProof="0" dirty="0" smtClean="0">
                <a:ln>
                  <a:noFill/>
                </a:ln>
                <a:solidFill>
                  <a:schemeClr val="accent6"/>
                </a:solidFill>
                <a:effectLst/>
                <a:uLnTx/>
                <a:uFillTx/>
                <a:latin typeface="华文中宋" panose="02010600040101010101" pitchFamily="2" charset="-122"/>
                <a:ea typeface="华文中宋" panose="02010600040101010101" pitchFamily="2" charset="-122"/>
                <a:cs typeface="+mj-cs"/>
              </a:rPr>
              <a:t>十一章</a:t>
            </a:r>
            <a:br>
              <a:rPr kumimoji="0" lang="en-US" altLang="zh-CN" sz="4400" b="1" i="0" u="none" strike="noStrike" kern="0" cap="none" spc="0" normalizeH="0" baseline="0" noProof="0" dirty="0" smtClean="0">
                <a:ln>
                  <a:noFill/>
                </a:ln>
                <a:solidFill>
                  <a:schemeClr val="accent6"/>
                </a:solidFill>
                <a:effectLst/>
                <a:uLnTx/>
                <a:uFillTx/>
                <a:latin typeface="华文中宋" panose="02010600040101010101" pitchFamily="2" charset="-122"/>
                <a:ea typeface="华文中宋" panose="02010600040101010101" pitchFamily="2" charset="-122"/>
                <a:cs typeface="+mj-cs"/>
              </a:rPr>
            </a:br>
            <a:r>
              <a:rPr kumimoji="0" lang="zh-CN" altLang="en-US" sz="4400" b="1" i="0" u="none" strike="noStrike" kern="0" cap="none" spc="0" normalizeH="0" baseline="0" noProof="0" dirty="0" smtClean="0">
                <a:ln>
                  <a:noFill/>
                </a:ln>
                <a:solidFill>
                  <a:schemeClr val="accent6"/>
                </a:solidFill>
                <a:effectLst/>
                <a:uLnTx/>
                <a:uFillTx/>
                <a:latin typeface="华文中宋" panose="02010600040101010101" pitchFamily="2" charset="-122"/>
                <a:ea typeface="华文中宋" panose="02010600040101010101" pitchFamily="2" charset="-122"/>
                <a:cs typeface="+mj-cs"/>
              </a:rPr>
              <a:t>软件实现</a:t>
            </a:r>
            <a:endParaRPr kumimoji="0" lang="zh-CN" altLang="en-US" sz="4400" b="1" i="0" u="none" strike="noStrike" kern="0" cap="none" spc="0" normalizeH="0" baseline="0" noProof="0" dirty="0">
              <a:ln>
                <a:noFill/>
              </a:ln>
              <a:solidFill>
                <a:schemeClr val="accent2"/>
              </a:solidFill>
              <a:effectLst/>
              <a:uLnTx/>
              <a:uFillTx/>
              <a:latin typeface="Arial" panose="020B0604020202020204" pitchFamily="34" charset="0"/>
              <a:ea typeface="华文中宋" panose="02010600040101010101" pitchFamily="2" charset="-122"/>
              <a:cs typeface="+mj-cs"/>
            </a:endParaRPr>
          </a:p>
        </p:txBody>
      </p:sp>
      <p:sp>
        <p:nvSpPr>
          <p:cNvPr id="4099"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软件编码</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512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5124" name="内容占位符 1"/>
          <p:cNvSpPr>
            <a:spLocks noGrp="1"/>
          </p:cNvSpPr>
          <p:nvPr>
            <p:ph idx="1"/>
          </p:nvPr>
        </p:nvSpPr>
        <p:spPr>
          <a:xfrm>
            <a:off x="1087438" y="2306638"/>
            <a:ext cx="7391400" cy="2916237"/>
          </a:xfrm>
          <a:ln/>
        </p:spPr>
        <p:txBody>
          <a:bodyPr vert="horz" wrap="square" lIns="91440" tIns="45720" rIns="91440" bIns="45720" anchor="t" anchorCtr="0">
            <a:spAutoFit/>
          </a:bodyPr>
          <a:p>
            <a:pPr marL="0" indent="0" eaLnBrk="1" hangingPunct="1">
              <a:buSzPct val="70000"/>
              <a:buFont typeface="Wingdings" panose="05000000000000000000" pitchFamily="2" charset="2"/>
              <a:buNone/>
            </a:pPr>
            <a:r>
              <a:rPr lang="zh-CN" altLang="en-US" dirty="0">
                <a:solidFill>
                  <a:srgbClr val="C00000"/>
                </a:solidFill>
                <a:latin typeface="华文中宋" panose="02010600040101010101" pitchFamily="2" charset="-122"/>
                <a:ea typeface="华文中宋" panose="02010600040101010101" pitchFamily="2" charset="-122"/>
                <a:cs typeface="+mn-cs"/>
              </a:rPr>
              <a:t>一、关于编码的一些理念</a:t>
            </a:r>
            <a:endParaRPr lang="zh-CN" altLang="en-US" dirty="0">
              <a:solidFill>
                <a:srgbClr val="C00000"/>
              </a:solidFill>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二、编程语言的选择</a:t>
            </a:r>
            <a:endParaRPr lang="zh-CN" altLang="en-US"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三、编码标准和规范</a:t>
            </a:r>
            <a:endParaRPr lang="zh-CN" altLang="en-US"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四、程序效率</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endParaRPr lang="zh-CN" altLang="en-US" dirty="0">
              <a:latin typeface="华文中宋" panose="02010600040101010101" pitchFamily="2" charset="-122"/>
              <a:ea typeface="华文中宋" panose="02010600040101010101" pitchFamily="2" charset="-122"/>
              <a:cs typeface="+mn-cs"/>
            </a:endParaRPr>
          </a:p>
        </p:txBody>
      </p:sp>
      <p:sp>
        <p:nvSpPr>
          <p:cNvPr id="6" name="文本框 5"/>
          <p:cNvSpPr txBox="1"/>
          <p:nvPr/>
        </p:nvSpPr>
        <p:spPr>
          <a:xfrm>
            <a:off x="395288" y="1341438"/>
            <a:ext cx="4572000" cy="706438"/>
          </a:xfrm>
          <a:prstGeom prst="rect">
            <a:avLst/>
          </a:prstGeom>
          <a:noFill/>
        </p:spPr>
        <p:txBody>
          <a:bodyPr>
            <a:spAutoFit/>
          </a:bodyPr>
          <a:lstStyle/>
          <a:p>
            <a:pPr marR="0" defTabSz="914400">
              <a:buClrTx/>
              <a:buSzTx/>
              <a:buFontTx/>
              <a:buNone/>
              <a:defRPr/>
            </a:pPr>
            <a:r>
              <a:rPr kumimoji="0" lang="zh-CN" altLang="en-US" sz="400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本章要点</a:t>
            </a:r>
            <a:endParaRPr kumimoji="0" lang="zh-CN" altLang="en-US" sz="4000" kern="1200" cap="none" spc="0" normalizeH="0" baseline="0" noProof="0" dirty="0">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引言</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21507" name="内容占位符 2"/>
          <p:cNvSpPr>
            <a:spLocks noGrp="1" noChangeArrowheads="1"/>
          </p:cNvSpPr>
          <p:nvPr>
            <p:ph idx="1"/>
          </p:nvPr>
        </p:nvSpPr>
        <p:spPr>
          <a:xfrm>
            <a:off x="827088" y="1379538"/>
            <a:ext cx="7391400" cy="4233863"/>
          </a:xfrm>
        </p:spPr>
        <p:txBody>
          <a:bodyPr vert="horz" wrap="square" lIns="91440" tIns="45720" rIns="91440" bIns="45720" numCol="1" anchor="t" anchorCtr="0" compatLnSpc="1">
            <a:spAutoFit/>
          </a:bodyPr>
          <a:lstStyle/>
          <a:p>
            <a:pPr marL="0" marR="0" lvl="0" indent="457200" algn="just" defTabSz="914400" rtl="0" eaLnBrk="1" fontAlgn="base" latinLnBrk="0" hangingPunct="1">
              <a:lnSpc>
                <a:spcPct val="120000"/>
              </a:lnSpc>
              <a:spcBef>
                <a:spcPct val="20000"/>
              </a:spcBef>
              <a:spcAft>
                <a:spcPct val="0"/>
              </a:spcAft>
              <a:buClr>
                <a:schemeClr val="accent2"/>
              </a:buClr>
              <a:buSzPct val="70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软件的详细设计完成，就表示完成了软件的过程性的描述，进入软件编码阶段。  </a:t>
            </a:r>
            <a:endParaRPr kumimoji="1"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endParaRPr>
          </a:p>
          <a:p>
            <a:pPr marL="0" marR="0" lvl="0" indent="457200" algn="just" defTabSz="914400" rtl="0" eaLnBrk="1" fontAlgn="base" latinLnBrk="0" hangingPunct="1">
              <a:lnSpc>
                <a:spcPct val="120000"/>
              </a:lnSpc>
              <a:spcBef>
                <a:spcPct val="20000"/>
              </a:spcBef>
              <a:spcAft>
                <a:spcPct val="0"/>
              </a:spcAft>
              <a:buClr>
                <a:schemeClr val="accent2"/>
              </a:buClr>
              <a:buSzPct val="70000"/>
              <a:buFont typeface="Wingdings" panose="05000000000000000000" pitchFamily="2" charset="2"/>
              <a:buNone/>
              <a:defRPr/>
            </a:pPr>
            <a:r>
              <a:rPr kumimoji="1" lang="zh-CN" altLang="en-US" sz="20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编码（</a:t>
            </a:r>
            <a:r>
              <a:rPr kumimoji="1" lang="en-US" altLang="zh-CN" sz="20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Coding</a:t>
            </a:r>
            <a:r>
              <a:rPr kumimoji="1" lang="zh-CN" altLang="en-US" sz="20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）阶段的任务简单说，是为每个模块编写程序。即是将详细设计的结果转换为用某种计算机语言写的程序</a:t>
            </a:r>
            <a:r>
              <a:rPr kumimoji="1"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华文中宋" panose="02010600040101010101" pitchFamily="2" charset="-122"/>
                <a:cs typeface="+mn-cs"/>
              </a:rPr>
              <a:t>——</a:t>
            </a:r>
            <a:r>
              <a:rPr kumimoji="1" lang="zh-CN" altLang="en-US" sz="20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源程序代码。</a:t>
            </a:r>
            <a:endParaRPr kumimoji="1" lang="zh-CN" altLang="en-US" sz="20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endParaRPr>
          </a:p>
          <a:p>
            <a:pPr marL="0" marR="0" lvl="0" indent="45720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1" lang="zh-CN" altLang="en-US" sz="2400" b="0"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n-cs"/>
              </a:rPr>
              <a:t>在软件生命期中，程序经常需要被人阅读和理解，如何提高程序的可读性</a:t>
            </a:r>
            <a:r>
              <a:rPr kumimoji="1" lang="zh-CN" altLang="en-US" sz="2400" b="0" i="0" u="none" strike="noStrike" kern="0" cap="none" spc="0" normalizeH="0" baseline="0" noProof="0" dirty="0">
                <a:ln>
                  <a:noFill/>
                </a:ln>
                <a:solidFill>
                  <a:schemeClr val="accent2">
                    <a:lumMod val="75000"/>
                  </a:schemeClr>
                </a:solidFill>
                <a:effectLst/>
                <a:uLnTx/>
                <a:uFillTx/>
                <a:latin typeface="Times New Roman" panose="02020603050405020304" pitchFamily="18" charset="0"/>
                <a:ea typeface="华文中宋" panose="02010600040101010101" pitchFamily="2" charset="-122"/>
                <a:cs typeface="+mn-cs"/>
              </a:rPr>
              <a:t>（</a:t>
            </a:r>
            <a:r>
              <a:rPr kumimoji="1" lang="en-US" altLang="zh-CN" sz="2400" b="0" i="0" u="none" strike="noStrike" kern="0" cap="none" spc="0" normalizeH="0" baseline="0" noProof="0" dirty="0">
                <a:ln>
                  <a:noFill/>
                </a:ln>
                <a:solidFill>
                  <a:schemeClr val="accent2">
                    <a:lumMod val="75000"/>
                  </a:schemeClr>
                </a:solidFill>
                <a:effectLst/>
                <a:uLnTx/>
                <a:uFillTx/>
                <a:latin typeface="Times New Roman" panose="02020603050405020304" pitchFamily="18" charset="0"/>
                <a:ea typeface="华文中宋" panose="02010600040101010101" pitchFamily="2" charset="-122"/>
                <a:cs typeface="+mn-cs"/>
              </a:rPr>
              <a:t>Readability</a:t>
            </a:r>
            <a:r>
              <a:rPr kumimoji="1" lang="zh-CN" altLang="en-US" sz="2400" b="0" i="0" u="none" strike="noStrike" kern="0" cap="none" spc="0" normalizeH="0" baseline="0" noProof="0" dirty="0">
                <a:ln>
                  <a:noFill/>
                </a:ln>
                <a:solidFill>
                  <a:schemeClr val="accent2">
                    <a:lumMod val="75000"/>
                  </a:schemeClr>
                </a:solidFill>
                <a:effectLst/>
                <a:uLnTx/>
                <a:uFillTx/>
                <a:latin typeface="Times New Roman" panose="02020603050405020304" pitchFamily="18" charset="0"/>
                <a:ea typeface="华文中宋" panose="02010600040101010101" pitchFamily="2" charset="-122"/>
                <a:cs typeface="+mn-cs"/>
              </a:rPr>
              <a:t>）</a:t>
            </a:r>
            <a:r>
              <a:rPr kumimoji="1" lang="zh-CN" altLang="en-US" sz="2400" b="0"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n-cs"/>
              </a:rPr>
              <a:t>？使程序</a:t>
            </a:r>
            <a:r>
              <a:rPr kumimoji="1" lang="zh-CN" altLang="en-US" sz="2400" b="0" i="0" u="none" strike="noStrike" kern="0" cap="none" spc="0" normalizeH="0" baseline="0" noProof="0" dirty="0">
                <a:ln>
                  <a:noFill/>
                </a:ln>
                <a:solidFill>
                  <a:schemeClr val="accent2">
                    <a:lumMod val="75000"/>
                  </a:schemeClr>
                </a:solidFill>
                <a:effectLst/>
                <a:uLnTx/>
                <a:uFillTx/>
                <a:latin typeface="Times New Roman" panose="02020603050405020304" pitchFamily="18" charset="0"/>
                <a:ea typeface="华文中宋" panose="02010600040101010101" pitchFamily="2" charset="-122"/>
                <a:cs typeface="+mn-cs"/>
              </a:rPr>
              <a:t>“</a:t>
            </a:r>
            <a:r>
              <a:rPr kumimoji="1" lang="zh-CN" altLang="en-US" sz="2400" b="0"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n-cs"/>
              </a:rPr>
              <a:t>简单</a:t>
            </a:r>
            <a:r>
              <a:rPr kumimoji="1" lang="zh-CN" altLang="en-US" sz="2400" b="0" i="0" u="none" strike="noStrike" kern="0" cap="none" spc="0" normalizeH="0" baseline="0" noProof="0" dirty="0">
                <a:ln>
                  <a:noFill/>
                </a:ln>
                <a:solidFill>
                  <a:schemeClr val="accent2">
                    <a:lumMod val="75000"/>
                  </a:schemeClr>
                </a:solidFill>
                <a:effectLst/>
                <a:uLnTx/>
                <a:uFillTx/>
                <a:latin typeface="Times New Roman" panose="02020603050405020304" pitchFamily="18" charset="0"/>
                <a:ea typeface="华文中宋" panose="02010600040101010101" pitchFamily="2" charset="-122"/>
                <a:cs typeface="+mn-cs"/>
              </a:rPr>
              <a:t>”</a:t>
            </a:r>
            <a:r>
              <a:rPr kumimoji="1" lang="zh-CN" altLang="en-US" sz="2400" b="0"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n-cs"/>
              </a:rPr>
              <a:t>和</a:t>
            </a:r>
            <a:r>
              <a:rPr kumimoji="1" lang="zh-CN" altLang="en-US" sz="2400" b="0" i="0" u="none" strike="noStrike" kern="0" cap="none" spc="0" normalizeH="0" baseline="0" noProof="0" dirty="0">
                <a:ln>
                  <a:noFill/>
                </a:ln>
                <a:solidFill>
                  <a:schemeClr val="accent2">
                    <a:lumMod val="75000"/>
                  </a:schemeClr>
                </a:solidFill>
                <a:effectLst/>
                <a:uLnTx/>
                <a:uFillTx/>
                <a:latin typeface="Times New Roman" panose="02020603050405020304" pitchFamily="18" charset="0"/>
                <a:ea typeface="华文中宋" panose="02010600040101010101" pitchFamily="2" charset="-122"/>
                <a:cs typeface="+mn-cs"/>
              </a:rPr>
              <a:t>“</a:t>
            </a:r>
            <a:r>
              <a:rPr kumimoji="1" lang="zh-CN" altLang="en-US" sz="2400" b="0"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n-cs"/>
              </a:rPr>
              <a:t>清晰</a:t>
            </a:r>
            <a:r>
              <a:rPr kumimoji="1" lang="zh-CN" altLang="en-US" sz="2400" b="0" i="0" u="none" strike="noStrike" kern="0" cap="none" spc="0" normalizeH="0" baseline="0" noProof="0" dirty="0">
                <a:ln>
                  <a:noFill/>
                </a:ln>
                <a:solidFill>
                  <a:schemeClr val="accent2">
                    <a:lumMod val="75000"/>
                  </a:schemeClr>
                </a:solidFill>
                <a:effectLst/>
                <a:uLnTx/>
                <a:uFillTx/>
                <a:latin typeface="Times New Roman" panose="02020603050405020304" pitchFamily="18" charset="0"/>
                <a:ea typeface="华文中宋" panose="02010600040101010101" pitchFamily="2" charset="-122"/>
                <a:cs typeface="+mn-cs"/>
              </a:rPr>
              <a:t>”</a:t>
            </a:r>
            <a:r>
              <a:rPr kumimoji="1" lang="zh-CN" altLang="en-US" sz="2400" b="0"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n-cs"/>
              </a:rPr>
              <a:t>，进而使程序具有良好的可靠性、可维护性，这是非常重要的。</a:t>
            </a:r>
            <a:endPar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7172"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507">
                                            <p:txEl>
                                              <p:charRg st="0" end="38"/>
                                            </p:txEl>
                                          </p:spTgt>
                                        </p:tgtEl>
                                        <p:attrNameLst>
                                          <p:attrName>style.visibility</p:attrName>
                                        </p:attrNameLst>
                                      </p:cBhvr>
                                      <p:to>
                                        <p:strVal val="visible"/>
                                      </p:to>
                                    </p:set>
                                    <p:animEffect transition="in" filter="fade">
                                      <p:cBhvr>
                                        <p:cTn id="7" dur="500"/>
                                        <p:tgtEl>
                                          <p:spTgt spid="21507">
                                            <p:txEl>
                                              <p:charRg st="0" end="3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507">
                                            <p:txEl>
                                              <p:charRg st="38" end="102"/>
                                            </p:txEl>
                                          </p:spTgt>
                                        </p:tgtEl>
                                        <p:attrNameLst>
                                          <p:attrName>style.visibility</p:attrName>
                                        </p:attrNameLst>
                                      </p:cBhvr>
                                      <p:to>
                                        <p:strVal val="visible"/>
                                      </p:to>
                                    </p:set>
                                    <p:animEffect transition="in" filter="fade">
                                      <p:cBhvr>
                                        <p:cTn id="12" dur="500"/>
                                        <p:tgtEl>
                                          <p:spTgt spid="21507">
                                            <p:txEl>
                                              <p:charRg st="38" end="10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507">
                                            <p:txEl>
                                              <p:charRg st="102" end="189"/>
                                            </p:txEl>
                                          </p:spTgt>
                                        </p:tgtEl>
                                        <p:attrNameLst>
                                          <p:attrName>style.visibility</p:attrName>
                                        </p:attrNameLst>
                                      </p:cBhvr>
                                      <p:to>
                                        <p:strVal val="visible"/>
                                      </p:to>
                                    </p:set>
                                    <p:animEffect transition="in" filter="fade">
                                      <p:cBhvr>
                                        <p:cTn id="17" dur="500"/>
                                        <p:tgtEl>
                                          <p:spTgt spid="21507">
                                            <p:txEl>
                                              <p:charRg st="102" end="18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引言</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21507" name="内容占位符 2"/>
          <p:cNvSpPr>
            <a:spLocks noGrp="1"/>
          </p:cNvSpPr>
          <p:nvPr>
            <p:ph idx="1"/>
          </p:nvPr>
        </p:nvSpPr>
        <p:spPr>
          <a:xfrm>
            <a:off x="827088" y="1379538"/>
            <a:ext cx="7391400" cy="3581400"/>
          </a:xfrm>
        </p:spPr>
        <p:txBody>
          <a:bodyPr vert="horz" wrap="square" lIns="91440" tIns="45720" rIns="91440" bIns="45720" numCol="1" anchor="t" anchorCtr="0" compatLnSpc="1">
            <a:spAutoFit/>
          </a:bodyPr>
          <a:lstStyle/>
          <a:p>
            <a:pPr marL="0" marR="0" lvl="0" indent="457200" algn="just" defTabSz="914400" rtl="0" eaLnBrk="1" fontAlgn="base" latinLnBrk="0" hangingPunct="1">
              <a:lnSpc>
                <a:spcPct val="140000"/>
              </a:lnSpc>
              <a:spcBef>
                <a:spcPct val="50000"/>
              </a:spcBef>
              <a:spcAft>
                <a:spcPct val="0"/>
              </a:spcAft>
              <a:buClr>
                <a:schemeClr val="accent2"/>
              </a:buClr>
              <a:buSzPct val="70000"/>
              <a:buFont typeface="Wingdings" panose="05000000000000000000" pitchFamily="2" charset="2"/>
              <a:buNone/>
              <a:defRPr/>
            </a:pPr>
            <a:r>
              <a:rPr kumimoji="1"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本单元不是介绍如何编写程序，而是从如何提高软件的质量和可维护性的角度，讨论在编码阶段所要解决的主要问题：</a:t>
            </a:r>
            <a:endParaRPr kumimoji="1" lang="zh-CN" altLang="en-US" sz="2400" b="0" i="0" u="none" strike="noStrike" kern="0" cap="none" spc="0" normalizeH="0" baseline="0" noProof="0" dirty="0">
              <a:ln>
                <a:noFill/>
              </a:ln>
              <a:solidFill>
                <a:schemeClr val="hlink"/>
              </a:solidFill>
              <a:effectLst/>
              <a:uLnTx/>
              <a:uFillTx/>
              <a:latin typeface="宋体" panose="02010600030101010101" pitchFamily="2" charset="-122"/>
              <a:ea typeface="华文中宋" panose="02010600040101010101" pitchFamily="2" charset="-122"/>
              <a:cs typeface="+mn-cs"/>
            </a:endParaRPr>
          </a:p>
          <a:p>
            <a:pPr marL="0" marR="0" lvl="0" indent="0" algn="just" defTabSz="914400" rtl="0" eaLnBrk="1" fontAlgn="base" latinLnBrk="0" hangingPunct="1">
              <a:lnSpc>
                <a:spcPct val="140000"/>
              </a:lnSpc>
              <a:spcBef>
                <a:spcPct val="50000"/>
              </a:spcBef>
              <a:spcAft>
                <a:spcPct val="0"/>
              </a:spcAft>
              <a:buClr>
                <a:schemeClr val="accent2"/>
              </a:buClr>
              <a:buSzPct val="70000"/>
              <a:buFont typeface="Wingdings" panose="05000000000000000000" pitchFamily="2" charset="2"/>
              <a:buNone/>
              <a:defRPr/>
            </a:pPr>
            <a:r>
              <a:rPr kumimoji="1"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n-cs"/>
                <a:sym typeface="Symbol" panose="05050102010706020507" pitchFamily="18" charset="2"/>
              </a:rPr>
              <a:t>    </a:t>
            </a:r>
            <a:r>
              <a:rPr kumimoji="1"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n-cs"/>
              </a:rPr>
              <a:t> 程序设计语言的特性及选择的原则</a:t>
            </a:r>
            <a:endParaRPr kumimoji="1"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n-cs"/>
            </a:endParaRPr>
          </a:p>
          <a:p>
            <a:pPr marL="0" marR="0" lvl="0" indent="0" algn="just" defTabSz="914400" rtl="0" eaLnBrk="1" fontAlgn="base" latinLnBrk="0" hangingPunct="1">
              <a:lnSpc>
                <a:spcPct val="140000"/>
              </a:lnSpc>
              <a:spcBef>
                <a:spcPct val="50000"/>
              </a:spcBef>
              <a:spcAft>
                <a:spcPct val="0"/>
              </a:spcAft>
              <a:buClr>
                <a:schemeClr val="accent2"/>
              </a:buClr>
              <a:buSzPct val="70000"/>
              <a:buFont typeface="Wingdings" panose="05000000000000000000" pitchFamily="2" charset="2"/>
              <a:buNone/>
              <a:defRPr/>
            </a:pPr>
            <a:r>
              <a:rPr kumimoji="1"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n-cs"/>
                <a:sym typeface="Symbol" panose="05050102010706020507" pitchFamily="18" charset="2"/>
              </a:rPr>
              <a:t>    </a:t>
            </a:r>
            <a:r>
              <a:rPr kumimoji="1"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n-cs"/>
              </a:rPr>
              <a:t> 编码风格 </a:t>
            </a:r>
            <a:endParaRPr kumimoji="1" lang="zh-CN" altLang="en-US" sz="24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8196"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507">
                                            <p:txEl>
                                              <p:charRg st="0" end="53"/>
                                            </p:txEl>
                                          </p:spTgt>
                                        </p:tgtEl>
                                        <p:attrNameLst>
                                          <p:attrName>style.visibility</p:attrName>
                                        </p:attrNameLst>
                                      </p:cBhvr>
                                      <p:to>
                                        <p:strVal val="visible"/>
                                      </p:to>
                                    </p:set>
                                    <p:animEffect transition="in" filter="fade">
                                      <p:cBhvr>
                                        <p:cTn id="7" dur="500"/>
                                        <p:tgtEl>
                                          <p:spTgt spid="21507">
                                            <p:txEl>
                                              <p:charRg st="0" end="5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507">
                                            <p:txEl>
                                              <p:charRg st="53" end="75"/>
                                            </p:txEl>
                                          </p:spTgt>
                                        </p:tgtEl>
                                        <p:attrNameLst>
                                          <p:attrName>style.visibility</p:attrName>
                                        </p:attrNameLst>
                                      </p:cBhvr>
                                      <p:to>
                                        <p:strVal val="visible"/>
                                      </p:to>
                                    </p:set>
                                    <p:animEffect transition="in" filter="fade">
                                      <p:cBhvr>
                                        <p:cTn id="12" dur="500"/>
                                        <p:tgtEl>
                                          <p:spTgt spid="21507">
                                            <p:txEl>
                                              <p:charRg st="53" end="7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507">
                                            <p:txEl>
                                              <p:charRg st="75" end="87"/>
                                            </p:txEl>
                                          </p:spTgt>
                                        </p:tgtEl>
                                        <p:attrNameLst>
                                          <p:attrName>style.visibility</p:attrName>
                                        </p:attrNameLst>
                                      </p:cBhvr>
                                      <p:to>
                                        <p:strVal val="visible"/>
                                      </p:to>
                                    </p:set>
                                    <p:animEffect transition="in" filter="fade">
                                      <p:cBhvr>
                                        <p:cTn id="17" dur="500"/>
                                        <p:tgtEl>
                                          <p:spTgt spid="21507">
                                            <p:txEl>
                                              <p:charRg st="75" end="8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1"/>
          <p:cNvSpPr>
            <a:spLocks noGrp="1"/>
          </p:cNvSpPr>
          <p:nvPr>
            <p:ph type="title"/>
          </p:nvPr>
        </p:nvSpPr>
        <p:spPr>
          <a:ln/>
        </p:spPr>
        <p:txBody>
          <a:bodyPr vert="horz" wrap="square" lIns="91440" tIns="45720" rIns="91440" bIns="45720" anchor="ctr" anchorCtr="0"/>
          <a:p>
            <a:pPr eaLnBrk="1" hangingPunct="1"/>
            <a:r>
              <a:rPr lang="zh-CN" altLang="en-US" dirty="0"/>
              <a:t>什么是软件编码？</a:t>
            </a:r>
            <a:endParaRPr lang="zh-CN" altLang="en-US" dirty="0"/>
          </a:p>
        </p:txBody>
      </p:sp>
      <p:sp>
        <p:nvSpPr>
          <p:cNvPr id="21507" name="内容占位符 2"/>
          <p:cNvSpPr>
            <a:spLocks noGrp="1"/>
          </p:cNvSpPr>
          <p:nvPr>
            <p:ph idx="1"/>
          </p:nvPr>
        </p:nvSpPr>
        <p:spPr>
          <a:xfrm>
            <a:off x="876300" y="1249363"/>
            <a:ext cx="7391400" cy="4616450"/>
          </a:xfrm>
        </p:spPr>
        <p:txBody>
          <a:bodyPr vert="horz" wrap="square" lIns="91440" tIns="45720" rIns="91440" bIns="45720" numCol="1" anchor="t" anchorCtr="0" compatLnSpc="1">
            <a:spAutoFit/>
          </a:bodyPr>
          <a:lstStyle/>
          <a:p>
            <a:pPr marL="91440" marR="0" lvl="0" indent="-91440" algn="just" defTabSz="914400" rtl="0" eaLnBrk="1" fontAlgn="auto" latinLnBrk="0" hangingPunct="1">
              <a:lnSpc>
                <a:spcPct val="12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lumMod val="75000"/>
                    <a:lumOff val="25000"/>
                  </a:schemeClr>
                </a:solidFill>
                <a:effectLst/>
                <a:uLnTx/>
                <a:uFillTx/>
                <a:latin typeface="宋体" panose="02010600030101010101" pitchFamily="2" charset="-122"/>
                <a:ea typeface="华文中宋" panose="02010600040101010101" pitchFamily="2" charset="-122"/>
                <a:cs typeface="+mn-cs"/>
              </a:rPr>
              <a:t>Programming  ?</a:t>
            </a:r>
            <a:r>
              <a:rPr kumimoji="0" lang="zh-CN" altLang="en-US" sz="2400" b="0" i="0" u="none" strike="noStrike" kern="0" cap="none" spc="0" normalizeH="0" baseline="0" noProof="0" dirty="0">
                <a:ln>
                  <a:noFill/>
                </a:ln>
                <a:solidFill>
                  <a:schemeClr val="tx1">
                    <a:lumMod val="75000"/>
                    <a:lumOff val="25000"/>
                  </a:schemeClr>
                </a:solidFill>
                <a:effectLst/>
                <a:uLnTx/>
                <a:uFillTx/>
                <a:latin typeface="宋体" panose="02010600030101010101" pitchFamily="2" charset="-122"/>
                <a:ea typeface="华文中宋" panose="02010600040101010101" pitchFamily="2" charset="-122"/>
                <a:cs typeface="+mn-cs"/>
              </a:rPr>
              <a:t>＝ </a:t>
            </a:r>
            <a:r>
              <a:rPr kumimoji="0" lang="en-US" altLang="zh-CN" sz="2400" b="0" i="0" u="none" strike="noStrike" kern="0" cap="none" spc="0" normalizeH="0" baseline="0" noProof="0" dirty="0">
                <a:ln>
                  <a:noFill/>
                </a:ln>
                <a:solidFill>
                  <a:schemeClr val="tx1">
                    <a:lumMod val="75000"/>
                    <a:lumOff val="25000"/>
                  </a:schemeClr>
                </a:solidFill>
                <a:effectLst/>
                <a:uLnTx/>
                <a:uFillTx/>
                <a:latin typeface="宋体" panose="02010600030101010101" pitchFamily="2" charset="-122"/>
                <a:ea typeface="华文中宋" panose="02010600040101010101" pitchFamily="2" charset="-122"/>
                <a:cs typeface="+mn-cs"/>
              </a:rPr>
              <a:t>Coding</a:t>
            </a:r>
            <a:endParaRPr kumimoji="0" lang="en-US" altLang="zh-CN" sz="2400" b="0" i="0" u="none" strike="noStrike" kern="0" cap="none" spc="0" normalizeH="0" baseline="0" noProof="0" dirty="0">
              <a:ln>
                <a:noFill/>
              </a:ln>
              <a:solidFill>
                <a:schemeClr val="tx1">
                  <a:lumMod val="75000"/>
                  <a:lumOff val="25000"/>
                </a:schemeClr>
              </a:solidFill>
              <a:effectLst/>
              <a:uLnTx/>
              <a:uFillTx/>
              <a:latin typeface="宋体" panose="02010600030101010101" pitchFamily="2" charset="-122"/>
              <a:ea typeface="华文中宋" panose="02010600040101010101" pitchFamily="2" charset="-122"/>
              <a:cs typeface="+mn-cs"/>
            </a:endParaRPr>
          </a:p>
          <a:p>
            <a:pPr marL="91440" marR="0" lvl="0" indent="-91440" algn="just" defTabSz="914400" rtl="0" eaLnBrk="1" fontAlgn="auto" latinLnBrk="0" hangingPunct="1">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lumMod val="75000"/>
                    <a:lumOff val="25000"/>
                  </a:schemeClr>
                </a:solidFill>
                <a:effectLst/>
                <a:uLnTx/>
                <a:uFillTx/>
                <a:latin typeface="宋体" panose="02010600030101010101" pitchFamily="2" charset="-122"/>
                <a:ea typeface="华文中宋" panose="02010600040101010101" pitchFamily="2" charset="-122"/>
                <a:cs typeface="+mn-cs"/>
              </a:rPr>
              <a:t>一种观点</a:t>
            </a:r>
            <a:endParaRPr kumimoji="0" lang="zh-CN" altLang="en-US" sz="2400" b="0" i="0" u="none" strike="noStrike" kern="0" cap="none" spc="0" normalizeH="0" baseline="0" noProof="0" dirty="0">
              <a:ln>
                <a:noFill/>
              </a:ln>
              <a:solidFill>
                <a:schemeClr val="tx1">
                  <a:lumMod val="75000"/>
                  <a:lumOff val="25000"/>
                </a:schemeClr>
              </a:solidFill>
              <a:effectLst/>
              <a:uLnTx/>
              <a:uFillTx/>
              <a:latin typeface="宋体" panose="02010600030101010101" pitchFamily="2" charset="-122"/>
              <a:ea typeface="华文中宋" panose="02010600040101010101" pitchFamily="2" charset="-122"/>
              <a:cs typeface="+mn-cs"/>
            </a:endParaRPr>
          </a:p>
          <a:p>
            <a:pPr marL="544195" marR="0" lvl="1" indent="-342900" algn="just" defTabSz="914400" rtl="0" eaLnBrk="1" fontAlgn="auto" latinLnBrk="0" hangingPunct="1">
              <a:lnSpc>
                <a:spcPct val="120000"/>
              </a:lnSpc>
              <a:spcBef>
                <a:spcPct val="20000"/>
              </a:spcBef>
              <a:spcAft>
                <a:spcPct val="0"/>
              </a:spcAft>
              <a:buClr>
                <a:schemeClr val="accent2"/>
              </a:buClr>
              <a:buSzPct val="70000"/>
              <a:buFont typeface="Arial" panose="020B0604020202020204" pitchFamily="34" charset="0"/>
              <a:buChar char="•"/>
              <a:defRPr/>
            </a:pPr>
            <a:r>
              <a:rPr kumimoji="0" lang="zh-CN" altLang="en-US" sz="2400" b="0" i="0" u="none" strike="noStrike" kern="0" cap="none" spc="0" normalizeH="0" baseline="0" noProof="0" dirty="0">
                <a:ln>
                  <a:noFill/>
                </a:ln>
                <a:solidFill>
                  <a:schemeClr val="tx1">
                    <a:lumMod val="75000"/>
                    <a:lumOff val="25000"/>
                  </a:schemeClr>
                </a:solidFill>
                <a:effectLst/>
                <a:uLnTx/>
                <a:uFillTx/>
                <a:latin typeface="宋体" panose="02010600030101010101" pitchFamily="2" charset="-122"/>
                <a:ea typeface="华文中宋" panose="02010600040101010101" pitchFamily="2" charset="-122"/>
              </a:rPr>
              <a:t>软件编码是将软件设计模型机械地转换成源程序代码，这是一种低水平的、缺乏创造性的工作。</a:t>
            </a:r>
            <a:endParaRPr kumimoji="0" lang="zh-CN" altLang="en-US" sz="2400" b="0" i="0" u="none" strike="noStrike" kern="0" cap="none" spc="0" normalizeH="0" baseline="0" noProof="0" dirty="0">
              <a:ln>
                <a:noFill/>
              </a:ln>
              <a:solidFill>
                <a:schemeClr val="tx1">
                  <a:lumMod val="75000"/>
                  <a:lumOff val="25000"/>
                </a:schemeClr>
              </a:solidFill>
              <a:effectLst/>
              <a:uLnTx/>
              <a:uFillTx/>
              <a:latin typeface="宋体" panose="02010600030101010101" pitchFamily="2" charset="-122"/>
              <a:ea typeface="华文中宋" panose="02010600040101010101" pitchFamily="2" charset="-122"/>
            </a:endParaRPr>
          </a:p>
          <a:p>
            <a:pPr marL="544195" marR="0" lvl="1" indent="-342900" algn="just" defTabSz="914400" rtl="0" eaLnBrk="1" fontAlgn="auto" latinLnBrk="0" hangingPunct="1">
              <a:lnSpc>
                <a:spcPct val="120000"/>
              </a:lnSpc>
              <a:spcBef>
                <a:spcPct val="20000"/>
              </a:spcBef>
              <a:spcAft>
                <a:spcPct val="0"/>
              </a:spcAft>
              <a:buClr>
                <a:schemeClr val="accent2"/>
              </a:buClr>
              <a:buSzPct val="70000"/>
              <a:buFont typeface="Arial" panose="020B0604020202020204" pitchFamily="34" charset="0"/>
              <a:buChar char="•"/>
              <a:defRPr/>
            </a:pPr>
            <a:r>
              <a:rPr kumimoji="0" lang="zh-CN" altLang="en-US" sz="2400" b="0" i="0" u="none" strike="noStrike" kern="0" cap="none" spc="0" normalizeH="0" baseline="0" noProof="0" dirty="0">
                <a:ln>
                  <a:noFill/>
                </a:ln>
                <a:solidFill>
                  <a:schemeClr val="tx1">
                    <a:lumMod val="75000"/>
                    <a:lumOff val="25000"/>
                  </a:schemeClr>
                </a:solidFill>
                <a:effectLst/>
                <a:uLnTx/>
                <a:uFillTx/>
                <a:latin typeface="宋体" panose="02010600030101010101" pitchFamily="2" charset="-122"/>
                <a:ea typeface="华文中宋" panose="02010600040101010101" pitchFamily="2" charset="-122"/>
              </a:rPr>
              <a:t>软件程序员是所谓的“软件蓝领”。</a:t>
            </a:r>
            <a:endParaRPr kumimoji="0" lang="zh-CN" altLang="en-US" sz="2400" b="0" i="0" u="none" strike="noStrike" kern="0" cap="none" spc="0" normalizeH="0" baseline="0" noProof="0" dirty="0">
              <a:ln>
                <a:noFill/>
              </a:ln>
              <a:solidFill>
                <a:schemeClr val="tx1">
                  <a:lumMod val="75000"/>
                  <a:lumOff val="25000"/>
                </a:schemeClr>
              </a:solidFill>
              <a:effectLst/>
              <a:uLnTx/>
              <a:uFillTx/>
              <a:latin typeface="宋体" panose="02010600030101010101" pitchFamily="2" charset="-122"/>
              <a:ea typeface="华文中宋" panose="02010600040101010101" pitchFamily="2" charset="-122"/>
            </a:endParaRPr>
          </a:p>
          <a:p>
            <a:pPr marL="195580" marR="0" lvl="0" indent="-195580" algn="just" defTabSz="914400" rtl="0" eaLnBrk="1" fontAlgn="auto" latinLnBrk="0" hangingPunct="1">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lumMod val="75000"/>
                    <a:lumOff val="25000"/>
                  </a:schemeClr>
                </a:solidFill>
                <a:effectLst/>
                <a:uLnTx/>
                <a:uFillTx/>
                <a:latin typeface="宋体" panose="02010600030101010101" pitchFamily="2" charset="-122"/>
                <a:ea typeface="华文中宋" panose="02010600040101010101" pitchFamily="2" charset="-122"/>
                <a:cs typeface="+mn-cs"/>
              </a:rPr>
              <a:t>问题</a:t>
            </a:r>
            <a:r>
              <a:rPr kumimoji="0" lang="en-US" altLang="zh-CN" sz="2400" b="0" i="0" u="none" strike="noStrike" kern="0" cap="none" spc="0" normalizeH="0" baseline="0" noProof="0" dirty="0">
                <a:ln>
                  <a:noFill/>
                </a:ln>
                <a:solidFill>
                  <a:schemeClr val="tx1">
                    <a:lumMod val="75000"/>
                    <a:lumOff val="25000"/>
                  </a:schemeClr>
                </a:solidFill>
                <a:effectLst/>
                <a:uLnTx/>
                <a:uFillTx/>
                <a:latin typeface="宋体" panose="02010600030101010101" pitchFamily="2" charset="-122"/>
                <a:ea typeface="华文中宋" panose="02010600040101010101" pitchFamily="2" charset="-122"/>
                <a:cs typeface="+mn-cs"/>
              </a:rPr>
              <a:t>:</a:t>
            </a:r>
            <a:endParaRPr kumimoji="0" lang="en-US" altLang="zh-CN" sz="2400" b="0" i="0" u="none" strike="noStrike" kern="0" cap="none" spc="0" normalizeH="0" baseline="0" noProof="0" dirty="0">
              <a:ln>
                <a:noFill/>
              </a:ln>
              <a:solidFill>
                <a:schemeClr val="tx1">
                  <a:lumMod val="75000"/>
                  <a:lumOff val="25000"/>
                </a:schemeClr>
              </a:solidFill>
              <a:effectLst/>
              <a:uLnTx/>
              <a:uFillTx/>
              <a:latin typeface="宋体" panose="02010600030101010101" pitchFamily="2" charset="-122"/>
              <a:ea typeface="华文中宋" panose="02010600040101010101" pitchFamily="2" charset="-122"/>
              <a:cs typeface="+mn-cs"/>
            </a:endParaRPr>
          </a:p>
          <a:p>
            <a:pPr marL="544195" marR="0" lvl="1" indent="-342900" algn="just" defTabSz="914400" rtl="0" eaLnBrk="1" fontAlgn="auto" latinLnBrk="0" hangingPunct="1">
              <a:lnSpc>
                <a:spcPct val="120000"/>
              </a:lnSpc>
              <a:spcBef>
                <a:spcPct val="20000"/>
              </a:spcBef>
              <a:spcAft>
                <a:spcPct val="0"/>
              </a:spcAft>
              <a:buClr>
                <a:schemeClr val="accent2">
                  <a:lumMod val="75000"/>
                </a:schemeClr>
              </a:buClr>
              <a:buSzPct val="70000"/>
              <a:buFont typeface="Arial" panose="020B0604020202020204" pitchFamily="34" charset="0"/>
              <a:buChar char="•"/>
              <a:defRPr/>
            </a:pPr>
            <a:r>
              <a:rPr kumimoji="0" lang="zh-CN" altLang="en-US" sz="2400" b="0" i="0" u="none" strike="noStrike" kern="0" cap="none" spc="0" normalizeH="0" baseline="0" noProof="0" dirty="0">
                <a:ln>
                  <a:noFill/>
                </a:ln>
                <a:solidFill>
                  <a:schemeClr val="tx1">
                    <a:lumMod val="75000"/>
                    <a:lumOff val="25000"/>
                  </a:schemeClr>
                </a:solidFill>
                <a:effectLst/>
                <a:uLnTx/>
                <a:uFillTx/>
                <a:latin typeface="宋体" panose="02010600030101010101" pitchFamily="2" charset="-122"/>
                <a:ea typeface="华文中宋" panose="02010600040101010101" pitchFamily="2" charset="-122"/>
              </a:rPr>
              <a:t>你是否认同这种观点？</a:t>
            </a:r>
            <a:endParaRPr kumimoji="0" lang="zh-CN" altLang="en-US" sz="2400" b="0" i="0" u="none" strike="noStrike" kern="0" cap="none" spc="0" normalizeH="0" baseline="0" noProof="0" dirty="0">
              <a:ln>
                <a:noFill/>
              </a:ln>
              <a:solidFill>
                <a:schemeClr val="tx1">
                  <a:lumMod val="75000"/>
                  <a:lumOff val="25000"/>
                </a:schemeClr>
              </a:solidFill>
              <a:effectLst/>
              <a:uLnTx/>
              <a:uFillTx/>
              <a:latin typeface="宋体" panose="02010600030101010101" pitchFamily="2" charset="-122"/>
              <a:ea typeface="华文中宋" panose="02010600040101010101" pitchFamily="2" charset="-122"/>
            </a:endParaRPr>
          </a:p>
          <a:p>
            <a:pPr marL="544195" marR="0" lvl="1" indent="-342900" algn="just" defTabSz="914400" rtl="0" eaLnBrk="1" fontAlgn="auto" latinLnBrk="0" hangingPunct="1">
              <a:lnSpc>
                <a:spcPct val="120000"/>
              </a:lnSpc>
              <a:spcBef>
                <a:spcPct val="20000"/>
              </a:spcBef>
              <a:spcAft>
                <a:spcPct val="0"/>
              </a:spcAft>
              <a:buClr>
                <a:schemeClr val="accent2">
                  <a:lumMod val="75000"/>
                </a:schemeClr>
              </a:buClr>
              <a:buSzPct val="70000"/>
              <a:buFont typeface="Arial" panose="020B0604020202020204" pitchFamily="34" charset="0"/>
              <a:buChar char="•"/>
              <a:defRPr/>
            </a:pPr>
            <a:r>
              <a:rPr kumimoji="0" lang="zh-CN" altLang="en-US" sz="2400" b="0" i="0" u="none" strike="noStrike" kern="0" cap="none" spc="0" normalizeH="0" baseline="0" noProof="0" dirty="0">
                <a:ln>
                  <a:noFill/>
                </a:ln>
                <a:solidFill>
                  <a:schemeClr val="tx1">
                    <a:lumMod val="75000"/>
                    <a:lumOff val="25000"/>
                  </a:schemeClr>
                </a:solidFill>
                <a:effectLst/>
                <a:uLnTx/>
                <a:uFillTx/>
                <a:latin typeface="宋体" panose="02010600030101010101" pitchFamily="2" charset="-122"/>
                <a:ea typeface="华文中宋" panose="02010600040101010101" pitchFamily="2" charset="-122"/>
              </a:rPr>
              <a:t>如果</a:t>
            </a:r>
            <a:r>
              <a:rPr kumimoji="0" lang="zh-CN" altLang="en-US" sz="2200" b="0" i="0" u="none" strike="noStrike" kern="0" cap="none" spc="0" normalizeH="0" baseline="0" noProof="0" dirty="0">
                <a:ln>
                  <a:noFill/>
                </a:ln>
                <a:solidFill>
                  <a:schemeClr val="tx1">
                    <a:lumMod val="75000"/>
                    <a:lumOff val="25000"/>
                  </a:schemeClr>
                </a:solidFill>
                <a:effectLst/>
                <a:uLnTx/>
                <a:uFillTx/>
                <a:latin typeface="宋体" panose="02010600030101010101" pitchFamily="2" charset="-122"/>
                <a:ea typeface="华文中宋" panose="02010600040101010101" pitchFamily="2" charset="-122"/>
              </a:rPr>
              <a:t>不认同，你如何看待软件编码？</a:t>
            </a:r>
            <a:endParaRPr kumimoji="0" lang="zh-CN" altLang="en-US" sz="2200" b="0" i="0" u="none" strike="noStrike" kern="0" cap="none" spc="0" normalizeH="0" baseline="0" noProof="0" dirty="0">
              <a:ln>
                <a:noFill/>
              </a:ln>
              <a:solidFill>
                <a:schemeClr val="tx1">
                  <a:lumMod val="75000"/>
                  <a:lumOff val="25000"/>
                </a:schemeClr>
              </a:solidFill>
              <a:effectLst/>
              <a:uLnTx/>
              <a:uFillTx/>
              <a:latin typeface="宋体" panose="02010600030101010101" pitchFamily="2" charset="-122"/>
              <a:ea typeface="华文中宋" panose="02010600040101010101" pitchFamily="2" charset="-122"/>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9220"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
          <p:cNvSpPr>
            <a:spLocks noGrp="1"/>
          </p:cNvSpPr>
          <p:nvPr>
            <p:ph type="title"/>
          </p:nvPr>
        </p:nvSpPr>
        <p:spPr>
          <a:ln/>
        </p:spPr>
        <p:txBody>
          <a:bodyPr vert="horz" wrap="square" lIns="91440" tIns="45720" rIns="91440" bIns="45720" anchor="ctr" anchorCtr="0"/>
          <a:p>
            <a:pPr eaLnBrk="1" hangingPunct="1"/>
            <a:r>
              <a:rPr lang="zh-CN" altLang="en-US" dirty="0"/>
              <a:t>什么是软件编码？</a:t>
            </a:r>
            <a:endParaRPr lang="zh-CN" altLang="en-US" dirty="0"/>
          </a:p>
        </p:txBody>
      </p:sp>
      <p:sp>
        <p:nvSpPr>
          <p:cNvPr id="21507" name="内容占位符 2"/>
          <p:cNvSpPr>
            <a:spLocks noGrp="1"/>
          </p:cNvSpPr>
          <p:nvPr>
            <p:ph idx="1"/>
          </p:nvPr>
        </p:nvSpPr>
        <p:spPr>
          <a:xfrm>
            <a:off x="539750" y="1196975"/>
            <a:ext cx="7391400" cy="5337175"/>
          </a:xfrm>
        </p:spPr>
        <p:txBody>
          <a:bodyPr vert="horz" wrap="square" lIns="91440" tIns="45720" rIns="91440" bIns="45720" numCol="1" anchor="t" anchorCtr="0" compatLnSpc="1">
            <a:spAutoFit/>
          </a:bodyPr>
          <a:lstStyle/>
          <a:p>
            <a:pPr marL="0" marR="0" lvl="0" indent="0" algn="just"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Professional Programmer </a:t>
            </a:r>
            <a:r>
              <a:rPr kumimoji="0"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a:t>
            </a:r>
            <a:r>
              <a:rPr kumimoji="0" lang="en-US" altLang="zh-CN" sz="24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Software Engineer</a:t>
            </a:r>
            <a:endParaRPr kumimoji="0" lang="en-US" altLang="zh-CN" sz="24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正确观点</a:t>
            </a:r>
            <a:endParaRPr kumimoji="0"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endParaRPr>
          </a:p>
          <a:p>
            <a:pPr marL="386080" marR="0" lvl="1" indent="0" algn="just" defTabSz="914400" rtl="0" eaLnBrk="1" fontAlgn="base" latinLnBrk="0" hangingPunct="1">
              <a:lnSpc>
                <a:spcPct val="100000"/>
              </a:lnSpc>
              <a:spcBef>
                <a:spcPct val="20000"/>
              </a:spcBef>
              <a:spcAft>
                <a:spcPct val="0"/>
              </a:spcAft>
              <a:buClr>
                <a:schemeClr val="accent2">
                  <a:lumMod val="75000"/>
                </a:schemeClr>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rPr>
              <a:t> </a:t>
            </a:r>
            <a:r>
              <a:rPr kumimoji="0" lang="zh-CN" altLang="en-US" sz="2400" b="0" i="0" u="none" strike="noStrike" kern="0" cap="none" spc="0" normalizeH="0" baseline="0" noProof="0" dirty="0" smtClean="0">
                <a:ln>
                  <a:noFill/>
                </a:ln>
                <a:solidFill>
                  <a:schemeClr val="tx1"/>
                </a:solidFill>
                <a:effectLst/>
                <a:uLnTx/>
                <a:uFillTx/>
                <a:latin typeface="宋体" panose="02010600030101010101" pitchFamily="2" charset="-122"/>
                <a:ea typeface="华文中宋" panose="02010600040101010101" pitchFamily="2" charset="-122"/>
              </a:rPr>
              <a:t>  软</a:t>
            </a:r>
            <a:r>
              <a:rPr kumimoji="0"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rPr>
              <a:t>件编码是一个复杂而迭代的过程，包括程序设计和程序实现。</a:t>
            </a:r>
            <a:endParaRPr kumimoji="0"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endParaRPr>
          </a:p>
          <a:p>
            <a:pPr marL="195580" marR="0" lvl="0" indent="-195580" algn="just"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 软件编码要求</a:t>
            </a:r>
            <a:endParaRPr kumimoji="0"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endParaRPr>
          </a:p>
          <a:p>
            <a:pPr marL="671830" marR="0" lvl="1" indent="-285750" algn="just" defTabSz="914400" rtl="0" eaLnBrk="1" fontAlgn="base" latinLnBrk="0" hangingPunct="1">
              <a:lnSpc>
                <a:spcPct val="100000"/>
              </a:lnSpc>
              <a:spcBef>
                <a:spcPct val="20000"/>
              </a:spcBef>
              <a:spcAft>
                <a:spcPct val="0"/>
              </a:spcAft>
              <a:buClr>
                <a:schemeClr val="accent2">
                  <a:lumMod val="75000"/>
                </a:schemeClr>
              </a:buClr>
              <a:buSzPct val="70000"/>
              <a:buFont typeface="Arial" panose="020B0604020202020204" pitchFamily="34" charset="0"/>
              <a:buChar char="•"/>
              <a:defRPr/>
            </a:pPr>
            <a:r>
              <a:rPr kumimoji="0" lang="zh-CN" altLang="en-US" sz="2400" b="0"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rPr>
              <a:t>正确地理解用户需求和软件设计思想</a:t>
            </a:r>
            <a:endParaRPr kumimoji="0" lang="zh-CN" altLang="en-US" sz="2400" b="0"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endParaRPr>
          </a:p>
          <a:p>
            <a:pPr marL="671830" marR="0" lvl="1" indent="-285750" algn="just" defTabSz="914400" rtl="0" eaLnBrk="1" fontAlgn="base" latinLnBrk="0" hangingPunct="1">
              <a:lnSpc>
                <a:spcPct val="100000"/>
              </a:lnSpc>
              <a:spcBef>
                <a:spcPct val="20000"/>
              </a:spcBef>
              <a:spcAft>
                <a:spcPct val="0"/>
              </a:spcAft>
              <a:buClr>
                <a:schemeClr val="accent2">
                  <a:lumMod val="75000"/>
                </a:schemeClr>
              </a:buClr>
              <a:buSzPct val="70000"/>
              <a:buFont typeface="Arial" panose="020B0604020202020204" pitchFamily="34" charset="0"/>
              <a:buChar char="•"/>
              <a:defRPr/>
            </a:pPr>
            <a:r>
              <a:rPr kumimoji="0" lang="zh-CN" altLang="en-US" sz="2400" b="0"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rPr>
              <a:t>正确地根据设计模型进行程序设计</a:t>
            </a:r>
            <a:endParaRPr kumimoji="0" lang="zh-CN" altLang="en-US" sz="2400" b="0"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endParaRPr>
          </a:p>
          <a:p>
            <a:pPr marL="671830" marR="0" lvl="1" indent="-285750" algn="just" defTabSz="914400" rtl="0" eaLnBrk="1" fontAlgn="base" latinLnBrk="0" hangingPunct="1">
              <a:lnSpc>
                <a:spcPct val="100000"/>
              </a:lnSpc>
              <a:spcBef>
                <a:spcPct val="20000"/>
              </a:spcBef>
              <a:spcAft>
                <a:spcPct val="0"/>
              </a:spcAft>
              <a:buClr>
                <a:schemeClr val="accent2">
                  <a:lumMod val="75000"/>
                </a:schemeClr>
              </a:buClr>
              <a:buSzPct val="70000"/>
              <a:buFont typeface="Arial" panose="020B0604020202020204" pitchFamily="34" charset="0"/>
              <a:buChar char="•"/>
              <a:defRPr/>
            </a:pPr>
            <a:r>
              <a:rPr kumimoji="0" lang="zh-CN" altLang="en-US" sz="2400" b="0"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rPr>
              <a:t>正</a:t>
            </a:r>
            <a:r>
              <a:rPr kumimoji="0" lang="zh-CN" altLang="en-US" sz="2400" b="0" i="0" u="none" strike="noStrike" kern="0" cap="none" spc="0" normalizeH="0" baseline="0" noProof="0" dirty="0" smtClean="0">
                <a:ln>
                  <a:noFill/>
                </a:ln>
                <a:solidFill>
                  <a:schemeClr val="accent2">
                    <a:lumMod val="75000"/>
                  </a:schemeClr>
                </a:solidFill>
                <a:effectLst/>
                <a:uLnTx/>
                <a:uFillTx/>
                <a:latin typeface="宋体" panose="02010600030101010101" pitchFamily="2" charset="-122"/>
                <a:ea typeface="华文中宋" panose="02010600040101010101" pitchFamily="2" charset="-122"/>
              </a:rPr>
              <a:t>确而</a:t>
            </a:r>
            <a:r>
              <a:rPr kumimoji="0" lang="zh-CN" altLang="en-US" sz="2400" b="0"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rPr>
              <a:t>高效率地编写和测试源代码</a:t>
            </a:r>
            <a:endParaRPr kumimoji="0" lang="zh-CN" altLang="en-US" sz="2400" b="0"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endParaRPr>
          </a:p>
          <a:p>
            <a:pPr marL="671830" marR="0" lvl="1" indent="-285750" algn="just" defTabSz="914400" rtl="0" eaLnBrk="1" fontAlgn="base" latinLnBrk="0" hangingPunct="1">
              <a:lnSpc>
                <a:spcPct val="100000"/>
              </a:lnSpc>
              <a:spcBef>
                <a:spcPct val="20000"/>
              </a:spcBef>
              <a:spcAft>
                <a:spcPct val="0"/>
              </a:spcAft>
              <a:buClr>
                <a:schemeClr val="accent2">
                  <a:lumMod val="75000"/>
                </a:schemeClr>
              </a:buClr>
              <a:buSzPct val="70000"/>
              <a:buFont typeface="Arial" panose="020B0604020202020204" pitchFamily="34" charset="0"/>
              <a:buChar char="•"/>
              <a:defRPr/>
            </a:pPr>
            <a:r>
              <a:rPr kumimoji="0" lang="zh-CN" altLang="en-US" sz="2400" b="0" i="0" u="none" strike="noStrike" kern="0" cap="none" spc="0" normalizeH="0" baseline="0" noProof="0" dirty="0">
                <a:ln>
                  <a:noFill/>
                </a:ln>
                <a:solidFill>
                  <a:srgbClr val="C00000"/>
                </a:solidFill>
                <a:effectLst/>
                <a:uLnTx/>
                <a:uFillTx/>
                <a:latin typeface="宋体" panose="02010600030101010101" pitchFamily="2" charset="-122"/>
                <a:ea typeface="华文中宋" panose="02010600040101010101" pitchFamily="2" charset="-122"/>
              </a:rPr>
              <a:t>软件编码是设计的继续</a:t>
            </a:r>
            <a:r>
              <a:rPr kumimoji="0"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rPr>
              <a:t>，会影响软件质量和可维护性。</a:t>
            </a:r>
            <a:endParaRPr kumimoji="0" lang="zh-CN" altLang="en-US" sz="24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endParaRPr>
          </a:p>
          <a:p>
            <a:pPr marL="671830" marR="0" lvl="1" indent="-285750" algn="just" defTabSz="914400" rtl="0" eaLnBrk="1" fontAlgn="base" latinLnBrk="0" hangingPunct="1">
              <a:lnSpc>
                <a:spcPct val="100000"/>
              </a:lnSpc>
              <a:spcBef>
                <a:spcPct val="20000"/>
              </a:spcBef>
              <a:spcAft>
                <a:spcPct val="0"/>
              </a:spcAft>
              <a:buClr>
                <a:schemeClr val="accent2">
                  <a:lumMod val="75000"/>
                </a:schemeClr>
              </a:buClr>
              <a:buSzPct val="70000"/>
              <a:buFont typeface="Arial" panose="020B0604020202020204" pitchFamily="34" charset="0"/>
              <a:buChar char="•"/>
              <a:defRPr/>
            </a:pPr>
            <a:r>
              <a:rPr kumimoji="0" lang="zh-CN" altLang="en-US" sz="2400" b="0"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rPr>
              <a:t>软件编码要考虑重用和重构</a:t>
            </a:r>
            <a:endParaRPr kumimoji="0" lang="zh-CN" altLang="en-US" sz="2400" b="0"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10244"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pic>
        <p:nvPicPr>
          <p:cNvPr id="10245" name="Picture 4"/>
          <p:cNvPicPr>
            <a:picLocks noChangeAspect="1"/>
          </p:cNvPicPr>
          <p:nvPr/>
        </p:nvPicPr>
        <p:blipFill>
          <a:blip r:embed="rId1"/>
          <a:stretch>
            <a:fillRect/>
          </a:stretch>
        </p:blipFill>
        <p:spPr>
          <a:xfrm>
            <a:off x="7869238" y="3213100"/>
            <a:ext cx="1176337" cy="2722563"/>
          </a:xfrm>
          <a:prstGeom prst="rect">
            <a:avLst/>
          </a:prstGeom>
          <a:noFill/>
          <a:ln w="25400">
            <a:noFill/>
          </a:ln>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软件编码的工作</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229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pic>
        <p:nvPicPr>
          <p:cNvPr id="12292" name="Picture 4"/>
          <p:cNvPicPr>
            <a:picLocks noChangeAspect="1"/>
          </p:cNvPicPr>
          <p:nvPr/>
        </p:nvPicPr>
        <p:blipFill>
          <a:blip r:embed="rId1"/>
          <a:stretch>
            <a:fillRect/>
          </a:stretch>
        </p:blipFill>
        <p:spPr>
          <a:xfrm>
            <a:off x="7451725" y="3213100"/>
            <a:ext cx="1176338" cy="2722563"/>
          </a:xfrm>
          <a:prstGeom prst="rect">
            <a:avLst/>
          </a:prstGeom>
          <a:noFill/>
          <a:ln w="25400">
            <a:noFill/>
          </a:ln>
        </p:spPr>
      </p:pic>
      <p:sp>
        <p:nvSpPr>
          <p:cNvPr id="2" name="内容占位符 1"/>
          <p:cNvSpPr>
            <a:spLocks noGrp="1"/>
          </p:cNvSpPr>
          <p:nvPr>
            <p:ph idx="1"/>
          </p:nvPr>
        </p:nvSpPr>
        <p:spPr>
          <a:xfrm>
            <a:off x="441325" y="1268413"/>
            <a:ext cx="7391400" cy="5478463"/>
          </a:xfrm>
        </p:spPr>
        <p:txBody>
          <a:bodyPr vert="horz" wrap="square" lIns="91440" tIns="45720" rIns="91440" bIns="45720" numCol="1" anchor="t" anchorCtr="0" compatLnSpc="1">
            <a:spAutoFit/>
          </a:bodyPr>
          <a:lstStyle/>
          <a:p>
            <a:pPr marL="91440" marR="0" lvl="0" indent="-91440" algn="just" defTabSz="914400" rtl="0" eaLnBrk="1" fontAlgn="auto" latinLnBrk="0" hangingPunct="1">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rPr>
              <a:t>程序设计</a:t>
            </a:r>
            <a:endPar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endParaRPr>
          </a:p>
          <a:p>
            <a:pPr marL="544195" marR="0" lvl="1" indent="-342900" algn="just" defTabSz="914400" rtl="0" eaLnBrk="1" fontAlgn="auto" latinLnBrk="0" hangingPunct="1">
              <a:lnSpc>
                <a:spcPct val="120000"/>
              </a:lnSpc>
              <a:spcBef>
                <a:spcPct val="20000"/>
              </a:spcBef>
              <a:spcAft>
                <a:spcPct val="0"/>
              </a:spcAft>
              <a:buClr>
                <a:schemeClr val="accent2">
                  <a:lumMod val="75000"/>
                </a:schemeClr>
              </a:buClr>
              <a:buSzPct val="70000"/>
              <a:buFont typeface="Arial" panose="020B0604020202020204" pitchFamily="34" charset="0"/>
              <a:buChar char="•"/>
              <a:defRPr/>
            </a:pPr>
            <a:r>
              <a:rPr kumimoji="0" lang="zh-CN" altLang="en-US" sz="2200" b="0" i="0" u="none" strike="noStrike" kern="0" cap="none" spc="0" normalizeH="0" baseline="0" noProof="0" dirty="0" smtClean="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理</a:t>
            </a:r>
            <a:r>
              <a:rPr kumimoji="0" lang="zh-CN" altLang="en-US" sz="22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解软件的需求说明和设计模型</a:t>
            </a:r>
            <a:endParaRPr kumimoji="0" lang="zh-CN" altLang="en-US" sz="22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endParaRPr>
          </a:p>
          <a:p>
            <a:pPr marL="544195" marR="0" lvl="1" indent="-342900" algn="just" defTabSz="914400" rtl="0" eaLnBrk="1" fontAlgn="auto" latinLnBrk="0" hangingPunct="1">
              <a:lnSpc>
                <a:spcPct val="120000"/>
              </a:lnSpc>
              <a:spcBef>
                <a:spcPct val="20000"/>
              </a:spcBef>
              <a:spcAft>
                <a:spcPct val="0"/>
              </a:spcAft>
              <a:buClr>
                <a:schemeClr val="accent2">
                  <a:lumMod val="75000"/>
                </a:schemeClr>
              </a:buClr>
              <a:buSzPct val="70000"/>
              <a:buFont typeface="Arial" panose="020B0604020202020204" pitchFamily="34" charset="0"/>
              <a:buChar char="•"/>
              <a:defRPr/>
            </a:pPr>
            <a:r>
              <a:rPr kumimoji="0" lang="zh-CN" altLang="en-US" sz="2200" b="0" i="0" u="none" strike="noStrike" kern="0" cap="none" spc="0" normalizeH="0" baseline="0" noProof="0" dirty="0" smtClean="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补</a:t>
            </a:r>
            <a:r>
              <a:rPr kumimoji="0" lang="zh-CN" altLang="en-US" sz="22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充遗漏的或剩余的详细设计</a:t>
            </a:r>
            <a:endParaRPr kumimoji="0" lang="zh-CN" altLang="en-US" sz="22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endParaRPr>
          </a:p>
          <a:p>
            <a:pPr marL="544195" marR="0" lvl="1" indent="-342900" algn="just" defTabSz="914400" rtl="0" eaLnBrk="1" fontAlgn="auto" latinLnBrk="0" hangingPunct="1">
              <a:lnSpc>
                <a:spcPct val="120000"/>
              </a:lnSpc>
              <a:spcBef>
                <a:spcPct val="20000"/>
              </a:spcBef>
              <a:spcAft>
                <a:spcPct val="0"/>
              </a:spcAft>
              <a:buClr>
                <a:schemeClr val="accent2">
                  <a:lumMod val="75000"/>
                </a:schemeClr>
              </a:buClr>
              <a:buSzPct val="70000"/>
              <a:buFont typeface="Arial" panose="020B0604020202020204" pitchFamily="34" charset="0"/>
              <a:buChar char="•"/>
              <a:defRPr/>
            </a:pPr>
            <a:r>
              <a:rPr kumimoji="0" lang="zh-CN" altLang="en-US" sz="2200" b="0" i="0" u="none" strike="noStrike" kern="0" cap="none" spc="0" normalizeH="0" baseline="0" noProof="0" dirty="0" smtClean="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设</a:t>
            </a:r>
            <a:r>
              <a:rPr kumimoji="0" lang="zh-CN" altLang="en-US" sz="22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计程序代码的结构</a:t>
            </a:r>
            <a:endParaRPr kumimoji="0" lang="zh-CN" altLang="en-US" sz="22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endParaRPr>
          </a:p>
          <a:p>
            <a:pPr marL="195580" marR="0" lvl="0" indent="-195580" algn="just" defTabSz="914400" rtl="0" eaLnBrk="1" fontAlgn="auto" latinLnBrk="0" hangingPunct="1">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rPr>
              <a:t>设计审查</a:t>
            </a:r>
            <a:endPar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endParaRPr>
          </a:p>
          <a:p>
            <a:pPr marL="544195" marR="0" lvl="1" indent="-342900" algn="just" defTabSz="914400" rtl="0" eaLnBrk="1" fontAlgn="auto" latinLnBrk="0" hangingPunct="1">
              <a:lnSpc>
                <a:spcPct val="120000"/>
              </a:lnSpc>
              <a:spcBef>
                <a:spcPct val="20000"/>
              </a:spcBef>
              <a:spcAft>
                <a:spcPct val="0"/>
              </a:spcAft>
              <a:buClr>
                <a:schemeClr val="accent2">
                  <a:lumMod val="75000"/>
                </a:schemeClr>
              </a:buClr>
              <a:buSzPct val="70000"/>
              <a:buFont typeface="Arial" panose="020B0604020202020204" pitchFamily="34" charset="0"/>
              <a:buChar char="•"/>
              <a:defRPr/>
            </a:pPr>
            <a:r>
              <a:rPr kumimoji="0" lang="zh-CN" altLang="en-US" sz="22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检查设计结果</a:t>
            </a:r>
            <a:endParaRPr kumimoji="0" lang="zh-CN" altLang="en-US" sz="22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endParaRPr>
          </a:p>
          <a:p>
            <a:pPr marL="544195" marR="0" lvl="1" indent="-342900" algn="just" defTabSz="914400" rtl="0" eaLnBrk="1" fontAlgn="auto" latinLnBrk="0" hangingPunct="1">
              <a:lnSpc>
                <a:spcPct val="120000"/>
              </a:lnSpc>
              <a:spcBef>
                <a:spcPct val="20000"/>
              </a:spcBef>
              <a:spcAft>
                <a:spcPct val="0"/>
              </a:spcAft>
              <a:buClr>
                <a:schemeClr val="accent2">
                  <a:lumMod val="75000"/>
                </a:schemeClr>
              </a:buClr>
              <a:buSzPct val="70000"/>
              <a:buFont typeface="Arial" panose="020B0604020202020204" pitchFamily="34" charset="0"/>
              <a:buChar char="•"/>
              <a:defRPr/>
            </a:pPr>
            <a:r>
              <a:rPr kumimoji="0" lang="zh-CN" altLang="en-US" sz="22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记录发现的设计缺陷（类型、来源、严重性）</a:t>
            </a:r>
            <a:endParaRPr kumimoji="0" lang="zh-CN" altLang="en-US" sz="22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endParaRPr>
          </a:p>
          <a:p>
            <a:pPr marL="195580" marR="0" lvl="0" indent="-195580" algn="just" defTabSz="914400" rtl="0" eaLnBrk="1" fontAlgn="auto" latinLnBrk="0" hangingPunct="1">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rPr>
              <a:t>编写代码</a:t>
            </a:r>
            <a:endPar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endParaRPr>
          </a:p>
          <a:p>
            <a:pPr marL="544195" marR="0" lvl="1" indent="-342900" algn="just" defTabSz="914400" rtl="0" eaLnBrk="1" fontAlgn="auto" latinLnBrk="0" hangingPunct="1">
              <a:lnSpc>
                <a:spcPct val="120000"/>
              </a:lnSpc>
              <a:spcBef>
                <a:spcPct val="20000"/>
              </a:spcBef>
              <a:spcAft>
                <a:spcPct val="0"/>
              </a:spcAft>
              <a:buClr>
                <a:schemeClr val="accent2">
                  <a:lumMod val="75000"/>
                </a:schemeClr>
              </a:buClr>
              <a:buSzPct val="70000"/>
              <a:buFont typeface="Arial" panose="020B0604020202020204" pitchFamily="34" charset="0"/>
              <a:buChar char="•"/>
              <a:defRPr/>
            </a:pPr>
            <a:r>
              <a:rPr kumimoji="0" lang="zh-CN" altLang="en-US" sz="22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按照编码规范进行代码编写</a:t>
            </a:r>
            <a:endParaRPr kumimoji="0" lang="zh-CN" altLang="en-US" sz="22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endParaRPr>
          </a:p>
          <a:p>
            <a:pPr marL="544195" marR="0" lvl="1" indent="-342900" algn="just" defTabSz="914400" rtl="0" eaLnBrk="1" fontAlgn="auto" latinLnBrk="0" hangingPunct="1">
              <a:lnSpc>
                <a:spcPct val="120000"/>
              </a:lnSpc>
              <a:spcBef>
                <a:spcPct val="20000"/>
              </a:spcBef>
              <a:spcAft>
                <a:spcPct val="0"/>
              </a:spcAft>
              <a:buClr>
                <a:schemeClr val="accent2">
                  <a:lumMod val="75000"/>
                </a:schemeClr>
              </a:buClr>
              <a:buSzPct val="70000"/>
              <a:buFont typeface="Arial" panose="020B0604020202020204" pitchFamily="34" charset="0"/>
              <a:buChar char="•"/>
              <a:defRPr/>
            </a:pPr>
            <a:r>
              <a:rPr kumimoji="0" lang="zh-CN" altLang="en-US" sz="22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所编写代码应该是易验证的</a:t>
            </a:r>
            <a:endParaRPr kumimoji="0" lang="zh-CN" altLang="en-US" sz="22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软件编码的工作</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433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4340" name="内容占位符 1"/>
          <p:cNvSpPr>
            <a:spLocks noGrp="1"/>
          </p:cNvSpPr>
          <p:nvPr>
            <p:ph idx="1"/>
          </p:nvPr>
        </p:nvSpPr>
        <p:spPr>
          <a:xfrm>
            <a:off x="393700" y="1370013"/>
            <a:ext cx="7391400" cy="4117975"/>
          </a:xfrm>
          <a:ln/>
        </p:spPr>
        <p:txBody>
          <a:bodyPr vert="horz" wrap="square" lIns="91440" tIns="45720" rIns="91440" bIns="45720" anchor="t" anchorCtr="0">
            <a:spAutoFit/>
          </a:bodyPr>
          <a:p>
            <a:pPr eaLnBrk="1" hangingPunct="1">
              <a:lnSpc>
                <a:spcPct val="120000"/>
              </a:lnSpc>
              <a:buSzPct val="70000"/>
            </a:pPr>
            <a:r>
              <a:rPr lang="zh-CN" altLang="en-US" dirty="0">
                <a:latin typeface="华文中宋" panose="02010600040101010101" pitchFamily="2" charset="-122"/>
                <a:ea typeface="华文中宋" panose="02010600040101010101" pitchFamily="2" charset="-122"/>
                <a:cs typeface="+mn-cs"/>
              </a:rPr>
              <a:t>代码走查</a:t>
            </a:r>
            <a:endParaRPr lang="zh-CN" altLang="en-US" dirty="0">
              <a:latin typeface="华文中宋" panose="02010600040101010101" pitchFamily="2" charset="-122"/>
              <a:ea typeface="华文中宋" panose="02010600040101010101" pitchFamily="2" charset="-122"/>
              <a:cs typeface="+mn-cs"/>
            </a:endParaRPr>
          </a:p>
          <a:p>
            <a:pPr lvl="1" eaLnBrk="1" hangingPunct="1">
              <a:lnSpc>
                <a:spcPct val="120000"/>
              </a:lnSpc>
              <a:buSzPct val="70000"/>
              <a:buFont typeface="Arial" panose="020B0604020202020204" pitchFamily="34" charset="0"/>
              <a:buChar char="•"/>
            </a:pPr>
            <a:r>
              <a:rPr lang="zh-CN" altLang="en-US" sz="2400" dirty="0">
                <a:latin typeface="华文中宋" panose="02010600040101010101" pitchFamily="2" charset="-122"/>
                <a:ea typeface="华文中宋" panose="02010600040101010101" pitchFamily="2" charset="-122"/>
              </a:rPr>
              <a:t>确认所写代码完成了所要求的工作</a:t>
            </a:r>
            <a:endParaRPr lang="zh-CN" altLang="en-US" sz="2400" dirty="0">
              <a:latin typeface="华文中宋" panose="02010600040101010101" pitchFamily="2" charset="-122"/>
              <a:ea typeface="华文中宋" panose="02010600040101010101" pitchFamily="2" charset="-122"/>
            </a:endParaRPr>
          </a:p>
          <a:p>
            <a:pPr lvl="1" eaLnBrk="1" hangingPunct="1">
              <a:lnSpc>
                <a:spcPct val="120000"/>
              </a:lnSpc>
              <a:buSzPct val="70000"/>
              <a:buFont typeface="Arial" panose="020B0604020202020204" pitchFamily="34" charset="0"/>
              <a:buChar char="•"/>
            </a:pPr>
            <a:r>
              <a:rPr lang="zh-CN" altLang="en-US" sz="2400" dirty="0">
                <a:latin typeface="华文中宋" panose="02010600040101010101" pitchFamily="2" charset="-122"/>
                <a:ea typeface="华文中宋" panose="02010600040101010101" pitchFamily="2" charset="-122"/>
              </a:rPr>
              <a:t>发现的代码缺陷（类型、来源、严重性）</a:t>
            </a:r>
            <a:endParaRPr lang="zh-CN" altLang="en-US" sz="2400" dirty="0">
              <a:latin typeface="华文中宋" panose="02010600040101010101" pitchFamily="2" charset="-122"/>
              <a:ea typeface="华文中宋" panose="02010600040101010101" pitchFamily="2" charset="-122"/>
            </a:endParaRPr>
          </a:p>
          <a:p>
            <a:pPr eaLnBrk="1" hangingPunct="1">
              <a:lnSpc>
                <a:spcPct val="120000"/>
              </a:lnSpc>
              <a:buSzPct val="70000"/>
            </a:pPr>
            <a:r>
              <a:rPr lang="zh-CN" altLang="en-US" dirty="0">
                <a:latin typeface="华文中宋" panose="02010600040101010101" pitchFamily="2" charset="-122"/>
                <a:ea typeface="华文中宋" panose="02010600040101010101" pitchFamily="2" charset="-122"/>
                <a:cs typeface="+mn-cs"/>
              </a:rPr>
              <a:t>编译代码</a:t>
            </a:r>
            <a:endParaRPr lang="zh-CN" altLang="en-US" dirty="0">
              <a:latin typeface="华文中宋" panose="02010600040101010101" pitchFamily="2" charset="-122"/>
              <a:ea typeface="华文中宋" panose="02010600040101010101" pitchFamily="2" charset="-122"/>
              <a:cs typeface="+mn-cs"/>
            </a:endParaRPr>
          </a:p>
          <a:p>
            <a:pPr lvl="1" eaLnBrk="1" hangingPunct="1">
              <a:lnSpc>
                <a:spcPct val="120000"/>
              </a:lnSpc>
              <a:buSzPct val="70000"/>
              <a:buFont typeface="Arial" panose="020B0604020202020204" pitchFamily="34" charset="0"/>
              <a:buChar char="•"/>
            </a:pPr>
            <a:r>
              <a:rPr lang="zh-CN" altLang="en-US" sz="2400" dirty="0">
                <a:latin typeface="华文中宋" panose="02010600040101010101" pitchFamily="2" charset="-122"/>
                <a:ea typeface="华文中宋" panose="02010600040101010101" pitchFamily="2" charset="-122"/>
              </a:rPr>
              <a:t>修改代码的语法错误</a:t>
            </a:r>
            <a:endParaRPr lang="zh-CN" altLang="en-US" sz="2400" dirty="0">
              <a:latin typeface="华文中宋" panose="02010600040101010101" pitchFamily="2" charset="-122"/>
              <a:ea typeface="华文中宋" panose="02010600040101010101" pitchFamily="2" charset="-122"/>
            </a:endParaRPr>
          </a:p>
          <a:p>
            <a:pPr eaLnBrk="1" hangingPunct="1">
              <a:lnSpc>
                <a:spcPct val="120000"/>
              </a:lnSpc>
              <a:buSzPct val="70000"/>
            </a:pPr>
            <a:r>
              <a:rPr lang="zh-CN" altLang="en-US" dirty="0">
                <a:latin typeface="华文中宋" panose="02010600040101010101" pitchFamily="2" charset="-122"/>
                <a:ea typeface="华文中宋" panose="02010600040101010101" pitchFamily="2" charset="-122"/>
                <a:cs typeface="+mn-cs"/>
              </a:rPr>
              <a:t>测试所写代码</a:t>
            </a:r>
            <a:endParaRPr lang="zh-CN" altLang="en-US" dirty="0">
              <a:latin typeface="华文中宋" panose="02010600040101010101" pitchFamily="2" charset="-122"/>
              <a:ea typeface="华文中宋" panose="02010600040101010101" pitchFamily="2" charset="-122"/>
              <a:cs typeface="+mn-cs"/>
            </a:endParaRPr>
          </a:p>
          <a:p>
            <a:pPr lvl="1" eaLnBrk="1" hangingPunct="1">
              <a:lnSpc>
                <a:spcPct val="120000"/>
              </a:lnSpc>
              <a:buSzPct val="70000"/>
              <a:buFont typeface="Arial" panose="020B0604020202020204" pitchFamily="34" charset="0"/>
              <a:buChar char="•"/>
            </a:pPr>
            <a:r>
              <a:rPr lang="zh-CN" altLang="en-US" sz="2400" dirty="0">
                <a:latin typeface="华文中宋" panose="02010600040101010101" pitchFamily="2" charset="-122"/>
                <a:ea typeface="华文中宋" panose="02010600040101010101" pitchFamily="2" charset="-122"/>
              </a:rPr>
              <a:t>对代码进行单元测试</a:t>
            </a:r>
            <a:endParaRPr lang="zh-CN" altLang="en-US" sz="2400" dirty="0">
              <a:latin typeface="华文中宋" panose="02010600040101010101" pitchFamily="2" charset="-122"/>
              <a:ea typeface="华文中宋" panose="02010600040101010101" pitchFamily="2" charset="-122"/>
            </a:endParaRPr>
          </a:p>
          <a:p>
            <a:pPr lvl="1" eaLnBrk="1" hangingPunct="1">
              <a:lnSpc>
                <a:spcPct val="120000"/>
              </a:lnSpc>
              <a:buSzPct val="70000"/>
              <a:buFont typeface="Arial" panose="020B0604020202020204" pitchFamily="34" charset="0"/>
              <a:buChar char="•"/>
            </a:pPr>
            <a:r>
              <a:rPr lang="zh-CN" altLang="en-US" sz="2400" dirty="0">
                <a:latin typeface="华文中宋" panose="02010600040101010101" pitchFamily="2" charset="-122"/>
                <a:ea typeface="华文中宋" panose="02010600040101010101" pitchFamily="2" charset="-122"/>
              </a:rPr>
              <a:t>调试代码修改错误</a:t>
            </a:r>
            <a:endParaRPr lang="zh-CN" altLang="en-US" dirty="0">
              <a:latin typeface="华文中宋" panose="02010600040101010101" pitchFamily="2" charset="-122"/>
              <a:ea typeface="华文中宋" panose="02010600040101010101" pitchFamily="2" charset="-122"/>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程序员应具备的能力</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6387"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2" name="内容占位符 1"/>
          <p:cNvSpPr>
            <a:spLocks noGrp="1"/>
          </p:cNvSpPr>
          <p:nvPr>
            <p:ph idx="1"/>
          </p:nvPr>
        </p:nvSpPr>
        <p:spPr>
          <a:xfrm>
            <a:off x="450850" y="1231900"/>
            <a:ext cx="7391400" cy="4849813"/>
          </a:xfrm>
        </p:spPr>
        <p:txBody>
          <a:bodyPr vert="horz" wrap="square" lIns="91440" tIns="45720" rIns="91440" bIns="45720" numCol="1" anchor="t" anchorCtr="0" compatLnSpc="1">
            <a:spAutoFit/>
          </a:bodyPr>
          <a:lstStyle/>
          <a:p>
            <a:pPr marL="91440" marR="0" lvl="0" indent="-91440" algn="just" defTabSz="914400" rtl="0" eaLnBrk="1" fontAlgn="auto" latinLnBrk="0" hangingPunct="1">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rPr>
              <a:t>基础知识</a:t>
            </a:r>
            <a:endPar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endParaRPr>
          </a:p>
          <a:p>
            <a:pPr marL="544195" marR="0" lvl="1" indent="-342900" algn="just" defTabSz="914400" rtl="0" eaLnBrk="1" fontAlgn="auto" latinLnBrk="0" hangingPunct="1">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rPr>
              <a:t>英语的功底</a:t>
            </a:r>
            <a:endParaRPr kumimoji="0" lang="zh-CN" altLang="en-US"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endParaRPr>
          </a:p>
          <a:p>
            <a:pPr marL="544195" marR="0" lvl="1" indent="-342900" algn="just" defTabSz="914400" rtl="0" eaLnBrk="1" fontAlgn="auto" latinLnBrk="0" hangingPunct="1">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rPr>
              <a:t>数学基础（算法分析与设计）</a:t>
            </a:r>
            <a:endParaRPr kumimoji="0" lang="zh-CN" altLang="en-US"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endParaRPr>
          </a:p>
          <a:p>
            <a:pPr marL="544195" marR="0" lvl="1" indent="-342900" algn="just" defTabSz="914400" rtl="0" eaLnBrk="1" fontAlgn="auto" latinLnBrk="0" hangingPunct="1">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rPr>
              <a:t>计算机科学基础知识</a:t>
            </a:r>
            <a:endParaRPr kumimoji="0" lang="zh-CN" altLang="en-US"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endParaRPr>
          </a:p>
          <a:p>
            <a:pPr marL="195580" marR="0" lvl="0" indent="-195580" algn="just" defTabSz="914400" rtl="0" eaLnBrk="1" fontAlgn="auto" latinLnBrk="0" hangingPunct="1">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rPr>
              <a:t>基本技能</a:t>
            </a:r>
            <a:endPar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endParaRPr>
          </a:p>
          <a:p>
            <a:pPr marL="544195" marR="0" lvl="1" indent="-342900" algn="just" defTabSz="914400" rtl="0" eaLnBrk="1" fontAlgn="auto" latinLnBrk="0" hangingPunct="1">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rPr>
              <a:t>认识事务的能力（抽象、模型、结构、层次）</a:t>
            </a:r>
            <a:endParaRPr kumimoji="0" lang="zh-CN" altLang="en-US"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endParaRPr>
          </a:p>
          <a:p>
            <a:pPr marL="544195" marR="0" lvl="1" indent="-342900" algn="just" defTabSz="914400" rtl="0" eaLnBrk="1" fontAlgn="auto" latinLnBrk="0" hangingPunct="1">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rPr>
              <a:t>做事的逻辑性和条理性</a:t>
            </a:r>
            <a:endParaRPr kumimoji="0" lang="zh-CN" altLang="en-US"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endParaRPr>
          </a:p>
          <a:p>
            <a:pPr marL="544195" marR="0" lvl="1" indent="-342900" algn="just" defTabSz="914400" rtl="0" eaLnBrk="1" fontAlgn="auto" latinLnBrk="0" hangingPunct="1">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rPr>
              <a:t>沟通技能、演讲技巧和团队协作能力</a:t>
            </a:r>
            <a:endParaRPr kumimoji="0" lang="zh-CN" altLang="en-US"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endParaRPr>
          </a:p>
          <a:p>
            <a:pPr marL="544195" marR="0" lvl="1" indent="-342900" algn="just" defTabSz="914400" rtl="0" eaLnBrk="1" fontAlgn="auto" latinLnBrk="0" hangingPunct="1">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rPr>
              <a:t>学习新知识和新技术的能力</a:t>
            </a:r>
            <a:endParaRPr kumimoji="0" lang="zh-CN" altLang="en-US" sz="22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endParaRPr>
          </a:p>
          <a:p>
            <a:pPr marL="91440" marR="0" lvl="0" indent="-91440" algn="just" defTabSz="914400" rtl="0" eaLnBrk="1" fontAlgn="auto" latinLnBrk="0" hangingPunct="1">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职业化训练和实践经验</a:t>
            </a:r>
            <a:endParaRPr kumimoji="0" lang="zh-CN" altLang="en-US" sz="24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软件编码</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843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8436" name="内容占位符 1"/>
          <p:cNvSpPr>
            <a:spLocks noGrp="1"/>
          </p:cNvSpPr>
          <p:nvPr>
            <p:ph idx="1"/>
          </p:nvPr>
        </p:nvSpPr>
        <p:spPr>
          <a:xfrm>
            <a:off x="1087438" y="2306638"/>
            <a:ext cx="7391400" cy="2916237"/>
          </a:xfrm>
          <a:ln/>
        </p:spPr>
        <p:txBody>
          <a:bodyPr vert="horz" wrap="square" lIns="91440" tIns="45720" rIns="91440" bIns="45720" anchor="t" anchorCtr="0">
            <a:spAutoFit/>
          </a:bodyPr>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一、关于编码的一些理念</a:t>
            </a:r>
            <a:endParaRPr lang="zh-CN" altLang="en-US"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solidFill>
                  <a:srgbClr val="C00000"/>
                </a:solidFill>
                <a:latin typeface="华文中宋" panose="02010600040101010101" pitchFamily="2" charset="-122"/>
                <a:ea typeface="华文中宋" panose="02010600040101010101" pitchFamily="2" charset="-122"/>
                <a:cs typeface="+mn-cs"/>
              </a:rPr>
              <a:t>二、编程语言的选择</a:t>
            </a:r>
            <a:endParaRPr lang="zh-CN" altLang="en-US" dirty="0">
              <a:solidFill>
                <a:srgbClr val="C00000"/>
              </a:solidFill>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三、编码标准和规范</a:t>
            </a:r>
            <a:endParaRPr lang="zh-CN" altLang="en-US"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四、程序效率</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endParaRPr lang="zh-CN" altLang="en-US" dirty="0">
              <a:latin typeface="华文中宋" panose="02010600040101010101" pitchFamily="2" charset="-122"/>
              <a:ea typeface="华文中宋" panose="02010600040101010101" pitchFamily="2" charset="-122"/>
              <a:cs typeface="+mn-cs"/>
            </a:endParaRPr>
          </a:p>
        </p:txBody>
      </p:sp>
      <p:sp>
        <p:nvSpPr>
          <p:cNvPr id="6" name="文本框 5"/>
          <p:cNvSpPr txBox="1"/>
          <p:nvPr/>
        </p:nvSpPr>
        <p:spPr>
          <a:xfrm>
            <a:off x="395288" y="1341438"/>
            <a:ext cx="4572000" cy="706438"/>
          </a:xfrm>
          <a:prstGeom prst="rect">
            <a:avLst/>
          </a:prstGeom>
          <a:noFill/>
        </p:spPr>
        <p:txBody>
          <a:bodyPr>
            <a:spAutoFit/>
          </a:bodyPr>
          <a:lstStyle/>
          <a:p>
            <a:pPr marR="0" defTabSz="914400">
              <a:buClrTx/>
              <a:buSzTx/>
              <a:buFontTx/>
              <a:buNone/>
              <a:defRPr/>
            </a:pPr>
            <a:r>
              <a:rPr kumimoji="0" lang="zh-CN" altLang="en-US" sz="400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本章要点</a:t>
            </a:r>
            <a:endParaRPr kumimoji="0" lang="zh-CN" altLang="en-US" sz="4000" kern="1200" cap="none" spc="0" normalizeH="0" baseline="0" noProof="0" dirty="0">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问题</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2048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20484" name="内容占位符 1"/>
          <p:cNvSpPr>
            <a:spLocks noGrp="1"/>
          </p:cNvSpPr>
          <p:nvPr>
            <p:ph idx="1"/>
          </p:nvPr>
        </p:nvSpPr>
        <p:spPr>
          <a:xfrm>
            <a:off x="876300" y="1517650"/>
            <a:ext cx="7391400" cy="3821113"/>
          </a:xfrm>
          <a:ln/>
        </p:spPr>
        <p:txBody>
          <a:bodyPr vert="horz" wrap="square" lIns="91440" tIns="45720" rIns="91440" bIns="45720" anchor="t" anchorCtr="0">
            <a:spAutoFit/>
          </a:bodyPr>
          <a:p>
            <a:pPr eaLnBrk="1" hangingPunct="1">
              <a:lnSpc>
                <a:spcPct val="120000"/>
              </a:lnSpc>
              <a:buSzPct val="70000"/>
            </a:pPr>
            <a:r>
              <a:rPr lang="zh-CN" altLang="en-US" dirty="0">
                <a:latin typeface="华文中宋" panose="02010600040101010101" pitchFamily="2" charset="-122"/>
                <a:ea typeface="华文中宋" panose="02010600040101010101" pitchFamily="2" charset="-122"/>
                <a:cs typeface="+mn-cs"/>
              </a:rPr>
              <a:t>在哪个阶段选择编程语言？</a:t>
            </a:r>
            <a:endParaRPr lang="zh-CN" altLang="en-US" dirty="0">
              <a:latin typeface="华文中宋" panose="02010600040101010101" pitchFamily="2" charset="-122"/>
              <a:ea typeface="华文中宋" panose="02010600040101010101" pitchFamily="2" charset="-122"/>
              <a:cs typeface="+mn-cs"/>
            </a:endParaRPr>
          </a:p>
          <a:p>
            <a:pPr eaLnBrk="1" hangingPunct="1">
              <a:lnSpc>
                <a:spcPct val="120000"/>
              </a:lnSpc>
              <a:buSzPct val="70000"/>
            </a:pPr>
            <a:r>
              <a:rPr lang="zh-CN" altLang="en-US" dirty="0">
                <a:latin typeface="华文中宋" panose="02010600040101010101" pitchFamily="2" charset="-122"/>
                <a:ea typeface="华文中宋" panose="02010600040101010101" pitchFamily="2" charset="-122"/>
                <a:cs typeface="+mn-cs"/>
              </a:rPr>
              <a:t>是需求阶段确定还是在设计阶段确定，主要看客户有无具体编程环境要求。</a:t>
            </a:r>
            <a:endParaRPr lang="zh-CN" altLang="en-US" dirty="0">
              <a:latin typeface="华文中宋" panose="02010600040101010101" pitchFamily="2" charset="-122"/>
              <a:ea typeface="华文中宋" panose="02010600040101010101" pitchFamily="2" charset="-122"/>
              <a:cs typeface="+mn-cs"/>
            </a:endParaRPr>
          </a:p>
          <a:p>
            <a:pPr eaLnBrk="1" hangingPunct="1">
              <a:lnSpc>
                <a:spcPct val="120000"/>
              </a:lnSpc>
              <a:buSzPct val="70000"/>
            </a:pPr>
            <a:r>
              <a:rPr lang="zh-CN" altLang="en-US" dirty="0">
                <a:latin typeface="华文中宋" panose="02010600040101010101" pitchFamily="2" charset="-122"/>
                <a:ea typeface="华文中宋" panose="02010600040101010101" pitchFamily="2" charset="-122"/>
                <a:cs typeface="+mn-cs"/>
              </a:rPr>
              <a:t>如果客户提出：在</a:t>
            </a:r>
            <a:r>
              <a:rPr lang="en-US" altLang="zh-CN" dirty="0">
                <a:latin typeface="华文中宋" panose="02010600040101010101" pitchFamily="2" charset="-122"/>
                <a:ea typeface="华文中宋" panose="02010600040101010101" pitchFamily="2" charset="-122"/>
                <a:cs typeface="+mn-cs"/>
              </a:rPr>
              <a:t>Linux</a:t>
            </a:r>
            <a:r>
              <a:rPr lang="zh-CN" altLang="en-US" dirty="0">
                <a:latin typeface="华文中宋" panose="02010600040101010101" pitchFamily="2" charset="-122"/>
                <a:ea typeface="华文中宋" panose="02010600040101010101" pitchFamily="2" charset="-122"/>
                <a:cs typeface="+mn-cs"/>
              </a:rPr>
              <a:t>和</a:t>
            </a:r>
            <a:r>
              <a:rPr lang="en-US" altLang="zh-CN" dirty="0">
                <a:latin typeface="华文中宋" panose="02010600040101010101" pitchFamily="2" charset="-122"/>
                <a:ea typeface="华文中宋" panose="02010600040101010101" pitchFamily="2" charset="-122"/>
                <a:cs typeface="+mn-cs"/>
              </a:rPr>
              <a:t>Windows</a:t>
            </a:r>
            <a:r>
              <a:rPr lang="zh-CN" altLang="en-US" dirty="0">
                <a:latin typeface="华文中宋" panose="02010600040101010101" pitchFamily="2" charset="-122"/>
                <a:ea typeface="华文中宋" panose="02010600040101010101" pitchFamily="2" charset="-122"/>
                <a:cs typeface="+mn-cs"/>
              </a:rPr>
              <a:t>系统上都能运行，则不能</a:t>
            </a:r>
            <a:r>
              <a:rPr lang="en-US" altLang="zh-CN" dirty="0">
                <a:latin typeface="华文中宋" panose="02010600040101010101" pitchFamily="2" charset="-122"/>
                <a:ea typeface="华文中宋" panose="02010600040101010101" pitchFamily="2" charset="-122"/>
                <a:cs typeface="+mn-cs"/>
              </a:rPr>
              <a:t>VC++,VB.net</a:t>
            </a:r>
            <a:r>
              <a:rPr lang="zh-CN" altLang="en-US" dirty="0">
                <a:latin typeface="华文中宋" panose="02010600040101010101" pitchFamily="2" charset="-122"/>
                <a:ea typeface="华文中宋" panose="02010600040101010101" pitchFamily="2" charset="-122"/>
                <a:cs typeface="+mn-cs"/>
              </a:rPr>
              <a:t>等语言。若采用</a:t>
            </a:r>
            <a:r>
              <a:rPr lang="en-US" altLang="zh-CN" dirty="0">
                <a:latin typeface="华文中宋" panose="02010600040101010101" pitchFamily="2" charset="-122"/>
                <a:ea typeface="华文中宋" panose="02010600040101010101" pitchFamily="2" charset="-122"/>
                <a:cs typeface="+mn-cs"/>
              </a:rPr>
              <a:t>Linux</a:t>
            </a:r>
            <a:r>
              <a:rPr lang="zh-CN" altLang="en-US" dirty="0">
                <a:latin typeface="华文中宋" panose="02010600040101010101" pitchFamily="2" charset="-122"/>
                <a:ea typeface="华文中宋" panose="02010600040101010101" pitchFamily="2" charset="-122"/>
                <a:cs typeface="+mn-cs"/>
              </a:rPr>
              <a:t>做服务器，那就不能采用</a:t>
            </a:r>
            <a:r>
              <a:rPr lang="en-US" altLang="zh-CN" dirty="0">
                <a:latin typeface="华文中宋" panose="02010600040101010101" pitchFamily="2" charset="-122"/>
                <a:ea typeface="华文中宋" panose="02010600040101010101" pitchFamily="2" charset="-122"/>
                <a:cs typeface="+mn-cs"/>
              </a:rPr>
              <a:t>ASP</a:t>
            </a:r>
            <a:r>
              <a:rPr lang="zh-CN" altLang="en-US" dirty="0">
                <a:latin typeface="华文中宋" panose="02010600040101010101" pitchFamily="2" charset="-122"/>
                <a:ea typeface="华文中宋" panose="02010600040101010101" pitchFamily="2" charset="-122"/>
                <a:cs typeface="+mn-cs"/>
              </a:rPr>
              <a:t>语言作为后台程序的开发语言。可选</a:t>
            </a:r>
            <a:r>
              <a:rPr lang="en-US" altLang="zh-CN" dirty="0">
                <a:latin typeface="华文中宋" panose="02010600040101010101" pitchFamily="2" charset="-122"/>
                <a:ea typeface="华文中宋" panose="02010600040101010101" pitchFamily="2" charset="-122"/>
                <a:cs typeface="+mn-cs"/>
              </a:rPr>
              <a:t>Java</a:t>
            </a:r>
            <a:r>
              <a:rPr lang="zh-CN" altLang="en-US" dirty="0">
                <a:latin typeface="华文中宋" panose="02010600040101010101" pitchFamily="2" charset="-122"/>
                <a:ea typeface="华文中宋" panose="02010600040101010101" pitchFamily="2" charset="-122"/>
                <a:cs typeface="+mn-cs"/>
              </a:rPr>
              <a:t>和</a:t>
            </a:r>
            <a:r>
              <a:rPr lang="en-US" altLang="zh-CN" dirty="0">
                <a:latin typeface="华文中宋" panose="02010600040101010101" pitchFamily="2" charset="-122"/>
                <a:ea typeface="华文中宋" panose="02010600040101010101" pitchFamily="2" charset="-122"/>
                <a:cs typeface="+mn-cs"/>
              </a:rPr>
              <a:t>PHP.</a:t>
            </a:r>
            <a:endParaRPr lang="en-US" altLang="zh-CN" dirty="0">
              <a:latin typeface="华文中宋" panose="02010600040101010101" pitchFamily="2" charset="-122"/>
              <a:ea typeface="华文中宋" panose="02010600040101010101" pitchFamily="2" charset="-122"/>
              <a:cs typeface="+mn-cs"/>
            </a:endParaRPr>
          </a:p>
          <a:p>
            <a:pPr eaLnBrk="1" hangingPunct="1">
              <a:lnSpc>
                <a:spcPct val="120000"/>
              </a:lnSpc>
              <a:buSzPct val="70000"/>
            </a:pPr>
            <a:r>
              <a:rPr lang="zh-CN" altLang="en-US" dirty="0">
                <a:latin typeface="华文中宋" panose="02010600040101010101" pitchFamily="2" charset="-122"/>
                <a:ea typeface="华文中宋" panose="02010600040101010101" pitchFamily="2" charset="-122"/>
                <a:cs typeface="+mn-cs"/>
              </a:rPr>
              <a:t>我们要对程序语言本身的特点进行了解</a:t>
            </a:r>
            <a:endParaRPr lang="zh-CN" altLang="en-US" dirty="0">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编程语言的选择</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2253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22532" name="内容占位符 1"/>
          <p:cNvSpPr>
            <a:spLocks noGrp="1"/>
          </p:cNvSpPr>
          <p:nvPr>
            <p:ph idx="1"/>
          </p:nvPr>
        </p:nvSpPr>
        <p:spPr>
          <a:xfrm>
            <a:off x="684213" y="1557338"/>
            <a:ext cx="7391400" cy="4098925"/>
          </a:xfrm>
          <a:ln/>
        </p:spPr>
        <p:txBody>
          <a:bodyPr vert="horz" wrap="square" lIns="91440" tIns="45720" rIns="91440" bIns="45720" anchor="t" anchorCtr="0">
            <a:spAutoFit/>
          </a:bodyPr>
          <a:p>
            <a:pPr eaLnBrk="1" hangingPunct="1">
              <a:buSzPct val="70000"/>
              <a:buFont typeface="Wingdings" panose="05000000000000000000" pitchFamily="2" charset="2"/>
              <a:buNone/>
            </a:pPr>
            <a:r>
              <a:rPr lang="zh-CN" altLang="en-US" dirty="0">
                <a:solidFill>
                  <a:srgbClr val="C00000"/>
                </a:solidFill>
                <a:latin typeface="华文中宋" panose="02010600040101010101" pitchFamily="2" charset="-122"/>
                <a:ea typeface="华文中宋" panose="02010600040101010101" pitchFamily="2" charset="-122"/>
                <a:cs typeface="+mn-cs"/>
              </a:rPr>
              <a:t>程序语言的分类</a:t>
            </a:r>
            <a:endParaRPr lang="zh-CN" altLang="en-US" dirty="0">
              <a:solidFill>
                <a:srgbClr val="C00000"/>
              </a:solidFill>
              <a:latin typeface="华文中宋" panose="02010600040101010101" pitchFamily="2" charset="-122"/>
              <a:ea typeface="华文中宋" panose="02010600040101010101" pitchFamily="2" charset="-122"/>
              <a:cs typeface="+mn-cs"/>
            </a:endParaRPr>
          </a:p>
          <a:p>
            <a:pPr eaLnBrk="1" hangingPunct="1">
              <a:buSzPct val="70000"/>
            </a:pPr>
            <a:r>
              <a:rPr lang="zh-CN" altLang="en-US" dirty="0">
                <a:latin typeface="华文中宋" panose="02010600040101010101" pitchFamily="2" charset="-122"/>
                <a:ea typeface="华文中宋" panose="02010600040101010101" pitchFamily="2" charset="-122"/>
                <a:cs typeface="+mn-cs"/>
              </a:rPr>
              <a:t>从计算机发展角度：分为４代</a:t>
            </a:r>
            <a:endParaRPr lang="zh-CN" altLang="en-US" dirty="0">
              <a:latin typeface="华文中宋" panose="02010600040101010101" pitchFamily="2" charset="-122"/>
              <a:ea typeface="华文中宋" panose="02010600040101010101" pitchFamily="2" charset="-122"/>
              <a:cs typeface="+mn-cs"/>
            </a:endParaRPr>
          </a:p>
          <a:p>
            <a:pPr eaLnBrk="1" hangingPunct="1">
              <a:buSzPct val="70000"/>
            </a:pPr>
            <a:r>
              <a:rPr lang="zh-CN" altLang="en-US" dirty="0">
                <a:latin typeface="华文中宋" panose="02010600040101010101" pitchFamily="2" charset="-122"/>
                <a:ea typeface="华文中宋" panose="02010600040101010101" pitchFamily="2" charset="-122"/>
                <a:cs typeface="+mn-cs"/>
              </a:rPr>
              <a:t>　１代：机器语言</a:t>
            </a:r>
            <a:endParaRPr lang="zh-CN" altLang="en-US" dirty="0">
              <a:latin typeface="华文中宋" panose="02010600040101010101" pitchFamily="2" charset="-122"/>
              <a:ea typeface="华文中宋" panose="02010600040101010101" pitchFamily="2" charset="-122"/>
              <a:cs typeface="+mn-cs"/>
            </a:endParaRPr>
          </a:p>
          <a:p>
            <a:pPr eaLnBrk="1" hangingPunct="1">
              <a:buSzPct val="70000"/>
            </a:pPr>
            <a:r>
              <a:rPr lang="zh-CN" altLang="en-US" dirty="0">
                <a:latin typeface="华文中宋" panose="02010600040101010101" pitchFamily="2" charset="-122"/>
                <a:ea typeface="华文中宋" panose="02010600040101010101" pitchFamily="2" charset="-122"/>
                <a:cs typeface="+mn-cs"/>
              </a:rPr>
              <a:t>　２代：汇编语言</a:t>
            </a:r>
            <a:endParaRPr lang="zh-CN" altLang="en-US" dirty="0">
              <a:latin typeface="华文中宋" panose="02010600040101010101" pitchFamily="2" charset="-122"/>
              <a:ea typeface="华文中宋" panose="02010600040101010101" pitchFamily="2" charset="-122"/>
              <a:cs typeface="+mn-cs"/>
            </a:endParaRPr>
          </a:p>
          <a:p>
            <a:pPr eaLnBrk="1" hangingPunct="1">
              <a:buSzPct val="70000"/>
            </a:pPr>
            <a:r>
              <a:rPr lang="zh-CN" altLang="en-US" dirty="0">
                <a:latin typeface="华文中宋" panose="02010600040101010101" pitchFamily="2" charset="-122"/>
                <a:ea typeface="华文中宋" panose="02010600040101010101" pitchFamily="2" charset="-122"/>
                <a:cs typeface="+mn-cs"/>
              </a:rPr>
              <a:t>　３代：高级程序设计语言</a:t>
            </a:r>
            <a:r>
              <a:rPr lang="en-US" altLang="zh-CN" dirty="0">
                <a:latin typeface="华文中宋" panose="02010600040101010101" pitchFamily="2" charset="-122"/>
                <a:ea typeface="华文中宋" panose="02010600040101010101" pitchFamily="2" charset="-122"/>
                <a:cs typeface="+mn-cs"/>
              </a:rPr>
              <a:t>,C,C++,Java</a:t>
            </a:r>
            <a:endParaRPr lang="zh-CN" altLang="en-US" dirty="0">
              <a:latin typeface="华文中宋" panose="02010600040101010101" pitchFamily="2" charset="-122"/>
              <a:ea typeface="华文中宋" panose="02010600040101010101" pitchFamily="2" charset="-122"/>
              <a:cs typeface="+mn-cs"/>
            </a:endParaRPr>
          </a:p>
          <a:p>
            <a:pPr eaLnBrk="1" hangingPunct="1">
              <a:buSzPct val="70000"/>
            </a:pPr>
            <a:r>
              <a:rPr lang="zh-CN" altLang="en-US" dirty="0">
                <a:latin typeface="华文中宋" panose="02010600040101010101" pitchFamily="2" charset="-122"/>
                <a:ea typeface="华文中宋" panose="02010600040101010101" pitchFamily="2" charset="-122"/>
                <a:cs typeface="+mn-cs"/>
              </a:rPr>
              <a:t>　４代：新一代编程语言，</a:t>
            </a:r>
            <a:r>
              <a:rPr lang="en-US" altLang="zh-CN" dirty="0">
                <a:latin typeface="华文中宋" panose="02010600040101010101" pitchFamily="2" charset="-122"/>
                <a:ea typeface="华文中宋" panose="02010600040101010101" pitchFamily="2" charset="-122"/>
                <a:cs typeface="+mn-cs"/>
              </a:rPr>
              <a:t>Python</a:t>
            </a:r>
            <a:endParaRPr lang="en-US" altLang="zh-CN" dirty="0">
              <a:solidFill>
                <a:schemeClr val="hlink"/>
              </a:solidFill>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编程语言的选择</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2457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24580" name="内容占位符 1"/>
          <p:cNvSpPr>
            <a:spLocks noGrp="1"/>
          </p:cNvSpPr>
          <p:nvPr>
            <p:ph idx="1"/>
          </p:nvPr>
        </p:nvSpPr>
        <p:spPr>
          <a:xfrm>
            <a:off x="876300" y="1412875"/>
            <a:ext cx="7391400" cy="4689475"/>
          </a:xfrm>
          <a:ln/>
        </p:spPr>
        <p:txBody>
          <a:bodyPr vert="horz" wrap="square" lIns="91440" tIns="45720" rIns="91440" bIns="45720" anchor="t" anchorCtr="0">
            <a:spAutoFit/>
          </a:bodyPr>
          <a:p>
            <a:pPr eaLnBrk="1" hangingPunct="1">
              <a:buSzPct val="70000"/>
              <a:buFont typeface="Wingdings" panose="05000000000000000000" pitchFamily="2" charset="2"/>
              <a:buNone/>
            </a:pPr>
            <a:r>
              <a:rPr lang="zh-CN" altLang="en-US" dirty="0">
                <a:solidFill>
                  <a:srgbClr val="C00000"/>
                </a:solidFill>
                <a:latin typeface="华文中宋" panose="02010600040101010101" pitchFamily="2" charset="-122"/>
                <a:ea typeface="华文中宋" panose="02010600040101010101" pitchFamily="2" charset="-122"/>
                <a:cs typeface="+mn-cs"/>
              </a:rPr>
              <a:t>程序语言的分类</a:t>
            </a:r>
            <a:endParaRPr lang="zh-CN" altLang="en-US" dirty="0">
              <a:solidFill>
                <a:srgbClr val="C00000"/>
              </a:solidFill>
              <a:latin typeface="华文中宋" panose="02010600040101010101" pitchFamily="2" charset="-122"/>
              <a:ea typeface="华文中宋" panose="02010600040101010101" pitchFamily="2" charset="-122"/>
              <a:cs typeface="+mn-cs"/>
            </a:endParaRPr>
          </a:p>
          <a:p>
            <a:pPr eaLnBrk="1" hangingPunct="1">
              <a:buSzPct val="70000"/>
            </a:pPr>
            <a:r>
              <a:rPr lang="zh-CN" altLang="en-US" dirty="0">
                <a:latin typeface="华文中宋" panose="02010600040101010101" pitchFamily="2" charset="-122"/>
                <a:ea typeface="华文中宋" panose="02010600040101010101" pitchFamily="2" charset="-122"/>
                <a:cs typeface="+mn-cs"/>
              </a:rPr>
              <a:t>从应用角度：</a:t>
            </a:r>
            <a:endParaRPr lang="zh-CN" altLang="en-US" dirty="0">
              <a:latin typeface="华文中宋" panose="02010600040101010101" pitchFamily="2" charset="-122"/>
              <a:ea typeface="华文中宋" panose="02010600040101010101" pitchFamily="2" charset="-122"/>
              <a:cs typeface="+mn-cs"/>
            </a:endParaRPr>
          </a:p>
          <a:p>
            <a:pPr lvl="1" eaLnBrk="1" hangingPunct="1">
              <a:buSzPct val="70000"/>
              <a:buFont typeface="Wingdings" panose="05000000000000000000" pitchFamily="2" charset="2"/>
              <a:buChar char="l"/>
            </a:pPr>
            <a:r>
              <a:rPr lang="zh-CN" altLang="en-US" sz="2400" dirty="0">
                <a:latin typeface="华文中宋" panose="02010600040101010101" pitchFamily="2" charset="-122"/>
                <a:ea typeface="华文中宋" panose="02010600040101010101" pitchFamily="2" charset="-122"/>
              </a:rPr>
              <a:t>汇编语言</a:t>
            </a:r>
            <a:endParaRPr lang="zh-CN" altLang="en-US" sz="2400" dirty="0">
              <a:latin typeface="华文中宋" panose="02010600040101010101" pitchFamily="2" charset="-122"/>
              <a:ea typeface="华文中宋" panose="02010600040101010101" pitchFamily="2" charset="-122"/>
            </a:endParaRPr>
          </a:p>
          <a:p>
            <a:pPr lvl="1" eaLnBrk="1" hangingPunct="1">
              <a:buSzPct val="70000"/>
              <a:buFont typeface="Wingdings" panose="05000000000000000000" pitchFamily="2" charset="2"/>
              <a:buChar char="l"/>
            </a:pPr>
            <a:r>
              <a:rPr lang="zh-CN" altLang="en-US" sz="2400" dirty="0">
                <a:latin typeface="华文中宋" panose="02010600040101010101" pitchFamily="2" charset="-122"/>
                <a:ea typeface="华文中宋" panose="02010600040101010101" pitchFamily="2" charset="-122"/>
              </a:rPr>
              <a:t>面向过程的高级语言</a:t>
            </a:r>
            <a:endParaRPr lang="zh-CN" altLang="en-US" sz="2400" dirty="0">
              <a:latin typeface="华文中宋" panose="02010600040101010101" pitchFamily="2" charset="-122"/>
              <a:ea typeface="华文中宋" panose="02010600040101010101" pitchFamily="2" charset="-122"/>
            </a:endParaRPr>
          </a:p>
          <a:p>
            <a:pPr lvl="1" eaLnBrk="1" hangingPunct="1">
              <a:buSzPct val="70000"/>
              <a:buFont typeface="Wingdings" panose="05000000000000000000" pitchFamily="2" charset="2"/>
              <a:buChar char="l"/>
            </a:pPr>
            <a:r>
              <a:rPr lang="zh-CN" altLang="en-US" sz="2400" dirty="0">
                <a:latin typeface="华文中宋" panose="02010600040101010101" pitchFamily="2" charset="-122"/>
                <a:ea typeface="华文中宋" panose="02010600040101010101" pitchFamily="2" charset="-122"/>
              </a:rPr>
              <a:t>面向对象的高级语言</a:t>
            </a:r>
            <a:endParaRPr lang="en-US" altLang="zh-CN" sz="2400" dirty="0">
              <a:latin typeface="华文中宋" panose="02010600040101010101" pitchFamily="2" charset="-122"/>
              <a:ea typeface="华文中宋" panose="02010600040101010101" pitchFamily="2" charset="-122"/>
            </a:endParaRPr>
          </a:p>
          <a:p>
            <a:pPr lvl="1" eaLnBrk="1" hangingPunct="1">
              <a:buSzPct val="70000"/>
              <a:buFont typeface="Wingdings" panose="05000000000000000000" pitchFamily="2" charset="2"/>
              <a:buChar char="l"/>
            </a:pPr>
            <a:r>
              <a:rPr lang="zh-CN" altLang="en-US" sz="2400" dirty="0">
                <a:latin typeface="华文中宋" panose="02010600040101010101" pitchFamily="2" charset="-122"/>
                <a:ea typeface="华文中宋" panose="02010600040101010101" pitchFamily="2" charset="-122"/>
              </a:rPr>
              <a:t>脚本语言</a:t>
            </a:r>
            <a:endParaRPr lang="zh-CN" altLang="en-US" sz="2400" dirty="0">
              <a:latin typeface="华文中宋" panose="02010600040101010101" pitchFamily="2" charset="-122"/>
              <a:ea typeface="华文中宋" panose="02010600040101010101" pitchFamily="2" charset="-122"/>
            </a:endParaRPr>
          </a:p>
          <a:p>
            <a:pPr lvl="1" eaLnBrk="1" hangingPunct="1">
              <a:buSzPct val="70000"/>
              <a:buFont typeface="Wingdings" panose="05000000000000000000" pitchFamily="2" charset="2"/>
              <a:buChar char="l"/>
            </a:pPr>
            <a:r>
              <a:rPr lang="en-US" altLang="zh-CN" sz="2400" dirty="0">
                <a:latin typeface="华文中宋" panose="02010600040101010101" pitchFamily="2" charset="-122"/>
                <a:ea typeface="华文中宋" panose="02010600040101010101" pitchFamily="2" charset="-122"/>
              </a:rPr>
              <a:t>…</a:t>
            </a:r>
            <a:endParaRPr lang="zh-CN" altLang="en-US" sz="2400" dirty="0">
              <a:latin typeface="华文中宋" panose="02010600040101010101" pitchFamily="2" charset="-122"/>
              <a:ea typeface="华文中宋" panose="02010600040101010101" pitchFamily="2" charset="-122"/>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编程语言的选择</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26627"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26628" name="内容占位符 1"/>
          <p:cNvSpPr>
            <a:spLocks noGrp="1"/>
          </p:cNvSpPr>
          <p:nvPr>
            <p:ph idx="1"/>
          </p:nvPr>
        </p:nvSpPr>
        <p:spPr>
          <a:xfrm>
            <a:off x="684213" y="1411288"/>
            <a:ext cx="7391400" cy="2252662"/>
          </a:xfrm>
          <a:ln/>
        </p:spPr>
        <p:txBody>
          <a:bodyPr vert="horz" wrap="square" lIns="91440" tIns="45720" rIns="91440" bIns="45720" anchor="t" anchorCtr="0">
            <a:spAutoFit/>
          </a:bodyPr>
          <a:p>
            <a:pPr eaLnBrk="1" hangingPunct="1">
              <a:buSzPct val="70000"/>
              <a:buFont typeface="Wingdings" panose="05000000000000000000" pitchFamily="2" charset="2"/>
              <a:buNone/>
            </a:pPr>
            <a:r>
              <a:rPr lang="zh-CN" altLang="en-US" dirty="0">
                <a:solidFill>
                  <a:srgbClr val="C00000"/>
                </a:solidFill>
                <a:latin typeface="华文中宋" panose="02010600040101010101" pitchFamily="2" charset="-122"/>
                <a:ea typeface="华文中宋" panose="02010600040101010101" pitchFamily="2" charset="-122"/>
                <a:cs typeface="+mn-cs"/>
              </a:rPr>
              <a:t>面向过程的高级语言</a:t>
            </a:r>
            <a:endParaRPr lang="zh-CN" altLang="en-US" dirty="0">
              <a:solidFill>
                <a:srgbClr val="C00000"/>
              </a:solidFill>
              <a:latin typeface="华文中宋" panose="02010600040101010101" pitchFamily="2" charset="-122"/>
              <a:ea typeface="华文中宋" panose="02010600040101010101" pitchFamily="2" charset="-122"/>
              <a:cs typeface="+mn-cs"/>
            </a:endParaRPr>
          </a:p>
          <a:p>
            <a:pPr eaLnBrk="1" hangingPunct="1">
              <a:buSzPct val="70000"/>
            </a:pPr>
            <a:r>
              <a:rPr lang="zh-CN" altLang="en-US" dirty="0">
                <a:latin typeface="华文中宋" panose="02010600040101010101" pitchFamily="2" charset="-122"/>
                <a:ea typeface="华文中宋" panose="02010600040101010101" pitchFamily="2" charset="-122"/>
                <a:cs typeface="+mn-cs"/>
              </a:rPr>
              <a:t>特点：具有很强的过程功能和数据结构功能，并提供结构化的逻辑构造。</a:t>
            </a:r>
            <a:endParaRPr lang="zh-CN" altLang="en-US" dirty="0">
              <a:latin typeface="华文中宋" panose="02010600040101010101" pitchFamily="2" charset="-122"/>
              <a:ea typeface="华文中宋" panose="02010600040101010101" pitchFamily="2" charset="-122"/>
              <a:cs typeface="+mn-cs"/>
            </a:endParaRPr>
          </a:p>
          <a:p>
            <a:pPr eaLnBrk="1" hangingPunct="1">
              <a:buSzPct val="70000"/>
            </a:pPr>
            <a:r>
              <a:rPr lang="zh-CN" altLang="en-US" dirty="0">
                <a:latin typeface="华文中宋" panose="02010600040101010101" pitchFamily="2" charset="-122"/>
                <a:ea typeface="华文中宋" panose="02010600040101010101" pitchFamily="2" charset="-122"/>
                <a:cs typeface="+mn-cs"/>
              </a:rPr>
              <a:t>代表： </a:t>
            </a:r>
            <a:r>
              <a:rPr lang="en-US" altLang="zh-CN" dirty="0">
                <a:latin typeface="华文中宋" panose="02010600040101010101" pitchFamily="2" charset="-122"/>
                <a:ea typeface="华文中宋" panose="02010600040101010101" pitchFamily="2" charset="-122"/>
                <a:cs typeface="+mn-cs"/>
              </a:rPr>
              <a:t>PASCAL</a:t>
            </a:r>
            <a:r>
              <a:rPr lang="zh-CN" altLang="en-US"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PL/1</a:t>
            </a:r>
            <a:r>
              <a:rPr lang="zh-CN" altLang="en-US"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C</a:t>
            </a:r>
            <a:endParaRPr lang="en-US" altLang="zh-CN" dirty="0">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编程语言的选择</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2867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2" name="内容占位符 1"/>
          <p:cNvSpPr>
            <a:spLocks noGrp="1"/>
          </p:cNvSpPr>
          <p:nvPr>
            <p:ph idx="1"/>
          </p:nvPr>
        </p:nvSpPr>
        <p:spPr>
          <a:xfrm>
            <a:off x="539750" y="1428750"/>
            <a:ext cx="8424863" cy="4435475"/>
          </a:xfrm>
        </p:spPr>
        <p:txBody>
          <a:bodyPr vert="horz" wrap="square" lIns="91440" tIns="45720" rIns="91440" bIns="45720" numCol="1" anchor="t" anchorCtr="0" compatLnSpc="1">
            <a:spAutoFit/>
          </a:bodyPr>
          <a:lstStyle/>
          <a:p>
            <a:pPr marL="195580" marR="0" lvl="0" indent="-195580" algn="just" defTabSz="914400" rtl="0" eaLnBrk="1" fontAlgn="base" latinLnBrk="0" hangingPunct="1">
              <a:lnSpc>
                <a:spcPct val="11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面向对象的高级语言</a:t>
            </a:r>
            <a:endPar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10000"/>
              </a:lnSpc>
              <a:spcBef>
                <a:spcPct val="20000"/>
              </a:spcBef>
              <a:spcAft>
                <a:spcPct val="0"/>
              </a:spcAft>
              <a:buClr>
                <a:schemeClr val="accent2"/>
              </a:buClr>
              <a:buSzPct val="70000"/>
              <a:buFont typeface="Wingdings" panose="05000000000000000000" pitchFamily="2" charset="2"/>
              <a:buChar char="l"/>
              <a:defRPr/>
            </a:pPr>
            <a:r>
              <a:rPr kumimoji="1" lang="en-US" altLang="zh-CN" sz="2400" b="1"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Smalltalk </a:t>
            </a:r>
            <a:r>
              <a:rPr kumimoji="1" lang="en-US"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 </a:t>
            </a:r>
            <a:r>
              <a:rPr kumimoji="1"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首先实现真正的面向对象的程序设计，支持程序部件的“可复用性”。</a:t>
            </a:r>
            <a:endParaRPr kumimoji="1"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10000"/>
              </a:lnSpc>
              <a:spcBef>
                <a:spcPct val="20000"/>
              </a:spcBef>
              <a:spcAft>
                <a:spcPct val="0"/>
              </a:spcAft>
              <a:buClr>
                <a:schemeClr val="accent2"/>
              </a:buClr>
              <a:buSzPct val="70000"/>
              <a:buFont typeface="Wingdings" panose="05000000000000000000" pitchFamily="2" charset="2"/>
              <a:buChar char="l"/>
              <a:defRPr/>
            </a:pPr>
            <a:r>
              <a:rPr kumimoji="1" lang="en-US" altLang="zh-CN" sz="2400" b="1"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C++  </a:t>
            </a:r>
            <a:r>
              <a:rPr kumimoji="1"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既融合了面向对象的能力，又与</a:t>
            </a:r>
            <a:r>
              <a:rPr kumimoji="1"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C</a:t>
            </a:r>
            <a:r>
              <a:rPr kumimoji="1"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语言兼容，保留了</a:t>
            </a:r>
            <a:r>
              <a:rPr kumimoji="1"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C</a:t>
            </a:r>
            <a:r>
              <a:rPr kumimoji="1"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的许多重要特性。维护了大量已开发的</a:t>
            </a:r>
            <a:r>
              <a:rPr kumimoji="1"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C</a:t>
            </a:r>
            <a:r>
              <a:rPr kumimoji="1"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库、工具及</a:t>
            </a:r>
            <a:r>
              <a:rPr kumimoji="1"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C</a:t>
            </a:r>
            <a:r>
              <a:rPr kumimoji="1"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源程序的完整性。</a:t>
            </a:r>
            <a:endParaRPr kumimoji="1"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10000"/>
              </a:lnSpc>
              <a:spcBef>
                <a:spcPct val="20000"/>
              </a:spcBef>
              <a:spcAft>
                <a:spcPct val="0"/>
              </a:spcAft>
              <a:buClr>
                <a:schemeClr val="accent2"/>
              </a:buClr>
              <a:buSzPct val="70000"/>
              <a:buFont typeface="Wingdings" panose="05000000000000000000" pitchFamily="2" charset="2"/>
              <a:buChar char="l"/>
              <a:defRPr/>
            </a:pPr>
            <a:r>
              <a:rPr kumimoji="1"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代表：</a:t>
            </a:r>
            <a:r>
              <a:rPr kumimoji="1"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Turbo  C++</a:t>
            </a:r>
            <a:r>
              <a:rPr kumimoji="1"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1"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Borland C++ </a:t>
            </a:r>
            <a:r>
              <a:rPr kumimoji="1"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1"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Microsoft C++</a:t>
            </a:r>
            <a:endParaRPr kumimoji="1"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10000"/>
              </a:lnSpc>
              <a:spcBef>
                <a:spcPct val="20000"/>
              </a:spcBef>
              <a:spcAft>
                <a:spcPct val="0"/>
              </a:spcAft>
              <a:buClr>
                <a:schemeClr val="accent2"/>
              </a:buClr>
              <a:buSzPct val="70000"/>
              <a:buFont typeface="Wingdings" panose="05000000000000000000" pitchFamily="2" charset="2"/>
              <a:buChar char="l"/>
              <a:defRPr/>
            </a:pPr>
            <a:r>
              <a:rPr kumimoji="1" lang="en-US" altLang="zh-CN" sz="2400" b="1"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Java</a:t>
            </a:r>
            <a:r>
              <a:rPr kumimoji="1" lang="en-US"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 </a:t>
            </a:r>
            <a:r>
              <a:rPr kumimoji="1"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1"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是一种简单的面向对象的分布式的语言。功能强大、高效安全，与结构无关，易于移植，是多线程的动态语言。增加了</a:t>
            </a:r>
            <a:r>
              <a:rPr kumimoji="1"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Objective  C</a:t>
            </a:r>
            <a:r>
              <a:rPr kumimoji="1"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的扩充，提供更多的动态解决办法。</a:t>
            </a:r>
            <a:endParaRPr kumimoji="1" lang="zh-CN" altLang="en-US" sz="2400" b="0" i="0" u="none" strike="noStrike" kern="0" cap="none" spc="0" normalizeH="0" baseline="0" noProof="0" dirty="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编程语言的选择</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3072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2" name="内容占位符 1"/>
          <p:cNvSpPr>
            <a:spLocks noGrp="1"/>
          </p:cNvSpPr>
          <p:nvPr>
            <p:ph idx="1"/>
          </p:nvPr>
        </p:nvSpPr>
        <p:spPr>
          <a:xfrm>
            <a:off x="446088" y="1341438"/>
            <a:ext cx="8424863" cy="4381500"/>
          </a:xfrm>
        </p:spPr>
        <p:txBody>
          <a:bodyPr vert="horz" wrap="square" lIns="91440" tIns="45720" rIns="91440" bIns="45720" numCol="1" anchor="t" anchorCtr="0" compatLnSpc="1">
            <a:spAutoFit/>
          </a:bodyPr>
          <a:lstStyle/>
          <a:p>
            <a:pPr marL="91440" marR="0" lvl="0" indent="-91440" algn="just" defTabSz="914400" rtl="0" eaLnBrk="1" fontAlgn="auto" latinLnBrk="0" hangingPunct="1">
              <a:lnSpc>
                <a:spcPct val="12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脚本语言：</a:t>
            </a:r>
            <a:endPar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a:p>
            <a:pPr marL="91440" marR="0" lvl="0" indent="-91440" algn="just" defTabSz="914400" rtl="0" eaLnBrk="1" fontAlgn="auto" latinLnBrk="0" hangingPunct="1">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rPr>
              <a:t>以简单的方式快速完成复杂任务。语法结构简单，使用方便。不需要编译。运行效率略显不足。</a:t>
            </a:r>
            <a:endPar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endParaRPr>
          </a:p>
          <a:p>
            <a:pPr marL="91440" marR="0" lvl="0" indent="-91440" algn="just" defTabSz="914400" rtl="0" eaLnBrk="1" fontAlgn="auto" latinLnBrk="0" hangingPunct="1">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rPr>
              <a:t>代表：</a:t>
            </a:r>
            <a:endPar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endParaRPr>
          </a:p>
          <a:p>
            <a:pPr marL="819150" marR="0" lvl="1" indent="-342900" algn="just" defTabSz="914400" rtl="0" eaLnBrk="1" fontAlgn="auto" latinLnBrk="0" hangingPunct="1">
              <a:lnSpc>
                <a:spcPct val="120000"/>
              </a:lnSpc>
              <a:spcBef>
                <a:spcPct val="20000"/>
              </a:spcBef>
              <a:spcAft>
                <a:spcPct val="0"/>
              </a:spcAft>
              <a:buClr>
                <a:schemeClr val="accent2"/>
              </a:buClr>
              <a:buSzPct val="70000"/>
              <a:buFont typeface="Arial" panose="020B0604020202020204" pitchFamily="34" charset="0"/>
              <a:buChar char="•"/>
              <a:defRPr/>
            </a:pPr>
            <a:r>
              <a:rPr kumimoji="0" lang="en-US" altLang="zh-CN"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JavaScript: </a:t>
            </a:r>
            <a:r>
              <a:rPr kumimoji="0" lang="zh-CN" altLang="en-US"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由</a:t>
            </a:r>
            <a:r>
              <a:rPr kumimoji="0" lang="en-US" altLang="zh-CN"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Netscape</a:t>
            </a:r>
            <a:r>
              <a:rPr kumimoji="0" lang="zh-CN" altLang="en-US"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开发，在客户机上执行，专门为制作</a:t>
            </a:r>
            <a:r>
              <a:rPr kumimoji="0" lang="en-US" altLang="zh-CN"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Web</a:t>
            </a:r>
            <a:r>
              <a:rPr kumimoji="0" lang="zh-CN" altLang="en-US"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网页而量身定做。</a:t>
            </a:r>
            <a:endParaRPr kumimoji="0" lang="zh-CN" altLang="en-US"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endParaRPr>
          </a:p>
          <a:p>
            <a:pPr marL="819150" marR="0" lvl="1" indent="-342900" algn="just" defTabSz="914400" rtl="0" eaLnBrk="1" fontAlgn="auto" latinLnBrk="0" hangingPunct="1">
              <a:lnSpc>
                <a:spcPct val="120000"/>
              </a:lnSpc>
              <a:spcBef>
                <a:spcPct val="20000"/>
              </a:spcBef>
              <a:spcAft>
                <a:spcPct val="0"/>
              </a:spcAft>
              <a:buClr>
                <a:schemeClr val="accent2"/>
              </a:buClr>
              <a:buSzPct val="70000"/>
              <a:buFont typeface="Arial" panose="020B0604020202020204" pitchFamily="34" charset="0"/>
              <a:buChar char="•"/>
              <a:defRPr/>
            </a:pPr>
            <a:r>
              <a:rPr kumimoji="0" lang="en-US" altLang="zh-CN"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PHP: </a:t>
            </a:r>
            <a:r>
              <a:rPr kumimoji="0" lang="zh-CN" altLang="en-US"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是一种</a:t>
            </a:r>
            <a:r>
              <a:rPr kumimoji="0" lang="en-US" altLang="zh-CN"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HTML</a:t>
            </a:r>
            <a:r>
              <a:rPr kumimoji="0" lang="zh-CN" altLang="en-US"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内嵌式语言。是在服务器端执行的嵌入</a:t>
            </a:r>
            <a:r>
              <a:rPr kumimoji="0" lang="en-US" altLang="zh-CN"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HTML</a:t>
            </a:r>
            <a:r>
              <a:rPr kumimoji="0" lang="zh-CN" altLang="en-US"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文档的脚本语言。其风格类似于ｃ语言。被许多网站编程人员采用。</a:t>
            </a:r>
            <a:endParaRPr kumimoji="0" lang="zh-CN" altLang="en-US"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endParaRPr>
          </a:p>
          <a:p>
            <a:pPr marL="819150" marR="0" lvl="1" indent="-342900" algn="just" defTabSz="914400" rtl="0" eaLnBrk="1" fontAlgn="auto" latinLnBrk="0" hangingPunct="1">
              <a:lnSpc>
                <a:spcPct val="120000"/>
              </a:lnSpc>
              <a:spcBef>
                <a:spcPct val="20000"/>
              </a:spcBef>
              <a:spcAft>
                <a:spcPct val="0"/>
              </a:spcAft>
              <a:buClr>
                <a:schemeClr val="accent2"/>
              </a:buClr>
              <a:buSzPct val="70000"/>
              <a:buFont typeface="Arial" panose="020B0604020202020204" pitchFamily="34" charset="0"/>
              <a:buChar char="•"/>
              <a:defRPr/>
            </a:pPr>
            <a:r>
              <a:rPr kumimoji="0" lang="en-US" altLang="zh-CN"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Perl</a:t>
            </a:r>
            <a:r>
              <a:rPr kumimoji="0" lang="zh-CN" altLang="en-US"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：用来完成大量不同任务的脚本语言。例如，打印报告，将一个文本文件转换成另一种格式。能在绝大多数操作系统环境下运行。</a:t>
            </a:r>
            <a:endParaRPr kumimoji="0" lang="zh-CN" altLang="en-US" sz="20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编程语言的选择</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3277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30725" name="文本框 7"/>
          <p:cNvSpPr txBox="1">
            <a:spLocks noChangeArrowheads="1"/>
          </p:cNvSpPr>
          <p:nvPr/>
        </p:nvSpPr>
        <p:spPr bwMode="auto">
          <a:xfrm>
            <a:off x="-757237" y="1268413"/>
            <a:ext cx="9505950" cy="1379538"/>
          </a:xfrm>
          <a:prstGeom prst="rect">
            <a:avLst/>
          </a:prstGeom>
          <a:noFill/>
          <a:ln>
            <a:noFill/>
          </a:ln>
        </p:spPr>
        <p:txBody>
          <a:bodyPr>
            <a:spAutoFit/>
          </a:bodyPr>
          <a:lstStyle>
            <a:lvl1pPr marL="342900" indent="-342900">
              <a:defRPr sz="2400" b="1">
                <a:solidFill>
                  <a:schemeClr val="accent2"/>
                </a:solidFill>
                <a:latin typeface="华文中宋" panose="02010600040101010101" pitchFamily="2" charset="-122"/>
                <a:ea typeface="华文中宋" panose="02010600040101010101" pitchFamily="2" charset="-122"/>
              </a:defRPr>
            </a:lvl1pPr>
            <a:lvl2pPr marL="742950" indent="-285750">
              <a:defRPr sz="2400" b="1">
                <a:solidFill>
                  <a:schemeClr val="accent2"/>
                </a:solidFill>
                <a:latin typeface="华文中宋" panose="02010600040101010101" pitchFamily="2" charset="-122"/>
                <a:ea typeface="华文中宋" panose="02010600040101010101" pitchFamily="2" charset="-122"/>
              </a:defRPr>
            </a:lvl2pPr>
            <a:lvl3pPr indent="457200">
              <a:defRPr sz="2400" b="1">
                <a:solidFill>
                  <a:schemeClr val="accent2"/>
                </a:solidFill>
                <a:latin typeface="华文中宋" panose="02010600040101010101" pitchFamily="2" charset="-122"/>
                <a:ea typeface="华文中宋" panose="02010600040101010101" pitchFamily="2" charset="-122"/>
              </a:defRPr>
            </a:lvl3pPr>
            <a:lvl4pPr marL="1600200" indent="-228600">
              <a:defRPr sz="2400" b="1">
                <a:solidFill>
                  <a:schemeClr val="accent2"/>
                </a:solidFill>
                <a:latin typeface="华文中宋" panose="02010600040101010101" pitchFamily="2" charset="-122"/>
                <a:ea typeface="华文中宋" panose="02010600040101010101" pitchFamily="2" charset="-122"/>
              </a:defRPr>
            </a:lvl4pPr>
            <a:lvl5pPr marL="2057400" indent="-22860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914400" marR="0" lvl="2" indent="457200" algn="just" defTabSz="914400" rtl="0" eaLnBrk="0" fontAlgn="base" latinLnBrk="0" hangingPunct="0">
              <a:lnSpc>
                <a:spcPct val="12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Times New Roman" panose="02020603050405020304" pitchFamily="18" charset="0"/>
              </a:rPr>
              <a:t>如何选择程序设计语言？</a:t>
            </a:r>
            <a:r>
              <a:rPr kumimoji="1"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n-cs"/>
              </a:rPr>
              <a:t> </a:t>
            </a:r>
            <a:r>
              <a:rPr kumimoji="1"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关系到程序的效率和质量。  </a:t>
            </a:r>
            <a:endParaRPr kumimoji="1"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endParaRPr>
          </a:p>
          <a:p>
            <a:pPr marL="914400" marR="0" lvl="2" indent="457200" algn="just" defTabSz="914400" rtl="0" eaLnBrk="0" fontAlgn="base" latinLnBrk="0" hangingPunct="0">
              <a:lnSpc>
                <a:spcPct val="120000"/>
              </a:lnSpc>
              <a:spcBef>
                <a:spcPct val="0"/>
              </a:spcBef>
              <a:spcAft>
                <a:spcPct val="0"/>
              </a:spcAft>
              <a:buClrTx/>
              <a:buSzTx/>
              <a:buFontTx/>
              <a:buNone/>
              <a:defRPr/>
            </a:pPr>
            <a:r>
              <a:rPr kumimoji="1"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应根据软件系统的应用特点，语言的内在特点等选择程序设计语言。</a:t>
            </a:r>
            <a:endParaRPr kumimoji="1"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endParaRPr>
          </a:p>
        </p:txBody>
      </p:sp>
      <p:sp>
        <p:nvSpPr>
          <p:cNvPr id="32773" name="文本框 9"/>
          <p:cNvSpPr txBox="1"/>
          <p:nvPr/>
        </p:nvSpPr>
        <p:spPr>
          <a:xfrm>
            <a:off x="-612775" y="3429000"/>
            <a:ext cx="9253538" cy="2455863"/>
          </a:xfrm>
          <a:prstGeom prst="rect">
            <a:avLst/>
          </a:prstGeom>
          <a:noFill/>
          <a:ln w="9525">
            <a:noFill/>
          </a:ln>
        </p:spPr>
        <p:txBody>
          <a:bodyPr>
            <a:spAutoFit/>
          </a:bodyPr>
          <a:p>
            <a:pPr lvl="2" algn="just">
              <a:lnSpc>
                <a:spcPct val="120000"/>
              </a:lnSpc>
              <a:spcBef>
                <a:spcPct val="20000"/>
              </a:spcBef>
            </a:pPr>
            <a:r>
              <a:rPr lang="en-US" altLang="zh-CN" dirty="0">
                <a:solidFill>
                  <a:srgbClr val="C00000"/>
                </a:solidFill>
                <a:latin typeface="宋体" panose="02010600030101010101" pitchFamily="2" charset="-122"/>
              </a:rPr>
              <a:t>  (1)</a:t>
            </a:r>
            <a:r>
              <a:rPr lang="zh-CN" altLang="en-US" dirty="0">
                <a:solidFill>
                  <a:srgbClr val="C00000"/>
                </a:solidFill>
                <a:latin typeface="宋体" panose="02010600030101010101" pitchFamily="2" charset="-122"/>
              </a:rPr>
              <a:t>项目的应用领域</a:t>
            </a:r>
            <a:r>
              <a:rPr lang="en-US" altLang="zh-CN" dirty="0">
                <a:solidFill>
                  <a:srgbClr val="C00000"/>
                </a:solidFill>
                <a:latin typeface="宋体" panose="02010600030101010101" pitchFamily="2" charset="-122"/>
              </a:rPr>
              <a:t>:</a:t>
            </a:r>
            <a:r>
              <a:rPr lang="zh-CN" altLang="en-US" dirty="0">
                <a:solidFill>
                  <a:schemeClr val="tx1"/>
                </a:solidFill>
                <a:latin typeface="宋体" panose="02010600030101010101" pitchFamily="2" charset="-122"/>
              </a:rPr>
              <a:t>应尽量选取适合某个应用领域的语言</a:t>
            </a:r>
            <a:endParaRPr lang="zh-CN" altLang="en-US" dirty="0">
              <a:solidFill>
                <a:schemeClr val="tx1"/>
              </a:solidFill>
              <a:latin typeface="宋体" panose="02010600030101010101" pitchFamily="2" charset="-122"/>
            </a:endParaRPr>
          </a:p>
          <a:p>
            <a:pPr lvl="2" algn="just">
              <a:lnSpc>
                <a:spcPct val="120000"/>
              </a:lnSpc>
              <a:spcBef>
                <a:spcPct val="20000"/>
              </a:spcBef>
            </a:pPr>
            <a:r>
              <a:rPr lang="zh-CN" altLang="en-US" dirty="0">
                <a:latin typeface="宋体" panose="02010600030101010101" pitchFamily="2" charset="-122"/>
              </a:rPr>
              <a:t>　</a:t>
            </a:r>
            <a:r>
              <a:rPr lang="en-US" altLang="zh-CN" dirty="0">
                <a:solidFill>
                  <a:srgbClr val="C00000"/>
                </a:solidFill>
                <a:latin typeface="宋体" panose="02010600030101010101" pitchFamily="2" charset="-122"/>
              </a:rPr>
              <a:t>(2)</a:t>
            </a:r>
            <a:r>
              <a:rPr lang="zh-CN" altLang="en-US" dirty="0">
                <a:solidFill>
                  <a:srgbClr val="C00000"/>
                </a:solidFill>
                <a:latin typeface="宋体" panose="02010600030101010101" pitchFamily="2" charset="-122"/>
              </a:rPr>
              <a:t>算法和计算复杂性：</a:t>
            </a:r>
            <a:r>
              <a:rPr lang="zh-CN" altLang="en-US" dirty="0">
                <a:solidFill>
                  <a:schemeClr val="tx1"/>
                </a:solidFill>
                <a:latin typeface="宋体" panose="02010600030101010101" pitchFamily="2" charset="-122"/>
              </a:rPr>
              <a:t>要根据不同语言的特点，选取能够适应软件项目算法和计算复杂性的语言。</a:t>
            </a:r>
            <a:endParaRPr lang="zh-CN" altLang="en-US" dirty="0">
              <a:solidFill>
                <a:schemeClr val="tx1"/>
              </a:solidFill>
              <a:latin typeface="宋体" panose="02010600030101010101" pitchFamily="2" charset="-122"/>
            </a:endParaRPr>
          </a:p>
          <a:p>
            <a:pPr lvl="2" algn="just">
              <a:lnSpc>
                <a:spcPct val="120000"/>
              </a:lnSpc>
              <a:spcBef>
                <a:spcPct val="20000"/>
              </a:spcBef>
            </a:pPr>
            <a:r>
              <a:rPr lang="zh-CN" altLang="en-US" dirty="0">
                <a:solidFill>
                  <a:srgbClr val="C00000"/>
                </a:solidFill>
                <a:latin typeface="宋体" panose="02010600030101010101" pitchFamily="2" charset="-122"/>
              </a:rPr>
              <a:t>　</a:t>
            </a:r>
            <a:r>
              <a:rPr lang="en-US" altLang="zh-CN" dirty="0">
                <a:solidFill>
                  <a:srgbClr val="C00000"/>
                </a:solidFill>
                <a:latin typeface="宋体" panose="02010600030101010101" pitchFamily="2" charset="-122"/>
              </a:rPr>
              <a:t>(3)</a:t>
            </a:r>
            <a:r>
              <a:rPr lang="zh-CN" altLang="en-US" dirty="0">
                <a:solidFill>
                  <a:srgbClr val="C00000"/>
                </a:solidFill>
                <a:latin typeface="宋体" panose="02010600030101010101" pitchFamily="2" charset="-122"/>
              </a:rPr>
              <a:t>软件的执行环境：</a:t>
            </a:r>
            <a:r>
              <a:rPr lang="zh-CN" altLang="en-US" dirty="0">
                <a:solidFill>
                  <a:schemeClr val="tx1"/>
                </a:solidFill>
                <a:latin typeface="宋体" panose="02010600030101010101" pitchFamily="2" charset="-122"/>
              </a:rPr>
              <a:t>要选取机器上能运行且具有相应支持软件的语言。</a:t>
            </a:r>
            <a:endParaRPr lang="zh-CN" altLang="en-US" dirty="0">
              <a:solidFill>
                <a:schemeClr val="tx1"/>
              </a:solidFill>
              <a:latin typeface="宋体" panose="02010600030101010101" pitchFamily="2" charset="-122"/>
            </a:endParaRPr>
          </a:p>
        </p:txBody>
      </p:sp>
      <p:sp>
        <p:nvSpPr>
          <p:cNvPr id="32774" name="Text Box 5"/>
          <p:cNvSpPr txBox="1"/>
          <p:nvPr/>
        </p:nvSpPr>
        <p:spPr>
          <a:xfrm>
            <a:off x="-180975" y="2684463"/>
            <a:ext cx="6604000" cy="573087"/>
          </a:xfrm>
          <a:prstGeom prst="rect">
            <a:avLst/>
          </a:prstGeom>
          <a:noFill/>
          <a:ln w="9525">
            <a:noFill/>
          </a:ln>
        </p:spPr>
        <p:txBody>
          <a:bodyPr>
            <a:spAutoFit/>
          </a:bodyPr>
          <a:p>
            <a:pPr marL="381000" lvl="2" indent="0" algn="just">
              <a:lnSpc>
                <a:spcPct val="130000"/>
              </a:lnSpc>
            </a:pPr>
            <a:r>
              <a:rPr lang="zh-CN" altLang="en-US" sz="2800" dirty="0">
                <a:solidFill>
                  <a:schemeClr val="tx1"/>
                </a:solidFill>
                <a:latin typeface="宋体" panose="02010600030101010101" pitchFamily="2" charset="-122"/>
                <a:ea typeface="宋体" panose="02010600030101010101" pitchFamily="2" charset="-122"/>
              </a:rPr>
              <a:t>一、语言选择的一般准则</a:t>
            </a:r>
            <a:endParaRPr lang="zh-CN" altLang="en-US" sz="2800" dirty="0">
              <a:solidFill>
                <a:schemeClr val="tx1"/>
              </a:solidFill>
              <a:latin typeface="宋体" panose="02010600030101010101" pitchFamily="2" charset="-122"/>
              <a:ea typeface="宋体" panose="02010600030101010101" pitchFamily="2" charset="-122"/>
            </a:endParaRP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编程语言的选择</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3481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34820" name="文本框 9"/>
          <p:cNvSpPr txBox="1"/>
          <p:nvPr/>
        </p:nvSpPr>
        <p:spPr>
          <a:xfrm>
            <a:off x="-684212" y="1412875"/>
            <a:ext cx="9288462" cy="3711575"/>
          </a:xfrm>
          <a:prstGeom prst="rect">
            <a:avLst/>
          </a:prstGeom>
          <a:noFill/>
          <a:ln w="9525">
            <a:noFill/>
          </a:ln>
        </p:spPr>
        <p:txBody>
          <a:bodyPr>
            <a:spAutoFit/>
          </a:bodyPr>
          <a:p>
            <a:pPr lvl="2" algn="just">
              <a:lnSpc>
                <a:spcPct val="120000"/>
              </a:lnSpc>
              <a:spcBef>
                <a:spcPct val="20000"/>
              </a:spcBef>
            </a:pPr>
            <a:r>
              <a:rPr lang="en-US" altLang="zh-CN" dirty="0">
                <a:solidFill>
                  <a:srgbClr val="C00000"/>
                </a:solidFill>
                <a:latin typeface="宋体" panose="02010600030101010101" pitchFamily="2" charset="-122"/>
              </a:rPr>
              <a:t>  (4)</a:t>
            </a:r>
            <a:r>
              <a:rPr lang="zh-CN" altLang="en-US" dirty="0">
                <a:solidFill>
                  <a:srgbClr val="C00000"/>
                </a:solidFill>
                <a:latin typeface="宋体" panose="02010600030101010101" pitchFamily="2" charset="-122"/>
              </a:rPr>
              <a:t>性能因素：</a:t>
            </a:r>
            <a:r>
              <a:rPr lang="zh-CN" altLang="en-US" dirty="0">
                <a:solidFill>
                  <a:schemeClr val="tx1"/>
                </a:solidFill>
                <a:latin typeface="宋体" panose="02010600030101010101" pitchFamily="2" charset="-122"/>
              </a:rPr>
              <a:t>应结合工程具体性能来考虑</a:t>
            </a:r>
            <a:r>
              <a:rPr lang="en-US" altLang="zh-CN" dirty="0">
                <a:solidFill>
                  <a:schemeClr val="tx1"/>
                </a:solidFill>
                <a:latin typeface="宋体" panose="02010600030101010101" pitchFamily="2" charset="-122"/>
              </a:rPr>
              <a:t>,</a:t>
            </a:r>
            <a:r>
              <a:rPr lang="zh-CN" altLang="en-US" dirty="0">
                <a:solidFill>
                  <a:schemeClr val="tx1"/>
                </a:solidFill>
                <a:latin typeface="宋体" panose="02010600030101010101" pitchFamily="2" charset="-122"/>
              </a:rPr>
              <a:t>例如实时系统要求速度，就应选择汇编语言。</a:t>
            </a:r>
            <a:endParaRPr lang="zh-CN" altLang="en-US" dirty="0">
              <a:solidFill>
                <a:schemeClr val="tx1"/>
              </a:solidFill>
              <a:latin typeface="宋体" panose="02010600030101010101" pitchFamily="2" charset="-122"/>
            </a:endParaRPr>
          </a:p>
          <a:p>
            <a:pPr lvl="2" algn="just">
              <a:lnSpc>
                <a:spcPct val="120000"/>
              </a:lnSpc>
              <a:spcBef>
                <a:spcPct val="20000"/>
              </a:spcBef>
            </a:pPr>
            <a:r>
              <a:rPr lang="zh-CN" altLang="en-US" dirty="0">
                <a:latin typeface="宋体" panose="02010600030101010101" pitchFamily="2" charset="-122"/>
              </a:rPr>
              <a:t>　</a:t>
            </a:r>
            <a:r>
              <a:rPr lang="en-US" altLang="zh-CN" dirty="0">
                <a:solidFill>
                  <a:srgbClr val="C00000"/>
                </a:solidFill>
                <a:latin typeface="宋体" panose="02010600030101010101" pitchFamily="2" charset="-122"/>
              </a:rPr>
              <a:t>(5)</a:t>
            </a:r>
            <a:r>
              <a:rPr lang="zh-CN" altLang="en-US" dirty="0">
                <a:solidFill>
                  <a:srgbClr val="C00000"/>
                </a:solidFill>
                <a:latin typeface="宋体" panose="02010600030101010101" pitchFamily="2" charset="-122"/>
              </a:rPr>
              <a:t>数据结构的复杂性：</a:t>
            </a:r>
            <a:r>
              <a:rPr lang="zh-CN" altLang="en-US" dirty="0">
                <a:solidFill>
                  <a:schemeClr val="tx1"/>
                </a:solidFill>
                <a:latin typeface="宋体" panose="02010600030101010101" pitchFamily="2" charset="-122"/>
              </a:rPr>
              <a:t>要根据不同语言构造数据结构类型的能力选取合适的语言。</a:t>
            </a:r>
            <a:endParaRPr lang="zh-CN" altLang="en-US" dirty="0">
              <a:solidFill>
                <a:schemeClr val="tx1"/>
              </a:solidFill>
              <a:latin typeface="宋体" panose="02010600030101010101" pitchFamily="2" charset="-122"/>
            </a:endParaRPr>
          </a:p>
          <a:p>
            <a:pPr lvl="2" algn="just">
              <a:lnSpc>
                <a:spcPct val="120000"/>
              </a:lnSpc>
              <a:spcBef>
                <a:spcPct val="20000"/>
              </a:spcBef>
            </a:pPr>
            <a:r>
              <a:rPr lang="zh-CN" altLang="en-US" dirty="0">
                <a:latin typeface="宋体" panose="02010600030101010101" pitchFamily="2" charset="-122"/>
              </a:rPr>
              <a:t>　</a:t>
            </a:r>
            <a:r>
              <a:rPr lang="en-US" altLang="zh-CN" dirty="0">
                <a:solidFill>
                  <a:srgbClr val="C00000"/>
                </a:solidFill>
                <a:latin typeface="宋体" panose="02010600030101010101" pitchFamily="2" charset="-122"/>
              </a:rPr>
              <a:t>(6)</a:t>
            </a:r>
            <a:r>
              <a:rPr lang="zh-CN" altLang="en-US" dirty="0">
                <a:solidFill>
                  <a:srgbClr val="C00000"/>
                </a:solidFill>
                <a:latin typeface="宋体" panose="02010600030101010101" pitchFamily="2" charset="-122"/>
              </a:rPr>
              <a:t>软件开发人员的知识水平以及心理因素。</a:t>
            </a:r>
            <a:endParaRPr lang="zh-CN" altLang="en-US" dirty="0">
              <a:solidFill>
                <a:srgbClr val="C00000"/>
              </a:solidFill>
              <a:latin typeface="宋体" panose="02010600030101010101" pitchFamily="2" charset="-122"/>
            </a:endParaRPr>
          </a:p>
          <a:p>
            <a:pPr>
              <a:spcBef>
                <a:spcPct val="20000"/>
              </a:spcBef>
            </a:pPr>
            <a:r>
              <a:rPr lang="zh-CN" altLang="en-US" dirty="0">
                <a:latin typeface="宋体" panose="02010600030101010101" pitchFamily="2" charset="-122"/>
              </a:rPr>
              <a:t>    </a:t>
            </a:r>
            <a:r>
              <a:rPr lang="en-US" altLang="zh-CN" dirty="0">
                <a:latin typeface="宋体" panose="02010600030101010101" pitchFamily="2" charset="-122"/>
              </a:rPr>
              <a:t>	    </a:t>
            </a:r>
            <a:r>
              <a:rPr lang="zh-CN" altLang="en-US" dirty="0">
                <a:solidFill>
                  <a:schemeClr val="tx1"/>
                </a:solidFill>
                <a:latin typeface="宋体" panose="02010600030101010101" pitchFamily="2" charset="-122"/>
              </a:rPr>
              <a:t>知识水平包括</a:t>
            </a:r>
            <a:r>
              <a:rPr lang="en-US" altLang="zh-CN" dirty="0">
                <a:solidFill>
                  <a:schemeClr val="tx1"/>
                </a:solidFill>
                <a:latin typeface="宋体" panose="02010600030101010101" pitchFamily="2" charset="-122"/>
              </a:rPr>
              <a:t>: </a:t>
            </a:r>
            <a:r>
              <a:rPr lang="zh-CN" altLang="en-US" dirty="0">
                <a:solidFill>
                  <a:schemeClr val="tx1"/>
                </a:solidFill>
                <a:latin typeface="宋体" panose="02010600030101010101" pitchFamily="2" charset="-122"/>
              </a:rPr>
              <a:t>专业知识，程序设计能力。</a:t>
            </a:r>
            <a:endParaRPr lang="zh-CN" altLang="en-US" dirty="0">
              <a:solidFill>
                <a:schemeClr val="tx1"/>
              </a:solidFill>
              <a:latin typeface="宋体" panose="02010600030101010101" pitchFamily="2" charset="-122"/>
            </a:endParaRPr>
          </a:p>
          <a:p>
            <a:pPr>
              <a:spcBef>
                <a:spcPct val="20000"/>
              </a:spcBef>
            </a:pPr>
            <a:r>
              <a:rPr lang="zh-CN" altLang="en-US" dirty="0">
                <a:solidFill>
                  <a:schemeClr val="tx1"/>
                </a:solidFill>
                <a:latin typeface="宋体" panose="02010600030101010101" pitchFamily="2" charset="-122"/>
              </a:rPr>
              <a:t>    </a:t>
            </a:r>
            <a:r>
              <a:rPr lang="en-US" altLang="zh-CN" dirty="0">
                <a:solidFill>
                  <a:schemeClr val="tx1"/>
                </a:solidFill>
                <a:latin typeface="宋体" panose="02010600030101010101" pitchFamily="2" charset="-122"/>
              </a:rPr>
              <a:t>	    </a:t>
            </a:r>
            <a:r>
              <a:rPr lang="zh-CN" altLang="en-US" dirty="0">
                <a:solidFill>
                  <a:schemeClr val="tx1"/>
                </a:solidFill>
                <a:latin typeface="宋体" panose="02010600030101010101" pitchFamily="2" charset="-122"/>
              </a:rPr>
              <a:t>心理因素：如对某种语言或工具的熟悉程度。受外界的</a:t>
            </a:r>
            <a:r>
              <a:rPr lang="en-US" altLang="zh-CN" dirty="0">
                <a:solidFill>
                  <a:schemeClr val="tx1"/>
                </a:solidFill>
                <a:latin typeface="宋体" panose="02010600030101010101" pitchFamily="2" charset="-122"/>
              </a:rPr>
              <a:t>	</a:t>
            </a:r>
            <a:r>
              <a:rPr lang="zh-CN" altLang="en-US" dirty="0">
                <a:solidFill>
                  <a:schemeClr val="tx1"/>
                </a:solidFill>
                <a:latin typeface="宋体" panose="02010600030101010101" pitchFamily="2" charset="-122"/>
              </a:rPr>
              <a:t>影响（盲目追求高、新）。</a:t>
            </a:r>
            <a:endParaRPr lang="zh-CN" altLang="en-US" dirty="0">
              <a:solidFill>
                <a:schemeClr val="tx1"/>
              </a:solidFill>
              <a:latin typeface="宋体" panose="02010600030101010101" pitchFamily="2" charset="-122"/>
            </a:endParaRP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软件编码</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36867"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36868" name="内容占位符 1"/>
          <p:cNvSpPr>
            <a:spLocks noGrp="1"/>
          </p:cNvSpPr>
          <p:nvPr>
            <p:ph idx="1"/>
          </p:nvPr>
        </p:nvSpPr>
        <p:spPr>
          <a:xfrm>
            <a:off x="1087438" y="2306638"/>
            <a:ext cx="7391400" cy="2916237"/>
          </a:xfrm>
          <a:ln/>
        </p:spPr>
        <p:txBody>
          <a:bodyPr vert="horz" wrap="square" lIns="91440" tIns="45720" rIns="91440" bIns="45720" anchor="t" anchorCtr="0">
            <a:spAutoFit/>
          </a:bodyPr>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一、关于编码的一些理念</a:t>
            </a:r>
            <a:endParaRPr lang="zh-CN" altLang="en-US"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二、编程语言的选择</a:t>
            </a:r>
            <a:endParaRPr lang="zh-CN" altLang="en-US"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solidFill>
                  <a:srgbClr val="C00000"/>
                </a:solidFill>
                <a:latin typeface="华文中宋" panose="02010600040101010101" pitchFamily="2" charset="-122"/>
                <a:ea typeface="华文中宋" panose="02010600040101010101" pitchFamily="2" charset="-122"/>
                <a:cs typeface="+mn-cs"/>
              </a:rPr>
              <a:t>三、编码标准和规范</a:t>
            </a:r>
            <a:endParaRPr lang="zh-CN" altLang="en-US" dirty="0">
              <a:solidFill>
                <a:srgbClr val="C00000"/>
              </a:solidFill>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四、程序效率</a:t>
            </a:r>
            <a:endParaRPr lang="zh-CN" altLang="en-US" dirty="0">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endParaRPr lang="zh-CN" altLang="en-US" dirty="0">
              <a:latin typeface="华文中宋" panose="02010600040101010101" pitchFamily="2" charset="-122"/>
              <a:ea typeface="华文中宋" panose="02010600040101010101" pitchFamily="2" charset="-122"/>
              <a:cs typeface="+mn-cs"/>
            </a:endParaRPr>
          </a:p>
        </p:txBody>
      </p:sp>
      <p:sp>
        <p:nvSpPr>
          <p:cNvPr id="6" name="文本框 5"/>
          <p:cNvSpPr txBox="1"/>
          <p:nvPr/>
        </p:nvSpPr>
        <p:spPr>
          <a:xfrm>
            <a:off x="395288" y="1341438"/>
            <a:ext cx="4572000" cy="706438"/>
          </a:xfrm>
          <a:prstGeom prst="rect">
            <a:avLst/>
          </a:prstGeom>
          <a:noFill/>
        </p:spPr>
        <p:txBody>
          <a:bodyPr>
            <a:spAutoFit/>
          </a:bodyPr>
          <a:lstStyle/>
          <a:p>
            <a:pPr marR="0" defTabSz="914400">
              <a:buClrTx/>
              <a:buSzTx/>
              <a:buFontTx/>
              <a:buNone/>
              <a:defRPr/>
            </a:pPr>
            <a:r>
              <a:rPr kumimoji="0" lang="zh-CN" altLang="en-US" sz="400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本章要点</a:t>
            </a:r>
            <a:endParaRPr kumimoji="0" lang="zh-CN" altLang="en-US" sz="4000" kern="1200" cap="none" spc="0" normalizeH="0" baseline="0" noProof="0" dirty="0">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编码标准和规范</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3891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38916" name="内容占位符 1"/>
          <p:cNvSpPr>
            <a:spLocks noGrp="1"/>
          </p:cNvSpPr>
          <p:nvPr>
            <p:ph idx="1"/>
          </p:nvPr>
        </p:nvSpPr>
        <p:spPr>
          <a:xfrm>
            <a:off x="476250" y="1628775"/>
            <a:ext cx="8189913" cy="2103438"/>
          </a:xfrm>
          <a:ln/>
        </p:spPr>
        <p:txBody>
          <a:bodyPr vert="horz" wrap="square" lIns="91440" tIns="45720" rIns="91440" bIns="45720" anchor="t" anchorCtr="0">
            <a:spAutoFit/>
          </a:bodyPr>
          <a:p>
            <a:pPr marL="0" indent="457200">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在软件生命期中，程序经常需要被人阅读和理解，如何提高程序的可读性（</a:t>
            </a:r>
            <a:r>
              <a:rPr lang="en-US" altLang="zh-CN" dirty="0">
                <a:latin typeface="华文中宋" panose="02010600040101010101" pitchFamily="2" charset="-122"/>
                <a:ea typeface="华文中宋" panose="02010600040101010101" pitchFamily="2" charset="-122"/>
                <a:cs typeface="+mn-cs"/>
              </a:rPr>
              <a:t>Readability</a:t>
            </a:r>
            <a:r>
              <a:rPr lang="zh-CN" altLang="en-US" dirty="0">
                <a:latin typeface="华文中宋" panose="02010600040101010101" pitchFamily="2" charset="-122"/>
                <a:ea typeface="华文中宋" panose="02010600040101010101" pitchFamily="2" charset="-122"/>
                <a:cs typeface="+mn-cs"/>
              </a:rPr>
              <a:t>）？使程序“简单”和“清晰”，进而使程序具有良好的可靠性、可维护性，这是非常重要的。</a:t>
            </a:r>
            <a:endParaRPr lang="zh-CN" altLang="en-US" dirty="0">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编码标准和规范</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4096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40964" name="内容占位符 1"/>
          <p:cNvSpPr>
            <a:spLocks noGrp="1"/>
          </p:cNvSpPr>
          <p:nvPr>
            <p:ph idx="1"/>
          </p:nvPr>
        </p:nvSpPr>
        <p:spPr>
          <a:xfrm>
            <a:off x="468313" y="1125538"/>
            <a:ext cx="8189912" cy="5611812"/>
          </a:xfrm>
          <a:ln/>
        </p:spPr>
        <p:txBody>
          <a:bodyPr vert="horz" wrap="square" lIns="91440" tIns="45720" rIns="91440" bIns="45720" anchor="t" anchorCtr="0">
            <a:spAutoFit/>
          </a:bodyPr>
          <a:p>
            <a:pPr eaLnBrk="1" hangingPunct="1">
              <a:lnSpc>
                <a:spcPct val="150000"/>
              </a:lnSpc>
              <a:buSzPct val="70000"/>
            </a:pPr>
            <a:r>
              <a:rPr lang="zh-CN" altLang="en-US" sz="2000" dirty="0">
                <a:latin typeface="华文中宋" panose="02010600040101010101" pitchFamily="2" charset="-122"/>
                <a:ea typeface="华文中宋" panose="02010600040101010101" pitchFamily="2" charset="-122"/>
                <a:cs typeface="+mn-cs"/>
              </a:rPr>
              <a:t>标准是建立起来和必须遵守的规则</a:t>
            </a:r>
            <a:endParaRPr lang="zh-CN" altLang="en-US" sz="2000" dirty="0">
              <a:latin typeface="华文中宋" panose="02010600040101010101" pitchFamily="2" charset="-122"/>
              <a:ea typeface="华文中宋" panose="02010600040101010101" pitchFamily="2" charset="-122"/>
              <a:cs typeface="+mn-cs"/>
            </a:endParaRPr>
          </a:p>
          <a:p>
            <a:pPr eaLnBrk="1" hangingPunct="1">
              <a:lnSpc>
                <a:spcPct val="150000"/>
              </a:lnSpc>
              <a:buSzPct val="70000"/>
            </a:pPr>
            <a:r>
              <a:rPr lang="zh-CN" altLang="en-US" sz="2000" dirty="0">
                <a:latin typeface="华文中宋" panose="02010600040101010101" pitchFamily="2" charset="-122"/>
                <a:ea typeface="华文中宋" panose="02010600040101010101" pitchFamily="2" charset="-122"/>
                <a:cs typeface="+mn-cs"/>
              </a:rPr>
              <a:t>规范是建议最佳做法，推荐更好方式。</a:t>
            </a:r>
            <a:endParaRPr lang="en-US" altLang="zh-CN" sz="2000" dirty="0">
              <a:latin typeface="华文中宋" panose="02010600040101010101" pitchFamily="2" charset="-122"/>
              <a:ea typeface="华文中宋" panose="02010600040101010101" pitchFamily="2" charset="-122"/>
              <a:cs typeface="+mn-cs"/>
            </a:endParaRPr>
          </a:p>
          <a:p>
            <a:pPr eaLnBrk="1" hangingPunct="1">
              <a:lnSpc>
                <a:spcPct val="150000"/>
              </a:lnSpc>
              <a:buSzPct val="70000"/>
            </a:pPr>
            <a:r>
              <a:rPr lang="zh-CN" altLang="en-US" sz="2000" dirty="0">
                <a:latin typeface="华文中宋" panose="02010600040101010101" pitchFamily="2" charset="-122"/>
                <a:ea typeface="华文中宋" panose="02010600040101010101" pitchFamily="2" charset="-122"/>
                <a:cs typeface="+mn-cs"/>
              </a:rPr>
              <a:t>作为一个开发团队，没有一套规范，大家就会各自为政，为了提高代码质量，不仅需要有很好的程序设计风格，而且需要大家遵守一致的编程规范。</a:t>
            </a:r>
            <a:endParaRPr lang="zh-CN" altLang="en-US" sz="2000" dirty="0">
              <a:latin typeface="华文中宋" panose="02010600040101010101" pitchFamily="2" charset="-122"/>
              <a:ea typeface="华文中宋" panose="02010600040101010101" pitchFamily="2" charset="-122"/>
              <a:cs typeface="+mn-cs"/>
            </a:endParaRPr>
          </a:p>
          <a:p>
            <a:pPr eaLnBrk="1" hangingPunct="1">
              <a:lnSpc>
                <a:spcPct val="150000"/>
              </a:lnSpc>
              <a:buSzPct val="70000"/>
            </a:pPr>
            <a:r>
              <a:rPr lang="zh-CN" altLang="en-US" sz="2000" dirty="0">
                <a:latin typeface="华文中宋" panose="02010600040101010101" pitchFamily="2" charset="-122"/>
                <a:ea typeface="黑体" panose="02010609060101010101" pitchFamily="49" charset="-122"/>
                <a:cs typeface="+mn-cs"/>
              </a:rPr>
              <a:t>例如</a:t>
            </a:r>
            <a:endParaRPr lang="zh-CN" altLang="en-US" sz="2000" dirty="0">
              <a:latin typeface="华文中宋" panose="02010600040101010101" pitchFamily="2" charset="-122"/>
              <a:ea typeface="黑体" panose="02010609060101010101" pitchFamily="49" charset="-122"/>
              <a:cs typeface="+mn-cs"/>
            </a:endParaRPr>
          </a:p>
          <a:p>
            <a:pPr lvl="1" eaLnBrk="1" hangingPunct="1">
              <a:lnSpc>
                <a:spcPct val="150000"/>
              </a:lnSpc>
              <a:buSzPct val="70000"/>
              <a:buFont typeface="Wingdings" panose="05000000000000000000" pitchFamily="2" charset="2"/>
              <a:buChar char="l"/>
            </a:pPr>
            <a:r>
              <a:rPr lang="zh-CN" altLang="en-US" dirty="0">
                <a:latin typeface="华文中宋" panose="02010600040101010101" pitchFamily="2" charset="-122"/>
                <a:ea typeface="华文中宋" panose="02010600040101010101" pitchFamily="2" charset="-122"/>
              </a:rPr>
              <a:t>注释</a:t>
            </a:r>
            <a:endParaRPr lang="zh-CN" altLang="en-US" dirty="0">
              <a:latin typeface="华文中宋" panose="02010600040101010101" pitchFamily="2" charset="-122"/>
              <a:ea typeface="华文中宋" panose="02010600040101010101" pitchFamily="2" charset="-122"/>
            </a:endParaRPr>
          </a:p>
          <a:p>
            <a:pPr lvl="1" eaLnBrk="1" hangingPunct="1">
              <a:lnSpc>
                <a:spcPct val="150000"/>
              </a:lnSpc>
              <a:buSzPct val="70000"/>
              <a:buFont typeface="Wingdings" panose="05000000000000000000" pitchFamily="2" charset="2"/>
              <a:buChar char="l"/>
            </a:pPr>
            <a:r>
              <a:rPr lang="zh-CN" altLang="en-US" dirty="0">
                <a:latin typeface="华文中宋" panose="02010600040101010101" pitchFamily="2" charset="-122"/>
                <a:ea typeface="华文中宋" panose="02010600040101010101" pitchFamily="2" charset="-122"/>
              </a:rPr>
              <a:t>变量</a:t>
            </a:r>
            <a:endParaRPr lang="zh-CN" altLang="en-US" dirty="0">
              <a:latin typeface="华文中宋" panose="02010600040101010101" pitchFamily="2" charset="-122"/>
              <a:ea typeface="华文中宋" panose="02010600040101010101" pitchFamily="2" charset="-122"/>
            </a:endParaRPr>
          </a:p>
          <a:p>
            <a:pPr lvl="1" eaLnBrk="1" hangingPunct="1">
              <a:lnSpc>
                <a:spcPct val="150000"/>
              </a:lnSpc>
              <a:buSzPct val="70000"/>
              <a:buFont typeface="Wingdings" panose="05000000000000000000" pitchFamily="2" charset="2"/>
              <a:buChar char="l"/>
            </a:pPr>
            <a:r>
              <a:rPr lang="zh-CN" altLang="en-US" dirty="0">
                <a:latin typeface="华文中宋" panose="02010600040101010101" pitchFamily="2" charset="-122"/>
                <a:ea typeface="华文中宋" panose="02010600040101010101" pitchFamily="2" charset="-122"/>
              </a:rPr>
              <a:t>格式</a:t>
            </a:r>
            <a:endParaRPr lang="zh-CN" altLang="en-US" dirty="0">
              <a:latin typeface="华文中宋" panose="02010600040101010101" pitchFamily="2" charset="-122"/>
              <a:ea typeface="华文中宋" panose="02010600040101010101" pitchFamily="2" charset="-122"/>
            </a:endParaRPr>
          </a:p>
          <a:p>
            <a:pPr lvl="1" eaLnBrk="1" hangingPunct="1">
              <a:lnSpc>
                <a:spcPct val="150000"/>
              </a:lnSpc>
              <a:buSzPct val="70000"/>
              <a:buFont typeface="Wingdings" panose="05000000000000000000" pitchFamily="2" charset="2"/>
              <a:buChar char="l"/>
            </a:pPr>
            <a:r>
              <a:rPr lang="zh-CN" altLang="en-US" dirty="0">
                <a:latin typeface="华文中宋" panose="02010600040101010101" pitchFamily="2" charset="-122"/>
                <a:ea typeface="华文中宋" panose="02010600040101010101" pitchFamily="2" charset="-122"/>
              </a:rPr>
              <a:t>文件</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目录</a:t>
            </a:r>
            <a:r>
              <a:rPr lang="en-US" altLang="zh-CN" dirty="0">
                <a:latin typeface="华文中宋" panose="02010600040101010101" pitchFamily="2" charset="-122"/>
                <a:ea typeface="华文中宋" panose="02010600040101010101" pitchFamily="2" charset="-122"/>
              </a:rPr>
              <a:t>\</a:t>
            </a:r>
            <a:r>
              <a:rPr lang="zh-CN" altLang="en-US" dirty="0">
                <a:latin typeface="华文中宋" panose="02010600040101010101" pitchFamily="2" charset="-122"/>
                <a:ea typeface="华文中宋" panose="02010600040101010101" pitchFamily="2" charset="-122"/>
              </a:rPr>
              <a:t>约定</a:t>
            </a:r>
            <a:endParaRPr lang="zh-CN" altLang="en-US" dirty="0">
              <a:latin typeface="华文中宋" panose="02010600040101010101" pitchFamily="2" charset="-122"/>
              <a:ea typeface="华文中宋" panose="02010600040101010101" pitchFamily="2" charset="-122"/>
            </a:endParaRPr>
          </a:p>
          <a:p>
            <a:pPr lvl="1" eaLnBrk="1" hangingPunct="1">
              <a:lnSpc>
                <a:spcPct val="150000"/>
              </a:lnSpc>
              <a:buSzPct val="70000"/>
              <a:buFont typeface="Wingdings" panose="05000000000000000000" pitchFamily="2" charset="2"/>
              <a:buChar char="l"/>
            </a:pPr>
            <a:r>
              <a:rPr lang="en-US" altLang="zh-CN" dirty="0">
                <a:latin typeface="华文中宋" panose="02010600040101010101" pitchFamily="2" charset="-122"/>
                <a:ea typeface="华文中宋" panose="02010600040101010101" pitchFamily="2" charset="-122"/>
              </a:rPr>
              <a:t>……</a:t>
            </a:r>
            <a:endParaRPr lang="en-US" altLang="zh-CN" dirty="0">
              <a:latin typeface="华文中宋" panose="02010600040101010101" pitchFamily="2" charset="-122"/>
              <a:ea typeface="华文中宋" panose="02010600040101010101" pitchFamily="2" charset="-122"/>
            </a:endParaRP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编码的风格</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4301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40964" name="内容占位符 1"/>
          <p:cNvSpPr>
            <a:spLocks noGrp="1" noChangeArrowheads="1"/>
          </p:cNvSpPr>
          <p:nvPr>
            <p:ph idx="1"/>
          </p:nvPr>
        </p:nvSpPr>
        <p:spPr>
          <a:xfrm>
            <a:off x="827088" y="1196975"/>
            <a:ext cx="7391400" cy="4835525"/>
          </a:xfrm>
        </p:spPr>
        <p:txBody>
          <a:bodyPr vert="horz" wrap="square" lIns="91440" tIns="45720" rIns="91440" bIns="45720" numCol="1" anchor="t" anchorCtr="0" compatLnSpc="1">
            <a:spAutoFit/>
          </a:bodyPr>
          <a:lstStyle/>
          <a:p>
            <a:pPr marL="195580" marR="0" lvl="0" indent="-195580" algn="just" defTabSz="914400" rtl="0" eaLnBrk="1" fontAlgn="base" latinLnBrk="0" hangingPunct="1">
              <a:lnSpc>
                <a:spcPct val="150000"/>
              </a:lnSpc>
              <a:spcBef>
                <a:spcPct val="20000"/>
              </a:spcBef>
              <a:spcAft>
                <a:spcPct val="0"/>
              </a:spcAft>
              <a:buClr>
                <a:srgbClr val="3333FF"/>
              </a:buClr>
              <a:buSzPct val="70000"/>
              <a:buFont typeface="Wingdings" panose="05000000000000000000" pitchFamily="2" charset="2"/>
              <a:buChar char="l"/>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程序实际上也是一种供人阅读的文章，有一个文章的风格问题。应该使程序具有良好的风格。</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50000"/>
              </a:lnSpc>
              <a:spcBef>
                <a:spcPct val="20000"/>
              </a:spcBef>
              <a:spcAft>
                <a:spcPct val="0"/>
              </a:spcAft>
              <a:buClr>
                <a:srgbClr val="3333FF"/>
              </a:buClr>
              <a:buSzPct val="70000"/>
              <a:buFont typeface="Wingdings" panose="05000000000000000000" pitchFamily="2" charset="2"/>
              <a:buChar char="l"/>
              <a:defRPr/>
            </a:pPr>
            <a:r>
              <a:rPr kumimoji="0" lang="zh-CN" altLang="en-US" sz="20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从</a:t>
            </a:r>
            <a:r>
              <a:rPr kumimoji="0" lang="en-US" altLang="zh-CN" sz="20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20</a:t>
            </a:r>
            <a:r>
              <a:rPr kumimoji="0" lang="zh-CN" altLang="en-US" sz="20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世纪</a:t>
            </a:r>
            <a:r>
              <a:rPr kumimoji="0" lang="en-US" altLang="zh-CN" sz="20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70</a:t>
            </a:r>
            <a:r>
              <a:rPr kumimoji="0" lang="zh-CN" altLang="en-US" sz="20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年代以来，编码的目标从强调效率转变为强调清晰。与此相应，</a:t>
            </a:r>
            <a:r>
              <a:rPr kumimoji="0" lang="zh-CN" altLang="en-US" sz="2000" b="0" i="0" u="none" strike="noStrike" kern="0" cap="none" spc="0" normalizeH="0" baseline="0" noProof="0" dirty="0">
                <a:ln>
                  <a:noFill/>
                </a:ln>
                <a:solidFill>
                  <a:srgbClr val="C00000"/>
                </a:solidFill>
                <a:effectLst/>
                <a:uLnTx/>
                <a:uFillTx/>
                <a:latin typeface="宋体" panose="02010600030101010101" pitchFamily="2" charset="-122"/>
                <a:ea typeface="华文中宋" panose="02010600040101010101" pitchFamily="2" charset="-122"/>
                <a:cs typeface="+mn-cs"/>
              </a:rPr>
              <a:t>编码的风格从追求“聪明”和“技巧”，变为提倡“简明”和“直接”。</a:t>
            </a:r>
            <a:endParaRPr kumimoji="0" lang="en-US" altLang="zh-CN" sz="2000" b="0" i="0" u="none" strike="noStrike" kern="0" cap="none" spc="0" normalizeH="0" baseline="0" noProof="0" dirty="0">
              <a:ln>
                <a:noFill/>
              </a:ln>
              <a:solidFill>
                <a:srgbClr val="C00000"/>
              </a:solidFill>
              <a:effectLst/>
              <a:uLnTx/>
              <a:uFillTx/>
              <a:latin typeface="宋体" panose="0201060003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50000"/>
              </a:lnSpc>
              <a:spcBef>
                <a:spcPct val="20000"/>
              </a:spcBef>
              <a:spcAft>
                <a:spcPct val="0"/>
              </a:spcAft>
              <a:buClr>
                <a:srgbClr val="3333FF"/>
              </a:buClr>
              <a:buSzPct val="70000"/>
              <a:buFont typeface="Wingdings" panose="05000000000000000000" pitchFamily="2" charset="2"/>
              <a:buChar char="l"/>
              <a:defRPr/>
            </a:pPr>
            <a:r>
              <a:rPr kumimoji="0" lang="zh-CN" altLang="en-US" sz="20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人们逐渐认识到，良好的编码风格能在一定程度上弥补语言存在的缺点，反之，不注意风格，即使使用了结构化的现代语言，也很难写出高质量的程序。</a:t>
            </a:r>
            <a:endParaRPr kumimoji="0" lang="en-US" altLang="zh-CN" sz="2000" b="0" i="0" u="none" strike="noStrike" kern="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50000"/>
              </a:lnSpc>
              <a:spcBef>
                <a:spcPct val="20000"/>
              </a:spcBef>
              <a:spcAft>
                <a:spcPct val="0"/>
              </a:spcAft>
              <a:buClr>
                <a:srgbClr val="3333FF"/>
              </a:buClr>
              <a:buSzPct val="70000"/>
              <a:buFont typeface="Wingdings" panose="05000000000000000000" pitchFamily="2" charset="2"/>
              <a:buChar char="l"/>
              <a:defRPr/>
            </a:pPr>
            <a:r>
              <a:rPr kumimoji="0" lang="zh-CN" altLang="en-US" sz="2000" b="0"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n-cs"/>
              </a:rPr>
              <a:t>当多个程序员合作编写一个大的程序时，尤其需要强调良好的和一致的风格，以利于相互通信，减少因不协调而引起的问题。</a:t>
            </a:r>
            <a:endParaRPr kumimoji="0" lang="zh-CN" altLang="en-US" sz="2000" b="0"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n-cs"/>
            </a:endParaRP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编码的风格</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4505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grpSp>
        <p:nvGrpSpPr>
          <p:cNvPr id="7" name="Group 3"/>
          <p:cNvGrpSpPr/>
          <p:nvPr/>
        </p:nvGrpSpPr>
        <p:grpSpPr bwMode="auto">
          <a:xfrm>
            <a:off x="2859087" y="1916832"/>
            <a:ext cx="3600450" cy="3186113"/>
            <a:chOff x="1791" y="1207"/>
            <a:chExt cx="2268" cy="2007"/>
          </a:xfrm>
          <a:solidFill>
            <a:srgbClr val="00B0F0"/>
          </a:solidFill>
        </p:grpSpPr>
        <p:sp>
          <p:nvSpPr>
            <p:cNvPr id="8" name="AutoShape 4">
              <a:hlinkClick r:id="" highlightClick="1"/>
            </p:cNvPr>
            <p:cNvSpPr>
              <a:spLocks noChangeArrowheads="1"/>
            </p:cNvSpPr>
            <p:nvPr/>
          </p:nvSpPr>
          <p:spPr bwMode="auto">
            <a:xfrm>
              <a:off x="1791" y="1616"/>
              <a:ext cx="2267" cy="328"/>
            </a:xfrm>
            <a:prstGeom prst="actionButtonBlank">
              <a:avLst/>
            </a:prstGeom>
            <a:grpFill/>
            <a:ln>
              <a:noFill/>
            </a:ln>
            <a:effectLst>
              <a:prstShdw prst="shdw17" dist="17961" dir="2700000">
                <a:schemeClr val="accent1">
                  <a:gamma/>
                  <a:shade val="60000"/>
                  <a:invGamma/>
                </a:schemeClr>
              </a:prstShdw>
            </a:effectLst>
          </p:spPr>
          <p:txBody>
            <a:bodyPr lIns="0" rIns="0" anchor="ctr"/>
            <a:lstStyle>
              <a:lvl1pPr>
                <a:tabLst>
                  <a:tab pos="476250" algn="l"/>
                </a:tabLst>
                <a:defRPr kumimoji="1" sz="2400">
                  <a:solidFill>
                    <a:schemeClr val="tx1"/>
                  </a:solidFill>
                  <a:latin typeface="Times New Roman" panose="02020603050405020304" pitchFamily="18" charset="0"/>
                  <a:ea typeface="宋体" panose="02010600030101010101" pitchFamily="2" charset="-122"/>
                </a:defRPr>
              </a:lvl1pPr>
              <a:lvl2pPr>
                <a:tabLst>
                  <a:tab pos="476250" algn="l"/>
                </a:tabLst>
                <a:defRPr kumimoji="1" sz="2400">
                  <a:solidFill>
                    <a:schemeClr val="tx1"/>
                  </a:solidFill>
                  <a:latin typeface="Times New Roman" panose="02020603050405020304" pitchFamily="18" charset="0"/>
                  <a:ea typeface="宋体" panose="02010600030101010101" pitchFamily="2" charset="-122"/>
                </a:defRPr>
              </a:lvl2pPr>
              <a:lvl3pPr>
                <a:tabLst>
                  <a:tab pos="476250" algn="l"/>
                </a:tabLst>
                <a:defRPr kumimoji="1" sz="2400">
                  <a:solidFill>
                    <a:schemeClr val="tx1"/>
                  </a:solidFill>
                  <a:latin typeface="Times New Roman" panose="02020603050405020304" pitchFamily="18" charset="0"/>
                  <a:ea typeface="宋体" panose="02010600030101010101" pitchFamily="2" charset="-122"/>
                </a:defRPr>
              </a:lvl3pPr>
              <a:lvl4pPr>
                <a:tabLst>
                  <a:tab pos="476250" algn="l"/>
                </a:tabLst>
                <a:defRPr kumimoji="1" sz="2400">
                  <a:solidFill>
                    <a:schemeClr val="tx1"/>
                  </a:solidFill>
                  <a:latin typeface="Times New Roman" panose="02020603050405020304" pitchFamily="18" charset="0"/>
                  <a:ea typeface="宋体" panose="02010600030101010101" pitchFamily="2" charset="-122"/>
                </a:defRPr>
              </a:lvl4pPr>
              <a:lvl5pPr>
                <a:tabLst>
                  <a:tab pos="47625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47625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47625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47625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476250" algn="l"/>
                </a:tabLs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tab pos="476250" algn="l"/>
                </a:tabLst>
                <a:defRPr/>
              </a:pPr>
              <a:r>
                <a:rPr kumimoji="1" lang="en-US" altLang="zh-CN"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1" lang="zh-CN" altLang="en-US"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源程序文档化</a:t>
              </a:r>
              <a:endParaRPr kumimoji="1" lang="zh-CN" altLang="en-US"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9" name="AutoShape 5">
              <a:hlinkClick r:id="" highlightClick="1"/>
            </p:cNvPr>
            <p:cNvSpPr>
              <a:spLocks noChangeArrowheads="1"/>
            </p:cNvSpPr>
            <p:nvPr/>
          </p:nvSpPr>
          <p:spPr bwMode="auto">
            <a:xfrm>
              <a:off x="1791" y="2432"/>
              <a:ext cx="2267" cy="328"/>
            </a:xfrm>
            <a:prstGeom prst="actionButtonBlank">
              <a:avLst/>
            </a:prstGeom>
            <a:grpFill/>
            <a:ln>
              <a:noFill/>
            </a:ln>
            <a:effectLst>
              <a:prstShdw prst="shdw17" dist="17961" dir="2700000">
                <a:schemeClr val="accent1">
                  <a:gamma/>
                  <a:shade val="60000"/>
                  <a:invGamma/>
                </a:schemeClr>
              </a:prstShdw>
            </a:effectLst>
          </p:spPr>
          <p:txBody>
            <a:bodyPr lIns="0" rIns="0" anchor="ctr"/>
            <a:lstStyle>
              <a:lvl1pPr>
                <a:tabLst>
                  <a:tab pos="476250" algn="l"/>
                </a:tabLst>
                <a:defRPr kumimoji="1" sz="2400">
                  <a:solidFill>
                    <a:schemeClr val="tx1"/>
                  </a:solidFill>
                  <a:latin typeface="Times New Roman" panose="02020603050405020304" pitchFamily="18" charset="0"/>
                  <a:ea typeface="宋体" panose="02010600030101010101" pitchFamily="2" charset="-122"/>
                </a:defRPr>
              </a:lvl1pPr>
              <a:lvl2pPr>
                <a:tabLst>
                  <a:tab pos="476250" algn="l"/>
                </a:tabLst>
                <a:defRPr kumimoji="1" sz="2400">
                  <a:solidFill>
                    <a:schemeClr val="tx1"/>
                  </a:solidFill>
                  <a:latin typeface="Times New Roman" panose="02020603050405020304" pitchFamily="18" charset="0"/>
                  <a:ea typeface="宋体" panose="02010600030101010101" pitchFamily="2" charset="-122"/>
                </a:defRPr>
              </a:lvl2pPr>
              <a:lvl3pPr>
                <a:tabLst>
                  <a:tab pos="476250" algn="l"/>
                </a:tabLst>
                <a:defRPr kumimoji="1" sz="2400">
                  <a:solidFill>
                    <a:schemeClr val="tx1"/>
                  </a:solidFill>
                  <a:latin typeface="Times New Roman" panose="02020603050405020304" pitchFamily="18" charset="0"/>
                  <a:ea typeface="宋体" panose="02010600030101010101" pitchFamily="2" charset="-122"/>
                </a:defRPr>
              </a:lvl3pPr>
              <a:lvl4pPr>
                <a:tabLst>
                  <a:tab pos="476250" algn="l"/>
                </a:tabLst>
                <a:defRPr kumimoji="1" sz="2400">
                  <a:solidFill>
                    <a:schemeClr val="tx1"/>
                  </a:solidFill>
                  <a:latin typeface="Times New Roman" panose="02020603050405020304" pitchFamily="18" charset="0"/>
                  <a:ea typeface="宋体" panose="02010600030101010101" pitchFamily="2" charset="-122"/>
                </a:defRPr>
              </a:lvl4pPr>
              <a:lvl5pPr>
                <a:tabLst>
                  <a:tab pos="47625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47625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47625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47625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476250" algn="l"/>
                </a:tabLs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tab pos="476250" algn="l"/>
                </a:tabLst>
                <a:defRPr/>
              </a:pPr>
              <a:r>
                <a:rPr kumimoji="1" lang="en-US" altLang="zh-CN"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1" lang="zh-CN" altLang="en-US"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数据说明</a:t>
              </a:r>
              <a:endParaRPr kumimoji="1" lang="zh-CN" altLang="en-US"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10" name="AutoShape 6">
              <a:hlinkClick r:id="" highlightClick="1"/>
            </p:cNvPr>
            <p:cNvSpPr>
              <a:spLocks noChangeArrowheads="1"/>
            </p:cNvSpPr>
            <p:nvPr/>
          </p:nvSpPr>
          <p:spPr bwMode="auto">
            <a:xfrm>
              <a:off x="1791" y="2886"/>
              <a:ext cx="2267" cy="328"/>
            </a:xfrm>
            <a:prstGeom prst="actionButtonBlank">
              <a:avLst/>
            </a:prstGeom>
            <a:grpFill/>
            <a:ln>
              <a:noFill/>
            </a:ln>
            <a:effectLst>
              <a:prstShdw prst="shdw17" dist="17961" dir="2700000">
                <a:schemeClr val="accent1">
                  <a:gamma/>
                  <a:shade val="60000"/>
                  <a:invGamma/>
                </a:schemeClr>
              </a:prstShdw>
            </a:effectLst>
          </p:spPr>
          <p:txBody>
            <a:bodyPr lIns="0" rIns="0" anchor="ctr"/>
            <a:lstStyle>
              <a:lvl1pPr>
                <a:tabLst>
                  <a:tab pos="476250" algn="l"/>
                </a:tabLst>
                <a:defRPr kumimoji="1" sz="2400">
                  <a:solidFill>
                    <a:schemeClr val="tx1"/>
                  </a:solidFill>
                  <a:latin typeface="Times New Roman" panose="02020603050405020304" pitchFamily="18" charset="0"/>
                  <a:ea typeface="宋体" panose="02010600030101010101" pitchFamily="2" charset="-122"/>
                </a:defRPr>
              </a:lvl1pPr>
              <a:lvl2pPr>
                <a:tabLst>
                  <a:tab pos="476250" algn="l"/>
                </a:tabLst>
                <a:defRPr kumimoji="1" sz="2400">
                  <a:solidFill>
                    <a:schemeClr val="tx1"/>
                  </a:solidFill>
                  <a:latin typeface="Times New Roman" panose="02020603050405020304" pitchFamily="18" charset="0"/>
                  <a:ea typeface="宋体" panose="02010600030101010101" pitchFamily="2" charset="-122"/>
                </a:defRPr>
              </a:lvl2pPr>
              <a:lvl3pPr>
                <a:tabLst>
                  <a:tab pos="476250" algn="l"/>
                </a:tabLst>
                <a:defRPr kumimoji="1" sz="2400">
                  <a:solidFill>
                    <a:schemeClr val="tx1"/>
                  </a:solidFill>
                  <a:latin typeface="Times New Roman" panose="02020603050405020304" pitchFamily="18" charset="0"/>
                  <a:ea typeface="宋体" panose="02010600030101010101" pitchFamily="2" charset="-122"/>
                </a:defRPr>
              </a:lvl3pPr>
              <a:lvl4pPr>
                <a:tabLst>
                  <a:tab pos="476250" algn="l"/>
                </a:tabLst>
                <a:defRPr kumimoji="1" sz="2400">
                  <a:solidFill>
                    <a:schemeClr val="tx1"/>
                  </a:solidFill>
                  <a:latin typeface="Times New Roman" panose="02020603050405020304" pitchFamily="18" charset="0"/>
                  <a:ea typeface="宋体" panose="02010600030101010101" pitchFamily="2" charset="-122"/>
                </a:defRPr>
              </a:lvl4pPr>
              <a:lvl5pPr>
                <a:tabLst>
                  <a:tab pos="47625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47625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47625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47625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476250" algn="l"/>
                </a:tabLs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tab pos="476250" algn="l"/>
                </a:tabLst>
                <a:defRPr/>
              </a:pPr>
              <a:r>
                <a:rPr kumimoji="1" lang="en-US" altLang="zh-CN"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1" lang="zh-CN" altLang="en-US"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输入</a:t>
              </a:r>
              <a:r>
                <a:rPr kumimoji="1" lang="en-US" altLang="zh-CN"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1" lang="zh-CN" altLang="en-US"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输出</a:t>
              </a:r>
              <a:endParaRPr kumimoji="1" lang="zh-CN" altLang="en-US"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12" name="AutoShape 8">
              <a:hlinkClick r:id="" highlightClick="1"/>
            </p:cNvPr>
            <p:cNvSpPr>
              <a:spLocks noChangeArrowheads="1"/>
            </p:cNvSpPr>
            <p:nvPr/>
          </p:nvSpPr>
          <p:spPr bwMode="auto">
            <a:xfrm>
              <a:off x="1791" y="1207"/>
              <a:ext cx="2268" cy="328"/>
            </a:xfrm>
            <a:prstGeom prst="actionButtonBlank">
              <a:avLst/>
            </a:prstGeom>
            <a:grpFill/>
            <a:ln>
              <a:noFill/>
            </a:ln>
            <a:effectLst>
              <a:prstShdw prst="shdw17" dist="17961" dir="2700000">
                <a:schemeClr val="accent1">
                  <a:gamma/>
                  <a:shade val="60000"/>
                  <a:invGamma/>
                </a:schemeClr>
              </a:prstShdw>
            </a:effectLst>
          </p:spPr>
          <p:txBody>
            <a:bodyPr lIns="0" rIns="0" anchor="ctr"/>
            <a:lstStyle>
              <a:lvl1pPr>
                <a:tabLst>
                  <a:tab pos="476250" algn="l"/>
                </a:tabLst>
                <a:defRPr kumimoji="1" sz="2400">
                  <a:solidFill>
                    <a:schemeClr val="tx1"/>
                  </a:solidFill>
                  <a:latin typeface="Times New Roman" panose="02020603050405020304" pitchFamily="18" charset="0"/>
                  <a:ea typeface="宋体" panose="02010600030101010101" pitchFamily="2" charset="-122"/>
                </a:defRPr>
              </a:lvl1pPr>
              <a:lvl2pPr>
                <a:tabLst>
                  <a:tab pos="476250" algn="l"/>
                </a:tabLst>
                <a:defRPr kumimoji="1" sz="2400">
                  <a:solidFill>
                    <a:schemeClr val="tx1"/>
                  </a:solidFill>
                  <a:latin typeface="Times New Roman" panose="02020603050405020304" pitchFamily="18" charset="0"/>
                  <a:ea typeface="宋体" panose="02010600030101010101" pitchFamily="2" charset="-122"/>
                </a:defRPr>
              </a:lvl2pPr>
              <a:lvl3pPr>
                <a:tabLst>
                  <a:tab pos="476250" algn="l"/>
                </a:tabLst>
                <a:defRPr kumimoji="1" sz="2400">
                  <a:solidFill>
                    <a:schemeClr val="tx1"/>
                  </a:solidFill>
                  <a:latin typeface="Times New Roman" panose="02020603050405020304" pitchFamily="18" charset="0"/>
                  <a:ea typeface="宋体" panose="02010600030101010101" pitchFamily="2" charset="-122"/>
                </a:defRPr>
              </a:lvl3pPr>
              <a:lvl4pPr>
                <a:tabLst>
                  <a:tab pos="476250" algn="l"/>
                </a:tabLst>
                <a:defRPr kumimoji="1" sz="2400">
                  <a:solidFill>
                    <a:schemeClr val="tx1"/>
                  </a:solidFill>
                  <a:latin typeface="Times New Roman" panose="02020603050405020304" pitchFamily="18" charset="0"/>
                  <a:ea typeface="宋体" panose="02010600030101010101" pitchFamily="2" charset="-122"/>
                </a:defRPr>
              </a:lvl4pPr>
              <a:lvl5pPr>
                <a:tabLst>
                  <a:tab pos="47625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47625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47625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47625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476250" algn="l"/>
                </a:tabLs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tab pos="476250" algn="l"/>
                </a:tabLst>
                <a:defRPr/>
              </a:pPr>
              <a:r>
                <a:rPr kumimoji="1" lang="en-US" altLang="zh-CN"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1" lang="zh-CN" altLang="en-US"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使用标准的控制结构</a:t>
              </a:r>
              <a:endParaRPr kumimoji="1" lang="zh-CN" altLang="en-US"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13" name="AutoShape 9">
              <a:hlinkClick r:id="" highlightClick="1"/>
            </p:cNvPr>
            <p:cNvSpPr>
              <a:spLocks noChangeArrowheads="1"/>
            </p:cNvSpPr>
            <p:nvPr/>
          </p:nvSpPr>
          <p:spPr bwMode="auto">
            <a:xfrm>
              <a:off x="1791" y="2024"/>
              <a:ext cx="2267" cy="328"/>
            </a:xfrm>
            <a:prstGeom prst="actionButtonBlank">
              <a:avLst/>
            </a:prstGeom>
            <a:grpFill/>
            <a:ln>
              <a:noFill/>
            </a:ln>
            <a:effectLst>
              <a:prstShdw prst="shdw17" dist="17961" dir="2700000">
                <a:schemeClr val="accent1">
                  <a:gamma/>
                  <a:shade val="60000"/>
                  <a:invGamma/>
                </a:schemeClr>
              </a:prstShdw>
            </a:effectLst>
          </p:spPr>
          <p:txBody>
            <a:bodyPr lIns="0" rIns="0" anchor="ctr"/>
            <a:lstStyle>
              <a:lvl1pPr>
                <a:tabLst>
                  <a:tab pos="476250" algn="l"/>
                </a:tabLst>
                <a:defRPr kumimoji="1" sz="2400">
                  <a:solidFill>
                    <a:schemeClr val="tx1"/>
                  </a:solidFill>
                  <a:latin typeface="Times New Roman" panose="02020603050405020304" pitchFamily="18" charset="0"/>
                  <a:ea typeface="宋体" panose="02010600030101010101" pitchFamily="2" charset="-122"/>
                </a:defRPr>
              </a:lvl1pPr>
              <a:lvl2pPr>
                <a:tabLst>
                  <a:tab pos="476250" algn="l"/>
                </a:tabLst>
                <a:defRPr kumimoji="1" sz="2400">
                  <a:solidFill>
                    <a:schemeClr val="tx1"/>
                  </a:solidFill>
                  <a:latin typeface="Times New Roman" panose="02020603050405020304" pitchFamily="18" charset="0"/>
                  <a:ea typeface="宋体" panose="02010600030101010101" pitchFamily="2" charset="-122"/>
                </a:defRPr>
              </a:lvl2pPr>
              <a:lvl3pPr>
                <a:tabLst>
                  <a:tab pos="476250" algn="l"/>
                </a:tabLst>
                <a:defRPr kumimoji="1" sz="2400">
                  <a:solidFill>
                    <a:schemeClr val="tx1"/>
                  </a:solidFill>
                  <a:latin typeface="Times New Roman" panose="02020603050405020304" pitchFamily="18" charset="0"/>
                  <a:ea typeface="宋体" panose="02010600030101010101" pitchFamily="2" charset="-122"/>
                </a:defRPr>
              </a:lvl3pPr>
              <a:lvl4pPr>
                <a:tabLst>
                  <a:tab pos="476250" algn="l"/>
                </a:tabLst>
                <a:defRPr kumimoji="1" sz="2400">
                  <a:solidFill>
                    <a:schemeClr val="tx1"/>
                  </a:solidFill>
                  <a:latin typeface="Times New Roman" panose="02020603050405020304" pitchFamily="18" charset="0"/>
                  <a:ea typeface="宋体" panose="02010600030101010101" pitchFamily="2" charset="-122"/>
                </a:defRPr>
              </a:lvl4pPr>
              <a:lvl5pPr>
                <a:tabLst>
                  <a:tab pos="47625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47625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47625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47625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476250" algn="l"/>
                </a:tabLs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tab pos="476250" algn="l"/>
                </a:tabLst>
                <a:defRPr/>
              </a:pPr>
              <a:r>
                <a:rPr kumimoji="1" lang="en-US" altLang="zh-CN" sz="2400" b="1" i="0" u="none" strike="noStrike" kern="1200" cap="none" spc="0" normalizeH="0" baseline="0" noProof="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rPr>
                <a:t>	  </a:t>
              </a:r>
              <a:endParaRPr kumimoji="1" lang="en-US" altLang="zh-CN" sz="2400" b="1" i="0" u="none" strike="noStrike" kern="1200" cap="none" spc="0" normalizeH="0" baseline="0" noProof="0">
                <a:ln>
                  <a:noFill/>
                </a:ln>
                <a:solidFill>
                  <a:schemeClr val="tx1"/>
                </a:solidFill>
                <a:effectLst>
                  <a:outerShdw blurRad="38100" dist="38100" dir="2700000" algn="tl">
                    <a:srgbClr val="FFFFFF"/>
                  </a:outerShdw>
                </a:effectLst>
                <a:uLnTx/>
                <a:uFillTx/>
                <a:latin typeface="华文中宋" panose="02010600040101010101" pitchFamily="2" charset="-122"/>
                <a:ea typeface="华文中宋" panose="02010600040101010101" pitchFamily="2" charset="-122"/>
                <a:cs typeface="+mn-cs"/>
              </a:endParaRPr>
            </a:p>
          </p:txBody>
        </p:sp>
        <p:sp>
          <p:nvSpPr>
            <p:cNvPr id="14" name="Rectangle 10"/>
            <p:cNvSpPr>
              <a:spLocks noChangeArrowheads="1"/>
            </p:cNvSpPr>
            <p:nvPr/>
          </p:nvSpPr>
          <p:spPr bwMode="auto">
            <a:xfrm>
              <a:off x="2109" y="2024"/>
              <a:ext cx="979" cy="288"/>
            </a:xfrm>
            <a:prstGeom prst="rect">
              <a:avLst/>
            </a:prstGeom>
            <a:grpFill/>
            <a:ln>
              <a:noFill/>
            </a:ln>
            <a:effec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语句结构</a:t>
              </a:r>
              <a:endParaRPr kumimoji="0" lang="zh-CN" altLang="en-US"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gr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编码的风格</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47107"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47108" name="文本框 14"/>
          <p:cNvSpPr txBox="1"/>
          <p:nvPr/>
        </p:nvSpPr>
        <p:spPr>
          <a:xfrm>
            <a:off x="238125" y="1481138"/>
            <a:ext cx="7632700" cy="523875"/>
          </a:xfrm>
          <a:prstGeom prst="rect">
            <a:avLst/>
          </a:prstGeom>
          <a:noFill/>
          <a:ln w="9525">
            <a:noFill/>
          </a:ln>
        </p:spPr>
        <p:txBody>
          <a:bodyPr>
            <a:spAutoFit/>
          </a:bodyPr>
          <a:p>
            <a:r>
              <a:rPr lang="zh-CN" altLang="en-US" sz="2800" b="0" dirty="0">
                <a:solidFill>
                  <a:schemeClr val="tx1"/>
                </a:solidFill>
                <a:latin typeface="华文中宋" panose="02010600040101010101" pitchFamily="2" charset="-122"/>
              </a:rPr>
              <a:t>１、使用标准的控制结构</a:t>
            </a:r>
            <a:endParaRPr lang="zh-CN" altLang="en-US" sz="2800" b="0" dirty="0">
              <a:solidFill>
                <a:schemeClr val="tx1"/>
              </a:solidFill>
              <a:latin typeface="华文中宋" panose="02010600040101010101" pitchFamily="2" charset="-122"/>
            </a:endParaRPr>
          </a:p>
        </p:txBody>
      </p:sp>
      <p:sp>
        <p:nvSpPr>
          <p:cNvPr id="45062" name="文本框 15"/>
          <p:cNvSpPr txBox="1">
            <a:spLocks noChangeArrowheads="1"/>
          </p:cNvSpPr>
          <p:nvPr/>
        </p:nvSpPr>
        <p:spPr bwMode="auto">
          <a:xfrm>
            <a:off x="573088" y="2349500"/>
            <a:ext cx="8172450" cy="2862263"/>
          </a:xfrm>
          <a:prstGeom prst="rect">
            <a:avLst/>
          </a:prstGeom>
          <a:noFill/>
          <a:ln>
            <a:noFill/>
          </a:ln>
        </p:spPr>
        <p:txBody>
          <a:bodyPr wrap="square">
            <a:spAutoFit/>
          </a:bodyPr>
          <a:lstStyle>
            <a:lvl1pPr marL="342900" indent="-342900">
              <a:defRPr sz="2400" b="1">
                <a:solidFill>
                  <a:schemeClr val="accent2"/>
                </a:solidFill>
                <a:latin typeface="华文中宋" panose="02010600040101010101" pitchFamily="2" charset="-122"/>
                <a:ea typeface="华文中宋" panose="02010600040101010101" pitchFamily="2" charset="-122"/>
              </a:defRPr>
            </a:lvl1pPr>
            <a:lvl2pPr marL="742950" indent="-285750">
              <a:defRPr sz="2400" b="1">
                <a:solidFill>
                  <a:schemeClr val="accent2"/>
                </a:solidFill>
                <a:latin typeface="华文中宋" panose="02010600040101010101" pitchFamily="2" charset="-122"/>
                <a:ea typeface="华文中宋" panose="02010600040101010101" pitchFamily="2" charset="-122"/>
              </a:defRPr>
            </a:lvl2pPr>
            <a:lvl3pPr marL="1143000" indent="-228600">
              <a:defRPr sz="2400" b="1">
                <a:solidFill>
                  <a:schemeClr val="accent2"/>
                </a:solidFill>
                <a:latin typeface="华文中宋" panose="02010600040101010101" pitchFamily="2" charset="-122"/>
                <a:ea typeface="华文中宋" panose="02010600040101010101" pitchFamily="2" charset="-122"/>
              </a:defRPr>
            </a:lvl3pPr>
            <a:lvl4pPr marL="1600200" indent="-228600">
              <a:defRPr sz="2400" b="1">
                <a:solidFill>
                  <a:schemeClr val="accent2"/>
                </a:solidFill>
                <a:latin typeface="华文中宋" panose="02010600040101010101" pitchFamily="2" charset="-122"/>
                <a:ea typeface="华文中宋" panose="02010600040101010101" pitchFamily="2" charset="-122"/>
              </a:defRPr>
            </a:lvl4pPr>
            <a:lvl5pPr marL="2057400" indent="-22860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342900" marR="0" lvl="0" indent="-342900" algn="l" defTabSz="914400" rtl="0" eaLnBrk="1" fontAlgn="base" latinLnBrk="0" hangingPunct="1">
              <a:lnSpc>
                <a:spcPct val="150000"/>
              </a:lnSpc>
              <a:spcBef>
                <a:spcPct val="0"/>
              </a:spcBef>
              <a:spcAft>
                <a:spcPct val="0"/>
              </a:spcAft>
              <a:buClr>
                <a:srgbClr val="3333FF"/>
              </a:buClr>
              <a:buSzTx/>
              <a:buFont typeface="Wingdings" panose="05000000000000000000" pitchFamily="2" charset="2"/>
              <a:buChar char="l"/>
              <a:defRPr/>
            </a:pP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结构化程序设计主要包括两方面：</a:t>
            </a:r>
            <a:endPar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
                <a:srgbClr val="3333FF"/>
              </a:buClr>
              <a:buSzTx/>
              <a:buFont typeface="Wingdings" panose="05000000000000000000" pitchFamily="2" charset="2"/>
              <a:buChar char="l"/>
              <a:defRPr/>
            </a:pP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在编写程序时，</a:t>
            </a:r>
            <a:r>
              <a:rPr kumimoji="0" lang="zh-CN" altLang="en-US" sz="2400" b="0"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n-cs"/>
              </a:rPr>
              <a:t>使用几种基本控制结构，</a:t>
            </a: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通过组合嵌套，形成程序的控制结构。尽可能避免使用</a:t>
            </a:r>
            <a:r>
              <a:rPr kumimoji="0"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GOTO</a:t>
            </a: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语句。</a:t>
            </a:r>
            <a:endPar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
                <a:srgbClr val="3333FF"/>
              </a:buClr>
              <a:buSzTx/>
              <a:buFont typeface="Wingdings" panose="05000000000000000000" pitchFamily="2" charset="2"/>
              <a:buChar char="l"/>
              <a:defRPr/>
            </a:pP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华文中宋" panose="02010600040101010101" pitchFamily="2" charset="-122"/>
                <a:cs typeface="+mn-cs"/>
              </a:rPr>
              <a:t>在程序设计过程中，尽量采用自顶向下和逐步细化的原则，</a:t>
            </a:r>
            <a:r>
              <a:rPr kumimoji="0" lang="zh-CN" altLang="en-US" sz="2400" b="0"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n-cs"/>
              </a:rPr>
              <a:t>由粗到细，一步步展开。</a:t>
            </a:r>
            <a:endParaRPr kumimoji="0" lang="zh-CN" altLang="en-US" sz="2400" b="0"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n-cs"/>
            </a:endParaRPr>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编码的风格</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4915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49156" name="文本框 14"/>
          <p:cNvSpPr txBox="1"/>
          <p:nvPr/>
        </p:nvSpPr>
        <p:spPr>
          <a:xfrm>
            <a:off x="238125" y="1312863"/>
            <a:ext cx="7632700" cy="523875"/>
          </a:xfrm>
          <a:prstGeom prst="rect">
            <a:avLst/>
          </a:prstGeom>
          <a:noFill/>
          <a:ln w="9525">
            <a:noFill/>
          </a:ln>
        </p:spPr>
        <p:txBody>
          <a:bodyPr>
            <a:spAutoFit/>
          </a:bodyPr>
          <a:p>
            <a:r>
              <a:rPr lang="zh-CN" altLang="en-US" sz="2800" dirty="0">
                <a:solidFill>
                  <a:schemeClr val="tx1"/>
                </a:solidFill>
                <a:latin typeface="华文中宋" panose="02010600040101010101" pitchFamily="2" charset="-122"/>
              </a:rPr>
              <a:t>１、使用标准的控制结构</a:t>
            </a:r>
            <a:endParaRPr lang="zh-CN" altLang="en-US" sz="2800" dirty="0">
              <a:solidFill>
                <a:schemeClr val="tx1"/>
              </a:solidFill>
              <a:latin typeface="华文中宋" panose="02010600040101010101" pitchFamily="2" charset="-122"/>
            </a:endParaRPr>
          </a:p>
        </p:txBody>
      </p:sp>
      <p:sp>
        <p:nvSpPr>
          <p:cNvPr id="8" name="文本框 7"/>
          <p:cNvSpPr txBox="1"/>
          <p:nvPr/>
        </p:nvSpPr>
        <p:spPr>
          <a:xfrm>
            <a:off x="539750" y="1916113"/>
            <a:ext cx="8405813" cy="4154488"/>
          </a:xfrm>
          <a:prstGeom prst="rect">
            <a:avLst/>
          </a:prstGeom>
          <a:noFill/>
        </p:spPr>
        <p:txBody>
          <a:bodyPr>
            <a:spAutoFit/>
          </a:bodyPr>
          <a:lstStyle/>
          <a:p>
            <a:pPr marL="91440" marR="0" indent="-91440" defTabSz="914400" eaLnBrk="1" fontAlgn="auto" hangingPunct="1">
              <a:buClrTx/>
              <a:buSzTx/>
              <a:buFont typeface="Wingdings" panose="05000000000000000000" pitchFamily="2" charset="2"/>
              <a:buNone/>
              <a:defRPr/>
            </a:pPr>
            <a:r>
              <a:rPr kumimoji="0" lang="en-US" altLang="zh-CN" b="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a:t>
            </a:r>
            <a:r>
              <a:rPr kumimoji="0" lang="zh-CN" altLang="en-US" b="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禁止使用</a:t>
            </a:r>
            <a:r>
              <a:rPr kumimoji="0" lang="en-US" altLang="zh-CN" b="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GOTO</a:t>
            </a:r>
            <a:r>
              <a:rPr kumimoji="0" lang="zh-CN" altLang="en-US" b="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a:t>
            </a:r>
            <a:r>
              <a:rPr kumimoji="0" lang="en-US" altLang="zh-CN" b="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C </a:t>
            </a:r>
            <a:r>
              <a:rPr kumimoji="0" lang="zh-CN" altLang="en-US" b="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语言）语句。</a:t>
            </a:r>
            <a:endParaRPr kumimoji="0" lang="zh-CN" altLang="en-US" b="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endParaRPr>
          </a:p>
          <a:p>
            <a:pPr marL="91440" marR="0" indent="-91440" defTabSz="914400" eaLnBrk="1" fontAlgn="auto" hangingPunct="1">
              <a:buClrTx/>
              <a:buSzTx/>
              <a:buFont typeface="Wingdings" panose="05000000000000000000" pitchFamily="2" charset="2"/>
              <a:buNone/>
              <a:defRPr/>
            </a:pPr>
            <a:r>
              <a:rPr kumimoji="0" lang="en-US" altLang="zh-CN" b="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a:t>
            </a:r>
            <a:r>
              <a:rPr kumimoji="0" lang="zh-CN" altLang="en-US" b="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用</a:t>
            </a:r>
            <a:r>
              <a:rPr kumimoji="0" lang="en-US" altLang="zh-CN" b="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IF </a:t>
            </a:r>
            <a:r>
              <a:rPr kumimoji="0" lang="zh-CN" altLang="en-US" b="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语句来强调只执行两组语句中的一组，禁止</a:t>
            </a:r>
            <a:r>
              <a:rPr kumimoji="0" lang="en-US" altLang="zh-CN" b="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ELSE GOTO</a:t>
            </a:r>
            <a:r>
              <a:rPr kumimoji="0" lang="zh-CN" altLang="en-US" b="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和</a:t>
            </a:r>
            <a:r>
              <a:rPr kumimoji="0" lang="en-US" altLang="zh-CN" b="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ELSE RETURN</a:t>
            </a:r>
            <a:r>
              <a:rPr kumimoji="0" lang="zh-CN" altLang="en-US" b="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a:t>
            </a:r>
            <a:endParaRPr kumimoji="0" lang="zh-CN" altLang="en-US" b="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endParaRPr>
          </a:p>
          <a:p>
            <a:pPr marL="91440" marR="0" indent="-91440" defTabSz="914400" eaLnBrk="1" fontAlgn="auto" hangingPunct="1">
              <a:buClrTx/>
              <a:buSzTx/>
              <a:buFont typeface="Wingdings" panose="05000000000000000000" pitchFamily="2" charset="2"/>
              <a:buNone/>
              <a:defRPr/>
            </a:pPr>
            <a:r>
              <a:rPr kumimoji="0" lang="en-US" altLang="zh-CN" b="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a:t>
            </a:r>
            <a:r>
              <a:rPr kumimoji="0" lang="zh-CN" altLang="en-US" b="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避免从循环中引出多个出口，应保留函数（方法）只有一个出口。</a:t>
            </a:r>
            <a:endParaRPr kumimoji="0" lang="zh-CN" altLang="en-US" b="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endParaRPr>
          </a:p>
          <a:p>
            <a:pPr marL="91440" marR="0" indent="-91440" defTabSz="914400" eaLnBrk="1" fontAlgn="auto" hangingPunct="1">
              <a:buClrTx/>
              <a:buSzTx/>
              <a:buFont typeface="Wingdings" panose="05000000000000000000" pitchFamily="2" charset="2"/>
              <a:buNone/>
              <a:defRPr/>
            </a:pPr>
            <a:r>
              <a:rPr kumimoji="0" lang="en-US" altLang="zh-CN" b="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a:t>
            </a:r>
            <a:r>
              <a:rPr kumimoji="0" lang="zh-CN" altLang="en-US" b="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问题：以下示例有什么问题？如何修改？</a:t>
            </a:r>
            <a:endParaRPr kumimoji="0" lang="zh-CN" altLang="en-US" b="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endParaRPr>
          </a:p>
          <a:p>
            <a:pPr marL="91440" marR="0" indent="-91440" defTabSz="914400" eaLnBrk="1" fontAlgn="auto" hangingPunct="1">
              <a:buClrTx/>
              <a:buSzTx/>
              <a:buFont typeface="Wingdings" panose="05000000000000000000" pitchFamily="2" charset="2"/>
              <a:buNone/>
              <a:defRPr/>
            </a:pPr>
            <a:r>
              <a:rPr kumimoji="0" lang="en-US" altLang="zh-CN"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p = (char *)malloc(300);</a:t>
            </a:r>
            <a:endParaRPr kumimoji="0" lang="en-US" altLang="zh-CN"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endParaRPr>
          </a:p>
          <a:p>
            <a:pPr marL="91440" marR="0" indent="-91440" defTabSz="914400" eaLnBrk="1" fontAlgn="auto" hangingPunct="1">
              <a:buClrTx/>
              <a:buSzTx/>
              <a:buFont typeface="Wingdings" panose="05000000000000000000" pitchFamily="2" charset="2"/>
              <a:buNone/>
              <a:defRPr/>
            </a:pPr>
            <a:r>
              <a:rPr kumimoji="0" lang="en-US" altLang="zh-CN"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if (cond1 &gt; 0)</a:t>
            </a:r>
            <a:endParaRPr kumimoji="0" lang="en-US" altLang="zh-CN"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endParaRPr>
          </a:p>
          <a:p>
            <a:pPr marL="91440" marR="0" indent="-91440" defTabSz="914400" eaLnBrk="1" fontAlgn="auto" hangingPunct="1">
              <a:buClrTx/>
              <a:buSzTx/>
              <a:buFont typeface="Wingdings" panose="05000000000000000000" pitchFamily="2" charset="2"/>
              <a:buNone/>
              <a:defRPr/>
            </a:pPr>
            <a:r>
              <a:rPr kumimoji="0" lang="en-US" altLang="zh-CN" kern="1200" cap="none" spc="0" normalizeH="0" baseline="0" noProof="0" dirty="0" err="1">
                <a:solidFill>
                  <a:schemeClr val="tx1">
                    <a:lumMod val="75000"/>
                    <a:lumOff val="25000"/>
                  </a:schemeClr>
                </a:solidFill>
                <a:latin typeface="华文中宋" panose="02010600040101010101" pitchFamily="2" charset="-122"/>
                <a:ea typeface="华文中宋" panose="02010600040101010101" pitchFamily="2" charset="-122"/>
                <a:cs typeface="+mn-cs"/>
              </a:rPr>
              <a:t>strcpy</a:t>
            </a:r>
            <a:r>
              <a:rPr kumimoji="0" lang="en-US" altLang="zh-CN"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(p, str);</a:t>
            </a:r>
            <a:endParaRPr kumimoji="0" lang="en-US" altLang="zh-CN"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endParaRPr>
          </a:p>
          <a:p>
            <a:pPr marL="91440" marR="0" indent="-91440" defTabSz="914400" eaLnBrk="1" fontAlgn="auto" hangingPunct="1">
              <a:buClrTx/>
              <a:buSzTx/>
              <a:buFont typeface="Wingdings" panose="05000000000000000000" pitchFamily="2" charset="2"/>
              <a:buNone/>
              <a:defRPr/>
            </a:pPr>
            <a:r>
              <a:rPr kumimoji="0" lang="en-US" altLang="zh-CN"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else return;</a:t>
            </a:r>
            <a:endParaRPr kumimoji="0" lang="en-US" altLang="zh-CN"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endParaRPr>
          </a:p>
          <a:p>
            <a:pPr marL="91440" marR="0" indent="-91440" defTabSz="914400" eaLnBrk="1" fontAlgn="auto" hangingPunct="1">
              <a:buClrTx/>
              <a:buSzTx/>
              <a:buFont typeface="Wingdings" panose="05000000000000000000" pitchFamily="2" charset="2"/>
              <a:buNone/>
              <a:defRPr/>
            </a:pPr>
            <a:r>
              <a:rPr kumimoji="0" lang="en-US" altLang="zh-CN"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free(p);</a:t>
            </a:r>
            <a:endParaRPr kumimoji="0" lang="en-US" altLang="zh-CN"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编码的风格</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5120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51204" name="文本框 14"/>
          <p:cNvSpPr txBox="1"/>
          <p:nvPr/>
        </p:nvSpPr>
        <p:spPr>
          <a:xfrm>
            <a:off x="231775" y="1366838"/>
            <a:ext cx="7632700" cy="523875"/>
          </a:xfrm>
          <a:prstGeom prst="rect">
            <a:avLst/>
          </a:prstGeom>
          <a:noFill/>
          <a:ln w="9525">
            <a:noFill/>
          </a:ln>
        </p:spPr>
        <p:txBody>
          <a:bodyPr>
            <a:spAutoFit/>
          </a:bodyPr>
          <a:p>
            <a:r>
              <a:rPr lang="zh-CN" altLang="en-US" sz="2800" dirty="0">
                <a:solidFill>
                  <a:schemeClr val="tx1"/>
                </a:solidFill>
                <a:latin typeface="华文中宋" panose="02010600040101010101" pitchFamily="2" charset="-122"/>
              </a:rPr>
              <a:t>２、源程序文档化</a:t>
            </a:r>
            <a:endParaRPr lang="zh-CN" altLang="en-US" sz="2800" dirty="0">
              <a:solidFill>
                <a:schemeClr val="tx1"/>
              </a:solidFill>
              <a:latin typeface="华文中宋" panose="02010600040101010101" pitchFamily="2" charset="-122"/>
            </a:endParaRPr>
          </a:p>
        </p:txBody>
      </p:sp>
      <p:sp>
        <p:nvSpPr>
          <p:cNvPr id="51205" name="文本框 7"/>
          <p:cNvSpPr txBox="1"/>
          <p:nvPr/>
        </p:nvSpPr>
        <p:spPr>
          <a:xfrm>
            <a:off x="-323850" y="2178050"/>
            <a:ext cx="9036050" cy="1684338"/>
          </a:xfrm>
          <a:prstGeom prst="rect">
            <a:avLst/>
          </a:prstGeom>
          <a:noFill/>
          <a:ln w="9525">
            <a:noFill/>
          </a:ln>
        </p:spPr>
        <p:txBody>
          <a:bodyPr>
            <a:spAutoFit/>
          </a:bodyPr>
          <a:p>
            <a:pPr marL="1257300" lvl="2" indent="-342900" eaLnBrk="1" hangingPunct="1">
              <a:lnSpc>
                <a:spcPct val="150000"/>
              </a:lnSpc>
              <a:buClr>
                <a:srgbClr val="3333FF"/>
              </a:buClr>
              <a:buFont typeface="Wingdings" panose="05000000000000000000" pitchFamily="2" charset="2"/>
              <a:buChar char="l"/>
            </a:pPr>
            <a:r>
              <a:rPr lang="zh-CN" altLang="en-US" b="0" dirty="0">
                <a:solidFill>
                  <a:schemeClr val="tx1"/>
                </a:solidFill>
                <a:latin typeface="宋体" panose="02010600030101010101" pitchFamily="2" charset="-122"/>
              </a:rPr>
              <a:t> 标识符的命名</a:t>
            </a:r>
            <a:endParaRPr lang="zh-CN" altLang="en-US" b="0" dirty="0">
              <a:solidFill>
                <a:schemeClr val="tx1"/>
              </a:solidFill>
              <a:latin typeface="宋体" panose="02010600030101010101" pitchFamily="2" charset="-122"/>
            </a:endParaRPr>
          </a:p>
          <a:p>
            <a:pPr marL="1257300" lvl="2" indent="-342900" eaLnBrk="1" hangingPunct="1">
              <a:lnSpc>
                <a:spcPct val="150000"/>
              </a:lnSpc>
              <a:buClr>
                <a:srgbClr val="3333FF"/>
              </a:buClr>
              <a:buFont typeface="Wingdings" panose="05000000000000000000" pitchFamily="2" charset="2"/>
              <a:buChar char="l"/>
            </a:pPr>
            <a:r>
              <a:rPr lang="zh-CN" altLang="en-US" b="0" dirty="0">
                <a:solidFill>
                  <a:schemeClr val="tx1"/>
                </a:solidFill>
                <a:latin typeface="宋体" panose="02010600030101010101" pitchFamily="2" charset="-122"/>
              </a:rPr>
              <a:t> 安排注释</a:t>
            </a:r>
            <a:endParaRPr lang="zh-CN" altLang="en-US" b="0" dirty="0">
              <a:solidFill>
                <a:schemeClr val="tx1"/>
              </a:solidFill>
              <a:latin typeface="宋体" panose="02010600030101010101" pitchFamily="2" charset="-122"/>
            </a:endParaRPr>
          </a:p>
          <a:p>
            <a:pPr marL="1257300" lvl="2" indent="-342900" eaLnBrk="1" hangingPunct="1">
              <a:lnSpc>
                <a:spcPct val="150000"/>
              </a:lnSpc>
              <a:buClr>
                <a:srgbClr val="3333FF"/>
              </a:buClr>
              <a:buFont typeface="Wingdings" panose="05000000000000000000" pitchFamily="2" charset="2"/>
              <a:buChar char="l"/>
            </a:pPr>
            <a:r>
              <a:rPr lang="zh-CN" altLang="en-US" b="0" dirty="0">
                <a:solidFill>
                  <a:schemeClr val="tx1"/>
                </a:solidFill>
                <a:latin typeface="宋体" panose="02010600030101010101" pitchFamily="2" charset="-122"/>
              </a:rPr>
              <a:t> 程序的视觉组织</a:t>
            </a:r>
            <a:endParaRPr lang="zh-CN" altLang="en-US" b="0" dirty="0">
              <a:solidFill>
                <a:schemeClr val="tx1"/>
              </a:solidFill>
              <a:latin typeface="宋体" panose="02010600030101010101" pitchFamily="2" charset="-122"/>
            </a:endParaRPr>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标识符的命名</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5325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53252" name="文本框 7"/>
          <p:cNvSpPr txBox="1"/>
          <p:nvPr/>
        </p:nvSpPr>
        <p:spPr>
          <a:xfrm>
            <a:off x="463550" y="1628775"/>
            <a:ext cx="8391525" cy="3490913"/>
          </a:xfrm>
          <a:prstGeom prst="rect">
            <a:avLst/>
          </a:prstGeom>
          <a:noFill/>
          <a:ln w="9525">
            <a:noFill/>
          </a:ln>
        </p:spPr>
        <p:txBody>
          <a:bodyPr>
            <a:spAutoFit/>
          </a:bodyPr>
          <a:p>
            <a:pPr marL="342900" indent="-342900" eaLnBrk="1" hangingPunct="1">
              <a:lnSpc>
                <a:spcPct val="150000"/>
              </a:lnSpc>
              <a:spcBef>
                <a:spcPct val="10000"/>
              </a:spcBef>
              <a:buClr>
                <a:srgbClr val="3333FF"/>
              </a:buClr>
              <a:buFont typeface="Wingdings" panose="05000000000000000000" pitchFamily="2" charset="2"/>
              <a:buChar char="l"/>
            </a:pPr>
            <a:r>
              <a:rPr lang="zh-CN" altLang="en-US" b="0" dirty="0">
                <a:solidFill>
                  <a:schemeClr val="tx1"/>
                </a:solidFill>
                <a:latin typeface="宋体" panose="02010600030101010101" pitchFamily="2" charset="-122"/>
              </a:rPr>
              <a:t>符号名即标识符，包括</a:t>
            </a:r>
            <a:r>
              <a:rPr lang="zh-CN" altLang="en-US" b="0" dirty="0">
                <a:solidFill>
                  <a:srgbClr val="C00000"/>
                </a:solidFill>
                <a:latin typeface="宋体" panose="02010600030101010101" pitchFamily="2" charset="-122"/>
              </a:rPr>
              <a:t>模块名、变量名、常量名、数据区名</a:t>
            </a:r>
            <a:r>
              <a:rPr lang="zh-CN" altLang="en-US" b="0" dirty="0">
                <a:solidFill>
                  <a:schemeClr val="tx1"/>
                </a:solidFill>
                <a:latin typeface="宋体" panose="02010600030101010101" pitchFamily="2" charset="-122"/>
              </a:rPr>
              <a:t>以及</a:t>
            </a:r>
            <a:r>
              <a:rPr lang="zh-CN" altLang="en-US" b="0" dirty="0">
                <a:solidFill>
                  <a:srgbClr val="C00000"/>
                </a:solidFill>
                <a:latin typeface="宋体" panose="02010600030101010101" pitchFamily="2" charset="-122"/>
              </a:rPr>
              <a:t>缓冲区名</a:t>
            </a:r>
            <a:r>
              <a:rPr lang="zh-CN" altLang="en-US" b="0" dirty="0">
                <a:solidFill>
                  <a:schemeClr val="tx1"/>
                </a:solidFill>
                <a:latin typeface="宋体" panose="02010600030101010101" pitchFamily="2" charset="-122"/>
              </a:rPr>
              <a:t>等</a:t>
            </a:r>
            <a:r>
              <a:rPr lang="zh-CN" altLang="en-US" dirty="0">
                <a:solidFill>
                  <a:schemeClr val="tx1"/>
                </a:solidFill>
                <a:latin typeface="宋体" panose="02010600030101010101" pitchFamily="2" charset="-122"/>
              </a:rPr>
              <a:t>。</a:t>
            </a:r>
            <a:endParaRPr lang="zh-CN" altLang="en-US" dirty="0">
              <a:solidFill>
                <a:schemeClr val="tx1"/>
              </a:solidFill>
              <a:latin typeface="宋体" panose="02010600030101010101" pitchFamily="2" charset="-122"/>
            </a:endParaRPr>
          </a:p>
          <a:p>
            <a:pPr marL="342900" indent="-342900" eaLnBrk="1" hangingPunct="1">
              <a:lnSpc>
                <a:spcPct val="150000"/>
              </a:lnSpc>
              <a:spcBef>
                <a:spcPct val="10000"/>
              </a:spcBef>
              <a:buClr>
                <a:srgbClr val="3333FF"/>
              </a:buClr>
              <a:buFont typeface="Wingdings" panose="05000000000000000000" pitchFamily="2" charset="2"/>
              <a:buChar char="l"/>
            </a:pPr>
            <a:r>
              <a:rPr lang="zh-CN" altLang="en-US" b="0" dirty="0">
                <a:solidFill>
                  <a:schemeClr val="tx1"/>
                </a:solidFill>
                <a:latin typeface="宋体" panose="02010600030101010101" pitchFamily="2" charset="-122"/>
              </a:rPr>
              <a:t>这些名字应能反映它所代表的实际东西，</a:t>
            </a:r>
            <a:r>
              <a:rPr lang="zh-CN" altLang="en-US" dirty="0">
                <a:solidFill>
                  <a:srgbClr val="C00000"/>
                </a:solidFill>
                <a:latin typeface="宋体" panose="02010600030101010101" pitchFamily="2" charset="-122"/>
              </a:rPr>
              <a:t>应有一定实际意义。</a:t>
            </a:r>
            <a:endParaRPr lang="zh-CN" altLang="en-US" dirty="0">
              <a:solidFill>
                <a:srgbClr val="C00000"/>
              </a:solidFill>
              <a:latin typeface="宋体" panose="02010600030101010101" pitchFamily="2" charset="-122"/>
            </a:endParaRPr>
          </a:p>
          <a:p>
            <a:pPr marL="342900" indent="-342900" eaLnBrk="1" hangingPunct="1">
              <a:lnSpc>
                <a:spcPct val="150000"/>
              </a:lnSpc>
              <a:spcBef>
                <a:spcPct val="10000"/>
              </a:spcBef>
              <a:buClr>
                <a:srgbClr val="3333FF"/>
              </a:buClr>
              <a:buFont typeface="Wingdings" panose="05000000000000000000" pitchFamily="2" charset="2"/>
              <a:buChar char="l"/>
            </a:pPr>
            <a:r>
              <a:rPr lang="zh-CN" altLang="en-US" b="0" dirty="0">
                <a:solidFill>
                  <a:schemeClr val="tx1"/>
                </a:solidFill>
                <a:latin typeface="宋体" panose="02010600030101010101" pitchFamily="2" charset="-122"/>
              </a:rPr>
              <a:t>例如，表示次数的量用</a:t>
            </a:r>
            <a:r>
              <a:rPr lang="en-US" altLang="zh-CN" b="0" i="1" dirty="0">
                <a:solidFill>
                  <a:schemeClr val="tx1"/>
                </a:solidFill>
                <a:latin typeface="宋体" panose="02010600030101010101" pitchFamily="2" charset="-122"/>
              </a:rPr>
              <a:t>Times</a:t>
            </a:r>
            <a:r>
              <a:rPr lang="zh-CN" altLang="en-US" b="0" dirty="0">
                <a:solidFill>
                  <a:schemeClr val="tx1"/>
                </a:solidFill>
                <a:latin typeface="宋体" panose="02010600030101010101" pitchFamily="2" charset="-122"/>
              </a:rPr>
              <a:t>，表示总量的用</a:t>
            </a:r>
            <a:r>
              <a:rPr lang="en-US" altLang="zh-CN" b="0" i="1" dirty="0">
                <a:solidFill>
                  <a:schemeClr val="tx1"/>
                </a:solidFill>
                <a:latin typeface="宋体" panose="02010600030101010101" pitchFamily="2" charset="-122"/>
              </a:rPr>
              <a:t>Total</a:t>
            </a:r>
            <a:r>
              <a:rPr lang="zh-CN" altLang="en-US" b="0" dirty="0">
                <a:solidFill>
                  <a:schemeClr val="tx1"/>
                </a:solidFill>
                <a:latin typeface="宋体" panose="02010600030101010101" pitchFamily="2" charset="-122"/>
              </a:rPr>
              <a:t>，表示平均值的用</a:t>
            </a:r>
            <a:r>
              <a:rPr lang="en-US" altLang="zh-CN" b="0" i="1" dirty="0">
                <a:solidFill>
                  <a:schemeClr val="tx1"/>
                </a:solidFill>
                <a:latin typeface="宋体" panose="02010600030101010101" pitchFamily="2" charset="-122"/>
              </a:rPr>
              <a:t>Average</a:t>
            </a:r>
            <a:r>
              <a:rPr lang="zh-CN" altLang="en-US" b="0" dirty="0">
                <a:solidFill>
                  <a:schemeClr val="tx1"/>
                </a:solidFill>
                <a:latin typeface="宋体" panose="02010600030101010101" pitchFamily="2" charset="-122"/>
              </a:rPr>
              <a:t>，表示和的量用</a:t>
            </a:r>
            <a:r>
              <a:rPr lang="en-US" altLang="zh-CN" b="0" i="1" dirty="0">
                <a:solidFill>
                  <a:schemeClr val="tx1"/>
                </a:solidFill>
                <a:latin typeface="宋体" panose="02010600030101010101" pitchFamily="2" charset="-122"/>
              </a:rPr>
              <a:t>Sum</a:t>
            </a:r>
            <a:r>
              <a:rPr lang="zh-CN" altLang="en-US" b="0" dirty="0">
                <a:solidFill>
                  <a:schemeClr val="tx1"/>
                </a:solidFill>
                <a:latin typeface="宋体" panose="02010600030101010101" pitchFamily="2" charset="-122"/>
              </a:rPr>
              <a:t>等。</a:t>
            </a:r>
            <a:endParaRPr lang="zh-CN" altLang="en-US" b="0" dirty="0">
              <a:solidFill>
                <a:schemeClr val="tx1"/>
              </a:solidFill>
              <a:latin typeface="宋体" panose="02010600030101010101" pitchFamily="2" charset="-122"/>
            </a:endParaRPr>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标识符的命名</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5529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55300" name="文本框 7"/>
          <p:cNvSpPr txBox="1"/>
          <p:nvPr/>
        </p:nvSpPr>
        <p:spPr>
          <a:xfrm>
            <a:off x="463550" y="1557338"/>
            <a:ext cx="8391525" cy="3905250"/>
          </a:xfrm>
          <a:prstGeom prst="rect">
            <a:avLst/>
          </a:prstGeom>
          <a:noFill/>
          <a:ln w="9525">
            <a:noFill/>
          </a:ln>
        </p:spPr>
        <p:txBody>
          <a:bodyPr>
            <a:spAutoFit/>
          </a:bodyPr>
          <a:p>
            <a:pPr marL="342900" indent="-342900" eaLnBrk="1" hangingPunct="1">
              <a:lnSpc>
                <a:spcPct val="150000"/>
              </a:lnSpc>
              <a:buClr>
                <a:srgbClr val="3333FF"/>
              </a:buClr>
              <a:buFont typeface="Wingdings" panose="05000000000000000000" pitchFamily="2" charset="2"/>
              <a:buChar char="l"/>
            </a:pPr>
            <a:r>
              <a:rPr lang="zh-CN" altLang="en-US" b="0" dirty="0">
                <a:solidFill>
                  <a:srgbClr val="C00000"/>
                </a:solidFill>
                <a:latin typeface="宋体" panose="02010600030101010101" pitchFamily="2" charset="-122"/>
              </a:rPr>
              <a:t>名字不是越长越好，</a:t>
            </a:r>
            <a:r>
              <a:rPr lang="zh-CN" altLang="en-US" b="0" dirty="0">
                <a:solidFill>
                  <a:schemeClr val="tx1"/>
                </a:solidFill>
                <a:latin typeface="宋体" panose="02010600030101010101" pitchFamily="2" charset="-122"/>
              </a:rPr>
              <a:t>应当选择精炼的意义明确的名字。</a:t>
            </a:r>
            <a:r>
              <a:rPr lang="zh-CN" altLang="en-US" b="0" dirty="0">
                <a:solidFill>
                  <a:srgbClr val="C00000"/>
                </a:solidFill>
                <a:latin typeface="宋体" panose="02010600030101010101" pitchFamily="2" charset="-122"/>
              </a:rPr>
              <a:t>必要时可使用缩写名字，</a:t>
            </a:r>
            <a:r>
              <a:rPr lang="zh-CN" altLang="en-US" b="0" dirty="0">
                <a:solidFill>
                  <a:schemeClr val="tx1"/>
                </a:solidFill>
                <a:latin typeface="宋体" panose="02010600030101010101" pitchFamily="2" charset="-122"/>
              </a:rPr>
              <a:t>但这时要注意缩写规则要一致，并且要</a:t>
            </a:r>
            <a:r>
              <a:rPr lang="zh-CN" altLang="en-US" b="0" dirty="0">
                <a:solidFill>
                  <a:srgbClr val="C00000"/>
                </a:solidFill>
                <a:latin typeface="宋体" panose="02010600030101010101" pitchFamily="2" charset="-122"/>
              </a:rPr>
              <a:t>给每一个名字加注释。</a:t>
            </a:r>
            <a:r>
              <a:rPr lang="zh-CN" altLang="en-US" b="0" dirty="0">
                <a:solidFill>
                  <a:schemeClr val="tx1"/>
                </a:solidFill>
                <a:latin typeface="宋体" panose="02010600030101010101" pitchFamily="2" charset="-122"/>
              </a:rPr>
              <a:t>同时，在一个程序中，一个变量只应用于一种用途。</a:t>
            </a:r>
            <a:endParaRPr lang="zh-CN" altLang="en-US" b="0" dirty="0">
              <a:solidFill>
                <a:schemeClr val="tx1"/>
              </a:solidFill>
              <a:latin typeface="宋体" panose="02010600030101010101" pitchFamily="2" charset="-122"/>
            </a:endParaRPr>
          </a:p>
          <a:p>
            <a:pPr marL="342900" indent="-342900" eaLnBrk="1" hangingPunct="1">
              <a:lnSpc>
                <a:spcPct val="150000"/>
              </a:lnSpc>
              <a:buClr>
                <a:srgbClr val="3333FF"/>
              </a:buClr>
              <a:buFont typeface="Wingdings" panose="05000000000000000000" pitchFamily="2" charset="2"/>
              <a:buChar char="l"/>
            </a:pPr>
            <a:r>
              <a:rPr lang="zh-CN" altLang="en-US" b="0" dirty="0">
                <a:solidFill>
                  <a:schemeClr val="tx1"/>
                </a:solidFill>
                <a:latin typeface="宋体" panose="02010600030101010101" pitchFamily="2" charset="-122"/>
              </a:rPr>
              <a:t> 例如，在一个程序中定义了一个变量</a:t>
            </a:r>
            <a:r>
              <a:rPr lang="en-US" altLang="zh-CN" b="0" dirty="0">
                <a:solidFill>
                  <a:srgbClr val="C00000"/>
                </a:solidFill>
                <a:latin typeface="宋体" panose="02010600030101010101" pitchFamily="2" charset="-122"/>
              </a:rPr>
              <a:t>temp</a:t>
            </a:r>
            <a:r>
              <a:rPr lang="zh-CN" altLang="en-US" b="0" dirty="0">
                <a:solidFill>
                  <a:schemeClr val="tx1"/>
                </a:solidFill>
                <a:latin typeface="宋体" panose="02010600030101010101" pitchFamily="2" charset="-122"/>
              </a:rPr>
              <a:t>，它在程序的前半段代表</a:t>
            </a:r>
            <a:r>
              <a:rPr lang="zh-CN" altLang="en-US" b="0" dirty="0">
                <a:solidFill>
                  <a:srgbClr val="C00000"/>
                </a:solidFill>
                <a:latin typeface="宋体" panose="02010600030101010101" pitchFamily="2" charset="-122"/>
              </a:rPr>
              <a:t>“</a:t>
            </a:r>
            <a:r>
              <a:rPr lang="en-US" altLang="zh-CN" b="0" dirty="0">
                <a:solidFill>
                  <a:srgbClr val="C00000"/>
                </a:solidFill>
                <a:latin typeface="宋体" panose="02010600030101010101" pitchFamily="2" charset="-122"/>
              </a:rPr>
              <a:t>Temperature”</a:t>
            </a:r>
            <a:r>
              <a:rPr lang="en-US" altLang="zh-CN" b="0" dirty="0">
                <a:solidFill>
                  <a:schemeClr val="tx1"/>
                </a:solidFill>
                <a:latin typeface="宋体" panose="02010600030101010101" pitchFamily="2" charset="-122"/>
              </a:rPr>
              <a:t>,</a:t>
            </a:r>
            <a:r>
              <a:rPr lang="zh-CN" altLang="en-US" b="0" dirty="0">
                <a:solidFill>
                  <a:schemeClr val="tx1"/>
                </a:solidFill>
                <a:latin typeface="宋体" panose="02010600030101010101" pitchFamily="2" charset="-122"/>
              </a:rPr>
              <a:t>在程序的后半段则代表</a:t>
            </a:r>
            <a:r>
              <a:rPr lang="zh-CN" altLang="en-US" b="0" dirty="0">
                <a:solidFill>
                  <a:srgbClr val="C00000"/>
                </a:solidFill>
                <a:latin typeface="宋体" panose="02010600030101010101" pitchFamily="2" charset="-122"/>
              </a:rPr>
              <a:t>“</a:t>
            </a:r>
            <a:r>
              <a:rPr lang="en-US" altLang="zh-CN" b="0" dirty="0">
                <a:solidFill>
                  <a:srgbClr val="C00000"/>
                </a:solidFill>
                <a:latin typeface="宋体" panose="02010600030101010101" pitchFamily="2" charset="-122"/>
              </a:rPr>
              <a:t>Temporary”</a:t>
            </a:r>
            <a:r>
              <a:rPr lang="zh-CN" altLang="en-US" b="0" dirty="0">
                <a:solidFill>
                  <a:schemeClr val="tx1"/>
                </a:solidFill>
                <a:latin typeface="宋体" panose="02010600030101010101" pitchFamily="2" charset="-122"/>
              </a:rPr>
              <a:t>，这使程序阅读者不知所措。</a:t>
            </a:r>
            <a:endParaRPr lang="zh-CN" altLang="en-US" b="0" dirty="0">
              <a:solidFill>
                <a:schemeClr val="tx1"/>
              </a:solidFill>
              <a:latin typeface="宋体" panose="02010600030101010101" pitchFamily="2" charset="-122"/>
            </a:endParaRPr>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标识符的命名</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57347"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6" name="内容占位符 1"/>
          <p:cNvSpPr>
            <a:spLocks noGrp="1"/>
          </p:cNvSpPr>
          <p:nvPr>
            <p:ph idx="1"/>
          </p:nvPr>
        </p:nvSpPr>
        <p:spPr>
          <a:xfrm>
            <a:off x="476250" y="1412875"/>
            <a:ext cx="7391400" cy="4746625"/>
          </a:xfrm>
        </p:spPr>
        <p:txBody>
          <a:bodyPr vert="horz" wrap="square" lIns="91440" tIns="45720" rIns="91440" bIns="45720" numCol="1" anchor="t" anchorCtr="0" compatLnSpc="1">
            <a:spAutoFit/>
          </a:bodyPr>
          <a:lstStyle/>
          <a:p>
            <a:pPr marL="91440" marR="0" lvl="0" indent="-91440" algn="just" defTabSz="914400" rtl="0" eaLnBrk="1" fontAlgn="auto" latinLnBrk="0" hangingPunct="1">
              <a:lnSpc>
                <a:spcPct val="10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rPr>
              <a:t>通用规则：</a:t>
            </a:r>
            <a:endPar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endParaRPr>
          </a:p>
          <a:p>
            <a:pPr marL="544195" marR="0" lvl="1" indent="-342900" algn="just" defTabSz="914400" rtl="0" eaLnBrk="1" fontAlgn="auto" latinLnBrk="0" hangingPunct="1">
              <a:lnSpc>
                <a:spcPct val="10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标识符的命名应当直观，可以</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rPr>
              <a:t>望文知义</a:t>
            </a:r>
            <a:r>
              <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a:t>
            </a:r>
            <a:endPar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endParaRPr>
          </a:p>
          <a:p>
            <a:pPr marL="544195" marR="0" lvl="1" indent="-342900" algn="just" defTabSz="914400" rtl="0" eaLnBrk="1" fontAlgn="auto" latinLnBrk="0" hangingPunct="1">
              <a:lnSpc>
                <a:spcPct val="10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长度符合最小长度下的最大信息。</a:t>
            </a:r>
            <a:endPar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endParaRPr>
          </a:p>
          <a:p>
            <a:pPr marL="544195" marR="0" lvl="1" indent="-342900" algn="just" defTabSz="914400" rtl="0" eaLnBrk="1" fontAlgn="auto" latinLnBrk="0" hangingPunct="1">
              <a:lnSpc>
                <a:spcPct val="10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变量名应当使用“名词”或“形容词</a:t>
            </a:r>
            <a:r>
              <a:rPr kumimoji="0" lang="en-US" altLang="zh-CN"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a:t>
            </a:r>
            <a:r>
              <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名词”</a:t>
            </a:r>
            <a:endPar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endParaRPr>
          </a:p>
          <a:p>
            <a:pPr marL="544195" marR="0" lvl="1" indent="-342900" algn="just" defTabSz="914400" rtl="0" eaLnBrk="1" fontAlgn="auto" latinLnBrk="0" hangingPunct="1">
              <a:lnSpc>
                <a:spcPct val="10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函数名应当使用“动词”或者“动词</a:t>
            </a:r>
            <a:r>
              <a:rPr kumimoji="0" lang="en-US" altLang="zh-CN"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a:t>
            </a:r>
            <a:r>
              <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名词”的形式</a:t>
            </a:r>
            <a:endPar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endParaRPr>
          </a:p>
          <a:p>
            <a:pPr marL="544195" marR="0" lvl="1" indent="-342900" algn="just" defTabSz="914400" rtl="0" eaLnBrk="1" fontAlgn="auto" latinLnBrk="0" hangingPunct="1">
              <a:lnSpc>
                <a:spcPct val="10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rPr>
              <a:t>类和接口名首字母要大写</a:t>
            </a:r>
            <a:endPar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endParaRPr>
          </a:p>
          <a:p>
            <a:pPr marL="544195" marR="0" lvl="1" indent="-342900" algn="just" defTabSz="914400" rtl="0" eaLnBrk="1" fontAlgn="auto" latinLnBrk="0" hangingPunct="1">
              <a:lnSpc>
                <a:spcPct val="10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常量名全大写，在单词间用单下划线分隔</a:t>
            </a:r>
            <a:endPar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endParaRPr>
          </a:p>
          <a:p>
            <a:pPr marL="544195" marR="0" lvl="1" indent="-342900" algn="just" defTabSz="914400" rtl="0" eaLnBrk="1" fontAlgn="auto" latinLnBrk="0" hangingPunct="1">
              <a:lnSpc>
                <a:spcPct val="10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rPr>
              <a:t>变量名和参数名第一个单词首字母小写，而后面的单词首字母大写</a:t>
            </a:r>
            <a:endPar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endParaRPr>
          </a:p>
          <a:p>
            <a:pPr marL="544195" marR="0" lvl="1" indent="-342900" algn="just" defTabSz="914400" rtl="0" eaLnBrk="1" fontAlgn="auto" latinLnBrk="0" hangingPunct="1">
              <a:lnSpc>
                <a:spcPct val="100000"/>
              </a:lnSpc>
              <a:spcBef>
                <a:spcPct val="20000"/>
              </a:spcBef>
              <a:spcAft>
                <a:spcPct val="0"/>
              </a:spcAft>
              <a:buClr>
                <a:schemeClr val="accent2"/>
              </a:buClr>
              <a:buSzPct val="70000"/>
              <a:buFont typeface="Wingdings" panose="05000000000000000000" pitchFamily="2" charset="2"/>
              <a:buChar char="l"/>
              <a:defRPr/>
            </a:pPr>
            <a:r>
              <a:rPr kumimoji="0" lang="en-US" altLang="zh-CN"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rPr>
              <a:t>…</a:t>
            </a:r>
            <a:endParaRPr kumimoji="0" lang="zh-CN" altLang="en-US" sz="24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endParaRPr>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标识符的命名</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5939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6" name="内容占位符 1"/>
          <p:cNvSpPr>
            <a:spLocks noGrp="1"/>
          </p:cNvSpPr>
          <p:nvPr>
            <p:ph idx="1"/>
          </p:nvPr>
        </p:nvSpPr>
        <p:spPr>
          <a:xfrm>
            <a:off x="454025" y="1462088"/>
            <a:ext cx="7391400" cy="4375150"/>
          </a:xfrm>
        </p:spPr>
        <p:txBody>
          <a:bodyPr vert="horz" wrap="square" lIns="91440" tIns="45720" rIns="91440" bIns="45720" numCol="1" anchor="t" anchorCtr="0" compatLnSpc="1">
            <a:spAutoFit/>
          </a:bodyPr>
          <a:lstStyle/>
          <a:p>
            <a:pPr marL="91440" marR="0" lvl="0" indent="-91440" algn="l" defTabSz="914400" rtl="0" eaLnBrk="1" fontAlgn="auto" latinLnBrk="0" hangingPunct="1">
              <a:lnSpc>
                <a:spcPts val="1500"/>
              </a:lnSpc>
              <a:spcBef>
                <a:spcPts val="1200"/>
              </a:spcBef>
              <a:spcAft>
                <a:spcPts val="200"/>
              </a:spcAft>
              <a:buClr>
                <a:srgbClr val="1CADE4"/>
              </a:buClr>
              <a:buSzPct val="100000"/>
              <a:buFont typeface="Wingdings" panose="05000000000000000000" pitchFamily="2" charset="2"/>
              <a:buNone/>
              <a:defRPr/>
            </a:pPr>
            <a:r>
              <a:rPr kumimoji="0" lang="zh-CN" altLang="en-US" sz="20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命名规则规范举例</a:t>
            </a:r>
            <a:endParaRPr kumimoji="0" lang="zh-CN" altLang="en-US" sz="20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91440" marR="0" lvl="0" indent="-91440" algn="l" defTabSz="914400" rtl="0" eaLnBrk="1" fontAlgn="auto" latinLnBrk="0" hangingPunct="1">
              <a:lnSpc>
                <a:spcPts val="1500"/>
              </a:lnSpc>
              <a:spcBef>
                <a:spcPts val="1200"/>
              </a:spcBef>
              <a:spcAft>
                <a:spcPts val="200"/>
              </a:spcAft>
              <a:buClr>
                <a:srgbClr val="1CADE4"/>
              </a:buClr>
              <a:buSzPct val="100000"/>
              <a:buFont typeface="Wingdings" panose="05000000000000000000" pitchFamily="2" charset="2"/>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rPr>
              <a:t>（</a:t>
            </a:r>
            <a:r>
              <a:rPr kumimoji="0" lang="en-US" altLang="zh-CN"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rPr>
              <a:t>1</a:t>
            </a:r>
            <a:r>
              <a:rPr kumimoji="0" lang="zh-CN" altLang="en-US"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rPr>
              <a:t>）类名和接口名</a:t>
            </a:r>
            <a:endParaRPr kumimoji="0" lang="zh-CN" altLang="en-US"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endParaRPr>
          </a:p>
          <a:p>
            <a:pPr marL="91440" marR="0" lvl="0" indent="-91440" algn="l" defTabSz="914400" rtl="0" eaLnBrk="1" fontAlgn="auto" latinLnBrk="0" hangingPunct="1">
              <a:lnSpc>
                <a:spcPts val="1500"/>
              </a:lnSpc>
              <a:spcBef>
                <a:spcPts val="1200"/>
              </a:spcBef>
              <a:spcAft>
                <a:spcPts val="200"/>
              </a:spcAft>
              <a:buClr>
                <a:srgbClr val="1CADE4"/>
              </a:buClr>
              <a:buSzPct val="100000"/>
              <a:buFont typeface="Wingdings" panose="05000000000000000000" pitchFamily="2" charset="2"/>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rPr>
              <a:t>        </a:t>
            </a:r>
            <a:r>
              <a:rPr kumimoji="0" lang="en-US" altLang="zh-CN"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rPr>
              <a:t>class </a:t>
            </a:r>
            <a:r>
              <a:rPr kumimoji="0" lang="en-US" altLang="zh-CN" sz="2000" b="0" i="0" u="none" strike="noStrike" kern="1200" cap="none" spc="0" normalizeH="0" baseline="0" noProof="0" dirty="0" err="1">
                <a:ln>
                  <a:noFill/>
                </a:ln>
                <a:solidFill>
                  <a:srgbClr val="0070C0"/>
                </a:solidFill>
                <a:effectLst/>
                <a:uLnTx/>
                <a:uFillTx/>
                <a:latin typeface="华文中宋" panose="02010600040101010101" pitchFamily="2" charset="-122"/>
                <a:ea typeface="华文中宋" panose="02010600040101010101" pitchFamily="2" charset="-122"/>
                <a:cs typeface="+mn-cs"/>
              </a:rPr>
              <a:t>C</a:t>
            </a:r>
            <a:r>
              <a:rPr kumimoji="0" lang="en-US" altLang="zh-CN" sz="2000" b="0" i="0" u="none" strike="noStrike" kern="1200" cap="none" spc="0" normalizeH="0" baseline="0" noProof="0" dirty="0" err="1">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rPr>
              <a:t>ourseOffering</a:t>
            </a:r>
            <a:r>
              <a:rPr kumimoji="0" lang="en-US" altLang="zh-CN"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rPr>
              <a:t> ;</a:t>
            </a:r>
            <a:endParaRPr kumimoji="0" lang="en-US" altLang="zh-CN"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endParaRPr>
          </a:p>
          <a:p>
            <a:pPr marL="91440" marR="0" lvl="0" indent="-91440" algn="l" defTabSz="914400" rtl="0" eaLnBrk="1" fontAlgn="auto" latinLnBrk="0" hangingPunct="1">
              <a:lnSpc>
                <a:spcPts val="1500"/>
              </a:lnSpc>
              <a:spcBef>
                <a:spcPts val="1200"/>
              </a:spcBef>
              <a:spcAft>
                <a:spcPts val="200"/>
              </a:spcAft>
              <a:buClr>
                <a:srgbClr val="1CADE4"/>
              </a:buClr>
              <a:buSzPct val="100000"/>
              <a:buFont typeface="Wingdings" panose="05000000000000000000" pitchFamily="2" charset="2"/>
              <a:buNone/>
              <a:defRPr/>
            </a:pPr>
            <a:r>
              <a:rPr kumimoji="0" lang="en-US" altLang="zh-CN"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rPr>
              <a:t>       interface  </a:t>
            </a:r>
            <a:r>
              <a:rPr kumimoji="0" lang="en-US" altLang="zh-CN" sz="2000" b="0" i="0" u="none" strike="noStrike" kern="1200" cap="none" spc="0" normalizeH="0" baseline="0" noProof="0" dirty="0">
                <a:ln>
                  <a:noFill/>
                </a:ln>
                <a:solidFill>
                  <a:srgbClr val="0070C0"/>
                </a:solidFill>
                <a:effectLst/>
                <a:uLnTx/>
                <a:uFillTx/>
                <a:latin typeface="华文中宋" panose="02010600040101010101" pitchFamily="2" charset="-122"/>
                <a:ea typeface="华文中宋" panose="02010600040101010101" pitchFamily="2" charset="-122"/>
                <a:cs typeface="+mn-cs"/>
              </a:rPr>
              <a:t>S</a:t>
            </a:r>
            <a:r>
              <a:rPr kumimoji="0" lang="en-US" altLang="zh-CN"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rPr>
              <a:t>toring;</a:t>
            </a:r>
            <a:endParaRPr kumimoji="0" lang="en-US" altLang="zh-CN"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endParaRPr>
          </a:p>
          <a:p>
            <a:pPr marL="91440" marR="0" lvl="0" indent="-91440" algn="l" defTabSz="914400" rtl="0" eaLnBrk="1" fontAlgn="auto" latinLnBrk="0" hangingPunct="1">
              <a:lnSpc>
                <a:spcPts val="1500"/>
              </a:lnSpc>
              <a:spcBef>
                <a:spcPts val="1200"/>
              </a:spcBef>
              <a:spcAft>
                <a:spcPts val="200"/>
              </a:spcAft>
              <a:buClr>
                <a:srgbClr val="1CADE4"/>
              </a:buClr>
              <a:buSzPct val="100000"/>
              <a:buFont typeface="Wingdings" panose="05000000000000000000" pitchFamily="2" charset="2"/>
              <a:buNone/>
              <a:defRPr/>
            </a:pPr>
            <a:r>
              <a:rPr kumimoji="0" lang="en-US" altLang="zh-CN"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rPr>
              <a:t>  (2) </a:t>
            </a:r>
            <a:r>
              <a:rPr kumimoji="0" lang="zh-CN" altLang="en-US"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rPr>
              <a:t>常量名</a:t>
            </a:r>
            <a:endParaRPr kumimoji="0" lang="zh-CN" altLang="en-US"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endParaRPr>
          </a:p>
          <a:p>
            <a:pPr marL="91440" marR="0" lvl="0" indent="-91440" algn="l" defTabSz="914400" rtl="0" eaLnBrk="1" fontAlgn="auto" latinLnBrk="0" hangingPunct="1">
              <a:lnSpc>
                <a:spcPts val="1500"/>
              </a:lnSpc>
              <a:spcBef>
                <a:spcPts val="1200"/>
              </a:spcBef>
              <a:spcAft>
                <a:spcPts val="200"/>
              </a:spcAft>
              <a:buClr>
                <a:srgbClr val="1CADE4"/>
              </a:buClr>
              <a:buSzPct val="100000"/>
              <a:buFont typeface="Wingdings" panose="05000000000000000000" pitchFamily="2" charset="2"/>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rPr>
              <a:t>       </a:t>
            </a:r>
            <a:r>
              <a:rPr kumimoji="0" lang="en-US" altLang="zh-CN"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rPr>
              <a:t>public static final int </a:t>
            </a:r>
            <a:r>
              <a:rPr kumimoji="0" lang="en-US" altLang="zh-CN" sz="2000" b="0" i="0" u="none" strike="noStrike" kern="1200" cap="none" spc="0" normalizeH="0" baseline="0" noProof="0" dirty="0">
                <a:ln>
                  <a:noFill/>
                </a:ln>
                <a:solidFill>
                  <a:srgbClr val="0070C0"/>
                </a:solidFill>
                <a:effectLst/>
                <a:uLnTx/>
                <a:uFillTx/>
                <a:latin typeface="华文中宋" panose="02010600040101010101" pitchFamily="2" charset="-122"/>
                <a:ea typeface="华文中宋" panose="02010600040101010101" pitchFamily="2" charset="-122"/>
                <a:cs typeface="+mn-cs"/>
              </a:rPr>
              <a:t>MAX_VALUE</a:t>
            </a:r>
            <a:r>
              <a:rPr kumimoji="0" lang="en-US" altLang="zh-CN"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rPr>
              <a:t> = 10 ;</a:t>
            </a:r>
            <a:endParaRPr kumimoji="0" lang="en-US" altLang="zh-CN"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endParaRPr>
          </a:p>
          <a:p>
            <a:pPr marL="91440" marR="0" lvl="0" indent="-91440" algn="l" defTabSz="914400" rtl="0" eaLnBrk="1" fontAlgn="auto" latinLnBrk="0" hangingPunct="1">
              <a:lnSpc>
                <a:spcPts val="1500"/>
              </a:lnSpc>
              <a:spcBef>
                <a:spcPts val="1200"/>
              </a:spcBef>
              <a:spcAft>
                <a:spcPts val="200"/>
              </a:spcAft>
              <a:buClr>
                <a:srgbClr val="1CADE4"/>
              </a:buClr>
              <a:buSzPct val="100000"/>
              <a:buFont typeface="Wingdings" panose="05000000000000000000" pitchFamily="2" charset="2"/>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rPr>
              <a:t>（</a:t>
            </a:r>
            <a:r>
              <a:rPr kumimoji="0" lang="en-US" altLang="zh-CN"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rPr>
              <a:t>3</a:t>
            </a:r>
            <a:r>
              <a:rPr kumimoji="0" lang="zh-CN" altLang="en-US"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rPr>
              <a:t>）全局变量</a:t>
            </a:r>
            <a:endParaRPr kumimoji="0" lang="zh-CN" altLang="en-US"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endParaRPr>
          </a:p>
          <a:p>
            <a:pPr marL="91440" marR="0" lvl="0" indent="-91440" algn="l" defTabSz="914400" rtl="0" eaLnBrk="1" fontAlgn="auto" latinLnBrk="0" hangingPunct="1">
              <a:lnSpc>
                <a:spcPts val="1500"/>
              </a:lnSpc>
              <a:spcBef>
                <a:spcPts val="1200"/>
              </a:spcBef>
              <a:spcAft>
                <a:spcPts val="200"/>
              </a:spcAft>
              <a:buClr>
                <a:srgbClr val="1CADE4"/>
              </a:buClr>
              <a:buSzPct val="100000"/>
              <a:buFont typeface="Wingdings" panose="05000000000000000000" pitchFamily="2" charset="2"/>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rPr>
              <a:t>         </a:t>
            </a:r>
            <a:r>
              <a:rPr kumimoji="0" lang="en-US" altLang="zh-CN"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rPr>
              <a:t>int </a:t>
            </a:r>
            <a:r>
              <a:rPr kumimoji="0" lang="en-US" altLang="zh-CN" sz="2000" b="0" i="0" u="none" strike="noStrike" kern="1200" cap="none" spc="0" normalizeH="0" baseline="0" noProof="0" dirty="0" err="1">
                <a:ln>
                  <a:noFill/>
                </a:ln>
                <a:solidFill>
                  <a:srgbClr val="0070C0"/>
                </a:solidFill>
                <a:effectLst/>
                <a:uLnTx/>
                <a:uFillTx/>
                <a:latin typeface="华文中宋" panose="02010600040101010101" pitchFamily="2" charset="-122"/>
                <a:ea typeface="华文中宋" panose="02010600040101010101" pitchFamily="2" charset="-122"/>
                <a:cs typeface="+mn-cs"/>
              </a:rPr>
              <a:t>g</a:t>
            </a:r>
            <a:r>
              <a:rPr kumimoji="0" lang="en-US" altLang="zh-CN" sz="2000" b="0" i="0" u="none" strike="noStrike" kern="1200" cap="none" spc="0" normalizeH="0" baseline="0" noProof="0" dirty="0" err="1">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rPr>
              <a:t>_numStudents</a:t>
            </a:r>
            <a:r>
              <a:rPr kumimoji="0" lang="en-US" altLang="zh-CN"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rPr>
              <a:t>;</a:t>
            </a:r>
            <a:endParaRPr kumimoji="0" lang="en-US" altLang="zh-CN" sz="2000" b="0" i="0" u="none" strike="noStrike" kern="1200" cap="none" spc="0" normalizeH="0" baseline="0" noProof="0" dirty="0">
              <a:ln>
                <a:noFill/>
              </a:ln>
              <a:solidFill>
                <a:prstClr val="black">
                  <a:lumMod val="75000"/>
                  <a:lumOff val="25000"/>
                </a:prstClr>
              </a:solidFill>
              <a:effectLst/>
              <a:uLnTx/>
              <a:uFillTx/>
              <a:latin typeface="华文中宋" panose="02010600040101010101" pitchFamily="2" charset="-122"/>
              <a:ea typeface="华文中宋" panose="02010600040101010101" pitchFamily="2" charset="-122"/>
              <a:cs typeface="+mn-cs"/>
            </a:endParaRPr>
          </a:p>
          <a:p>
            <a:pPr marL="90805" marR="0" lvl="0" indent="-90805" algn="l" defTabSz="914400" rtl="0" eaLnBrk="1" fontAlgn="base" latinLnBrk="0" hangingPunct="1">
              <a:lnSpc>
                <a:spcPts val="1500"/>
              </a:lnSpc>
              <a:spcBef>
                <a:spcPts val="1200"/>
              </a:spcBef>
              <a:spcAft>
                <a:spcPts val="200"/>
              </a:spcAft>
              <a:buClr>
                <a:srgbClr val="1CADE4"/>
              </a:buClr>
              <a:buSzPct val="100000"/>
              <a:buFont typeface="Wingdings" panose="05000000000000000000" pitchFamily="2" charset="2"/>
              <a:buNone/>
              <a:defRPr/>
            </a:pPr>
            <a:r>
              <a:rPr kumimoji="0" lang="en-US" altLang="zh-CN" sz="20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t>(4) </a:t>
            </a:r>
            <a:r>
              <a:rPr kumimoji="0" lang="zh-CN" altLang="en-US" sz="20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t>局部变量名</a:t>
            </a:r>
            <a:endParaRPr kumimoji="0" lang="zh-CN" altLang="en-US" sz="20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endParaRPr>
          </a:p>
          <a:p>
            <a:pPr marL="90805" marR="0" lvl="0" indent="-90805" algn="l" defTabSz="914400" rtl="0" eaLnBrk="1" fontAlgn="base" latinLnBrk="0" hangingPunct="1">
              <a:lnSpc>
                <a:spcPts val="1500"/>
              </a:lnSpc>
              <a:spcBef>
                <a:spcPts val="1200"/>
              </a:spcBef>
              <a:spcAft>
                <a:spcPts val="200"/>
              </a:spcAft>
              <a:buClr>
                <a:srgbClr val="1CADE4"/>
              </a:buClr>
              <a:buSzPct val="100000"/>
              <a:buFont typeface="Wingdings" panose="05000000000000000000" pitchFamily="2" charset="2"/>
              <a:buNone/>
              <a:defRPr/>
            </a:pPr>
            <a:r>
              <a:rPr kumimoji="0" lang="zh-CN" altLang="en-US" sz="20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t>      </a:t>
            </a:r>
            <a:r>
              <a:rPr kumimoji="0" lang="en-US" altLang="zh-CN" sz="20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t>float </a:t>
            </a:r>
            <a:r>
              <a:rPr kumimoji="0" lang="en-US" altLang="zh-CN" sz="2000" b="0" i="0" u="none" strike="noStrike" kern="1200" cap="none" spc="0" normalizeH="0" baseline="0" noProof="0" dirty="0" err="1">
                <a:ln>
                  <a:noFill/>
                </a:ln>
                <a:solidFill>
                  <a:srgbClr val="0070C0"/>
                </a:solidFill>
                <a:effectLst/>
                <a:uLnTx/>
                <a:uFillTx/>
                <a:latin typeface="华文中宋" panose="02010600040101010101" pitchFamily="2" charset="-122"/>
                <a:ea typeface="华文中宋" panose="02010600040101010101" pitchFamily="2" charset="-122"/>
                <a:cs typeface="+mn-cs"/>
              </a:rPr>
              <a:t>m</a:t>
            </a:r>
            <a:r>
              <a:rPr kumimoji="0" lang="en-US" altLang="zh-CN" sz="2000" b="0" i="0" u="none" strike="noStrike" kern="1200" cap="none" spc="0" normalizeH="0" baseline="0" noProof="0" dirty="0" err="1">
                <a:ln>
                  <a:noFill/>
                </a:ln>
                <a:solidFill>
                  <a:srgbClr val="404040"/>
                </a:solidFill>
                <a:effectLst/>
                <a:uLnTx/>
                <a:uFillTx/>
                <a:latin typeface="华文中宋" panose="02010600040101010101" pitchFamily="2" charset="-122"/>
                <a:ea typeface="华文中宋" panose="02010600040101010101" pitchFamily="2" charset="-122"/>
                <a:cs typeface="+mn-cs"/>
              </a:rPr>
              <a:t>yWidth</a:t>
            </a:r>
            <a:r>
              <a:rPr kumimoji="0" lang="en-US" altLang="zh-CN" sz="20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t>;</a:t>
            </a:r>
            <a:endParaRPr kumimoji="0" lang="en-US" altLang="zh-CN" sz="20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endParaRPr>
          </a:p>
          <a:p>
            <a:pPr marL="90805" marR="0" lvl="0" indent="-90805" algn="l" defTabSz="914400" rtl="0" eaLnBrk="1" fontAlgn="base" latinLnBrk="0" hangingPunct="1">
              <a:lnSpc>
                <a:spcPts val="1500"/>
              </a:lnSpc>
              <a:spcBef>
                <a:spcPts val="1200"/>
              </a:spcBef>
              <a:spcAft>
                <a:spcPts val="200"/>
              </a:spcAft>
              <a:buClr>
                <a:srgbClr val="1CADE4"/>
              </a:buClr>
              <a:buSzPct val="100000"/>
              <a:buFont typeface="Wingdings" panose="05000000000000000000" pitchFamily="2" charset="2"/>
              <a:buNone/>
              <a:defRPr/>
            </a:pPr>
            <a:r>
              <a:rPr kumimoji="0" lang="en-US" altLang="zh-CN" sz="20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     </a:t>
            </a:r>
            <a:r>
              <a:rPr kumimoji="0" lang="zh-CN" altLang="en-US" sz="20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一般禁止使用单字符变量名</a:t>
            </a:r>
            <a:r>
              <a:rPr kumimoji="0" lang="zh-CN" altLang="en-US" sz="20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t>，局部循环可以使用。</a:t>
            </a:r>
            <a:endParaRPr kumimoji="0" lang="zh-CN" altLang="en-US" sz="20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endParaRPr>
          </a:p>
          <a:p>
            <a:pPr marL="90805" marR="0" lvl="0" indent="-90805" algn="l" defTabSz="914400" rtl="0" eaLnBrk="1" fontAlgn="base" latinLnBrk="0" hangingPunct="1">
              <a:lnSpc>
                <a:spcPts val="1500"/>
              </a:lnSpc>
              <a:spcBef>
                <a:spcPts val="1200"/>
              </a:spcBef>
              <a:spcAft>
                <a:spcPts val="200"/>
              </a:spcAft>
              <a:buClr>
                <a:srgbClr val="1CADE4"/>
              </a:buClr>
              <a:buSzPct val="100000"/>
              <a:buFont typeface="Wingdings" panose="05000000000000000000" pitchFamily="2" charset="2"/>
              <a:buNone/>
              <a:defRPr/>
            </a:pPr>
            <a:r>
              <a:rPr kumimoji="0" lang="zh-CN" altLang="en-US" sz="20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t>      比如：</a:t>
            </a:r>
            <a:r>
              <a:rPr kumimoji="0" lang="en-US" altLang="zh-CN" sz="20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t>int </a:t>
            </a:r>
            <a:r>
              <a:rPr kumimoji="0" lang="en-US" altLang="zh-CN" sz="2000" b="0" i="0" u="none" strike="noStrike" kern="1200" cap="none" spc="0" normalizeH="0" baseline="0" noProof="0" dirty="0" err="1">
                <a:ln>
                  <a:noFill/>
                </a:ln>
                <a:solidFill>
                  <a:srgbClr val="404040"/>
                </a:solidFill>
                <a:effectLst/>
                <a:uLnTx/>
                <a:uFillTx/>
                <a:latin typeface="华文中宋" panose="02010600040101010101" pitchFamily="2" charset="-122"/>
                <a:ea typeface="华文中宋" panose="02010600040101010101" pitchFamily="2" charset="-122"/>
                <a:cs typeface="+mn-cs"/>
              </a:rPr>
              <a:t>i</a:t>
            </a:r>
            <a:r>
              <a:rPr kumimoji="0" lang="en-US" altLang="zh-CN" sz="20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t>, j , k ;</a:t>
            </a:r>
            <a:endParaRPr kumimoji="0" lang="en-US" altLang="zh-CN" sz="20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源程序文档化</a:t>
            </a:r>
            <a:r>
              <a:rPr kumimoji="0" lang="en-US" altLang="zh-CN"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a:t>
            </a:r>
            <a:r>
              <a:rPr kumimoji="0" lang="zh-CN" altLang="en-US" sz="2800" b="1" i="0" u="none" strike="noStrike" kern="0" cap="none" spc="0" normalizeH="0" baseline="0" noProof="0" dirty="0">
                <a:ln>
                  <a:noFill/>
                </a:ln>
                <a:solidFill>
                  <a:schemeClr val="accent2">
                    <a:lumMod val="75000"/>
                  </a:schemeClr>
                </a:solidFill>
                <a:effectLst/>
                <a:uLnTx/>
                <a:uFillTx/>
                <a:latin typeface="Times New Roman" panose="02020603050405020304" pitchFamily="18" charset="0"/>
                <a:ea typeface="华文中宋" panose="02010600040101010101" pitchFamily="2" charset="-122"/>
                <a:cs typeface="+mj-cs"/>
              </a:rPr>
              <a:t>程序的注释</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6144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61444" name="内容占位符 1"/>
          <p:cNvSpPr>
            <a:spLocks noGrp="1"/>
          </p:cNvSpPr>
          <p:nvPr>
            <p:ph idx="1"/>
          </p:nvPr>
        </p:nvSpPr>
        <p:spPr>
          <a:xfrm>
            <a:off x="755650" y="1989138"/>
            <a:ext cx="7391400" cy="3951287"/>
          </a:xfrm>
          <a:ln/>
        </p:spPr>
        <p:txBody>
          <a:bodyPr vert="horz" wrap="square" lIns="91440" tIns="45720" rIns="91440" bIns="45720" anchor="t" anchorCtr="0">
            <a:spAutoFit/>
          </a:bodyPr>
          <a:p>
            <a:pPr eaLnBrk="1" hangingPunct="1">
              <a:buClr>
                <a:srgbClr val="3333FF"/>
              </a:buClr>
              <a:buSzPct val="70000"/>
            </a:pPr>
            <a:r>
              <a:rPr lang="zh-CN" altLang="en-US" dirty="0">
                <a:latin typeface="宋体" panose="02010600030101010101" pitchFamily="2" charset="-122"/>
                <a:ea typeface="华文中宋" panose="02010600040101010101" pitchFamily="2" charset="-122"/>
                <a:cs typeface="+mn-cs"/>
              </a:rPr>
              <a:t>夹在程序中的注释是程序员与日后的程序读者之间通信的重要手段。</a:t>
            </a:r>
            <a:endParaRPr lang="zh-CN" altLang="en-US" dirty="0">
              <a:latin typeface="宋体" panose="02010600030101010101" pitchFamily="2" charset="-122"/>
              <a:ea typeface="华文中宋" panose="02010600040101010101" pitchFamily="2" charset="-122"/>
              <a:cs typeface="+mn-cs"/>
            </a:endParaRPr>
          </a:p>
          <a:p>
            <a:pPr eaLnBrk="1" hangingPunct="1">
              <a:buClr>
                <a:srgbClr val="3333FF"/>
              </a:buClr>
              <a:buSzPct val="70000"/>
            </a:pPr>
            <a:r>
              <a:rPr lang="zh-CN" altLang="en-US" dirty="0">
                <a:latin typeface="宋体" panose="02010600030101010101" pitchFamily="2" charset="-122"/>
                <a:ea typeface="华文中宋" panose="02010600040101010101" pitchFamily="2" charset="-122"/>
                <a:cs typeface="+mn-cs"/>
              </a:rPr>
              <a:t>注释决不是可有可无的。</a:t>
            </a:r>
            <a:endParaRPr lang="zh-CN" altLang="en-US" dirty="0">
              <a:latin typeface="宋体" panose="02010600030101010101" pitchFamily="2" charset="-122"/>
              <a:ea typeface="华文中宋" panose="02010600040101010101" pitchFamily="2" charset="-122"/>
              <a:cs typeface="+mn-cs"/>
            </a:endParaRPr>
          </a:p>
          <a:p>
            <a:pPr eaLnBrk="1" hangingPunct="1">
              <a:buClr>
                <a:srgbClr val="3333FF"/>
              </a:buClr>
              <a:buSzPct val="70000"/>
            </a:pPr>
            <a:r>
              <a:rPr lang="zh-CN" altLang="en-US" dirty="0">
                <a:latin typeface="宋体" panose="02010600030101010101" pitchFamily="2" charset="-122"/>
                <a:ea typeface="华文中宋" panose="02010600040101010101" pitchFamily="2" charset="-122"/>
                <a:cs typeface="+mn-cs"/>
              </a:rPr>
              <a:t>一些正规的程序文本中，注释行的数量占到整个源程序的</a:t>
            </a:r>
            <a:r>
              <a:rPr lang="en-US" altLang="zh-CN" dirty="0">
                <a:latin typeface="宋体" panose="02010600030101010101" pitchFamily="2" charset="-122"/>
                <a:ea typeface="华文中宋" panose="02010600040101010101" pitchFamily="2" charset="-122"/>
                <a:cs typeface="+mn-cs"/>
              </a:rPr>
              <a:t>1</a:t>
            </a:r>
            <a:r>
              <a:rPr lang="zh-CN" altLang="en-US" dirty="0">
                <a:latin typeface="宋体" panose="02010600030101010101" pitchFamily="2" charset="-122"/>
                <a:ea typeface="华文中宋" panose="02010600040101010101" pitchFamily="2" charset="-122"/>
                <a:cs typeface="+mn-cs"/>
              </a:rPr>
              <a:t>／</a:t>
            </a:r>
            <a:r>
              <a:rPr lang="en-US" altLang="zh-CN" dirty="0">
                <a:latin typeface="宋体" panose="02010600030101010101" pitchFamily="2" charset="-122"/>
                <a:ea typeface="华文中宋" panose="02010600040101010101" pitchFamily="2" charset="-122"/>
                <a:cs typeface="+mn-cs"/>
              </a:rPr>
              <a:t>3</a:t>
            </a:r>
            <a:r>
              <a:rPr lang="zh-CN" altLang="en-US" dirty="0">
                <a:latin typeface="宋体" panose="02010600030101010101" pitchFamily="2" charset="-122"/>
                <a:ea typeface="华文中宋" panose="02010600040101010101" pitchFamily="2" charset="-122"/>
                <a:cs typeface="+mn-cs"/>
              </a:rPr>
              <a:t>到</a:t>
            </a:r>
            <a:r>
              <a:rPr lang="en-US" altLang="zh-CN" dirty="0">
                <a:latin typeface="宋体" panose="02010600030101010101" pitchFamily="2" charset="-122"/>
                <a:ea typeface="华文中宋" panose="02010600040101010101" pitchFamily="2" charset="-122"/>
                <a:cs typeface="+mn-cs"/>
              </a:rPr>
              <a:t>1</a:t>
            </a:r>
            <a:r>
              <a:rPr lang="zh-CN" altLang="en-US" dirty="0">
                <a:latin typeface="宋体" panose="02010600030101010101" pitchFamily="2" charset="-122"/>
                <a:ea typeface="华文中宋" panose="02010600040101010101" pitchFamily="2" charset="-122"/>
                <a:cs typeface="+mn-cs"/>
              </a:rPr>
              <a:t>／</a:t>
            </a:r>
            <a:r>
              <a:rPr lang="en-US" altLang="zh-CN" dirty="0">
                <a:latin typeface="宋体" panose="02010600030101010101" pitchFamily="2" charset="-122"/>
                <a:ea typeface="华文中宋" panose="02010600040101010101" pitchFamily="2" charset="-122"/>
                <a:cs typeface="+mn-cs"/>
              </a:rPr>
              <a:t>2</a:t>
            </a:r>
            <a:r>
              <a:rPr lang="zh-CN" altLang="en-US" dirty="0">
                <a:latin typeface="宋体" panose="02010600030101010101" pitchFamily="2" charset="-122"/>
                <a:ea typeface="华文中宋" panose="02010600040101010101" pitchFamily="2" charset="-122"/>
                <a:cs typeface="+mn-cs"/>
              </a:rPr>
              <a:t>，甚至更多。</a:t>
            </a:r>
            <a:endParaRPr lang="zh-CN" altLang="en-US" dirty="0">
              <a:latin typeface="宋体" panose="02010600030101010101" pitchFamily="2" charset="-122"/>
              <a:ea typeface="华文中宋" panose="02010600040101010101" pitchFamily="2" charset="-122"/>
              <a:cs typeface="+mn-cs"/>
            </a:endParaRPr>
          </a:p>
          <a:p>
            <a:pPr eaLnBrk="1" hangingPunct="1">
              <a:buClr>
                <a:srgbClr val="3333FF"/>
              </a:buClr>
              <a:buSzPct val="70000"/>
            </a:pPr>
            <a:r>
              <a:rPr lang="zh-CN" altLang="en-US" dirty="0">
                <a:latin typeface="宋体" panose="02010600030101010101" pitchFamily="2" charset="-122"/>
                <a:ea typeface="华文中宋" panose="02010600040101010101" pitchFamily="2" charset="-122"/>
                <a:cs typeface="+mn-cs"/>
              </a:rPr>
              <a:t>注释分为</a:t>
            </a:r>
            <a:r>
              <a:rPr lang="zh-CN" altLang="en-US" dirty="0">
                <a:solidFill>
                  <a:srgbClr val="C00000"/>
                </a:solidFill>
                <a:latin typeface="宋体" panose="02010600030101010101" pitchFamily="2" charset="-122"/>
                <a:ea typeface="华文中宋" panose="02010600040101010101" pitchFamily="2" charset="-122"/>
                <a:cs typeface="+mn-cs"/>
              </a:rPr>
              <a:t>序言性注释</a:t>
            </a:r>
            <a:r>
              <a:rPr lang="zh-CN" altLang="en-US" dirty="0">
                <a:latin typeface="宋体" panose="02010600030101010101" pitchFamily="2" charset="-122"/>
                <a:ea typeface="华文中宋" panose="02010600040101010101" pitchFamily="2" charset="-122"/>
                <a:cs typeface="+mn-cs"/>
              </a:rPr>
              <a:t>和</a:t>
            </a:r>
            <a:r>
              <a:rPr lang="zh-CN" altLang="en-US" dirty="0">
                <a:solidFill>
                  <a:srgbClr val="C00000"/>
                </a:solidFill>
                <a:latin typeface="宋体" panose="02010600030101010101" pitchFamily="2" charset="-122"/>
                <a:ea typeface="华文中宋" panose="02010600040101010101" pitchFamily="2" charset="-122"/>
                <a:cs typeface="+mn-cs"/>
              </a:rPr>
              <a:t>功能性注释</a:t>
            </a:r>
            <a:r>
              <a:rPr lang="zh-CN" altLang="en-US" dirty="0">
                <a:latin typeface="宋体" panose="02010600030101010101" pitchFamily="2" charset="-122"/>
                <a:ea typeface="华文中宋" panose="02010600040101010101" pitchFamily="2" charset="-122"/>
                <a:cs typeface="+mn-cs"/>
              </a:rPr>
              <a:t>。</a:t>
            </a:r>
            <a:endParaRPr lang="zh-CN" altLang="en-US" dirty="0">
              <a:latin typeface="宋体" panose="0201060003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59397" name="文本框 7"/>
          <p:cNvSpPr txBox="1">
            <a:spLocks noChangeArrowheads="1"/>
          </p:cNvSpPr>
          <p:nvPr/>
        </p:nvSpPr>
        <p:spPr bwMode="auto">
          <a:xfrm>
            <a:off x="250825" y="1185863"/>
            <a:ext cx="7777163" cy="565150"/>
          </a:xfrm>
          <a:prstGeom prst="rect">
            <a:avLst/>
          </a:prstGeom>
          <a:noFill/>
          <a:ln>
            <a:noFill/>
          </a:ln>
        </p:spPr>
        <p:txBody>
          <a:bodyPr>
            <a:spAutoFit/>
          </a:bodyPr>
          <a:lstStyle>
            <a:lvl1pPr>
              <a:defRPr sz="2400" b="1">
                <a:solidFill>
                  <a:schemeClr val="accent2"/>
                </a:solidFill>
                <a:latin typeface="华文中宋" panose="02010600040101010101" pitchFamily="2" charset="-122"/>
                <a:ea typeface="华文中宋" panose="02010600040101010101" pitchFamily="2" charset="-122"/>
              </a:defRPr>
            </a:lvl1pPr>
            <a:lvl2pPr marL="742950" indent="-285750">
              <a:defRPr sz="2400" b="1">
                <a:solidFill>
                  <a:schemeClr val="accent2"/>
                </a:solidFill>
                <a:latin typeface="华文中宋" panose="02010600040101010101" pitchFamily="2" charset="-122"/>
                <a:ea typeface="华文中宋" panose="02010600040101010101" pitchFamily="2" charset="-122"/>
              </a:defRPr>
            </a:lvl2pPr>
            <a:lvl3pPr marL="1143000" indent="-228600">
              <a:defRPr sz="2400" b="1">
                <a:solidFill>
                  <a:schemeClr val="accent2"/>
                </a:solidFill>
                <a:latin typeface="华文中宋" panose="02010600040101010101" pitchFamily="2" charset="-122"/>
                <a:ea typeface="华文中宋" panose="02010600040101010101" pitchFamily="2" charset="-122"/>
              </a:defRPr>
            </a:lvl3pPr>
            <a:lvl4pPr marL="1600200" indent="-228600">
              <a:defRPr sz="2400" b="1">
                <a:solidFill>
                  <a:schemeClr val="accent2"/>
                </a:solidFill>
                <a:latin typeface="华文中宋" panose="02010600040101010101" pitchFamily="2" charset="-122"/>
                <a:ea typeface="华文中宋" panose="02010600040101010101" pitchFamily="2" charset="-122"/>
              </a:defRPr>
            </a:lvl4pPr>
            <a:lvl5pPr marL="2057400" indent="-22860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0" fontAlgn="base" latinLnBrk="0" hangingPunct="0">
              <a:lnSpc>
                <a:spcPct val="12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２、源程序文档化</a:t>
            </a:r>
            <a:r>
              <a:rPr kumimoji="0" lang="en-US" altLang="zh-CN"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zh-CN" altLang="en-US" sz="2800" b="1" i="0" u="none" strike="noStrike" kern="1200" cap="none" spc="0" normalizeH="0" baseline="0" noProof="0" dirty="0">
                <a:ln>
                  <a:noFill/>
                </a:ln>
                <a:solidFill>
                  <a:schemeClr val="accent2">
                    <a:lumMod val="75000"/>
                  </a:schemeClr>
                </a:solidFill>
                <a:effectLst/>
                <a:uLnTx/>
                <a:uFillTx/>
                <a:latin typeface="Times New Roman" panose="02020603050405020304" pitchFamily="18" charset="0"/>
                <a:ea typeface="华文中宋" panose="02010600040101010101" pitchFamily="2" charset="-122"/>
                <a:cs typeface="+mn-cs"/>
              </a:rPr>
              <a:t>程序的注释</a:t>
            </a:r>
            <a:endParaRPr kumimoji="0"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Times New Roman" panose="02020603050405020304" pitchFamily="18" charset="0"/>
                <a:ea typeface="华文中宋" panose="02010600040101010101" pitchFamily="2" charset="-122"/>
                <a:cs typeface="+mj-cs"/>
              </a:rPr>
              <a:t>程序的注释－－序言性注释</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6349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63492" name="内容占位符 1"/>
          <p:cNvSpPr>
            <a:spLocks noGrp="1"/>
          </p:cNvSpPr>
          <p:nvPr>
            <p:ph idx="1"/>
          </p:nvPr>
        </p:nvSpPr>
        <p:spPr>
          <a:xfrm>
            <a:off x="107950" y="1787525"/>
            <a:ext cx="8640763" cy="2178050"/>
          </a:xfrm>
          <a:ln/>
        </p:spPr>
        <p:txBody>
          <a:bodyPr vert="horz" wrap="square" lIns="91440" tIns="45720" rIns="91440" bIns="45720" anchor="t" anchorCtr="0">
            <a:spAutoFit/>
          </a:bodyPr>
          <a:p>
            <a:pPr>
              <a:buSzPct val="70000"/>
            </a:pPr>
            <a:r>
              <a:rPr lang="zh-CN" altLang="en-US" dirty="0">
                <a:latin typeface="宋体" panose="02010600030101010101" pitchFamily="2" charset="-122"/>
                <a:ea typeface="华文中宋" panose="02010600040101010101" pitchFamily="2" charset="-122"/>
                <a:cs typeface="+mn-cs"/>
              </a:rPr>
              <a:t>通常置于每个程序模块的开头部分，</a:t>
            </a:r>
            <a:r>
              <a:rPr lang="zh-CN" altLang="en-US" dirty="0">
                <a:solidFill>
                  <a:srgbClr val="C00000"/>
                </a:solidFill>
                <a:latin typeface="宋体" panose="02010600030101010101" pitchFamily="2" charset="-122"/>
                <a:ea typeface="华文中宋" panose="02010600040101010101" pitchFamily="2" charset="-122"/>
                <a:cs typeface="+mn-cs"/>
              </a:rPr>
              <a:t>它应当给出程序的整体说明</a:t>
            </a:r>
            <a:r>
              <a:rPr lang="zh-CN" altLang="en-US" dirty="0">
                <a:latin typeface="宋体" panose="02010600030101010101" pitchFamily="2" charset="-122"/>
                <a:ea typeface="华文中宋" panose="02010600040101010101" pitchFamily="2" charset="-122"/>
                <a:cs typeface="+mn-cs"/>
              </a:rPr>
              <a:t>，对于理解程序本身具有引导作用。有些软件开发部门对序言性注释做了明确而严格的规定，要求程序编制者逐项列出。</a:t>
            </a:r>
            <a:endParaRPr lang="zh-CN" altLang="en-US" dirty="0">
              <a:latin typeface="宋体" panose="0201060003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61445" name="文本框 5"/>
          <p:cNvSpPr txBox="1">
            <a:spLocks noChangeArrowheads="1"/>
          </p:cNvSpPr>
          <p:nvPr/>
        </p:nvSpPr>
        <p:spPr bwMode="auto">
          <a:xfrm>
            <a:off x="250825" y="1149350"/>
            <a:ext cx="6842125" cy="523875"/>
          </a:xfrm>
          <a:prstGeom prst="rect">
            <a:avLst/>
          </a:prstGeom>
          <a:noFill/>
          <a:ln>
            <a:noFill/>
          </a:ln>
        </p:spPr>
        <p:txBody>
          <a:bodyPr>
            <a:spAutoFit/>
          </a:bodyPr>
          <a:lstStyle>
            <a:lvl1pPr>
              <a:defRPr sz="2400" b="1">
                <a:solidFill>
                  <a:schemeClr val="accent2"/>
                </a:solidFill>
                <a:latin typeface="华文中宋" panose="02010600040101010101" pitchFamily="2" charset="-122"/>
                <a:ea typeface="华文中宋" panose="02010600040101010101" pitchFamily="2" charset="-122"/>
              </a:defRPr>
            </a:lvl1pPr>
            <a:lvl2pPr marL="742950" indent="-285750">
              <a:defRPr sz="2400" b="1">
                <a:solidFill>
                  <a:schemeClr val="accent2"/>
                </a:solidFill>
                <a:latin typeface="华文中宋" panose="02010600040101010101" pitchFamily="2" charset="-122"/>
                <a:ea typeface="华文中宋" panose="02010600040101010101" pitchFamily="2" charset="-122"/>
              </a:defRPr>
            </a:lvl2pPr>
            <a:lvl3pPr marL="1143000" indent="-228600">
              <a:defRPr sz="2400" b="1">
                <a:solidFill>
                  <a:schemeClr val="accent2"/>
                </a:solidFill>
                <a:latin typeface="华文中宋" panose="02010600040101010101" pitchFamily="2" charset="-122"/>
                <a:ea typeface="华文中宋" panose="02010600040101010101" pitchFamily="2" charset="-122"/>
              </a:defRPr>
            </a:lvl3pPr>
            <a:lvl4pPr marL="1600200" indent="-228600">
              <a:defRPr sz="2400" b="1">
                <a:solidFill>
                  <a:schemeClr val="accent2"/>
                </a:solidFill>
                <a:latin typeface="华文中宋" panose="02010600040101010101" pitchFamily="2" charset="-122"/>
                <a:ea typeface="华文中宋" panose="02010600040101010101" pitchFamily="2" charset="-122"/>
              </a:defRPr>
            </a:lvl4pPr>
            <a:lvl5pPr marL="2057400" indent="-22860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accent2">
                    <a:lumMod val="75000"/>
                  </a:schemeClr>
                </a:solidFill>
                <a:effectLst/>
                <a:uLnTx/>
                <a:uFillTx/>
                <a:latin typeface="Times New Roman" panose="02020603050405020304" pitchFamily="18" charset="0"/>
                <a:ea typeface="华文中宋" panose="02010600040101010101" pitchFamily="2" charset="-122"/>
                <a:cs typeface="+mn-cs"/>
              </a:rPr>
              <a:t>程序的注释－－序言性注释</a:t>
            </a:r>
            <a:endParaRPr kumimoji="0"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4" name="Rectangle 3"/>
          <p:cNvSpPr txBox="1">
            <a:spLocks noChangeArrowheads="1"/>
          </p:cNvSpPr>
          <p:nvPr/>
        </p:nvSpPr>
        <p:spPr bwMode="auto">
          <a:xfrm>
            <a:off x="685800" y="3549650"/>
            <a:ext cx="7772400" cy="2740025"/>
          </a:xfrm>
          <a:prstGeom prst="rect">
            <a:avLst/>
          </a:prstGeom>
          <a:noFill/>
          <a:ln>
            <a:noFill/>
          </a:ln>
        </p:spPr>
        <p:txBody>
          <a:bodyPr lIns="0" rIns="0"/>
          <a:lstStyle>
            <a:lvl1pPr marL="90805" indent="-90805" algn="l" rtl="0" fontAlgn="base">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fontAlgn="base">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fontAlgn="base">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fontAlgn="base">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fontAlgn="base">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91440" marR="0" lvl="0" indent="-91440" algn="l" defTabSz="914400" rtl="0" eaLnBrk="1" fontAlgn="auto" latinLnBrk="0" hangingPunct="1">
              <a:lnSpc>
                <a:spcPts val="1000"/>
              </a:lnSpc>
              <a:spcBef>
                <a:spcPts val="1200"/>
              </a:spcBef>
              <a:spcAft>
                <a:spcPts val="200"/>
              </a:spcAft>
              <a:buClr>
                <a:schemeClr val="accent1"/>
              </a:buClr>
              <a:buSzPct val="100000"/>
              <a:buFont typeface="Wingdings" panose="05000000000000000000" pitchFamily="2" charset="2"/>
              <a:buNone/>
              <a:defRPr/>
            </a:pPr>
            <a:r>
              <a:rPr kumimoji="0" lang="zh-CN" altLang="en-US" sz="1600" b="1" i="0" u="none" strike="noStrike" kern="1200" cap="none" spc="0" normalizeH="0" baseline="0" noProof="0" dirty="0">
                <a:ln>
                  <a:noFill/>
                </a:ln>
                <a:solidFill>
                  <a:schemeClr val="tx1">
                    <a:lumMod val="75000"/>
                    <a:lumOff val="25000"/>
                  </a:schemeClr>
                </a:solidFill>
                <a:effectLst/>
                <a:uLnTx/>
                <a:uFillTx/>
                <a:latin typeface="+mn-lt"/>
                <a:ea typeface="+mn-ea"/>
                <a:cs typeface="+mn-cs"/>
              </a:rPr>
              <a:t>程序头的注释模板</a:t>
            </a:r>
            <a:endParaRPr kumimoji="0" lang="zh-CN" altLang="en-US" sz="1600" b="1"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91440" marR="0" lvl="0" indent="-91440" algn="l" defTabSz="914400" rtl="0" eaLnBrk="1" fontAlgn="auto" latinLnBrk="0" hangingPunct="1">
              <a:lnSpc>
                <a:spcPts val="1000"/>
              </a:lnSpc>
              <a:spcBef>
                <a:spcPts val="1200"/>
              </a:spcBef>
              <a:spcAft>
                <a:spcPts val="200"/>
              </a:spcAft>
              <a:buClr>
                <a:schemeClr val="accent1"/>
              </a:buClr>
              <a:buSzPct val="100000"/>
              <a:buFont typeface="Wingdings" panose="05000000000000000000" pitchFamily="2" charset="2"/>
              <a:buNone/>
              <a:defRPr/>
            </a:pPr>
            <a:r>
              <a:rPr kumimoji="0" lang="zh-CN" altLang="en-US" sz="1600" b="1" i="0" u="none" strike="noStrike" kern="1200" cap="none" spc="0" normalizeH="0" baseline="0" noProof="0" dirty="0">
                <a:ln>
                  <a:noFill/>
                </a:ln>
                <a:solidFill>
                  <a:schemeClr val="tx1">
                    <a:lumMod val="75000"/>
                    <a:lumOff val="25000"/>
                  </a:schemeClr>
                </a:solidFill>
                <a:effectLst/>
                <a:uLnTx/>
                <a:uFillTx/>
                <a:latin typeface="+mn-lt"/>
                <a:ea typeface="+mn-ea"/>
                <a:cs typeface="+mn-cs"/>
              </a:rPr>
              <a:t>   </a:t>
            </a:r>
            <a:r>
              <a:rPr kumimoji="0" lang="en-US" altLang="zh-CN" sz="1600" b="1" i="0" u="none" strike="noStrike" kern="1200" cap="none" spc="0" normalizeH="0" baseline="0" noProof="0" dirty="0">
                <a:ln>
                  <a:noFill/>
                </a:ln>
                <a:solidFill>
                  <a:schemeClr val="tx1">
                    <a:lumMod val="75000"/>
                    <a:lumOff val="25000"/>
                  </a:schemeClr>
                </a:solidFill>
                <a:effectLst/>
                <a:uLnTx/>
                <a:uFillTx/>
                <a:latin typeface="+mn-lt"/>
                <a:ea typeface="+mn-ea"/>
                <a:cs typeface="+mn-cs"/>
              </a:rPr>
              <a:t>/**********************************************************</a:t>
            </a:r>
            <a:endParaRPr kumimoji="0" lang="en-US" altLang="zh-CN" sz="1600" b="1"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91440" marR="0" lvl="0" indent="-91440" algn="l" defTabSz="914400" rtl="0" eaLnBrk="1" fontAlgn="auto" latinLnBrk="0" hangingPunct="1">
              <a:lnSpc>
                <a:spcPts val="1000"/>
              </a:lnSpc>
              <a:spcBef>
                <a:spcPts val="1200"/>
              </a:spcBef>
              <a:spcAft>
                <a:spcPts val="200"/>
              </a:spcAft>
              <a:buClr>
                <a:schemeClr val="accent1"/>
              </a:buClr>
              <a:buSzPct val="100000"/>
              <a:buFont typeface="Wingdings" panose="05000000000000000000" pitchFamily="2" charset="2"/>
              <a:buNone/>
              <a:defRPr/>
            </a:pPr>
            <a:r>
              <a:rPr kumimoji="0" lang="en-US" altLang="zh-CN" sz="1600" b="1" i="0" u="none" strike="noStrike" kern="1200" cap="none" spc="0" normalizeH="0" baseline="0" noProof="0" dirty="0">
                <a:ln>
                  <a:noFill/>
                </a:ln>
                <a:solidFill>
                  <a:schemeClr val="tx1">
                    <a:lumMod val="75000"/>
                    <a:lumOff val="25000"/>
                  </a:schemeClr>
                </a:solidFill>
                <a:effectLst/>
                <a:uLnTx/>
                <a:uFillTx/>
                <a:latin typeface="+mn-lt"/>
                <a:ea typeface="+mn-ea"/>
                <a:cs typeface="+mn-cs"/>
              </a:rPr>
              <a:t>  </a:t>
            </a:r>
            <a:r>
              <a:rPr kumimoji="0" lang="en-US" altLang="zh-CN" sz="1800" b="1" i="0" u="none" strike="noStrike" kern="1200" cap="none" spc="0" normalizeH="0" baseline="0" noProof="0" dirty="0">
                <a:ln>
                  <a:noFill/>
                </a:ln>
                <a:solidFill>
                  <a:schemeClr val="tx1">
                    <a:lumMod val="75000"/>
                    <a:lumOff val="25000"/>
                  </a:schemeClr>
                </a:solidFill>
                <a:effectLst/>
                <a:uLnTx/>
                <a:uFillTx/>
                <a:latin typeface="+mn-lt"/>
                <a:ea typeface="+mn-ea"/>
                <a:cs typeface="+mn-cs"/>
              </a:rPr>
              <a:t>** Copyright @ 2003-2008 xxx</a:t>
            </a:r>
            <a:r>
              <a:rPr kumimoji="0" lang="zh-CN" altLang="en-US" sz="1800" b="1" i="0" u="none" strike="noStrike" kern="1200" cap="none" spc="0" normalizeH="0" baseline="0" noProof="0" dirty="0">
                <a:ln>
                  <a:noFill/>
                </a:ln>
                <a:solidFill>
                  <a:schemeClr val="tx1">
                    <a:lumMod val="75000"/>
                    <a:lumOff val="25000"/>
                  </a:schemeClr>
                </a:solidFill>
                <a:effectLst/>
                <a:uLnTx/>
                <a:uFillTx/>
                <a:latin typeface="+mn-lt"/>
                <a:ea typeface="+mn-ea"/>
                <a:cs typeface="+mn-cs"/>
              </a:rPr>
              <a:t>公司技术开发部</a:t>
            </a:r>
            <a:endParaRPr kumimoji="0" lang="zh-CN" altLang="en-US" sz="1800" b="1"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91440" marR="0" lvl="0" indent="-91440" algn="l" defTabSz="914400" rtl="0" eaLnBrk="1" fontAlgn="auto" latinLnBrk="0" hangingPunct="1">
              <a:lnSpc>
                <a:spcPts val="1000"/>
              </a:lnSpc>
              <a:spcBef>
                <a:spcPts val="1200"/>
              </a:spcBef>
              <a:spcAft>
                <a:spcPts val="200"/>
              </a:spcAft>
              <a:buClr>
                <a:schemeClr val="accent1"/>
              </a:buClr>
              <a:buSzPct val="100000"/>
              <a:buFont typeface="Wingdings" panose="05000000000000000000" pitchFamily="2" charset="2"/>
              <a:buNone/>
              <a:defRPr/>
            </a:pPr>
            <a:r>
              <a:rPr kumimoji="0" lang="zh-CN" altLang="en-US" sz="1800" b="1" i="0" u="none" strike="noStrike" kern="1200" cap="none" spc="0" normalizeH="0" baseline="0" noProof="0" dirty="0">
                <a:ln>
                  <a:noFill/>
                </a:ln>
                <a:solidFill>
                  <a:schemeClr val="tx1">
                    <a:lumMod val="75000"/>
                    <a:lumOff val="25000"/>
                  </a:schemeClr>
                </a:solidFill>
                <a:effectLst/>
                <a:uLnTx/>
                <a:uFillTx/>
                <a:latin typeface="+mn-lt"/>
                <a:ea typeface="+mn-ea"/>
                <a:cs typeface="+mn-cs"/>
              </a:rPr>
              <a:t>  ** 创建人：</a:t>
            </a:r>
            <a:r>
              <a:rPr kumimoji="0" lang="en-US" altLang="zh-CN" sz="1800" b="1" i="0" u="none" strike="noStrike" kern="1200" cap="none" spc="0" normalizeH="0" baseline="0" noProof="0" dirty="0">
                <a:ln>
                  <a:noFill/>
                </a:ln>
                <a:solidFill>
                  <a:schemeClr val="tx1">
                    <a:lumMod val="75000"/>
                    <a:lumOff val="25000"/>
                  </a:schemeClr>
                </a:solidFill>
                <a:effectLst/>
                <a:uLnTx/>
                <a:uFillTx/>
                <a:latin typeface="+mn-lt"/>
                <a:ea typeface="+mn-ea"/>
                <a:cs typeface="+mn-cs"/>
              </a:rPr>
              <a:t>xx</a:t>
            </a:r>
            <a:endParaRPr kumimoji="0" lang="en-US" altLang="zh-CN" sz="1800" b="1"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91440" marR="0" lvl="0" indent="-91440" algn="l" defTabSz="914400" rtl="0" eaLnBrk="1" fontAlgn="auto" latinLnBrk="0" hangingPunct="1">
              <a:lnSpc>
                <a:spcPts val="1000"/>
              </a:lnSpc>
              <a:spcBef>
                <a:spcPts val="1200"/>
              </a:spcBef>
              <a:spcAft>
                <a:spcPts val="200"/>
              </a:spcAft>
              <a:buClr>
                <a:schemeClr val="accent1"/>
              </a:buClr>
              <a:buSzPct val="100000"/>
              <a:buFont typeface="Wingdings" panose="05000000000000000000" pitchFamily="2" charset="2"/>
              <a:buNone/>
              <a:defRPr/>
            </a:pPr>
            <a:r>
              <a:rPr kumimoji="0" lang="en-US" altLang="zh-CN" sz="1800" b="1" i="0" u="none" strike="noStrike" kern="1200" cap="none" spc="0" normalizeH="0" baseline="0" noProof="0" dirty="0">
                <a:ln>
                  <a:noFill/>
                </a:ln>
                <a:solidFill>
                  <a:schemeClr val="tx1">
                    <a:lumMod val="75000"/>
                    <a:lumOff val="25000"/>
                  </a:schemeClr>
                </a:solidFill>
                <a:effectLst/>
                <a:uLnTx/>
                <a:uFillTx/>
                <a:latin typeface="+mn-lt"/>
                <a:ea typeface="+mn-ea"/>
                <a:cs typeface="+mn-cs"/>
              </a:rPr>
              <a:t>  ** </a:t>
            </a:r>
            <a:r>
              <a:rPr kumimoji="0" lang="zh-CN" altLang="en-US" sz="1800" b="1" i="0" u="none" strike="noStrike" kern="1200" cap="none" spc="0" normalizeH="0" baseline="0" noProof="0" dirty="0">
                <a:ln>
                  <a:noFill/>
                </a:ln>
                <a:solidFill>
                  <a:schemeClr val="tx1">
                    <a:lumMod val="75000"/>
                    <a:lumOff val="25000"/>
                  </a:schemeClr>
                </a:solidFill>
                <a:effectLst/>
                <a:uLnTx/>
                <a:uFillTx/>
                <a:latin typeface="+mn-lt"/>
                <a:ea typeface="+mn-ea"/>
                <a:cs typeface="+mn-cs"/>
              </a:rPr>
              <a:t>日期：</a:t>
            </a:r>
            <a:r>
              <a:rPr kumimoji="0" lang="en-US" altLang="zh-CN" sz="1800" b="1" i="0" u="none" strike="noStrike" kern="1200" cap="none" spc="0" normalizeH="0" baseline="0" noProof="0" dirty="0">
                <a:ln>
                  <a:noFill/>
                </a:ln>
                <a:solidFill>
                  <a:schemeClr val="tx1">
                    <a:lumMod val="75000"/>
                    <a:lumOff val="25000"/>
                  </a:schemeClr>
                </a:solidFill>
                <a:effectLst/>
                <a:uLnTx/>
                <a:uFillTx/>
                <a:latin typeface="+mn-lt"/>
                <a:ea typeface="+mn-ea"/>
                <a:cs typeface="+mn-cs"/>
              </a:rPr>
              <a:t>xxxxxxxx</a:t>
            </a:r>
            <a:endParaRPr kumimoji="0" lang="en-US" altLang="zh-CN" sz="1800" b="1"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91440" marR="0" lvl="0" indent="-91440" algn="l" defTabSz="914400" rtl="0" eaLnBrk="1" fontAlgn="auto" latinLnBrk="0" hangingPunct="1">
              <a:lnSpc>
                <a:spcPts val="1000"/>
              </a:lnSpc>
              <a:spcBef>
                <a:spcPts val="1200"/>
              </a:spcBef>
              <a:spcAft>
                <a:spcPts val="200"/>
              </a:spcAft>
              <a:buClr>
                <a:schemeClr val="accent1"/>
              </a:buClr>
              <a:buSzPct val="100000"/>
              <a:buFont typeface="Wingdings" panose="05000000000000000000" pitchFamily="2" charset="2"/>
              <a:buNone/>
              <a:defRPr/>
            </a:pPr>
            <a:r>
              <a:rPr kumimoji="0" lang="en-US" altLang="zh-CN" sz="1800" b="1" i="0" u="none" strike="noStrike" kern="1200" cap="none" spc="0" normalizeH="0" baseline="0" noProof="0" dirty="0">
                <a:ln>
                  <a:noFill/>
                </a:ln>
                <a:solidFill>
                  <a:schemeClr val="tx1">
                    <a:lumMod val="75000"/>
                    <a:lumOff val="25000"/>
                  </a:schemeClr>
                </a:solidFill>
                <a:effectLst/>
                <a:uLnTx/>
                <a:uFillTx/>
                <a:latin typeface="+mn-lt"/>
                <a:ea typeface="+mn-ea"/>
                <a:cs typeface="+mn-cs"/>
              </a:rPr>
              <a:t>  ** </a:t>
            </a:r>
            <a:r>
              <a:rPr kumimoji="0" lang="zh-CN" altLang="en-US" sz="1800" b="1" i="0" u="none" strike="noStrike" kern="1200" cap="none" spc="0" normalizeH="0" baseline="0" noProof="0" dirty="0">
                <a:ln>
                  <a:noFill/>
                </a:ln>
                <a:solidFill>
                  <a:schemeClr val="tx1">
                    <a:lumMod val="75000"/>
                    <a:lumOff val="25000"/>
                  </a:schemeClr>
                </a:solidFill>
                <a:effectLst/>
                <a:uLnTx/>
                <a:uFillTx/>
                <a:latin typeface="+mn-lt"/>
                <a:ea typeface="+mn-ea"/>
                <a:cs typeface="+mn-cs"/>
              </a:rPr>
              <a:t>修改人：</a:t>
            </a:r>
            <a:r>
              <a:rPr kumimoji="0" lang="en-US" altLang="zh-CN" sz="1800" b="1" i="0" u="none" strike="noStrike" kern="1200" cap="none" spc="0" normalizeH="0" baseline="0" noProof="0" dirty="0">
                <a:ln>
                  <a:noFill/>
                </a:ln>
                <a:solidFill>
                  <a:schemeClr val="tx1">
                    <a:lumMod val="75000"/>
                    <a:lumOff val="25000"/>
                  </a:schemeClr>
                </a:solidFill>
                <a:effectLst/>
                <a:uLnTx/>
                <a:uFillTx/>
                <a:latin typeface="+mn-lt"/>
                <a:ea typeface="+mn-ea"/>
                <a:cs typeface="+mn-cs"/>
              </a:rPr>
              <a:t>xx</a:t>
            </a:r>
            <a:endParaRPr kumimoji="0" lang="en-US" altLang="zh-CN" sz="1800" b="1"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91440" marR="0" lvl="0" indent="-91440" algn="l" defTabSz="914400" rtl="0" eaLnBrk="1" fontAlgn="auto" latinLnBrk="0" hangingPunct="1">
              <a:lnSpc>
                <a:spcPts val="1000"/>
              </a:lnSpc>
              <a:spcBef>
                <a:spcPts val="1200"/>
              </a:spcBef>
              <a:spcAft>
                <a:spcPts val="200"/>
              </a:spcAft>
              <a:buClr>
                <a:schemeClr val="accent1"/>
              </a:buClr>
              <a:buSzPct val="100000"/>
              <a:buFont typeface="Wingdings" panose="05000000000000000000" pitchFamily="2" charset="2"/>
              <a:buNone/>
              <a:defRPr/>
            </a:pPr>
            <a:r>
              <a:rPr kumimoji="0" lang="en-US" altLang="zh-CN" sz="1800" b="1" i="0" u="none" strike="noStrike" kern="1200" cap="none" spc="0" normalizeH="0" baseline="0" noProof="0" dirty="0">
                <a:ln>
                  <a:noFill/>
                </a:ln>
                <a:solidFill>
                  <a:schemeClr val="tx1">
                    <a:lumMod val="75000"/>
                    <a:lumOff val="25000"/>
                  </a:schemeClr>
                </a:solidFill>
                <a:effectLst/>
                <a:uLnTx/>
                <a:uFillTx/>
                <a:latin typeface="+mn-lt"/>
                <a:ea typeface="+mn-ea"/>
                <a:cs typeface="+mn-cs"/>
              </a:rPr>
              <a:t>  ** </a:t>
            </a:r>
            <a:r>
              <a:rPr kumimoji="0" lang="zh-CN" altLang="en-US" sz="1800" b="1" i="0" u="none" strike="noStrike" kern="1200" cap="none" spc="0" normalizeH="0" baseline="0" noProof="0" dirty="0">
                <a:ln>
                  <a:noFill/>
                </a:ln>
                <a:solidFill>
                  <a:schemeClr val="tx1">
                    <a:lumMod val="75000"/>
                    <a:lumOff val="25000"/>
                  </a:schemeClr>
                </a:solidFill>
                <a:effectLst/>
                <a:uLnTx/>
                <a:uFillTx/>
                <a:latin typeface="+mn-lt"/>
                <a:ea typeface="+mn-ea"/>
                <a:cs typeface="+mn-cs"/>
              </a:rPr>
              <a:t>日期：</a:t>
            </a:r>
            <a:r>
              <a:rPr kumimoji="0" lang="en-US" altLang="zh-CN" sz="1800" b="1" i="0" u="none" strike="noStrike" kern="1200" cap="none" spc="0" normalizeH="0" baseline="0" noProof="0" dirty="0">
                <a:ln>
                  <a:noFill/>
                </a:ln>
                <a:solidFill>
                  <a:schemeClr val="tx1">
                    <a:lumMod val="75000"/>
                    <a:lumOff val="25000"/>
                  </a:schemeClr>
                </a:solidFill>
                <a:effectLst/>
                <a:uLnTx/>
                <a:uFillTx/>
                <a:latin typeface="+mn-lt"/>
                <a:ea typeface="+mn-ea"/>
                <a:cs typeface="+mn-cs"/>
              </a:rPr>
              <a:t>xxxxxxxx</a:t>
            </a:r>
            <a:endParaRPr kumimoji="0" lang="en-US" altLang="zh-CN" sz="1800" b="1"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91440" marR="0" lvl="0" indent="-91440" algn="l" defTabSz="914400" rtl="0" eaLnBrk="1" fontAlgn="auto" latinLnBrk="0" hangingPunct="1">
              <a:lnSpc>
                <a:spcPts val="1000"/>
              </a:lnSpc>
              <a:spcBef>
                <a:spcPts val="1200"/>
              </a:spcBef>
              <a:spcAft>
                <a:spcPts val="200"/>
              </a:spcAft>
              <a:buClr>
                <a:schemeClr val="accent1"/>
              </a:buClr>
              <a:buSzPct val="100000"/>
              <a:buFont typeface="Wingdings" panose="05000000000000000000" pitchFamily="2" charset="2"/>
              <a:buNone/>
              <a:defRPr/>
            </a:pPr>
            <a:r>
              <a:rPr kumimoji="0" lang="en-US" altLang="zh-CN" sz="1800" b="1" i="0" u="none" strike="noStrike" kern="1200" cap="none" spc="0" normalizeH="0" baseline="0" noProof="0" dirty="0">
                <a:ln>
                  <a:noFill/>
                </a:ln>
                <a:solidFill>
                  <a:schemeClr val="tx1">
                    <a:lumMod val="75000"/>
                    <a:lumOff val="25000"/>
                  </a:schemeClr>
                </a:solidFill>
                <a:effectLst/>
                <a:uLnTx/>
                <a:uFillTx/>
                <a:latin typeface="+mn-lt"/>
                <a:ea typeface="+mn-ea"/>
                <a:cs typeface="+mn-cs"/>
              </a:rPr>
              <a:t>  **  </a:t>
            </a:r>
            <a:r>
              <a:rPr kumimoji="0" lang="zh-CN" altLang="en-US" sz="1800" b="1" i="0" u="none" strike="noStrike" kern="1200" cap="none" spc="0" normalizeH="0" baseline="0" noProof="0" dirty="0">
                <a:ln>
                  <a:noFill/>
                </a:ln>
                <a:solidFill>
                  <a:schemeClr val="tx1">
                    <a:lumMod val="75000"/>
                    <a:lumOff val="25000"/>
                  </a:schemeClr>
                </a:solidFill>
                <a:effectLst/>
                <a:uLnTx/>
                <a:uFillTx/>
                <a:latin typeface="+mn-lt"/>
                <a:ea typeface="+mn-ea"/>
                <a:cs typeface="+mn-cs"/>
              </a:rPr>
              <a:t>描述：</a:t>
            </a:r>
            <a:endParaRPr kumimoji="0" lang="zh-CN" altLang="en-US" sz="1800" b="1"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91440" marR="0" lvl="0" indent="-91440" algn="l" defTabSz="914400" rtl="0" eaLnBrk="1" fontAlgn="auto" latinLnBrk="0" hangingPunct="1">
              <a:lnSpc>
                <a:spcPts val="1000"/>
              </a:lnSpc>
              <a:spcBef>
                <a:spcPts val="1200"/>
              </a:spcBef>
              <a:spcAft>
                <a:spcPts val="200"/>
              </a:spcAft>
              <a:buClr>
                <a:schemeClr val="accent1"/>
              </a:buClr>
              <a:buSzPct val="100000"/>
              <a:buFont typeface="Wingdings" panose="05000000000000000000" pitchFamily="2" charset="2"/>
              <a:buNone/>
              <a:defRPr/>
            </a:pPr>
            <a:r>
              <a:rPr kumimoji="0" lang="zh-CN" altLang="en-US" sz="1800" b="1" i="0" u="none" strike="noStrike" kern="1200" cap="none" spc="0" normalizeH="0" baseline="0" noProof="0" dirty="0">
                <a:ln>
                  <a:noFill/>
                </a:ln>
                <a:solidFill>
                  <a:schemeClr val="tx1">
                    <a:lumMod val="75000"/>
                    <a:lumOff val="25000"/>
                  </a:schemeClr>
                </a:solidFill>
                <a:effectLst/>
                <a:uLnTx/>
                <a:uFillTx/>
                <a:latin typeface="+mn-lt"/>
                <a:ea typeface="+mn-ea"/>
                <a:cs typeface="+mn-cs"/>
              </a:rPr>
              <a:t>  ** 版本：</a:t>
            </a:r>
            <a:endParaRPr kumimoji="0" lang="zh-CN" altLang="en-US" sz="1800" b="1"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a:p>
            <a:pPr marL="91440" marR="0" lvl="0" indent="-91440" algn="l" defTabSz="914400" rtl="0" eaLnBrk="1" fontAlgn="auto" latinLnBrk="0" hangingPunct="1">
              <a:lnSpc>
                <a:spcPts val="1000"/>
              </a:lnSpc>
              <a:spcBef>
                <a:spcPts val="1200"/>
              </a:spcBef>
              <a:spcAft>
                <a:spcPts val="200"/>
              </a:spcAft>
              <a:buClr>
                <a:schemeClr val="accent1"/>
              </a:buClr>
              <a:buSzPct val="100000"/>
              <a:buFont typeface="Wingdings" panose="05000000000000000000" pitchFamily="2" charset="2"/>
              <a:buNone/>
              <a:defRPr/>
            </a:pPr>
            <a:r>
              <a:rPr kumimoji="0" lang="zh-CN" altLang="en-US" sz="1600" b="1" i="0" u="none" strike="noStrike" kern="1200" cap="none" spc="0" normalizeH="0" baseline="0" noProof="0" dirty="0">
                <a:ln>
                  <a:noFill/>
                </a:ln>
                <a:solidFill>
                  <a:schemeClr val="tx1">
                    <a:lumMod val="75000"/>
                    <a:lumOff val="25000"/>
                  </a:schemeClr>
                </a:solidFill>
                <a:effectLst/>
                <a:uLnTx/>
                <a:uFillTx/>
                <a:latin typeface="+mn-lt"/>
                <a:ea typeface="+mn-ea"/>
                <a:cs typeface="+mn-cs"/>
              </a:rPr>
              <a:t>  *************************************************************</a:t>
            </a:r>
            <a:r>
              <a:rPr kumimoji="0" lang="en-US" altLang="zh-CN" sz="1600" b="1" i="0" u="none" strike="noStrike" kern="1200" cap="none" spc="0" normalizeH="0" baseline="0" noProof="0" dirty="0">
                <a:ln>
                  <a:noFill/>
                </a:ln>
                <a:solidFill>
                  <a:schemeClr val="tx1">
                    <a:lumMod val="75000"/>
                    <a:lumOff val="25000"/>
                  </a:schemeClr>
                </a:solidFill>
                <a:effectLst/>
                <a:uLnTx/>
                <a:uFillTx/>
                <a:latin typeface="+mn-lt"/>
                <a:ea typeface="+mn-ea"/>
                <a:cs typeface="+mn-cs"/>
              </a:rPr>
              <a:t>/</a:t>
            </a:r>
            <a:endParaRPr kumimoji="0" lang="en-US" altLang="zh-CN" sz="1600" b="1"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Times New Roman" panose="02020603050405020304" pitchFamily="18" charset="0"/>
                <a:ea typeface="华文中宋" panose="02010600040101010101" pitchFamily="2" charset="-122"/>
                <a:cs typeface="+mj-cs"/>
              </a:rPr>
              <a:t>程序的注释－－序言性注释</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6553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2" name="内容占位符 1"/>
          <p:cNvSpPr>
            <a:spLocks noGrp="1"/>
          </p:cNvSpPr>
          <p:nvPr>
            <p:ph idx="1"/>
          </p:nvPr>
        </p:nvSpPr>
        <p:spPr>
          <a:xfrm>
            <a:off x="444500" y="1052513"/>
            <a:ext cx="8375650" cy="1233488"/>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800" b="0" i="0" u="none" strike="noStrike" kern="0" cap="none" spc="0" normalizeH="0" baseline="0" noProof="0" dirty="0">
                <a:ln>
                  <a:noFill/>
                </a:ln>
                <a:solidFill>
                  <a:schemeClr val="tx1">
                    <a:lumMod val="75000"/>
                    <a:lumOff val="25000"/>
                  </a:schemeClr>
                </a:solidFill>
                <a:effectLst/>
                <a:uLnTx/>
                <a:uFillTx/>
                <a:latin typeface="华文中宋" panose="02010600040101010101" pitchFamily="2" charset="-122"/>
                <a:ea typeface="华文中宋" panose="02010600040101010101" pitchFamily="2" charset="-122"/>
                <a:cs typeface="+mn-cs"/>
              </a:rPr>
              <a:t>一个描述程序开头的功能及其他程序接口的例子</a:t>
            </a:r>
            <a:endParaRPr kumimoji="0" lang="zh-CN" altLang="en-US" sz="28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8" name="Rectangle 3"/>
          <p:cNvSpPr txBox="1">
            <a:spLocks noChangeArrowheads="1"/>
          </p:cNvSpPr>
          <p:nvPr/>
        </p:nvSpPr>
        <p:spPr bwMode="auto">
          <a:xfrm>
            <a:off x="563563" y="1735138"/>
            <a:ext cx="8061325" cy="4611688"/>
          </a:xfrm>
          <a:prstGeom prst="rect">
            <a:avLst/>
          </a:prstGeom>
          <a:noFill/>
          <a:ln>
            <a:noFill/>
          </a:ln>
        </p:spPr>
        <p:txBody>
          <a:bodyPr lIns="0" rIns="0">
            <a:normAutofit fontScale="85000" lnSpcReduction="20000"/>
          </a:bodyPr>
          <a:lst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91440" marR="0" lvl="0" indent="-91440" algn="l" defTabSz="914400" rtl="0" eaLnBrk="1" fontAlgn="auto" latinLnBrk="0" hangingPunct="1">
              <a:lnSpc>
                <a:spcPct val="80000"/>
              </a:lnSpc>
              <a:spcBef>
                <a:spcPts val="1200"/>
              </a:spcBef>
              <a:spcAft>
                <a:spcPts val="200"/>
              </a:spcAft>
              <a:buClr>
                <a:srgbClr val="1CADE4"/>
              </a:buClr>
              <a:buSzPct val="100000"/>
              <a:buFont typeface="Wingdings" panose="05000000000000000000" pitchFamily="2" charset="2"/>
              <a:buNone/>
              <a:defRPr/>
            </a:pPr>
            <a:r>
              <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a:t>
            </a:r>
            <a:endPar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endParaRPr>
          </a:p>
          <a:p>
            <a:pPr marL="91440" marR="0" lvl="0" indent="-91440" algn="l" defTabSz="914400" rtl="0" eaLnBrk="1" fontAlgn="auto" latinLnBrk="0" hangingPunct="1">
              <a:lnSpc>
                <a:spcPct val="80000"/>
              </a:lnSpc>
              <a:spcBef>
                <a:spcPts val="1200"/>
              </a:spcBef>
              <a:spcAft>
                <a:spcPts val="200"/>
              </a:spcAft>
              <a:buClr>
                <a:srgbClr val="1CADE4"/>
              </a:buClr>
              <a:buSzPct val="100000"/>
              <a:buFont typeface="Wingdings" panose="05000000000000000000" pitchFamily="2" charset="2"/>
              <a:buNone/>
              <a:defRPr/>
            </a:pPr>
            <a:r>
              <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  </a:t>
            </a:r>
            <a:r>
              <a:rPr kumimoji="0" lang="zh-CN" altLang="en-US"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模块功能：寻找两条直线的交点。                                	**</a:t>
            </a:r>
            <a:endParaRPr kumimoji="0" lang="zh-CN" altLang="en-US"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endParaRPr>
          </a:p>
          <a:p>
            <a:pPr marL="91440" marR="0" lvl="0" indent="-91440" algn="l" defTabSz="914400" rtl="0" eaLnBrk="1" fontAlgn="auto" latinLnBrk="0" hangingPunct="1">
              <a:lnSpc>
                <a:spcPct val="80000"/>
              </a:lnSpc>
              <a:spcBef>
                <a:spcPts val="1200"/>
              </a:spcBef>
              <a:spcAft>
                <a:spcPts val="200"/>
              </a:spcAft>
              <a:buClr>
                <a:srgbClr val="1CADE4"/>
              </a:buClr>
              <a:buSzPct val="100000"/>
              <a:buFont typeface="Wingdings" panose="05000000000000000000" pitchFamily="2" charset="2"/>
              <a:buNone/>
              <a:defRPr/>
            </a:pPr>
            <a:r>
              <a:rPr kumimoji="0" lang="zh-CN" altLang="en-US"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 模块名称：</a:t>
            </a:r>
            <a:r>
              <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FindDPT                                                              	 **</a:t>
            </a:r>
            <a:endPar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endParaRPr>
          </a:p>
          <a:p>
            <a:pPr marL="91440" marR="0" lvl="0" indent="-91440" algn="l" defTabSz="914400" rtl="0" eaLnBrk="1" fontAlgn="auto" latinLnBrk="0" hangingPunct="1">
              <a:lnSpc>
                <a:spcPct val="80000"/>
              </a:lnSpc>
              <a:spcBef>
                <a:spcPts val="1200"/>
              </a:spcBef>
              <a:spcAft>
                <a:spcPts val="200"/>
              </a:spcAft>
              <a:buClr>
                <a:srgbClr val="1CADE4"/>
              </a:buClr>
              <a:buSzPct val="100000"/>
              <a:buFont typeface="Wingdings" panose="05000000000000000000" pitchFamily="2" charset="2"/>
              <a:buNone/>
              <a:defRPr/>
            </a:pPr>
            <a:r>
              <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 </a:t>
            </a:r>
            <a:r>
              <a:rPr kumimoji="0" lang="zh-CN" altLang="en-US"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代码编写者：张青　　　　　　　　　　　　　　  	 **</a:t>
            </a:r>
            <a:endParaRPr kumimoji="0" lang="zh-CN" altLang="en-US"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endParaRPr>
          </a:p>
          <a:p>
            <a:pPr marL="91440" marR="0" lvl="0" indent="-91440" algn="l" defTabSz="914400" rtl="0" eaLnBrk="1" fontAlgn="auto" latinLnBrk="0" hangingPunct="1">
              <a:lnSpc>
                <a:spcPct val="80000"/>
              </a:lnSpc>
              <a:spcBef>
                <a:spcPts val="1200"/>
              </a:spcBef>
              <a:spcAft>
                <a:spcPts val="200"/>
              </a:spcAft>
              <a:buClr>
                <a:srgbClr val="1CADE4"/>
              </a:buClr>
              <a:buSzPct val="100000"/>
              <a:buFont typeface="Wingdings" panose="05000000000000000000" pitchFamily="2" charset="2"/>
              <a:buNone/>
              <a:defRPr/>
            </a:pPr>
            <a:r>
              <a:rPr kumimoji="0" lang="zh-CN" altLang="en-US"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 版本：</a:t>
            </a:r>
            <a:r>
              <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1.1                                                                                	 **</a:t>
            </a:r>
            <a:endPar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endParaRPr>
          </a:p>
          <a:p>
            <a:pPr marL="91440" marR="0" lvl="0" indent="-91440" algn="l" defTabSz="914400" rtl="0" eaLnBrk="1" fontAlgn="auto" latinLnBrk="0" hangingPunct="1">
              <a:lnSpc>
                <a:spcPct val="80000"/>
              </a:lnSpc>
              <a:spcBef>
                <a:spcPts val="1200"/>
              </a:spcBef>
              <a:spcAft>
                <a:spcPts val="200"/>
              </a:spcAft>
              <a:buClr>
                <a:srgbClr val="1CADE4"/>
              </a:buClr>
              <a:buSzPct val="100000"/>
              <a:buFont typeface="Wingdings" panose="05000000000000000000" pitchFamily="2" charset="2"/>
              <a:buNone/>
              <a:defRPr/>
            </a:pPr>
            <a:r>
              <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 </a:t>
            </a:r>
            <a:r>
              <a:rPr kumimoji="0" lang="zh-CN" altLang="en-US"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日期：</a:t>
            </a:r>
            <a:r>
              <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2006.10.12                                                                    	**</a:t>
            </a:r>
            <a:endPar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endParaRPr>
          </a:p>
          <a:p>
            <a:pPr marL="91440" marR="0" lvl="0" indent="-91440" algn="l" defTabSz="914400" rtl="0" eaLnBrk="1" fontAlgn="auto" latinLnBrk="0" hangingPunct="1">
              <a:lnSpc>
                <a:spcPct val="80000"/>
              </a:lnSpc>
              <a:spcBef>
                <a:spcPts val="1200"/>
              </a:spcBef>
              <a:spcAft>
                <a:spcPts val="200"/>
              </a:spcAft>
              <a:buClr>
                <a:srgbClr val="1CADE4"/>
              </a:buClr>
              <a:buSzPct val="100000"/>
              <a:buFont typeface="Wingdings" panose="05000000000000000000" pitchFamily="2" charset="2"/>
              <a:buNone/>
              <a:defRPr/>
            </a:pPr>
            <a:r>
              <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                                                                                                    	**</a:t>
            </a:r>
            <a:endPar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endParaRPr>
          </a:p>
          <a:p>
            <a:pPr marL="91440" marR="0" lvl="0" indent="-91440" algn="l" defTabSz="914400" rtl="0" eaLnBrk="1" fontAlgn="auto" latinLnBrk="0" hangingPunct="1">
              <a:lnSpc>
                <a:spcPct val="80000"/>
              </a:lnSpc>
              <a:spcBef>
                <a:spcPts val="1200"/>
              </a:spcBef>
              <a:spcAft>
                <a:spcPts val="200"/>
              </a:spcAft>
              <a:buClr>
                <a:srgbClr val="1CADE4"/>
              </a:buClr>
              <a:buSzPct val="100000"/>
              <a:buFont typeface="Wingdings" panose="05000000000000000000" pitchFamily="2" charset="2"/>
              <a:buNone/>
              <a:defRPr/>
            </a:pPr>
            <a:r>
              <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  </a:t>
            </a:r>
            <a:r>
              <a:rPr kumimoji="0" lang="zh-CN" altLang="en-US"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过程调用：</a:t>
            </a:r>
            <a:r>
              <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Call FindDPT( A1,B1,C1,A2,B2,C2,XS,YS,Flag) 	**</a:t>
            </a:r>
            <a:endPar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endParaRPr>
          </a:p>
          <a:p>
            <a:pPr marL="91440" marR="0" lvl="0" indent="-91440" algn="l" defTabSz="914400" rtl="0" eaLnBrk="1" fontAlgn="auto" latinLnBrk="0" hangingPunct="1">
              <a:lnSpc>
                <a:spcPct val="80000"/>
              </a:lnSpc>
              <a:spcBef>
                <a:spcPts val="1200"/>
              </a:spcBef>
              <a:spcAft>
                <a:spcPts val="200"/>
              </a:spcAft>
              <a:buClr>
                <a:srgbClr val="1CADE4"/>
              </a:buClr>
              <a:buSzPct val="100000"/>
              <a:buFont typeface="Wingdings" panose="05000000000000000000" pitchFamily="2" charset="2"/>
              <a:buNone/>
              <a:defRPr/>
            </a:pPr>
            <a:r>
              <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  </a:t>
            </a:r>
            <a:r>
              <a:rPr kumimoji="0" lang="zh-CN" altLang="en-US"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输入参数：</a:t>
            </a:r>
            <a:r>
              <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A1,B1,C1,A2,B2,C2                                             	**</a:t>
            </a:r>
            <a:endPar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endParaRPr>
          </a:p>
          <a:p>
            <a:pPr marL="91440" marR="0" lvl="0" indent="-91440" algn="l" defTabSz="914400" rtl="0" eaLnBrk="1" fontAlgn="auto" latinLnBrk="0" hangingPunct="1">
              <a:lnSpc>
                <a:spcPct val="80000"/>
              </a:lnSpc>
              <a:spcBef>
                <a:spcPts val="1200"/>
              </a:spcBef>
              <a:spcAft>
                <a:spcPts val="200"/>
              </a:spcAft>
              <a:buClr>
                <a:srgbClr val="1CADE4"/>
              </a:buClr>
              <a:buSzPct val="100000"/>
              <a:buFont typeface="Wingdings" panose="05000000000000000000" pitchFamily="2" charset="2"/>
              <a:buNone/>
              <a:defRPr/>
            </a:pPr>
            <a:r>
              <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                        </a:t>
            </a:r>
            <a:r>
              <a:rPr kumimoji="0" lang="zh-CN" altLang="en-US"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（直线一：</a:t>
            </a:r>
            <a:r>
              <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A1*X+B1*Y+C1=0                          	**</a:t>
            </a:r>
            <a:endPar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endParaRPr>
          </a:p>
          <a:p>
            <a:pPr marL="91440" marR="0" lvl="0" indent="-91440" algn="l" defTabSz="914400" rtl="0" eaLnBrk="1" fontAlgn="auto" latinLnBrk="0" hangingPunct="1">
              <a:lnSpc>
                <a:spcPct val="80000"/>
              </a:lnSpc>
              <a:spcBef>
                <a:spcPts val="1200"/>
              </a:spcBef>
              <a:spcAft>
                <a:spcPts val="200"/>
              </a:spcAft>
              <a:buClr>
                <a:srgbClr val="1CADE4"/>
              </a:buClr>
              <a:buSzPct val="100000"/>
              <a:buFont typeface="Wingdings" panose="05000000000000000000" pitchFamily="2" charset="2"/>
              <a:buNone/>
              <a:defRPr/>
            </a:pPr>
            <a:r>
              <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                             </a:t>
            </a:r>
            <a:r>
              <a:rPr kumimoji="0" lang="zh-CN" altLang="en-US"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直线二：</a:t>
            </a:r>
            <a:r>
              <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A2*X+B2*Y+C2=0)                        	** </a:t>
            </a:r>
            <a:endPar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endParaRPr>
          </a:p>
          <a:p>
            <a:pPr marL="91440" marR="0" lvl="0" indent="-91440" algn="l" defTabSz="914400" rtl="0" eaLnBrk="1" fontAlgn="auto" latinLnBrk="0" hangingPunct="1">
              <a:lnSpc>
                <a:spcPct val="80000"/>
              </a:lnSpc>
              <a:spcBef>
                <a:spcPts val="1200"/>
              </a:spcBef>
              <a:spcAft>
                <a:spcPts val="200"/>
              </a:spcAft>
              <a:buClr>
                <a:srgbClr val="1CADE4"/>
              </a:buClr>
              <a:buSzPct val="100000"/>
              <a:buFont typeface="Wingdings" panose="05000000000000000000" pitchFamily="2" charset="2"/>
              <a:buNone/>
              <a:defRPr/>
            </a:pPr>
            <a:r>
              <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  </a:t>
            </a:r>
            <a:r>
              <a:rPr kumimoji="0" lang="zh-CN" altLang="en-US"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输出参数：如果两条直线平行，</a:t>
            </a:r>
            <a:r>
              <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Flag=1,</a:t>
            </a:r>
            <a:r>
              <a:rPr kumimoji="0" lang="zh-CN" altLang="en-US"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否则</a:t>
            </a:r>
            <a:r>
              <a:rPr kumimoji="0" lang="en-US" altLang="zh-CN"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Flag=0</a:t>
            </a:r>
            <a:r>
              <a:rPr kumimoji="0" lang="zh-CN" altLang="en-US"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并且	**</a:t>
            </a:r>
            <a:endParaRPr kumimoji="0" lang="zh-CN" altLang="en-US"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endParaRPr>
          </a:p>
          <a:p>
            <a:pPr marL="91440" marR="0" lvl="0" indent="-91440" algn="l" defTabSz="914400" rtl="0" eaLnBrk="1" fontAlgn="auto" latinLnBrk="0" hangingPunct="1">
              <a:lnSpc>
                <a:spcPct val="80000"/>
              </a:lnSpc>
              <a:spcBef>
                <a:spcPts val="1200"/>
              </a:spcBef>
              <a:spcAft>
                <a:spcPts val="200"/>
              </a:spcAft>
              <a:buClr>
                <a:srgbClr val="1CADE4"/>
              </a:buClr>
              <a:buSzPct val="100000"/>
              <a:buFont typeface="Wingdings" panose="05000000000000000000" pitchFamily="2" charset="2"/>
              <a:buNone/>
              <a:defRPr/>
            </a:pPr>
            <a:r>
              <a:rPr kumimoji="0" lang="zh-CN" altLang="en-US"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a:ea typeface="+mn-ea"/>
                <a:cs typeface="+mn-cs"/>
              </a:rPr>
              <a:t>**                        两条直线的交点是（ｘｓ，ｙｓ）      </a:t>
            </a:r>
            <a:endPar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a:ea typeface="+mn-ea"/>
              <a:cs typeface="+mn-cs"/>
            </a:endParaRPr>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Times New Roman" panose="02020603050405020304" pitchFamily="18" charset="0"/>
                <a:ea typeface="华文中宋" panose="02010600040101010101" pitchFamily="2" charset="-122"/>
                <a:cs typeface="+mj-cs"/>
              </a:rPr>
              <a:t>程序的注释－－序言性注释</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67587"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65540" name="文本框 5"/>
          <p:cNvSpPr txBox="1">
            <a:spLocks noChangeArrowheads="1"/>
          </p:cNvSpPr>
          <p:nvPr/>
        </p:nvSpPr>
        <p:spPr bwMode="auto">
          <a:xfrm>
            <a:off x="609600" y="1149350"/>
            <a:ext cx="6842125" cy="523875"/>
          </a:xfrm>
          <a:prstGeom prst="rect">
            <a:avLst/>
          </a:prstGeom>
          <a:noFill/>
          <a:ln>
            <a:noFill/>
          </a:ln>
        </p:spPr>
        <p:txBody>
          <a:bodyPr>
            <a:spAutoFit/>
          </a:bodyPr>
          <a:lstStyle>
            <a:lvl1pPr>
              <a:defRPr sz="2400" b="1">
                <a:solidFill>
                  <a:schemeClr val="accent2"/>
                </a:solidFill>
                <a:latin typeface="华文中宋" panose="02010600040101010101" pitchFamily="2" charset="-122"/>
                <a:ea typeface="华文中宋" panose="02010600040101010101" pitchFamily="2" charset="-122"/>
              </a:defRPr>
            </a:lvl1pPr>
            <a:lvl2pPr marL="742950" indent="-285750">
              <a:defRPr sz="2400" b="1">
                <a:solidFill>
                  <a:schemeClr val="accent2"/>
                </a:solidFill>
                <a:latin typeface="华文中宋" panose="02010600040101010101" pitchFamily="2" charset="-122"/>
                <a:ea typeface="华文中宋" panose="02010600040101010101" pitchFamily="2" charset="-122"/>
              </a:defRPr>
            </a:lvl2pPr>
            <a:lvl3pPr marL="1143000" indent="-228600">
              <a:defRPr sz="2400" b="1">
                <a:solidFill>
                  <a:schemeClr val="accent2"/>
                </a:solidFill>
                <a:latin typeface="华文中宋" panose="02010600040101010101" pitchFamily="2" charset="-122"/>
                <a:ea typeface="华文中宋" panose="02010600040101010101" pitchFamily="2" charset="-122"/>
              </a:defRPr>
            </a:lvl3pPr>
            <a:lvl4pPr marL="1600200" indent="-228600">
              <a:defRPr sz="2400" b="1">
                <a:solidFill>
                  <a:schemeClr val="accent2"/>
                </a:solidFill>
                <a:latin typeface="华文中宋" panose="02010600040101010101" pitchFamily="2" charset="-122"/>
                <a:ea typeface="华文中宋" panose="02010600040101010101" pitchFamily="2" charset="-122"/>
              </a:defRPr>
            </a:lvl4pPr>
            <a:lvl5pPr marL="2057400" indent="-22860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accent2">
                    <a:lumMod val="75000"/>
                  </a:schemeClr>
                </a:solidFill>
                <a:effectLst/>
                <a:uLnTx/>
                <a:uFillTx/>
                <a:latin typeface="Times New Roman" panose="02020603050405020304" pitchFamily="18" charset="0"/>
                <a:ea typeface="华文中宋" panose="02010600040101010101" pitchFamily="2" charset="-122"/>
                <a:cs typeface="+mn-cs"/>
              </a:rPr>
              <a:t>程序的注释－－功能性注释</a:t>
            </a:r>
            <a:endParaRPr kumimoji="0"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65541" name="Rectangle 3"/>
          <p:cNvSpPr txBox="1">
            <a:spLocks noChangeArrowheads="1"/>
          </p:cNvSpPr>
          <p:nvPr/>
        </p:nvSpPr>
        <p:spPr bwMode="auto">
          <a:xfrm>
            <a:off x="762000" y="1989138"/>
            <a:ext cx="7620000" cy="4364038"/>
          </a:xfrm>
          <a:prstGeom prst="rect">
            <a:avLst/>
          </a:prstGeom>
          <a:noFill/>
          <a:ln>
            <a:noFill/>
          </a:ln>
        </p:spPr>
        <p:txBody>
          <a:bodyPr lIns="0" rIns="0"/>
          <a:lstStyle>
            <a:lvl1pPr marL="90805" indent="-90805"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382905" indent="-18288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567055" indent="-18288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749300" indent="-18288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932180" indent="-18288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1389380" indent="-18288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1846580" indent="-18288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2303780" indent="-18288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2760980" indent="-18288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90805" marR="0" lvl="0" indent="-90805" algn="l" defTabSz="914400" rtl="0" eaLnBrk="1" fontAlgn="base" latinLnBrk="0" hangingPunct="1">
              <a:lnSpc>
                <a:spcPct val="90000"/>
              </a:lnSpc>
              <a:spcBef>
                <a:spcPts val="1200"/>
              </a:spcBef>
              <a:spcAft>
                <a:spcPts val="200"/>
              </a:spcAft>
              <a:buClr>
                <a:srgbClr val="3333FF"/>
              </a:buClr>
              <a:buSzPct val="100000"/>
              <a:buFont typeface="Wingdings" panose="05000000000000000000" pitchFamily="2" charset="2"/>
              <a:buChar char="l"/>
              <a:defRPr/>
            </a:pPr>
            <a:r>
              <a:rPr kumimoji="0" lang="zh-CN" altLang="en-US" sz="24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t>功能性注释嵌在源程序体中，用以描述其后的语句或程序段是在做什么工作，或是执行了下面的语句会怎么样。而不要解释下面怎么做。</a:t>
            </a:r>
            <a:endParaRPr kumimoji="0" lang="zh-CN" altLang="en-US" sz="24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endParaRPr>
          </a:p>
          <a:p>
            <a:pPr marL="90805" marR="0" lvl="0" indent="-90805" algn="l" defTabSz="914400" rtl="0" eaLnBrk="1" fontAlgn="base" latinLnBrk="0" hangingPunct="1">
              <a:lnSpc>
                <a:spcPct val="90000"/>
              </a:lnSpc>
              <a:spcBef>
                <a:spcPts val="1200"/>
              </a:spcBef>
              <a:spcAft>
                <a:spcPts val="200"/>
              </a:spcAft>
              <a:buClr>
                <a:srgbClr val="3333FF"/>
              </a:buClr>
              <a:buSzPct val="100000"/>
              <a:buFont typeface="Wingdings" panose="05000000000000000000" pitchFamily="2" charset="2"/>
              <a:buChar char="l"/>
              <a:defRPr/>
            </a:pPr>
            <a:r>
              <a:rPr kumimoji="0" lang="zh-CN" altLang="en-US" sz="24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t>例如</a:t>
            </a:r>
            <a:br>
              <a:rPr kumimoji="0" lang="zh-CN" altLang="en-US" sz="24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br>
            <a:r>
              <a:rPr kumimoji="0"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a:t>
            </a:r>
            <a:r>
              <a:rPr kumimoji="0" lang="en-US" altLang="zh-CN" sz="2400" b="0"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ADD AMOUNT TO TOTAL */</a:t>
            </a:r>
            <a:br>
              <a:rPr kumimoji="0" lang="en-US" altLang="zh-CN" sz="2400" b="0"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br>
            <a:r>
              <a:rPr kumimoji="0" lang="en-US" altLang="zh-CN" sz="2400" b="0"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TOTAL = AMOUNT</a:t>
            </a:r>
            <a:r>
              <a:rPr kumimoji="0" lang="zh-CN" altLang="en-US" sz="2400" b="0"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0"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TOTAL</a:t>
            </a:r>
            <a:br>
              <a:rPr kumimoji="0" lang="en-US" altLang="zh-CN" sz="24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br>
            <a:r>
              <a:rPr kumimoji="0" lang="en-US" altLang="zh-CN" sz="24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t>                </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不好</a:t>
            </a:r>
            <a:br>
              <a:rPr kumimoji="0" lang="zh-CN" altLang="en-US" sz="2400" b="0" i="1" u="none" strike="noStrike" kern="1200" cap="none" spc="0" normalizeH="0" baseline="0" noProof="0" dirty="0">
                <a:ln>
                  <a:noFill/>
                </a:ln>
                <a:solidFill>
                  <a:srgbClr val="6EAC1C"/>
                </a:solidFill>
                <a:effectLst/>
                <a:uLnTx/>
                <a:uFillTx/>
                <a:latin typeface="华文中宋" panose="02010600040101010101" pitchFamily="2" charset="-122"/>
                <a:ea typeface="华文中宋" panose="02010600040101010101" pitchFamily="2" charset="-122"/>
                <a:cs typeface="+mn-cs"/>
              </a:rPr>
            </a:br>
            <a:endParaRPr kumimoji="0" lang="zh-CN" altLang="en-US" sz="2400" b="0" i="1" u="none" strike="noStrike" kern="1200" cap="none" spc="0" normalizeH="0" baseline="0" noProof="0" dirty="0">
              <a:ln>
                <a:noFill/>
              </a:ln>
              <a:solidFill>
                <a:srgbClr val="6EAC1C"/>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Times New Roman" panose="02020603050405020304" pitchFamily="18" charset="0"/>
                <a:ea typeface="华文中宋" panose="02010600040101010101" pitchFamily="2" charset="-122"/>
                <a:cs typeface="+mj-cs"/>
              </a:rPr>
              <a:t>功能性注释</a:t>
            </a:r>
            <a:endParaRPr kumimoji="0" lang="zh-CN" altLang="en-US" sz="2800" b="1" i="0" u="none" strike="noStrike" kern="0" cap="none" spc="0" normalizeH="0" baseline="0" noProof="0" dirty="0">
              <a:ln>
                <a:noFill/>
              </a:ln>
              <a:solidFill>
                <a:schemeClr val="accent2">
                  <a:lumMod val="75000"/>
                </a:schemeClr>
              </a:solidFill>
              <a:effectLst/>
              <a:uLnTx/>
              <a:uFillTx/>
              <a:latin typeface="Times New Roman" panose="02020603050405020304" pitchFamily="18" charset="0"/>
              <a:ea typeface="华文中宋" panose="02010600040101010101" pitchFamily="2" charset="-122"/>
              <a:cs typeface="+mj-cs"/>
            </a:endParaRPr>
          </a:p>
        </p:txBody>
      </p:sp>
      <p:sp>
        <p:nvSpPr>
          <p:cNvPr id="6963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67588" name="文本框 5"/>
          <p:cNvSpPr txBox="1">
            <a:spLocks noChangeArrowheads="1"/>
          </p:cNvSpPr>
          <p:nvPr/>
        </p:nvSpPr>
        <p:spPr bwMode="auto">
          <a:xfrm>
            <a:off x="34925" y="1125538"/>
            <a:ext cx="3168650" cy="523875"/>
          </a:xfrm>
          <a:prstGeom prst="rect">
            <a:avLst/>
          </a:prstGeom>
          <a:noFill/>
          <a:ln>
            <a:noFill/>
          </a:ln>
        </p:spPr>
        <p:txBody>
          <a:bodyPr>
            <a:spAutoFit/>
          </a:bodyPr>
          <a:lstStyle>
            <a:lvl1pPr>
              <a:defRPr sz="2400" b="1">
                <a:solidFill>
                  <a:schemeClr val="accent2"/>
                </a:solidFill>
                <a:latin typeface="华文中宋" panose="02010600040101010101" pitchFamily="2" charset="-122"/>
                <a:ea typeface="华文中宋" panose="02010600040101010101" pitchFamily="2" charset="-122"/>
              </a:defRPr>
            </a:lvl1pPr>
            <a:lvl2pPr marL="742950" indent="-285750">
              <a:defRPr sz="2400" b="1">
                <a:solidFill>
                  <a:schemeClr val="accent2"/>
                </a:solidFill>
                <a:latin typeface="华文中宋" panose="02010600040101010101" pitchFamily="2" charset="-122"/>
                <a:ea typeface="华文中宋" panose="02010600040101010101" pitchFamily="2" charset="-122"/>
              </a:defRPr>
            </a:lvl2pPr>
            <a:lvl3pPr marL="1143000" indent="-228600">
              <a:defRPr sz="2400" b="1">
                <a:solidFill>
                  <a:schemeClr val="accent2"/>
                </a:solidFill>
                <a:latin typeface="华文中宋" panose="02010600040101010101" pitchFamily="2" charset="-122"/>
                <a:ea typeface="华文中宋" panose="02010600040101010101" pitchFamily="2" charset="-122"/>
              </a:defRPr>
            </a:lvl3pPr>
            <a:lvl4pPr marL="1600200" indent="-228600">
              <a:defRPr sz="2400" b="1">
                <a:solidFill>
                  <a:schemeClr val="accent2"/>
                </a:solidFill>
                <a:latin typeface="华文中宋" panose="02010600040101010101" pitchFamily="2" charset="-122"/>
                <a:ea typeface="华文中宋" panose="02010600040101010101" pitchFamily="2" charset="-122"/>
              </a:defRPr>
            </a:lvl4pPr>
            <a:lvl5pPr marL="2057400" indent="-22860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accent2">
                    <a:lumMod val="75000"/>
                  </a:schemeClr>
                </a:solidFill>
                <a:effectLst/>
                <a:uLnTx/>
                <a:uFillTx/>
                <a:latin typeface="Times New Roman" panose="02020603050405020304" pitchFamily="18" charset="0"/>
                <a:ea typeface="华文中宋" panose="02010600040101010101" pitchFamily="2" charset="-122"/>
                <a:cs typeface="+mn-cs"/>
              </a:rPr>
              <a:t>功能性注释</a:t>
            </a:r>
            <a:endParaRPr kumimoji="0" lang="zh-CN" altLang="en-US" sz="2800" b="1" i="0" u="none" strike="noStrike" kern="1200" cap="none" spc="0" normalizeH="0" baseline="0" noProof="0" dirty="0">
              <a:ln>
                <a:noFill/>
              </a:ln>
              <a:solidFill>
                <a:schemeClr val="accent2">
                  <a:lumMod val="75000"/>
                </a:schemeClr>
              </a:solidFill>
              <a:effectLst/>
              <a:uLnTx/>
              <a:uFillTx/>
              <a:latin typeface="Times New Roman" panose="02020603050405020304" pitchFamily="18" charset="0"/>
              <a:ea typeface="华文中宋" panose="02010600040101010101" pitchFamily="2" charset="-122"/>
              <a:cs typeface="+mn-cs"/>
            </a:endParaRPr>
          </a:p>
        </p:txBody>
      </p:sp>
      <p:sp>
        <p:nvSpPr>
          <p:cNvPr id="69637" name="Rectangle 2"/>
          <p:cNvSpPr txBox="1"/>
          <p:nvPr/>
        </p:nvSpPr>
        <p:spPr>
          <a:xfrm>
            <a:off x="539750" y="1801813"/>
            <a:ext cx="7848600" cy="4176712"/>
          </a:xfrm>
          <a:prstGeom prst="rect">
            <a:avLst/>
          </a:prstGeom>
          <a:noFill/>
          <a:ln w="9525">
            <a:noFill/>
          </a:ln>
        </p:spPr>
        <p:txBody>
          <a:bodyPr lIns="0" rIns="0"/>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90805" lvl="0" indent="-90805" algn="l" eaLnBrk="1" hangingPunct="1">
              <a:lnSpc>
                <a:spcPct val="150000"/>
              </a:lnSpc>
              <a:spcBef>
                <a:spcPts val="1200"/>
              </a:spcBef>
              <a:spcAft>
                <a:spcPts val="200"/>
              </a:spcAft>
              <a:buClr>
                <a:srgbClr val="3333FF"/>
              </a:buClr>
              <a:buSzPct val="100000"/>
            </a:pPr>
            <a:r>
              <a:rPr lang="zh-CN" altLang="en-US" dirty="0">
                <a:solidFill>
                  <a:srgbClr val="404040"/>
                </a:solidFill>
                <a:latin typeface="华文中宋" panose="02010600040101010101" pitchFamily="2" charset="-122"/>
                <a:ea typeface="华文中宋" panose="02010600040101010101" pitchFamily="2" charset="-122"/>
              </a:rPr>
              <a:t>如果注明把月销售额计入年度总额，便使读者理解了下面语句的</a:t>
            </a:r>
            <a:r>
              <a:rPr lang="zh-CN" altLang="en-US" dirty="0">
                <a:solidFill>
                  <a:srgbClr val="C00000"/>
                </a:solidFill>
                <a:latin typeface="华文中宋" panose="02010600040101010101" pitchFamily="2" charset="-122"/>
                <a:ea typeface="华文中宋" panose="02010600040101010101" pitchFamily="2" charset="-122"/>
              </a:rPr>
              <a:t>意图</a:t>
            </a:r>
            <a:r>
              <a:rPr lang="zh-CN" altLang="en-US" dirty="0">
                <a:solidFill>
                  <a:srgbClr val="404040"/>
                </a:solidFill>
                <a:latin typeface="华文中宋" panose="02010600040101010101" pitchFamily="2" charset="-122"/>
                <a:ea typeface="华文中宋" panose="02010600040101010101" pitchFamily="2" charset="-122"/>
              </a:rPr>
              <a:t>：</a:t>
            </a:r>
            <a:br>
              <a:rPr lang="zh-CN" altLang="en-US" dirty="0">
                <a:solidFill>
                  <a:srgbClr val="404040"/>
                </a:solidFill>
                <a:latin typeface="华文中宋" panose="02010600040101010101" pitchFamily="2" charset="-122"/>
                <a:ea typeface="华文中宋" panose="02010600040101010101" pitchFamily="2" charset="-122"/>
              </a:rPr>
            </a:br>
            <a:r>
              <a:rPr lang="zh-CN" altLang="en-US" dirty="0">
                <a:solidFill>
                  <a:srgbClr val="404040"/>
                </a:solidFill>
                <a:latin typeface="华文中宋" panose="02010600040101010101" pitchFamily="2" charset="-122"/>
                <a:ea typeface="华文中宋" panose="02010600040101010101" pitchFamily="2" charset="-122"/>
              </a:rPr>
              <a:t> </a:t>
            </a:r>
            <a:r>
              <a:rPr lang="en-US" altLang="zh-CN" i="1" dirty="0">
                <a:solidFill>
                  <a:srgbClr val="0000FF"/>
                </a:solidFill>
                <a:latin typeface="华文中宋" panose="02010600040101010101" pitchFamily="2" charset="-122"/>
                <a:ea typeface="华文中宋" panose="02010600040101010101" pitchFamily="2" charset="-122"/>
              </a:rPr>
              <a:t>/* ADD MONTHLY-SALES TO ANNUAL-TOTAL */</a:t>
            </a:r>
            <a:br>
              <a:rPr lang="en-US" altLang="zh-CN" i="1" dirty="0">
                <a:solidFill>
                  <a:srgbClr val="0000FF"/>
                </a:solidFill>
                <a:latin typeface="华文中宋" panose="02010600040101010101" pitchFamily="2" charset="-122"/>
                <a:ea typeface="华文中宋" panose="02010600040101010101" pitchFamily="2" charset="-122"/>
              </a:rPr>
            </a:br>
            <a:r>
              <a:rPr lang="en-US" altLang="zh-CN" i="1" dirty="0">
                <a:solidFill>
                  <a:srgbClr val="0000FF"/>
                </a:solidFill>
                <a:latin typeface="华文中宋" panose="02010600040101010101" pitchFamily="2" charset="-122"/>
                <a:ea typeface="华文中宋" panose="02010600040101010101" pitchFamily="2" charset="-122"/>
              </a:rPr>
              <a:t>TOTAL = AMOUNT</a:t>
            </a:r>
            <a:r>
              <a:rPr lang="zh-CN" altLang="en-US" i="1" dirty="0">
                <a:solidFill>
                  <a:srgbClr val="0000FF"/>
                </a:solidFill>
                <a:latin typeface="华文中宋" panose="02010600040101010101" pitchFamily="2" charset="-122"/>
                <a:ea typeface="华文中宋" panose="02010600040101010101" pitchFamily="2" charset="-122"/>
              </a:rPr>
              <a:t>＋</a:t>
            </a:r>
            <a:r>
              <a:rPr lang="en-US" altLang="zh-CN" i="1" dirty="0">
                <a:solidFill>
                  <a:srgbClr val="0000FF"/>
                </a:solidFill>
                <a:latin typeface="华文中宋" panose="02010600040101010101" pitchFamily="2" charset="-122"/>
                <a:ea typeface="华文中宋" panose="02010600040101010101" pitchFamily="2" charset="-122"/>
              </a:rPr>
              <a:t>TOTAL</a:t>
            </a:r>
            <a:endParaRPr lang="en-US" altLang="zh-CN" i="1" dirty="0">
              <a:solidFill>
                <a:srgbClr val="0000FF"/>
              </a:solidFill>
              <a:latin typeface="华文中宋" panose="02010600040101010101" pitchFamily="2" charset="-122"/>
              <a:ea typeface="华文中宋" panose="02010600040101010101" pitchFamily="2" charset="-122"/>
            </a:endParaRPr>
          </a:p>
          <a:p>
            <a:pPr marL="90805" lvl="0" indent="-90805" algn="l" eaLnBrk="1" hangingPunct="1">
              <a:lnSpc>
                <a:spcPct val="150000"/>
              </a:lnSpc>
              <a:spcBef>
                <a:spcPts val="1200"/>
              </a:spcBef>
              <a:spcAft>
                <a:spcPts val="200"/>
              </a:spcAft>
              <a:buClr>
                <a:srgbClr val="3333FF"/>
              </a:buClr>
              <a:buSzPct val="100000"/>
            </a:pPr>
            <a:r>
              <a:rPr lang="zh-CN" altLang="en-US" dirty="0">
                <a:solidFill>
                  <a:srgbClr val="C00000"/>
                </a:solidFill>
                <a:latin typeface="华文中宋" panose="02010600040101010101" pitchFamily="2" charset="-122"/>
                <a:ea typeface="华文中宋" panose="02010600040101010101" pitchFamily="2" charset="-122"/>
              </a:rPr>
              <a:t>要点</a:t>
            </a:r>
            <a:endParaRPr lang="zh-CN" altLang="en-US" i="1" dirty="0">
              <a:solidFill>
                <a:srgbClr val="C00000"/>
              </a:solidFill>
              <a:latin typeface="华文中宋" panose="02010600040101010101" pitchFamily="2" charset="-122"/>
              <a:ea typeface="华文中宋" panose="02010600040101010101" pitchFamily="2" charset="-122"/>
            </a:endParaRPr>
          </a:p>
          <a:p>
            <a:pPr marL="382905" lvl="1" indent="-182880" algn="l" eaLnBrk="1" hangingPunct="1">
              <a:lnSpc>
                <a:spcPct val="150000"/>
              </a:lnSpc>
              <a:spcBef>
                <a:spcPts val="200"/>
              </a:spcBef>
              <a:spcAft>
                <a:spcPts val="400"/>
              </a:spcAft>
              <a:buClr>
                <a:srgbClr val="3333FF"/>
              </a:buClr>
              <a:buSzTx/>
              <a:buFont typeface="Arial" panose="020B0604020202020204" pitchFamily="34" charset="0"/>
              <a:buChar char="•"/>
            </a:pPr>
            <a:r>
              <a:rPr lang="zh-CN" altLang="en-US" sz="2000" dirty="0">
                <a:solidFill>
                  <a:srgbClr val="404040"/>
                </a:solidFill>
                <a:latin typeface="华文中宋" panose="02010600040101010101" pitchFamily="2" charset="-122"/>
                <a:ea typeface="华文中宋" panose="02010600040101010101" pitchFamily="2" charset="-122"/>
              </a:rPr>
              <a:t> 描述一段程序，而不是每一个语句；</a:t>
            </a:r>
            <a:endParaRPr lang="zh-CN" altLang="en-US" sz="2000" dirty="0">
              <a:solidFill>
                <a:srgbClr val="404040"/>
              </a:solidFill>
              <a:latin typeface="华文中宋" panose="02010600040101010101" pitchFamily="2" charset="-122"/>
              <a:ea typeface="华文中宋" panose="02010600040101010101" pitchFamily="2" charset="-122"/>
            </a:endParaRPr>
          </a:p>
          <a:p>
            <a:pPr marL="382905" lvl="1" indent="-182880" algn="l" eaLnBrk="1" hangingPunct="1">
              <a:lnSpc>
                <a:spcPct val="150000"/>
              </a:lnSpc>
              <a:spcBef>
                <a:spcPts val="200"/>
              </a:spcBef>
              <a:spcAft>
                <a:spcPts val="400"/>
              </a:spcAft>
              <a:buClr>
                <a:srgbClr val="3333FF"/>
              </a:buClr>
              <a:buSzTx/>
              <a:buFont typeface="Arial" panose="020B0604020202020204" pitchFamily="34" charset="0"/>
              <a:buChar char="•"/>
            </a:pPr>
            <a:r>
              <a:rPr lang="zh-CN" altLang="en-US" sz="2000" dirty="0">
                <a:solidFill>
                  <a:srgbClr val="404040"/>
                </a:solidFill>
                <a:latin typeface="华文中宋" panose="02010600040101010101" pitchFamily="2" charset="-122"/>
                <a:ea typeface="华文中宋" panose="02010600040101010101" pitchFamily="2" charset="-122"/>
              </a:rPr>
              <a:t> 用缩进和空行，使程序与注释容易区别；</a:t>
            </a:r>
            <a:endParaRPr lang="zh-CN" altLang="en-US" sz="2000" dirty="0">
              <a:solidFill>
                <a:srgbClr val="404040"/>
              </a:solidFill>
              <a:latin typeface="华文中宋" panose="02010600040101010101" pitchFamily="2" charset="-122"/>
              <a:ea typeface="华文中宋" panose="02010600040101010101" pitchFamily="2" charset="-122"/>
            </a:endParaRPr>
          </a:p>
          <a:p>
            <a:pPr marL="382905" lvl="1" indent="-182880" algn="l" eaLnBrk="1" hangingPunct="1">
              <a:lnSpc>
                <a:spcPct val="150000"/>
              </a:lnSpc>
              <a:spcBef>
                <a:spcPts val="200"/>
              </a:spcBef>
              <a:spcAft>
                <a:spcPts val="400"/>
              </a:spcAft>
              <a:buClr>
                <a:srgbClr val="3333FF"/>
              </a:buClr>
              <a:buSzTx/>
              <a:buFont typeface="Arial" panose="020B0604020202020204" pitchFamily="34" charset="0"/>
              <a:buChar char="•"/>
            </a:pPr>
            <a:r>
              <a:rPr lang="zh-CN" altLang="en-US" sz="2000" dirty="0">
                <a:solidFill>
                  <a:srgbClr val="404040"/>
                </a:solidFill>
                <a:latin typeface="华文中宋" panose="02010600040101010101" pitchFamily="2" charset="-122"/>
                <a:ea typeface="华文中宋" panose="02010600040101010101" pitchFamily="2" charset="-122"/>
              </a:rPr>
              <a:t> 注释要正确。</a:t>
            </a:r>
            <a:endParaRPr lang="zh-CN" altLang="en-US" sz="2000" dirty="0">
              <a:solidFill>
                <a:srgbClr val="404040"/>
              </a:solidFill>
              <a:latin typeface="华文中宋" panose="02010600040101010101" pitchFamily="2" charset="-122"/>
              <a:ea typeface="华文中宋" panose="02010600040101010101" pitchFamily="2" charset="-122"/>
            </a:endParaRPr>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j-cs"/>
              </a:rPr>
              <a:t>程序的视觉组织</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7168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69636" name="文本框 9"/>
          <p:cNvSpPr txBox="1">
            <a:spLocks noChangeArrowheads="1"/>
          </p:cNvSpPr>
          <p:nvPr/>
        </p:nvSpPr>
        <p:spPr bwMode="auto">
          <a:xfrm>
            <a:off x="250825" y="1190625"/>
            <a:ext cx="4572000" cy="523875"/>
          </a:xfrm>
          <a:prstGeom prst="rect">
            <a:avLst/>
          </a:prstGeom>
          <a:noFill/>
          <a:ln>
            <a:noFill/>
          </a:ln>
        </p:spPr>
        <p:txBody>
          <a:bodyPr>
            <a:spAutoFit/>
          </a:bodyPr>
          <a:lstStyle>
            <a:lvl1pPr>
              <a:defRPr sz="2400" b="1">
                <a:solidFill>
                  <a:schemeClr val="accent2"/>
                </a:solidFill>
                <a:latin typeface="华文中宋" panose="02010600040101010101" pitchFamily="2" charset="-122"/>
                <a:ea typeface="华文中宋" panose="02010600040101010101" pitchFamily="2" charset="-122"/>
              </a:defRPr>
            </a:lvl1pPr>
            <a:lvl2pPr marL="742950" indent="-285750">
              <a:defRPr sz="2400" b="1">
                <a:solidFill>
                  <a:schemeClr val="accent2"/>
                </a:solidFill>
                <a:latin typeface="华文中宋" panose="02010600040101010101" pitchFamily="2" charset="-122"/>
                <a:ea typeface="华文中宋" panose="02010600040101010101" pitchFamily="2" charset="-122"/>
              </a:defRPr>
            </a:lvl2pPr>
            <a:lvl3pPr marL="1143000" indent="-228600">
              <a:defRPr sz="2400" b="1">
                <a:solidFill>
                  <a:schemeClr val="accent2"/>
                </a:solidFill>
                <a:latin typeface="华文中宋" panose="02010600040101010101" pitchFamily="2" charset="-122"/>
                <a:ea typeface="华文中宋" panose="02010600040101010101" pitchFamily="2" charset="-122"/>
              </a:defRPr>
            </a:lvl3pPr>
            <a:lvl4pPr marL="1600200" indent="-228600">
              <a:defRPr sz="2400" b="1">
                <a:solidFill>
                  <a:schemeClr val="accent2"/>
                </a:solidFill>
                <a:latin typeface="华文中宋" panose="02010600040101010101" pitchFamily="2" charset="-122"/>
                <a:ea typeface="华文中宋" panose="02010600040101010101" pitchFamily="2" charset="-122"/>
              </a:defRPr>
            </a:lvl4pPr>
            <a:lvl5pPr marL="2057400" indent="-22860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n-cs"/>
              </a:rPr>
              <a:t>程序的视觉组织</a:t>
            </a:r>
            <a:endParaRPr kumimoji="0"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69637" name="文本框 6"/>
          <p:cNvSpPr txBox="1">
            <a:spLocks noChangeArrowheads="1"/>
          </p:cNvSpPr>
          <p:nvPr/>
        </p:nvSpPr>
        <p:spPr bwMode="auto">
          <a:xfrm>
            <a:off x="531813" y="1982788"/>
            <a:ext cx="8255000" cy="3438525"/>
          </a:xfrm>
          <a:prstGeom prst="rect">
            <a:avLst/>
          </a:prstGeom>
          <a:noFill/>
          <a:ln>
            <a:noFill/>
          </a:ln>
        </p:spPr>
        <p:txBody>
          <a:bodyPr>
            <a:spAutoFit/>
          </a:bodyPr>
          <a:lstStyle>
            <a:lvl1pPr marL="90805" indent="-90805">
              <a:defRPr sz="2400" b="1">
                <a:solidFill>
                  <a:schemeClr val="accent2"/>
                </a:solidFill>
                <a:latin typeface="华文中宋" panose="02010600040101010101" pitchFamily="2" charset="-122"/>
                <a:ea typeface="华文中宋" panose="02010600040101010101" pitchFamily="2" charset="-122"/>
              </a:defRPr>
            </a:lvl1pPr>
            <a:lvl2pPr marL="742950" indent="-285750">
              <a:defRPr sz="2400" b="1">
                <a:solidFill>
                  <a:schemeClr val="accent2"/>
                </a:solidFill>
                <a:latin typeface="华文中宋" panose="02010600040101010101" pitchFamily="2" charset="-122"/>
                <a:ea typeface="华文中宋" panose="02010600040101010101" pitchFamily="2" charset="-122"/>
              </a:defRPr>
            </a:lvl2pPr>
            <a:lvl3pPr marL="1143000" indent="-228600">
              <a:defRPr sz="2400" b="1">
                <a:solidFill>
                  <a:schemeClr val="accent2"/>
                </a:solidFill>
                <a:latin typeface="华文中宋" panose="02010600040101010101" pitchFamily="2" charset="-122"/>
                <a:ea typeface="华文中宋" panose="02010600040101010101" pitchFamily="2" charset="-122"/>
              </a:defRPr>
            </a:lvl3pPr>
            <a:lvl4pPr marL="1600200" indent="-228600">
              <a:defRPr sz="2400" b="1">
                <a:solidFill>
                  <a:schemeClr val="accent2"/>
                </a:solidFill>
                <a:latin typeface="华文中宋" panose="02010600040101010101" pitchFamily="2" charset="-122"/>
                <a:ea typeface="华文中宋" panose="02010600040101010101" pitchFamily="2" charset="-122"/>
              </a:defRPr>
            </a:lvl4pPr>
            <a:lvl5pPr marL="2057400" indent="-22860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342900" marR="0" lvl="0" indent="-342900" algn="l" defTabSz="914400" rtl="0" eaLnBrk="1" fontAlgn="base" latinLnBrk="0" hangingPunct="1">
              <a:lnSpc>
                <a:spcPct val="95000"/>
              </a:lnSpc>
              <a:spcBef>
                <a:spcPts val="1200"/>
              </a:spcBef>
              <a:spcAft>
                <a:spcPts val="200"/>
              </a:spcAft>
              <a:buClr>
                <a:srgbClr val="3333FF"/>
              </a:buClr>
              <a:buSzPct val="100000"/>
              <a:buFont typeface="Wingdings" panose="05000000000000000000" pitchFamily="2" charset="2"/>
              <a:buChar char="l"/>
              <a:defRPr/>
            </a:pPr>
            <a:r>
              <a:rPr kumimoji="0" lang="zh-CN" altLang="en-US" sz="24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t>恰当地利用</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空格</a:t>
            </a:r>
            <a:r>
              <a:rPr kumimoji="0" lang="zh-CN" altLang="en-US" sz="24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t>，可以</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突出运算的优先性</a:t>
            </a:r>
            <a:r>
              <a:rPr kumimoji="0" lang="zh-CN" altLang="en-US" sz="24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t>，避免发生运算的错误。</a:t>
            </a:r>
            <a:endParaRPr kumimoji="0" lang="zh-CN" altLang="en-US" sz="24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ct val="95000"/>
              </a:lnSpc>
              <a:spcBef>
                <a:spcPts val="1200"/>
              </a:spcBef>
              <a:spcAft>
                <a:spcPts val="200"/>
              </a:spcAft>
              <a:buClr>
                <a:srgbClr val="3333FF"/>
              </a:buClr>
              <a:buSzPct val="100000"/>
              <a:buFont typeface="Wingdings" panose="05000000000000000000" pitchFamily="2" charset="2"/>
              <a:buChar char="l"/>
              <a:defRPr/>
            </a:pPr>
            <a:r>
              <a:rPr kumimoji="0" lang="zh-CN" altLang="en-US" sz="24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t>例如 ，将表达式</a:t>
            </a:r>
            <a:br>
              <a:rPr kumimoji="0" lang="zh-CN" altLang="en-US" sz="24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br>
            <a:r>
              <a:rPr kumimoji="0" lang="en-US" altLang="zh-CN"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0"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a:t>
            </a:r>
            <a:r>
              <a:rPr kumimoji="0"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17)</a:t>
            </a:r>
            <a:r>
              <a:rPr kumimoji="0" lang="en-US" altLang="zh-CN" sz="2400" b="0"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ANDNOT</a:t>
            </a:r>
            <a:r>
              <a:rPr kumimoji="0" lang="en-US" altLang="zh-CN"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0"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B</a:t>
            </a:r>
            <a:r>
              <a:rPr kumimoji="0"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49)</a:t>
            </a:r>
            <a:r>
              <a:rPr kumimoji="0" lang="en-US" altLang="zh-CN" sz="2400" b="0"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ORC</a:t>
            </a:r>
            <a:br>
              <a:rPr kumimoji="0" lang="en-US" altLang="zh-CN" sz="24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br>
            <a:r>
              <a:rPr kumimoji="0" lang="zh-CN" altLang="en-US" sz="24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t>写成</a:t>
            </a:r>
            <a:br>
              <a:rPr kumimoji="0" lang="zh-CN" altLang="en-US" sz="24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br>
            <a:r>
              <a:rPr kumimoji="0" lang="en-US" altLang="zh-CN"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0"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a:t>
            </a:r>
            <a:r>
              <a:rPr kumimoji="0"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17) </a:t>
            </a:r>
            <a:r>
              <a:rPr kumimoji="0" lang="en-US" altLang="zh-CN" sz="2400" b="0"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AND  NOT</a:t>
            </a:r>
            <a:r>
              <a:rPr kumimoji="0" lang="en-US" altLang="zh-CN"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a:t>
            </a:r>
            <a:r>
              <a:rPr kumimoji="0" lang="en-US" altLang="zh-CN" sz="2400" b="0"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B</a:t>
            </a:r>
            <a:r>
              <a:rPr kumimoji="0"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49) </a:t>
            </a:r>
            <a:r>
              <a:rPr kumimoji="0" lang="en-US" altLang="zh-CN" sz="2400" b="0"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OR  C</a:t>
            </a:r>
            <a:endParaRPr kumimoji="0" lang="en-US" altLang="zh-CN" sz="2400" b="0"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ct val="95000"/>
              </a:lnSpc>
              <a:spcBef>
                <a:spcPts val="1200"/>
              </a:spcBef>
              <a:spcAft>
                <a:spcPts val="200"/>
              </a:spcAft>
              <a:buClr>
                <a:srgbClr val="3333FF"/>
              </a:buClr>
              <a:buSzPct val="100000"/>
              <a:buFont typeface="Wingdings" panose="05000000000000000000" pitchFamily="2" charset="2"/>
              <a:buChar char="l"/>
              <a:defRPr/>
            </a:pPr>
            <a:r>
              <a:rPr kumimoji="0" lang="zh-CN" altLang="en-US" sz="24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t>自然的程序段之间可用</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空行</a:t>
            </a:r>
            <a:r>
              <a:rPr kumimoji="0" lang="zh-CN" altLang="en-US" sz="24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rPr>
              <a:t>隔开</a:t>
            </a:r>
            <a:endParaRPr kumimoji="0" lang="zh-CN" altLang="en-US" sz="2400" b="0" i="0" u="none" strike="noStrike" kern="1200" cap="none" spc="0" normalizeH="0" baseline="0" noProof="0" dirty="0">
              <a:ln>
                <a:noFill/>
              </a:ln>
              <a:solidFill>
                <a:srgbClr val="40404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ct val="95000"/>
              </a:lnSpc>
              <a:spcBef>
                <a:spcPts val="1200"/>
              </a:spcBef>
              <a:spcAft>
                <a:spcPts val="200"/>
              </a:spcAft>
              <a:buClr>
                <a:srgbClr val="3333FF"/>
              </a:buClr>
              <a:buSzPct val="100000"/>
              <a:buFont typeface="Wingdings" panose="05000000000000000000" pitchFamily="2" charset="2"/>
              <a:buChar char="l"/>
              <a:defRPr/>
            </a:pPr>
            <a:r>
              <a:rPr kumimoji="0"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可参见相关语言编码规范</a:t>
            </a:r>
            <a:endParaRPr kumimoji="0"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j-cs"/>
              </a:rPr>
              <a:t>程序的视觉组织</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7373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71684" name="文本框 9"/>
          <p:cNvSpPr txBox="1">
            <a:spLocks noChangeArrowheads="1"/>
          </p:cNvSpPr>
          <p:nvPr/>
        </p:nvSpPr>
        <p:spPr bwMode="auto">
          <a:xfrm>
            <a:off x="250825" y="1147763"/>
            <a:ext cx="4572000" cy="523875"/>
          </a:xfrm>
          <a:prstGeom prst="rect">
            <a:avLst/>
          </a:prstGeom>
          <a:noFill/>
          <a:ln>
            <a:noFill/>
          </a:ln>
        </p:spPr>
        <p:txBody>
          <a:bodyPr>
            <a:spAutoFit/>
          </a:bodyPr>
          <a:lstStyle>
            <a:lvl1pPr>
              <a:defRPr sz="2400" b="1">
                <a:solidFill>
                  <a:schemeClr val="accent2"/>
                </a:solidFill>
                <a:latin typeface="华文中宋" panose="02010600040101010101" pitchFamily="2" charset="-122"/>
                <a:ea typeface="华文中宋" panose="02010600040101010101" pitchFamily="2" charset="-122"/>
              </a:defRPr>
            </a:lvl1pPr>
            <a:lvl2pPr marL="742950" indent="-285750">
              <a:defRPr sz="2400" b="1">
                <a:solidFill>
                  <a:schemeClr val="accent2"/>
                </a:solidFill>
                <a:latin typeface="华文中宋" panose="02010600040101010101" pitchFamily="2" charset="-122"/>
                <a:ea typeface="华文中宋" panose="02010600040101010101" pitchFamily="2" charset="-122"/>
              </a:defRPr>
            </a:lvl2pPr>
            <a:lvl3pPr marL="1143000" indent="-228600">
              <a:defRPr sz="2400" b="1">
                <a:solidFill>
                  <a:schemeClr val="accent2"/>
                </a:solidFill>
                <a:latin typeface="华文中宋" panose="02010600040101010101" pitchFamily="2" charset="-122"/>
                <a:ea typeface="华文中宋" panose="02010600040101010101" pitchFamily="2" charset="-122"/>
              </a:defRPr>
            </a:lvl3pPr>
            <a:lvl4pPr marL="1600200" indent="-228600">
              <a:defRPr sz="2400" b="1">
                <a:solidFill>
                  <a:schemeClr val="accent2"/>
                </a:solidFill>
                <a:latin typeface="华文中宋" panose="02010600040101010101" pitchFamily="2" charset="-122"/>
                <a:ea typeface="华文中宋" panose="02010600040101010101" pitchFamily="2" charset="-122"/>
              </a:defRPr>
            </a:lvl4pPr>
            <a:lvl5pPr marL="2057400" indent="-22860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n-cs"/>
              </a:rPr>
              <a:t>程序的视觉组织</a:t>
            </a:r>
            <a:endParaRPr kumimoji="0"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71685" name="文本框 15"/>
          <p:cNvSpPr txBox="1">
            <a:spLocks noChangeArrowheads="1"/>
          </p:cNvSpPr>
          <p:nvPr/>
        </p:nvSpPr>
        <p:spPr bwMode="auto">
          <a:xfrm>
            <a:off x="444500" y="1874838"/>
            <a:ext cx="8255000" cy="3157538"/>
          </a:xfrm>
          <a:prstGeom prst="rect">
            <a:avLst/>
          </a:prstGeom>
          <a:noFill/>
          <a:ln>
            <a:noFill/>
          </a:ln>
        </p:spPr>
        <p:txBody>
          <a:bodyPr>
            <a:spAutoFit/>
          </a:bodyPr>
          <a:lstStyle>
            <a:lvl1pPr>
              <a:defRPr sz="2400" b="1">
                <a:solidFill>
                  <a:schemeClr val="accent2"/>
                </a:solidFill>
                <a:latin typeface="华文中宋" panose="02010600040101010101" pitchFamily="2" charset="-122"/>
                <a:ea typeface="华文中宋" panose="02010600040101010101" pitchFamily="2" charset="-122"/>
              </a:defRPr>
            </a:lvl1pPr>
            <a:lvl2pPr marL="742950" indent="-285750">
              <a:defRPr sz="2400" b="1">
                <a:solidFill>
                  <a:schemeClr val="accent2"/>
                </a:solidFill>
                <a:latin typeface="华文中宋" panose="02010600040101010101" pitchFamily="2" charset="-122"/>
                <a:ea typeface="华文中宋" panose="02010600040101010101" pitchFamily="2" charset="-122"/>
              </a:defRPr>
            </a:lvl2pPr>
            <a:lvl3pPr marL="1143000" indent="-228600">
              <a:defRPr sz="2400" b="1">
                <a:solidFill>
                  <a:schemeClr val="accent2"/>
                </a:solidFill>
                <a:latin typeface="华文中宋" panose="02010600040101010101" pitchFamily="2" charset="-122"/>
                <a:ea typeface="华文中宋" panose="02010600040101010101" pitchFamily="2" charset="-122"/>
              </a:defRPr>
            </a:lvl3pPr>
            <a:lvl4pPr marL="1600200" indent="-228600">
              <a:defRPr sz="2400" b="1">
                <a:solidFill>
                  <a:schemeClr val="accent2"/>
                </a:solidFill>
                <a:latin typeface="华文中宋" panose="02010600040101010101" pitchFamily="2" charset="-122"/>
                <a:ea typeface="华文中宋" panose="02010600040101010101" pitchFamily="2" charset="-122"/>
              </a:defRPr>
            </a:lvl4pPr>
            <a:lvl5pPr marL="2057400" indent="-22860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342900" marR="0" lvl="0" indent="-342900" algn="l" defTabSz="914400" rtl="0" eaLnBrk="1" fontAlgn="base" latinLnBrk="0" hangingPunct="1">
              <a:lnSpc>
                <a:spcPct val="120000"/>
              </a:lnSpc>
              <a:spcBef>
                <a:spcPct val="0"/>
              </a:spcBef>
              <a:spcAft>
                <a:spcPct val="0"/>
              </a:spcAft>
              <a:buClr>
                <a:schemeClr val="accent2">
                  <a:lumMod val="75000"/>
                </a:schemeClr>
              </a:buClr>
              <a:buSzTx/>
              <a:buFont typeface="Wingdings" panose="05000000000000000000" pitchFamily="2" charset="2"/>
              <a:buChar char="l"/>
              <a:defRPr/>
            </a:pP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移行</a:t>
            </a:r>
            <a:r>
              <a:rPr kumimoji="0"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也叫做</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向右缩格</a:t>
            </a:r>
            <a:r>
              <a:rPr kumimoji="0"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。它是指程序中的各行不必都在左端对齐，都从第一格起排列。这样做使程序完全分不清层次关系。</a:t>
            </a:r>
            <a:endParaRPr kumimoji="0"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ct val="120000"/>
              </a:lnSpc>
              <a:spcBef>
                <a:spcPct val="0"/>
              </a:spcBef>
              <a:spcAft>
                <a:spcPct val="0"/>
              </a:spcAft>
              <a:buClr>
                <a:schemeClr val="accent2">
                  <a:lumMod val="75000"/>
                </a:schemeClr>
              </a:buClr>
              <a:buSzTx/>
              <a:buFont typeface="Wingdings" panose="05000000000000000000" pitchFamily="2" charset="2"/>
              <a:buChar char="l"/>
              <a:defRPr/>
            </a:pPr>
            <a:r>
              <a:rPr kumimoji="0"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对于</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选择语句</a:t>
            </a:r>
            <a:r>
              <a:rPr kumimoji="0"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和</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循环语句</a:t>
            </a:r>
            <a:r>
              <a:rPr kumimoji="0"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，把其中的程序段语句向右做</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阶梯式移行</a:t>
            </a:r>
            <a:r>
              <a:rPr kumimoji="0"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。使程序的逻辑结构更加清晰。</a:t>
            </a:r>
            <a:endParaRPr kumimoji="0"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ct val="120000"/>
              </a:lnSpc>
              <a:spcBef>
                <a:spcPct val="0"/>
              </a:spcBef>
              <a:spcAft>
                <a:spcPct val="0"/>
              </a:spcAft>
              <a:buClr>
                <a:schemeClr val="accent2">
                  <a:lumMod val="75000"/>
                </a:schemeClr>
              </a:buClr>
              <a:buSzTx/>
              <a:buFont typeface="Wingdings" panose="05000000000000000000" pitchFamily="2" charset="2"/>
              <a:buChar char="l"/>
              <a:defRPr/>
            </a:pPr>
            <a:r>
              <a:rPr kumimoji="0" lang="zh-CN" altLang="en-US" sz="2400" b="0"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例如，两重选择结构嵌套，写成下面的移行形式，层次就清楚得多。</a:t>
            </a:r>
            <a:endParaRPr kumimoji="0" lang="zh-CN" altLang="en-US" sz="2400" b="1" i="0" u="none" strike="noStrike" kern="1200" cap="none" spc="0" normalizeH="0" baseline="0" noProof="0" dirty="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宋体" panose="02010600030101010101" pitchFamily="2" charset="-122"/>
                <a:ea typeface="华文中宋" panose="02010600040101010101" pitchFamily="2" charset="-122"/>
                <a:cs typeface="+mj-cs"/>
              </a:rPr>
              <a:t>程序的视觉组织</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7577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2" name="Rectangle 2"/>
          <p:cNvSpPr>
            <a:spLocks noChangeArrowheads="1"/>
          </p:cNvSpPr>
          <p:nvPr/>
        </p:nvSpPr>
        <p:spPr bwMode="auto">
          <a:xfrm>
            <a:off x="1258888" y="1628775"/>
            <a:ext cx="6553200" cy="4175125"/>
          </a:xfrm>
          <a:prstGeom prst="rect">
            <a:avLst/>
          </a:prstGeom>
          <a:noFill/>
          <a:ln>
            <a:noFill/>
          </a:ln>
          <a:effectLst/>
        </p:spPr>
        <p:txBody>
          <a:bodyPr lIns="92075" tIns="46038" rIns="92075" bIns="46038"/>
          <a:lstStyle/>
          <a:p>
            <a:pPr marL="0" marR="0" lvl="0" indent="0" algn="l" defTabSz="914400" rtl="0" eaLnBrk="1" fontAlgn="base" latinLnBrk="0" hangingPunct="1">
              <a:lnSpc>
                <a:spcPct val="100000"/>
              </a:lnSpc>
              <a:spcBef>
                <a:spcPct val="10000"/>
              </a:spcBef>
              <a:spcAft>
                <a:spcPct val="0"/>
              </a:spcAft>
              <a:buClrTx/>
              <a:buSzTx/>
              <a:buFontTx/>
              <a:buNone/>
              <a:defRPr/>
            </a:pPr>
            <a:r>
              <a:rPr kumimoji="0" lang="en-US" altLang="zh-CN"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t>  IF</a:t>
            </a:r>
            <a:r>
              <a:rPr kumimoji="0" lang="zh-CN" altLang="en-US" sz="2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t>（</a:t>
            </a:r>
            <a:r>
              <a:rPr kumimoji="0" lang="en-US" altLang="zh-CN" sz="2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t>…</a:t>
            </a:r>
            <a:r>
              <a:rPr kumimoji="0" lang="zh-CN" altLang="en-US" sz="2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t>）</a:t>
            </a:r>
            <a:r>
              <a:rPr kumimoji="0" lang="zh-CN" altLang="en-US"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t> </a:t>
            </a:r>
            <a:r>
              <a:rPr kumimoji="0" lang="en-US" altLang="zh-CN"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t>THEN</a:t>
            </a:r>
            <a:br>
              <a:rPr kumimoji="0" lang="en-US" altLang="zh-CN"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br>
            <a:r>
              <a:rPr kumimoji="0" lang="en-US" altLang="zh-CN"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t>       IF</a:t>
            </a:r>
            <a:r>
              <a:rPr kumimoji="0" lang="zh-CN" altLang="en-US" sz="2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t>（</a:t>
            </a:r>
            <a:r>
              <a:rPr kumimoji="0" lang="en-US" altLang="zh-CN" sz="2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t>…</a:t>
            </a:r>
            <a:r>
              <a:rPr kumimoji="0" lang="zh-CN" altLang="en-US" sz="2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t>）</a:t>
            </a:r>
            <a:r>
              <a:rPr kumimoji="0" lang="zh-CN" altLang="en-US"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t> </a:t>
            </a:r>
            <a:r>
              <a:rPr kumimoji="0" lang="en-US" altLang="zh-CN"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t>THEN</a:t>
            </a:r>
            <a:br>
              <a:rPr kumimoji="0" lang="en-US" altLang="zh-CN"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br>
            <a:r>
              <a:rPr kumimoji="0" lang="en-US" altLang="zh-CN"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t>            ……</a:t>
            </a:r>
            <a:br>
              <a:rPr kumimoji="0" lang="en-US" altLang="zh-CN"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br>
            <a:r>
              <a:rPr kumimoji="0" lang="en-US" altLang="zh-CN"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t>       ELSE</a:t>
            </a:r>
            <a:br>
              <a:rPr kumimoji="0" lang="en-US" altLang="zh-CN"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br>
            <a:r>
              <a:rPr kumimoji="0" lang="en-US" altLang="zh-CN"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t>            ……</a:t>
            </a:r>
            <a:br>
              <a:rPr kumimoji="0" lang="en-US" altLang="zh-CN"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br>
            <a:r>
              <a:rPr kumimoji="0" lang="en-US" altLang="zh-CN"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t>       ENDIF</a:t>
            </a:r>
            <a:br>
              <a:rPr kumimoji="0" lang="en-US" altLang="zh-CN"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br>
            <a:r>
              <a:rPr kumimoji="0" lang="en-US" altLang="zh-CN"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t>       ……</a:t>
            </a:r>
            <a:br>
              <a:rPr kumimoji="0" lang="en-US" altLang="zh-CN"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br>
            <a:r>
              <a:rPr kumimoji="0" lang="en-US" altLang="zh-CN"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t>ELSE</a:t>
            </a:r>
            <a:br>
              <a:rPr kumimoji="0" lang="en-US" altLang="zh-CN"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br>
            <a:r>
              <a:rPr kumimoji="0" lang="en-US" altLang="zh-CN"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t> ……</a:t>
            </a:r>
            <a:br>
              <a:rPr kumimoji="0" lang="en-US" altLang="zh-CN"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br>
            <a:r>
              <a:rPr kumimoji="0" lang="en-US" altLang="zh-CN"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rPr>
              <a:t>ENDIF</a:t>
            </a:r>
            <a:endParaRPr kumimoji="0" lang="en-US" altLang="zh-CN" sz="2400" b="1" i="1" u="none" strike="noStrike" kern="1200" cap="none" spc="0" normalizeH="0" baseline="0" noProof="0" dirty="0">
              <a:ln>
                <a:noFill/>
              </a:ln>
              <a:solidFill>
                <a:srgbClr val="0000FF"/>
              </a:solidFill>
              <a:effectLst>
                <a:outerShdw blurRad="38100" dist="38100" dir="2700000" algn="tl">
                  <a:srgbClr val="C0C0C0"/>
                </a:outerShdw>
              </a:effectLst>
              <a:uLnTx/>
              <a:uFillTx/>
              <a:latin typeface="华文中宋" panose="02010600040101010101" pitchFamily="2" charset="-122"/>
              <a:ea typeface="仿宋_GB2312" panose="02010609030101010101" pitchFamily="49" charset="-122"/>
              <a:cs typeface="+mn-cs"/>
            </a:endParaRPr>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数据说明</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77827"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77828" name="Rectangle 2"/>
          <p:cNvSpPr/>
          <p:nvPr/>
        </p:nvSpPr>
        <p:spPr>
          <a:xfrm>
            <a:off x="736600" y="1009650"/>
            <a:ext cx="3276600" cy="762000"/>
          </a:xfrm>
          <a:prstGeom prst="rect">
            <a:avLst/>
          </a:prstGeom>
          <a:noFill/>
          <a:ln w="9525">
            <a:noFill/>
          </a:ln>
        </p:spPr>
        <p:txBody>
          <a:bodyPr lIns="92075" tIns="46038" rIns="92075" bIns="46038" anchor="ctr" anchorCtr="0"/>
          <a:p>
            <a:pPr eaLnBrk="1" hangingPunct="1"/>
            <a:r>
              <a:rPr lang="en-US" altLang="zh-CN" sz="2800" dirty="0">
                <a:solidFill>
                  <a:srgbClr val="C00000"/>
                </a:solidFill>
                <a:latin typeface="Arial" panose="020B0604020202020204" pitchFamily="34" charset="0"/>
                <a:ea typeface="宋体" panose="02010600030101010101" pitchFamily="2" charset="-122"/>
              </a:rPr>
              <a:t>3</a:t>
            </a:r>
            <a:r>
              <a:rPr lang="zh-CN" altLang="en-US" sz="2800" dirty="0">
                <a:solidFill>
                  <a:srgbClr val="C00000"/>
                </a:solidFill>
                <a:latin typeface="Arial" panose="020B0604020202020204" pitchFamily="34" charset="0"/>
                <a:ea typeface="宋体" panose="02010600030101010101" pitchFamily="2" charset="-122"/>
              </a:rPr>
              <a:t>、数据说明</a:t>
            </a:r>
            <a:endParaRPr lang="zh-CN" altLang="en-US" sz="2800" b="0" dirty="0">
              <a:solidFill>
                <a:srgbClr val="C00000"/>
              </a:solidFill>
              <a:latin typeface="Arial" panose="020B0604020202020204" pitchFamily="34" charset="0"/>
              <a:ea typeface="宋体" panose="02010600030101010101" pitchFamily="2" charset="-122"/>
            </a:endParaRPr>
          </a:p>
        </p:txBody>
      </p:sp>
      <p:sp>
        <p:nvSpPr>
          <p:cNvPr id="10" name="Rectangle 3"/>
          <p:cNvSpPr>
            <a:spLocks noChangeArrowheads="1"/>
          </p:cNvSpPr>
          <p:nvPr/>
        </p:nvSpPr>
        <p:spPr bwMode="auto">
          <a:xfrm>
            <a:off x="323850" y="2039938"/>
            <a:ext cx="8496300" cy="4537075"/>
          </a:xfrm>
          <a:prstGeom prst="rect">
            <a:avLst/>
          </a:prstGeom>
          <a:noFill/>
          <a:ln>
            <a:noFill/>
          </a:ln>
          <a:effectLst/>
        </p:spPr>
        <p:txBody>
          <a:bodyPr lIns="92075" tIns="46038" rIns="92075" bIns="46038"/>
          <a:lstStyle/>
          <a:p>
            <a:pPr marL="457200" marR="0" lvl="0" indent="-457200" algn="l" defTabSz="914400" rtl="0" eaLnBrk="1" fontAlgn="base" latinLnBrk="0" hangingPunct="1">
              <a:lnSpc>
                <a:spcPct val="120000"/>
              </a:lnSpc>
              <a:spcBef>
                <a:spcPct val="0"/>
              </a:spcBef>
              <a:spcAft>
                <a:spcPct val="0"/>
              </a:spcAft>
              <a:buClr>
                <a:schemeClr val="accent2">
                  <a:lumMod val="75000"/>
                </a:schemeClr>
              </a:buClr>
              <a:buSzTx/>
              <a:buFont typeface="Wingdings" panose="05000000000000000000" pitchFamily="2" charset="2"/>
              <a:buChar char="l"/>
              <a:defRPr/>
            </a:pP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在设计阶段已经确定了数据结构的组织及其复杂性。在编写程序时，则需要注意数据说明的风格。</a:t>
            </a:r>
            <a:endPar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
                <a:schemeClr val="accent2">
                  <a:lumMod val="75000"/>
                </a:schemeClr>
              </a:buClr>
              <a:buSzTx/>
              <a:buFont typeface="Wingdings" panose="05000000000000000000" pitchFamily="2" charset="2"/>
              <a:buChar char="l"/>
              <a:defRPr/>
            </a:pP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为了使程序中数据说明更易于理解和维护，必须注意以下几点。</a:t>
            </a:r>
            <a:endPar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1.</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数据说明的次序应当规范化</a:t>
            </a:r>
            <a:endPar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2.</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说明语句中变量安排有序化</a:t>
            </a:r>
            <a:endPar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3.</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使用注释说明复杂数据结构</a:t>
            </a:r>
            <a:endParaRPr kumimoji="0" lang="zh-CN" altLang="en-US" sz="2400" b="1" i="0" u="sng"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p:txBody>
      </p:sp>
      <p:pic>
        <p:nvPicPr>
          <p:cNvPr id="77830" name="Picture 4" descr="wu07"/>
          <p:cNvPicPr>
            <a:picLocks noChangeAspect="1"/>
          </p:cNvPicPr>
          <p:nvPr/>
        </p:nvPicPr>
        <p:blipFill>
          <a:blip r:embed="rId1"/>
          <a:stretch>
            <a:fillRect/>
          </a:stretch>
        </p:blipFill>
        <p:spPr>
          <a:xfrm>
            <a:off x="179388" y="1139825"/>
            <a:ext cx="628650" cy="514350"/>
          </a:xfrm>
          <a:prstGeom prst="rect">
            <a:avLst/>
          </a:prstGeom>
          <a:noFill/>
          <a:ln w="9525">
            <a:noFill/>
          </a:ln>
        </p:spPr>
      </p:pic>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数据说明</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7987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8" name="文本框 7"/>
          <p:cNvSpPr txBox="1"/>
          <p:nvPr/>
        </p:nvSpPr>
        <p:spPr>
          <a:xfrm>
            <a:off x="254000" y="1127125"/>
            <a:ext cx="8424863" cy="523875"/>
          </a:xfrm>
          <a:prstGeom prst="rect">
            <a:avLst/>
          </a:prstGeom>
          <a:noFill/>
        </p:spPr>
        <p:txBody>
          <a:bodyPr>
            <a:spAutoFit/>
          </a:bodyPr>
          <a:lstStyle/>
          <a:p>
            <a:pPr marR="0" defTabSz="914400" eaLnBrk="1" hangingPunct="1">
              <a:buClrTx/>
              <a:buSzTx/>
              <a:buFontTx/>
              <a:buNone/>
              <a:defRPr/>
            </a:pPr>
            <a:r>
              <a:rPr kumimoji="0" lang="en-US" altLang="zh-CN" sz="2800" kern="1200" cap="none" spc="0" normalizeH="0" baseline="0" noProof="0" dirty="0">
                <a:solidFill>
                  <a:schemeClr val="accent2">
                    <a:lumMod val="75000"/>
                  </a:schemeClr>
                </a:solidFill>
                <a:latin typeface="宋体" panose="02010600030101010101" pitchFamily="2" charset="-122"/>
                <a:ea typeface="宋体" panose="02010600030101010101" pitchFamily="2" charset="-122"/>
                <a:cs typeface="+mn-cs"/>
              </a:rPr>
              <a:t>1</a:t>
            </a:r>
            <a:r>
              <a:rPr kumimoji="0" lang="zh-CN" altLang="en-US" sz="2800" kern="1200" cap="none" spc="0" normalizeH="0" baseline="0" noProof="0" dirty="0">
                <a:solidFill>
                  <a:schemeClr val="accent2">
                    <a:lumMod val="75000"/>
                  </a:schemeClr>
                </a:solidFill>
                <a:latin typeface="宋体" panose="02010600030101010101" pitchFamily="2" charset="-122"/>
                <a:ea typeface="宋体" panose="02010600030101010101" pitchFamily="2" charset="-122"/>
                <a:cs typeface="+mn-cs"/>
              </a:rPr>
              <a:t>、数据说明的次序应当规范化</a:t>
            </a:r>
            <a:endParaRPr kumimoji="0" lang="zh-CN" altLang="en-US" sz="2800" b="0" kern="1200" cap="none" spc="0" normalizeH="0" baseline="0" noProof="0" dirty="0">
              <a:solidFill>
                <a:schemeClr val="accent2">
                  <a:lumMod val="75000"/>
                </a:schemeClr>
              </a:solidFill>
              <a:latin typeface="宋体" panose="02010600030101010101" pitchFamily="2" charset="-122"/>
              <a:ea typeface="宋体" panose="02010600030101010101" pitchFamily="2" charset="-122"/>
              <a:cs typeface="+mn-cs"/>
            </a:endParaRPr>
          </a:p>
        </p:txBody>
      </p:sp>
      <p:sp>
        <p:nvSpPr>
          <p:cNvPr id="12" name="文本框 11"/>
          <p:cNvSpPr txBox="1"/>
          <p:nvPr/>
        </p:nvSpPr>
        <p:spPr>
          <a:xfrm>
            <a:off x="401638" y="1900238"/>
            <a:ext cx="8131175" cy="2792413"/>
          </a:xfrm>
          <a:prstGeom prst="rect">
            <a:avLst/>
          </a:prstGeom>
          <a:noFill/>
        </p:spPr>
        <p:txBody>
          <a:bodyPr>
            <a:spAutoFit/>
          </a:bodyPr>
          <a:lstStyle/>
          <a:p>
            <a:pPr marL="457200" marR="0" indent="-457200" defTabSz="914400" eaLnBrk="1" hangingPunct="1">
              <a:lnSpc>
                <a:spcPct val="150000"/>
              </a:lnSpc>
              <a:buClr>
                <a:schemeClr val="accent2">
                  <a:lumMod val="75000"/>
                </a:schemeClr>
              </a:buClr>
              <a:buSzTx/>
              <a:buFont typeface="Wingdings" panose="05000000000000000000" pitchFamily="2" charset="2"/>
              <a:buChar char="l"/>
              <a:defRPr/>
            </a:pPr>
            <a:r>
              <a:rPr kumimoji="0" lang="zh-CN" altLang="en-US" kern="1200" cap="none" spc="0" normalizeH="0" baseline="0" noProof="0" dirty="0">
                <a:solidFill>
                  <a:prstClr val="black"/>
                </a:solidFill>
                <a:latin typeface="Arial" panose="020B0604020202020204" pitchFamily="34" charset="0"/>
                <a:ea typeface="宋体" panose="02010600030101010101" pitchFamily="2" charset="-122"/>
                <a:cs typeface="+mn-cs"/>
              </a:rPr>
              <a:t>数据说明次序规范化，使数据属性容易查找，也有利于测试，排错和维护。</a:t>
            </a:r>
            <a:endParaRPr kumimoji="0" lang="zh-CN" altLang="en-US" kern="1200" cap="none" spc="0" normalizeH="0" baseline="0" noProof="0" dirty="0">
              <a:solidFill>
                <a:prstClr val="black"/>
              </a:solidFill>
              <a:latin typeface="Arial" panose="020B0604020202020204" pitchFamily="34" charset="0"/>
              <a:ea typeface="宋体" panose="02010600030101010101" pitchFamily="2" charset="-122"/>
              <a:cs typeface="+mn-cs"/>
            </a:endParaRPr>
          </a:p>
          <a:p>
            <a:pPr marL="457200" marR="0" indent="-457200" defTabSz="914400" eaLnBrk="1" hangingPunct="1">
              <a:lnSpc>
                <a:spcPct val="150000"/>
              </a:lnSpc>
              <a:buClr>
                <a:schemeClr val="accent2">
                  <a:lumMod val="75000"/>
                </a:schemeClr>
              </a:buClr>
              <a:buSzTx/>
              <a:buFont typeface="Wingdings" panose="05000000000000000000" pitchFamily="2" charset="2"/>
              <a:buChar char="l"/>
              <a:defRPr/>
            </a:pPr>
            <a:r>
              <a:rPr kumimoji="0" lang="zh-CN" altLang="en-US" kern="1200" cap="none" spc="0" normalizeH="0" baseline="0" noProof="0" dirty="0">
                <a:solidFill>
                  <a:srgbClr val="C00000"/>
                </a:solidFill>
                <a:latin typeface="Arial" panose="020B0604020202020204" pitchFamily="34" charset="0"/>
                <a:ea typeface="宋体" panose="02010600030101010101" pitchFamily="2" charset="-122"/>
                <a:cs typeface="+mn-cs"/>
              </a:rPr>
              <a:t>原则上，数据说明的次序与语法无关</a:t>
            </a:r>
            <a:r>
              <a:rPr kumimoji="0" lang="zh-CN" altLang="en-US" kern="1200" cap="none" spc="0" normalizeH="0" baseline="0" noProof="0" dirty="0">
                <a:solidFill>
                  <a:prstClr val="black"/>
                </a:solidFill>
                <a:latin typeface="Arial" panose="020B0604020202020204" pitchFamily="34" charset="0"/>
                <a:ea typeface="宋体" panose="02010600030101010101" pitchFamily="2" charset="-122"/>
                <a:cs typeface="+mn-cs"/>
              </a:rPr>
              <a:t>，其次序是任意的。但出于阅读、理解和维护的需要，最好使其规范化，使说明的先后次序固定。</a:t>
            </a:r>
            <a:endParaRPr kumimoji="0" lang="zh-CN" altLang="en-US" kern="1200" cap="none" spc="0" normalizeH="0" baseline="0" noProof="0" dirty="0">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数据说明</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8192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81924" name="Rectangle 2"/>
          <p:cNvSpPr/>
          <p:nvPr/>
        </p:nvSpPr>
        <p:spPr>
          <a:xfrm>
            <a:off x="627063" y="1173163"/>
            <a:ext cx="8064500" cy="5208587"/>
          </a:xfrm>
          <a:prstGeom prst="rect">
            <a:avLst/>
          </a:prstGeom>
          <a:noFill/>
          <a:ln w="9525">
            <a:noFill/>
          </a:ln>
        </p:spPr>
        <p:txBody>
          <a:bodyPr lIns="92075" tIns="46038" rIns="92075" bIns="46038"/>
          <a:p>
            <a:pPr eaLnBrk="1" hangingPunct="1"/>
            <a:r>
              <a:rPr lang="zh-CN" altLang="en-US" dirty="0">
                <a:solidFill>
                  <a:srgbClr val="000000"/>
                </a:solidFill>
                <a:latin typeface="华文中宋" panose="02010600040101010101" pitchFamily="2" charset="-122"/>
              </a:rPr>
              <a:t>例如，数据说明次序</a:t>
            </a:r>
            <a:endParaRPr lang="zh-CN" altLang="en-US" dirty="0">
              <a:solidFill>
                <a:srgbClr val="000000"/>
              </a:solidFill>
              <a:latin typeface="华文中宋" panose="02010600040101010101" pitchFamily="2" charset="-122"/>
            </a:endParaRPr>
          </a:p>
          <a:p>
            <a:pPr eaLnBrk="1" hangingPunct="1"/>
            <a:r>
              <a:rPr lang="zh-CN" altLang="en-US" dirty="0">
                <a:solidFill>
                  <a:srgbClr val="000000"/>
                </a:solidFill>
                <a:latin typeface="华文中宋" panose="02010600040101010101" pitchFamily="2" charset="-122"/>
              </a:rPr>
              <a:t>		</a:t>
            </a:r>
            <a:r>
              <a:rPr lang="zh-CN" altLang="en-US" dirty="0">
                <a:solidFill>
                  <a:srgbClr val="C00000"/>
                </a:solidFill>
                <a:latin typeface="华文中宋" panose="02010600040101010101" pitchFamily="2" charset="-122"/>
              </a:rPr>
              <a:t>① 常量说明</a:t>
            </a:r>
            <a:endParaRPr lang="zh-CN" altLang="en-US" dirty="0">
              <a:solidFill>
                <a:srgbClr val="C00000"/>
              </a:solidFill>
              <a:latin typeface="华文中宋" panose="02010600040101010101" pitchFamily="2" charset="-122"/>
            </a:endParaRPr>
          </a:p>
          <a:p>
            <a:pPr eaLnBrk="1" hangingPunct="1"/>
            <a:r>
              <a:rPr lang="zh-CN" altLang="en-US" dirty="0">
                <a:solidFill>
                  <a:srgbClr val="C00000"/>
                </a:solidFill>
                <a:latin typeface="华文中宋" panose="02010600040101010101" pitchFamily="2" charset="-122"/>
              </a:rPr>
              <a:t>		② 简单变量类型说明</a:t>
            </a:r>
            <a:endParaRPr lang="zh-CN" altLang="en-US" dirty="0">
              <a:solidFill>
                <a:srgbClr val="C00000"/>
              </a:solidFill>
              <a:latin typeface="华文中宋" panose="02010600040101010101" pitchFamily="2" charset="-122"/>
            </a:endParaRPr>
          </a:p>
          <a:p>
            <a:pPr eaLnBrk="1" hangingPunct="1"/>
            <a:r>
              <a:rPr lang="zh-CN" altLang="en-US" dirty="0">
                <a:solidFill>
                  <a:srgbClr val="C00000"/>
                </a:solidFill>
                <a:latin typeface="华文中宋" panose="02010600040101010101" pitchFamily="2" charset="-122"/>
              </a:rPr>
              <a:t>		③ 数组说明</a:t>
            </a:r>
            <a:endParaRPr lang="zh-CN" altLang="en-US" dirty="0">
              <a:solidFill>
                <a:srgbClr val="C00000"/>
              </a:solidFill>
              <a:latin typeface="华文中宋" panose="02010600040101010101" pitchFamily="2" charset="-122"/>
            </a:endParaRPr>
          </a:p>
          <a:p>
            <a:pPr eaLnBrk="1" hangingPunct="1"/>
            <a:r>
              <a:rPr lang="zh-CN" altLang="en-US" dirty="0">
                <a:solidFill>
                  <a:srgbClr val="C00000"/>
                </a:solidFill>
                <a:latin typeface="华文中宋" panose="02010600040101010101" pitchFamily="2" charset="-122"/>
              </a:rPr>
              <a:t>		④ 公用数据块说明</a:t>
            </a:r>
            <a:endParaRPr lang="zh-CN" altLang="en-US" dirty="0">
              <a:solidFill>
                <a:srgbClr val="C00000"/>
              </a:solidFill>
              <a:latin typeface="华文中宋" panose="02010600040101010101" pitchFamily="2" charset="-122"/>
            </a:endParaRPr>
          </a:p>
          <a:p>
            <a:pPr eaLnBrk="1" hangingPunct="1"/>
            <a:r>
              <a:rPr lang="zh-CN" altLang="en-US" dirty="0">
                <a:solidFill>
                  <a:srgbClr val="C00000"/>
                </a:solidFill>
                <a:latin typeface="华文中宋" panose="02010600040101010101" pitchFamily="2" charset="-122"/>
              </a:rPr>
              <a:t>		⑤ 所有的文件说明</a:t>
            </a:r>
            <a:endParaRPr lang="zh-CN" altLang="en-US" dirty="0">
              <a:solidFill>
                <a:srgbClr val="C00000"/>
              </a:solidFill>
              <a:latin typeface="华文中宋" panose="02010600040101010101" pitchFamily="2" charset="-122"/>
            </a:endParaRPr>
          </a:p>
          <a:p>
            <a:pPr eaLnBrk="1" hangingPunct="1"/>
            <a:r>
              <a:rPr lang="zh-CN" altLang="en-US" dirty="0">
                <a:solidFill>
                  <a:srgbClr val="000000"/>
                </a:solidFill>
                <a:latin typeface="华文中宋" panose="02010600040101010101" pitchFamily="2" charset="-122"/>
              </a:rPr>
              <a:t>在类型说明中还可进一步要求。例如，可按如下顺序排列：</a:t>
            </a:r>
            <a:endParaRPr lang="zh-CN" altLang="en-US" dirty="0">
              <a:solidFill>
                <a:srgbClr val="000000"/>
              </a:solidFill>
              <a:latin typeface="华文中宋" panose="02010600040101010101" pitchFamily="2" charset="-122"/>
            </a:endParaRPr>
          </a:p>
          <a:p>
            <a:pPr eaLnBrk="1" hangingPunct="1"/>
            <a:r>
              <a:rPr lang="zh-CN" altLang="en-US" dirty="0">
                <a:solidFill>
                  <a:srgbClr val="000000"/>
                </a:solidFill>
                <a:latin typeface="华文中宋" panose="02010600040101010101" pitchFamily="2" charset="-122"/>
              </a:rPr>
              <a:t>		</a:t>
            </a:r>
            <a:r>
              <a:rPr lang="zh-CN" altLang="en-US" dirty="0">
                <a:solidFill>
                  <a:srgbClr val="C00000"/>
                </a:solidFill>
                <a:latin typeface="华文中宋" panose="02010600040101010101" pitchFamily="2" charset="-122"/>
              </a:rPr>
              <a:t>① 整型量说明</a:t>
            </a:r>
            <a:endParaRPr lang="zh-CN" altLang="en-US" dirty="0">
              <a:solidFill>
                <a:srgbClr val="C00000"/>
              </a:solidFill>
              <a:latin typeface="华文中宋" panose="02010600040101010101" pitchFamily="2" charset="-122"/>
            </a:endParaRPr>
          </a:p>
          <a:p>
            <a:pPr eaLnBrk="1" hangingPunct="1"/>
            <a:r>
              <a:rPr lang="zh-CN" altLang="en-US" dirty="0">
                <a:solidFill>
                  <a:srgbClr val="C00000"/>
                </a:solidFill>
                <a:latin typeface="华文中宋" panose="02010600040101010101" pitchFamily="2" charset="-122"/>
              </a:rPr>
              <a:t>		② 实型量说明</a:t>
            </a:r>
            <a:endParaRPr lang="zh-CN" altLang="en-US" dirty="0">
              <a:solidFill>
                <a:srgbClr val="C00000"/>
              </a:solidFill>
              <a:latin typeface="华文中宋" panose="02010600040101010101" pitchFamily="2" charset="-122"/>
            </a:endParaRPr>
          </a:p>
          <a:p>
            <a:pPr eaLnBrk="1" hangingPunct="1"/>
            <a:r>
              <a:rPr lang="zh-CN" altLang="en-US" dirty="0">
                <a:solidFill>
                  <a:srgbClr val="C00000"/>
                </a:solidFill>
                <a:latin typeface="华文中宋" panose="02010600040101010101" pitchFamily="2" charset="-122"/>
              </a:rPr>
              <a:t>		③ 字符量说明</a:t>
            </a:r>
            <a:endParaRPr lang="zh-CN" altLang="en-US" dirty="0">
              <a:solidFill>
                <a:srgbClr val="C00000"/>
              </a:solidFill>
              <a:latin typeface="华文中宋" panose="02010600040101010101" pitchFamily="2" charset="-122"/>
            </a:endParaRPr>
          </a:p>
          <a:p>
            <a:pPr eaLnBrk="1" hangingPunct="1"/>
            <a:r>
              <a:rPr lang="zh-CN" altLang="en-US" dirty="0">
                <a:solidFill>
                  <a:srgbClr val="C00000"/>
                </a:solidFill>
                <a:latin typeface="华文中宋" panose="02010600040101010101" pitchFamily="2" charset="-122"/>
              </a:rPr>
              <a:t>		④ 逻辑量说明</a:t>
            </a:r>
            <a:endParaRPr lang="zh-CN" altLang="en-US" dirty="0">
              <a:solidFill>
                <a:srgbClr val="C00000"/>
              </a:solidFill>
              <a:latin typeface="华文中宋" panose="02010600040101010101" pitchFamily="2" charset="-122"/>
            </a:endParaRPr>
          </a:p>
        </p:txBody>
      </p:sp>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数据说明</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8397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5" name="Rectangle 2"/>
          <p:cNvSpPr>
            <a:spLocks noChangeArrowheads="1"/>
          </p:cNvSpPr>
          <p:nvPr/>
        </p:nvSpPr>
        <p:spPr bwMode="auto">
          <a:xfrm>
            <a:off x="323850" y="946150"/>
            <a:ext cx="7696200" cy="762000"/>
          </a:xfrm>
          <a:prstGeom prst="rect">
            <a:avLst/>
          </a:prstGeom>
          <a:noFill/>
          <a:ln>
            <a:noFill/>
          </a:ln>
          <a:effectLst/>
        </p:spPr>
        <p:txBody>
          <a:bodyPr lIns="92075" tIns="46038" rIns="92075" bIns="46038" anchor="ct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2</a:t>
            </a:r>
            <a:r>
              <a:rPr kumimoji="0"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、说明语句中变量安排有序化</a:t>
            </a:r>
            <a:endParaRPr kumimoji="0" lang="zh-CN" altLang="en-US" sz="28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81925" name="Rectangle 3"/>
          <p:cNvSpPr>
            <a:spLocks noChangeArrowheads="1"/>
          </p:cNvSpPr>
          <p:nvPr/>
        </p:nvSpPr>
        <p:spPr bwMode="auto">
          <a:xfrm>
            <a:off x="468313" y="1760538"/>
            <a:ext cx="7848600" cy="4568825"/>
          </a:xfrm>
          <a:prstGeom prst="rect">
            <a:avLst/>
          </a:prstGeom>
          <a:noFill/>
          <a:ln>
            <a:noFill/>
          </a:ln>
          <a:effectLst/>
        </p:spPr>
        <p:txBody>
          <a:bodyPr lIns="92075" tIns="46038" rIns="92075" bIns="46038"/>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当多个变量名在一个说明语句中说明时，应当对这些变量按字母的顺序排列</a:t>
            </a: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。带标号的全程数据</a:t>
            </a:r>
            <a:r>
              <a:rPr kumimoji="0" lang="en-US"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a:t>
            </a:r>
            <a:r>
              <a:rPr kumimoji="0" lang="en-US"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FORTRAN</a:t>
            </a: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的公用块</a:t>
            </a:r>
            <a:r>
              <a:rPr kumimoji="0" lang="en-US"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也应当按字母的顺序排列。</a:t>
            </a:r>
            <a:endPar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例如，把</a:t>
            </a:r>
            <a:endPar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9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a:t>
            </a: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integer  </a:t>
            </a:r>
            <a:r>
              <a:rPr kumimoji="0" lang="en-US" altLang="zh-CN" sz="2400" b="1"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size</a:t>
            </a: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a:t>
            </a:r>
            <a:r>
              <a:rPr kumimoji="0" lang="en-US" altLang="zh-CN" sz="2400" b="1"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length</a:t>
            </a: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1"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width</a:t>
            </a: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a:t>
            </a:r>
            <a:r>
              <a:rPr kumimoji="0" lang="en-US" altLang="zh-CN" sz="2400" b="1"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cost</a:t>
            </a: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a:t>
            </a:r>
            <a:r>
              <a:rPr kumimoji="0" lang="en-US" altLang="zh-CN" sz="2400" b="1" i="1" u="none" strike="noStrike" kern="120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price</a:t>
            </a:r>
            <a:endParaRPr kumimoji="0" lang="en-US" altLang="zh-CN" sz="2400" b="1" i="1" u="none" strike="noStrike" kern="120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90000"/>
              </a:lnSpc>
              <a:spcBef>
                <a:spcPct val="0"/>
              </a:spcBef>
              <a:spcAft>
                <a:spcPct val="0"/>
              </a:spcAft>
              <a:buClrTx/>
              <a:buSzTx/>
              <a:buFontTx/>
              <a:buNone/>
              <a:defRPr/>
            </a:pPr>
            <a:br>
              <a:rPr kumimoji="0" lang="en-US" altLang="zh-CN"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b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写成</a:t>
            </a:r>
            <a:br>
              <a:rPr kumimoji="0" lang="zh-CN" altLang="en-US"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br>
            <a:endParaRPr kumimoji="0" lang="en-US" altLang="zh-CN" sz="2400" b="1" i="0" u="none" strike="noStrike" kern="120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a:t>
            </a:r>
            <a:r>
              <a:rPr kumimoji="0" lang="en-US" altLang="zh-CN" sz="2400" b="1" i="0" u="none" strike="noStrike" kern="120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a:t>
            </a:r>
            <a:r>
              <a:rPr kumimoji="0" lang="zh-CN" altLang="en-US" sz="2400" b="1" i="0" u="none" strike="noStrike" kern="1200" cap="none" spc="0" normalizeH="0" baseline="0" noProof="0" dirty="0" smtClean="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a:t>
            </a: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integer </a:t>
            </a:r>
            <a:r>
              <a:rPr kumimoji="0" lang="en-US" altLang="zh-CN" sz="2400" b="1"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cost</a:t>
            </a: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a:t>
            </a:r>
            <a:r>
              <a:rPr kumimoji="0" lang="en-US" altLang="zh-CN" sz="2400" b="1"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length</a:t>
            </a: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1"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price </a:t>
            </a: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1"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size</a:t>
            </a: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a:t>
            </a:r>
            <a:r>
              <a:rPr kumimoji="0" lang="en-US" altLang="zh-CN" sz="2400" b="1" i="1"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width</a:t>
            </a: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a:t>
            </a:r>
            <a:br>
              <a:rPr kumimoji="0" lang="en-US" altLang="zh-CN"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br>
            <a:endParaRPr kumimoji="0" lang="en-US" altLang="zh-CN"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数据说明</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8601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5" name="Rectangle 2"/>
          <p:cNvSpPr>
            <a:spLocks noChangeArrowheads="1"/>
          </p:cNvSpPr>
          <p:nvPr/>
        </p:nvSpPr>
        <p:spPr bwMode="auto">
          <a:xfrm>
            <a:off x="295275" y="927100"/>
            <a:ext cx="7391400" cy="838200"/>
          </a:xfrm>
          <a:prstGeom prst="rect">
            <a:avLst/>
          </a:prstGeom>
          <a:noFill/>
          <a:ln>
            <a:noFill/>
          </a:ln>
          <a:effectLst/>
        </p:spPr>
        <p:txBody>
          <a:bodyPr lIns="92075" tIns="46038" rIns="92075" bIns="46038" anchor="ct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3</a:t>
            </a:r>
            <a:r>
              <a:rPr kumimoji="0" lang="zh-CN" altLang="en-US" sz="28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、使用注释说明复杂数据结构</a:t>
            </a:r>
            <a:endParaRPr kumimoji="0" lang="zh-CN" altLang="en-US" sz="2800" b="0"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p:txBody>
      </p:sp>
      <p:sp>
        <p:nvSpPr>
          <p:cNvPr id="83973" name="Rectangle 3"/>
          <p:cNvSpPr>
            <a:spLocks noChangeArrowheads="1"/>
          </p:cNvSpPr>
          <p:nvPr/>
        </p:nvSpPr>
        <p:spPr bwMode="auto">
          <a:xfrm>
            <a:off x="381000" y="1793875"/>
            <a:ext cx="8382000" cy="4857750"/>
          </a:xfrm>
          <a:prstGeom prst="rect">
            <a:avLst/>
          </a:prstGeom>
          <a:noFill/>
          <a:ln>
            <a:noFill/>
          </a:ln>
          <a:effectLst/>
        </p:spPr>
        <p:txBody>
          <a:bodyPr lIns="92075" tIns="46038" rIns="92075" bIns="46038"/>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如果设计了一个</a:t>
            </a:r>
            <a:r>
              <a:rPr kumimoji="0"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复杂的数据结构</a:t>
            </a: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，应当使用</a:t>
            </a:r>
            <a:r>
              <a:rPr kumimoji="0"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注释</a:t>
            </a: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来说明在程序实现时这个数据结构的固有特点。</a:t>
            </a:r>
            <a:endPar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例如</a:t>
            </a:r>
            <a:r>
              <a:rPr kumimoji="0"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对</a:t>
            </a:r>
            <a:r>
              <a:rPr kumimoji="0" lang="en-US" altLang="zh-CN" sz="2400" b="1" i="1"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PL</a:t>
            </a:r>
            <a:r>
              <a:rPr kumimoji="0"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/1</a:t>
            </a: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的链表结构和</a:t>
            </a:r>
            <a:r>
              <a:rPr kumimoji="0" lang="en-US" altLang="zh-CN" sz="2400" b="1" i="1"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Pascal</a:t>
            </a: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中用户</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自定义的数据类型</a:t>
            </a: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，都应当在注释中做必要的补充说明。</a:t>
            </a:r>
            <a:endPar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数据说明</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88067"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88068" name="Rectangle 2"/>
          <p:cNvSpPr/>
          <p:nvPr/>
        </p:nvSpPr>
        <p:spPr>
          <a:xfrm>
            <a:off x="684213" y="963613"/>
            <a:ext cx="4724400" cy="762000"/>
          </a:xfrm>
          <a:prstGeom prst="rect">
            <a:avLst/>
          </a:prstGeom>
          <a:noFill/>
          <a:ln w="9525">
            <a:noFill/>
          </a:ln>
        </p:spPr>
        <p:txBody>
          <a:bodyPr lIns="92075" tIns="46038" rIns="92075" bIns="46038" anchor="ctr" anchorCtr="0"/>
          <a:p>
            <a:pPr algn="just" eaLnBrk="1" hangingPunct="1"/>
            <a:r>
              <a:rPr lang="en-US" altLang="zh-CN" sz="2800" dirty="0">
                <a:solidFill>
                  <a:srgbClr val="CC0000"/>
                </a:solidFill>
                <a:latin typeface="华文中宋" panose="02010600040101010101" pitchFamily="2" charset="-122"/>
              </a:rPr>
              <a:t>4</a:t>
            </a:r>
            <a:r>
              <a:rPr lang="zh-CN" altLang="en-US" sz="2800" dirty="0">
                <a:solidFill>
                  <a:srgbClr val="CC0000"/>
                </a:solidFill>
                <a:latin typeface="华文中宋" panose="02010600040101010101" pitchFamily="2" charset="-122"/>
              </a:rPr>
              <a:t>、语句结构</a:t>
            </a:r>
            <a:endParaRPr lang="zh-CN" altLang="en-US" sz="2800" dirty="0">
              <a:solidFill>
                <a:srgbClr val="CC0000"/>
              </a:solidFill>
              <a:latin typeface="华文中宋" panose="02010600040101010101" pitchFamily="2" charset="-122"/>
            </a:endParaRPr>
          </a:p>
        </p:txBody>
      </p:sp>
      <p:pic>
        <p:nvPicPr>
          <p:cNvPr id="88069" name="Picture 4" descr="wu07"/>
          <p:cNvPicPr>
            <a:picLocks noChangeAspect="1"/>
          </p:cNvPicPr>
          <p:nvPr/>
        </p:nvPicPr>
        <p:blipFill>
          <a:blip r:embed="rId1"/>
          <a:stretch>
            <a:fillRect/>
          </a:stretch>
        </p:blipFill>
        <p:spPr>
          <a:xfrm>
            <a:off x="179388" y="1087438"/>
            <a:ext cx="628650" cy="514350"/>
          </a:xfrm>
          <a:prstGeom prst="rect">
            <a:avLst/>
          </a:prstGeom>
          <a:noFill/>
          <a:ln w="9525">
            <a:noFill/>
          </a:ln>
        </p:spPr>
      </p:pic>
      <p:sp>
        <p:nvSpPr>
          <p:cNvPr id="88070" name="Rectangle 3"/>
          <p:cNvSpPr/>
          <p:nvPr/>
        </p:nvSpPr>
        <p:spPr>
          <a:xfrm>
            <a:off x="539750" y="1889125"/>
            <a:ext cx="7848600" cy="3124200"/>
          </a:xfrm>
          <a:prstGeom prst="rect">
            <a:avLst/>
          </a:prstGeom>
          <a:noFill/>
          <a:ln w="9525">
            <a:noFill/>
          </a:ln>
        </p:spPr>
        <p:txBody>
          <a:bodyPr lIns="92075" tIns="46038" rIns="92075" bIns="46038"/>
          <a:p>
            <a:pPr eaLnBrk="1" hangingPunct="1">
              <a:lnSpc>
                <a:spcPct val="150000"/>
              </a:lnSpc>
            </a:pPr>
            <a:r>
              <a:rPr lang="zh-CN" altLang="en-US" b="0" dirty="0">
                <a:solidFill>
                  <a:srgbClr val="000000"/>
                </a:solidFill>
                <a:latin typeface="华文中宋" panose="02010600040101010101" pitchFamily="2" charset="-122"/>
              </a:rPr>
              <a:t>在设计阶段确定了软件的逻辑流结构，但构造单个语句则是编码阶段的任务。语句构造力求简单，直接，不能为了片面追求效率而使语句复杂化。</a:t>
            </a:r>
            <a:endParaRPr lang="zh-CN" altLang="en-US" b="0" dirty="0">
              <a:solidFill>
                <a:srgbClr val="000000"/>
              </a:solidFill>
              <a:latin typeface="华文中宋" panose="02010600040101010101" pitchFamily="2" charset="-122"/>
            </a:endParaRPr>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在一行内只写一条语句</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9011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7" name="Rectangle 2"/>
          <p:cNvSpPr>
            <a:spLocks noChangeArrowheads="1"/>
          </p:cNvSpPr>
          <p:nvPr/>
        </p:nvSpPr>
        <p:spPr bwMode="auto">
          <a:xfrm>
            <a:off x="250825" y="946150"/>
            <a:ext cx="6172200" cy="762000"/>
          </a:xfrm>
          <a:prstGeom prst="rect">
            <a:avLst/>
          </a:prstGeom>
          <a:noFill/>
          <a:ln>
            <a:noFill/>
          </a:ln>
          <a:effectLst/>
        </p:spPr>
        <p:txBody>
          <a:bodyPr lIns="92075" tIns="46038" rIns="92075" bIns="46038"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1. </a:t>
            </a:r>
            <a:r>
              <a:rPr kumimoji="0"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在一行内只写一条语句</a:t>
            </a:r>
            <a:endParaRPr kumimoji="0" lang="zh-CN" altLang="en-US" sz="28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8" name="Rectangle 3"/>
          <p:cNvSpPr>
            <a:spLocks noChangeArrowheads="1"/>
          </p:cNvSpPr>
          <p:nvPr/>
        </p:nvSpPr>
        <p:spPr bwMode="auto">
          <a:xfrm>
            <a:off x="723900" y="1797050"/>
            <a:ext cx="7696200" cy="3733800"/>
          </a:xfrm>
          <a:prstGeom prst="rect">
            <a:avLst/>
          </a:prstGeom>
          <a:noFill/>
          <a:ln>
            <a:noFill/>
          </a:ln>
          <a:effectLst/>
        </p:spPr>
        <p:txBody>
          <a:bodyPr lIns="92075" tIns="46038" rIns="92075" bIns="46038"/>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在一行内只写一条语句，并且采取适当的移行格式，使程序的逻辑和功能变得更加明确。</a:t>
            </a:r>
            <a:endParaRPr kumimoji="0" lang="zh-CN" altLang="en-US" sz="2400" b="0" i="0" u="none" strike="noStrike" kern="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许多程序设计语言允许</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在一行内写多个语句</a:t>
            </a:r>
            <a:r>
              <a:rPr kumimoji="0" lang="zh-CN" altLang="en-US" sz="2400" b="0" i="0" u="none" strike="noStrike" kern="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。但这种方式</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会使程序可读性变差</a:t>
            </a:r>
            <a:r>
              <a:rPr kumimoji="0" lang="zh-CN" altLang="en-US" sz="2400" b="0" i="0" u="none" strike="noStrike" kern="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。因而不可取。</a:t>
            </a:r>
            <a:endParaRPr kumimoji="0" lang="zh-CN" altLang="en-US" sz="2400" b="0" i="0" u="none" strike="noStrike" kern="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在一行内只写一条语句</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9216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90116" name="Rectangle 3"/>
          <p:cNvSpPr>
            <a:spLocks noChangeArrowheads="1"/>
          </p:cNvSpPr>
          <p:nvPr/>
        </p:nvSpPr>
        <p:spPr bwMode="auto">
          <a:xfrm>
            <a:off x="571500" y="1268413"/>
            <a:ext cx="8001000" cy="4321175"/>
          </a:xfrm>
          <a:prstGeom prst="rect">
            <a:avLst/>
          </a:prstGeom>
          <a:noFill/>
          <a:ln>
            <a:noFill/>
          </a:ln>
          <a:effectLst/>
        </p:spPr>
        <p:txBody>
          <a:bodyPr lIns="92075" tIns="46038" rIns="92075" bIns="46038"/>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例如，有一段排序程序</a:t>
            </a:r>
            <a:br>
              <a:rPr kumimoji="0" lang="zh-CN" altLang="en-US"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b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FOR I:=1 TO N</a:t>
            </a:r>
            <a:r>
              <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1 DO BEGIN T:=I</a:t>
            </a:r>
            <a:r>
              <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FOR J:=I</a:t>
            </a:r>
            <a:r>
              <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1 TO N DO IF A[J]</a:t>
            </a:r>
            <a:r>
              <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THEN T:=J</a:t>
            </a:r>
            <a:r>
              <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IF T≠I THEN BEGIN  WORK:=A[T]</a:t>
            </a:r>
            <a:r>
              <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A[T]:=A[I]</a:t>
            </a:r>
            <a:r>
              <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A[I]:=WORK</a:t>
            </a:r>
            <a:r>
              <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END ;END</a:t>
            </a:r>
            <a:r>
              <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endPar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由于一行中包括了多个语句，掩盖了程序的循环结构和条件结构，使其可读性变得很差。</a:t>
            </a:r>
            <a:endParaRPr kumimoji="0" lang="zh-CN" altLang="en-US" sz="2400" b="1"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改进布局</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9421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94212" name="Rectangle 2"/>
          <p:cNvSpPr/>
          <p:nvPr/>
        </p:nvSpPr>
        <p:spPr>
          <a:xfrm>
            <a:off x="685800" y="1546225"/>
            <a:ext cx="7772400" cy="4848225"/>
          </a:xfrm>
          <a:prstGeom prst="rect">
            <a:avLst/>
          </a:prstGeom>
          <a:noFill/>
          <a:ln w="9525">
            <a:noFill/>
          </a:ln>
        </p:spPr>
        <p:txBody>
          <a:bodyPr lIns="92075" tIns="46038" rIns="92075" bIns="46038"/>
          <a:p>
            <a:pPr eaLnBrk="1" hangingPunct="1"/>
            <a:r>
              <a:rPr lang="en-US" altLang="zh-CN" dirty="0">
                <a:solidFill>
                  <a:srgbClr val="000000"/>
                </a:solidFill>
                <a:latin typeface="华文中宋" panose="02010600040101010101" pitchFamily="2" charset="-122"/>
              </a:rPr>
              <a:t>FOR  I:=1  TO  N-1  DO      //</a:t>
            </a:r>
            <a:r>
              <a:rPr lang="zh-CN" altLang="zh-CN" dirty="0">
                <a:solidFill>
                  <a:srgbClr val="000000"/>
                </a:solidFill>
                <a:latin typeface="华文中宋" panose="02010600040101010101" pitchFamily="2" charset="-122"/>
              </a:rPr>
              <a:t>改进布局</a:t>
            </a:r>
            <a:br>
              <a:rPr lang="zh-CN" altLang="en-US" dirty="0">
                <a:solidFill>
                  <a:srgbClr val="000000"/>
                </a:solidFill>
                <a:latin typeface="华文中宋" panose="02010600040101010101" pitchFamily="2" charset="-122"/>
              </a:rPr>
            </a:br>
            <a:r>
              <a:rPr lang="zh-CN" altLang="en-US" dirty="0">
                <a:solidFill>
                  <a:srgbClr val="000000"/>
                </a:solidFill>
                <a:latin typeface="华文中宋" panose="02010600040101010101" pitchFamily="2" charset="-122"/>
              </a:rPr>
              <a:t>  </a:t>
            </a:r>
            <a:r>
              <a:rPr lang="en-US" altLang="zh-CN" dirty="0">
                <a:solidFill>
                  <a:srgbClr val="000000"/>
                </a:solidFill>
                <a:latin typeface="华文中宋" panose="02010600040101010101" pitchFamily="2" charset="-122"/>
              </a:rPr>
              <a:t>BEGIN</a:t>
            </a:r>
            <a:br>
              <a:rPr lang="en-US" altLang="zh-CN" dirty="0">
                <a:solidFill>
                  <a:srgbClr val="000000"/>
                </a:solidFill>
                <a:latin typeface="华文中宋" panose="02010600040101010101" pitchFamily="2" charset="-122"/>
              </a:rPr>
            </a:br>
            <a:r>
              <a:rPr lang="en-US" altLang="zh-CN" dirty="0">
                <a:solidFill>
                  <a:srgbClr val="000000"/>
                </a:solidFill>
                <a:latin typeface="华文中宋" panose="02010600040101010101" pitchFamily="2" charset="-122"/>
              </a:rPr>
              <a:t>       T:=I</a:t>
            </a:r>
            <a:r>
              <a:rPr lang="zh-CN" altLang="en-US" dirty="0">
                <a:solidFill>
                  <a:srgbClr val="000000"/>
                </a:solidFill>
                <a:latin typeface="华文中宋" panose="02010600040101010101" pitchFamily="2" charset="-122"/>
              </a:rPr>
              <a:t>；</a:t>
            </a:r>
            <a:br>
              <a:rPr lang="zh-CN" altLang="en-US" dirty="0">
                <a:solidFill>
                  <a:srgbClr val="000000"/>
                </a:solidFill>
                <a:latin typeface="华文中宋" panose="02010600040101010101" pitchFamily="2" charset="-122"/>
              </a:rPr>
            </a:br>
            <a:r>
              <a:rPr lang="zh-CN" altLang="en-US" dirty="0">
                <a:solidFill>
                  <a:srgbClr val="000000"/>
                </a:solidFill>
                <a:latin typeface="华文中宋" panose="02010600040101010101" pitchFamily="2" charset="-122"/>
              </a:rPr>
              <a:t>       </a:t>
            </a:r>
            <a:r>
              <a:rPr lang="en-US" altLang="zh-CN" dirty="0">
                <a:solidFill>
                  <a:srgbClr val="000000"/>
                </a:solidFill>
                <a:latin typeface="华文中宋" panose="02010600040101010101" pitchFamily="2" charset="-122"/>
              </a:rPr>
              <a:t>FOR  J:=I</a:t>
            </a:r>
            <a:r>
              <a:rPr lang="zh-CN" altLang="en-US" dirty="0">
                <a:solidFill>
                  <a:srgbClr val="000000"/>
                </a:solidFill>
                <a:latin typeface="华文中宋" panose="02010600040101010101" pitchFamily="2" charset="-122"/>
              </a:rPr>
              <a:t>＋</a:t>
            </a:r>
            <a:r>
              <a:rPr lang="en-US" altLang="zh-CN" dirty="0">
                <a:solidFill>
                  <a:srgbClr val="000000"/>
                </a:solidFill>
                <a:latin typeface="华文中宋" panose="02010600040101010101" pitchFamily="2" charset="-122"/>
              </a:rPr>
              <a:t>1  TO  N  DO</a:t>
            </a:r>
            <a:br>
              <a:rPr lang="en-US" altLang="zh-CN" dirty="0">
                <a:solidFill>
                  <a:srgbClr val="000000"/>
                </a:solidFill>
                <a:latin typeface="华文中宋" panose="02010600040101010101" pitchFamily="2" charset="-122"/>
              </a:rPr>
            </a:br>
            <a:r>
              <a:rPr lang="en-US" altLang="zh-CN" dirty="0">
                <a:solidFill>
                  <a:srgbClr val="000000"/>
                </a:solidFill>
                <a:latin typeface="华文中宋" panose="02010600040101010101" pitchFamily="2" charset="-122"/>
              </a:rPr>
              <a:t>             IF  A[J]</a:t>
            </a:r>
            <a:r>
              <a:rPr lang="zh-CN" altLang="en-US" dirty="0">
                <a:solidFill>
                  <a:srgbClr val="000000"/>
                </a:solidFill>
                <a:latin typeface="华文中宋" panose="02010600040101010101" pitchFamily="2" charset="-122"/>
              </a:rPr>
              <a:t>＜</a:t>
            </a:r>
            <a:r>
              <a:rPr lang="en-US" altLang="zh-CN" dirty="0">
                <a:solidFill>
                  <a:srgbClr val="000000"/>
                </a:solidFill>
                <a:latin typeface="华文中宋" panose="02010600040101010101" pitchFamily="2" charset="-122"/>
              </a:rPr>
              <a:t>A[T]  THEN  T:=J</a:t>
            </a:r>
            <a:r>
              <a:rPr lang="zh-CN" altLang="en-US" dirty="0">
                <a:solidFill>
                  <a:srgbClr val="000000"/>
                </a:solidFill>
                <a:latin typeface="华文中宋" panose="02010600040101010101" pitchFamily="2" charset="-122"/>
              </a:rPr>
              <a:t>；</a:t>
            </a:r>
            <a:br>
              <a:rPr lang="zh-CN" altLang="en-US" dirty="0">
                <a:solidFill>
                  <a:srgbClr val="000000"/>
                </a:solidFill>
                <a:latin typeface="华文中宋" panose="02010600040101010101" pitchFamily="2" charset="-122"/>
              </a:rPr>
            </a:br>
            <a:r>
              <a:rPr lang="zh-CN" altLang="en-US" dirty="0">
                <a:solidFill>
                  <a:srgbClr val="000000"/>
                </a:solidFill>
                <a:latin typeface="华文中宋" panose="02010600040101010101" pitchFamily="2" charset="-122"/>
              </a:rPr>
              <a:t>       </a:t>
            </a:r>
            <a:r>
              <a:rPr lang="en-US" altLang="zh-CN" dirty="0">
                <a:solidFill>
                  <a:srgbClr val="000000"/>
                </a:solidFill>
                <a:latin typeface="华文中宋" panose="02010600040101010101" pitchFamily="2" charset="-122"/>
              </a:rPr>
              <a:t>IF  T≠I  THEN</a:t>
            </a:r>
            <a:br>
              <a:rPr lang="en-US" altLang="zh-CN" dirty="0">
                <a:solidFill>
                  <a:srgbClr val="000000"/>
                </a:solidFill>
                <a:latin typeface="华文中宋" panose="02010600040101010101" pitchFamily="2" charset="-122"/>
              </a:rPr>
            </a:br>
            <a:r>
              <a:rPr lang="en-US" altLang="zh-CN" dirty="0">
                <a:solidFill>
                  <a:srgbClr val="000000"/>
                </a:solidFill>
                <a:latin typeface="华文中宋" panose="02010600040101010101" pitchFamily="2" charset="-122"/>
              </a:rPr>
              <a:t>           BEGIN</a:t>
            </a:r>
            <a:br>
              <a:rPr lang="en-US" altLang="zh-CN" dirty="0">
                <a:solidFill>
                  <a:srgbClr val="000000"/>
                </a:solidFill>
                <a:latin typeface="华文中宋" panose="02010600040101010101" pitchFamily="2" charset="-122"/>
              </a:rPr>
            </a:br>
            <a:r>
              <a:rPr lang="en-US" altLang="zh-CN" dirty="0">
                <a:solidFill>
                  <a:srgbClr val="000000"/>
                </a:solidFill>
                <a:latin typeface="华文中宋" panose="02010600040101010101" pitchFamily="2" charset="-122"/>
              </a:rPr>
              <a:t>                WORK:=A[T]</a:t>
            </a:r>
            <a:r>
              <a:rPr lang="zh-CN" altLang="en-US" dirty="0">
                <a:solidFill>
                  <a:srgbClr val="000000"/>
                </a:solidFill>
                <a:latin typeface="华文中宋" panose="02010600040101010101" pitchFamily="2" charset="-122"/>
              </a:rPr>
              <a:t>；</a:t>
            </a:r>
            <a:br>
              <a:rPr lang="zh-CN" altLang="en-US" dirty="0">
                <a:solidFill>
                  <a:srgbClr val="000000"/>
                </a:solidFill>
                <a:latin typeface="华文中宋" panose="02010600040101010101" pitchFamily="2" charset="-122"/>
              </a:rPr>
            </a:br>
            <a:r>
              <a:rPr lang="zh-CN" altLang="en-US" dirty="0">
                <a:solidFill>
                  <a:srgbClr val="000000"/>
                </a:solidFill>
                <a:latin typeface="华文中宋" panose="02010600040101010101" pitchFamily="2" charset="-122"/>
              </a:rPr>
              <a:t>                </a:t>
            </a:r>
            <a:r>
              <a:rPr lang="en-US" altLang="zh-CN" dirty="0">
                <a:solidFill>
                  <a:srgbClr val="000000"/>
                </a:solidFill>
                <a:latin typeface="华文中宋" panose="02010600040101010101" pitchFamily="2" charset="-122"/>
              </a:rPr>
              <a:t>A[T]:=A[I]</a:t>
            </a:r>
            <a:r>
              <a:rPr lang="zh-CN" altLang="en-US" dirty="0">
                <a:solidFill>
                  <a:srgbClr val="000000"/>
                </a:solidFill>
                <a:latin typeface="华文中宋" panose="02010600040101010101" pitchFamily="2" charset="-122"/>
              </a:rPr>
              <a:t>；</a:t>
            </a:r>
            <a:br>
              <a:rPr lang="zh-CN" altLang="en-US" dirty="0">
                <a:solidFill>
                  <a:srgbClr val="000000"/>
                </a:solidFill>
                <a:latin typeface="华文中宋" panose="02010600040101010101" pitchFamily="2" charset="-122"/>
              </a:rPr>
            </a:br>
            <a:r>
              <a:rPr lang="zh-CN" altLang="en-US" dirty="0">
                <a:solidFill>
                  <a:srgbClr val="000000"/>
                </a:solidFill>
                <a:latin typeface="华文中宋" panose="02010600040101010101" pitchFamily="2" charset="-122"/>
              </a:rPr>
              <a:t>                </a:t>
            </a:r>
            <a:r>
              <a:rPr lang="en-US" altLang="zh-CN" dirty="0">
                <a:solidFill>
                  <a:srgbClr val="000000"/>
                </a:solidFill>
                <a:latin typeface="华文中宋" panose="02010600040101010101" pitchFamily="2" charset="-122"/>
              </a:rPr>
              <a:t>A[I]:=WORK</a:t>
            </a:r>
            <a:r>
              <a:rPr lang="zh-CN" altLang="en-US" dirty="0">
                <a:solidFill>
                  <a:srgbClr val="000000"/>
                </a:solidFill>
                <a:latin typeface="华文中宋" panose="02010600040101010101" pitchFamily="2" charset="-122"/>
              </a:rPr>
              <a:t>；</a:t>
            </a:r>
            <a:br>
              <a:rPr lang="zh-CN" altLang="en-US" dirty="0">
                <a:solidFill>
                  <a:srgbClr val="000000"/>
                </a:solidFill>
                <a:latin typeface="华文中宋" panose="02010600040101010101" pitchFamily="2" charset="-122"/>
              </a:rPr>
            </a:br>
            <a:r>
              <a:rPr lang="zh-CN" altLang="en-US" dirty="0">
                <a:solidFill>
                  <a:srgbClr val="000000"/>
                </a:solidFill>
                <a:latin typeface="华文中宋" panose="02010600040101010101" pitchFamily="2" charset="-122"/>
              </a:rPr>
              <a:t>           </a:t>
            </a:r>
            <a:r>
              <a:rPr lang="en-US" altLang="zh-CN" dirty="0">
                <a:solidFill>
                  <a:srgbClr val="000000"/>
                </a:solidFill>
                <a:latin typeface="华文中宋" panose="02010600040101010101" pitchFamily="2" charset="-122"/>
              </a:rPr>
              <a:t>END</a:t>
            </a:r>
            <a:br>
              <a:rPr lang="en-US" altLang="zh-CN" dirty="0">
                <a:solidFill>
                  <a:srgbClr val="000000"/>
                </a:solidFill>
                <a:latin typeface="华文中宋" panose="02010600040101010101" pitchFamily="2" charset="-122"/>
              </a:rPr>
            </a:br>
            <a:r>
              <a:rPr lang="en-US" altLang="zh-CN" dirty="0">
                <a:solidFill>
                  <a:srgbClr val="000000"/>
                </a:solidFill>
                <a:latin typeface="华文中宋" panose="02010600040101010101" pitchFamily="2" charset="-122"/>
              </a:rPr>
              <a:t>  END</a:t>
            </a:r>
            <a:r>
              <a:rPr lang="zh-CN" altLang="en-US" dirty="0">
                <a:solidFill>
                  <a:srgbClr val="000000"/>
                </a:solidFill>
                <a:latin typeface="华文中宋" panose="02010600040101010101" pitchFamily="2" charset="-122"/>
              </a:rPr>
              <a:t>；</a:t>
            </a:r>
            <a:endParaRPr lang="zh-CN" altLang="en-US" dirty="0">
              <a:solidFill>
                <a:srgbClr val="000000"/>
              </a:solidFill>
              <a:latin typeface="华文中宋" panose="02010600040101010101" pitchFamily="2" charset="-122"/>
            </a:endParaRPr>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程序编写首先应当考虑清晰性</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9625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5" name="Rectangle 2"/>
          <p:cNvSpPr>
            <a:spLocks noChangeArrowheads="1"/>
          </p:cNvSpPr>
          <p:nvPr/>
        </p:nvSpPr>
        <p:spPr bwMode="auto">
          <a:xfrm>
            <a:off x="268288" y="960438"/>
            <a:ext cx="7543800" cy="838200"/>
          </a:xfrm>
          <a:prstGeom prst="rect">
            <a:avLst/>
          </a:prstGeom>
          <a:noFill/>
          <a:ln>
            <a:noFill/>
          </a:ln>
          <a:effectLst/>
        </p:spPr>
        <p:txBody>
          <a:bodyPr lIns="92075" tIns="46038" rIns="92075" bIns="46038" anchor="ct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2.</a:t>
            </a:r>
            <a:r>
              <a:rPr kumimoji="0" lang="zh-CN" altLang="en-US" sz="28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程序编写首先应当考虑清晰性</a:t>
            </a:r>
            <a:endParaRPr kumimoji="0" lang="zh-CN" altLang="en-US" sz="28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p:txBody>
      </p:sp>
      <p:sp>
        <p:nvSpPr>
          <p:cNvPr id="96261" name="Rectangle 3"/>
          <p:cNvSpPr/>
          <p:nvPr/>
        </p:nvSpPr>
        <p:spPr>
          <a:xfrm>
            <a:off x="773113" y="1852613"/>
            <a:ext cx="7772400" cy="3808412"/>
          </a:xfrm>
          <a:prstGeom prst="rect">
            <a:avLst/>
          </a:prstGeom>
          <a:noFill/>
          <a:ln w="9525">
            <a:noFill/>
          </a:ln>
        </p:spPr>
        <p:txBody>
          <a:bodyPr lIns="92075" tIns="46038" rIns="92075" bIns="46038"/>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50000"/>
              </a:lnSpc>
              <a:spcBef>
                <a:spcPct val="0"/>
              </a:spcBef>
              <a:buClrTx/>
              <a:buSzTx/>
              <a:buFontTx/>
              <a:buNone/>
            </a:pPr>
            <a:r>
              <a:rPr lang="zh-CN" altLang="en-US" sz="2400" b="1" dirty="0">
                <a:solidFill>
                  <a:srgbClr val="000000"/>
                </a:solidFill>
                <a:latin typeface="华文中宋" panose="02010600040101010101" pitchFamily="2" charset="-122"/>
                <a:ea typeface="华文中宋" panose="02010600040101010101" pitchFamily="2" charset="-122"/>
              </a:rPr>
              <a:t>程序编写首先应当考虑清晰性，不要刻意追求技巧性，使程序编写得过于紧凑。</a:t>
            </a:r>
            <a:endParaRPr lang="zh-CN" altLang="en-US" sz="2400" b="1"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ct val="150000"/>
              </a:lnSpc>
              <a:spcBef>
                <a:spcPct val="0"/>
              </a:spcBef>
              <a:buClrTx/>
              <a:buSzTx/>
              <a:buFontTx/>
              <a:buNone/>
            </a:pPr>
            <a:r>
              <a:rPr lang="zh-CN" altLang="en-US" sz="2400" b="1" dirty="0">
                <a:solidFill>
                  <a:srgbClr val="000000"/>
                </a:solidFill>
                <a:latin typeface="华文中宋" panose="02010600040101010101" pitchFamily="2" charset="-122"/>
                <a:ea typeface="华文中宋" panose="02010600040101010101" pitchFamily="2" charset="-122"/>
              </a:rPr>
              <a:t>例如，有一个用 </a:t>
            </a:r>
            <a:r>
              <a:rPr lang="en-US" altLang="zh-CN" sz="2400" b="1" dirty="0">
                <a:solidFill>
                  <a:srgbClr val="000000"/>
                </a:solidFill>
                <a:latin typeface="华文中宋" panose="02010600040101010101" pitchFamily="2" charset="-122"/>
                <a:ea typeface="华文中宋" panose="02010600040101010101" pitchFamily="2" charset="-122"/>
              </a:rPr>
              <a:t>C </a:t>
            </a:r>
            <a:r>
              <a:rPr lang="zh-CN" altLang="en-US" sz="2400" b="1" dirty="0">
                <a:solidFill>
                  <a:srgbClr val="000000"/>
                </a:solidFill>
                <a:latin typeface="华文中宋" panose="02010600040101010101" pitchFamily="2" charset="-122"/>
                <a:ea typeface="华文中宋" panose="02010600040101010101" pitchFamily="2" charset="-122"/>
              </a:rPr>
              <a:t>语句写出的程序段：</a:t>
            </a:r>
            <a:endParaRPr lang="zh-CN" altLang="en-US" sz="2400" b="1" dirty="0">
              <a:solidFill>
                <a:srgbClr val="000000"/>
              </a:solidFill>
              <a:latin typeface="华文中宋" panose="02010600040101010101" pitchFamily="2" charset="-122"/>
              <a:ea typeface="华文中宋" panose="02010600040101010101" pitchFamily="2" charset="-122"/>
            </a:endParaRPr>
          </a:p>
          <a:p>
            <a:pPr marL="0" lvl="0" indent="0" algn="l" eaLnBrk="1" hangingPunct="1">
              <a:lnSpc>
                <a:spcPct val="150000"/>
              </a:lnSpc>
              <a:spcBef>
                <a:spcPct val="0"/>
              </a:spcBef>
              <a:buClrTx/>
              <a:buSzTx/>
              <a:buFontTx/>
              <a:buNone/>
            </a:pPr>
            <a:r>
              <a:rPr lang="zh-CN" altLang="en-US" sz="2400" b="1" dirty="0">
                <a:solidFill>
                  <a:srgbClr val="C00000"/>
                </a:solidFill>
                <a:latin typeface="华文中宋" panose="02010600040101010101" pitchFamily="2" charset="-122"/>
                <a:ea typeface="华文中宋" panose="02010600040101010101" pitchFamily="2" charset="-122"/>
              </a:rPr>
              <a:t>         </a:t>
            </a:r>
            <a:r>
              <a:rPr lang="en-US" altLang="zh-CN" sz="2400" b="1" dirty="0">
                <a:solidFill>
                  <a:srgbClr val="C00000"/>
                </a:solidFill>
                <a:latin typeface="华文中宋" panose="02010600040101010101" pitchFamily="2" charset="-122"/>
                <a:ea typeface="华文中宋" panose="02010600040101010101" pitchFamily="2" charset="-122"/>
              </a:rPr>
              <a:t>A[I] = A[I]</a:t>
            </a:r>
            <a:r>
              <a:rPr lang="zh-CN" altLang="en-US" sz="2400" b="1" dirty="0">
                <a:solidFill>
                  <a:srgbClr val="C00000"/>
                </a:solidFill>
                <a:latin typeface="华文中宋" panose="02010600040101010101" pitchFamily="2" charset="-122"/>
                <a:ea typeface="华文中宋" panose="02010600040101010101" pitchFamily="2" charset="-122"/>
              </a:rPr>
              <a:t>＋</a:t>
            </a:r>
            <a:r>
              <a:rPr lang="en-US" altLang="zh-CN" sz="2400" b="1" dirty="0">
                <a:solidFill>
                  <a:srgbClr val="C00000"/>
                </a:solidFill>
                <a:latin typeface="华文中宋" panose="02010600040101010101" pitchFamily="2" charset="-122"/>
                <a:ea typeface="华文中宋" panose="02010600040101010101" pitchFamily="2" charset="-122"/>
              </a:rPr>
              <a:t>A[T]</a:t>
            </a:r>
            <a:r>
              <a:rPr lang="zh-CN" altLang="en-US" sz="2400" b="1" dirty="0">
                <a:solidFill>
                  <a:srgbClr val="C00000"/>
                </a:solidFill>
                <a:latin typeface="华文中宋" panose="02010600040101010101" pitchFamily="2" charset="-122"/>
                <a:ea typeface="华文中宋" panose="02010600040101010101" pitchFamily="2" charset="-122"/>
              </a:rPr>
              <a:t>；</a:t>
            </a:r>
            <a:br>
              <a:rPr lang="zh-CN" altLang="en-US" sz="2400" b="1" dirty="0">
                <a:solidFill>
                  <a:srgbClr val="C00000"/>
                </a:solidFill>
                <a:latin typeface="华文中宋" panose="02010600040101010101" pitchFamily="2" charset="-122"/>
                <a:ea typeface="华文中宋" panose="02010600040101010101" pitchFamily="2" charset="-122"/>
              </a:rPr>
            </a:br>
            <a:r>
              <a:rPr lang="zh-CN" altLang="en-US" sz="2400" b="1" dirty="0">
                <a:solidFill>
                  <a:srgbClr val="C00000"/>
                </a:solidFill>
                <a:latin typeface="华文中宋" panose="02010600040101010101" pitchFamily="2" charset="-122"/>
                <a:ea typeface="华文中宋" panose="02010600040101010101" pitchFamily="2" charset="-122"/>
              </a:rPr>
              <a:t>         </a:t>
            </a:r>
            <a:r>
              <a:rPr lang="en-US" altLang="zh-CN" sz="2400" b="1" dirty="0">
                <a:solidFill>
                  <a:srgbClr val="C00000"/>
                </a:solidFill>
                <a:latin typeface="华文中宋" panose="02010600040101010101" pitchFamily="2" charset="-122"/>
                <a:ea typeface="华文中宋" panose="02010600040101010101" pitchFamily="2" charset="-122"/>
              </a:rPr>
              <a:t>A[T] = A[I]</a:t>
            </a:r>
            <a:r>
              <a:rPr lang="zh-CN" altLang="en-US" sz="2400" b="1" dirty="0">
                <a:solidFill>
                  <a:srgbClr val="C00000"/>
                </a:solidFill>
                <a:latin typeface="华文中宋" panose="02010600040101010101" pitchFamily="2" charset="-122"/>
                <a:ea typeface="华文中宋" panose="02010600040101010101" pitchFamily="2" charset="-122"/>
              </a:rPr>
              <a:t>－</a:t>
            </a:r>
            <a:r>
              <a:rPr lang="en-US" altLang="zh-CN" sz="2400" b="1" dirty="0">
                <a:solidFill>
                  <a:srgbClr val="C00000"/>
                </a:solidFill>
                <a:latin typeface="华文中宋" panose="02010600040101010101" pitchFamily="2" charset="-122"/>
                <a:ea typeface="华文中宋" panose="02010600040101010101" pitchFamily="2" charset="-122"/>
              </a:rPr>
              <a:t>A[T]</a:t>
            </a:r>
            <a:r>
              <a:rPr lang="zh-CN" altLang="en-US" sz="2400" b="1" dirty="0">
                <a:solidFill>
                  <a:srgbClr val="C00000"/>
                </a:solidFill>
                <a:latin typeface="华文中宋" panose="02010600040101010101" pitchFamily="2" charset="-122"/>
                <a:ea typeface="华文中宋" panose="02010600040101010101" pitchFamily="2" charset="-122"/>
              </a:rPr>
              <a:t>；</a:t>
            </a:r>
            <a:br>
              <a:rPr lang="zh-CN" altLang="en-US" sz="2400" b="1" dirty="0">
                <a:solidFill>
                  <a:srgbClr val="C00000"/>
                </a:solidFill>
                <a:latin typeface="华文中宋" panose="02010600040101010101" pitchFamily="2" charset="-122"/>
                <a:ea typeface="华文中宋" panose="02010600040101010101" pitchFamily="2" charset="-122"/>
              </a:rPr>
            </a:br>
            <a:r>
              <a:rPr lang="zh-CN" altLang="en-US" sz="2400" b="1" dirty="0">
                <a:solidFill>
                  <a:srgbClr val="C00000"/>
                </a:solidFill>
                <a:latin typeface="华文中宋" panose="02010600040101010101" pitchFamily="2" charset="-122"/>
                <a:ea typeface="华文中宋" panose="02010600040101010101" pitchFamily="2" charset="-122"/>
              </a:rPr>
              <a:t>         </a:t>
            </a:r>
            <a:r>
              <a:rPr lang="en-US" altLang="zh-CN" sz="2400" b="1" dirty="0">
                <a:solidFill>
                  <a:srgbClr val="C00000"/>
                </a:solidFill>
                <a:latin typeface="华文中宋" panose="02010600040101010101" pitchFamily="2" charset="-122"/>
                <a:ea typeface="华文中宋" panose="02010600040101010101" pitchFamily="2" charset="-122"/>
              </a:rPr>
              <a:t>A[I] = A[I]</a:t>
            </a:r>
            <a:r>
              <a:rPr lang="zh-CN" altLang="en-US" sz="2400" b="1" dirty="0">
                <a:solidFill>
                  <a:srgbClr val="C00000"/>
                </a:solidFill>
                <a:latin typeface="华文中宋" panose="02010600040101010101" pitchFamily="2" charset="-122"/>
                <a:ea typeface="华文中宋" panose="02010600040101010101" pitchFamily="2" charset="-122"/>
              </a:rPr>
              <a:t>－</a:t>
            </a:r>
            <a:r>
              <a:rPr lang="en-US" altLang="zh-CN" sz="2400" b="1" dirty="0">
                <a:solidFill>
                  <a:srgbClr val="C00000"/>
                </a:solidFill>
                <a:latin typeface="华文中宋" panose="02010600040101010101" pitchFamily="2" charset="-122"/>
                <a:ea typeface="华文中宋" panose="02010600040101010101" pitchFamily="2" charset="-122"/>
              </a:rPr>
              <a:t>A[T]</a:t>
            </a:r>
            <a:r>
              <a:rPr lang="zh-CN" altLang="en-US" sz="2400" b="1" dirty="0">
                <a:solidFill>
                  <a:srgbClr val="C00000"/>
                </a:solidFill>
                <a:latin typeface="华文中宋" panose="02010600040101010101" pitchFamily="2" charset="-122"/>
                <a:ea typeface="华文中宋" panose="02010600040101010101" pitchFamily="2" charset="-122"/>
              </a:rPr>
              <a:t>；</a:t>
            </a:r>
            <a:endParaRPr lang="zh-CN" altLang="en-US" sz="2400" b="1" dirty="0">
              <a:solidFill>
                <a:srgbClr val="C00000"/>
              </a:solidFill>
              <a:latin typeface="华文中宋" panose="02010600040101010101" pitchFamily="2" charset="-122"/>
              <a:ea typeface="华文中宋" panose="02010600040101010101" pitchFamily="2" charset="-122"/>
            </a:endParaRPr>
          </a:p>
        </p:txBody>
      </p:sp>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程序编写首先应当考虑清晰性</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98307"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98308" name="Rectangle 3"/>
          <p:cNvSpPr/>
          <p:nvPr/>
        </p:nvSpPr>
        <p:spPr>
          <a:xfrm>
            <a:off x="773113" y="1357313"/>
            <a:ext cx="7772400" cy="4087812"/>
          </a:xfrm>
          <a:prstGeom prst="rect">
            <a:avLst/>
          </a:prstGeom>
          <a:noFill/>
          <a:ln w="9525">
            <a:noFill/>
          </a:ln>
        </p:spPr>
        <p:txBody>
          <a:bodyPr lIns="92075" tIns="46038" rIns="92075" bIns="46038"/>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50000"/>
              </a:lnSpc>
              <a:spcBef>
                <a:spcPct val="0"/>
              </a:spcBef>
              <a:buClrTx/>
              <a:buSzTx/>
              <a:buFontTx/>
              <a:buNone/>
            </a:pPr>
            <a:r>
              <a:rPr lang="zh-CN" altLang="en-US" sz="2400" dirty="0">
                <a:latin typeface="华文中宋" panose="02010600040101010101" pitchFamily="2" charset="-122"/>
                <a:ea typeface="华文中宋" panose="02010600040101010101" pitchFamily="2" charset="-122"/>
              </a:rPr>
              <a:t>此段程序可能不易看懂，有时还需用实际数据试验一下。</a:t>
            </a:r>
            <a:endParaRPr lang="zh-CN" altLang="en-US" sz="2400" dirty="0">
              <a:latin typeface="华文中宋" panose="02010600040101010101" pitchFamily="2" charset="-122"/>
              <a:ea typeface="华文中宋" panose="02010600040101010101" pitchFamily="2" charset="-122"/>
            </a:endParaRPr>
          </a:p>
          <a:p>
            <a:pPr marL="0" lvl="0" indent="0" algn="l" eaLnBrk="1" hangingPunct="1">
              <a:lnSpc>
                <a:spcPct val="150000"/>
              </a:lnSpc>
              <a:spcBef>
                <a:spcPct val="0"/>
              </a:spcBef>
              <a:buClrTx/>
              <a:buSzTx/>
              <a:buFontTx/>
              <a:buNone/>
            </a:pPr>
            <a:r>
              <a:rPr lang="zh-CN" altLang="en-US" sz="2400" dirty="0">
                <a:latin typeface="华文中宋" panose="02010600040101010101" pitchFamily="2" charset="-122"/>
                <a:ea typeface="华文中宋" panose="02010600040101010101" pitchFamily="2" charset="-122"/>
              </a:rPr>
              <a:t>实际上，这段程序的功能就是交换</a:t>
            </a:r>
            <a:r>
              <a:rPr lang="en-US" altLang="zh-CN" sz="2400" dirty="0">
                <a:solidFill>
                  <a:srgbClr val="C00000"/>
                </a:solidFill>
                <a:latin typeface="华文中宋" panose="02010600040101010101" pitchFamily="2" charset="-122"/>
                <a:ea typeface="华文中宋" panose="02010600040101010101" pitchFamily="2" charset="-122"/>
              </a:rPr>
              <a:t>A[I]</a:t>
            </a:r>
            <a:r>
              <a:rPr lang="zh-CN" altLang="en-US" sz="2400" dirty="0">
                <a:latin typeface="华文中宋" panose="02010600040101010101" pitchFamily="2" charset="-122"/>
                <a:ea typeface="华文中宋" panose="02010600040101010101" pitchFamily="2" charset="-122"/>
              </a:rPr>
              <a:t>和</a:t>
            </a:r>
            <a:r>
              <a:rPr lang="en-US" altLang="zh-CN" sz="2400" dirty="0">
                <a:solidFill>
                  <a:srgbClr val="C00000"/>
                </a:solidFill>
                <a:latin typeface="华文中宋" panose="02010600040101010101" pitchFamily="2" charset="-122"/>
                <a:ea typeface="华文中宋" panose="02010600040101010101" pitchFamily="2" charset="-122"/>
              </a:rPr>
              <a:t>A[T]</a:t>
            </a:r>
            <a:r>
              <a:rPr lang="zh-CN" altLang="en-US" sz="2400" dirty="0">
                <a:latin typeface="华文中宋" panose="02010600040101010101" pitchFamily="2" charset="-122"/>
                <a:ea typeface="华文中宋" panose="02010600040101010101" pitchFamily="2" charset="-122"/>
              </a:rPr>
              <a:t>中的内容。目的是为了节省一个工作单元。如果改一下：</a:t>
            </a:r>
            <a:br>
              <a:rPr lang="zh-CN" altLang="en-US" sz="2400" dirty="0">
                <a:latin typeface="华文中宋" panose="02010600040101010101" pitchFamily="2" charset="-122"/>
                <a:ea typeface="华文中宋" panose="02010600040101010101" pitchFamily="2" charset="-122"/>
              </a:rPr>
            </a:br>
            <a:r>
              <a:rPr lang="zh-CN" altLang="en-US" sz="2400" dirty="0">
                <a:latin typeface="华文中宋" panose="02010600040101010101" pitchFamily="2" charset="-122"/>
                <a:ea typeface="华文中宋" panose="02010600040101010101" pitchFamily="2" charset="-122"/>
              </a:rPr>
              <a:t>        </a:t>
            </a:r>
            <a:r>
              <a:rPr lang="en-US" altLang="zh-CN" sz="2400" dirty="0">
                <a:solidFill>
                  <a:srgbClr val="C00000"/>
                </a:solidFill>
                <a:latin typeface="华文中宋" panose="02010600040101010101" pitchFamily="2" charset="-122"/>
                <a:ea typeface="华文中宋" panose="02010600040101010101" pitchFamily="2" charset="-122"/>
              </a:rPr>
              <a:t>WORK = A[T]</a:t>
            </a:r>
            <a:r>
              <a:rPr lang="zh-CN" altLang="en-US" sz="2400" dirty="0">
                <a:solidFill>
                  <a:srgbClr val="C00000"/>
                </a:solidFill>
                <a:latin typeface="华文中宋" panose="02010600040101010101" pitchFamily="2" charset="-122"/>
                <a:ea typeface="华文中宋" panose="02010600040101010101" pitchFamily="2" charset="-122"/>
              </a:rPr>
              <a:t>；</a:t>
            </a:r>
            <a:br>
              <a:rPr lang="zh-CN" altLang="en-US" sz="2400" dirty="0">
                <a:solidFill>
                  <a:srgbClr val="C00000"/>
                </a:solidFill>
                <a:latin typeface="华文中宋" panose="02010600040101010101" pitchFamily="2" charset="-122"/>
                <a:ea typeface="华文中宋" panose="02010600040101010101" pitchFamily="2" charset="-122"/>
              </a:rPr>
            </a:br>
            <a:r>
              <a:rPr lang="zh-CN" altLang="en-US" sz="2400" dirty="0">
                <a:solidFill>
                  <a:srgbClr val="C00000"/>
                </a:solidFill>
                <a:latin typeface="华文中宋" panose="02010600040101010101" pitchFamily="2" charset="-122"/>
                <a:ea typeface="华文中宋" panose="02010600040101010101" pitchFamily="2" charset="-122"/>
              </a:rPr>
              <a:t>        </a:t>
            </a:r>
            <a:r>
              <a:rPr lang="en-US" altLang="zh-CN" sz="2400" dirty="0">
                <a:solidFill>
                  <a:srgbClr val="C00000"/>
                </a:solidFill>
                <a:latin typeface="华文中宋" panose="02010600040101010101" pitchFamily="2" charset="-122"/>
                <a:ea typeface="华文中宋" panose="02010600040101010101" pitchFamily="2" charset="-122"/>
              </a:rPr>
              <a:t>A[T] = A[I]</a:t>
            </a:r>
            <a:r>
              <a:rPr lang="zh-CN" altLang="en-US" sz="2400" dirty="0">
                <a:solidFill>
                  <a:srgbClr val="C00000"/>
                </a:solidFill>
                <a:latin typeface="华文中宋" panose="02010600040101010101" pitchFamily="2" charset="-122"/>
                <a:ea typeface="华文中宋" panose="02010600040101010101" pitchFamily="2" charset="-122"/>
              </a:rPr>
              <a:t>；</a:t>
            </a:r>
            <a:br>
              <a:rPr lang="zh-CN" altLang="en-US" sz="2400" dirty="0">
                <a:solidFill>
                  <a:srgbClr val="C00000"/>
                </a:solidFill>
                <a:latin typeface="华文中宋" panose="02010600040101010101" pitchFamily="2" charset="-122"/>
                <a:ea typeface="华文中宋" panose="02010600040101010101" pitchFamily="2" charset="-122"/>
              </a:rPr>
            </a:br>
            <a:r>
              <a:rPr lang="zh-CN" altLang="en-US" sz="2400" dirty="0">
                <a:solidFill>
                  <a:srgbClr val="C00000"/>
                </a:solidFill>
                <a:latin typeface="华文中宋" panose="02010600040101010101" pitchFamily="2" charset="-122"/>
                <a:ea typeface="华文中宋" panose="02010600040101010101" pitchFamily="2" charset="-122"/>
              </a:rPr>
              <a:t>        </a:t>
            </a:r>
            <a:r>
              <a:rPr lang="en-US" altLang="zh-CN" sz="2400" dirty="0">
                <a:solidFill>
                  <a:srgbClr val="C00000"/>
                </a:solidFill>
                <a:latin typeface="华文中宋" panose="02010600040101010101" pitchFamily="2" charset="-122"/>
                <a:ea typeface="华文中宋" panose="02010600040101010101" pitchFamily="2" charset="-122"/>
              </a:rPr>
              <a:t>A[I] = WORK</a:t>
            </a:r>
            <a:r>
              <a:rPr lang="zh-CN" altLang="en-US" sz="2400" dirty="0">
                <a:solidFill>
                  <a:srgbClr val="C00000"/>
                </a:solidFill>
                <a:latin typeface="华文中宋" panose="02010600040101010101" pitchFamily="2" charset="-122"/>
                <a:ea typeface="华文中宋" panose="02010600040101010101" pitchFamily="2" charset="-122"/>
              </a:rPr>
              <a:t>；</a:t>
            </a:r>
            <a:br>
              <a:rPr lang="zh-CN" altLang="en-US" sz="2400" dirty="0">
                <a:latin typeface="华文中宋" panose="02010600040101010101" pitchFamily="2" charset="-122"/>
                <a:ea typeface="华文中宋" panose="02010600040101010101" pitchFamily="2" charset="-122"/>
              </a:rPr>
            </a:br>
            <a:r>
              <a:rPr lang="zh-CN" altLang="en-US" sz="2400" dirty="0">
                <a:latin typeface="华文中宋" panose="02010600040101010101" pitchFamily="2" charset="-122"/>
                <a:ea typeface="华文中宋" panose="02010600040101010101" pitchFamily="2" charset="-122"/>
              </a:rPr>
              <a:t>就能让读者一目了然了。</a:t>
            </a:r>
            <a:endParaRPr lang="zh-CN" altLang="en-US" sz="2400" dirty="0">
              <a:latin typeface="华文中宋" panose="02010600040101010101" pitchFamily="2" charset="-122"/>
              <a:ea typeface="华文中宋" panose="02010600040101010101" pitchFamily="2" charset="-122"/>
            </a:endParaRPr>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程序要能直截了当地说明程序员的用意</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0035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7" name="Rectangle 2"/>
          <p:cNvSpPr>
            <a:spLocks noChangeArrowheads="1"/>
          </p:cNvSpPr>
          <p:nvPr/>
        </p:nvSpPr>
        <p:spPr bwMode="auto">
          <a:xfrm>
            <a:off x="323850" y="846138"/>
            <a:ext cx="8280400" cy="1066800"/>
          </a:xfrm>
          <a:prstGeom prst="rect">
            <a:avLst/>
          </a:prstGeom>
          <a:noFill/>
          <a:ln>
            <a:noFill/>
          </a:ln>
          <a:effectLst/>
        </p:spPr>
        <p:txBody>
          <a:bodyPr lIns="92075" tIns="46038" rIns="92075" bIns="46038" anchor="ctr"/>
          <a:lstStyle/>
          <a:p>
            <a:pPr marL="0" marR="0" lvl="0" indent="0" algn="just" defTabSz="914400" rtl="0" eaLnBrk="1" fontAlgn="base" latinLnBrk="0" hangingPunct="1">
              <a:lnSpc>
                <a:spcPct val="90000"/>
              </a:lnSpc>
              <a:spcBef>
                <a:spcPct val="0"/>
              </a:spcBef>
              <a:spcAft>
                <a:spcPct val="0"/>
              </a:spcAft>
              <a:buClrTx/>
              <a:buSzTx/>
              <a:buFontTx/>
              <a:buNone/>
              <a:defRPr/>
            </a:pPr>
            <a:r>
              <a:rPr kumimoji="0" lang="en-US" altLang="zh-CN" sz="36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3.</a:t>
            </a:r>
            <a:r>
              <a:rPr kumimoji="0" lang="zh-CN" altLang="en-US" sz="32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程序要能直截了当地说明程序员的用意</a:t>
            </a:r>
            <a:r>
              <a:rPr kumimoji="0" lang="zh-CN" altLang="en-US" sz="36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endParaRPr kumimoji="0" lang="zh-CN" altLang="en-US" sz="32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100357" name="Rectangle 3"/>
          <p:cNvSpPr/>
          <p:nvPr/>
        </p:nvSpPr>
        <p:spPr>
          <a:xfrm>
            <a:off x="654050" y="1878013"/>
            <a:ext cx="7620000" cy="3886200"/>
          </a:xfrm>
          <a:prstGeom prst="rect">
            <a:avLst/>
          </a:prstGeom>
          <a:noFill/>
          <a:ln w="9525">
            <a:noFill/>
          </a:ln>
        </p:spPr>
        <p:txBody>
          <a:bodyPr lIns="92075" tIns="46038" rIns="92075" bIns="46038"/>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r>
              <a:rPr lang="zh-CN" altLang="en-US" sz="2400" b="1" dirty="0">
                <a:latin typeface="宋体" panose="02010600030101010101" pitchFamily="2" charset="-122"/>
              </a:rPr>
              <a:t>程序编写得要简单，写清楚，直截了当地说明程序员的用意。例如，</a:t>
            </a:r>
            <a:br>
              <a:rPr lang="zh-CN" altLang="en-US" sz="2400" b="1" dirty="0">
                <a:latin typeface="宋体" panose="02010600030101010101" pitchFamily="2" charset="-122"/>
              </a:rPr>
            </a:br>
            <a:r>
              <a:rPr lang="zh-CN" altLang="en-US" sz="2400" b="1" dirty="0">
                <a:solidFill>
                  <a:srgbClr val="C00000"/>
                </a:solidFill>
                <a:latin typeface="宋体" panose="02010600030101010101" pitchFamily="2" charset="-122"/>
              </a:rPr>
              <a:t>        </a:t>
            </a:r>
            <a:r>
              <a:rPr lang="en-US" altLang="zh-CN" sz="2400" b="1" dirty="0">
                <a:solidFill>
                  <a:srgbClr val="C00000"/>
                </a:solidFill>
                <a:latin typeface="宋体" panose="02010600030101010101" pitchFamily="2" charset="-122"/>
              </a:rPr>
              <a:t>for ( </a:t>
            </a:r>
            <a:r>
              <a:rPr lang="en-US" altLang="zh-CN" sz="2400" b="1" i="1" dirty="0">
                <a:solidFill>
                  <a:srgbClr val="C00000"/>
                </a:solidFill>
                <a:latin typeface="宋体" panose="02010600030101010101" pitchFamily="2" charset="-122"/>
              </a:rPr>
              <a:t>i</a:t>
            </a:r>
            <a:r>
              <a:rPr lang="en-US" altLang="zh-CN" sz="2400" b="1" dirty="0">
                <a:solidFill>
                  <a:srgbClr val="C00000"/>
                </a:solidFill>
                <a:latin typeface="宋体" panose="02010600030101010101" pitchFamily="2" charset="-122"/>
              </a:rPr>
              <a:t> = 1; </a:t>
            </a:r>
            <a:r>
              <a:rPr lang="en-US" altLang="zh-CN" sz="2400" b="1" i="1" dirty="0">
                <a:solidFill>
                  <a:srgbClr val="C00000"/>
                </a:solidFill>
                <a:latin typeface="宋体" panose="02010600030101010101" pitchFamily="2" charset="-122"/>
              </a:rPr>
              <a:t>i</a:t>
            </a:r>
            <a:r>
              <a:rPr lang="en-US" altLang="zh-CN" sz="2400" b="1" dirty="0">
                <a:solidFill>
                  <a:srgbClr val="C00000"/>
                </a:solidFill>
                <a:latin typeface="宋体" panose="02010600030101010101" pitchFamily="2" charset="-122"/>
              </a:rPr>
              <a:t> &lt;= </a:t>
            </a:r>
            <a:r>
              <a:rPr lang="en-US" altLang="zh-CN" sz="2400" b="1" i="1" dirty="0">
                <a:solidFill>
                  <a:srgbClr val="C00000"/>
                </a:solidFill>
                <a:latin typeface="宋体" panose="02010600030101010101" pitchFamily="2" charset="-122"/>
              </a:rPr>
              <a:t>n</a:t>
            </a:r>
            <a:r>
              <a:rPr lang="en-US" altLang="zh-CN" sz="2400" b="1" dirty="0">
                <a:solidFill>
                  <a:srgbClr val="C00000"/>
                </a:solidFill>
                <a:latin typeface="宋体" panose="02010600030101010101" pitchFamily="2" charset="-122"/>
              </a:rPr>
              <a:t>; </a:t>
            </a:r>
            <a:r>
              <a:rPr lang="en-US" altLang="zh-CN" sz="2400" b="1" i="1" dirty="0">
                <a:solidFill>
                  <a:srgbClr val="C00000"/>
                </a:solidFill>
                <a:latin typeface="宋体" panose="02010600030101010101" pitchFamily="2" charset="-122"/>
              </a:rPr>
              <a:t>i</a:t>
            </a:r>
            <a:r>
              <a:rPr lang="en-US" altLang="zh-CN" sz="2400" b="1" dirty="0">
                <a:solidFill>
                  <a:srgbClr val="C00000"/>
                </a:solidFill>
                <a:latin typeface="宋体" panose="02010600030101010101" pitchFamily="2" charset="-122"/>
              </a:rPr>
              <a:t>++ )</a:t>
            </a:r>
            <a:br>
              <a:rPr lang="en-US" altLang="zh-CN" sz="2400" b="1" dirty="0">
                <a:solidFill>
                  <a:srgbClr val="C00000"/>
                </a:solidFill>
                <a:latin typeface="宋体" panose="02010600030101010101" pitchFamily="2" charset="-122"/>
              </a:rPr>
            </a:br>
            <a:r>
              <a:rPr lang="en-US" altLang="zh-CN" sz="2400" b="1" dirty="0">
                <a:solidFill>
                  <a:srgbClr val="C00000"/>
                </a:solidFill>
                <a:latin typeface="宋体" panose="02010600030101010101" pitchFamily="2" charset="-122"/>
              </a:rPr>
              <a:t>        for ( </a:t>
            </a:r>
            <a:r>
              <a:rPr lang="en-US" altLang="zh-CN" sz="2400" b="1" i="1" dirty="0">
                <a:solidFill>
                  <a:srgbClr val="C00000"/>
                </a:solidFill>
                <a:latin typeface="宋体" panose="02010600030101010101" pitchFamily="2" charset="-122"/>
              </a:rPr>
              <a:t>j </a:t>
            </a:r>
            <a:r>
              <a:rPr lang="en-US" altLang="zh-CN" sz="2400" b="1" dirty="0">
                <a:solidFill>
                  <a:srgbClr val="C00000"/>
                </a:solidFill>
                <a:latin typeface="宋体" panose="02010600030101010101" pitchFamily="2" charset="-122"/>
              </a:rPr>
              <a:t>= 1; </a:t>
            </a:r>
            <a:r>
              <a:rPr lang="en-US" altLang="zh-CN" sz="2400" b="1" i="1" dirty="0">
                <a:solidFill>
                  <a:srgbClr val="C00000"/>
                </a:solidFill>
                <a:latin typeface="宋体" panose="02010600030101010101" pitchFamily="2" charset="-122"/>
              </a:rPr>
              <a:t>j</a:t>
            </a:r>
            <a:r>
              <a:rPr lang="en-US" altLang="zh-CN" sz="2400" b="1" dirty="0">
                <a:solidFill>
                  <a:srgbClr val="C00000"/>
                </a:solidFill>
                <a:latin typeface="宋体" panose="02010600030101010101" pitchFamily="2" charset="-122"/>
              </a:rPr>
              <a:t> &lt;= </a:t>
            </a:r>
            <a:r>
              <a:rPr lang="en-US" altLang="zh-CN" sz="2400" b="1" i="1" dirty="0">
                <a:solidFill>
                  <a:srgbClr val="C00000"/>
                </a:solidFill>
                <a:latin typeface="宋体" panose="02010600030101010101" pitchFamily="2" charset="-122"/>
              </a:rPr>
              <a:t>n</a:t>
            </a:r>
            <a:r>
              <a:rPr lang="en-US" altLang="zh-CN" sz="2400" b="1" dirty="0">
                <a:solidFill>
                  <a:srgbClr val="C00000"/>
                </a:solidFill>
                <a:latin typeface="宋体" panose="02010600030101010101" pitchFamily="2" charset="-122"/>
              </a:rPr>
              <a:t>; </a:t>
            </a:r>
            <a:r>
              <a:rPr lang="en-US" altLang="zh-CN" sz="2400" b="1" i="1" dirty="0">
                <a:solidFill>
                  <a:srgbClr val="C00000"/>
                </a:solidFill>
                <a:latin typeface="宋体" panose="02010600030101010101" pitchFamily="2" charset="-122"/>
              </a:rPr>
              <a:t>j</a:t>
            </a:r>
            <a:r>
              <a:rPr lang="en-US" altLang="zh-CN" sz="2400" b="1" dirty="0">
                <a:solidFill>
                  <a:srgbClr val="C00000"/>
                </a:solidFill>
                <a:latin typeface="宋体" panose="02010600030101010101" pitchFamily="2" charset="-122"/>
              </a:rPr>
              <a:t>++ )</a:t>
            </a:r>
            <a:br>
              <a:rPr lang="en-US" altLang="zh-CN" sz="2400" b="1" dirty="0">
                <a:solidFill>
                  <a:srgbClr val="C00000"/>
                </a:solidFill>
                <a:latin typeface="宋体" panose="02010600030101010101" pitchFamily="2" charset="-122"/>
              </a:rPr>
            </a:br>
            <a:r>
              <a:rPr lang="en-US" altLang="zh-CN" sz="2400" b="1" dirty="0">
                <a:solidFill>
                  <a:srgbClr val="C00000"/>
                </a:solidFill>
                <a:latin typeface="宋体" panose="02010600030101010101" pitchFamily="2" charset="-122"/>
              </a:rPr>
              <a:t>        </a:t>
            </a:r>
            <a:r>
              <a:rPr lang="en-US" altLang="zh-CN" sz="2400" b="1" i="1" dirty="0">
                <a:solidFill>
                  <a:srgbClr val="C00000"/>
                </a:solidFill>
                <a:latin typeface="宋体" panose="02010600030101010101" pitchFamily="2" charset="-122"/>
              </a:rPr>
              <a:t>V</a:t>
            </a:r>
            <a:r>
              <a:rPr lang="en-US" altLang="zh-CN" sz="2400" b="1" dirty="0">
                <a:solidFill>
                  <a:srgbClr val="C00000"/>
                </a:solidFill>
                <a:latin typeface="宋体" panose="02010600030101010101" pitchFamily="2" charset="-122"/>
              </a:rPr>
              <a:t>[</a:t>
            </a:r>
            <a:r>
              <a:rPr lang="en-US" altLang="zh-CN" sz="2400" b="1" i="1" dirty="0">
                <a:solidFill>
                  <a:srgbClr val="C00000"/>
                </a:solidFill>
                <a:latin typeface="宋体" panose="02010600030101010101" pitchFamily="2" charset="-122"/>
              </a:rPr>
              <a:t>i</a:t>
            </a:r>
            <a:r>
              <a:rPr lang="en-US" altLang="zh-CN" sz="2400" b="1" dirty="0">
                <a:solidFill>
                  <a:srgbClr val="C00000"/>
                </a:solidFill>
                <a:latin typeface="宋体" panose="02010600030101010101" pitchFamily="2" charset="-122"/>
              </a:rPr>
              <a:t>][</a:t>
            </a:r>
            <a:r>
              <a:rPr lang="en-US" altLang="zh-CN" sz="2400" b="1" i="1" dirty="0">
                <a:solidFill>
                  <a:srgbClr val="C00000"/>
                </a:solidFill>
                <a:latin typeface="宋体" panose="02010600030101010101" pitchFamily="2" charset="-122"/>
              </a:rPr>
              <a:t>j</a:t>
            </a:r>
            <a:r>
              <a:rPr lang="en-US" altLang="zh-CN" sz="2400" b="1" dirty="0">
                <a:solidFill>
                  <a:srgbClr val="C00000"/>
                </a:solidFill>
                <a:latin typeface="宋体" panose="02010600030101010101" pitchFamily="2" charset="-122"/>
              </a:rPr>
              <a:t>] </a:t>
            </a:r>
            <a:r>
              <a:rPr lang="zh-CN" altLang="en-US" sz="2400" b="1" dirty="0">
                <a:solidFill>
                  <a:srgbClr val="C00000"/>
                </a:solidFill>
                <a:latin typeface="宋体" panose="02010600030101010101" pitchFamily="2" charset="-122"/>
              </a:rPr>
              <a:t>＝ </a:t>
            </a:r>
            <a:r>
              <a:rPr lang="en-US" altLang="zh-CN" sz="2400" b="1" dirty="0">
                <a:solidFill>
                  <a:srgbClr val="C00000"/>
                </a:solidFill>
                <a:latin typeface="宋体" panose="02010600030101010101" pitchFamily="2" charset="-122"/>
              </a:rPr>
              <a:t>( </a:t>
            </a:r>
            <a:r>
              <a:rPr lang="en-US" altLang="zh-CN" sz="2400" b="1" i="1" dirty="0">
                <a:solidFill>
                  <a:srgbClr val="C00000"/>
                </a:solidFill>
                <a:latin typeface="宋体" panose="02010600030101010101" pitchFamily="2" charset="-122"/>
              </a:rPr>
              <a:t>i</a:t>
            </a:r>
            <a:r>
              <a:rPr lang="zh-CN" altLang="en-US" sz="2400" b="1" dirty="0">
                <a:solidFill>
                  <a:srgbClr val="C00000"/>
                </a:solidFill>
                <a:latin typeface="宋体" panose="02010600030101010101" pitchFamily="2" charset="-122"/>
              </a:rPr>
              <a:t>／</a:t>
            </a:r>
            <a:r>
              <a:rPr lang="en-US" altLang="zh-CN" sz="2400" b="1" i="1" dirty="0">
                <a:solidFill>
                  <a:srgbClr val="C00000"/>
                </a:solidFill>
                <a:latin typeface="宋体" panose="02010600030101010101" pitchFamily="2" charset="-122"/>
              </a:rPr>
              <a:t>j </a:t>
            </a:r>
            <a:r>
              <a:rPr lang="en-US" altLang="zh-CN" sz="2400" b="1" dirty="0">
                <a:solidFill>
                  <a:srgbClr val="C00000"/>
                </a:solidFill>
                <a:latin typeface="宋体" panose="02010600030101010101" pitchFamily="2" charset="-122"/>
              </a:rPr>
              <a:t>) * ( </a:t>
            </a:r>
            <a:r>
              <a:rPr lang="en-US" altLang="zh-CN" sz="2400" b="1" i="1" dirty="0">
                <a:solidFill>
                  <a:srgbClr val="C00000"/>
                </a:solidFill>
                <a:latin typeface="宋体" panose="02010600030101010101" pitchFamily="2" charset="-122"/>
              </a:rPr>
              <a:t>j</a:t>
            </a:r>
            <a:r>
              <a:rPr lang="zh-CN" altLang="en-US" sz="2400" b="1" dirty="0">
                <a:solidFill>
                  <a:srgbClr val="C00000"/>
                </a:solidFill>
                <a:latin typeface="宋体" panose="02010600030101010101" pitchFamily="2" charset="-122"/>
              </a:rPr>
              <a:t>／</a:t>
            </a:r>
            <a:r>
              <a:rPr lang="en-US" altLang="zh-CN" sz="2400" b="1" i="1" dirty="0">
                <a:solidFill>
                  <a:srgbClr val="C00000"/>
                </a:solidFill>
                <a:latin typeface="宋体" panose="02010600030101010101" pitchFamily="2" charset="-122"/>
              </a:rPr>
              <a:t>i</a:t>
            </a:r>
            <a:r>
              <a:rPr lang="en-US" altLang="zh-CN" sz="2400" b="1" dirty="0">
                <a:solidFill>
                  <a:srgbClr val="C00000"/>
                </a:solidFill>
                <a:latin typeface="宋体" panose="02010600030101010101" pitchFamily="2" charset="-122"/>
              </a:rPr>
              <a:t> )</a:t>
            </a:r>
            <a:br>
              <a:rPr lang="en-US" altLang="zh-CN" sz="2400" b="1" dirty="0">
                <a:solidFill>
                  <a:srgbClr val="FF3300"/>
                </a:solidFill>
                <a:latin typeface="宋体" panose="02010600030101010101" pitchFamily="2" charset="-122"/>
              </a:rPr>
            </a:br>
            <a:r>
              <a:rPr lang="zh-CN" altLang="en-US" sz="2400" b="1" dirty="0">
                <a:latin typeface="宋体" panose="02010600030101010101" pitchFamily="2" charset="-122"/>
              </a:rPr>
              <a:t>除法运算（／）在除数和被除数都是整型量时，其结果只取整数部分，而得到整型量。</a:t>
            </a:r>
            <a:endParaRPr lang="zh-CN" altLang="en-US" sz="2400" b="1" dirty="0">
              <a:latin typeface="宋体" panose="02010600030101010101" pitchFamily="2" charset="-122"/>
            </a:endParaRPr>
          </a:p>
        </p:txBody>
      </p:sp>
    </p:spTree>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程序要能直截了当地说明程序员的用意</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0240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02404" name="Rectangle 2"/>
          <p:cNvSpPr/>
          <p:nvPr/>
        </p:nvSpPr>
        <p:spPr>
          <a:xfrm>
            <a:off x="506413" y="1395413"/>
            <a:ext cx="8305800" cy="4537075"/>
          </a:xfrm>
          <a:prstGeom prst="rect">
            <a:avLst/>
          </a:prstGeom>
          <a:noFill/>
          <a:ln w="9525">
            <a:noFill/>
          </a:ln>
        </p:spPr>
        <p:txBody>
          <a:bodyPr lIns="92075" tIns="46038" rIns="92075" bIns="46038"/>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50000"/>
              </a:lnSpc>
              <a:spcBef>
                <a:spcPct val="0"/>
              </a:spcBef>
              <a:buClrTx/>
              <a:buSzTx/>
              <a:buFontTx/>
              <a:buNone/>
            </a:pPr>
            <a:r>
              <a:rPr lang="zh-CN" altLang="en-US" sz="2400" b="1" dirty="0">
                <a:latin typeface="华文中宋" panose="02010600040101010101" pitchFamily="2" charset="-122"/>
                <a:ea typeface="华文中宋" panose="02010600040101010101" pitchFamily="2" charset="-122"/>
              </a:rPr>
              <a:t>   当 </a:t>
            </a:r>
            <a:r>
              <a:rPr lang="en-US" altLang="zh-CN" sz="2400" b="1" i="1" dirty="0">
                <a:solidFill>
                  <a:srgbClr val="C00000"/>
                </a:solidFill>
                <a:latin typeface="华文中宋" panose="02010600040101010101" pitchFamily="2" charset="-122"/>
                <a:ea typeface="华文中宋" panose="02010600040101010101" pitchFamily="2" charset="-122"/>
              </a:rPr>
              <a:t>i</a:t>
            </a:r>
            <a:r>
              <a:rPr lang="zh-CN" altLang="en-US" sz="2400" b="1" dirty="0">
                <a:solidFill>
                  <a:srgbClr val="C00000"/>
                </a:solidFill>
                <a:latin typeface="华文中宋" panose="02010600040101010101" pitchFamily="2" charset="-122"/>
                <a:ea typeface="华文中宋" panose="02010600040101010101" pitchFamily="2" charset="-122"/>
              </a:rPr>
              <a:t>＜</a:t>
            </a:r>
            <a:r>
              <a:rPr lang="en-US" altLang="zh-CN" sz="2400" b="1" i="1" dirty="0">
                <a:solidFill>
                  <a:srgbClr val="C00000"/>
                </a:solidFill>
                <a:latin typeface="华文中宋" panose="02010600040101010101" pitchFamily="2" charset="-122"/>
                <a:ea typeface="华文中宋" panose="02010600040101010101" pitchFamily="2" charset="-122"/>
              </a:rPr>
              <a:t>j</a:t>
            </a:r>
            <a:r>
              <a:rPr lang="en-US" altLang="zh-CN" sz="2400" b="1" i="1" dirty="0">
                <a:solidFill>
                  <a:srgbClr val="0000FF"/>
                </a:solidFill>
                <a:latin typeface="华文中宋" panose="02010600040101010101" pitchFamily="2" charset="-122"/>
                <a:ea typeface="华文中宋" panose="02010600040101010101" pitchFamily="2" charset="-122"/>
              </a:rPr>
              <a:t> </a:t>
            </a:r>
            <a:r>
              <a:rPr lang="zh-CN" altLang="en-US" sz="2400" b="1" dirty="0">
                <a:latin typeface="华文中宋" panose="02010600040101010101" pitchFamily="2" charset="-122"/>
                <a:ea typeface="华文中宋" panose="02010600040101010101" pitchFamily="2" charset="-122"/>
              </a:rPr>
              <a:t>时</a:t>
            </a:r>
            <a:r>
              <a:rPr lang="en-US" altLang="zh-CN" sz="2400" b="1" dirty="0">
                <a:latin typeface="华文中宋" panose="02010600040101010101" pitchFamily="2" charset="-122"/>
                <a:ea typeface="华文中宋" panose="02010600040101010101" pitchFamily="2" charset="-122"/>
              </a:rPr>
              <a:t>,  </a:t>
            </a:r>
            <a:r>
              <a:rPr lang="en-US" altLang="zh-CN" sz="2400" b="1" i="1" dirty="0">
                <a:solidFill>
                  <a:srgbClr val="C00000"/>
                </a:solidFill>
                <a:latin typeface="华文中宋" panose="02010600040101010101" pitchFamily="2" charset="-122"/>
                <a:ea typeface="华文中宋" panose="02010600040101010101" pitchFamily="2" charset="-122"/>
              </a:rPr>
              <a:t>i</a:t>
            </a:r>
            <a:r>
              <a:rPr lang="en-US" altLang="zh-CN" sz="2400" b="1" dirty="0">
                <a:solidFill>
                  <a:srgbClr val="C00000"/>
                </a:solidFill>
                <a:latin typeface="华文中宋" panose="02010600040101010101" pitchFamily="2" charset="-122"/>
                <a:ea typeface="华文中宋" panose="02010600040101010101" pitchFamily="2" charset="-122"/>
              </a:rPr>
              <a:t> / </a:t>
            </a:r>
            <a:r>
              <a:rPr lang="en-US" altLang="zh-CN" sz="2400" b="1" i="1" dirty="0">
                <a:solidFill>
                  <a:srgbClr val="C00000"/>
                </a:solidFill>
                <a:latin typeface="华文中宋" panose="02010600040101010101" pitchFamily="2" charset="-122"/>
                <a:ea typeface="华文中宋" panose="02010600040101010101" pitchFamily="2" charset="-122"/>
              </a:rPr>
              <a:t>j</a:t>
            </a:r>
            <a:r>
              <a:rPr lang="en-US" altLang="zh-CN" sz="2400" b="1" dirty="0">
                <a:solidFill>
                  <a:srgbClr val="C00000"/>
                </a:solidFill>
                <a:latin typeface="华文中宋" panose="02010600040101010101" pitchFamily="2" charset="-122"/>
                <a:ea typeface="华文中宋" panose="02010600040101010101" pitchFamily="2" charset="-122"/>
              </a:rPr>
              <a:t> = 0 </a:t>
            </a:r>
            <a:br>
              <a:rPr lang="en-US" altLang="zh-CN" sz="2400" b="1" dirty="0">
                <a:latin typeface="华文中宋" panose="02010600040101010101" pitchFamily="2" charset="-122"/>
                <a:ea typeface="华文中宋" panose="02010600040101010101" pitchFamily="2" charset="-122"/>
              </a:rPr>
            </a:br>
            <a:r>
              <a:rPr lang="en-US" altLang="zh-CN" sz="2400" b="1" dirty="0">
                <a:latin typeface="华文中宋" panose="02010600040101010101" pitchFamily="2" charset="-122"/>
                <a:ea typeface="华文中宋" panose="02010600040101010101" pitchFamily="2" charset="-122"/>
              </a:rPr>
              <a:t>   </a:t>
            </a:r>
            <a:r>
              <a:rPr lang="zh-CN" altLang="en-US" sz="2400" b="1" dirty="0">
                <a:latin typeface="华文中宋" panose="02010600040101010101" pitchFamily="2" charset="-122"/>
                <a:ea typeface="华文中宋" panose="02010600040101010101" pitchFamily="2" charset="-122"/>
              </a:rPr>
              <a:t>当 </a:t>
            </a:r>
            <a:r>
              <a:rPr lang="en-US" altLang="zh-CN" sz="2400" b="1" i="1" dirty="0">
                <a:solidFill>
                  <a:srgbClr val="C00000"/>
                </a:solidFill>
                <a:latin typeface="华文中宋" panose="02010600040101010101" pitchFamily="2" charset="-122"/>
                <a:ea typeface="华文中宋" panose="02010600040101010101" pitchFamily="2" charset="-122"/>
              </a:rPr>
              <a:t>j</a:t>
            </a:r>
            <a:r>
              <a:rPr lang="zh-CN" altLang="en-US" sz="2400" b="1" dirty="0">
                <a:solidFill>
                  <a:srgbClr val="C00000"/>
                </a:solidFill>
                <a:latin typeface="华文中宋" panose="02010600040101010101" pitchFamily="2" charset="-122"/>
                <a:ea typeface="华文中宋" panose="02010600040101010101" pitchFamily="2" charset="-122"/>
              </a:rPr>
              <a:t>＜</a:t>
            </a:r>
            <a:r>
              <a:rPr lang="en-US" altLang="zh-CN" sz="2400" b="1" i="1" dirty="0">
                <a:solidFill>
                  <a:srgbClr val="C00000"/>
                </a:solidFill>
                <a:latin typeface="华文中宋" panose="02010600040101010101" pitchFamily="2" charset="-122"/>
                <a:ea typeface="华文中宋" panose="02010600040101010101" pitchFamily="2" charset="-122"/>
              </a:rPr>
              <a:t>i</a:t>
            </a:r>
            <a:r>
              <a:rPr lang="en-US" altLang="zh-CN" sz="2400" b="1" dirty="0">
                <a:solidFill>
                  <a:srgbClr val="C00000"/>
                </a:solidFill>
                <a:latin typeface="华文中宋" panose="02010600040101010101" pitchFamily="2" charset="-122"/>
                <a:ea typeface="华文中宋" panose="02010600040101010101" pitchFamily="2" charset="-122"/>
              </a:rPr>
              <a:t> </a:t>
            </a:r>
            <a:r>
              <a:rPr lang="zh-CN" altLang="en-US" sz="2400" b="1" dirty="0">
                <a:latin typeface="华文中宋" panose="02010600040101010101" pitchFamily="2" charset="-122"/>
                <a:ea typeface="华文中宋" panose="02010600040101010101" pitchFamily="2" charset="-122"/>
              </a:rPr>
              <a:t>时</a:t>
            </a:r>
            <a:r>
              <a:rPr lang="en-US" altLang="zh-CN" sz="2400" b="1" dirty="0">
                <a:latin typeface="华文中宋" panose="02010600040101010101" pitchFamily="2" charset="-122"/>
                <a:ea typeface="华文中宋" panose="02010600040101010101" pitchFamily="2" charset="-122"/>
              </a:rPr>
              <a:t>, </a:t>
            </a:r>
            <a:r>
              <a:rPr lang="en-US" altLang="zh-CN" sz="2400" b="1" dirty="0">
                <a:solidFill>
                  <a:srgbClr val="C00000"/>
                </a:solidFill>
                <a:latin typeface="华文中宋" panose="02010600040101010101" pitchFamily="2" charset="-122"/>
                <a:ea typeface="华文中宋" panose="02010600040101010101" pitchFamily="2" charset="-122"/>
              </a:rPr>
              <a:t> </a:t>
            </a:r>
            <a:r>
              <a:rPr lang="en-US" altLang="zh-CN" sz="2400" b="1" i="1" dirty="0">
                <a:solidFill>
                  <a:srgbClr val="C00000"/>
                </a:solidFill>
                <a:latin typeface="华文中宋" panose="02010600040101010101" pitchFamily="2" charset="-122"/>
                <a:ea typeface="华文中宋" panose="02010600040101010101" pitchFamily="2" charset="-122"/>
              </a:rPr>
              <a:t>j</a:t>
            </a:r>
            <a:r>
              <a:rPr lang="en-US" altLang="zh-CN" sz="2400" b="1" dirty="0">
                <a:solidFill>
                  <a:srgbClr val="C00000"/>
                </a:solidFill>
                <a:latin typeface="华文中宋" panose="02010600040101010101" pitchFamily="2" charset="-122"/>
                <a:ea typeface="华文中宋" panose="02010600040101010101" pitchFamily="2" charset="-122"/>
              </a:rPr>
              <a:t> / </a:t>
            </a:r>
            <a:r>
              <a:rPr lang="en-US" altLang="zh-CN" sz="2400" b="1" i="1" dirty="0">
                <a:solidFill>
                  <a:srgbClr val="C00000"/>
                </a:solidFill>
                <a:latin typeface="华文中宋" panose="02010600040101010101" pitchFamily="2" charset="-122"/>
                <a:ea typeface="华文中宋" panose="02010600040101010101" pitchFamily="2" charset="-122"/>
              </a:rPr>
              <a:t>i</a:t>
            </a:r>
            <a:r>
              <a:rPr lang="en-US" altLang="zh-CN" sz="2400" b="1" dirty="0">
                <a:solidFill>
                  <a:srgbClr val="C00000"/>
                </a:solidFill>
                <a:latin typeface="华文中宋" panose="02010600040101010101" pitchFamily="2" charset="-122"/>
                <a:ea typeface="华文中宋" panose="02010600040101010101" pitchFamily="2" charset="-122"/>
              </a:rPr>
              <a:t> = 0 </a:t>
            </a:r>
            <a:br>
              <a:rPr lang="en-US" altLang="zh-CN" sz="2400" b="1" dirty="0">
                <a:latin typeface="华文中宋" panose="02010600040101010101" pitchFamily="2" charset="-122"/>
                <a:ea typeface="华文中宋" panose="02010600040101010101" pitchFamily="2" charset="-122"/>
              </a:rPr>
            </a:br>
            <a:r>
              <a:rPr lang="zh-CN" altLang="en-US" sz="2400" b="1" dirty="0">
                <a:latin typeface="华文中宋" panose="02010600040101010101" pitchFamily="2" charset="-122"/>
                <a:ea typeface="华文中宋" panose="02010600040101010101" pitchFamily="2" charset="-122"/>
              </a:rPr>
              <a:t>得到的数组 </a:t>
            </a:r>
            <a:endParaRPr lang="zh-CN" altLang="en-US" sz="2400" b="1" dirty="0">
              <a:latin typeface="华文中宋" panose="02010600040101010101" pitchFamily="2" charset="-122"/>
              <a:ea typeface="华文中宋" panose="02010600040101010101" pitchFamily="2" charset="-122"/>
            </a:endParaRPr>
          </a:p>
          <a:p>
            <a:pPr marL="0" lvl="0" indent="0" algn="l" eaLnBrk="1" hangingPunct="1">
              <a:lnSpc>
                <a:spcPct val="150000"/>
              </a:lnSpc>
              <a:spcBef>
                <a:spcPct val="0"/>
              </a:spcBef>
              <a:buClrTx/>
              <a:buSzTx/>
              <a:buFontTx/>
              <a:buNone/>
            </a:pPr>
            <a:r>
              <a:rPr lang="zh-CN" altLang="en-US" sz="2400" b="1" dirty="0">
                <a:latin typeface="华文中宋" panose="02010600040101010101" pitchFamily="2" charset="-122"/>
                <a:ea typeface="华文中宋" panose="02010600040101010101" pitchFamily="2" charset="-122"/>
              </a:rPr>
              <a:t>   当</a:t>
            </a:r>
            <a:r>
              <a:rPr lang="en-US" altLang="zh-CN" sz="2400" b="1" i="1" dirty="0">
                <a:solidFill>
                  <a:srgbClr val="C00000"/>
                </a:solidFill>
                <a:latin typeface="华文中宋" panose="02010600040101010101" pitchFamily="2" charset="-122"/>
                <a:ea typeface="华文中宋" panose="02010600040101010101" pitchFamily="2" charset="-122"/>
              </a:rPr>
              <a:t>i</a:t>
            </a:r>
            <a:r>
              <a:rPr lang="en-US" altLang="zh-CN" sz="2400" b="1" dirty="0">
                <a:solidFill>
                  <a:srgbClr val="C00000"/>
                </a:solidFill>
                <a:latin typeface="华文中宋" panose="02010600040101010101" pitchFamily="2" charset="-122"/>
                <a:ea typeface="华文中宋" panose="02010600040101010101" pitchFamily="2" charset="-122"/>
              </a:rPr>
              <a:t>≠</a:t>
            </a:r>
            <a:r>
              <a:rPr lang="en-US" altLang="zh-CN" sz="2400" b="1" i="1" dirty="0">
                <a:solidFill>
                  <a:srgbClr val="C00000"/>
                </a:solidFill>
                <a:latin typeface="华文中宋" panose="02010600040101010101" pitchFamily="2" charset="-122"/>
                <a:ea typeface="华文中宋" panose="02010600040101010101" pitchFamily="2" charset="-122"/>
              </a:rPr>
              <a:t>j</a:t>
            </a:r>
            <a:r>
              <a:rPr lang="zh-CN" altLang="en-US" sz="2400" b="1" dirty="0">
                <a:latin typeface="华文中宋" panose="02010600040101010101" pitchFamily="2" charset="-122"/>
                <a:ea typeface="华文中宋" panose="02010600040101010101" pitchFamily="2" charset="-122"/>
              </a:rPr>
              <a:t>时</a:t>
            </a:r>
            <a:br>
              <a:rPr lang="zh-CN" altLang="en-US" sz="2400" b="1" dirty="0">
                <a:latin typeface="华文中宋" panose="02010600040101010101" pitchFamily="2" charset="-122"/>
                <a:ea typeface="华文中宋" panose="02010600040101010101" pitchFamily="2" charset="-122"/>
              </a:rPr>
            </a:br>
            <a:r>
              <a:rPr lang="zh-CN" altLang="en-US" sz="2400" b="1" dirty="0">
                <a:latin typeface="华文中宋" panose="02010600040101010101" pitchFamily="2" charset="-122"/>
                <a:ea typeface="华文中宋" panose="02010600040101010101" pitchFamily="2" charset="-122"/>
              </a:rPr>
              <a:t>     </a:t>
            </a:r>
            <a:r>
              <a:rPr lang="en-US" altLang="zh-CN" sz="2400" b="1" i="1" dirty="0">
                <a:solidFill>
                  <a:srgbClr val="C00000"/>
                </a:solidFill>
                <a:latin typeface="华文中宋" panose="02010600040101010101" pitchFamily="2" charset="-122"/>
                <a:ea typeface="华文中宋" panose="02010600040101010101" pitchFamily="2" charset="-122"/>
              </a:rPr>
              <a:t>V</a:t>
            </a:r>
            <a:r>
              <a:rPr lang="en-US" altLang="zh-CN" sz="2400" b="1" dirty="0">
                <a:solidFill>
                  <a:srgbClr val="C00000"/>
                </a:solidFill>
                <a:latin typeface="华文中宋" panose="02010600040101010101" pitchFamily="2" charset="-122"/>
                <a:ea typeface="华文中宋" panose="02010600040101010101" pitchFamily="2" charset="-122"/>
              </a:rPr>
              <a:t>[</a:t>
            </a:r>
            <a:r>
              <a:rPr lang="en-US" altLang="zh-CN" sz="2400" b="1" i="1" dirty="0">
                <a:solidFill>
                  <a:srgbClr val="C00000"/>
                </a:solidFill>
                <a:latin typeface="华文中宋" panose="02010600040101010101" pitchFamily="2" charset="-122"/>
                <a:ea typeface="华文中宋" panose="02010600040101010101" pitchFamily="2" charset="-122"/>
              </a:rPr>
              <a:t>i</a:t>
            </a:r>
            <a:r>
              <a:rPr lang="en-US" altLang="zh-CN" sz="2400" b="1" dirty="0">
                <a:solidFill>
                  <a:srgbClr val="C00000"/>
                </a:solidFill>
                <a:latin typeface="华文中宋" panose="02010600040101010101" pitchFamily="2" charset="-122"/>
                <a:ea typeface="华文中宋" panose="02010600040101010101" pitchFamily="2" charset="-122"/>
              </a:rPr>
              <a:t>][</a:t>
            </a:r>
            <a:r>
              <a:rPr lang="en-US" altLang="zh-CN" sz="2400" b="1" i="1" dirty="0">
                <a:solidFill>
                  <a:srgbClr val="C00000"/>
                </a:solidFill>
                <a:latin typeface="华文中宋" panose="02010600040101010101" pitchFamily="2" charset="-122"/>
                <a:ea typeface="华文中宋" panose="02010600040101010101" pitchFamily="2" charset="-122"/>
              </a:rPr>
              <a:t>j</a:t>
            </a:r>
            <a:r>
              <a:rPr lang="en-US" altLang="zh-CN" sz="2400" b="1" dirty="0">
                <a:solidFill>
                  <a:srgbClr val="C00000"/>
                </a:solidFill>
                <a:latin typeface="华文中宋" panose="02010600040101010101" pitchFamily="2" charset="-122"/>
                <a:ea typeface="华文中宋" panose="02010600040101010101" pitchFamily="2" charset="-122"/>
              </a:rPr>
              <a:t>] = ( </a:t>
            </a:r>
            <a:r>
              <a:rPr lang="en-US" altLang="zh-CN" sz="2400" b="1" i="1" dirty="0">
                <a:solidFill>
                  <a:srgbClr val="C00000"/>
                </a:solidFill>
                <a:latin typeface="华文中宋" panose="02010600040101010101" pitchFamily="2" charset="-122"/>
                <a:ea typeface="华文中宋" panose="02010600040101010101" pitchFamily="2" charset="-122"/>
              </a:rPr>
              <a:t>i</a:t>
            </a:r>
            <a:r>
              <a:rPr lang="zh-CN" altLang="en-US" sz="2400" b="1" dirty="0">
                <a:solidFill>
                  <a:srgbClr val="C00000"/>
                </a:solidFill>
                <a:latin typeface="华文中宋" panose="02010600040101010101" pitchFamily="2" charset="-122"/>
                <a:ea typeface="华文中宋" panose="02010600040101010101" pitchFamily="2" charset="-122"/>
              </a:rPr>
              <a:t>／</a:t>
            </a:r>
            <a:r>
              <a:rPr lang="en-US" altLang="zh-CN" sz="2400" b="1" i="1" dirty="0">
                <a:solidFill>
                  <a:srgbClr val="C00000"/>
                </a:solidFill>
                <a:latin typeface="华文中宋" panose="02010600040101010101" pitchFamily="2" charset="-122"/>
                <a:ea typeface="华文中宋" panose="02010600040101010101" pitchFamily="2" charset="-122"/>
              </a:rPr>
              <a:t>j</a:t>
            </a:r>
            <a:r>
              <a:rPr lang="en-US" altLang="zh-CN" sz="2400" b="1" dirty="0">
                <a:solidFill>
                  <a:srgbClr val="C00000"/>
                </a:solidFill>
                <a:latin typeface="华文中宋" panose="02010600040101010101" pitchFamily="2" charset="-122"/>
                <a:ea typeface="华文中宋" panose="02010600040101010101" pitchFamily="2" charset="-122"/>
              </a:rPr>
              <a:t> ) * ( </a:t>
            </a:r>
            <a:r>
              <a:rPr lang="en-US" altLang="zh-CN" sz="2400" b="1" i="1" dirty="0">
                <a:solidFill>
                  <a:srgbClr val="C00000"/>
                </a:solidFill>
                <a:latin typeface="华文中宋" panose="02010600040101010101" pitchFamily="2" charset="-122"/>
                <a:ea typeface="华文中宋" panose="02010600040101010101" pitchFamily="2" charset="-122"/>
              </a:rPr>
              <a:t>j</a:t>
            </a:r>
            <a:r>
              <a:rPr lang="zh-CN" altLang="en-US" sz="2400" b="1" dirty="0">
                <a:solidFill>
                  <a:srgbClr val="C00000"/>
                </a:solidFill>
                <a:latin typeface="华文中宋" panose="02010600040101010101" pitchFamily="2" charset="-122"/>
                <a:ea typeface="华文中宋" panose="02010600040101010101" pitchFamily="2" charset="-122"/>
              </a:rPr>
              <a:t>／</a:t>
            </a:r>
            <a:r>
              <a:rPr lang="en-US" altLang="zh-CN" sz="2400" b="1" i="1" dirty="0">
                <a:solidFill>
                  <a:srgbClr val="C00000"/>
                </a:solidFill>
                <a:latin typeface="华文中宋" panose="02010600040101010101" pitchFamily="2" charset="-122"/>
                <a:ea typeface="华文中宋" panose="02010600040101010101" pitchFamily="2" charset="-122"/>
              </a:rPr>
              <a:t>i</a:t>
            </a:r>
            <a:r>
              <a:rPr lang="en-US" altLang="zh-CN" sz="2400" b="1" dirty="0">
                <a:solidFill>
                  <a:srgbClr val="C00000"/>
                </a:solidFill>
                <a:latin typeface="华文中宋" panose="02010600040101010101" pitchFamily="2" charset="-122"/>
                <a:ea typeface="华文中宋" panose="02010600040101010101" pitchFamily="2" charset="-122"/>
              </a:rPr>
              <a:t> ) = 0</a:t>
            </a:r>
            <a:endParaRPr lang="en-US" altLang="zh-CN" sz="2400" b="1" dirty="0">
              <a:solidFill>
                <a:srgbClr val="C00000"/>
              </a:solidFill>
              <a:latin typeface="华文中宋" panose="02010600040101010101" pitchFamily="2" charset="-122"/>
              <a:ea typeface="华文中宋" panose="02010600040101010101" pitchFamily="2" charset="-122"/>
            </a:endParaRPr>
          </a:p>
          <a:p>
            <a:pPr marL="0" lvl="0" indent="0" algn="l" eaLnBrk="1" hangingPunct="1">
              <a:lnSpc>
                <a:spcPct val="150000"/>
              </a:lnSpc>
              <a:spcBef>
                <a:spcPct val="0"/>
              </a:spcBef>
              <a:buClrTx/>
              <a:buSzTx/>
              <a:buFontTx/>
              <a:buNone/>
            </a:pPr>
            <a:r>
              <a:rPr lang="en-US" altLang="zh-CN" sz="2400" b="1" dirty="0">
                <a:latin typeface="华文中宋" panose="02010600040101010101" pitchFamily="2" charset="-122"/>
                <a:ea typeface="华文中宋" panose="02010600040101010101" pitchFamily="2" charset="-122"/>
              </a:rPr>
              <a:t>   </a:t>
            </a:r>
            <a:r>
              <a:rPr lang="zh-CN" altLang="en-US" sz="2400" b="1" dirty="0">
                <a:latin typeface="华文中宋" panose="02010600040101010101" pitchFamily="2" charset="-122"/>
                <a:ea typeface="华文中宋" panose="02010600040101010101" pitchFamily="2" charset="-122"/>
              </a:rPr>
              <a:t>当</a:t>
            </a:r>
            <a:r>
              <a:rPr lang="en-US" altLang="zh-CN" sz="2400" b="1" i="1" dirty="0">
                <a:solidFill>
                  <a:srgbClr val="C00000"/>
                </a:solidFill>
                <a:latin typeface="华文中宋" panose="02010600040101010101" pitchFamily="2" charset="-122"/>
                <a:ea typeface="华文中宋" panose="02010600040101010101" pitchFamily="2" charset="-122"/>
              </a:rPr>
              <a:t>i</a:t>
            </a:r>
            <a:r>
              <a:rPr lang="zh-CN" altLang="en-US" sz="2400" b="1" dirty="0">
                <a:solidFill>
                  <a:srgbClr val="C00000"/>
                </a:solidFill>
                <a:latin typeface="华文中宋" panose="02010600040101010101" pitchFamily="2" charset="-122"/>
                <a:ea typeface="华文中宋" panose="02010600040101010101" pitchFamily="2" charset="-122"/>
              </a:rPr>
              <a:t>＝</a:t>
            </a:r>
            <a:r>
              <a:rPr lang="en-US" altLang="zh-CN" sz="2400" b="1" i="1" dirty="0">
                <a:solidFill>
                  <a:srgbClr val="C00000"/>
                </a:solidFill>
                <a:latin typeface="华文中宋" panose="02010600040101010101" pitchFamily="2" charset="-122"/>
                <a:ea typeface="华文中宋" panose="02010600040101010101" pitchFamily="2" charset="-122"/>
              </a:rPr>
              <a:t>j</a:t>
            </a:r>
            <a:r>
              <a:rPr lang="zh-CN" altLang="en-US" sz="2400" b="1" dirty="0">
                <a:latin typeface="华文中宋" panose="02010600040101010101" pitchFamily="2" charset="-122"/>
                <a:ea typeface="华文中宋" panose="02010600040101010101" pitchFamily="2" charset="-122"/>
              </a:rPr>
              <a:t>时</a:t>
            </a:r>
            <a:endParaRPr lang="zh-CN" altLang="en-US" sz="2400" b="1" dirty="0">
              <a:latin typeface="华文中宋" panose="02010600040101010101" pitchFamily="2" charset="-122"/>
              <a:ea typeface="华文中宋" panose="02010600040101010101" pitchFamily="2" charset="-122"/>
            </a:endParaRPr>
          </a:p>
          <a:p>
            <a:pPr marL="0" lvl="0" indent="0" algn="l" eaLnBrk="1" hangingPunct="1">
              <a:lnSpc>
                <a:spcPct val="150000"/>
              </a:lnSpc>
              <a:spcBef>
                <a:spcPct val="0"/>
              </a:spcBef>
              <a:buClrTx/>
              <a:buSzTx/>
              <a:buFontTx/>
              <a:buNone/>
            </a:pPr>
            <a:r>
              <a:rPr lang="zh-CN" altLang="en-US" sz="2400" b="1" dirty="0">
                <a:latin typeface="华文中宋" panose="02010600040101010101" pitchFamily="2" charset="-122"/>
                <a:ea typeface="华文中宋" panose="02010600040101010101" pitchFamily="2" charset="-122"/>
              </a:rPr>
              <a:t>      </a:t>
            </a:r>
            <a:r>
              <a:rPr lang="en-US" altLang="zh-CN" sz="2400" b="1" i="1" dirty="0">
                <a:solidFill>
                  <a:srgbClr val="C00000"/>
                </a:solidFill>
                <a:latin typeface="华文中宋" panose="02010600040101010101" pitchFamily="2" charset="-122"/>
                <a:ea typeface="华文中宋" panose="02010600040101010101" pitchFamily="2" charset="-122"/>
              </a:rPr>
              <a:t>V</a:t>
            </a:r>
            <a:r>
              <a:rPr lang="en-US" altLang="zh-CN" sz="2400" b="1" dirty="0">
                <a:solidFill>
                  <a:srgbClr val="C00000"/>
                </a:solidFill>
                <a:latin typeface="华文中宋" panose="02010600040101010101" pitchFamily="2" charset="-122"/>
                <a:ea typeface="华文中宋" panose="02010600040101010101" pitchFamily="2" charset="-122"/>
              </a:rPr>
              <a:t>[</a:t>
            </a:r>
            <a:r>
              <a:rPr lang="en-US" altLang="zh-CN" sz="2400" b="1" i="1" dirty="0">
                <a:solidFill>
                  <a:srgbClr val="C00000"/>
                </a:solidFill>
                <a:latin typeface="华文中宋" panose="02010600040101010101" pitchFamily="2" charset="-122"/>
                <a:ea typeface="华文中宋" panose="02010600040101010101" pitchFamily="2" charset="-122"/>
              </a:rPr>
              <a:t>i</a:t>
            </a:r>
            <a:r>
              <a:rPr lang="en-US" altLang="zh-CN" sz="2400" b="1" dirty="0">
                <a:solidFill>
                  <a:srgbClr val="C00000"/>
                </a:solidFill>
                <a:latin typeface="华文中宋" panose="02010600040101010101" pitchFamily="2" charset="-122"/>
                <a:ea typeface="华文中宋" panose="02010600040101010101" pitchFamily="2" charset="-122"/>
              </a:rPr>
              <a:t>][</a:t>
            </a:r>
            <a:r>
              <a:rPr lang="en-US" altLang="zh-CN" sz="2400" b="1" i="1" dirty="0">
                <a:solidFill>
                  <a:srgbClr val="C00000"/>
                </a:solidFill>
                <a:latin typeface="华文中宋" panose="02010600040101010101" pitchFamily="2" charset="-122"/>
                <a:ea typeface="华文中宋" panose="02010600040101010101" pitchFamily="2" charset="-122"/>
              </a:rPr>
              <a:t>j</a:t>
            </a:r>
            <a:r>
              <a:rPr lang="en-US" altLang="zh-CN" sz="2400" b="1" dirty="0">
                <a:solidFill>
                  <a:srgbClr val="C00000"/>
                </a:solidFill>
                <a:latin typeface="华文中宋" panose="02010600040101010101" pitchFamily="2" charset="-122"/>
                <a:ea typeface="华文中宋" panose="02010600040101010101" pitchFamily="2" charset="-122"/>
              </a:rPr>
              <a:t>] = ( </a:t>
            </a:r>
            <a:r>
              <a:rPr lang="en-US" altLang="zh-CN" sz="2400" b="1" i="1" dirty="0">
                <a:solidFill>
                  <a:srgbClr val="C00000"/>
                </a:solidFill>
                <a:latin typeface="华文中宋" panose="02010600040101010101" pitchFamily="2" charset="-122"/>
                <a:ea typeface="华文中宋" panose="02010600040101010101" pitchFamily="2" charset="-122"/>
              </a:rPr>
              <a:t>i</a:t>
            </a:r>
            <a:r>
              <a:rPr lang="zh-CN" altLang="en-US" sz="2400" b="1" dirty="0">
                <a:solidFill>
                  <a:srgbClr val="C00000"/>
                </a:solidFill>
                <a:latin typeface="华文中宋" panose="02010600040101010101" pitchFamily="2" charset="-122"/>
                <a:ea typeface="华文中宋" panose="02010600040101010101" pitchFamily="2" charset="-122"/>
              </a:rPr>
              <a:t>／</a:t>
            </a:r>
            <a:r>
              <a:rPr lang="en-US" altLang="zh-CN" sz="2400" b="1" i="1" dirty="0">
                <a:solidFill>
                  <a:srgbClr val="C00000"/>
                </a:solidFill>
                <a:latin typeface="华文中宋" panose="02010600040101010101" pitchFamily="2" charset="-122"/>
                <a:ea typeface="华文中宋" panose="02010600040101010101" pitchFamily="2" charset="-122"/>
              </a:rPr>
              <a:t>j </a:t>
            </a:r>
            <a:r>
              <a:rPr lang="en-US" altLang="zh-CN" sz="2400" b="1" dirty="0">
                <a:solidFill>
                  <a:srgbClr val="C00000"/>
                </a:solidFill>
                <a:latin typeface="华文中宋" panose="02010600040101010101" pitchFamily="2" charset="-122"/>
                <a:ea typeface="华文中宋" panose="02010600040101010101" pitchFamily="2" charset="-122"/>
              </a:rPr>
              <a:t>) * ( </a:t>
            </a:r>
            <a:r>
              <a:rPr lang="en-US" altLang="zh-CN" sz="2400" b="1" i="1" dirty="0">
                <a:solidFill>
                  <a:srgbClr val="C00000"/>
                </a:solidFill>
                <a:latin typeface="华文中宋" panose="02010600040101010101" pitchFamily="2" charset="-122"/>
                <a:ea typeface="华文中宋" panose="02010600040101010101" pitchFamily="2" charset="-122"/>
              </a:rPr>
              <a:t>j</a:t>
            </a:r>
            <a:r>
              <a:rPr lang="zh-CN" altLang="en-US" sz="2400" b="1" dirty="0">
                <a:solidFill>
                  <a:srgbClr val="C00000"/>
                </a:solidFill>
                <a:latin typeface="华文中宋" panose="02010600040101010101" pitchFamily="2" charset="-122"/>
                <a:ea typeface="华文中宋" panose="02010600040101010101" pitchFamily="2" charset="-122"/>
              </a:rPr>
              <a:t>／</a:t>
            </a:r>
            <a:r>
              <a:rPr lang="en-US" altLang="zh-CN" sz="2400" b="1" i="1" dirty="0">
                <a:solidFill>
                  <a:srgbClr val="C00000"/>
                </a:solidFill>
                <a:latin typeface="华文中宋" panose="02010600040101010101" pitchFamily="2" charset="-122"/>
                <a:ea typeface="华文中宋" panose="02010600040101010101" pitchFamily="2" charset="-122"/>
              </a:rPr>
              <a:t>i</a:t>
            </a:r>
            <a:r>
              <a:rPr lang="en-US" altLang="zh-CN" sz="2400" b="1" dirty="0">
                <a:solidFill>
                  <a:srgbClr val="C00000"/>
                </a:solidFill>
                <a:latin typeface="华文中宋" panose="02010600040101010101" pitchFamily="2" charset="-122"/>
                <a:ea typeface="华文中宋" panose="02010600040101010101" pitchFamily="2" charset="-122"/>
              </a:rPr>
              <a:t> ) = 1</a:t>
            </a:r>
            <a:endParaRPr lang="en-US" altLang="zh-CN" sz="2400" b="1" dirty="0">
              <a:solidFill>
                <a:srgbClr val="C00000"/>
              </a:solidFill>
              <a:latin typeface="华文中宋" panose="02010600040101010101" pitchFamily="2" charset="-122"/>
              <a:ea typeface="华文中宋" panose="02010600040101010101" pitchFamily="2" charset="-122"/>
            </a:endParaRPr>
          </a:p>
          <a:p>
            <a:pPr marL="0" lvl="0" indent="0" algn="l" eaLnBrk="1" hangingPunct="1">
              <a:lnSpc>
                <a:spcPct val="150000"/>
              </a:lnSpc>
              <a:spcBef>
                <a:spcPct val="0"/>
              </a:spcBef>
              <a:buClrTx/>
              <a:buSzTx/>
              <a:buFontTx/>
              <a:buNone/>
            </a:pPr>
            <a:r>
              <a:rPr lang="zh-CN" altLang="en-US" sz="2400" b="1" dirty="0">
                <a:latin typeface="华文中宋" panose="02010600040101010101" pitchFamily="2" charset="-122"/>
                <a:ea typeface="华文中宋" panose="02010600040101010101" pitchFamily="2" charset="-122"/>
              </a:rPr>
              <a:t>这样得到的结果 </a:t>
            </a:r>
            <a:r>
              <a:rPr lang="en-US" altLang="zh-CN" sz="2400" b="1" i="1" dirty="0">
                <a:solidFill>
                  <a:srgbClr val="C00000"/>
                </a:solidFill>
                <a:latin typeface="华文中宋" panose="02010600040101010101" pitchFamily="2" charset="-122"/>
                <a:ea typeface="华文中宋" panose="02010600040101010101" pitchFamily="2" charset="-122"/>
              </a:rPr>
              <a:t>V</a:t>
            </a:r>
            <a:r>
              <a:rPr lang="en-US" altLang="zh-CN" sz="2400" b="1" dirty="0">
                <a:solidFill>
                  <a:srgbClr val="C00000"/>
                </a:solidFill>
                <a:latin typeface="华文中宋" panose="02010600040101010101" pitchFamily="2" charset="-122"/>
                <a:ea typeface="华文中宋" panose="02010600040101010101" pitchFamily="2" charset="-122"/>
              </a:rPr>
              <a:t> </a:t>
            </a:r>
            <a:r>
              <a:rPr lang="zh-CN" altLang="en-US" sz="2400" b="1" dirty="0">
                <a:latin typeface="华文中宋" panose="02010600040101010101" pitchFamily="2" charset="-122"/>
                <a:ea typeface="华文中宋" panose="02010600040101010101" pitchFamily="2" charset="-122"/>
              </a:rPr>
              <a:t>是一个单位矩阵。</a:t>
            </a:r>
            <a:endParaRPr lang="zh-CN" altLang="en-US" sz="2400" b="1" dirty="0">
              <a:latin typeface="华文中宋" panose="02010600040101010101" pitchFamily="2" charset="-122"/>
              <a:ea typeface="华文中宋" panose="02010600040101010101" pitchFamily="2" charset="-122"/>
            </a:endParaRPr>
          </a:p>
        </p:txBody>
      </p:sp>
    </p:spTree>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程序要能直截了当地说明程序员的用意</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0445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04452" name="Rectangle 2"/>
          <p:cNvSpPr/>
          <p:nvPr/>
        </p:nvSpPr>
        <p:spPr>
          <a:xfrm>
            <a:off x="685800" y="1412875"/>
            <a:ext cx="7772400" cy="4724400"/>
          </a:xfrm>
          <a:prstGeom prst="rect">
            <a:avLst/>
          </a:prstGeom>
          <a:noFill/>
          <a:ln w="9525">
            <a:noFill/>
          </a:ln>
        </p:spPr>
        <p:txBody>
          <a:bodyPr lIns="92075" tIns="46038" rIns="92075" bIns="46038"/>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00000"/>
              </a:lnSpc>
              <a:spcBef>
                <a:spcPct val="0"/>
              </a:spcBef>
              <a:buClrTx/>
              <a:buSzTx/>
              <a:buFontTx/>
              <a:buNone/>
            </a:pPr>
            <a:r>
              <a:rPr lang="zh-CN" altLang="en-US" sz="2400" dirty="0">
                <a:latin typeface="华文中宋" panose="02010600040101010101" pitchFamily="2" charset="-122"/>
                <a:ea typeface="华文中宋" panose="02010600040101010101" pitchFamily="2" charset="-122"/>
              </a:rPr>
              <a:t>写成以下的形式，就能让读者直接了解程序编写者的意图。</a:t>
            </a:r>
            <a:br>
              <a:rPr lang="zh-CN" altLang="en-US" sz="2400" b="1" dirty="0">
                <a:latin typeface="华文中宋" panose="02010600040101010101" pitchFamily="2" charset="-122"/>
                <a:ea typeface="华文中宋" panose="02010600040101010101" pitchFamily="2" charset="-122"/>
              </a:rPr>
            </a:br>
            <a:r>
              <a:rPr lang="zh-CN" altLang="en-US" sz="2400" b="1" dirty="0">
                <a:latin typeface="华文中宋" panose="02010600040101010101" pitchFamily="2" charset="-122"/>
                <a:ea typeface="华文中宋" panose="02010600040101010101" pitchFamily="2" charset="-122"/>
              </a:rPr>
              <a:t>      </a:t>
            </a:r>
            <a:r>
              <a:rPr lang="en-US" altLang="zh-CN" sz="2400" b="1" dirty="0">
                <a:solidFill>
                  <a:srgbClr val="C00000"/>
                </a:solidFill>
                <a:latin typeface="华文中宋" panose="02010600040101010101" pitchFamily="2" charset="-122"/>
                <a:ea typeface="华文中宋" panose="02010600040101010101" pitchFamily="2" charset="-122"/>
              </a:rPr>
              <a:t>for ( </a:t>
            </a:r>
            <a:r>
              <a:rPr lang="en-US" altLang="zh-CN" sz="2400" b="1" i="1" dirty="0">
                <a:solidFill>
                  <a:srgbClr val="C00000"/>
                </a:solidFill>
                <a:latin typeface="华文中宋" panose="02010600040101010101" pitchFamily="2" charset="-122"/>
                <a:ea typeface="华文中宋" panose="02010600040101010101" pitchFamily="2" charset="-122"/>
              </a:rPr>
              <a:t>i</a:t>
            </a:r>
            <a:r>
              <a:rPr lang="zh-CN" altLang="en-US" sz="2400" b="1" dirty="0">
                <a:solidFill>
                  <a:srgbClr val="C00000"/>
                </a:solidFill>
                <a:latin typeface="华文中宋" panose="02010600040101010101" pitchFamily="2" charset="-122"/>
                <a:ea typeface="华文中宋" panose="02010600040101010101" pitchFamily="2" charset="-122"/>
              </a:rPr>
              <a:t>＝</a:t>
            </a:r>
            <a:r>
              <a:rPr lang="en-US" altLang="zh-CN" sz="2400" b="1" dirty="0">
                <a:solidFill>
                  <a:srgbClr val="C00000"/>
                </a:solidFill>
                <a:latin typeface="华文中宋" panose="02010600040101010101" pitchFamily="2" charset="-122"/>
                <a:ea typeface="华文中宋" panose="02010600040101010101" pitchFamily="2" charset="-122"/>
              </a:rPr>
              <a:t>1; </a:t>
            </a:r>
            <a:r>
              <a:rPr lang="en-US" altLang="zh-CN" sz="2400" b="1" i="1" dirty="0">
                <a:solidFill>
                  <a:srgbClr val="C00000"/>
                </a:solidFill>
                <a:latin typeface="华文中宋" panose="02010600040101010101" pitchFamily="2" charset="-122"/>
                <a:ea typeface="华文中宋" panose="02010600040101010101" pitchFamily="2" charset="-122"/>
              </a:rPr>
              <a:t>i</a:t>
            </a:r>
            <a:r>
              <a:rPr lang="en-US" altLang="zh-CN" sz="2400" b="1" dirty="0">
                <a:solidFill>
                  <a:srgbClr val="C00000"/>
                </a:solidFill>
                <a:latin typeface="华文中宋" panose="02010600040101010101" pitchFamily="2" charset="-122"/>
                <a:ea typeface="华文中宋" panose="02010600040101010101" pitchFamily="2" charset="-122"/>
              </a:rPr>
              <a:t> &lt;= </a:t>
            </a:r>
            <a:r>
              <a:rPr lang="en-US" altLang="zh-CN" sz="2400" b="1" i="1" dirty="0">
                <a:solidFill>
                  <a:srgbClr val="C00000"/>
                </a:solidFill>
                <a:latin typeface="华文中宋" panose="02010600040101010101" pitchFamily="2" charset="-122"/>
                <a:ea typeface="华文中宋" panose="02010600040101010101" pitchFamily="2" charset="-122"/>
              </a:rPr>
              <a:t>n</a:t>
            </a:r>
            <a:r>
              <a:rPr lang="en-US" altLang="zh-CN" sz="2400" b="1" dirty="0">
                <a:solidFill>
                  <a:srgbClr val="C00000"/>
                </a:solidFill>
                <a:latin typeface="华文中宋" panose="02010600040101010101" pitchFamily="2" charset="-122"/>
                <a:ea typeface="华文中宋" panose="02010600040101010101" pitchFamily="2" charset="-122"/>
              </a:rPr>
              <a:t>; </a:t>
            </a:r>
            <a:r>
              <a:rPr lang="en-US" altLang="zh-CN" sz="2400" b="1" i="1" dirty="0">
                <a:solidFill>
                  <a:srgbClr val="C00000"/>
                </a:solidFill>
                <a:latin typeface="华文中宋" panose="02010600040101010101" pitchFamily="2" charset="-122"/>
                <a:ea typeface="华文中宋" panose="02010600040101010101" pitchFamily="2" charset="-122"/>
              </a:rPr>
              <a:t>i</a:t>
            </a:r>
            <a:r>
              <a:rPr lang="en-US" altLang="zh-CN" sz="2400" b="1" dirty="0">
                <a:solidFill>
                  <a:srgbClr val="C00000"/>
                </a:solidFill>
                <a:latin typeface="华文中宋" panose="02010600040101010101" pitchFamily="2" charset="-122"/>
                <a:ea typeface="华文中宋" panose="02010600040101010101" pitchFamily="2" charset="-122"/>
              </a:rPr>
              <a:t>++ )</a:t>
            </a:r>
            <a:br>
              <a:rPr lang="en-US" altLang="zh-CN" sz="2400" b="1" dirty="0">
                <a:solidFill>
                  <a:srgbClr val="C00000"/>
                </a:solidFill>
                <a:latin typeface="华文中宋" panose="02010600040101010101" pitchFamily="2" charset="-122"/>
                <a:ea typeface="华文中宋" panose="02010600040101010101" pitchFamily="2" charset="-122"/>
              </a:rPr>
            </a:br>
            <a:r>
              <a:rPr lang="en-US" altLang="zh-CN" sz="2400" b="1" dirty="0">
                <a:solidFill>
                  <a:srgbClr val="C00000"/>
                </a:solidFill>
                <a:latin typeface="华文中宋" panose="02010600040101010101" pitchFamily="2" charset="-122"/>
                <a:ea typeface="华文中宋" panose="02010600040101010101" pitchFamily="2" charset="-122"/>
              </a:rPr>
              <a:t>           for ( </a:t>
            </a:r>
            <a:r>
              <a:rPr lang="en-US" altLang="zh-CN" sz="2400" b="1" i="1" dirty="0">
                <a:solidFill>
                  <a:srgbClr val="C00000"/>
                </a:solidFill>
                <a:latin typeface="华文中宋" panose="02010600040101010101" pitchFamily="2" charset="-122"/>
                <a:ea typeface="华文中宋" panose="02010600040101010101" pitchFamily="2" charset="-122"/>
              </a:rPr>
              <a:t>j</a:t>
            </a:r>
            <a:r>
              <a:rPr lang="zh-CN" altLang="en-US" sz="2400" b="1" dirty="0">
                <a:solidFill>
                  <a:srgbClr val="C00000"/>
                </a:solidFill>
                <a:latin typeface="华文中宋" panose="02010600040101010101" pitchFamily="2" charset="-122"/>
                <a:ea typeface="华文中宋" panose="02010600040101010101" pitchFamily="2" charset="-122"/>
              </a:rPr>
              <a:t>＝</a:t>
            </a:r>
            <a:r>
              <a:rPr lang="en-US" altLang="zh-CN" sz="2400" b="1" dirty="0">
                <a:solidFill>
                  <a:srgbClr val="C00000"/>
                </a:solidFill>
                <a:latin typeface="华文中宋" panose="02010600040101010101" pitchFamily="2" charset="-122"/>
                <a:ea typeface="华文中宋" panose="02010600040101010101" pitchFamily="2" charset="-122"/>
              </a:rPr>
              <a:t>1; </a:t>
            </a:r>
            <a:r>
              <a:rPr lang="en-US" altLang="zh-CN" sz="2400" b="1" i="1" dirty="0">
                <a:solidFill>
                  <a:srgbClr val="C00000"/>
                </a:solidFill>
                <a:latin typeface="华文中宋" panose="02010600040101010101" pitchFamily="2" charset="-122"/>
                <a:ea typeface="华文中宋" panose="02010600040101010101" pitchFamily="2" charset="-122"/>
              </a:rPr>
              <a:t>j</a:t>
            </a:r>
            <a:r>
              <a:rPr lang="en-US" altLang="zh-CN" sz="2400" b="1" dirty="0">
                <a:solidFill>
                  <a:srgbClr val="C00000"/>
                </a:solidFill>
                <a:latin typeface="华文中宋" panose="02010600040101010101" pitchFamily="2" charset="-122"/>
                <a:ea typeface="华文中宋" panose="02010600040101010101" pitchFamily="2" charset="-122"/>
              </a:rPr>
              <a:t> &lt;= </a:t>
            </a:r>
            <a:r>
              <a:rPr lang="en-US" altLang="zh-CN" sz="2400" b="1" i="1" dirty="0">
                <a:solidFill>
                  <a:srgbClr val="C00000"/>
                </a:solidFill>
                <a:latin typeface="华文中宋" panose="02010600040101010101" pitchFamily="2" charset="-122"/>
                <a:ea typeface="华文中宋" panose="02010600040101010101" pitchFamily="2" charset="-122"/>
              </a:rPr>
              <a:t>n</a:t>
            </a:r>
            <a:r>
              <a:rPr lang="en-US" altLang="zh-CN" sz="2400" b="1" dirty="0">
                <a:solidFill>
                  <a:srgbClr val="C00000"/>
                </a:solidFill>
                <a:latin typeface="华文中宋" panose="02010600040101010101" pitchFamily="2" charset="-122"/>
                <a:ea typeface="华文中宋" panose="02010600040101010101" pitchFamily="2" charset="-122"/>
              </a:rPr>
              <a:t>; </a:t>
            </a:r>
            <a:r>
              <a:rPr lang="en-US" altLang="zh-CN" sz="2400" b="1" i="1" dirty="0">
                <a:solidFill>
                  <a:srgbClr val="C00000"/>
                </a:solidFill>
                <a:latin typeface="华文中宋" panose="02010600040101010101" pitchFamily="2" charset="-122"/>
                <a:ea typeface="华文中宋" panose="02010600040101010101" pitchFamily="2" charset="-122"/>
              </a:rPr>
              <a:t>j</a:t>
            </a:r>
            <a:r>
              <a:rPr lang="en-US" altLang="zh-CN" sz="2400" b="1" dirty="0">
                <a:solidFill>
                  <a:srgbClr val="C00000"/>
                </a:solidFill>
                <a:latin typeface="华文中宋" panose="02010600040101010101" pitchFamily="2" charset="-122"/>
                <a:ea typeface="华文中宋" panose="02010600040101010101" pitchFamily="2" charset="-122"/>
              </a:rPr>
              <a:t>++ )</a:t>
            </a:r>
            <a:br>
              <a:rPr lang="en-US" altLang="zh-CN" sz="2400" b="1" dirty="0">
                <a:solidFill>
                  <a:srgbClr val="C00000"/>
                </a:solidFill>
                <a:latin typeface="华文中宋" panose="02010600040101010101" pitchFamily="2" charset="-122"/>
                <a:ea typeface="华文中宋" panose="02010600040101010101" pitchFamily="2" charset="-122"/>
              </a:rPr>
            </a:br>
            <a:r>
              <a:rPr lang="en-US" altLang="zh-CN" sz="2400" b="1" dirty="0">
                <a:solidFill>
                  <a:srgbClr val="C00000"/>
                </a:solidFill>
                <a:latin typeface="华文中宋" panose="02010600040101010101" pitchFamily="2" charset="-122"/>
                <a:ea typeface="华文中宋" panose="02010600040101010101" pitchFamily="2" charset="-122"/>
              </a:rPr>
              <a:t>                if ( </a:t>
            </a:r>
            <a:r>
              <a:rPr lang="en-US" altLang="zh-CN" sz="2400" b="1" i="1" dirty="0">
                <a:solidFill>
                  <a:srgbClr val="C00000"/>
                </a:solidFill>
                <a:latin typeface="华文中宋" panose="02010600040101010101" pitchFamily="2" charset="-122"/>
                <a:ea typeface="华文中宋" panose="02010600040101010101" pitchFamily="2" charset="-122"/>
              </a:rPr>
              <a:t>i == j</a:t>
            </a:r>
            <a:r>
              <a:rPr lang="en-US" altLang="zh-CN" sz="2400" b="1" dirty="0">
                <a:solidFill>
                  <a:srgbClr val="C00000"/>
                </a:solidFill>
                <a:latin typeface="华文中宋" panose="02010600040101010101" pitchFamily="2" charset="-122"/>
                <a:ea typeface="华文中宋" panose="02010600040101010101" pitchFamily="2" charset="-122"/>
              </a:rPr>
              <a:t> ) </a:t>
            </a:r>
            <a:br>
              <a:rPr lang="en-US" altLang="zh-CN" sz="2400" b="1" dirty="0">
                <a:solidFill>
                  <a:srgbClr val="C00000"/>
                </a:solidFill>
                <a:latin typeface="华文中宋" panose="02010600040101010101" pitchFamily="2" charset="-122"/>
                <a:ea typeface="华文中宋" panose="02010600040101010101" pitchFamily="2" charset="-122"/>
              </a:rPr>
            </a:br>
            <a:r>
              <a:rPr lang="en-US" altLang="zh-CN" sz="2400" b="1" dirty="0">
                <a:solidFill>
                  <a:srgbClr val="C00000"/>
                </a:solidFill>
                <a:latin typeface="华文中宋" panose="02010600040101010101" pitchFamily="2" charset="-122"/>
                <a:ea typeface="华文中宋" panose="02010600040101010101" pitchFamily="2" charset="-122"/>
              </a:rPr>
              <a:t>                     </a:t>
            </a:r>
            <a:r>
              <a:rPr lang="en-US" altLang="zh-CN" sz="2400" b="1" i="1" dirty="0">
                <a:solidFill>
                  <a:srgbClr val="C00000"/>
                </a:solidFill>
                <a:latin typeface="华文中宋" panose="02010600040101010101" pitchFamily="2" charset="-122"/>
                <a:ea typeface="华文中宋" panose="02010600040101010101" pitchFamily="2" charset="-122"/>
              </a:rPr>
              <a:t>V</a:t>
            </a:r>
            <a:r>
              <a:rPr lang="en-US" altLang="zh-CN" sz="2400" b="1" dirty="0">
                <a:solidFill>
                  <a:srgbClr val="C00000"/>
                </a:solidFill>
                <a:latin typeface="华文中宋" panose="02010600040101010101" pitchFamily="2" charset="-122"/>
                <a:ea typeface="华文中宋" panose="02010600040101010101" pitchFamily="2" charset="-122"/>
              </a:rPr>
              <a:t>[</a:t>
            </a:r>
            <a:r>
              <a:rPr lang="en-US" altLang="zh-CN" sz="2400" b="1" i="1" dirty="0">
                <a:solidFill>
                  <a:srgbClr val="C00000"/>
                </a:solidFill>
                <a:latin typeface="华文中宋" panose="02010600040101010101" pitchFamily="2" charset="-122"/>
                <a:ea typeface="华文中宋" panose="02010600040101010101" pitchFamily="2" charset="-122"/>
              </a:rPr>
              <a:t>i</a:t>
            </a:r>
            <a:r>
              <a:rPr lang="en-US" altLang="zh-CN" sz="2400" b="1" dirty="0">
                <a:solidFill>
                  <a:srgbClr val="C00000"/>
                </a:solidFill>
                <a:latin typeface="华文中宋" panose="02010600040101010101" pitchFamily="2" charset="-122"/>
                <a:ea typeface="华文中宋" panose="02010600040101010101" pitchFamily="2" charset="-122"/>
              </a:rPr>
              <a:t>][</a:t>
            </a:r>
            <a:r>
              <a:rPr lang="en-US" altLang="zh-CN" sz="2400" b="1" i="1" dirty="0">
                <a:solidFill>
                  <a:srgbClr val="C00000"/>
                </a:solidFill>
                <a:latin typeface="华文中宋" panose="02010600040101010101" pitchFamily="2" charset="-122"/>
                <a:ea typeface="华文中宋" panose="02010600040101010101" pitchFamily="2" charset="-122"/>
              </a:rPr>
              <a:t>j</a:t>
            </a:r>
            <a:r>
              <a:rPr lang="en-US" altLang="zh-CN" sz="2400" b="1" dirty="0">
                <a:solidFill>
                  <a:srgbClr val="C00000"/>
                </a:solidFill>
                <a:latin typeface="华文中宋" panose="02010600040101010101" pitchFamily="2" charset="-122"/>
                <a:ea typeface="华文中宋" panose="02010600040101010101" pitchFamily="2" charset="-122"/>
              </a:rPr>
              <a:t>] </a:t>
            </a:r>
            <a:r>
              <a:rPr lang="zh-CN" altLang="en-US" sz="2400" b="1" dirty="0">
                <a:solidFill>
                  <a:srgbClr val="C00000"/>
                </a:solidFill>
                <a:latin typeface="华文中宋" panose="02010600040101010101" pitchFamily="2" charset="-122"/>
                <a:ea typeface="华文中宋" panose="02010600040101010101" pitchFamily="2" charset="-122"/>
              </a:rPr>
              <a:t>＝ </a:t>
            </a:r>
            <a:r>
              <a:rPr lang="en-US" altLang="zh-CN" sz="2400" b="1" dirty="0">
                <a:solidFill>
                  <a:srgbClr val="C00000"/>
                </a:solidFill>
                <a:latin typeface="华文中宋" panose="02010600040101010101" pitchFamily="2" charset="-122"/>
                <a:ea typeface="华文中宋" panose="02010600040101010101" pitchFamily="2" charset="-122"/>
              </a:rPr>
              <a:t>1.0;</a:t>
            </a:r>
            <a:br>
              <a:rPr lang="en-US" altLang="zh-CN" sz="2400" b="1" dirty="0">
                <a:solidFill>
                  <a:srgbClr val="C00000"/>
                </a:solidFill>
                <a:latin typeface="华文中宋" panose="02010600040101010101" pitchFamily="2" charset="-122"/>
                <a:ea typeface="华文中宋" panose="02010600040101010101" pitchFamily="2" charset="-122"/>
              </a:rPr>
            </a:br>
            <a:r>
              <a:rPr lang="en-US" altLang="zh-CN" sz="2400" b="1" dirty="0">
                <a:solidFill>
                  <a:srgbClr val="C00000"/>
                </a:solidFill>
                <a:latin typeface="华文中宋" panose="02010600040101010101" pitchFamily="2" charset="-122"/>
                <a:ea typeface="华文中宋" panose="02010600040101010101" pitchFamily="2" charset="-122"/>
              </a:rPr>
              <a:t>                ELSE</a:t>
            </a:r>
            <a:br>
              <a:rPr lang="en-US" altLang="zh-CN" sz="2400" b="1" dirty="0">
                <a:solidFill>
                  <a:srgbClr val="C00000"/>
                </a:solidFill>
                <a:latin typeface="华文中宋" panose="02010600040101010101" pitchFamily="2" charset="-122"/>
                <a:ea typeface="华文中宋" panose="02010600040101010101" pitchFamily="2" charset="-122"/>
              </a:rPr>
            </a:br>
            <a:r>
              <a:rPr lang="en-US" altLang="zh-CN" sz="2400" b="1" dirty="0">
                <a:solidFill>
                  <a:srgbClr val="C00000"/>
                </a:solidFill>
                <a:latin typeface="华文中宋" panose="02010600040101010101" pitchFamily="2" charset="-122"/>
                <a:ea typeface="华文中宋" panose="02010600040101010101" pitchFamily="2" charset="-122"/>
              </a:rPr>
              <a:t>                     </a:t>
            </a:r>
            <a:r>
              <a:rPr lang="en-US" altLang="zh-CN" sz="2400" b="1" i="1" dirty="0">
                <a:solidFill>
                  <a:srgbClr val="C00000"/>
                </a:solidFill>
                <a:latin typeface="华文中宋" panose="02010600040101010101" pitchFamily="2" charset="-122"/>
                <a:ea typeface="华文中宋" panose="02010600040101010101" pitchFamily="2" charset="-122"/>
              </a:rPr>
              <a:t>V</a:t>
            </a:r>
            <a:r>
              <a:rPr lang="en-US" altLang="zh-CN" sz="2400" b="1" dirty="0">
                <a:solidFill>
                  <a:srgbClr val="C00000"/>
                </a:solidFill>
                <a:latin typeface="华文中宋" panose="02010600040101010101" pitchFamily="2" charset="-122"/>
                <a:ea typeface="华文中宋" panose="02010600040101010101" pitchFamily="2" charset="-122"/>
              </a:rPr>
              <a:t>[</a:t>
            </a:r>
            <a:r>
              <a:rPr lang="en-US" altLang="zh-CN" sz="2400" b="1" i="1" dirty="0">
                <a:solidFill>
                  <a:srgbClr val="C00000"/>
                </a:solidFill>
                <a:latin typeface="华文中宋" panose="02010600040101010101" pitchFamily="2" charset="-122"/>
                <a:ea typeface="华文中宋" panose="02010600040101010101" pitchFamily="2" charset="-122"/>
              </a:rPr>
              <a:t>i</a:t>
            </a:r>
            <a:r>
              <a:rPr lang="en-US" altLang="zh-CN" sz="2400" b="1" dirty="0">
                <a:solidFill>
                  <a:srgbClr val="C00000"/>
                </a:solidFill>
                <a:latin typeface="华文中宋" panose="02010600040101010101" pitchFamily="2" charset="-122"/>
                <a:ea typeface="华文中宋" panose="02010600040101010101" pitchFamily="2" charset="-122"/>
              </a:rPr>
              <a:t>][</a:t>
            </a:r>
            <a:r>
              <a:rPr lang="en-US" altLang="zh-CN" sz="2400" b="1" i="1" dirty="0">
                <a:solidFill>
                  <a:srgbClr val="C00000"/>
                </a:solidFill>
                <a:latin typeface="华文中宋" panose="02010600040101010101" pitchFamily="2" charset="-122"/>
                <a:ea typeface="华文中宋" panose="02010600040101010101" pitchFamily="2" charset="-122"/>
              </a:rPr>
              <a:t>j</a:t>
            </a:r>
            <a:r>
              <a:rPr lang="en-US" altLang="zh-CN" sz="2400" b="1" dirty="0">
                <a:solidFill>
                  <a:srgbClr val="C00000"/>
                </a:solidFill>
                <a:latin typeface="华文中宋" panose="02010600040101010101" pitchFamily="2" charset="-122"/>
                <a:ea typeface="华文中宋" panose="02010600040101010101" pitchFamily="2" charset="-122"/>
              </a:rPr>
              <a:t>] </a:t>
            </a:r>
            <a:r>
              <a:rPr lang="zh-CN" altLang="en-US" sz="2400" b="1" dirty="0">
                <a:solidFill>
                  <a:srgbClr val="C00000"/>
                </a:solidFill>
                <a:latin typeface="华文中宋" panose="02010600040101010101" pitchFamily="2" charset="-122"/>
                <a:ea typeface="华文中宋" panose="02010600040101010101" pitchFamily="2" charset="-122"/>
              </a:rPr>
              <a:t>＝ </a:t>
            </a:r>
            <a:r>
              <a:rPr lang="en-US" altLang="zh-CN" sz="2400" b="1" dirty="0">
                <a:solidFill>
                  <a:srgbClr val="C00000"/>
                </a:solidFill>
                <a:latin typeface="华文中宋" panose="02010600040101010101" pitchFamily="2" charset="-122"/>
                <a:ea typeface="华文中宋" panose="02010600040101010101" pitchFamily="2" charset="-122"/>
              </a:rPr>
              <a:t>0.0;</a:t>
            </a:r>
            <a:endParaRPr lang="en-US" altLang="zh-CN" sz="2400" b="1" dirty="0">
              <a:solidFill>
                <a:srgbClr val="C00000"/>
              </a:solidFill>
              <a:latin typeface="华文中宋" panose="02010600040101010101" pitchFamily="2" charset="-122"/>
              <a:ea typeface="华文中宋" panose="02010600040101010101" pitchFamily="2" charset="-122"/>
            </a:endParaRPr>
          </a:p>
        </p:txBody>
      </p:sp>
    </p:spTree>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程序要能直截了当地说明程序员的用意</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0649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04452" name="Rectangle 2"/>
          <p:cNvSpPr>
            <a:spLocks noChangeArrowheads="1"/>
          </p:cNvSpPr>
          <p:nvPr/>
        </p:nvSpPr>
        <p:spPr bwMode="auto">
          <a:xfrm>
            <a:off x="773113" y="1385888"/>
            <a:ext cx="7772400" cy="4130675"/>
          </a:xfrm>
          <a:prstGeom prst="rect">
            <a:avLst/>
          </a:prstGeom>
          <a:noFill/>
          <a:ln>
            <a:noFill/>
          </a:ln>
          <a:effectLst/>
        </p:spPr>
        <p:txBody>
          <a:bodyPr lIns="92075" tIns="46038" rIns="92075" bIns="46038"/>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4. </a:t>
            </a:r>
            <a:r>
              <a:rPr kumimoji="0"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除非对效率有特殊的要求</a:t>
            </a:r>
            <a:r>
              <a:rPr kumimoji="0" lang="en-US" altLang="zh-CN"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a:t>
            </a:r>
            <a:r>
              <a:rPr kumimoji="0"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程序编写要做到</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清晰第一，效率第二。</a:t>
            </a: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不要为了追求效率而丧失了清晰性。事实上，</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程序效率的提高主要应通过选择高效的算法</a:t>
            </a: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来实现。</a:t>
            </a:r>
            <a:endPar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5.</a:t>
            </a:r>
            <a:r>
              <a:rPr kumimoji="0"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首先要保证</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程序正确</a:t>
            </a:r>
            <a:r>
              <a:rPr kumimoji="0" lang="en-US" altLang="zh-CN"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 </a:t>
            </a:r>
            <a:r>
              <a:rPr kumimoji="0"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然后才要求</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提高速度。</a:t>
            </a: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反过来说，在使程序高速运行时，首先要保证它是正确的。</a:t>
            </a:r>
            <a:b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br>
            <a:endPar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程序要能直截了当地说明程序员的用意</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08547"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06500" name="Rectangle 2"/>
          <p:cNvSpPr>
            <a:spLocks noChangeArrowheads="1"/>
          </p:cNvSpPr>
          <p:nvPr/>
        </p:nvSpPr>
        <p:spPr bwMode="auto">
          <a:xfrm>
            <a:off x="914400" y="1287463"/>
            <a:ext cx="7315200" cy="4752975"/>
          </a:xfrm>
          <a:prstGeom prst="rect">
            <a:avLst/>
          </a:prstGeom>
          <a:noFill/>
          <a:ln>
            <a:noFill/>
          </a:ln>
          <a:effectLst/>
        </p:spPr>
        <p:txBody>
          <a:bodyPr lIns="92075" tIns="46038" rIns="92075" bIns="46038"/>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6.</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避免</a:t>
            </a:r>
            <a:r>
              <a:rPr kumimoji="0"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使用临时变量</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而使可读性下降。</a:t>
            </a: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例如，有的程序员为了追求效率，往往喜欢把表达式 </a:t>
            </a:r>
            <a:endPar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		  </a:t>
            </a:r>
            <a:r>
              <a:rPr kumimoji="0"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A[I]</a:t>
            </a:r>
            <a:r>
              <a:rPr kumimoji="0"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1</a:t>
            </a:r>
            <a:r>
              <a:rPr kumimoji="0"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A[I];</a:t>
            </a:r>
            <a:endParaRPr kumimoji="0" lang="en-US" altLang="zh-CN"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写成  </a:t>
            </a:r>
            <a:r>
              <a:rPr kumimoji="0" lang="en-US" altLang="zh-CN"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AI</a:t>
            </a:r>
            <a:r>
              <a:rPr kumimoji="0"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A[I]; </a:t>
            </a:r>
            <a:endParaRPr kumimoji="0" lang="en-US" altLang="zh-CN"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          X</a:t>
            </a:r>
            <a:r>
              <a:rPr kumimoji="0"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AI</a:t>
            </a:r>
            <a:r>
              <a:rPr kumimoji="0"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1</a:t>
            </a:r>
            <a:r>
              <a:rPr kumimoji="0"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AI;</a:t>
            </a:r>
            <a:endParaRPr kumimoji="0" lang="en-US" altLang="zh-CN"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这样将一句分成两句写，会产生意想不到的问题。</a:t>
            </a:r>
            <a:endPar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程序要能直截了当地说明程序员的用意</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1059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08548" name="Rectangle 2"/>
          <p:cNvSpPr>
            <a:spLocks noChangeArrowheads="1"/>
          </p:cNvSpPr>
          <p:nvPr/>
        </p:nvSpPr>
        <p:spPr bwMode="auto">
          <a:xfrm>
            <a:off x="685800" y="1687513"/>
            <a:ext cx="7772400" cy="4030663"/>
          </a:xfrm>
          <a:prstGeom prst="rect">
            <a:avLst/>
          </a:prstGeom>
          <a:noFill/>
          <a:ln>
            <a:noFill/>
          </a:ln>
          <a:effectLst/>
        </p:spPr>
        <p:txBody>
          <a:bodyPr lIns="92075" tIns="46038" rIns="92075" bIns="46038"/>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7. </a:t>
            </a:r>
            <a:r>
              <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让编译程序做简单的优化。</a:t>
            </a:r>
            <a:endPar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8. </a:t>
            </a:r>
            <a:r>
              <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尽可能</a:t>
            </a:r>
            <a:r>
              <a:rPr kumimoji="0" lang="zh-CN" altLang="en-US"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使用库函数</a:t>
            </a:r>
            <a:endParaRPr kumimoji="0" lang="zh-CN" altLang="en-US"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9. </a:t>
            </a:r>
            <a:r>
              <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避免</a:t>
            </a:r>
            <a:r>
              <a:rPr kumimoji="0" lang="zh-CN" altLang="en-US"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不必要的转移。</a:t>
            </a:r>
            <a:r>
              <a:rPr kumimoji="0" lang="zh-CN" altLang="en-US"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不用 </a:t>
            </a:r>
            <a:r>
              <a:rPr kumimoji="0" lang="en-US" altLang="zh-CN"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GO TO</a:t>
            </a:r>
            <a:r>
              <a:rPr kumimoji="0" lang="zh-CN" altLang="en-US"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语句。</a:t>
            </a:r>
            <a:endParaRPr kumimoji="0" lang="zh-CN" altLang="en-US"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10.</a:t>
            </a:r>
            <a:r>
              <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尽量只采用</a:t>
            </a:r>
            <a:r>
              <a:rPr kumimoji="0" lang="zh-CN" altLang="en-US"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三种基本的控制结构</a:t>
            </a:r>
            <a:r>
              <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来编写程序。</a:t>
            </a:r>
            <a:endPar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程序要能直截了当地说明程序员的用意</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1264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10596" name="Rectangle 2"/>
          <p:cNvSpPr>
            <a:spLocks noChangeArrowheads="1"/>
          </p:cNvSpPr>
          <p:nvPr/>
        </p:nvSpPr>
        <p:spPr bwMode="auto">
          <a:xfrm>
            <a:off x="723900" y="1196975"/>
            <a:ext cx="7696200" cy="5040313"/>
          </a:xfrm>
          <a:prstGeom prst="rect">
            <a:avLst/>
          </a:prstGeom>
          <a:noFill/>
          <a:ln>
            <a:noFill/>
          </a:ln>
          <a:effectLst/>
        </p:spPr>
        <p:txBody>
          <a:bodyPr lIns="92075" tIns="46038" rIns="92075" bIns="46038"/>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5000"/>
              </a:lnSpc>
              <a:spcBef>
                <a:spcPct val="500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11. </a:t>
            </a:r>
            <a:r>
              <a:rPr kumimoji="0" lang="zh-CN" altLang="en-US"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避免使用</a:t>
            </a:r>
            <a:r>
              <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空的</a:t>
            </a:r>
            <a:r>
              <a:rPr kumimoji="0" lang="en-US" altLang="zh-CN"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ELSE</a:t>
            </a:r>
            <a:r>
              <a:rPr kumimoji="0" lang="zh-CN" altLang="en-US"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语句和</a:t>
            </a:r>
            <a:r>
              <a:rPr kumimoji="0" lang="en-US" altLang="zh-CN"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IF…  THEN IF…</a:t>
            </a:r>
            <a:r>
              <a:rPr kumimoji="0" lang="zh-CN" altLang="en-US"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的语句。这种结构容易使读者产生误解。例如，</a:t>
            </a:r>
            <a:endParaRPr kumimoji="0" lang="zh-CN" altLang="en-US"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05000"/>
              </a:lnSpc>
              <a:spcBef>
                <a:spcPct val="5000"/>
              </a:spcBef>
              <a:spcAft>
                <a:spcPct val="0"/>
              </a:spcAft>
              <a:buClrTx/>
              <a:buSzTx/>
              <a:buFontTx/>
              <a:buNone/>
              <a:defRPr/>
            </a:pPr>
            <a:r>
              <a:rPr kumimoji="0" lang="zh-CN" altLang="en-US"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    </a:t>
            </a:r>
            <a:r>
              <a:rPr kumimoji="0" lang="en-US" altLang="zh-CN"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if ( </a:t>
            </a:r>
            <a:r>
              <a:rPr kumimoji="0" lang="en-US" altLang="zh-CN" sz="2400" b="1" i="1"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char</a:t>
            </a:r>
            <a:r>
              <a:rPr kumimoji="0" lang="en-US" altLang="zh-CN"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 &gt;= '</a:t>
            </a:r>
            <a:r>
              <a:rPr kumimoji="0" lang="en-US" altLang="zh-CN" sz="2400" b="1" i="1"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a</a:t>
            </a:r>
            <a:r>
              <a:rPr kumimoji="0" lang="en-US" altLang="zh-CN"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 ) </a:t>
            </a:r>
            <a:br>
              <a:rPr kumimoji="0" lang="en-US" altLang="zh-CN"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br>
            <a:r>
              <a:rPr kumimoji="0" lang="en-US" altLang="zh-CN"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    if ( </a:t>
            </a:r>
            <a:r>
              <a:rPr kumimoji="0" lang="en-US" altLang="zh-CN" sz="2400" b="1" i="1"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char</a:t>
            </a:r>
            <a:r>
              <a:rPr kumimoji="0" lang="en-US" altLang="zh-CN"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 &lt;= ’</a:t>
            </a:r>
            <a:r>
              <a:rPr kumimoji="0" lang="en-US" altLang="zh-CN" sz="2400" b="1" i="1"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z</a:t>
            </a:r>
            <a:r>
              <a:rPr kumimoji="0" lang="en-US" altLang="zh-CN"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 )  </a:t>
            </a:r>
            <a:br>
              <a:rPr kumimoji="0" lang="en-US" altLang="zh-CN"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br>
            <a:r>
              <a:rPr kumimoji="0" lang="en-US" altLang="zh-CN"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    </a:t>
            </a:r>
            <a:r>
              <a:rPr kumimoji="0" lang="en-US" altLang="zh-CN" sz="2400" b="1" i="0" u="none" strike="noStrike" kern="1200" cap="none" spc="0" normalizeH="0" baseline="0" noProof="0" dirty="0" err="1">
                <a:ln>
                  <a:noFill/>
                </a:ln>
                <a:solidFill>
                  <a:srgbClr val="C00000"/>
                </a:solidFill>
                <a:effectLst/>
                <a:uLnTx/>
                <a:uFillTx/>
                <a:latin typeface="华文中宋" panose="02010600040101010101" pitchFamily="2" charset="-122"/>
                <a:ea typeface="华文中宋" panose="02010600040101010101" pitchFamily="2" charset="-122"/>
                <a:cs typeface="+mn-cs"/>
              </a:rPr>
              <a:t>cout</a:t>
            </a:r>
            <a:r>
              <a:rPr kumimoji="0" lang="en-US" altLang="zh-CN"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 &lt;&lt;  “This is a letter</a:t>
            </a:r>
            <a:r>
              <a:rPr kumimoji="0" lang="zh-CN" altLang="en-US"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a:t>
            </a:r>
            <a:r>
              <a:rPr kumimoji="0" lang="en-US" altLang="zh-CN"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a:t>
            </a:r>
            <a:br>
              <a:rPr kumimoji="0" lang="en-US" altLang="zh-CN"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br>
            <a:r>
              <a:rPr kumimoji="0" lang="en-US" altLang="zh-CN"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    else </a:t>
            </a:r>
            <a:br>
              <a:rPr kumimoji="0" lang="en-US" altLang="zh-CN"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br>
            <a:r>
              <a:rPr kumimoji="0" lang="en-US" altLang="zh-CN"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    </a:t>
            </a:r>
            <a:r>
              <a:rPr kumimoji="0" lang="en-US" altLang="zh-CN" sz="2400" b="1" i="0" u="none" strike="noStrike" kern="1200" cap="none" spc="0" normalizeH="0" baseline="0" noProof="0" dirty="0" err="1">
                <a:ln>
                  <a:noFill/>
                </a:ln>
                <a:solidFill>
                  <a:srgbClr val="C00000"/>
                </a:solidFill>
                <a:effectLst/>
                <a:uLnTx/>
                <a:uFillTx/>
                <a:latin typeface="华文中宋" panose="02010600040101010101" pitchFamily="2" charset="-122"/>
                <a:ea typeface="华文中宋" panose="02010600040101010101" pitchFamily="2" charset="-122"/>
                <a:cs typeface="+mn-cs"/>
              </a:rPr>
              <a:t>cout</a:t>
            </a:r>
            <a:r>
              <a:rPr kumimoji="0" lang="en-US" altLang="zh-CN"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 &lt;&lt; “This is not a letter</a:t>
            </a:r>
            <a:r>
              <a:rPr kumimoji="0" lang="zh-CN" altLang="en-US"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a:t>
            </a:r>
            <a:r>
              <a:rPr kumimoji="0" lang="en-US" altLang="zh-CN"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a:t>
            </a:r>
            <a:endParaRPr kumimoji="0" lang="en-US" altLang="zh-CN"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05000"/>
              </a:lnSpc>
              <a:spcBef>
                <a:spcPct val="500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   </a:t>
            </a:r>
            <a:endParaRPr kumimoji="0" lang="en-US" altLang="zh-CN"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05000"/>
              </a:lnSpc>
              <a:spcBef>
                <a:spcPct val="500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else</a:t>
            </a:r>
            <a:r>
              <a:rPr kumimoji="0" lang="zh-CN" altLang="en-US"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和哪个</a:t>
            </a:r>
            <a:r>
              <a:rPr kumimoji="0" lang="en-US" altLang="zh-CN"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if</a:t>
            </a:r>
            <a:r>
              <a:rPr kumimoji="0" lang="zh-CN" altLang="en-US"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对应？可能产生二义性问题。 </a:t>
            </a:r>
            <a:endParaRPr kumimoji="0" lang="zh-CN" altLang="en-US" sz="2400" b="1" i="0" u="none" strike="noStrike" kern="120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程序要能直截了当地说明程序员的用意</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1469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7" name="Rectangle 2"/>
          <p:cNvSpPr>
            <a:spLocks noChangeArrowheads="1"/>
          </p:cNvSpPr>
          <p:nvPr/>
        </p:nvSpPr>
        <p:spPr bwMode="auto">
          <a:xfrm>
            <a:off x="696913" y="1052513"/>
            <a:ext cx="7924800" cy="5638800"/>
          </a:xfrm>
          <a:prstGeom prst="rect">
            <a:avLst/>
          </a:prstGeom>
          <a:noFill/>
          <a:ln>
            <a:noFill/>
          </a:ln>
          <a:effectLst/>
        </p:spPr>
        <p:txBody>
          <a:bodyPr lIns="92075" tIns="46038" rIns="92075" bIns="46038"/>
          <a:lstStyle/>
          <a:p>
            <a:pPr marL="0" marR="0" lvl="0" indent="0" algn="l" defTabSz="914400" rtl="0" eaLnBrk="1" fontAlgn="base" latinLnBrk="0" hangingPunct="1">
              <a:lnSpc>
                <a:spcPct val="105000"/>
              </a:lnSpc>
              <a:spcBef>
                <a:spcPct val="5000"/>
              </a:spcBef>
              <a:spcAft>
                <a:spcPct val="0"/>
              </a:spcAft>
              <a:buClrTx/>
              <a:buSzTx/>
              <a:buFontTx/>
              <a:buNone/>
              <a:defRPr/>
            </a:pPr>
            <a:r>
              <a:rPr kumimoji="0" lang="en-US" altLang="zh-CN"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12.</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避免采用过于复杂的条件测试。</a:t>
            </a:r>
            <a:endPar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5000"/>
              </a:lnSpc>
              <a:spcBef>
                <a:spcPct val="5000"/>
              </a:spcBef>
              <a:spcAft>
                <a:spcPct val="0"/>
              </a:spcAft>
              <a:buClrTx/>
              <a:buSzTx/>
              <a:buFontTx/>
              <a:buNone/>
              <a:defRPr/>
            </a:pPr>
            <a:r>
              <a:rPr kumimoji="0" lang="en-US" altLang="zh-CN"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13.</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尽量减少使用“否定”条件的条件语句。</a:t>
            </a:r>
            <a:endParaRPr kumimoji="0" lang="en-US" altLang="zh-CN"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5000"/>
              </a:lnSpc>
              <a:spcBef>
                <a:spcPct val="500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例如，如果在程序中出现</a:t>
            </a:r>
            <a:br>
              <a:rPr kumimoji="0" lang="zh-CN" altLang="en-US" sz="24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mn-cs"/>
              </a:rPr>
            </a:br>
            <a:r>
              <a:rPr kumimoji="0" lang="zh-CN" altLang="en-US" sz="24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dirty="0">
                <a:ln>
                  <a:noFill/>
                </a:ln>
                <a:solidFill>
                  <a:srgbClr val="990000"/>
                </a:solidFill>
                <a:effectLst/>
                <a:uLnTx/>
                <a:uFillTx/>
                <a:latin typeface="宋体" panose="02010600030101010101" pitchFamily="2" charset="-122"/>
                <a:ea typeface="宋体" panose="02010600030101010101" pitchFamily="2" charset="-122"/>
                <a:cs typeface="+mn-cs"/>
              </a:rPr>
              <a:t>if ( !( char</a:t>
            </a:r>
            <a:r>
              <a:rPr kumimoji="0" lang="zh-CN" altLang="en-US" sz="2400" b="1" i="0" u="none" strike="noStrike" kern="1200" cap="none" spc="0" normalizeH="0" baseline="0" noProof="0" dirty="0">
                <a:ln>
                  <a:noFill/>
                </a:ln>
                <a:solidFill>
                  <a:srgbClr val="990000"/>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1200" cap="none" spc="0" normalizeH="0" baseline="0" noProof="0" dirty="0">
                <a:ln>
                  <a:noFill/>
                </a:ln>
                <a:solidFill>
                  <a:srgbClr val="990000"/>
                </a:solidFill>
                <a:effectLst/>
                <a:uLnTx/>
                <a:uFillTx/>
                <a:latin typeface="宋体" panose="02010600030101010101" pitchFamily="2" charset="-122"/>
                <a:ea typeface="宋体" panose="02010600030101010101" pitchFamily="2" charset="-122"/>
                <a:cs typeface="+mn-cs"/>
              </a:rPr>
              <a:t>0’ || char </a:t>
            </a:r>
            <a:r>
              <a:rPr kumimoji="0" lang="zh-CN" altLang="en-US" sz="2400" b="1" i="0" u="none" strike="noStrike" kern="1200" cap="none" spc="0" normalizeH="0" baseline="0" noProof="0" dirty="0">
                <a:ln>
                  <a:noFill/>
                </a:ln>
                <a:solidFill>
                  <a:srgbClr val="990000"/>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1200" cap="none" spc="0" normalizeH="0" baseline="0" noProof="0" dirty="0">
                <a:ln>
                  <a:noFill/>
                </a:ln>
                <a:solidFill>
                  <a:srgbClr val="990000"/>
                </a:solidFill>
                <a:effectLst/>
                <a:uLnTx/>
                <a:uFillTx/>
                <a:latin typeface="宋体" panose="02010600030101010101" pitchFamily="2" charset="-122"/>
                <a:ea typeface="宋体" panose="02010600030101010101" pitchFamily="2" charset="-122"/>
                <a:cs typeface="+mn-cs"/>
              </a:rPr>
              <a:t>9’ ) )</a:t>
            </a:r>
            <a:endParaRPr kumimoji="0" lang="en-US" altLang="zh-CN" sz="2400" b="1" i="0" u="none" strike="noStrike" kern="1200" cap="none" spc="0" normalizeH="0" baseline="0" noProof="0" dirty="0">
              <a:ln>
                <a:noFill/>
              </a:ln>
              <a:solidFill>
                <a:srgbClr val="6EAC1C"/>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5000"/>
              </a:lnSpc>
              <a:spcBef>
                <a:spcPct val="5000"/>
              </a:spcBef>
              <a:spcAft>
                <a:spcPct val="0"/>
              </a:spcAft>
              <a:buClrTx/>
              <a:buSzTx/>
              <a:buFontTx/>
              <a:buNone/>
              <a:defRPr/>
            </a:pPr>
            <a:r>
              <a:rPr kumimoji="0" lang="en-US" altLang="zh-CN" sz="2400" b="1" i="0" u="none" strike="noStrike" kern="1200" cap="none" spc="0" normalizeH="0" baseline="0" noProof="0" dirty="0">
                <a:ln>
                  <a:noFill/>
                </a:ln>
                <a:solidFill>
                  <a:srgbClr val="6EAC1C"/>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dirty="0">
                <a:ln>
                  <a:noFill/>
                </a:ln>
                <a:solidFill>
                  <a:srgbClr val="990000"/>
                </a:solidFill>
                <a:effectLst/>
                <a:uLnTx/>
                <a:uFillTx/>
                <a:latin typeface="宋体" panose="02010600030101010101" pitchFamily="2" charset="-122"/>
                <a:ea typeface="宋体" panose="02010600030101010101" pitchFamily="2" charset="-122"/>
                <a:cs typeface="+mn-cs"/>
              </a:rPr>
              <a:t>……</a:t>
            </a:r>
            <a:br>
              <a:rPr kumimoji="0" lang="en-US" altLang="zh-CN" sz="2400" b="1" i="0" u="none" strike="noStrike" kern="1200" cap="none" spc="0" normalizeH="0" baseline="0" noProof="0" dirty="0">
                <a:ln>
                  <a:noFill/>
                </a:ln>
                <a:solidFill>
                  <a:srgbClr val="6EAC1C"/>
                </a:solidFill>
                <a:effectLst/>
                <a:uLnTx/>
                <a:uFillTx/>
                <a:latin typeface="宋体" panose="02010600030101010101" pitchFamily="2" charset="-122"/>
                <a:ea typeface="宋体" panose="02010600030101010101" pitchFamily="2" charset="-122"/>
                <a:cs typeface="+mn-cs"/>
              </a:rPr>
            </a:b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改成</a:t>
            </a:r>
            <a:br>
              <a:rPr kumimoji="0" lang="zh-CN" altLang="en-US" sz="24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mn-cs"/>
              </a:rPr>
            </a:br>
            <a:r>
              <a:rPr kumimoji="0" lang="zh-CN" altLang="en-US" sz="24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dirty="0">
                <a:ln>
                  <a:noFill/>
                </a:ln>
                <a:solidFill>
                  <a:srgbClr val="990000"/>
                </a:solidFill>
                <a:effectLst/>
                <a:uLnTx/>
                <a:uFillTx/>
                <a:latin typeface="宋体" panose="02010600030101010101" pitchFamily="2" charset="-122"/>
                <a:ea typeface="宋体" panose="02010600030101010101" pitchFamily="2" charset="-122"/>
                <a:cs typeface="+mn-cs"/>
              </a:rPr>
              <a:t>if ( char &gt;= '0’ &amp;&amp; char &lt;= '9’ )  </a:t>
            </a:r>
            <a:endParaRPr kumimoji="0" lang="en-US" altLang="zh-CN" sz="2400" b="1" i="0" u="none" strike="noStrike" kern="1200" cap="none" spc="0" normalizeH="0" baseline="0" noProof="0" dirty="0">
              <a:ln>
                <a:noFill/>
              </a:ln>
              <a:solidFill>
                <a:srgbClr val="99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5000"/>
              </a:lnSpc>
              <a:spcBef>
                <a:spcPct val="5000"/>
              </a:spcBef>
              <a:spcAft>
                <a:spcPct val="0"/>
              </a:spcAft>
              <a:buClrTx/>
              <a:buSzTx/>
              <a:buFontTx/>
              <a:buNone/>
              <a:defRPr/>
            </a:pPr>
            <a:r>
              <a:rPr kumimoji="0" lang="en-US" altLang="zh-CN" sz="2400" b="1" i="0" u="none" strike="noStrike" kern="1200" cap="none" spc="0" normalizeH="0" baseline="0" noProof="0" dirty="0">
                <a:ln>
                  <a:noFill/>
                </a:ln>
                <a:solidFill>
                  <a:srgbClr val="990000"/>
                </a:solidFill>
                <a:effectLst/>
                <a:uLnTx/>
                <a:uFillTx/>
                <a:latin typeface="宋体" panose="02010600030101010101" pitchFamily="2" charset="-122"/>
                <a:ea typeface="宋体" panose="02010600030101010101" pitchFamily="2" charset="-122"/>
                <a:cs typeface="+mn-cs"/>
              </a:rPr>
              <a:t>         ……</a:t>
            </a:r>
            <a:br>
              <a:rPr kumimoji="0" lang="en-US" altLang="zh-CN" sz="2400" b="1" i="0" u="none" strike="noStrike" kern="1200" cap="none" spc="0" normalizeH="0" baseline="0" noProof="0" dirty="0">
                <a:ln>
                  <a:noFill/>
                </a:ln>
                <a:solidFill>
                  <a:srgbClr val="990000"/>
                </a:solidFill>
                <a:effectLst/>
                <a:uLnTx/>
                <a:uFillTx/>
                <a:latin typeface="宋体" panose="02010600030101010101" pitchFamily="2" charset="-122"/>
                <a:ea typeface="宋体" panose="02010600030101010101" pitchFamily="2" charset="-122"/>
                <a:cs typeface="+mn-cs"/>
              </a:rPr>
            </a:br>
            <a:r>
              <a:rPr kumimoji="0" lang="zh-CN" altLang="en-US" sz="24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不要让读者绕弯子想。</a:t>
            </a:r>
            <a:endParaRPr kumimoji="0" lang="zh-CN" altLang="en-US" sz="24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程序要能直截了当地说明程序员的用意</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1673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14692" name="Rectangle 2"/>
          <p:cNvSpPr>
            <a:spLocks noChangeArrowheads="1"/>
          </p:cNvSpPr>
          <p:nvPr/>
        </p:nvSpPr>
        <p:spPr bwMode="auto">
          <a:xfrm>
            <a:off x="925513" y="1316038"/>
            <a:ext cx="7467600" cy="4695825"/>
          </a:xfrm>
          <a:prstGeom prst="rect">
            <a:avLst/>
          </a:prstGeom>
          <a:noFill/>
          <a:ln>
            <a:noFill/>
          </a:ln>
          <a:effectLst/>
        </p:spPr>
        <p:txBody>
          <a:bodyPr lIns="92075" tIns="46038" rIns="92075" bIns="46038"/>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14. </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尽可能用</a:t>
            </a:r>
            <a:r>
              <a:rPr kumimoji="0"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通俗易懂</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的伪码来描述程序的流程，然后再翻译成必须使用的语言。</a:t>
            </a:r>
            <a:endPar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15. </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数据结构要有利于程序的简化。</a:t>
            </a:r>
            <a:endPar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16. </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要</a:t>
            </a:r>
            <a:r>
              <a:rPr kumimoji="0"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模块化</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，使模块功能尽可能单一化，模块间的耦合能够清晰可见。</a:t>
            </a:r>
            <a:endPar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17. </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利用</a:t>
            </a:r>
            <a:r>
              <a:rPr kumimoji="0"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信息隐蔽</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，确保每一个模块的独立性。</a:t>
            </a:r>
            <a:endPar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程序要能直截了当地说明程序员的用意</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18787"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16740" name="Rectangle 2"/>
          <p:cNvSpPr>
            <a:spLocks noChangeArrowheads="1"/>
          </p:cNvSpPr>
          <p:nvPr/>
        </p:nvSpPr>
        <p:spPr bwMode="auto">
          <a:xfrm>
            <a:off x="773113" y="1270000"/>
            <a:ext cx="7772400" cy="4318000"/>
          </a:xfrm>
          <a:prstGeom prst="rect">
            <a:avLst/>
          </a:prstGeom>
          <a:noFill/>
          <a:ln>
            <a:noFill/>
          </a:ln>
          <a:effectLst/>
        </p:spPr>
        <p:txBody>
          <a:bodyPr lIns="92075" tIns="46038" rIns="92075" bIns="46038"/>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18. </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从</a:t>
            </a:r>
            <a:r>
              <a:rPr kumimoji="0"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数据</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出发去构造程序。</a:t>
            </a:r>
            <a:endPar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19. </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不要修补不好的程序，要重新编写。也不要一味地追求代码的复用，要重新组织。</a:t>
            </a:r>
            <a:endPar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20. </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对太大的程序，要分块编写、测试，然后再集成。</a:t>
            </a:r>
            <a:endPar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21. </a:t>
            </a:r>
            <a:r>
              <a:rPr kumimoji="0"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对递归定义的数据结构尽量使用递归过程。</a:t>
            </a:r>
            <a:endParaRPr kumimoji="0" lang="zh-CN" altLang="en-US" sz="2400" b="1" i="0" u="none" strike="noStrike" kern="120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endParaRPr kumimoji="0" lang="en-US" altLang="zh-CN" sz="32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输入和输出</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2083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20836" name="Rectangle 2"/>
          <p:cNvSpPr/>
          <p:nvPr/>
        </p:nvSpPr>
        <p:spPr>
          <a:xfrm>
            <a:off x="747713" y="1052513"/>
            <a:ext cx="4572000" cy="838200"/>
          </a:xfrm>
          <a:prstGeom prst="rect">
            <a:avLst/>
          </a:prstGeom>
          <a:noFill/>
          <a:ln w="9525">
            <a:noFill/>
          </a:ln>
        </p:spPr>
        <p:txBody>
          <a:bodyPr lIns="92075" tIns="46038" rIns="92075" bIns="46038" anchor="ctr" anchorCtr="0"/>
          <a:p>
            <a:pPr algn="just" eaLnBrk="1" hangingPunct="1"/>
            <a:r>
              <a:rPr lang="en-US" altLang="zh-CN" sz="2800" dirty="0">
                <a:solidFill>
                  <a:srgbClr val="CC0000"/>
                </a:solidFill>
                <a:latin typeface="华文中宋" panose="02010600040101010101" pitchFamily="2" charset="-122"/>
              </a:rPr>
              <a:t>5</a:t>
            </a:r>
            <a:r>
              <a:rPr lang="zh-CN" altLang="en-US" sz="2800" dirty="0">
                <a:solidFill>
                  <a:srgbClr val="CC0000"/>
                </a:solidFill>
                <a:latin typeface="华文中宋" panose="02010600040101010101" pitchFamily="2" charset="-122"/>
              </a:rPr>
              <a:t>、输入和输出</a:t>
            </a:r>
            <a:endParaRPr lang="zh-CN" altLang="en-US" sz="2800" dirty="0">
              <a:solidFill>
                <a:srgbClr val="CC0000"/>
              </a:solidFill>
              <a:latin typeface="华文中宋" panose="02010600040101010101" pitchFamily="2" charset="-122"/>
            </a:endParaRPr>
          </a:p>
        </p:txBody>
      </p:sp>
      <p:pic>
        <p:nvPicPr>
          <p:cNvPr id="120837" name="Picture 4" descr="wu07"/>
          <p:cNvPicPr>
            <a:picLocks noChangeAspect="1"/>
          </p:cNvPicPr>
          <p:nvPr/>
        </p:nvPicPr>
        <p:blipFill>
          <a:blip r:embed="rId1"/>
          <a:stretch>
            <a:fillRect/>
          </a:stretch>
        </p:blipFill>
        <p:spPr>
          <a:xfrm>
            <a:off x="136525" y="1214438"/>
            <a:ext cx="628650" cy="514350"/>
          </a:xfrm>
          <a:prstGeom prst="rect">
            <a:avLst/>
          </a:prstGeom>
          <a:noFill/>
          <a:ln w="9525">
            <a:noFill/>
          </a:ln>
        </p:spPr>
      </p:pic>
      <p:sp>
        <p:nvSpPr>
          <p:cNvPr id="12" name="Rectangle 3"/>
          <p:cNvSpPr>
            <a:spLocks noChangeArrowheads="1"/>
          </p:cNvSpPr>
          <p:nvPr/>
        </p:nvSpPr>
        <p:spPr bwMode="auto">
          <a:xfrm>
            <a:off x="811213" y="1971675"/>
            <a:ext cx="7696200" cy="4648200"/>
          </a:xfrm>
          <a:prstGeom prst="rect">
            <a:avLst/>
          </a:prstGeom>
          <a:noFill/>
          <a:ln>
            <a:noFill/>
          </a:ln>
          <a:effectLst/>
        </p:spPr>
        <p:txBody>
          <a:bodyPr lIns="92075" tIns="46038" rIns="92075" bIns="46038"/>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输入和输出信息是与用户的使用直接相关的。</a:t>
            </a:r>
            <a:r>
              <a:rPr kumimoji="0"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输入和输出的方式和格式应当尽可能方便用户的使用。一定要避免因设计不当给用户带来的麻烦。</a:t>
            </a:r>
            <a:endParaRPr kumimoji="0"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因此，在</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软件需求分析阶段和设计阶段，就应基本确定输入和输出的风格。系统能否被用户接受，有时就取决于输入和输出的风格。</a:t>
            </a:r>
            <a:b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br>
            <a:endPar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输入和输出</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2288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20836" name="Rectangle 2"/>
          <p:cNvSpPr>
            <a:spLocks noChangeArrowheads="1"/>
          </p:cNvSpPr>
          <p:nvPr/>
        </p:nvSpPr>
        <p:spPr bwMode="auto">
          <a:xfrm>
            <a:off x="838200" y="1196975"/>
            <a:ext cx="7467600" cy="5483225"/>
          </a:xfrm>
          <a:prstGeom prst="rect">
            <a:avLst/>
          </a:prstGeom>
          <a:noFill/>
          <a:ln>
            <a:noFill/>
          </a:ln>
          <a:effectLst/>
        </p:spPr>
        <p:txBody>
          <a:bodyPr lIns="92075" tIns="46038" rIns="92075" bIns="46038"/>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不论是</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批处理的输入／输出方式</a:t>
            </a: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，还是</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交互式的输入／输出方式</a:t>
            </a: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，在设计和编码时都应考虑下列原则：</a:t>
            </a:r>
            <a:endPar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1. </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对所有的输入数据都要进行检验</a:t>
            </a: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，识别错误的输入，以保证每个数据的有效性；</a:t>
            </a:r>
            <a:b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br>
            <a:r>
              <a:rPr kumimoji="0"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2. </a:t>
            </a:r>
            <a:r>
              <a:rPr kumimoji="0" lang="zh-CN" altLang="en-US" sz="2400" b="1" i="0" u="none" strike="noStrike" kern="1200" cap="none" spc="0" normalizeH="0" baseline="0" noProof="0" dirty="0">
                <a:ln>
                  <a:noFill/>
                </a:ln>
                <a:solidFill>
                  <a:schemeClr val="accent6"/>
                </a:solidFill>
                <a:effectLst/>
                <a:uLnTx/>
                <a:uFillTx/>
                <a:latin typeface="宋体" panose="02010600030101010101" pitchFamily="2" charset="-122"/>
                <a:ea typeface="宋体" panose="02010600030101010101" pitchFamily="2" charset="-122"/>
                <a:cs typeface="+mn-cs"/>
              </a:rPr>
              <a:t>检查输入项的各种重要组合的合理性</a:t>
            </a: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，必要时报告输入状态信息；</a:t>
            </a:r>
            <a:b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br>
            <a:r>
              <a:rPr kumimoji="0"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3. </a:t>
            </a:r>
            <a:r>
              <a:rPr kumimoji="0" lang="zh-CN" altLang="en-US" sz="2400" b="1" i="0" u="none" strike="noStrike" kern="1200" cap="none" spc="0" normalizeH="0" baseline="0" noProof="0" dirty="0">
                <a:ln>
                  <a:noFill/>
                </a:ln>
                <a:solidFill>
                  <a:schemeClr val="accent6"/>
                </a:solidFill>
                <a:effectLst/>
                <a:uLnTx/>
                <a:uFillTx/>
                <a:latin typeface="宋体" panose="02010600030101010101" pitchFamily="2" charset="-122"/>
                <a:ea typeface="宋体" panose="02010600030101010101" pitchFamily="2" charset="-122"/>
                <a:cs typeface="+mn-cs"/>
              </a:rPr>
              <a:t>使得输入的步骤和操作尽可能简单</a:t>
            </a: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，并保持简单的输入格式；</a:t>
            </a:r>
            <a:endPar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输入和输出</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2493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22884" name="Rectangle 2"/>
          <p:cNvSpPr>
            <a:spLocks noChangeArrowheads="1"/>
          </p:cNvSpPr>
          <p:nvPr/>
        </p:nvSpPr>
        <p:spPr bwMode="auto">
          <a:xfrm>
            <a:off x="539750" y="1249363"/>
            <a:ext cx="8066088" cy="4700588"/>
          </a:xfrm>
          <a:prstGeom prst="rect">
            <a:avLst/>
          </a:prstGeom>
          <a:noFill/>
          <a:ln>
            <a:noFill/>
          </a:ln>
          <a:effectLst/>
        </p:spPr>
        <p:txBody>
          <a:bodyPr lIns="92075" tIns="46038" rIns="92075" bIns="46038"/>
          <a:lstStyle>
            <a:lvl1pPr algn="just">
              <a:lnSpc>
                <a:spcPct val="140000"/>
              </a:lnSpc>
              <a:spcBef>
                <a:spcPct val="20000"/>
              </a:spcBef>
              <a:buClr>
                <a:schemeClr val="accent2"/>
              </a:buClr>
              <a:buSzPct val="70000"/>
              <a:buFont typeface="Wingdings" panose="05000000000000000000" pitchFamily="2" charset="2"/>
              <a:buChar char="l"/>
              <a:tabLst>
                <a:tab pos="1146175" algn="l"/>
              </a:tabLst>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tabLst>
                <a:tab pos="1146175" algn="l"/>
              </a:tabLst>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tabLst>
                <a:tab pos="1146175" algn="l"/>
              </a:tabLst>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tabLst>
                <a:tab pos="1146175" algn="l"/>
              </a:tabLst>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tabLst>
                <a:tab pos="1146175" algn="l"/>
              </a:tabLst>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tabLst>
                <a:tab pos="1146175" algn="l"/>
              </a:tabLst>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tabLst>
                <a:tab pos="1146175" algn="l"/>
              </a:tabLst>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tabLst>
                <a:tab pos="1146175" algn="l"/>
              </a:tabLst>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tabLst>
                <a:tab pos="1146175" algn="l"/>
              </a:tabLst>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 typeface="Wingdings" panose="05000000000000000000" pitchFamily="2" charset="2"/>
              <a:buNone/>
              <a:tabLst>
                <a:tab pos="1146175" algn="l"/>
              </a:tabLst>
              <a:defRPr/>
            </a:pPr>
            <a:r>
              <a:rPr kumimoji="0" lang="en-US" altLang="zh-CN"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 4. </a:t>
            </a: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输入数据时，应允许使用自由格式输入；</a:t>
            </a:r>
            <a:endPar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 typeface="Wingdings" panose="05000000000000000000" pitchFamily="2" charset="2"/>
              <a:buNone/>
              <a:tabLst>
                <a:tab pos="1146175" algn="l"/>
              </a:tabLst>
              <a:defRPr/>
            </a:pP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5. </a:t>
            </a: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应允许缺省值；</a:t>
            </a:r>
            <a:endPar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 typeface="Wingdings" panose="05000000000000000000" pitchFamily="2" charset="2"/>
              <a:buNone/>
              <a:tabLst>
                <a:tab pos="1146175" algn="l"/>
              </a:tabLst>
              <a:defRPr/>
            </a:pP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6. </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输入一批数据时，最好使用输入结束标志，而不要由用户指定输入数据数目；</a:t>
            </a:r>
            <a:endPar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 typeface="Wingdings" panose="05000000000000000000" pitchFamily="2" charset="2"/>
              <a:buNone/>
              <a:tabLst>
                <a:tab pos="1146175" algn="l"/>
              </a:tabLst>
              <a:defRPr/>
            </a:pP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7. </a:t>
            </a: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在交互式输入输出时，要在</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屏幕上使用提示符明确提示交互输入的请求，指明可使用选择项的种类和取值范围。</a:t>
            </a: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同时，在数据输入的过程中和输入结束时，也要在屏幕上给出</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状态信息</a:t>
            </a: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endPar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tab pos="1146175" algn="l"/>
              </a:tabLst>
              <a:defRPr/>
            </a:pPr>
            <a:endParaRPr kumimoji="1" lang="en-US" altLang="zh-CN" sz="32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输入和输出</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2697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24932" name="Rectangle 2"/>
          <p:cNvSpPr>
            <a:spLocks noChangeArrowheads="1"/>
          </p:cNvSpPr>
          <p:nvPr/>
        </p:nvSpPr>
        <p:spPr bwMode="auto">
          <a:xfrm>
            <a:off x="773113" y="1341438"/>
            <a:ext cx="7772400" cy="4608513"/>
          </a:xfrm>
          <a:prstGeom prst="rect">
            <a:avLst/>
          </a:prstGeom>
          <a:noFill/>
          <a:ln>
            <a:noFill/>
          </a:ln>
          <a:effectLst/>
        </p:spPr>
        <p:txBody>
          <a:bodyPr lIns="92075" tIns="46038" rIns="92075" bIns="46038"/>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8. </a:t>
            </a: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当程序设计语言对输入／输出格式有严格要求时，应保持输入格式与输入语句的要求的</a:t>
            </a:r>
            <a:r>
              <a:rPr kumimoji="0" lang="zh-CN" altLang="en-US" sz="2400" b="1" i="0" u="none" strike="noStrike" kern="1200" cap="none" spc="0" normalizeH="0" baseline="0" noProof="0" dirty="0">
                <a:ln>
                  <a:noFill/>
                </a:ln>
                <a:solidFill>
                  <a:schemeClr val="accent2">
                    <a:lumMod val="75000"/>
                  </a:schemeClr>
                </a:solidFill>
                <a:effectLst/>
                <a:uLnTx/>
                <a:uFillTx/>
                <a:latin typeface="宋体" panose="02010600030101010101" pitchFamily="2" charset="-122"/>
                <a:ea typeface="宋体" panose="02010600030101010101" pitchFamily="2" charset="-122"/>
                <a:cs typeface="+mn-cs"/>
              </a:rPr>
              <a:t>一致性</a:t>
            </a: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a:t>
            </a:r>
            <a:b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br>
            <a:r>
              <a:rPr kumimoji="0" lang="en-US" altLang="zh-CN"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9. </a:t>
            </a: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给所有的输出加注解，并设计输出报表格式。</a:t>
            </a:r>
            <a:b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br>
            <a:endParaRPr kumimoji="0" lang="en-US" altLang="zh-CN" sz="2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400" b="1" i="0" u="none" strike="noStrike" kern="120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输</a:t>
            </a:r>
            <a: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入／输出风格还受到许多其它因素的影响。如输入／输出设备（例如终端的类型，图形设备，数字化转换设备等）、用户的熟练程度、以及通信环境等。 </a:t>
            </a:r>
            <a:br>
              <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br>
            <a:endParaRPr kumimoji="0" lang="zh-CN" altLang="en-US" sz="24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软件编码</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29027"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29028" name="内容占位符 1"/>
          <p:cNvSpPr>
            <a:spLocks noGrp="1"/>
          </p:cNvSpPr>
          <p:nvPr>
            <p:ph idx="1"/>
          </p:nvPr>
        </p:nvSpPr>
        <p:spPr>
          <a:xfrm>
            <a:off x="1087438" y="2306638"/>
            <a:ext cx="7391400" cy="3561080"/>
          </a:xfrm>
          <a:ln/>
        </p:spPr>
        <p:txBody>
          <a:bodyPr vert="horz" wrap="square" lIns="91440" tIns="45720" rIns="91440" bIns="45720" anchor="t" anchorCtr="0">
            <a:spAutoFit/>
          </a:bodyPr>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一、关于编码的一些理念</a:t>
            </a:r>
            <a:endParaRPr lang="zh-CN" altLang="en-US"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二、编程语言的选择</a:t>
            </a:r>
            <a:endParaRPr lang="zh-CN" altLang="en-US"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三、编码标准和规范</a:t>
            </a:r>
            <a:endParaRPr lang="zh-CN" altLang="en-US" dirty="0">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solidFill>
                  <a:srgbClr val="C00000"/>
                </a:solidFill>
                <a:latin typeface="华文中宋" panose="02010600040101010101" pitchFamily="2" charset="-122"/>
                <a:ea typeface="华文中宋" panose="02010600040101010101" pitchFamily="2" charset="-122"/>
                <a:cs typeface="+mn-cs"/>
              </a:rPr>
              <a:t>四、</a:t>
            </a:r>
            <a:r>
              <a:rPr lang="en-US" altLang="zh-CN" dirty="0">
                <a:solidFill>
                  <a:srgbClr val="C00000"/>
                </a:solidFill>
                <a:latin typeface="华文中宋" panose="02010600040101010101" pitchFamily="2" charset="-122"/>
                <a:ea typeface="华文中宋" panose="02010600040101010101" pitchFamily="2" charset="-122"/>
                <a:cs typeface="+mn-cs"/>
              </a:rPr>
              <a:t>AI</a:t>
            </a:r>
            <a:r>
              <a:rPr lang="zh-CN" altLang="en-US" dirty="0">
                <a:solidFill>
                  <a:srgbClr val="C00000"/>
                </a:solidFill>
                <a:latin typeface="华文中宋" panose="02010600040101010101" pitchFamily="2" charset="-122"/>
                <a:ea typeface="华文中宋" panose="02010600040101010101" pitchFamily="2" charset="-122"/>
                <a:cs typeface="+mn-cs"/>
              </a:rPr>
              <a:t>辅助</a:t>
            </a:r>
            <a:r>
              <a:rPr lang="zh-CN" altLang="en-US" dirty="0">
                <a:solidFill>
                  <a:srgbClr val="C00000"/>
                </a:solidFill>
                <a:latin typeface="华文中宋" panose="02010600040101010101" pitchFamily="2" charset="-122"/>
                <a:ea typeface="华文中宋" panose="02010600040101010101" pitchFamily="2" charset="-122"/>
                <a:cs typeface="+mn-cs"/>
              </a:rPr>
              <a:t>编程</a:t>
            </a:r>
            <a:endParaRPr lang="zh-CN" altLang="en-US" dirty="0">
              <a:solidFill>
                <a:srgbClr val="C00000"/>
              </a:solidFill>
              <a:latin typeface="华文中宋" panose="02010600040101010101" pitchFamily="2" charset="-122"/>
              <a:ea typeface="华文中宋" panose="02010600040101010101" pitchFamily="2" charset="-122"/>
              <a:cs typeface="+mn-cs"/>
            </a:endParaRPr>
          </a:p>
          <a:p>
            <a:pPr marL="0" indent="0" eaLnBrk="1" hangingPunct="1">
              <a:buSzPct val="70000"/>
              <a:buFont typeface="Wingdings" panose="05000000000000000000" pitchFamily="2" charset="2"/>
              <a:buNone/>
            </a:pPr>
            <a:r>
              <a:rPr lang="zh-CN" altLang="en-US" dirty="0">
                <a:solidFill>
                  <a:schemeClr val="tx1"/>
                </a:solidFill>
                <a:latin typeface="华文中宋" panose="02010600040101010101" pitchFamily="2" charset="-122"/>
                <a:ea typeface="华文中宋" panose="02010600040101010101" pitchFamily="2" charset="-122"/>
                <a:cs typeface="+mn-cs"/>
              </a:rPr>
              <a:t>五、程序效率</a:t>
            </a:r>
            <a:endParaRPr lang="zh-CN" altLang="en-US" dirty="0">
              <a:solidFill>
                <a:schemeClr val="tx1"/>
              </a:solidFill>
              <a:latin typeface="华文中宋" panose="02010600040101010101" pitchFamily="2" charset="-122"/>
              <a:ea typeface="华文中宋" panose="02010600040101010101" pitchFamily="2" charset="-122"/>
              <a:cs typeface="+mn-cs"/>
            </a:endParaRPr>
          </a:p>
          <a:p>
            <a:pPr marL="0" indent="0">
              <a:buSzPct val="70000"/>
              <a:buFont typeface="Wingdings" panose="05000000000000000000" pitchFamily="2" charset="2"/>
              <a:buNone/>
            </a:pPr>
            <a:endParaRPr lang="zh-CN" altLang="en-US" dirty="0">
              <a:solidFill>
                <a:schemeClr val="tx1"/>
              </a:solidFill>
              <a:latin typeface="华文中宋" panose="02010600040101010101" pitchFamily="2" charset="-122"/>
              <a:ea typeface="华文中宋" panose="02010600040101010101" pitchFamily="2" charset="-122"/>
              <a:cs typeface="+mn-cs"/>
            </a:endParaRPr>
          </a:p>
        </p:txBody>
      </p:sp>
      <p:sp>
        <p:nvSpPr>
          <p:cNvPr id="6" name="文本框 5"/>
          <p:cNvSpPr txBox="1"/>
          <p:nvPr/>
        </p:nvSpPr>
        <p:spPr>
          <a:xfrm>
            <a:off x="395288" y="1341438"/>
            <a:ext cx="4572000" cy="706438"/>
          </a:xfrm>
          <a:prstGeom prst="rect">
            <a:avLst/>
          </a:prstGeom>
          <a:noFill/>
        </p:spPr>
        <p:txBody>
          <a:bodyPr>
            <a:spAutoFit/>
          </a:bodyPr>
          <a:lstStyle/>
          <a:p>
            <a:pPr marR="0" defTabSz="914400">
              <a:buClrTx/>
              <a:buSzTx/>
              <a:buFontTx/>
              <a:buNone/>
              <a:defRPr/>
            </a:pPr>
            <a:r>
              <a:rPr kumimoji="0" lang="zh-CN" altLang="en-US" sz="4000" kern="1200" cap="none" spc="0" normalizeH="0" baseline="0" noProof="0" dirty="0">
                <a:solidFill>
                  <a:schemeClr val="tx1">
                    <a:lumMod val="75000"/>
                    <a:lumOff val="25000"/>
                  </a:schemeClr>
                </a:solidFill>
                <a:latin typeface="华文中宋" panose="02010600040101010101" pitchFamily="2" charset="-122"/>
                <a:ea typeface="华文中宋" panose="02010600040101010101" pitchFamily="2" charset="-122"/>
                <a:cs typeface="+mn-cs"/>
              </a:rPr>
              <a:t>本章要点</a:t>
            </a:r>
            <a:endParaRPr kumimoji="0" lang="zh-CN" altLang="en-US" sz="4000" kern="1200" cap="none" spc="0" normalizeH="0" baseline="0" noProof="0" dirty="0">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35560" y="1484630"/>
            <a:ext cx="9189720" cy="4789170"/>
            <a:chOff x="0" y="0"/>
            <a:chExt cx="24506350" cy="13716000"/>
          </a:xfrm>
        </p:grpSpPr>
        <p:grpSp>
          <p:nvGrpSpPr>
            <p:cNvPr id="4" name="Group 4"/>
            <p:cNvGrpSpPr/>
            <p:nvPr/>
          </p:nvGrpSpPr>
          <p:grpSpPr>
            <a:xfrm>
              <a:off x="0" y="0"/>
              <a:ext cx="24384000" cy="215022"/>
              <a:chOff x="0" y="0"/>
              <a:chExt cx="4816593" cy="42474"/>
            </a:xfrm>
          </p:grpSpPr>
          <p:sp>
            <p:nvSpPr>
              <p:cNvPr id="5" name="Freeform 5"/>
              <p:cNvSpPr/>
              <p:nvPr/>
            </p:nvSpPr>
            <p:spPr>
              <a:xfrm>
                <a:off x="0" y="0"/>
                <a:ext cx="4816592" cy="42474"/>
              </a:xfrm>
              <a:custGeom>
                <a:avLst/>
                <a:gdLst/>
                <a:ahLst/>
                <a:cxnLst/>
                <a:rect l="l" t="t" r="r" b="b"/>
                <a:pathLst>
                  <a:path w="4816592" h="42474">
                    <a:moveTo>
                      <a:pt x="0" y="0"/>
                    </a:moveTo>
                    <a:lnTo>
                      <a:pt x="4816592" y="0"/>
                    </a:lnTo>
                    <a:lnTo>
                      <a:pt x="4816592" y="42474"/>
                    </a:lnTo>
                    <a:lnTo>
                      <a:pt x="0" y="42474"/>
                    </a:lnTo>
                    <a:close/>
                  </a:path>
                </a:pathLst>
              </a:custGeom>
              <a:solidFill>
                <a:srgbClr val="004AAD"/>
              </a:solidFill>
            </p:spPr>
          </p:sp>
          <p:sp>
            <p:nvSpPr>
              <p:cNvPr id="6" name="TextBox 6"/>
              <p:cNvSpPr txBox="1"/>
              <p:nvPr/>
            </p:nvSpPr>
            <p:spPr>
              <a:xfrm>
                <a:off x="0" y="-38100"/>
                <a:ext cx="4816593" cy="80574"/>
              </a:xfrm>
              <a:prstGeom prst="rect">
                <a:avLst/>
              </a:prstGeom>
            </p:spPr>
            <p:txBody>
              <a:bodyPr lIns="25400" tIns="25400" rIns="25400" bIns="25400" rtlCol="0" anchor="ctr"/>
              <a:lstStyle/>
              <a:p>
                <a:pPr marL="285750" indent="-285750" algn="ctr">
                  <a:lnSpc>
                    <a:spcPts val="2660"/>
                  </a:lnSpc>
                  <a:buFont typeface="Arial" panose="020B0604020202020204" pitchFamily="34" charset="0"/>
                  <a:buChar char="•"/>
                </a:pPr>
                <a:endParaRPr sz="1200" dirty="0">
                  <a:ea typeface="微软雅黑" panose="020B0503020204020204" charset="-122"/>
                  <a:cs typeface="微软雅黑" panose="020B0503020204020204" charset="-122"/>
                </a:endParaRPr>
              </a:p>
            </p:txBody>
          </p:sp>
        </p:grpSp>
        <p:grpSp>
          <p:nvGrpSpPr>
            <p:cNvPr id="7" name="Group 7"/>
            <p:cNvGrpSpPr/>
            <p:nvPr/>
          </p:nvGrpSpPr>
          <p:grpSpPr>
            <a:xfrm>
              <a:off x="279152" y="630203"/>
              <a:ext cx="456256" cy="45625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9" name="TextBox 9"/>
              <p:cNvSpPr txBox="1"/>
              <p:nvPr/>
            </p:nvSpPr>
            <p:spPr>
              <a:xfrm>
                <a:off x="76200" y="38100"/>
                <a:ext cx="660400" cy="698500"/>
              </a:xfrm>
              <a:prstGeom prst="rect">
                <a:avLst/>
              </a:prstGeom>
            </p:spPr>
            <p:txBody>
              <a:bodyPr lIns="18444" tIns="18444" rIns="18444" bIns="18444" rtlCol="0" anchor="ctr"/>
              <a:lstStyle/>
              <a:p>
                <a:pPr marL="285750" indent="-285750" algn="ctr">
                  <a:lnSpc>
                    <a:spcPts val="2660"/>
                  </a:lnSpc>
                  <a:spcBef>
                    <a:spcPct val="0"/>
                  </a:spcBef>
                  <a:buFont typeface="Arial" panose="020B0604020202020204" pitchFamily="34" charset="0"/>
                  <a:buChar char="•"/>
                </a:pPr>
                <a:endParaRPr sz="1200" dirty="0">
                  <a:ea typeface="微软雅黑" panose="020B0503020204020204" charset="-122"/>
                  <a:cs typeface="微软雅黑" panose="020B0503020204020204" charset="-122"/>
                </a:endParaRPr>
              </a:p>
            </p:txBody>
          </p:sp>
        </p:grpSp>
        <p:grpSp>
          <p:nvGrpSpPr>
            <p:cNvPr id="10" name="Group 10"/>
            <p:cNvGrpSpPr/>
            <p:nvPr/>
          </p:nvGrpSpPr>
          <p:grpSpPr>
            <a:xfrm rot="553339">
              <a:off x="7583" y="761446"/>
              <a:ext cx="543138" cy="138439"/>
              <a:chOff x="0" y="0"/>
              <a:chExt cx="147751" cy="37660"/>
            </a:xfrm>
          </p:grpSpPr>
          <p:sp>
            <p:nvSpPr>
              <p:cNvPr id="11" name="Freeform 11"/>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12" name="TextBox 12"/>
              <p:cNvSpPr txBox="1"/>
              <p:nvPr/>
            </p:nvSpPr>
            <p:spPr>
              <a:xfrm>
                <a:off x="0" y="-38100"/>
                <a:ext cx="147751" cy="75760"/>
              </a:xfrm>
              <a:prstGeom prst="rect">
                <a:avLst/>
              </a:prstGeom>
            </p:spPr>
            <p:txBody>
              <a:bodyPr lIns="18444" tIns="18444" rIns="18444" bIns="18444" rtlCol="0" anchor="ctr"/>
              <a:lstStyle/>
              <a:p>
                <a:pPr marL="285750" indent="-285750" algn="ctr">
                  <a:lnSpc>
                    <a:spcPts val="2660"/>
                  </a:lnSpc>
                  <a:buFont typeface="Arial" panose="020B0604020202020204" pitchFamily="34" charset="0"/>
                  <a:buChar char="•"/>
                </a:pPr>
                <a:endParaRPr sz="1200" dirty="0">
                  <a:ea typeface="微软雅黑" panose="020B0503020204020204" charset="-122"/>
                  <a:cs typeface="微软雅黑" panose="020B0503020204020204" charset="-122"/>
                </a:endParaRPr>
              </a:p>
            </p:txBody>
          </p:sp>
        </p:grpSp>
        <p:grpSp>
          <p:nvGrpSpPr>
            <p:cNvPr id="13" name="Group 13"/>
            <p:cNvGrpSpPr/>
            <p:nvPr/>
          </p:nvGrpSpPr>
          <p:grpSpPr>
            <a:xfrm>
              <a:off x="279152" y="3296723"/>
              <a:ext cx="456256" cy="456256"/>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15" name="TextBox 15"/>
              <p:cNvSpPr txBox="1"/>
              <p:nvPr/>
            </p:nvSpPr>
            <p:spPr>
              <a:xfrm>
                <a:off x="76200" y="38100"/>
                <a:ext cx="660400" cy="698500"/>
              </a:xfrm>
              <a:prstGeom prst="rect">
                <a:avLst/>
              </a:prstGeom>
            </p:spPr>
            <p:txBody>
              <a:bodyPr lIns="18444" tIns="18444" rIns="18444" bIns="18444" rtlCol="0" anchor="ctr"/>
              <a:lstStyle/>
              <a:p>
                <a:pPr marL="285750" indent="-285750" algn="ctr">
                  <a:lnSpc>
                    <a:spcPts val="2660"/>
                  </a:lnSpc>
                  <a:spcBef>
                    <a:spcPct val="0"/>
                  </a:spcBef>
                  <a:buFont typeface="Arial" panose="020B0604020202020204" pitchFamily="34" charset="0"/>
                  <a:buChar char="•"/>
                </a:pPr>
                <a:endParaRPr sz="1200" dirty="0">
                  <a:ea typeface="微软雅黑" panose="020B0503020204020204" charset="-122"/>
                  <a:cs typeface="微软雅黑" panose="020B0503020204020204" charset="-122"/>
                </a:endParaRPr>
              </a:p>
            </p:txBody>
          </p:sp>
        </p:grpSp>
        <p:grpSp>
          <p:nvGrpSpPr>
            <p:cNvPr id="16" name="Group 16"/>
            <p:cNvGrpSpPr/>
            <p:nvPr/>
          </p:nvGrpSpPr>
          <p:grpSpPr>
            <a:xfrm rot="553339">
              <a:off x="7583" y="3427966"/>
              <a:ext cx="543138" cy="138439"/>
              <a:chOff x="0" y="0"/>
              <a:chExt cx="147751" cy="37660"/>
            </a:xfrm>
          </p:grpSpPr>
          <p:sp>
            <p:nvSpPr>
              <p:cNvPr id="17" name="Freeform 17"/>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18" name="TextBox 18"/>
              <p:cNvSpPr txBox="1"/>
              <p:nvPr/>
            </p:nvSpPr>
            <p:spPr>
              <a:xfrm>
                <a:off x="0" y="-38100"/>
                <a:ext cx="147751" cy="75760"/>
              </a:xfrm>
              <a:prstGeom prst="rect">
                <a:avLst/>
              </a:prstGeom>
            </p:spPr>
            <p:txBody>
              <a:bodyPr lIns="18444" tIns="18444" rIns="18444" bIns="18444" rtlCol="0" anchor="ctr"/>
              <a:lstStyle/>
              <a:p>
                <a:pPr marL="285750" indent="-285750" algn="ctr">
                  <a:lnSpc>
                    <a:spcPts val="2660"/>
                  </a:lnSpc>
                  <a:buFont typeface="Arial" panose="020B0604020202020204" pitchFamily="34" charset="0"/>
                  <a:buChar char="•"/>
                </a:pPr>
                <a:endParaRPr sz="1200" dirty="0">
                  <a:ea typeface="微软雅黑" panose="020B0503020204020204" charset="-122"/>
                  <a:cs typeface="微软雅黑" panose="020B0503020204020204" charset="-122"/>
                </a:endParaRPr>
              </a:p>
            </p:txBody>
          </p:sp>
        </p:grpSp>
        <p:grpSp>
          <p:nvGrpSpPr>
            <p:cNvPr id="19" name="Group 19"/>
            <p:cNvGrpSpPr/>
            <p:nvPr/>
          </p:nvGrpSpPr>
          <p:grpSpPr>
            <a:xfrm>
              <a:off x="279152" y="8629761"/>
              <a:ext cx="456256" cy="456256"/>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21" name="TextBox 21"/>
              <p:cNvSpPr txBox="1"/>
              <p:nvPr/>
            </p:nvSpPr>
            <p:spPr>
              <a:xfrm>
                <a:off x="76200" y="38100"/>
                <a:ext cx="660400" cy="698500"/>
              </a:xfrm>
              <a:prstGeom prst="rect">
                <a:avLst/>
              </a:prstGeom>
            </p:spPr>
            <p:txBody>
              <a:bodyPr lIns="18444" tIns="18444" rIns="18444" bIns="18444" rtlCol="0" anchor="ctr"/>
              <a:lstStyle/>
              <a:p>
                <a:pPr marL="285750" indent="-285750" algn="ctr">
                  <a:lnSpc>
                    <a:spcPts val="2660"/>
                  </a:lnSpc>
                  <a:spcBef>
                    <a:spcPct val="0"/>
                  </a:spcBef>
                  <a:buFont typeface="Arial" panose="020B0604020202020204" pitchFamily="34" charset="0"/>
                  <a:buChar char="•"/>
                </a:pPr>
                <a:endParaRPr sz="1200" dirty="0">
                  <a:ea typeface="微软雅黑" panose="020B0503020204020204" charset="-122"/>
                  <a:cs typeface="微软雅黑" panose="020B0503020204020204" charset="-122"/>
                </a:endParaRPr>
              </a:p>
            </p:txBody>
          </p:sp>
        </p:grpSp>
        <p:grpSp>
          <p:nvGrpSpPr>
            <p:cNvPr id="22" name="Group 22"/>
            <p:cNvGrpSpPr/>
            <p:nvPr/>
          </p:nvGrpSpPr>
          <p:grpSpPr>
            <a:xfrm rot="553339">
              <a:off x="7583" y="8761004"/>
              <a:ext cx="543138" cy="138439"/>
              <a:chOff x="0" y="0"/>
              <a:chExt cx="147751" cy="37660"/>
            </a:xfrm>
          </p:grpSpPr>
          <p:sp>
            <p:nvSpPr>
              <p:cNvPr id="23" name="Freeform 23"/>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24" name="TextBox 24"/>
              <p:cNvSpPr txBox="1"/>
              <p:nvPr/>
            </p:nvSpPr>
            <p:spPr>
              <a:xfrm>
                <a:off x="0" y="-38100"/>
                <a:ext cx="147751" cy="75760"/>
              </a:xfrm>
              <a:prstGeom prst="rect">
                <a:avLst/>
              </a:prstGeom>
            </p:spPr>
            <p:txBody>
              <a:bodyPr lIns="18444" tIns="18444" rIns="18444" bIns="18444" rtlCol="0" anchor="ctr"/>
              <a:lstStyle/>
              <a:p>
                <a:pPr marL="285750" indent="-285750" algn="ctr">
                  <a:lnSpc>
                    <a:spcPts val="2660"/>
                  </a:lnSpc>
                  <a:buFont typeface="Arial" panose="020B0604020202020204" pitchFamily="34" charset="0"/>
                  <a:buChar char="•"/>
                </a:pPr>
                <a:endParaRPr sz="1200" dirty="0">
                  <a:ea typeface="微软雅黑" panose="020B0503020204020204" charset="-122"/>
                  <a:cs typeface="微软雅黑" panose="020B0503020204020204" charset="-122"/>
                </a:endParaRPr>
              </a:p>
            </p:txBody>
          </p:sp>
        </p:grpSp>
        <p:grpSp>
          <p:nvGrpSpPr>
            <p:cNvPr id="25" name="Group 25"/>
            <p:cNvGrpSpPr/>
            <p:nvPr/>
          </p:nvGrpSpPr>
          <p:grpSpPr>
            <a:xfrm>
              <a:off x="279152" y="4629982"/>
              <a:ext cx="456256" cy="456256"/>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27" name="TextBox 27"/>
              <p:cNvSpPr txBox="1"/>
              <p:nvPr/>
            </p:nvSpPr>
            <p:spPr>
              <a:xfrm>
                <a:off x="76200" y="38100"/>
                <a:ext cx="660400" cy="698500"/>
              </a:xfrm>
              <a:prstGeom prst="rect">
                <a:avLst/>
              </a:prstGeom>
            </p:spPr>
            <p:txBody>
              <a:bodyPr lIns="18444" tIns="18444" rIns="18444" bIns="18444" rtlCol="0" anchor="ctr"/>
              <a:lstStyle/>
              <a:p>
                <a:pPr marL="285750" indent="-285750" algn="ctr">
                  <a:lnSpc>
                    <a:spcPts val="2660"/>
                  </a:lnSpc>
                  <a:spcBef>
                    <a:spcPct val="0"/>
                  </a:spcBef>
                  <a:buFont typeface="Arial" panose="020B0604020202020204" pitchFamily="34" charset="0"/>
                  <a:buChar char="•"/>
                </a:pPr>
                <a:endParaRPr sz="1200" dirty="0">
                  <a:ea typeface="微软雅黑" panose="020B0503020204020204" charset="-122"/>
                  <a:cs typeface="微软雅黑" panose="020B0503020204020204" charset="-122"/>
                </a:endParaRPr>
              </a:p>
            </p:txBody>
          </p:sp>
        </p:grpSp>
        <p:grpSp>
          <p:nvGrpSpPr>
            <p:cNvPr id="28" name="Group 28"/>
            <p:cNvGrpSpPr/>
            <p:nvPr/>
          </p:nvGrpSpPr>
          <p:grpSpPr>
            <a:xfrm rot="553339">
              <a:off x="7583" y="4761225"/>
              <a:ext cx="543138" cy="138439"/>
              <a:chOff x="0" y="0"/>
              <a:chExt cx="147751" cy="37660"/>
            </a:xfrm>
          </p:grpSpPr>
          <p:sp>
            <p:nvSpPr>
              <p:cNvPr id="29" name="Freeform 29"/>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30" name="TextBox 30"/>
              <p:cNvSpPr txBox="1"/>
              <p:nvPr/>
            </p:nvSpPr>
            <p:spPr>
              <a:xfrm>
                <a:off x="0" y="-38100"/>
                <a:ext cx="147751" cy="75760"/>
              </a:xfrm>
              <a:prstGeom prst="rect">
                <a:avLst/>
              </a:prstGeom>
            </p:spPr>
            <p:txBody>
              <a:bodyPr lIns="18444" tIns="18444" rIns="18444" bIns="18444" rtlCol="0" anchor="ctr"/>
              <a:lstStyle/>
              <a:p>
                <a:pPr marL="285750" indent="-285750" algn="ctr">
                  <a:lnSpc>
                    <a:spcPts val="2660"/>
                  </a:lnSpc>
                  <a:buFont typeface="Arial" panose="020B0604020202020204" pitchFamily="34" charset="0"/>
                  <a:buChar char="•"/>
                </a:pPr>
                <a:endParaRPr sz="1200" dirty="0">
                  <a:ea typeface="微软雅黑" panose="020B0503020204020204" charset="-122"/>
                  <a:cs typeface="微软雅黑" panose="020B0503020204020204" charset="-122"/>
                </a:endParaRPr>
              </a:p>
            </p:txBody>
          </p:sp>
        </p:grpSp>
        <p:grpSp>
          <p:nvGrpSpPr>
            <p:cNvPr id="31" name="Group 31"/>
            <p:cNvGrpSpPr/>
            <p:nvPr/>
          </p:nvGrpSpPr>
          <p:grpSpPr>
            <a:xfrm>
              <a:off x="279152" y="9963021"/>
              <a:ext cx="456256" cy="456256"/>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33" name="TextBox 33"/>
              <p:cNvSpPr txBox="1"/>
              <p:nvPr/>
            </p:nvSpPr>
            <p:spPr>
              <a:xfrm>
                <a:off x="76200" y="38100"/>
                <a:ext cx="660400" cy="698500"/>
              </a:xfrm>
              <a:prstGeom prst="rect">
                <a:avLst/>
              </a:prstGeom>
            </p:spPr>
            <p:txBody>
              <a:bodyPr lIns="18444" tIns="18444" rIns="18444" bIns="18444" rtlCol="0" anchor="ctr"/>
              <a:lstStyle/>
              <a:p>
                <a:pPr marL="285750" indent="-285750" algn="ctr">
                  <a:lnSpc>
                    <a:spcPts val="2660"/>
                  </a:lnSpc>
                  <a:spcBef>
                    <a:spcPct val="0"/>
                  </a:spcBef>
                  <a:buFont typeface="Arial" panose="020B0604020202020204" pitchFamily="34" charset="0"/>
                  <a:buChar char="•"/>
                </a:pPr>
                <a:endParaRPr sz="1200" dirty="0">
                  <a:ea typeface="微软雅黑" panose="020B0503020204020204" charset="-122"/>
                  <a:cs typeface="微软雅黑" panose="020B0503020204020204" charset="-122"/>
                </a:endParaRPr>
              </a:p>
            </p:txBody>
          </p:sp>
        </p:grpSp>
        <p:grpSp>
          <p:nvGrpSpPr>
            <p:cNvPr id="34" name="Group 34"/>
            <p:cNvGrpSpPr/>
            <p:nvPr/>
          </p:nvGrpSpPr>
          <p:grpSpPr>
            <a:xfrm rot="553339">
              <a:off x="7583" y="10094264"/>
              <a:ext cx="543138" cy="138439"/>
              <a:chOff x="0" y="0"/>
              <a:chExt cx="147751" cy="37660"/>
            </a:xfrm>
          </p:grpSpPr>
          <p:sp>
            <p:nvSpPr>
              <p:cNvPr id="35" name="Freeform 35"/>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36" name="TextBox 36"/>
              <p:cNvSpPr txBox="1"/>
              <p:nvPr/>
            </p:nvSpPr>
            <p:spPr>
              <a:xfrm>
                <a:off x="0" y="-38100"/>
                <a:ext cx="147751" cy="75760"/>
              </a:xfrm>
              <a:prstGeom prst="rect">
                <a:avLst/>
              </a:prstGeom>
            </p:spPr>
            <p:txBody>
              <a:bodyPr lIns="18444" tIns="18444" rIns="18444" bIns="18444" rtlCol="0" anchor="ctr"/>
              <a:lstStyle/>
              <a:p>
                <a:pPr marL="285750" indent="-285750" algn="ctr">
                  <a:lnSpc>
                    <a:spcPts val="2660"/>
                  </a:lnSpc>
                  <a:buFont typeface="Arial" panose="020B0604020202020204" pitchFamily="34" charset="0"/>
                  <a:buChar char="•"/>
                </a:pPr>
                <a:endParaRPr sz="1200" dirty="0">
                  <a:ea typeface="微软雅黑" panose="020B0503020204020204" charset="-122"/>
                  <a:cs typeface="微软雅黑" panose="020B0503020204020204" charset="-122"/>
                </a:endParaRPr>
              </a:p>
            </p:txBody>
          </p:sp>
        </p:grpSp>
        <p:grpSp>
          <p:nvGrpSpPr>
            <p:cNvPr id="37" name="Group 37"/>
            <p:cNvGrpSpPr/>
            <p:nvPr/>
          </p:nvGrpSpPr>
          <p:grpSpPr>
            <a:xfrm>
              <a:off x="279152" y="1963463"/>
              <a:ext cx="456256" cy="456256"/>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39" name="TextBox 39"/>
              <p:cNvSpPr txBox="1"/>
              <p:nvPr/>
            </p:nvSpPr>
            <p:spPr>
              <a:xfrm>
                <a:off x="76200" y="38100"/>
                <a:ext cx="660400" cy="698500"/>
              </a:xfrm>
              <a:prstGeom prst="rect">
                <a:avLst/>
              </a:prstGeom>
            </p:spPr>
            <p:txBody>
              <a:bodyPr lIns="18444" tIns="18444" rIns="18444" bIns="18444" rtlCol="0" anchor="ctr"/>
              <a:lstStyle/>
              <a:p>
                <a:pPr marL="285750" indent="-285750" algn="ctr">
                  <a:lnSpc>
                    <a:spcPts val="2660"/>
                  </a:lnSpc>
                  <a:spcBef>
                    <a:spcPct val="0"/>
                  </a:spcBef>
                  <a:buFont typeface="Arial" panose="020B0604020202020204" pitchFamily="34" charset="0"/>
                  <a:buChar char="•"/>
                </a:pPr>
                <a:endParaRPr sz="1200" dirty="0">
                  <a:ea typeface="微软雅黑" panose="020B0503020204020204" charset="-122"/>
                  <a:cs typeface="微软雅黑" panose="020B0503020204020204" charset="-122"/>
                </a:endParaRPr>
              </a:p>
            </p:txBody>
          </p:sp>
        </p:grpSp>
        <p:grpSp>
          <p:nvGrpSpPr>
            <p:cNvPr id="40" name="Group 40"/>
            <p:cNvGrpSpPr/>
            <p:nvPr/>
          </p:nvGrpSpPr>
          <p:grpSpPr>
            <a:xfrm rot="553339">
              <a:off x="7583" y="2094706"/>
              <a:ext cx="543138" cy="138439"/>
              <a:chOff x="0" y="0"/>
              <a:chExt cx="147751" cy="37660"/>
            </a:xfrm>
          </p:grpSpPr>
          <p:sp>
            <p:nvSpPr>
              <p:cNvPr id="41" name="Freeform 41"/>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42" name="TextBox 42"/>
              <p:cNvSpPr txBox="1"/>
              <p:nvPr/>
            </p:nvSpPr>
            <p:spPr>
              <a:xfrm>
                <a:off x="0" y="-38100"/>
                <a:ext cx="147751" cy="75760"/>
              </a:xfrm>
              <a:prstGeom prst="rect">
                <a:avLst/>
              </a:prstGeom>
            </p:spPr>
            <p:txBody>
              <a:bodyPr lIns="18444" tIns="18444" rIns="18444" bIns="18444" rtlCol="0" anchor="ctr"/>
              <a:lstStyle/>
              <a:p>
                <a:pPr marL="285750" indent="-285750" algn="ctr">
                  <a:lnSpc>
                    <a:spcPts val="2660"/>
                  </a:lnSpc>
                  <a:buFont typeface="Arial" panose="020B0604020202020204" pitchFamily="34" charset="0"/>
                  <a:buChar char="•"/>
                </a:pPr>
                <a:endParaRPr sz="1200" dirty="0">
                  <a:ea typeface="微软雅黑" panose="020B0503020204020204" charset="-122"/>
                  <a:cs typeface="微软雅黑" panose="020B0503020204020204" charset="-122"/>
                </a:endParaRPr>
              </a:p>
            </p:txBody>
          </p:sp>
        </p:grpSp>
        <p:grpSp>
          <p:nvGrpSpPr>
            <p:cNvPr id="43" name="Group 43"/>
            <p:cNvGrpSpPr/>
            <p:nvPr/>
          </p:nvGrpSpPr>
          <p:grpSpPr>
            <a:xfrm>
              <a:off x="279152" y="5963242"/>
              <a:ext cx="456256" cy="456256"/>
              <a:chOff x="0" y="0"/>
              <a:chExt cx="812800" cy="812800"/>
            </a:xfrm>
          </p:grpSpPr>
          <p:sp>
            <p:nvSpPr>
              <p:cNvPr id="44" name="Freeform 4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45" name="TextBox 45"/>
              <p:cNvSpPr txBox="1"/>
              <p:nvPr/>
            </p:nvSpPr>
            <p:spPr>
              <a:xfrm>
                <a:off x="76200" y="38100"/>
                <a:ext cx="660400" cy="698500"/>
              </a:xfrm>
              <a:prstGeom prst="rect">
                <a:avLst/>
              </a:prstGeom>
            </p:spPr>
            <p:txBody>
              <a:bodyPr lIns="18444" tIns="18444" rIns="18444" bIns="18444" rtlCol="0" anchor="ctr"/>
              <a:lstStyle/>
              <a:p>
                <a:pPr marL="285750" indent="-285750" algn="ctr">
                  <a:lnSpc>
                    <a:spcPts val="2660"/>
                  </a:lnSpc>
                  <a:spcBef>
                    <a:spcPct val="0"/>
                  </a:spcBef>
                  <a:buFont typeface="Arial" panose="020B0604020202020204" pitchFamily="34" charset="0"/>
                  <a:buChar char="•"/>
                </a:pPr>
                <a:endParaRPr sz="1200" dirty="0">
                  <a:ea typeface="微软雅黑" panose="020B0503020204020204" charset="-122"/>
                  <a:cs typeface="微软雅黑" panose="020B0503020204020204" charset="-122"/>
                </a:endParaRPr>
              </a:p>
            </p:txBody>
          </p:sp>
        </p:grpSp>
        <p:grpSp>
          <p:nvGrpSpPr>
            <p:cNvPr id="46" name="Group 46"/>
            <p:cNvGrpSpPr/>
            <p:nvPr/>
          </p:nvGrpSpPr>
          <p:grpSpPr>
            <a:xfrm rot="553339">
              <a:off x="7583" y="6094485"/>
              <a:ext cx="543138" cy="138439"/>
              <a:chOff x="0" y="0"/>
              <a:chExt cx="147751" cy="37660"/>
            </a:xfrm>
          </p:grpSpPr>
          <p:sp>
            <p:nvSpPr>
              <p:cNvPr id="47" name="Freeform 47"/>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48" name="TextBox 48"/>
              <p:cNvSpPr txBox="1"/>
              <p:nvPr/>
            </p:nvSpPr>
            <p:spPr>
              <a:xfrm>
                <a:off x="0" y="-38100"/>
                <a:ext cx="147751" cy="75760"/>
              </a:xfrm>
              <a:prstGeom prst="rect">
                <a:avLst/>
              </a:prstGeom>
            </p:spPr>
            <p:txBody>
              <a:bodyPr lIns="18444" tIns="18444" rIns="18444" bIns="18444" rtlCol="0" anchor="ctr"/>
              <a:lstStyle/>
              <a:p>
                <a:pPr marL="285750" indent="-285750" algn="ctr">
                  <a:lnSpc>
                    <a:spcPts val="2660"/>
                  </a:lnSpc>
                  <a:buFont typeface="Arial" panose="020B0604020202020204" pitchFamily="34" charset="0"/>
                  <a:buChar char="•"/>
                </a:pPr>
                <a:endParaRPr sz="1200" dirty="0">
                  <a:ea typeface="微软雅黑" panose="020B0503020204020204" charset="-122"/>
                  <a:cs typeface="微软雅黑" panose="020B0503020204020204" charset="-122"/>
                </a:endParaRPr>
              </a:p>
            </p:txBody>
          </p:sp>
        </p:grpSp>
        <p:grpSp>
          <p:nvGrpSpPr>
            <p:cNvPr id="49" name="Group 49"/>
            <p:cNvGrpSpPr/>
            <p:nvPr/>
          </p:nvGrpSpPr>
          <p:grpSpPr>
            <a:xfrm>
              <a:off x="279152" y="11296281"/>
              <a:ext cx="456256" cy="456256"/>
              <a:chOff x="0" y="0"/>
              <a:chExt cx="812800" cy="812800"/>
            </a:xfrm>
          </p:grpSpPr>
          <p:sp>
            <p:nvSpPr>
              <p:cNvPr id="50" name="Freeform 5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51" name="TextBox 51"/>
              <p:cNvSpPr txBox="1"/>
              <p:nvPr/>
            </p:nvSpPr>
            <p:spPr>
              <a:xfrm>
                <a:off x="76200" y="38100"/>
                <a:ext cx="660400" cy="698500"/>
              </a:xfrm>
              <a:prstGeom prst="rect">
                <a:avLst/>
              </a:prstGeom>
            </p:spPr>
            <p:txBody>
              <a:bodyPr lIns="18444" tIns="18444" rIns="18444" bIns="18444" rtlCol="0" anchor="ctr"/>
              <a:lstStyle/>
              <a:p>
                <a:pPr marL="285750" indent="-285750" algn="ctr">
                  <a:lnSpc>
                    <a:spcPts val="2660"/>
                  </a:lnSpc>
                  <a:spcBef>
                    <a:spcPct val="0"/>
                  </a:spcBef>
                  <a:buFont typeface="Arial" panose="020B0604020202020204" pitchFamily="34" charset="0"/>
                  <a:buChar char="•"/>
                </a:pPr>
                <a:endParaRPr sz="1200" dirty="0">
                  <a:ea typeface="微软雅黑" panose="020B0503020204020204" charset="-122"/>
                  <a:cs typeface="微软雅黑" panose="020B0503020204020204" charset="-122"/>
                </a:endParaRPr>
              </a:p>
            </p:txBody>
          </p:sp>
        </p:grpSp>
        <p:grpSp>
          <p:nvGrpSpPr>
            <p:cNvPr id="52" name="Group 52"/>
            <p:cNvGrpSpPr/>
            <p:nvPr/>
          </p:nvGrpSpPr>
          <p:grpSpPr>
            <a:xfrm rot="553339">
              <a:off x="7583" y="11427524"/>
              <a:ext cx="543138" cy="138439"/>
              <a:chOff x="0" y="0"/>
              <a:chExt cx="147751" cy="37660"/>
            </a:xfrm>
          </p:grpSpPr>
          <p:sp>
            <p:nvSpPr>
              <p:cNvPr id="53" name="Freeform 53"/>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54" name="TextBox 54"/>
              <p:cNvSpPr txBox="1"/>
              <p:nvPr/>
            </p:nvSpPr>
            <p:spPr>
              <a:xfrm>
                <a:off x="0" y="-38100"/>
                <a:ext cx="147751" cy="75760"/>
              </a:xfrm>
              <a:prstGeom prst="rect">
                <a:avLst/>
              </a:prstGeom>
            </p:spPr>
            <p:txBody>
              <a:bodyPr lIns="18444" tIns="18444" rIns="18444" bIns="18444" rtlCol="0" anchor="ctr"/>
              <a:lstStyle/>
              <a:p>
                <a:pPr marL="285750" indent="-285750" algn="ctr">
                  <a:lnSpc>
                    <a:spcPts val="2660"/>
                  </a:lnSpc>
                  <a:buFont typeface="Arial" panose="020B0604020202020204" pitchFamily="34" charset="0"/>
                  <a:buChar char="•"/>
                </a:pPr>
                <a:endParaRPr sz="1200" dirty="0">
                  <a:ea typeface="微软雅黑" panose="020B0503020204020204" charset="-122"/>
                  <a:cs typeface="微软雅黑" panose="020B0503020204020204" charset="-122"/>
                </a:endParaRPr>
              </a:p>
            </p:txBody>
          </p:sp>
        </p:grpSp>
        <p:grpSp>
          <p:nvGrpSpPr>
            <p:cNvPr id="55" name="Group 55"/>
            <p:cNvGrpSpPr/>
            <p:nvPr/>
          </p:nvGrpSpPr>
          <p:grpSpPr>
            <a:xfrm>
              <a:off x="279152" y="7296502"/>
              <a:ext cx="456256" cy="456256"/>
              <a:chOff x="0" y="0"/>
              <a:chExt cx="812800" cy="812800"/>
            </a:xfrm>
          </p:grpSpPr>
          <p:sp>
            <p:nvSpPr>
              <p:cNvPr id="56" name="Freeform 5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57" name="TextBox 57"/>
              <p:cNvSpPr txBox="1"/>
              <p:nvPr/>
            </p:nvSpPr>
            <p:spPr>
              <a:xfrm>
                <a:off x="76200" y="38100"/>
                <a:ext cx="660400" cy="698500"/>
              </a:xfrm>
              <a:prstGeom prst="rect">
                <a:avLst/>
              </a:prstGeom>
            </p:spPr>
            <p:txBody>
              <a:bodyPr lIns="18444" tIns="18444" rIns="18444" bIns="18444" rtlCol="0" anchor="ctr"/>
              <a:lstStyle/>
              <a:p>
                <a:pPr marL="285750" indent="-285750" algn="ctr">
                  <a:lnSpc>
                    <a:spcPts val="2660"/>
                  </a:lnSpc>
                  <a:spcBef>
                    <a:spcPct val="0"/>
                  </a:spcBef>
                  <a:buFont typeface="Arial" panose="020B0604020202020204" pitchFamily="34" charset="0"/>
                  <a:buChar char="•"/>
                </a:pPr>
                <a:endParaRPr sz="1200" dirty="0">
                  <a:ea typeface="微软雅黑" panose="020B0503020204020204" charset="-122"/>
                  <a:cs typeface="微软雅黑" panose="020B0503020204020204" charset="-122"/>
                </a:endParaRPr>
              </a:p>
            </p:txBody>
          </p:sp>
        </p:grpSp>
        <p:grpSp>
          <p:nvGrpSpPr>
            <p:cNvPr id="58" name="Group 58"/>
            <p:cNvGrpSpPr/>
            <p:nvPr/>
          </p:nvGrpSpPr>
          <p:grpSpPr>
            <a:xfrm rot="553339">
              <a:off x="7583" y="7427745"/>
              <a:ext cx="543138" cy="138439"/>
              <a:chOff x="0" y="0"/>
              <a:chExt cx="147751" cy="37660"/>
            </a:xfrm>
          </p:grpSpPr>
          <p:sp>
            <p:nvSpPr>
              <p:cNvPr id="59" name="Freeform 59"/>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60" name="TextBox 60"/>
              <p:cNvSpPr txBox="1"/>
              <p:nvPr/>
            </p:nvSpPr>
            <p:spPr>
              <a:xfrm>
                <a:off x="0" y="-38100"/>
                <a:ext cx="147751" cy="75760"/>
              </a:xfrm>
              <a:prstGeom prst="rect">
                <a:avLst/>
              </a:prstGeom>
            </p:spPr>
            <p:txBody>
              <a:bodyPr lIns="18444" tIns="18444" rIns="18444" bIns="18444" rtlCol="0" anchor="ctr"/>
              <a:lstStyle/>
              <a:p>
                <a:pPr marL="285750" indent="-285750" algn="ctr">
                  <a:lnSpc>
                    <a:spcPts val="2660"/>
                  </a:lnSpc>
                  <a:buFont typeface="Arial" panose="020B0604020202020204" pitchFamily="34" charset="0"/>
                  <a:buChar char="•"/>
                </a:pPr>
                <a:endParaRPr sz="1200" dirty="0">
                  <a:ea typeface="微软雅黑" panose="020B0503020204020204" charset="-122"/>
                  <a:cs typeface="微软雅黑" panose="020B0503020204020204" charset="-122"/>
                </a:endParaRPr>
              </a:p>
            </p:txBody>
          </p:sp>
        </p:grpSp>
        <p:grpSp>
          <p:nvGrpSpPr>
            <p:cNvPr id="61" name="Group 61"/>
            <p:cNvGrpSpPr/>
            <p:nvPr/>
          </p:nvGrpSpPr>
          <p:grpSpPr>
            <a:xfrm>
              <a:off x="279152" y="12629540"/>
              <a:ext cx="456256" cy="456256"/>
              <a:chOff x="0" y="0"/>
              <a:chExt cx="812800" cy="812800"/>
            </a:xfrm>
          </p:grpSpPr>
          <p:sp>
            <p:nvSpPr>
              <p:cNvPr id="62" name="Freeform 6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63" name="TextBox 63"/>
              <p:cNvSpPr txBox="1"/>
              <p:nvPr/>
            </p:nvSpPr>
            <p:spPr>
              <a:xfrm>
                <a:off x="76200" y="38100"/>
                <a:ext cx="660400" cy="698500"/>
              </a:xfrm>
              <a:prstGeom prst="rect">
                <a:avLst/>
              </a:prstGeom>
            </p:spPr>
            <p:txBody>
              <a:bodyPr lIns="18444" tIns="18444" rIns="18444" bIns="18444" rtlCol="0" anchor="ctr"/>
              <a:lstStyle/>
              <a:p>
                <a:pPr marL="285750" indent="-285750" algn="ctr">
                  <a:lnSpc>
                    <a:spcPts val="2660"/>
                  </a:lnSpc>
                  <a:spcBef>
                    <a:spcPct val="0"/>
                  </a:spcBef>
                  <a:buFont typeface="Arial" panose="020B0604020202020204" pitchFamily="34" charset="0"/>
                  <a:buChar char="•"/>
                </a:pPr>
                <a:endParaRPr sz="1200" dirty="0">
                  <a:ea typeface="微软雅黑" panose="020B0503020204020204" charset="-122"/>
                  <a:cs typeface="微软雅黑" panose="020B0503020204020204" charset="-122"/>
                </a:endParaRPr>
              </a:p>
            </p:txBody>
          </p:sp>
        </p:grpSp>
        <p:grpSp>
          <p:nvGrpSpPr>
            <p:cNvPr id="64" name="Group 64"/>
            <p:cNvGrpSpPr/>
            <p:nvPr/>
          </p:nvGrpSpPr>
          <p:grpSpPr>
            <a:xfrm rot="553339">
              <a:off x="7583" y="12760783"/>
              <a:ext cx="543138" cy="138439"/>
              <a:chOff x="0" y="0"/>
              <a:chExt cx="147751" cy="37660"/>
            </a:xfrm>
          </p:grpSpPr>
          <p:sp>
            <p:nvSpPr>
              <p:cNvPr id="65" name="Freeform 65"/>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66" name="TextBox 66"/>
              <p:cNvSpPr txBox="1"/>
              <p:nvPr/>
            </p:nvSpPr>
            <p:spPr>
              <a:xfrm>
                <a:off x="0" y="-38100"/>
                <a:ext cx="147751" cy="75760"/>
              </a:xfrm>
              <a:prstGeom prst="rect">
                <a:avLst/>
              </a:prstGeom>
            </p:spPr>
            <p:txBody>
              <a:bodyPr lIns="18444" tIns="18444" rIns="18444" bIns="18444" rtlCol="0" anchor="ctr"/>
              <a:lstStyle/>
              <a:p>
                <a:pPr marL="285750" indent="-285750" algn="ctr">
                  <a:lnSpc>
                    <a:spcPts val="2660"/>
                  </a:lnSpc>
                  <a:buFont typeface="Arial" panose="020B0604020202020204" pitchFamily="34" charset="0"/>
                  <a:buChar char="•"/>
                </a:pPr>
                <a:endParaRPr sz="1200" dirty="0">
                  <a:ea typeface="微软雅黑" panose="020B0503020204020204" charset="-122"/>
                  <a:cs typeface="微软雅黑" panose="020B0503020204020204" charset="-122"/>
                </a:endParaRPr>
              </a:p>
            </p:txBody>
          </p:sp>
        </p:grpSp>
        <p:grpSp>
          <p:nvGrpSpPr>
            <p:cNvPr id="67" name="Group 67"/>
            <p:cNvGrpSpPr/>
            <p:nvPr/>
          </p:nvGrpSpPr>
          <p:grpSpPr>
            <a:xfrm>
              <a:off x="0" y="13500978"/>
              <a:ext cx="24384000" cy="215022"/>
              <a:chOff x="0" y="0"/>
              <a:chExt cx="4816593" cy="42474"/>
            </a:xfrm>
          </p:grpSpPr>
          <p:sp>
            <p:nvSpPr>
              <p:cNvPr id="69" name="TextBox 69"/>
              <p:cNvSpPr txBox="1"/>
              <p:nvPr/>
            </p:nvSpPr>
            <p:spPr>
              <a:xfrm>
                <a:off x="0" y="-38100"/>
                <a:ext cx="4816593" cy="80574"/>
              </a:xfrm>
              <a:prstGeom prst="rect">
                <a:avLst/>
              </a:prstGeom>
            </p:spPr>
            <p:txBody>
              <a:bodyPr lIns="25400" tIns="25400" rIns="25400" bIns="25400" rtlCol="0" anchor="ctr"/>
              <a:lstStyle/>
              <a:p>
                <a:pPr marL="285750" indent="-285750" algn="ctr">
                  <a:lnSpc>
                    <a:spcPts val="2660"/>
                  </a:lnSpc>
                  <a:buFont typeface="Arial" panose="020B0604020202020204" pitchFamily="34" charset="0"/>
                  <a:buChar char="•"/>
                </a:pPr>
                <a:endParaRPr sz="1200" dirty="0">
                  <a:ea typeface="微软雅黑" panose="020B0503020204020204" charset="-122"/>
                  <a:cs typeface="微软雅黑" panose="020B0503020204020204" charset="-122"/>
                </a:endParaRPr>
              </a:p>
            </p:txBody>
          </p:sp>
          <p:sp>
            <p:nvSpPr>
              <p:cNvPr id="68" name="Freeform 68"/>
              <p:cNvSpPr/>
              <p:nvPr/>
            </p:nvSpPr>
            <p:spPr>
              <a:xfrm>
                <a:off x="0" y="0"/>
                <a:ext cx="4816592" cy="42474"/>
              </a:xfrm>
              <a:custGeom>
                <a:avLst/>
                <a:gdLst/>
                <a:ahLst/>
                <a:cxnLst/>
                <a:rect l="l" t="t" r="r" b="b"/>
                <a:pathLst>
                  <a:path w="4816592" h="42474">
                    <a:moveTo>
                      <a:pt x="0" y="0"/>
                    </a:moveTo>
                    <a:lnTo>
                      <a:pt x="4816592" y="0"/>
                    </a:lnTo>
                    <a:lnTo>
                      <a:pt x="4816592" y="42474"/>
                    </a:lnTo>
                    <a:lnTo>
                      <a:pt x="0" y="42474"/>
                    </a:lnTo>
                    <a:close/>
                  </a:path>
                </a:pathLst>
              </a:custGeom>
              <a:solidFill>
                <a:srgbClr val="004AAD"/>
              </a:solidFill>
            </p:spPr>
          </p:sp>
        </p:grpSp>
        <p:grpSp>
          <p:nvGrpSpPr>
            <p:cNvPr id="70" name="Group 70"/>
            <p:cNvGrpSpPr/>
            <p:nvPr/>
          </p:nvGrpSpPr>
          <p:grpSpPr>
            <a:xfrm>
              <a:off x="24148870" y="0"/>
              <a:ext cx="357480" cy="13716000"/>
              <a:chOff x="0" y="0"/>
              <a:chExt cx="70613" cy="2709333"/>
            </a:xfrm>
          </p:grpSpPr>
          <p:sp>
            <p:nvSpPr>
              <p:cNvPr id="71" name="Freeform 71"/>
              <p:cNvSpPr/>
              <p:nvPr/>
            </p:nvSpPr>
            <p:spPr>
              <a:xfrm>
                <a:off x="0" y="0"/>
                <a:ext cx="70613" cy="2709333"/>
              </a:xfrm>
              <a:custGeom>
                <a:avLst/>
                <a:gdLst/>
                <a:ahLst/>
                <a:cxnLst/>
                <a:rect l="l" t="t" r="r" b="b"/>
                <a:pathLst>
                  <a:path w="70613" h="2709333">
                    <a:moveTo>
                      <a:pt x="0" y="0"/>
                    </a:moveTo>
                    <a:lnTo>
                      <a:pt x="70613" y="0"/>
                    </a:lnTo>
                    <a:lnTo>
                      <a:pt x="70613" y="2709333"/>
                    </a:lnTo>
                    <a:lnTo>
                      <a:pt x="0" y="2709333"/>
                    </a:lnTo>
                    <a:close/>
                  </a:path>
                </a:pathLst>
              </a:custGeom>
              <a:solidFill>
                <a:srgbClr val="004AAD"/>
              </a:solidFill>
            </p:spPr>
          </p:sp>
          <p:sp>
            <p:nvSpPr>
              <p:cNvPr id="72" name="TextBox 72"/>
              <p:cNvSpPr txBox="1"/>
              <p:nvPr/>
            </p:nvSpPr>
            <p:spPr>
              <a:xfrm>
                <a:off x="0" y="-38100"/>
                <a:ext cx="70613" cy="2747433"/>
              </a:xfrm>
              <a:prstGeom prst="rect">
                <a:avLst/>
              </a:prstGeom>
            </p:spPr>
            <p:txBody>
              <a:bodyPr lIns="25400" tIns="25400" rIns="25400" bIns="25400" rtlCol="0" anchor="ctr"/>
              <a:lstStyle/>
              <a:p>
                <a:pPr marL="285750" indent="-285750" algn="ctr">
                  <a:lnSpc>
                    <a:spcPts val="2660"/>
                  </a:lnSpc>
                  <a:buFont typeface="Arial" panose="020B0604020202020204" pitchFamily="34" charset="0"/>
                  <a:buChar char="•"/>
                </a:pPr>
                <a:endParaRPr sz="1200" dirty="0">
                  <a:ea typeface="微软雅黑" panose="020B0503020204020204" charset="-122"/>
                  <a:cs typeface="微软雅黑" panose="020B0503020204020204" charset="-122"/>
                </a:endParaRPr>
              </a:p>
            </p:txBody>
          </p:sp>
        </p:grpSp>
        <p:grpSp>
          <p:nvGrpSpPr>
            <p:cNvPr id="73" name="Group 73"/>
            <p:cNvGrpSpPr/>
            <p:nvPr/>
          </p:nvGrpSpPr>
          <p:grpSpPr>
            <a:xfrm>
              <a:off x="21623711" y="858331"/>
              <a:ext cx="337709" cy="578975"/>
              <a:chOff x="0" y="0"/>
              <a:chExt cx="796036" cy="1364742"/>
            </a:xfrm>
          </p:grpSpPr>
          <p:sp>
            <p:nvSpPr>
              <p:cNvPr id="74" name="Freeform 74"/>
              <p:cNvSpPr/>
              <p:nvPr/>
            </p:nvSpPr>
            <p:spPr>
              <a:xfrm>
                <a:off x="0" y="0"/>
                <a:ext cx="796036" cy="1364742"/>
              </a:xfrm>
              <a:custGeom>
                <a:avLst/>
                <a:gdLst/>
                <a:ahLst/>
                <a:cxnLst/>
                <a:rect l="l" t="t" r="r" b="b"/>
                <a:pathLst>
                  <a:path w="796036" h="1364742">
                    <a:moveTo>
                      <a:pt x="795401" y="682371"/>
                    </a:moveTo>
                    <a:lnTo>
                      <a:pt x="796036" y="681355"/>
                    </a:lnTo>
                    <a:lnTo>
                      <a:pt x="794893" y="681355"/>
                    </a:lnTo>
                    <a:lnTo>
                      <a:pt x="398018" y="0"/>
                    </a:lnTo>
                    <a:lnTo>
                      <a:pt x="1143" y="681355"/>
                    </a:lnTo>
                    <a:lnTo>
                      <a:pt x="0" y="681355"/>
                    </a:lnTo>
                    <a:lnTo>
                      <a:pt x="635" y="682371"/>
                    </a:lnTo>
                    <a:lnTo>
                      <a:pt x="0" y="683387"/>
                    </a:lnTo>
                    <a:lnTo>
                      <a:pt x="1143" y="683387"/>
                    </a:lnTo>
                    <a:lnTo>
                      <a:pt x="398018" y="1364742"/>
                    </a:lnTo>
                    <a:lnTo>
                      <a:pt x="794893" y="683387"/>
                    </a:lnTo>
                    <a:lnTo>
                      <a:pt x="796036" y="683387"/>
                    </a:lnTo>
                    <a:lnTo>
                      <a:pt x="795401" y="682371"/>
                    </a:lnTo>
                    <a:close/>
                  </a:path>
                </a:pathLst>
              </a:custGeom>
              <a:solidFill>
                <a:srgbClr val="004AAD"/>
              </a:solidFill>
            </p:spPr>
          </p:sp>
        </p:grpSp>
        <p:grpSp>
          <p:nvGrpSpPr>
            <p:cNvPr id="75" name="Group 75"/>
            <p:cNvGrpSpPr/>
            <p:nvPr/>
          </p:nvGrpSpPr>
          <p:grpSpPr>
            <a:xfrm>
              <a:off x="22233628" y="858331"/>
              <a:ext cx="337709" cy="578975"/>
              <a:chOff x="0" y="0"/>
              <a:chExt cx="796036" cy="1364742"/>
            </a:xfrm>
          </p:grpSpPr>
          <p:sp>
            <p:nvSpPr>
              <p:cNvPr id="76" name="Freeform 76"/>
              <p:cNvSpPr/>
              <p:nvPr/>
            </p:nvSpPr>
            <p:spPr>
              <a:xfrm>
                <a:off x="0" y="0"/>
                <a:ext cx="796036" cy="1364742"/>
              </a:xfrm>
              <a:custGeom>
                <a:avLst/>
                <a:gdLst/>
                <a:ahLst/>
                <a:cxnLst/>
                <a:rect l="l" t="t" r="r" b="b"/>
                <a:pathLst>
                  <a:path w="796036" h="1364742">
                    <a:moveTo>
                      <a:pt x="795401" y="682371"/>
                    </a:moveTo>
                    <a:lnTo>
                      <a:pt x="796036" y="681355"/>
                    </a:lnTo>
                    <a:lnTo>
                      <a:pt x="794893" y="681355"/>
                    </a:lnTo>
                    <a:lnTo>
                      <a:pt x="398018" y="0"/>
                    </a:lnTo>
                    <a:lnTo>
                      <a:pt x="1143" y="681355"/>
                    </a:lnTo>
                    <a:lnTo>
                      <a:pt x="0" y="681355"/>
                    </a:lnTo>
                    <a:lnTo>
                      <a:pt x="635" y="682371"/>
                    </a:lnTo>
                    <a:lnTo>
                      <a:pt x="0" y="683387"/>
                    </a:lnTo>
                    <a:lnTo>
                      <a:pt x="1143" y="683387"/>
                    </a:lnTo>
                    <a:lnTo>
                      <a:pt x="398018" y="1364742"/>
                    </a:lnTo>
                    <a:lnTo>
                      <a:pt x="794893" y="683387"/>
                    </a:lnTo>
                    <a:lnTo>
                      <a:pt x="796036" y="683387"/>
                    </a:lnTo>
                    <a:lnTo>
                      <a:pt x="795401" y="682371"/>
                    </a:lnTo>
                    <a:close/>
                  </a:path>
                </a:pathLst>
              </a:custGeom>
              <a:solidFill>
                <a:srgbClr val="004AAD"/>
              </a:solidFill>
            </p:spPr>
          </p:sp>
        </p:grpSp>
        <p:grpSp>
          <p:nvGrpSpPr>
            <p:cNvPr id="77" name="Group 77"/>
            <p:cNvGrpSpPr/>
            <p:nvPr/>
          </p:nvGrpSpPr>
          <p:grpSpPr>
            <a:xfrm>
              <a:off x="22843546" y="858331"/>
              <a:ext cx="337709" cy="578975"/>
              <a:chOff x="0" y="0"/>
              <a:chExt cx="796036" cy="1364742"/>
            </a:xfrm>
          </p:grpSpPr>
          <p:sp>
            <p:nvSpPr>
              <p:cNvPr id="78" name="Freeform 78"/>
              <p:cNvSpPr/>
              <p:nvPr/>
            </p:nvSpPr>
            <p:spPr>
              <a:xfrm>
                <a:off x="0" y="0"/>
                <a:ext cx="796036" cy="1364742"/>
              </a:xfrm>
              <a:custGeom>
                <a:avLst/>
                <a:gdLst/>
                <a:ahLst/>
                <a:cxnLst/>
                <a:rect l="l" t="t" r="r" b="b"/>
                <a:pathLst>
                  <a:path w="796036" h="1364742">
                    <a:moveTo>
                      <a:pt x="795401" y="682371"/>
                    </a:moveTo>
                    <a:lnTo>
                      <a:pt x="796036" y="681355"/>
                    </a:lnTo>
                    <a:lnTo>
                      <a:pt x="794893" y="681355"/>
                    </a:lnTo>
                    <a:lnTo>
                      <a:pt x="398018" y="0"/>
                    </a:lnTo>
                    <a:lnTo>
                      <a:pt x="1143" y="681355"/>
                    </a:lnTo>
                    <a:lnTo>
                      <a:pt x="0" y="681355"/>
                    </a:lnTo>
                    <a:lnTo>
                      <a:pt x="635" y="682371"/>
                    </a:lnTo>
                    <a:lnTo>
                      <a:pt x="0" y="683387"/>
                    </a:lnTo>
                    <a:lnTo>
                      <a:pt x="1143" y="683387"/>
                    </a:lnTo>
                    <a:lnTo>
                      <a:pt x="398018" y="1364742"/>
                    </a:lnTo>
                    <a:lnTo>
                      <a:pt x="794893" y="683387"/>
                    </a:lnTo>
                    <a:lnTo>
                      <a:pt x="796036" y="683387"/>
                    </a:lnTo>
                    <a:lnTo>
                      <a:pt x="795401" y="682371"/>
                    </a:lnTo>
                    <a:close/>
                  </a:path>
                </a:pathLst>
              </a:custGeom>
              <a:solidFill>
                <a:srgbClr val="004AAD"/>
              </a:solidFill>
            </p:spPr>
          </p:sp>
        </p:grpSp>
      </p:grpSp>
      <p:pic>
        <p:nvPicPr>
          <p:cNvPr id="119" name="图片 136" descr="仅校徽"/>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67360" y="132715"/>
            <a:ext cx="666750" cy="666750"/>
          </a:xfrm>
          <a:prstGeom prst="rect">
            <a:avLst/>
          </a:prstGeom>
        </p:spPr>
      </p:pic>
      <p:sp>
        <p:nvSpPr>
          <p:cNvPr id="126" name="矩形 125" descr="7b0a2020202022776f7264617274223a2022220a7d0a"/>
          <p:cNvSpPr/>
          <p:nvPr/>
        </p:nvSpPr>
        <p:spPr>
          <a:xfrm>
            <a:off x="0" y="1846898"/>
            <a:ext cx="6096000" cy="1775460"/>
          </a:xfrm>
          <a:prstGeom prst="rect">
            <a:avLst/>
          </a:prstGeom>
          <a:noFill/>
          <a:ln>
            <a:noFill/>
          </a:ln>
        </p:spPr>
        <p:txBody>
          <a:bodyPr wrap="none" lIns="45085" tIns="23495" rIns="45085" bIns="23495" rtlCol="0" anchor="t">
            <a:normAutofit/>
          </a:bodyPr>
          <a:lstStyle/>
          <a:p>
            <a:pPr algn="ctr"/>
            <a:endParaRPr lang="zh-CN" altLang="en-US" sz="9750" b="1">
              <a:ln w="38100" cmpd="dbl">
                <a:gradFill>
                  <a:gsLst>
                    <a:gs pos="0">
                      <a:srgbClr val="F9FBFA"/>
                    </a:gs>
                    <a:gs pos="100000">
                      <a:srgbClr val="FEF1DD"/>
                    </a:gs>
                  </a:gsLst>
                  <a:lin ang="18840000"/>
                </a:gradFill>
                <a:prstDash val="solid"/>
              </a:ln>
              <a:gradFill>
                <a:gsLst>
                  <a:gs pos="0">
                    <a:srgbClr val="1A1A1A"/>
                  </a:gs>
                  <a:gs pos="50000">
                    <a:srgbClr val="FA3107"/>
                  </a:gs>
                  <a:gs pos="100000">
                    <a:schemeClr val="bg2">
                      <a:lumMod val="10000"/>
                      <a:lumMod val="10000"/>
                    </a:schemeClr>
                  </a:gs>
                </a:gsLst>
              </a:gradFill>
              <a:effectLst>
                <a:outerShdw dist="101600" dir="14520000" sy="30000" kx="-1800000" algn="bl" rotWithShape="0">
                  <a:prstClr val="black">
                    <a:alpha val="32000"/>
                    <a:alpha val="32000"/>
                  </a:prstClr>
                </a:outerShdw>
                <a:reflection blurRad="127000" stA="27000" endA="300" endPos="45500" dist="38100" dir="5400000" sy="-100000" algn="bl" rotWithShape="0"/>
              </a:effectLst>
              <a:latin typeface="汉仪力量黑简" panose="00020600040101010101" charset="-122"/>
              <a:ea typeface="汉仪力量黑简" panose="00020600040101010101" charset="-122"/>
              <a:sym typeface="汉仪力量黑简" panose="00020600040101010101" charset="-122"/>
            </a:endParaRPr>
          </a:p>
        </p:txBody>
      </p:sp>
      <p:graphicFrame>
        <p:nvGraphicFramePr>
          <p:cNvPr id="79" name="表格 78"/>
          <p:cNvGraphicFramePr/>
          <p:nvPr>
            <p:custDataLst>
              <p:tags r:id="rId3"/>
            </p:custDataLst>
          </p:nvPr>
        </p:nvGraphicFramePr>
        <p:xfrm>
          <a:off x="1028700" y="1905000"/>
          <a:ext cx="6873875" cy="2971165"/>
        </p:xfrm>
        <a:graphic>
          <a:graphicData uri="http://schemas.openxmlformats.org/drawingml/2006/table">
            <a:tbl>
              <a:tblPr firstRow="1" bandRow="1">
                <a:tableStyleId>{5C22544A-7EE6-4342-B048-85BDC9FD1C3A}</a:tableStyleId>
              </a:tblPr>
              <a:tblGrid>
                <a:gridCol w="1978025"/>
                <a:gridCol w="2522855"/>
                <a:gridCol w="2372995"/>
              </a:tblGrid>
              <a:tr h="319405">
                <a:tc>
                  <a:txBody>
                    <a:bodyPr/>
                    <a:lstStyle/>
                    <a:p>
                      <a:pPr algn="ctr"/>
                      <a:r>
                        <a:rPr lang="en-US" altLang="zh-CN" sz="1200" b="0" i="0">
                          <a:solidFill>
                            <a:srgbClr val="000000"/>
                          </a:solidFill>
                          <a:latin typeface="华文仿宋" panose="02010600040101010101" charset="-122"/>
                          <a:ea typeface="华文仿宋" panose="02010600040101010101" charset="-122"/>
                          <a:sym typeface="华文新魏" panose="02010800040101010101" charset="-122"/>
                        </a:rPr>
                        <a:t>AI</a:t>
                      </a:r>
                      <a:r>
                        <a:rPr lang="zh-CN" altLang="en-US" sz="1200" b="0" i="0">
                          <a:solidFill>
                            <a:srgbClr val="000000"/>
                          </a:solidFill>
                          <a:latin typeface="华文仿宋" panose="02010600040101010101" charset="-122"/>
                          <a:ea typeface="华文仿宋" panose="02010600040101010101" charset="-122"/>
                          <a:sym typeface="华文新魏" panose="02010800040101010101" charset="-122"/>
                        </a:rPr>
                        <a:t>编程工具</a:t>
                      </a:r>
                      <a:endParaRPr lang="zh-CN" altLang="en-US" sz="1200" b="0" i="0">
                        <a:solidFill>
                          <a:srgbClr val="000000"/>
                        </a:solidFill>
                        <a:latin typeface="华文仿宋" panose="02010600040101010101" charset="-122"/>
                        <a:ea typeface="华文仿宋" panose="02010600040101010101" charset="-122"/>
                        <a:sym typeface="华文新魏" panose="02010800040101010101" charset="-122"/>
                      </a:endParaRPr>
                    </a:p>
                  </a:txBody>
                  <a:tcPr marL="0" marR="0" marT="0" marB="0" anchor="ctr"/>
                </a:tc>
                <a:tc>
                  <a:txBody>
                    <a:bodyPr/>
                    <a:lstStyle/>
                    <a:p>
                      <a:pPr algn="ctr"/>
                      <a:r>
                        <a:rPr lang="zh-CN" altLang="en-US" sz="1200" b="0" i="0">
                          <a:solidFill>
                            <a:srgbClr val="000000"/>
                          </a:solidFill>
                          <a:latin typeface="华文仿宋" panose="02010600040101010101" charset="-122"/>
                          <a:ea typeface="华文仿宋" panose="02010600040101010101" charset="-122"/>
                          <a:sym typeface="华文新魏" panose="02010800040101010101" charset="-122"/>
                        </a:rPr>
                        <a:t>图标</a:t>
                      </a:r>
                      <a:endParaRPr lang="zh-CN" altLang="en-US" sz="1200" b="0" i="0">
                        <a:solidFill>
                          <a:srgbClr val="000000"/>
                        </a:solidFill>
                        <a:latin typeface="华文仿宋" panose="02010600040101010101" charset="-122"/>
                        <a:ea typeface="华文仿宋" panose="02010600040101010101" charset="-122"/>
                        <a:sym typeface="华文新魏" panose="02010800040101010101" charset="-122"/>
                      </a:endParaRPr>
                    </a:p>
                  </a:txBody>
                  <a:tcPr marL="0" marR="0" marT="0" marB="0" anchor="ctr"/>
                </a:tc>
                <a:tc>
                  <a:txBody>
                    <a:bodyPr/>
                    <a:p>
                      <a:pPr algn="ctr">
                        <a:buNone/>
                      </a:pPr>
                      <a:r>
                        <a:rPr lang="zh-CN" altLang="en-US" sz="1200" b="0" i="0">
                          <a:solidFill>
                            <a:srgbClr val="000000"/>
                          </a:solidFill>
                          <a:latin typeface="华文仿宋" panose="02010600040101010101" charset="-122"/>
                          <a:ea typeface="华文仿宋" panose="02010600040101010101" charset="-122"/>
                          <a:sym typeface="华文新魏" panose="02010800040101010101" charset="-122"/>
                        </a:rPr>
                        <a:t>出品方</a:t>
                      </a:r>
                      <a:endParaRPr lang="zh-CN" altLang="en-US" sz="1200" b="0" i="0">
                        <a:solidFill>
                          <a:srgbClr val="000000"/>
                        </a:solidFill>
                        <a:latin typeface="华文仿宋" panose="02010600040101010101" charset="-122"/>
                        <a:ea typeface="华文仿宋" panose="02010600040101010101" charset="-122"/>
                        <a:sym typeface="华文新魏" panose="02010800040101010101" charset="-122"/>
                      </a:endParaRPr>
                    </a:p>
                  </a:txBody>
                  <a:tcPr marL="0" marR="0" marT="0" marB="0" anchor="ctr"/>
                </a:tc>
              </a:tr>
              <a:tr h="365125">
                <a:tc>
                  <a:txBody>
                    <a:bodyPr/>
                    <a:lstStyle/>
                    <a:p>
                      <a:pPr algn="ctr"/>
                      <a:r>
                        <a:rPr lang="en-US" altLang="zh-CN" sz="1200" b="0" i="0">
                          <a:solidFill>
                            <a:srgbClr val="000000"/>
                          </a:solidFill>
                          <a:latin typeface="华文仿宋" panose="02010600040101010101" charset="-122"/>
                          <a:ea typeface="华文仿宋" panose="02010600040101010101" charset="-122"/>
                          <a:sym typeface="华文新魏" panose="02010800040101010101" charset="-122"/>
                        </a:rPr>
                        <a:t>cursor</a:t>
                      </a:r>
                      <a:endParaRPr lang="en-US" altLang="zh-CN" sz="1200" b="0" i="0">
                        <a:solidFill>
                          <a:srgbClr val="000000"/>
                        </a:solidFill>
                        <a:latin typeface="华文仿宋" panose="02010600040101010101" charset="-122"/>
                        <a:ea typeface="华文仿宋" panose="02010600040101010101" charset="-122"/>
                        <a:sym typeface="华文新魏" panose="02010800040101010101" charset="-122"/>
                      </a:endParaRPr>
                    </a:p>
                  </a:txBody>
                  <a:tcPr marL="0" marR="0" marT="0" marB="0" anchor="ctr"/>
                </a:tc>
                <a:tc>
                  <a:txBody>
                    <a:bodyPr/>
                    <a:lstStyle/>
                    <a:p>
                      <a:pPr algn="ctr"/>
                      <a:endParaRPr lang="en-US" altLang="zh-CN" sz="1200" b="0" i="0">
                        <a:solidFill>
                          <a:srgbClr val="000000"/>
                        </a:solidFill>
                        <a:latin typeface="华文仿宋" panose="02010600040101010101" charset="-122"/>
                        <a:ea typeface="华文仿宋" panose="02010600040101010101" charset="-122"/>
                        <a:cs typeface="华文仿宋" panose="02010600040101010101" charset="-122"/>
                        <a:sym typeface="华文新魏" panose="02010800040101010101" charset="-122"/>
                      </a:endParaRPr>
                    </a:p>
                  </a:txBody>
                  <a:tcPr marL="0" marR="0" marT="0" marB="0" anchor="ctr"/>
                </a:tc>
                <a:tc>
                  <a:txBody>
                    <a:bodyPr/>
                    <a:p>
                      <a:pPr algn="ctr">
                        <a:buNone/>
                      </a:pPr>
                      <a:r>
                        <a:rPr lang="en-US" altLang="zh-CN" sz="1200" b="0" i="0">
                          <a:solidFill>
                            <a:srgbClr val="000000"/>
                          </a:solidFill>
                          <a:latin typeface="华文仿宋" panose="02010600040101010101" charset="-122"/>
                          <a:ea typeface="华文仿宋" panose="02010600040101010101" charset="-122"/>
                          <a:cs typeface="华文仿宋" panose="02010600040101010101" charset="-122"/>
                          <a:sym typeface="华文新魏" panose="02010800040101010101" charset="-122"/>
                        </a:rPr>
                        <a:t>cursor/</a:t>
                      </a:r>
                      <a:r>
                        <a:rPr lang="zh-CN" altLang="en-US" sz="1200" b="0" i="0">
                          <a:solidFill>
                            <a:srgbClr val="000000"/>
                          </a:solidFill>
                          <a:latin typeface="华文仿宋" panose="02010600040101010101" charset="-122"/>
                          <a:ea typeface="华文仿宋" panose="02010600040101010101" charset="-122"/>
                          <a:cs typeface="华文仿宋" panose="02010600040101010101" charset="-122"/>
                          <a:sym typeface="华文新魏" panose="02010800040101010101" charset="-122"/>
                        </a:rPr>
                        <a:t>国外</a:t>
                      </a:r>
                      <a:endParaRPr lang="zh-CN" altLang="en-US" sz="1200" b="0" i="0">
                        <a:solidFill>
                          <a:srgbClr val="000000"/>
                        </a:solidFill>
                        <a:latin typeface="华文仿宋" panose="02010600040101010101" charset="-122"/>
                        <a:ea typeface="华文仿宋" panose="02010600040101010101" charset="-122"/>
                        <a:cs typeface="华文仿宋" panose="02010600040101010101" charset="-122"/>
                        <a:sym typeface="华文新魏" panose="02010800040101010101" charset="-122"/>
                      </a:endParaRPr>
                    </a:p>
                  </a:txBody>
                  <a:tcPr marL="0" marR="0" marT="0" marB="0" anchor="ctr"/>
                </a:tc>
              </a:tr>
              <a:tr h="339090">
                <a:tc>
                  <a:txBody>
                    <a:bodyPr/>
                    <a:lstStyle/>
                    <a:p>
                      <a:pPr algn="ctr"/>
                      <a:r>
                        <a:rPr lang="en-US" altLang="zh-CN" sz="1200" b="0" i="0">
                          <a:solidFill>
                            <a:srgbClr val="000000"/>
                          </a:solidFill>
                          <a:latin typeface="华文仿宋" panose="02010600040101010101" charset="-122"/>
                          <a:ea typeface="华文仿宋" panose="02010600040101010101" charset="-122"/>
                          <a:cs typeface="华文仿宋" panose="02010600040101010101" charset="-122"/>
                          <a:sym typeface="华文新魏" panose="02010800040101010101" charset="-122"/>
                        </a:rPr>
                        <a:t>augmentcode</a:t>
                      </a:r>
                      <a:endParaRPr lang="en-US" altLang="zh-CN" sz="1200" b="0" i="0">
                        <a:solidFill>
                          <a:srgbClr val="000000"/>
                        </a:solidFill>
                        <a:latin typeface="华文仿宋" panose="02010600040101010101" charset="-122"/>
                        <a:ea typeface="华文仿宋" panose="02010600040101010101" charset="-122"/>
                        <a:cs typeface="华文仿宋" panose="02010600040101010101" charset="-122"/>
                        <a:sym typeface="华文新魏" panose="02010800040101010101" charset="-122"/>
                      </a:endParaRPr>
                    </a:p>
                  </a:txBody>
                  <a:tcPr marL="0" marR="0" marT="0" marB="0" anchor="ctr"/>
                </a:tc>
                <a:tc>
                  <a:txBody>
                    <a:bodyPr/>
                    <a:lstStyle/>
                    <a:p>
                      <a:pPr algn="ctr"/>
                      <a:endParaRPr lang="en-US" altLang="zh-CN" sz="1200" b="0" i="0">
                        <a:solidFill>
                          <a:srgbClr val="000000"/>
                        </a:solidFill>
                        <a:latin typeface="华文仿宋" panose="02010600040101010101" charset="-122"/>
                        <a:ea typeface="华文仿宋" panose="02010600040101010101" charset="-122"/>
                        <a:cs typeface="华文仿宋" panose="02010600040101010101" charset="-122"/>
                        <a:sym typeface="华文新魏" panose="02010800040101010101" charset="-122"/>
                      </a:endParaRPr>
                    </a:p>
                  </a:txBody>
                  <a:tcPr marL="0" marR="0" marT="0" marB="0" anchor="ctr"/>
                </a:tc>
                <a:tc>
                  <a:txBody>
                    <a:bodyPr/>
                    <a:p>
                      <a:pPr algn="ctr">
                        <a:buNone/>
                      </a:pPr>
                      <a:r>
                        <a:rPr lang="en-US" altLang="zh-CN" sz="1200" b="0" i="0">
                          <a:solidFill>
                            <a:srgbClr val="000000"/>
                          </a:solidFill>
                          <a:latin typeface="华文仿宋" panose="02010600040101010101" charset="-122"/>
                          <a:ea typeface="华文仿宋" panose="02010600040101010101" charset="-122"/>
                          <a:cs typeface="华文仿宋" panose="02010600040101010101" charset="-122"/>
                          <a:sym typeface="华文新魏" panose="02010800040101010101" charset="-122"/>
                        </a:rPr>
                        <a:t>augmentcode/</a:t>
                      </a:r>
                      <a:r>
                        <a:rPr lang="zh-CN" altLang="en-US" sz="1200" b="0" i="0">
                          <a:solidFill>
                            <a:srgbClr val="000000"/>
                          </a:solidFill>
                          <a:latin typeface="华文仿宋" panose="02010600040101010101" charset="-122"/>
                          <a:ea typeface="华文仿宋" panose="02010600040101010101" charset="-122"/>
                          <a:cs typeface="华文仿宋" panose="02010600040101010101" charset="-122"/>
                          <a:sym typeface="华文新魏" panose="02010800040101010101" charset="-122"/>
                        </a:rPr>
                        <a:t>国外</a:t>
                      </a:r>
                      <a:endParaRPr lang="zh-CN" altLang="en-US" sz="1200" b="0" i="0">
                        <a:solidFill>
                          <a:srgbClr val="000000"/>
                        </a:solidFill>
                        <a:latin typeface="华文仿宋" panose="02010600040101010101" charset="-122"/>
                        <a:ea typeface="华文仿宋" panose="02010600040101010101" charset="-122"/>
                        <a:cs typeface="华文仿宋" panose="02010600040101010101" charset="-122"/>
                        <a:sym typeface="华文新魏" panose="02010800040101010101" charset="-122"/>
                      </a:endParaRPr>
                    </a:p>
                  </a:txBody>
                  <a:tcPr marL="0" marR="0" marT="0" marB="0" anchor="ctr"/>
                </a:tc>
              </a:tr>
              <a:tr h="328930">
                <a:tc>
                  <a:txBody>
                    <a:bodyPr/>
                    <a:lstStyle/>
                    <a:p>
                      <a:pPr algn="ctr"/>
                      <a:r>
                        <a:rPr lang="en-US" altLang="zh-CN" sz="1200" b="0" i="0">
                          <a:solidFill>
                            <a:srgbClr val="000000"/>
                          </a:solidFill>
                          <a:latin typeface="华文仿宋" panose="02010600040101010101" charset="-122"/>
                          <a:ea typeface="华文仿宋" panose="02010600040101010101" charset="-122"/>
                          <a:sym typeface="华文新魏" panose="02010800040101010101" charset="-122"/>
                        </a:rPr>
                        <a:t>trae</a:t>
                      </a:r>
                      <a:endParaRPr lang="en-US" altLang="zh-CN" sz="1200" b="0" i="0">
                        <a:solidFill>
                          <a:srgbClr val="000000"/>
                        </a:solidFill>
                        <a:latin typeface="华文仿宋" panose="02010600040101010101" charset="-122"/>
                        <a:ea typeface="华文仿宋" panose="02010600040101010101" charset="-122"/>
                        <a:sym typeface="华文新魏" panose="02010800040101010101" charset="-122"/>
                      </a:endParaRPr>
                    </a:p>
                  </a:txBody>
                  <a:tcPr marL="0" marR="0" marT="0" marB="0" anchor="ctr"/>
                </a:tc>
                <a:tc>
                  <a:txBody>
                    <a:bodyPr/>
                    <a:lstStyle/>
                    <a:p>
                      <a:pPr algn="ctr"/>
                      <a:endParaRPr lang="en-US" altLang="zh-CN" sz="1200" b="0" i="0">
                        <a:solidFill>
                          <a:srgbClr val="000000"/>
                        </a:solidFill>
                        <a:latin typeface="华文仿宋" panose="02010600040101010101" charset="-122"/>
                        <a:ea typeface="华文仿宋" panose="02010600040101010101" charset="-122"/>
                        <a:sym typeface="华文新魏" panose="02010800040101010101" charset="-122"/>
                      </a:endParaRPr>
                    </a:p>
                  </a:txBody>
                  <a:tcPr marL="0" marR="0" marT="0" marB="0" anchor="ctr"/>
                </a:tc>
                <a:tc>
                  <a:txBody>
                    <a:bodyPr/>
                    <a:p>
                      <a:pPr algn="ctr">
                        <a:buNone/>
                      </a:pPr>
                      <a:r>
                        <a:rPr lang="zh-CN" altLang="en-US" sz="1200" b="0" i="0">
                          <a:solidFill>
                            <a:srgbClr val="000000"/>
                          </a:solidFill>
                          <a:latin typeface="华文仿宋" panose="02010600040101010101" charset="-122"/>
                          <a:ea typeface="华文仿宋" panose="02010600040101010101" charset="-122"/>
                          <a:sym typeface="华文新魏" panose="02010800040101010101" charset="-122"/>
                        </a:rPr>
                        <a:t>字节</a:t>
                      </a:r>
                      <a:r>
                        <a:rPr lang="en-US" altLang="zh-CN" sz="1200" b="0" i="0">
                          <a:solidFill>
                            <a:srgbClr val="000000"/>
                          </a:solidFill>
                          <a:latin typeface="华文仿宋" panose="02010600040101010101" charset="-122"/>
                          <a:ea typeface="华文仿宋" panose="02010600040101010101" charset="-122"/>
                          <a:sym typeface="华文新魏" panose="02010800040101010101" charset="-122"/>
                        </a:rPr>
                        <a:t>/</a:t>
                      </a:r>
                      <a:r>
                        <a:rPr lang="zh-CN" altLang="en-US" sz="1200" b="0" i="0">
                          <a:solidFill>
                            <a:srgbClr val="000000"/>
                          </a:solidFill>
                          <a:latin typeface="华文仿宋" panose="02010600040101010101" charset="-122"/>
                          <a:ea typeface="华文仿宋" panose="02010600040101010101" charset="-122"/>
                          <a:sym typeface="华文新魏" panose="02010800040101010101" charset="-122"/>
                        </a:rPr>
                        <a:t>国外</a:t>
                      </a:r>
                      <a:endParaRPr lang="zh-CN" altLang="en-US" sz="1200" b="0" i="0">
                        <a:solidFill>
                          <a:srgbClr val="000000"/>
                        </a:solidFill>
                        <a:latin typeface="华文仿宋" panose="02010600040101010101" charset="-122"/>
                        <a:ea typeface="华文仿宋" panose="02010600040101010101" charset="-122"/>
                        <a:sym typeface="华文新魏" panose="02010800040101010101" charset="-122"/>
                      </a:endParaRPr>
                    </a:p>
                  </a:txBody>
                  <a:tcPr marL="0" marR="0" marT="0" marB="0" anchor="ctr"/>
                </a:tc>
              </a:tr>
              <a:tr h="323850">
                <a:tc>
                  <a:txBody>
                    <a:bodyPr/>
                    <a:p>
                      <a:pPr algn="ctr">
                        <a:buNone/>
                      </a:pPr>
                      <a:r>
                        <a:rPr lang="en-US" altLang="zh-CN" sz="1200" b="0" i="0">
                          <a:solidFill>
                            <a:srgbClr val="000000"/>
                          </a:solidFill>
                          <a:latin typeface="华文仿宋" panose="02010600040101010101" charset="-122"/>
                          <a:ea typeface="华文仿宋" panose="02010600040101010101" charset="-122"/>
                          <a:sym typeface="华文新魏" panose="02010800040101010101" charset="-122"/>
                        </a:rPr>
                        <a:t>claude-code</a:t>
                      </a:r>
                      <a:endParaRPr lang="en-US" altLang="zh-CN" sz="1200" b="0" i="0">
                        <a:solidFill>
                          <a:srgbClr val="000000"/>
                        </a:solidFill>
                        <a:latin typeface="华文仿宋" panose="02010600040101010101" charset="-122"/>
                        <a:ea typeface="华文仿宋" panose="02010600040101010101" charset="-122"/>
                        <a:sym typeface="华文新魏" panose="02010800040101010101" charset="-122"/>
                      </a:endParaRPr>
                    </a:p>
                  </a:txBody>
                  <a:tcPr marL="0" marR="0" marT="0" marB="0" anchor="ctr"/>
                </a:tc>
                <a:tc>
                  <a:txBody>
                    <a:bodyPr/>
                    <a:p>
                      <a:pPr algn="ctr">
                        <a:buNone/>
                      </a:pPr>
                      <a:endParaRPr lang="en-US" altLang="zh-CN" sz="1200" b="0" i="0">
                        <a:solidFill>
                          <a:srgbClr val="000000"/>
                        </a:solidFill>
                        <a:latin typeface="华文仿宋" panose="02010600040101010101" charset="-122"/>
                        <a:ea typeface="华文仿宋" panose="02010600040101010101" charset="-122"/>
                        <a:sym typeface="华文新魏" panose="02010800040101010101" charset="-122"/>
                      </a:endParaRPr>
                    </a:p>
                  </a:txBody>
                  <a:tcPr marL="0" marR="0" marT="0" marB="0" anchor="ctr"/>
                </a:tc>
                <a:tc>
                  <a:txBody>
                    <a:bodyPr/>
                    <a:p>
                      <a:pPr algn="ctr">
                        <a:buNone/>
                      </a:pPr>
                      <a:r>
                        <a:rPr lang="en-US" altLang="zh-CN" sz="1200" b="0" i="0">
                          <a:solidFill>
                            <a:srgbClr val="000000"/>
                          </a:solidFill>
                          <a:latin typeface="华文仿宋" panose="02010600040101010101" charset="-122"/>
                          <a:ea typeface="华文仿宋" panose="02010600040101010101" charset="-122"/>
                          <a:sym typeface="华文新魏" panose="02010800040101010101" charset="-122"/>
                        </a:rPr>
                        <a:t>claude/</a:t>
                      </a:r>
                      <a:r>
                        <a:rPr lang="zh-CN" altLang="en-US" sz="1200" b="0" i="0">
                          <a:solidFill>
                            <a:srgbClr val="000000"/>
                          </a:solidFill>
                          <a:latin typeface="华文仿宋" panose="02010600040101010101" charset="-122"/>
                          <a:ea typeface="华文仿宋" panose="02010600040101010101" charset="-122"/>
                          <a:sym typeface="华文新魏" panose="02010800040101010101" charset="-122"/>
                        </a:rPr>
                        <a:t>国外</a:t>
                      </a:r>
                      <a:endParaRPr lang="zh-CN" altLang="en-US" sz="1200" b="0" i="0">
                        <a:solidFill>
                          <a:srgbClr val="000000"/>
                        </a:solidFill>
                        <a:latin typeface="华文仿宋" panose="02010600040101010101" charset="-122"/>
                        <a:ea typeface="华文仿宋" panose="02010600040101010101" charset="-122"/>
                        <a:sym typeface="华文新魏" panose="02010800040101010101" charset="-122"/>
                      </a:endParaRPr>
                    </a:p>
                  </a:txBody>
                  <a:tcPr marL="0" marR="0" marT="0" marB="0" anchor="ctr"/>
                </a:tc>
              </a:tr>
              <a:tr h="323215">
                <a:tc>
                  <a:txBody>
                    <a:bodyPr/>
                    <a:p>
                      <a:pPr algn="ctr">
                        <a:buNone/>
                      </a:pPr>
                      <a:r>
                        <a:rPr lang="en-US" altLang="zh-CN" sz="1200" b="0" i="0">
                          <a:solidFill>
                            <a:srgbClr val="000000"/>
                          </a:solidFill>
                          <a:latin typeface="华文仿宋" panose="02010600040101010101" charset="-122"/>
                          <a:ea typeface="华文仿宋" panose="02010600040101010101" charset="-122"/>
                          <a:sym typeface="华文新魏" panose="02010800040101010101" charset="-122"/>
                        </a:rPr>
                        <a:t>windsurf</a:t>
                      </a:r>
                      <a:endParaRPr lang="en-US" altLang="zh-CN" sz="1200" b="0" i="0">
                        <a:solidFill>
                          <a:srgbClr val="000000"/>
                        </a:solidFill>
                        <a:latin typeface="华文仿宋" panose="02010600040101010101" charset="-122"/>
                        <a:ea typeface="华文仿宋" panose="02010600040101010101" charset="-122"/>
                        <a:sym typeface="华文新魏" panose="02010800040101010101" charset="-122"/>
                      </a:endParaRPr>
                    </a:p>
                  </a:txBody>
                  <a:tcPr marL="0" marR="0" marT="0" marB="0" anchor="ctr"/>
                </a:tc>
                <a:tc>
                  <a:txBody>
                    <a:bodyPr/>
                    <a:p>
                      <a:pPr algn="ctr">
                        <a:buNone/>
                      </a:pPr>
                      <a:endParaRPr lang="en-US" altLang="zh-CN" sz="1200" b="0" i="0">
                        <a:solidFill>
                          <a:srgbClr val="000000"/>
                        </a:solidFill>
                        <a:latin typeface="华文仿宋" panose="02010600040101010101" charset="-122"/>
                        <a:ea typeface="华文仿宋" panose="02010600040101010101" charset="-122"/>
                        <a:sym typeface="华文新魏" panose="02010800040101010101" charset="-122"/>
                      </a:endParaRPr>
                    </a:p>
                  </a:txBody>
                  <a:tcPr marL="0" marR="0" marT="0" marB="0" anchor="ctr"/>
                </a:tc>
                <a:tc>
                  <a:txBody>
                    <a:bodyPr/>
                    <a:p>
                      <a:pPr algn="ctr">
                        <a:buNone/>
                      </a:pPr>
                      <a:r>
                        <a:rPr lang="en-US" altLang="zh-CN" sz="1200" b="0" i="0">
                          <a:solidFill>
                            <a:srgbClr val="000000"/>
                          </a:solidFill>
                          <a:latin typeface="华文仿宋" panose="02010600040101010101" charset="-122"/>
                          <a:ea typeface="华文仿宋" panose="02010600040101010101" charset="-122"/>
                          <a:sym typeface="华文新魏" panose="02010800040101010101" charset="-122"/>
                        </a:rPr>
                        <a:t>openAi/</a:t>
                      </a:r>
                      <a:r>
                        <a:rPr lang="zh-CN" altLang="en-US" sz="1200" b="0" i="0">
                          <a:solidFill>
                            <a:srgbClr val="000000"/>
                          </a:solidFill>
                          <a:latin typeface="华文仿宋" panose="02010600040101010101" charset="-122"/>
                          <a:ea typeface="华文仿宋" panose="02010600040101010101" charset="-122"/>
                          <a:sym typeface="华文新魏" panose="02010800040101010101" charset="-122"/>
                        </a:rPr>
                        <a:t>国外</a:t>
                      </a:r>
                      <a:endParaRPr lang="zh-CN" altLang="en-US" sz="1200" b="0" i="0">
                        <a:solidFill>
                          <a:srgbClr val="000000"/>
                        </a:solidFill>
                        <a:latin typeface="华文仿宋" panose="02010600040101010101" charset="-122"/>
                        <a:ea typeface="华文仿宋" panose="02010600040101010101" charset="-122"/>
                        <a:sym typeface="华文新魏" panose="02010800040101010101" charset="-122"/>
                      </a:endParaRPr>
                    </a:p>
                  </a:txBody>
                  <a:tcPr marL="0" marR="0" marT="0" marB="0" anchor="ctr"/>
                </a:tc>
              </a:tr>
              <a:tr h="323850">
                <a:tc>
                  <a:txBody>
                    <a:bodyPr/>
                    <a:p>
                      <a:pPr algn="ctr">
                        <a:buNone/>
                      </a:pPr>
                      <a:r>
                        <a:rPr lang="zh-CN" altLang="en-US" sz="1200" b="0" i="0">
                          <a:solidFill>
                            <a:srgbClr val="000000"/>
                          </a:solidFill>
                          <a:latin typeface="华文仿宋" panose="02010600040101010101" charset="-122"/>
                          <a:ea typeface="华文仿宋" panose="02010600040101010101" charset="-122"/>
                          <a:sym typeface="华文新魏" panose="02010800040101010101" charset="-122"/>
                        </a:rPr>
                        <a:t>阿里灵码</a:t>
                      </a:r>
                      <a:endParaRPr lang="zh-CN" altLang="en-US" sz="1200" b="0" i="0">
                        <a:solidFill>
                          <a:srgbClr val="000000"/>
                        </a:solidFill>
                        <a:latin typeface="华文仿宋" panose="02010600040101010101" charset="-122"/>
                        <a:ea typeface="华文仿宋" panose="02010600040101010101" charset="-122"/>
                        <a:sym typeface="华文新魏" panose="02010800040101010101" charset="-122"/>
                      </a:endParaRPr>
                    </a:p>
                  </a:txBody>
                  <a:tcPr marL="0" marR="0" marT="0" marB="0" anchor="ctr"/>
                </a:tc>
                <a:tc>
                  <a:txBody>
                    <a:bodyPr/>
                    <a:p>
                      <a:pPr algn="ctr">
                        <a:buNone/>
                      </a:pPr>
                      <a:endParaRPr lang="en-US" altLang="zh-CN" sz="1200" b="0" i="0">
                        <a:solidFill>
                          <a:srgbClr val="000000"/>
                        </a:solidFill>
                        <a:latin typeface="华文仿宋" panose="02010600040101010101" charset="-122"/>
                        <a:ea typeface="华文仿宋" panose="02010600040101010101" charset="-122"/>
                        <a:sym typeface="华文新魏" panose="02010800040101010101" charset="-122"/>
                      </a:endParaRPr>
                    </a:p>
                  </a:txBody>
                  <a:tcPr marL="0" marR="0" marT="0" marB="0" anchor="ctr"/>
                </a:tc>
                <a:tc>
                  <a:txBody>
                    <a:bodyPr/>
                    <a:p>
                      <a:pPr algn="ctr">
                        <a:buNone/>
                      </a:pPr>
                      <a:r>
                        <a:rPr lang="zh-CN" altLang="en-US" sz="1200" b="0" i="0">
                          <a:solidFill>
                            <a:srgbClr val="000000"/>
                          </a:solidFill>
                          <a:latin typeface="华文仿宋" panose="02010600040101010101" charset="-122"/>
                          <a:ea typeface="华文仿宋" panose="02010600040101010101" charset="-122"/>
                          <a:sym typeface="华文新魏" panose="02010800040101010101" charset="-122"/>
                        </a:rPr>
                        <a:t>阿里</a:t>
                      </a:r>
                      <a:r>
                        <a:rPr lang="en-US" altLang="zh-CN" sz="1200" b="0" i="0">
                          <a:solidFill>
                            <a:srgbClr val="000000"/>
                          </a:solidFill>
                          <a:latin typeface="华文仿宋" panose="02010600040101010101" charset="-122"/>
                          <a:ea typeface="华文仿宋" panose="02010600040101010101" charset="-122"/>
                          <a:sym typeface="华文新魏" panose="02010800040101010101" charset="-122"/>
                        </a:rPr>
                        <a:t>/</a:t>
                      </a:r>
                      <a:r>
                        <a:rPr lang="zh-CN" altLang="en-US" sz="1200" b="0" i="0">
                          <a:solidFill>
                            <a:srgbClr val="000000"/>
                          </a:solidFill>
                          <a:latin typeface="华文仿宋" panose="02010600040101010101" charset="-122"/>
                          <a:ea typeface="华文仿宋" panose="02010600040101010101" charset="-122"/>
                          <a:sym typeface="华文新魏" panose="02010800040101010101" charset="-122"/>
                        </a:rPr>
                        <a:t>国内</a:t>
                      </a:r>
                      <a:endParaRPr lang="zh-CN" altLang="en-US" sz="1200" b="0" i="0">
                        <a:solidFill>
                          <a:srgbClr val="000000"/>
                        </a:solidFill>
                        <a:latin typeface="华文仿宋" panose="02010600040101010101" charset="-122"/>
                        <a:ea typeface="华文仿宋" panose="02010600040101010101" charset="-122"/>
                        <a:sym typeface="华文新魏" panose="02010800040101010101" charset="-122"/>
                      </a:endParaRPr>
                    </a:p>
                  </a:txBody>
                  <a:tcPr marL="0" marR="0" marT="0" marB="0" anchor="ctr"/>
                </a:tc>
              </a:tr>
              <a:tr h="323850">
                <a:tc>
                  <a:txBody>
                    <a:bodyPr/>
                    <a:p>
                      <a:pPr algn="ctr">
                        <a:buNone/>
                      </a:pPr>
                      <a:r>
                        <a:rPr lang="en-US" altLang="zh-CN" sz="1200" b="0" i="0">
                          <a:solidFill>
                            <a:srgbClr val="000000"/>
                          </a:solidFill>
                          <a:latin typeface="华文仿宋" panose="02010600040101010101" charset="-122"/>
                          <a:ea typeface="华文仿宋" panose="02010600040101010101" charset="-122"/>
                          <a:sym typeface="华文新魏" panose="02010800040101010101" charset="-122"/>
                        </a:rPr>
                        <a:t>Trae </a:t>
                      </a:r>
                      <a:r>
                        <a:rPr lang="zh-CN" altLang="en-US" sz="1200" b="0" i="0">
                          <a:solidFill>
                            <a:srgbClr val="000000"/>
                          </a:solidFill>
                          <a:latin typeface="华文仿宋" panose="02010600040101010101" charset="-122"/>
                          <a:ea typeface="华文仿宋" panose="02010600040101010101" charset="-122"/>
                          <a:sym typeface="华文新魏" panose="02010800040101010101" charset="-122"/>
                        </a:rPr>
                        <a:t>国内版本</a:t>
                      </a:r>
                      <a:endParaRPr lang="zh-CN" altLang="en-US" sz="1200" b="0" i="0">
                        <a:solidFill>
                          <a:srgbClr val="000000"/>
                        </a:solidFill>
                        <a:latin typeface="华文仿宋" panose="02010600040101010101" charset="-122"/>
                        <a:ea typeface="华文仿宋" panose="02010600040101010101" charset="-122"/>
                        <a:sym typeface="华文新魏" panose="02010800040101010101" charset="-122"/>
                      </a:endParaRPr>
                    </a:p>
                  </a:txBody>
                  <a:tcPr marL="0" marR="0" marT="0" marB="0" anchor="ctr"/>
                </a:tc>
                <a:tc>
                  <a:txBody>
                    <a:bodyPr/>
                    <a:p>
                      <a:pPr algn="ctr">
                        <a:buNone/>
                      </a:pPr>
                      <a:endParaRPr lang="en-US" altLang="zh-CN" sz="1200" b="0" i="0">
                        <a:solidFill>
                          <a:srgbClr val="000000"/>
                        </a:solidFill>
                        <a:latin typeface="华文仿宋" panose="02010600040101010101" charset="-122"/>
                        <a:ea typeface="华文仿宋" panose="02010600040101010101" charset="-122"/>
                        <a:sym typeface="华文新魏" panose="02010800040101010101" charset="-122"/>
                      </a:endParaRPr>
                    </a:p>
                  </a:txBody>
                  <a:tcPr marL="0" marR="0" marT="0" marB="0" anchor="ctr"/>
                </a:tc>
                <a:tc>
                  <a:txBody>
                    <a:bodyPr/>
                    <a:p>
                      <a:pPr algn="ctr">
                        <a:buNone/>
                      </a:pPr>
                      <a:r>
                        <a:rPr lang="zh-CN" altLang="en-US" sz="1200" b="0" i="0">
                          <a:solidFill>
                            <a:srgbClr val="000000"/>
                          </a:solidFill>
                          <a:latin typeface="华文仿宋" panose="02010600040101010101" charset="-122"/>
                          <a:ea typeface="华文仿宋" panose="02010600040101010101" charset="-122"/>
                          <a:sym typeface="华文新魏" panose="02010800040101010101" charset="-122"/>
                        </a:rPr>
                        <a:t>字节</a:t>
                      </a:r>
                      <a:r>
                        <a:rPr lang="en-US" altLang="zh-CN" sz="1200" b="0" i="0">
                          <a:solidFill>
                            <a:srgbClr val="000000"/>
                          </a:solidFill>
                          <a:latin typeface="华文仿宋" panose="02010600040101010101" charset="-122"/>
                          <a:ea typeface="华文仿宋" panose="02010600040101010101" charset="-122"/>
                          <a:sym typeface="华文新魏" panose="02010800040101010101" charset="-122"/>
                        </a:rPr>
                        <a:t>/</a:t>
                      </a:r>
                      <a:r>
                        <a:rPr lang="zh-CN" altLang="en-US" sz="1200" b="0" i="0">
                          <a:solidFill>
                            <a:srgbClr val="000000"/>
                          </a:solidFill>
                          <a:latin typeface="华文仿宋" panose="02010600040101010101" charset="-122"/>
                          <a:ea typeface="华文仿宋" panose="02010600040101010101" charset="-122"/>
                          <a:sym typeface="华文新魏" panose="02010800040101010101" charset="-122"/>
                        </a:rPr>
                        <a:t>国内</a:t>
                      </a:r>
                      <a:endParaRPr lang="zh-CN" altLang="en-US" sz="1200" b="0" i="0">
                        <a:solidFill>
                          <a:srgbClr val="000000"/>
                        </a:solidFill>
                        <a:latin typeface="华文仿宋" panose="02010600040101010101" charset="-122"/>
                        <a:ea typeface="华文仿宋" panose="02010600040101010101" charset="-122"/>
                        <a:sym typeface="华文新魏" panose="02010800040101010101" charset="-122"/>
                      </a:endParaRPr>
                    </a:p>
                  </a:txBody>
                  <a:tcPr marL="0" marR="0" marT="0" marB="0" anchor="ctr"/>
                </a:tc>
              </a:tr>
              <a:tr h="323850">
                <a:tc>
                  <a:txBody>
                    <a:bodyPr/>
                    <a:p>
                      <a:pPr algn="ctr">
                        <a:buNone/>
                      </a:pPr>
                      <a:r>
                        <a:rPr lang="en-US" altLang="zh-CN" sz="1200" b="0" i="0">
                          <a:solidFill>
                            <a:srgbClr val="000000"/>
                          </a:solidFill>
                          <a:latin typeface="华文仿宋" panose="02010600040101010101" charset="-122"/>
                          <a:ea typeface="华文仿宋" panose="02010600040101010101" charset="-122"/>
                          <a:sym typeface="华文新魏" panose="02010800040101010101" charset="-122"/>
                        </a:rPr>
                        <a:t>codebuddy</a:t>
                      </a:r>
                      <a:endParaRPr lang="en-US" altLang="zh-CN" sz="1200" b="0" i="0">
                        <a:solidFill>
                          <a:srgbClr val="000000"/>
                        </a:solidFill>
                        <a:latin typeface="华文仿宋" panose="02010600040101010101" charset="-122"/>
                        <a:ea typeface="华文仿宋" panose="02010600040101010101" charset="-122"/>
                        <a:sym typeface="华文新魏" panose="02010800040101010101" charset="-122"/>
                      </a:endParaRPr>
                    </a:p>
                  </a:txBody>
                  <a:tcPr marL="0" marR="0" marT="0" marB="0" anchor="ctr"/>
                </a:tc>
                <a:tc>
                  <a:txBody>
                    <a:bodyPr/>
                    <a:p>
                      <a:pPr algn="ctr">
                        <a:buNone/>
                      </a:pPr>
                      <a:endParaRPr lang="en-US" altLang="zh-CN" sz="1200" b="0" i="0">
                        <a:solidFill>
                          <a:srgbClr val="000000"/>
                        </a:solidFill>
                        <a:latin typeface="华文仿宋" panose="02010600040101010101" charset="-122"/>
                        <a:ea typeface="华文仿宋" panose="02010600040101010101" charset="-122"/>
                        <a:sym typeface="华文新魏" panose="02010800040101010101" charset="-122"/>
                      </a:endParaRPr>
                    </a:p>
                  </a:txBody>
                  <a:tcPr marL="0" marR="0" marT="0" marB="0" anchor="ctr"/>
                </a:tc>
                <a:tc>
                  <a:txBody>
                    <a:bodyPr/>
                    <a:p>
                      <a:pPr algn="ctr">
                        <a:buNone/>
                      </a:pPr>
                      <a:r>
                        <a:rPr lang="zh-CN" altLang="en-US" sz="1200" b="0" i="0">
                          <a:solidFill>
                            <a:srgbClr val="000000"/>
                          </a:solidFill>
                          <a:latin typeface="华文仿宋" panose="02010600040101010101" charset="-122"/>
                          <a:ea typeface="华文仿宋" panose="02010600040101010101" charset="-122"/>
                          <a:sym typeface="华文新魏" panose="02010800040101010101" charset="-122"/>
                        </a:rPr>
                        <a:t>腾讯</a:t>
                      </a:r>
                      <a:r>
                        <a:rPr lang="en-US" altLang="zh-CN" sz="1200" b="0" i="0">
                          <a:solidFill>
                            <a:srgbClr val="000000"/>
                          </a:solidFill>
                          <a:latin typeface="华文仿宋" panose="02010600040101010101" charset="-122"/>
                          <a:ea typeface="华文仿宋" panose="02010600040101010101" charset="-122"/>
                          <a:sym typeface="华文新魏" panose="02010800040101010101" charset="-122"/>
                        </a:rPr>
                        <a:t>/</a:t>
                      </a:r>
                      <a:r>
                        <a:rPr lang="zh-CN" altLang="en-US" sz="1200" b="0" i="0">
                          <a:solidFill>
                            <a:srgbClr val="000000"/>
                          </a:solidFill>
                          <a:latin typeface="华文仿宋" panose="02010600040101010101" charset="-122"/>
                          <a:ea typeface="华文仿宋" panose="02010600040101010101" charset="-122"/>
                          <a:sym typeface="华文新魏" panose="02010800040101010101" charset="-122"/>
                        </a:rPr>
                        <a:t>国内</a:t>
                      </a:r>
                      <a:endParaRPr lang="zh-CN" altLang="en-US" sz="1200" b="0" i="0">
                        <a:solidFill>
                          <a:srgbClr val="000000"/>
                        </a:solidFill>
                        <a:latin typeface="华文仿宋" panose="02010600040101010101" charset="-122"/>
                        <a:ea typeface="华文仿宋" panose="02010600040101010101" charset="-122"/>
                        <a:sym typeface="华文新魏" panose="02010800040101010101" charset="-122"/>
                      </a:endParaRPr>
                    </a:p>
                  </a:txBody>
                  <a:tcPr marL="0" marR="0" marT="0" marB="0" anchor="ctr"/>
                </a:tc>
              </a:tr>
            </a:tbl>
          </a:graphicData>
        </a:graphic>
      </p:graphicFrame>
      <p:pic>
        <p:nvPicPr>
          <p:cNvPr id="83" name="图片 82"/>
          <p:cNvPicPr>
            <a:picLocks noChangeAspect="1"/>
          </p:cNvPicPr>
          <p:nvPr/>
        </p:nvPicPr>
        <p:blipFill>
          <a:blip r:embed="rId4"/>
          <a:stretch>
            <a:fillRect/>
          </a:stretch>
        </p:blipFill>
        <p:spPr>
          <a:xfrm>
            <a:off x="3549650" y="2626678"/>
            <a:ext cx="1078230" cy="247650"/>
          </a:xfrm>
          <a:prstGeom prst="rect">
            <a:avLst/>
          </a:prstGeom>
        </p:spPr>
      </p:pic>
      <p:pic>
        <p:nvPicPr>
          <p:cNvPr id="85" name="图片 84"/>
          <p:cNvPicPr>
            <a:picLocks noChangeAspect="1"/>
          </p:cNvPicPr>
          <p:nvPr/>
        </p:nvPicPr>
        <p:blipFill>
          <a:blip r:embed="rId5"/>
          <a:stretch>
            <a:fillRect/>
          </a:stretch>
        </p:blipFill>
        <p:spPr>
          <a:xfrm>
            <a:off x="3543300" y="2286000"/>
            <a:ext cx="1078230" cy="225425"/>
          </a:xfrm>
          <a:prstGeom prst="rect">
            <a:avLst/>
          </a:prstGeom>
        </p:spPr>
      </p:pic>
      <p:pic>
        <p:nvPicPr>
          <p:cNvPr id="89" name="图片 88"/>
          <p:cNvPicPr>
            <a:picLocks noChangeAspect="1"/>
          </p:cNvPicPr>
          <p:nvPr/>
        </p:nvPicPr>
        <p:blipFill>
          <a:blip r:embed="rId6"/>
          <a:stretch>
            <a:fillRect/>
          </a:stretch>
        </p:blipFill>
        <p:spPr>
          <a:xfrm>
            <a:off x="3563620" y="2936240"/>
            <a:ext cx="1064260" cy="241935"/>
          </a:xfrm>
          <a:prstGeom prst="rect">
            <a:avLst/>
          </a:prstGeom>
        </p:spPr>
      </p:pic>
      <p:pic>
        <p:nvPicPr>
          <p:cNvPr id="99" name="图片 98"/>
          <p:cNvPicPr>
            <a:picLocks noChangeAspect="1"/>
          </p:cNvPicPr>
          <p:nvPr/>
        </p:nvPicPr>
        <p:blipFill>
          <a:blip r:embed="rId6"/>
          <a:stretch>
            <a:fillRect/>
          </a:stretch>
        </p:blipFill>
        <p:spPr>
          <a:xfrm>
            <a:off x="3563620" y="4191000"/>
            <a:ext cx="1064260" cy="241935"/>
          </a:xfrm>
          <a:prstGeom prst="rect">
            <a:avLst/>
          </a:prstGeom>
        </p:spPr>
      </p:pic>
      <p:pic>
        <p:nvPicPr>
          <p:cNvPr id="108" name="图片 107"/>
          <p:cNvPicPr>
            <a:picLocks noChangeAspect="1"/>
          </p:cNvPicPr>
          <p:nvPr/>
        </p:nvPicPr>
        <p:blipFill>
          <a:blip r:embed="rId7"/>
          <a:stretch>
            <a:fillRect/>
          </a:stretch>
        </p:blipFill>
        <p:spPr>
          <a:xfrm>
            <a:off x="3563620" y="3276600"/>
            <a:ext cx="1013460" cy="267653"/>
          </a:xfrm>
          <a:prstGeom prst="rect">
            <a:avLst/>
          </a:prstGeom>
        </p:spPr>
      </p:pic>
      <p:pic>
        <p:nvPicPr>
          <p:cNvPr id="110" name="图片 109"/>
          <p:cNvPicPr>
            <a:picLocks noChangeAspect="1"/>
          </p:cNvPicPr>
          <p:nvPr/>
        </p:nvPicPr>
        <p:blipFill>
          <a:blip r:embed="rId8"/>
          <a:stretch>
            <a:fillRect/>
          </a:stretch>
        </p:blipFill>
        <p:spPr>
          <a:xfrm>
            <a:off x="3619500" y="3593465"/>
            <a:ext cx="915035" cy="233045"/>
          </a:xfrm>
          <a:prstGeom prst="rect">
            <a:avLst/>
          </a:prstGeom>
        </p:spPr>
      </p:pic>
      <p:pic>
        <p:nvPicPr>
          <p:cNvPr id="116" name="图片 115"/>
          <p:cNvPicPr>
            <a:picLocks noChangeAspect="1"/>
          </p:cNvPicPr>
          <p:nvPr/>
        </p:nvPicPr>
        <p:blipFill>
          <a:blip r:embed="rId9"/>
          <a:stretch>
            <a:fillRect/>
          </a:stretch>
        </p:blipFill>
        <p:spPr>
          <a:xfrm>
            <a:off x="3549650" y="3937635"/>
            <a:ext cx="1089660" cy="163830"/>
          </a:xfrm>
          <a:prstGeom prst="rect">
            <a:avLst/>
          </a:prstGeom>
        </p:spPr>
      </p:pic>
      <p:pic>
        <p:nvPicPr>
          <p:cNvPr id="122" name="图片 121"/>
          <p:cNvPicPr>
            <a:picLocks noChangeAspect="1"/>
          </p:cNvPicPr>
          <p:nvPr/>
        </p:nvPicPr>
        <p:blipFill>
          <a:blip r:embed="rId10"/>
          <a:stretch>
            <a:fillRect/>
          </a:stretch>
        </p:blipFill>
        <p:spPr>
          <a:xfrm>
            <a:off x="3505200" y="4533900"/>
            <a:ext cx="1186180" cy="192088"/>
          </a:xfrm>
          <a:prstGeom prst="rect">
            <a:avLst/>
          </a:prstGeom>
        </p:spPr>
      </p:pic>
      <p:sp>
        <p:nvSpPr>
          <p:cNvPr id="124" name="TextBox 92"/>
          <p:cNvSpPr txBox="1"/>
          <p:nvPr/>
        </p:nvSpPr>
        <p:spPr>
          <a:xfrm>
            <a:off x="685800" y="5067300"/>
            <a:ext cx="7552373" cy="432118"/>
          </a:xfrm>
          <a:prstGeom prst="rect">
            <a:avLst/>
          </a:prstGeom>
        </p:spPr>
        <p:txBody>
          <a:bodyPr wrap="square" lIns="0" tIns="0" rIns="0" bIns="0" rtlCol="0" anchor="t">
            <a:noAutofit/>
          </a:bodyPr>
          <a:lstStyle/>
          <a:p>
            <a:pPr algn="ctr">
              <a:lnSpc>
                <a:spcPts val="3040"/>
              </a:lnSpc>
            </a:pPr>
            <a:r>
              <a:rPr lang="zh-CN" altLang="en-US"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常见</a:t>
            </a:r>
            <a:r>
              <a:rPr lang="en-US" altLang="zh-CN"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ai</a:t>
            </a:r>
            <a:r>
              <a:rPr lang="zh-CN" altLang="en-US"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工具有</a:t>
            </a:r>
            <a:r>
              <a:rPr lang="en-US" altLang="zh-CN"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8</a:t>
            </a:r>
            <a:r>
              <a:rPr lang="zh-CN" altLang="en-US"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种，国内与国外版本，按需使用，对于日常开发都没有问题，根据使用习惯按需求使用即可</a:t>
            </a:r>
            <a:endParaRPr lang="zh-CN" altLang="en-US"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4930" name="标题 1"/>
          <p:cNvSpPr>
            <a:spLocks noGrp="1" noChangeArrowheads="1"/>
          </p:cNvSpPr>
          <p:nvPr/>
        </p:nvSpPr>
        <p:spPr>
          <a:xfrm>
            <a:off x="1475740" y="132715"/>
            <a:ext cx="6365875" cy="685800"/>
          </a:xfrm>
          <a:prstGeom prst="rect">
            <a:avLst/>
          </a:prstGeom>
          <a:noFill/>
          <a:ln w="9525">
            <a:noFill/>
          </a:ln>
          <a:effectLst>
            <a:outerShdw dist="17961" dir="2699999" algn="ctr" rotWithShape="0">
              <a:srgbClr val="DDDDDD"/>
            </a:outerShdw>
          </a:effectLst>
        </p:spPr>
        <p:txBody>
          <a:bodyPr vert="horz" wrap="square" lIns="91440" tIns="45720" rIns="91440" bIns="45720" numCol="1" anchor="ctr" anchorCtr="0" compatLnSpc="1"/>
          <a:lstStyle>
            <a:lvl1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cs typeface="+mj-cs"/>
              </a:defRPr>
            </a:lvl1pPr>
            <a:lvl2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2pPr>
            <a:lvl3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3pPr>
            <a:lvl4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4pPr>
            <a:lvl5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5pPr>
            <a:lvl6pPr marL="4572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4. </a:t>
            </a: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常见</a:t>
            </a:r>
            <a:r>
              <a:rPr kumimoji="0" lang="en-US" altLang="zh-CN"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AI IDE</a:t>
            </a: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工具</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57250"/>
            <a:ext cx="9144000" cy="51435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38888" b="-38888"/>
            </a:stretch>
          </a:blipFill>
        </p:spPr>
      </p:sp>
      <p:grpSp>
        <p:nvGrpSpPr>
          <p:cNvPr id="3" name="Group 3"/>
          <p:cNvGrpSpPr/>
          <p:nvPr/>
        </p:nvGrpSpPr>
        <p:grpSpPr>
          <a:xfrm>
            <a:off x="0" y="857250"/>
            <a:ext cx="9189882" cy="5143500"/>
            <a:chOff x="0" y="0"/>
            <a:chExt cx="24506350" cy="13716000"/>
          </a:xfrm>
        </p:grpSpPr>
        <p:grpSp>
          <p:nvGrpSpPr>
            <p:cNvPr id="4" name="Group 4"/>
            <p:cNvGrpSpPr/>
            <p:nvPr/>
          </p:nvGrpSpPr>
          <p:grpSpPr>
            <a:xfrm>
              <a:off x="0" y="0"/>
              <a:ext cx="24384000" cy="215022"/>
              <a:chOff x="0" y="0"/>
              <a:chExt cx="4816593" cy="42474"/>
            </a:xfrm>
          </p:grpSpPr>
          <p:sp>
            <p:nvSpPr>
              <p:cNvPr id="5" name="Freeform 5"/>
              <p:cNvSpPr/>
              <p:nvPr/>
            </p:nvSpPr>
            <p:spPr>
              <a:xfrm>
                <a:off x="0" y="0"/>
                <a:ext cx="4816592" cy="42474"/>
              </a:xfrm>
              <a:custGeom>
                <a:avLst/>
                <a:gdLst/>
                <a:ahLst/>
                <a:cxnLst/>
                <a:rect l="l" t="t" r="r" b="b"/>
                <a:pathLst>
                  <a:path w="4816592" h="42474">
                    <a:moveTo>
                      <a:pt x="0" y="0"/>
                    </a:moveTo>
                    <a:lnTo>
                      <a:pt x="4816592" y="0"/>
                    </a:lnTo>
                    <a:lnTo>
                      <a:pt x="4816592" y="42474"/>
                    </a:lnTo>
                    <a:lnTo>
                      <a:pt x="0" y="42474"/>
                    </a:lnTo>
                    <a:close/>
                  </a:path>
                </a:pathLst>
              </a:custGeom>
              <a:solidFill>
                <a:srgbClr val="004AAD"/>
              </a:solidFill>
            </p:spPr>
          </p:sp>
          <p:sp>
            <p:nvSpPr>
              <p:cNvPr id="6" name="TextBox 6"/>
              <p:cNvSpPr txBox="1"/>
              <p:nvPr/>
            </p:nvSpPr>
            <p:spPr>
              <a:xfrm>
                <a:off x="0" y="-38100"/>
                <a:ext cx="4816593" cy="80574"/>
              </a:xfrm>
              <a:prstGeom prst="rect">
                <a:avLst/>
              </a:prstGeom>
            </p:spPr>
            <p:txBody>
              <a:bodyPr lIns="25400" tIns="25400" rIns="25400" bIns="25400"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7" name="Group 7"/>
            <p:cNvGrpSpPr/>
            <p:nvPr/>
          </p:nvGrpSpPr>
          <p:grpSpPr>
            <a:xfrm>
              <a:off x="279152" y="630203"/>
              <a:ext cx="456256" cy="45625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9" name="TextBox 9"/>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10" name="Group 10"/>
            <p:cNvGrpSpPr/>
            <p:nvPr/>
          </p:nvGrpSpPr>
          <p:grpSpPr>
            <a:xfrm rot="553339">
              <a:off x="7583" y="761446"/>
              <a:ext cx="543138" cy="138439"/>
              <a:chOff x="0" y="0"/>
              <a:chExt cx="147751" cy="37660"/>
            </a:xfrm>
          </p:grpSpPr>
          <p:sp>
            <p:nvSpPr>
              <p:cNvPr id="11" name="Freeform 11"/>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12" name="TextBox 12"/>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13" name="Group 13"/>
            <p:cNvGrpSpPr/>
            <p:nvPr/>
          </p:nvGrpSpPr>
          <p:grpSpPr>
            <a:xfrm>
              <a:off x="279152" y="3296723"/>
              <a:ext cx="456256" cy="456256"/>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15" name="TextBox 15"/>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16" name="Group 16"/>
            <p:cNvGrpSpPr/>
            <p:nvPr/>
          </p:nvGrpSpPr>
          <p:grpSpPr>
            <a:xfrm rot="553339">
              <a:off x="7583" y="3427966"/>
              <a:ext cx="543138" cy="138439"/>
              <a:chOff x="0" y="0"/>
              <a:chExt cx="147751" cy="37660"/>
            </a:xfrm>
          </p:grpSpPr>
          <p:sp>
            <p:nvSpPr>
              <p:cNvPr id="17" name="Freeform 17"/>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18" name="TextBox 18"/>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19" name="Group 19"/>
            <p:cNvGrpSpPr/>
            <p:nvPr/>
          </p:nvGrpSpPr>
          <p:grpSpPr>
            <a:xfrm>
              <a:off x="279152" y="8629761"/>
              <a:ext cx="456256" cy="456256"/>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21" name="TextBox 21"/>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22" name="Group 22"/>
            <p:cNvGrpSpPr/>
            <p:nvPr/>
          </p:nvGrpSpPr>
          <p:grpSpPr>
            <a:xfrm rot="553339">
              <a:off x="7583" y="8761004"/>
              <a:ext cx="543138" cy="138439"/>
              <a:chOff x="0" y="0"/>
              <a:chExt cx="147751" cy="37660"/>
            </a:xfrm>
          </p:grpSpPr>
          <p:sp>
            <p:nvSpPr>
              <p:cNvPr id="23" name="Freeform 23"/>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24" name="TextBox 24"/>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25" name="Group 25"/>
            <p:cNvGrpSpPr/>
            <p:nvPr/>
          </p:nvGrpSpPr>
          <p:grpSpPr>
            <a:xfrm>
              <a:off x="279152" y="4629982"/>
              <a:ext cx="456256" cy="456256"/>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27" name="TextBox 27"/>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28" name="Group 28"/>
            <p:cNvGrpSpPr/>
            <p:nvPr/>
          </p:nvGrpSpPr>
          <p:grpSpPr>
            <a:xfrm rot="553339">
              <a:off x="7583" y="4761225"/>
              <a:ext cx="543138" cy="138439"/>
              <a:chOff x="0" y="0"/>
              <a:chExt cx="147751" cy="37660"/>
            </a:xfrm>
          </p:grpSpPr>
          <p:sp>
            <p:nvSpPr>
              <p:cNvPr id="29" name="Freeform 29"/>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30" name="TextBox 30"/>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31" name="Group 31"/>
            <p:cNvGrpSpPr/>
            <p:nvPr/>
          </p:nvGrpSpPr>
          <p:grpSpPr>
            <a:xfrm>
              <a:off x="279152" y="9963021"/>
              <a:ext cx="456256" cy="456256"/>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33" name="TextBox 33"/>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34" name="Group 34"/>
            <p:cNvGrpSpPr/>
            <p:nvPr/>
          </p:nvGrpSpPr>
          <p:grpSpPr>
            <a:xfrm rot="553339">
              <a:off x="7583" y="10094264"/>
              <a:ext cx="543138" cy="138439"/>
              <a:chOff x="0" y="0"/>
              <a:chExt cx="147751" cy="37660"/>
            </a:xfrm>
          </p:grpSpPr>
          <p:sp>
            <p:nvSpPr>
              <p:cNvPr id="35" name="Freeform 35"/>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36" name="TextBox 36"/>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37" name="Group 37"/>
            <p:cNvGrpSpPr/>
            <p:nvPr/>
          </p:nvGrpSpPr>
          <p:grpSpPr>
            <a:xfrm>
              <a:off x="279152" y="1963463"/>
              <a:ext cx="456256" cy="456256"/>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39" name="TextBox 39"/>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40" name="Group 40"/>
            <p:cNvGrpSpPr/>
            <p:nvPr/>
          </p:nvGrpSpPr>
          <p:grpSpPr>
            <a:xfrm rot="553339">
              <a:off x="7583" y="2094706"/>
              <a:ext cx="543138" cy="138439"/>
              <a:chOff x="0" y="0"/>
              <a:chExt cx="147751" cy="37660"/>
            </a:xfrm>
          </p:grpSpPr>
          <p:sp>
            <p:nvSpPr>
              <p:cNvPr id="41" name="Freeform 41"/>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42" name="TextBox 42"/>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43" name="Group 43"/>
            <p:cNvGrpSpPr/>
            <p:nvPr/>
          </p:nvGrpSpPr>
          <p:grpSpPr>
            <a:xfrm>
              <a:off x="279152" y="5963242"/>
              <a:ext cx="456256" cy="456256"/>
              <a:chOff x="0" y="0"/>
              <a:chExt cx="812800" cy="812800"/>
            </a:xfrm>
          </p:grpSpPr>
          <p:sp>
            <p:nvSpPr>
              <p:cNvPr id="44" name="Freeform 4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45" name="TextBox 45"/>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46" name="Group 46"/>
            <p:cNvGrpSpPr/>
            <p:nvPr/>
          </p:nvGrpSpPr>
          <p:grpSpPr>
            <a:xfrm rot="553339">
              <a:off x="7583" y="6094485"/>
              <a:ext cx="543138" cy="138439"/>
              <a:chOff x="0" y="0"/>
              <a:chExt cx="147751" cy="37660"/>
            </a:xfrm>
          </p:grpSpPr>
          <p:sp>
            <p:nvSpPr>
              <p:cNvPr id="47" name="Freeform 47"/>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48" name="TextBox 48"/>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49" name="Group 49"/>
            <p:cNvGrpSpPr/>
            <p:nvPr/>
          </p:nvGrpSpPr>
          <p:grpSpPr>
            <a:xfrm>
              <a:off x="279152" y="11296281"/>
              <a:ext cx="456256" cy="456256"/>
              <a:chOff x="0" y="0"/>
              <a:chExt cx="812800" cy="812800"/>
            </a:xfrm>
          </p:grpSpPr>
          <p:sp>
            <p:nvSpPr>
              <p:cNvPr id="50" name="Freeform 5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51" name="TextBox 51"/>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52" name="Group 52"/>
            <p:cNvGrpSpPr/>
            <p:nvPr/>
          </p:nvGrpSpPr>
          <p:grpSpPr>
            <a:xfrm rot="553339">
              <a:off x="7583" y="11427524"/>
              <a:ext cx="543138" cy="138439"/>
              <a:chOff x="0" y="0"/>
              <a:chExt cx="147751" cy="37660"/>
            </a:xfrm>
          </p:grpSpPr>
          <p:sp>
            <p:nvSpPr>
              <p:cNvPr id="53" name="Freeform 53"/>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54" name="TextBox 54"/>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55" name="Group 55"/>
            <p:cNvGrpSpPr/>
            <p:nvPr/>
          </p:nvGrpSpPr>
          <p:grpSpPr>
            <a:xfrm>
              <a:off x="279152" y="7296502"/>
              <a:ext cx="456256" cy="456256"/>
              <a:chOff x="0" y="0"/>
              <a:chExt cx="812800" cy="812800"/>
            </a:xfrm>
          </p:grpSpPr>
          <p:sp>
            <p:nvSpPr>
              <p:cNvPr id="56" name="Freeform 5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57" name="TextBox 57"/>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58" name="Group 58"/>
            <p:cNvGrpSpPr/>
            <p:nvPr/>
          </p:nvGrpSpPr>
          <p:grpSpPr>
            <a:xfrm rot="553339">
              <a:off x="7583" y="7427745"/>
              <a:ext cx="543138" cy="138439"/>
              <a:chOff x="0" y="0"/>
              <a:chExt cx="147751" cy="37660"/>
            </a:xfrm>
          </p:grpSpPr>
          <p:sp>
            <p:nvSpPr>
              <p:cNvPr id="59" name="Freeform 59"/>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60" name="TextBox 60"/>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61" name="Group 61"/>
            <p:cNvGrpSpPr/>
            <p:nvPr/>
          </p:nvGrpSpPr>
          <p:grpSpPr>
            <a:xfrm>
              <a:off x="279152" y="12629540"/>
              <a:ext cx="456256" cy="456256"/>
              <a:chOff x="0" y="0"/>
              <a:chExt cx="812800" cy="812800"/>
            </a:xfrm>
          </p:grpSpPr>
          <p:sp>
            <p:nvSpPr>
              <p:cNvPr id="62" name="Freeform 6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63" name="TextBox 63"/>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64" name="Group 64"/>
            <p:cNvGrpSpPr/>
            <p:nvPr/>
          </p:nvGrpSpPr>
          <p:grpSpPr>
            <a:xfrm rot="553339">
              <a:off x="7583" y="12760783"/>
              <a:ext cx="543138" cy="138439"/>
              <a:chOff x="0" y="0"/>
              <a:chExt cx="147751" cy="37660"/>
            </a:xfrm>
          </p:grpSpPr>
          <p:sp>
            <p:nvSpPr>
              <p:cNvPr id="65" name="Freeform 65"/>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66" name="TextBox 66"/>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67" name="Group 67"/>
            <p:cNvGrpSpPr/>
            <p:nvPr/>
          </p:nvGrpSpPr>
          <p:grpSpPr>
            <a:xfrm>
              <a:off x="0" y="13500978"/>
              <a:ext cx="24384000" cy="215022"/>
              <a:chOff x="0" y="0"/>
              <a:chExt cx="4816593" cy="42474"/>
            </a:xfrm>
          </p:grpSpPr>
          <p:sp>
            <p:nvSpPr>
              <p:cNvPr id="68" name="Freeform 68"/>
              <p:cNvSpPr/>
              <p:nvPr/>
            </p:nvSpPr>
            <p:spPr>
              <a:xfrm>
                <a:off x="0" y="0"/>
                <a:ext cx="4816592" cy="42474"/>
              </a:xfrm>
              <a:custGeom>
                <a:avLst/>
                <a:gdLst/>
                <a:ahLst/>
                <a:cxnLst/>
                <a:rect l="l" t="t" r="r" b="b"/>
                <a:pathLst>
                  <a:path w="4816592" h="42474">
                    <a:moveTo>
                      <a:pt x="0" y="0"/>
                    </a:moveTo>
                    <a:lnTo>
                      <a:pt x="4816592" y="0"/>
                    </a:lnTo>
                    <a:lnTo>
                      <a:pt x="4816592" y="42474"/>
                    </a:lnTo>
                    <a:lnTo>
                      <a:pt x="0" y="42474"/>
                    </a:lnTo>
                    <a:close/>
                  </a:path>
                </a:pathLst>
              </a:custGeom>
              <a:solidFill>
                <a:srgbClr val="004AAD"/>
              </a:solidFill>
            </p:spPr>
          </p:sp>
          <p:sp>
            <p:nvSpPr>
              <p:cNvPr id="69" name="TextBox 69"/>
              <p:cNvSpPr txBox="1"/>
              <p:nvPr/>
            </p:nvSpPr>
            <p:spPr>
              <a:xfrm>
                <a:off x="0" y="-38100"/>
                <a:ext cx="4816593" cy="80574"/>
              </a:xfrm>
              <a:prstGeom prst="rect">
                <a:avLst/>
              </a:prstGeom>
            </p:spPr>
            <p:txBody>
              <a:bodyPr lIns="25400" tIns="25400" rIns="25400" bIns="25400"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70" name="Group 70"/>
            <p:cNvGrpSpPr/>
            <p:nvPr/>
          </p:nvGrpSpPr>
          <p:grpSpPr>
            <a:xfrm>
              <a:off x="24148870" y="0"/>
              <a:ext cx="357480" cy="13716000"/>
              <a:chOff x="0" y="0"/>
              <a:chExt cx="70613" cy="2709333"/>
            </a:xfrm>
          </p:grpSpPr>
          <p:sp>
            <p:nvSpPr>
              <p:cNvPr id="71" name="Freeform 71"/>
              <p:cNvSpPr/>
              <p:nvPr/>
            </p:nvSpPr>
            <p:spPr>
              <a:xfrm>
                <a:off x="0" y="0"/>
                <a:ext cx="70613" cy="2709333"/>
              </a:xfrm>
              <a:custGeom>
                <a:avLst/>
                <a:gdLst/>
                <a:ahLst/>
                <a:cxnLst/>
                <a:rect l="l" t="t" r="r" b="b"/>
                <a:pathLst>
                  <a:path w="70613" h="2709333">
                    <a:moveTo>
                      <a:pt x="0" y="0"/>
                    </a:moveTo>
                    <a:lnTo>
                      <a:pt x="70613" y="0"/>
                    </a:lnTo>
                    <a:lnTo>
                      <a:pt x="70613" y="2709333"/>
                    </a:lnTo>
                    <a:lnTo>
                      <a:pt x="0" y="2709333"/>
                    </a:lnTo>
                    <a:close/>
                  </a:path>
                </a:pathLst>
              </a:custGeom>
              <a:solidFill>
                <a:srgbClr val="004AAD"/>
              </a:solidFill>
            </p:spPr>
          </p:sp>
          <p:sp>
            <p:nvSpPr>
              <p:cNvPr id="72" name="TextBox 72"/>
              <p:cNvSpPr txBox="1"/>
              <p:nvPr/>
            </p:nvSpPr>
            <p:spPr>
              <a:xfrm>
                <a:off x="0" y="-38100"/>
                <a:ext cx="70613" cy="2747433"/>
              </a:xfrm>
              <a:prstGeom prst="rect">
                <a:avLst/>
              </a:prstGeom>
            </p:spPr>
            <p:txBody>
              <a:bodyPr lIns="25400" tIns="25400" rIns="25400" bIns="25400"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73" name="Group 73"/>
            <p:cNvGrpSpPr/>
            <p:nvPr/>
          </p:nvGrpSpPr>
          <p:grpSpPr>
            <a:xfrm>
              <a:off x="21623711" y="858331"/>
              <a:ext cx="337709" cy="578975"/>
              <a:chOff x="0" y="0"/>
              <a:chExt cx="796036" cy="1364742"/>
            </a:xfrm>
          </p:grpSpPr>
          <p:sp>
            <p:nvSpPr>
              <p:cNvPr id="74" name="Freeform 74"/>
              <p:cNvSpPr/>
              <p:nvPr/>
            </p:nvSpPr>
            <p:spPr>
              <a:xfrm>
                <a:off x="0" y="0"/>
                <a:ext cx="796036" cy="1364742"/>
              </a:xfrm>
              <a:custGeom>
                <a:avLst/>
                <a:gdLst/>
                <a:ahLst/>
                <a:cxnLst/>
                <a:rect l="l" t="t" r="r" b="b"/>
                <a:pathLst>
                  <a:path w="796036" h="1364742">
                    <a:moveTo>
                      <a:pt x="795401" y="682371"/>
                    </a:moveTo>
                    <a:lnTo>
                      <a:pt x="796036" y="681355"/>
                    </a:lnTo>
                    <a:lnTo>
                      <a:pt x="794893" y="681355"/>
                    </a:lnTo>
                    <a:lnTo>
                      <a:pt x="398018" y="0"/>
                    </a:lnTo>
                    <a:lnTo>
                      <a:pt x="1143" y="681355"/>
                    </a:lnTo>
                    <a:lnTo>
                      <a:pt x="0" y="681355"/>
                    </a:lnTo>
                    <a:lnTo>
                      <a:pt x="635" y="682371"/>
                    </a:lnTo>
                    <a:lnTo>
                      <a:pt x="0" y="683387"/>
                    </a:lnTo>
                    <a:lnTo>
                      <a:pt x="1143" y="683387"/>
                    </a:lnTo>
                    <a:lnTo>
                      <a:pt x="398018" y="1364742"/>
                    </a:lnTo>
                    <a:lnTo>
                      <a:pt x="794893" y="683387"/>
                    </a:lnTo>
                    <a:lnTo>
                      <a:pt x="796036" y="683387"/>
                    </a:lnTo>
                    <a:lnTo>
                      <a:pt x="795401" y="682371"/>
                    </a:lnTo>
                    <a:close/>
                  </a:path>
                </a:pathLst>
              </a:custGeom>
              <a:solidFill>
                <a:srgbClr val="004AAD"/>
              </a:solidFill>
            </p:spPr>
          </p:sp>
        </p:grpSp>
        <p:grpSp>
          <p:nvGrpSpPr>
            <p:cNvPr id="75" name="Group 75"/>
            <p:cNvGrpSpPr/>
            <p:nvPr/>
          </p:nvGrpSpPr>
          <p:grpSpPr>
            <a:xfrm>
              <a:off x="22233628" y="858331"/>
              <a:ext cx="337709" cy="578975"/>
              <a:chOff x="0" y="0"/>
              <a:chExt cx="796036" cy="1364742"/>
            </a:xfrm>
          </p:grpSpPr>
          <p:sp>
            <p:nvSpPr>
              <p:cNvPr id="76" name="Freeform 76"/>
              <p:cNvSpPr/>
              <p:nvPr/>
            </p:nvSpPr>
            <p:spPr>
              <a:xfrm>
                <a:off x="0" y="0"/>
                <a:ext cx="796036" cy="1364742"/>
              </a:xfrm>
              <a:custGeom>
                <a:avLst/>
                <a:gdLst/>
                <a:ahLst/>
                <a:cxnLst/>
                <a:rect l="l" t="t" r="r" b="b"/>
                <a:pathLst>
                  <a:path w="796036" h="1364742">
                    <a:moveTo>
                      <a:pt x="795401" y="682371"/>
                    </a:moveTo>
                    <a:lnTo>
                      <a:pt x="796036" y="681355"/>
                    </a:lnTo>
                    <a:lnTo>
                      <a:pt x="794893" y="681355"/>
                    </a:lnTo>
                    <a:lnTo>
                      <a:pt x="398018" y="0"/>
                    </a:lnTo>
                    <a:lnTo>
                      <a:pt x="1143" y="681355"/>
                    </a:lnTo>
                    <a:lnTo>
                      <a:pt x="0" y="681355"/>
                    </a:lnTo>
                    <a:lnTo>
                      <a:pt x="635" y="682371"/>
                    </a:lnTo>
                    <a:lnTo>
                      <a:pt x="0" y="683387"/>
                    </a:lnTo>
                    <a:lnTo>
                      <a:pt x="1143" y="683387"/>
                    </a:lnTo>
                    <a:lnTo>
                      <a:pt x="398018" y="1364742"/>
                    </a:lnTo>
                    <a:lnTo>
                      <a:pt x="794893" y="683387"/>
                    </a:lnTo>
                    <a:lnTo>
                      <a:pt x="796036" y="683387"/>
                    </a:lnTo>
                    <a:lnTo>
                      <a:pt x="795401" y="682371"/>
                    </a:lnTo>
                    <a:close/>
                  </a:path>
                </a:pathLst>
              </a:custGeom>
              <a:solidFill>
                <a:srgbClr val="004AAD"/>
              </a:solidFill>
            </p:spPr>
          </p:sp>
        </p:grpSp>
        <p:grpSp>
          <p:nvGrpSpPr>
            <p:cNvPr id="77" name="Group 77"/>
            <p:cNvGrpSpPr/>
            <p:nvPr/>
          </p:nvGrpSpPr>
          <p:grpSpPr>
            <a:xfrm>
              <a:off x="22843546" y="858331"/>
              <a:ext cx="337709" cy="578975"/>
              <a:chOff x="0" y="0"/>
              <a:chExt cx="796036" cy="1364742"/>
            </a:xfrm>
          </p:grpSpPr>
          <p:sp>
            <p:nvSpPr>
              <p:cNvPr id="78" name="Freeform 78"/>
              <p:cNvSpPr/>
              <p:nvPr/>
            </p:nvSpPr>
            <p:spPr>
              <a:xfrm>
                <a:off x="0" y="0"/>
                <a:ext cx="796036" cy="1364742"/>
              </a:xfrm>
              <a:custGeom>
                <a:avLst/>
                <a:gdLst/>
                <a:ahLst/>
                <a:cxnLst/>
                <a:rect l="l" t="t" r="r" b="b"/>
                <a:pathLst>
                  <a:path w="796036" h="1364742">
                    <a:moveTo>
                      <a:pt x="795401" y="682371"/>
                    </a:moveTo>
                    <a:lnTo>
                      <a:pt x="796036" y="681355"/>
                    </a:lnTo>
                    <a:lnTo>
                      <a:pt x="794893" y="681355"/>
                    </a:lnTo>
                    <a:lnTo>
                      <a:pt x="398018" y="0"/>
                    </a:lnTo>
                    <a:lnTo>
                      <a:pt x="1143" y="681355"/>
                    </a:lnTo>
                    <a:lnTo>
                      <a:pt x="0" y="681355"/>
                    </a:lnTo>
                    <a:lnTo>
                      <a:pt x="635" y="682371"/>
                    </a:lnTo>
                    <a:lnTo>
                      <a:pt x="0" y="683387"/>
                    </a:lnTo>
                    <a:lnTo>
                      <a:pt x="1143" y="683387"/>
                    </a:lnTo>
                    <a:lnTo>
                      <a:pt x="398018" y="1364742"/>
                    </a:lnTo>
                    <a:lnTo>
                      <a:pt x="794893" y="683387"/>
                    </a:lnTo>
                    <a:lnTo>
                      <a:pt x="796036" y="683387"/>
                    </a:lnTo>
                    <a:lnTo>
                      <a:pt x="795401" y="682371"/>
                    </a:lnTo>
                    <a:close/>
                  </a:path>
                </a:pathLst>
              </a:custGeom>
              <a:solidFill>
                <a:srgbClr val="004AAD"/>
              </a:solidFill>
            </p:spPr>
          </p:sp>
        </p:grpSp>
      </p:grpSp>
      <p:grpSp>
        <p:nvGrpSpPr>
          <p:cNvPr id="111" name="组合 110"/>
          <p:cNvGrpSpPr/>
          <p:nvPr/>
        </p:nvGrpSpPr>
        <p:grpSpPr>
          <a:xfrm>
            <a:off x="467360" y="-387131"/>
            <a:ext cx="6864685" cy="1288195"/>
            <a:chOff x="1560" y="-1271"/>
            <a:chExt cx="21621" cy="4057"/>
          </a:xfrm>
        </p:grpSpPr>
        <p:sp>
          <p:nvSpPr>
            <p:cNvPr id="119" name="TextBox 113"/>
            <p:cNvSpPr txBox="1"/>
            <p:nvPr/>
          </p:nvSpPr>
          <p:spPr>
            <a:xfrm>
              <a:off x="4288" y="-1271"/>
              <a:ext cx="18893" cy="4006"/>
            </a:xfrm>
            <a:prstGeom prst="rect">
              <a:avLst/>
            </a:prstGeom>
          </p:spPr>
          <p:txBody>
            <a:bodyPr wrap="square" lIns="0" tIns="0" rIns="0" bIns="0" rtlCol="0" anchor="t">
              <a:spAutoFit/>
            </a:bodyPr>
            <a:lstStyle/>
            <a:p>
              <a:pPr algn="l">
                <a:lnSpc>
                  <a:spcPts val="9920"/>
                </a:lnSpc>
              </a:pPr>
              <a:r>
                <a:rPr lang="zh-CN" altLang="en-US" sz="2000" dirty="0">
                  <a:solidFill>
                    <a:srgbClr val="004AAD"/>
                  </a:solidFill>
                  <a:latin typeface="微软雅黑" panose="020B0503020204020204" charset="-122"/>
                  <a:ea typeface="微软雅黑" panose="020B0503020204020204" charset="-122"/>
                  <a:cs typeface="微软雅黑" panose="020B0503020204020204" charset="-122"/>
                  <a:sym typeface="微软雅黑" panose="020B0503020204020204" charset="-122"/>
                </a:rPr>
                <a:t>常用工具使用方法（以国内</a:t>
              </a:r>
              <a:r>
                <a:rPr lang="en-US" altLang="zh-CN" sz="2000" dirty="0">
                  <a:solidFill>
                    <a:srgbClr val="004AAD"/>
                  </a:solidFill>
                  <a:latin typeface="微软雅黑" panose="020B0503020204020204" charset="-122"/>
                  <a:ea typeface="微软雅黑" panose="020B0503020204020204" charset="-122"/>
                  <a:cs typeface="微软雅黑" panose="020B0503020204020204" charset="-122"/>
                  <a:sym typeface="微软雅黑" panose="020B0503020204020204" charset="-122"/>
                </a:rPr>
                <a:t>Trae</a:t>
              </a:r>
              <a:r>
                <a:rPr lang="zh-CN" altLang="en-US" sz="2000" dirty="0">
                  <a:solidFill>
                    <a:srgbClr val="004AAD"/>
                  </a:solidFill>
                  <a:latin typeface="微软雅黑" panose="020B0503020204020204" charset="-122"/>
                  <a:ea typeface="微软雅黑" panose="020B0503020204020204" charset="-122"/>
                  <a:cs typeface="微软雅黑" panose="020B0503020204020204" charset="-122"/>
                  <a:sym typeface="微软雅黑" panose="020B0503020204020204" charset="-122"/>
                </a:rPr>
                <a:t>为例）</a:t>
              </a:r>
              <a:endParaRPr lang="zh-CN" altLang="en-US" sz="2000" dirty="0">
                <a:solidFill>
                  <a:srgbClr val="004AAD"/>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18" name="图片 136" descr="仅校徽"/>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60" y="686"/>
              <a:ext cx="2100" cy="2100"/>
            </a:xfrm>
            <a:prstGeom prst="rect">
              <a:avLst/>
            </a:prstGeom>
          </p:spPr>
        </p:pic>
      </p:grpSp>
      <p:sp>
        <p:nvSpPr>
          <p:cNvPr id="81" name="TextBox 92"/>
          <p:cNvSpPr txBox="1"/>
          <p:nvPr/>
        </p:nvSpPr>
        <p:spPr>
          <a:xfrm>
            <a:off x="571500" y="5056188"/>
            <a:ext cx="7587615" cy="206058"/>
          </a:xfrm>
          <a:prstGeom prst="rect">
            <a:avLst/>
          </a:prstGeom>
        </p:spPr>
        <p:txBody>
          <a:bodyPr wrap="square" lIns="0" tIns="0" rIns="0" bIns="0" rtlCol="0" anchor="t">
            <a:noAutofit/>
          </a:bodyPr>
          <a:lstStyle/>
          <a:p>
            <a:pPr algn="ctr">
              <a:lnSpc>
                <a:spcPts val="3040"/>
              </a:lnSpc>
            </a:pPr>
            <a:r>
              <a:rPr lang="en-US" altLang="zh-CN"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Trae</a:t>
            </a:r>
            <a:r>
              <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主界面，通过点击新建文件或者打开已有项目的文件夹便可进行代码编写</a:t>
            </a:r>
            <a:endParaRPr lang="en-US" altLang="zh-CN"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lnSpc>
                <a:spcPts val="3040"/>
              </a:lnSpc>
            </a:pPr>
            <a:endPar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80" name="图片 79"/>
          <p:cNvPicPr>
            <a:picLocks noChangeAspect="1"/>
          </p:cNvPicPr>
          <p:nvPr/>
        </p:nvPicPr>
        <p:blipFill>
          <a:blip r:embed="rId4"/>
          <a:stretch>
            <a:fillRect/>
          </a:stretch>
        </p:blipFill>
        <p:spPr>
          <a:xfrm>
            <a:off x="1333500" y="1136015"/>
            <a:ext cx="6172200" cy="3858895"/>
          </a:xfrm>
          <a:prstGeom prst="rect">
            <a:avLst/>
          </a:prstGeom>
        </p:spPr>
      </p:pic>
      <p:cxnSp>
        <p:nvCxnSpPr>
          <p:cNvPr id="82" name="直接箭头连接符 81"/>
          <p:cNvCxnSpPr/>
          <p:nvPr/>
        </p:nvCxnSpPr>
        <p:spPr>
          <a:xfrm flipV="1">
            <a:off x="1066800" y="1326515"/>
            <a:ext cx="419100" cy="342900"/>
          </a:xfrm>
          <a:prstGeom prst="straightConnector1">
            <a:avLst/>
          </a:prstGeom>
          <a:ln>
            <a:solidFill>
              <a:srgbClr val="FF0000"/>
            </a:solidFill>
            <a:tailEnd type="arrow" w="med" len="med"/>
          </a:ln>
        </p:spPr>
        <p:style>
          <a:lnRef idx="3">
            <a:schemeClr val="accent1"/>
          </a:lnRef>
          <a:fillRef idx="0">
            <a:srgbClr val="FFFFFF"/>
          </a:fillRef>
          <a:effectRef idx="0">
            <a:srgbClr val="FFFFFF"/>
          </a:effectRef>
          <a:fontRef idx="minor">
            <a:schemeClr val="tx1"/>
          </a:fontRef>
        </p:style>
      </p:cxnSp>
      <p:sp>
        <p:nvSpPr>
          <p:cNvPr id="84" name="TextBox 92"/>
          <p:cNvSpPr txBox="1"/>
          <p:nvPr/>
        </p:nvSpPr>
        <p:spPr>
          <a:xfrm>
            <a:off x="304800" y="1599248"/>
            <a:ext cx="795655" cy="1179513"/>
          </a:xfrm>
          <a:prstGeom prst="rect">
            <a:avLst/>
          </a:prstGeom>
        </p:spPr>
        <p:txBody>
          <a:bodyPr wrap="square" lIns="0" tIns="0" rIns="0" bIns="0" rtlCol="0" anchor="t">
            <a:noAutofit/>
          </a:bodyPr>
          <a:lstStyle/>
          <a:p>
            <a:pPr algn="ctr">
              <a:lnSpc>
                <a:spcPts val="3040"/>
              </a:lnSpc>
            </a:pPr>
            <a:r>
              <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左上角已经推出</a:t>
            </a:r>
            <a:r>
              <a:rPr lang="en-US" altLang="zh-CN"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SOLO</a:t>
            </a:r>
            <a:r>
              <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模式，可以直接点击切换，</a:t>
            </a:r>
            <a:r>
              <a:rPr lang="en-US" altLang="zh-CN"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SOLO</a:t>
            </a:r>
            <a:r>
              <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模式支持全</a:t>
            </a:r>
            <a:r>
              <a:rPr lang="en-US" altLang="zh-CN"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ai</a:t>
            </a:r>
            <a:r>
              <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操作</a:t>
            </a:r>
            <a:endParaRPr lang="en-US" altLang="zh-CN"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lnSpc>
                <a:spcPts val="3040"/>
              </a:lnSpc>
            </a:pPr>
            <a:endPar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85" name="直接箭头连接符 84"/>
          <p:cNvCxnSpPr/>
          <p:nvPr/>
        </p:nvCxnSpPr>
        <p:spPr>
          <a:xfrm flipH="1">
            <a:off x="6972300" y="4222115"/>
            <a:ext cx="762000" cy="266700"/>
          </a:xfrm>
          <a:prstGeom prst="straightConnector1">
            <a:avLst/>
          </a:prstGeom>
          <a:ln>
            <a:solidFill>
              <a:srgbClr val="FF0000"/>
            </a:solidFill>
            <a:tailEnd type="arrow" w="med" len="med"/>
          </a:ln>
        </p:spPr>
        <p:style>
          <a:lnRef idx="3">
            <a:schemeClr val="accent1"/>
          </a:lnRef>
          <a:fillRef idx="0">
            <a:srgbClr val="FFFFFF"/>
          </a:fillRef>
          <a:effectRef idx="0">
            <a:srgbClr val="FFFFFF"/>
          </a:effectRef>
          <a:fontRef idx="minor">
            <a:schemeClr val="tx1"/>
          </a:fontRef>
        </p:style>
      </p:cxnSp>
      <p:sp>
        <p:nvSpPr>
          <p:cNvPr id="86" name="TextBox 92"/>
          <p:cNvSpPr txBox="1"/>
          <p:nvPr/>
        </p:nvSpPr>
        <p:spPr>
          <a:xfrm>
            <a:off x="7792085" y="3708400"/>
            <a:ext cx="900748" cy="1179513"/>
          </a:xfrm>
          <a:prstGeom prst="rect">
            <a:avLst/>
          </a:prstGeom>
        </p:spPr>
        <p:txBody>
          <a:bodyPr wrap="square" lIns="0" tIns="0" rIns="0" bIns="0" rtlCol="0" anchor="t">
            <a:noAutofit/>
          </a:bodyPr>
          <a:lstStyle/>
          <a:p>
            <a:pPr algn="ctr">
              <a:lnSpc>
                <a:spcPts val="3040"/>
              </a:lnSpc>
            </a:pPr>
            <a:r>
              <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右侧为</a:t>
            </a:r>
            <a:r>
              <a:rPr lang="en-US" altLang="zh-CN"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ai Builder </a:t>
            </a:r>
            <a:r>
              <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，为常见的与</a:t>
            </a:r>
            <a:r>
              <a:rPr lang="en-US" altLang="zh-CN"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ai</a:t>
            </a:r>
            <a:r>
              <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对话的方式进行编写代码，提高效率</a:t>
            </a:r>
            <a:endParaRPr lang="en-US" altLang="zh-CN"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lnSpc>
                <a:spcPts val="3040"/>
              </a:lnSpc>
            </a:pPr>
            <a:endPar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87" name="直接箭头连接符 86"/>
          <p:cNvCxnSpPr/>
          <p:nvPr/>
        </p:nvCxnSpPr>
        <p:spPr>
          <a:xfrm flipH="1" flipV="1">
            <a:off x="6705600" y="1326515"/>
            <a:ext cx="1066800" cy="266700"/>
          </a:xfrm>
          <a:prstGeom prst="straightConnector1">
            <a:avLst/>
          </a:prstGeom>
          <a:ln>
            <a:solidFill>
              <a:srgbClr val="FF0000"/>
            </a:solidFill>
            <a:tailEnd type="arrow" w="med" len="med"/>
          </a:ln>
        </p:spPr>
        <p:style>
          <a:lnRef idx="3">
            <a:schemeClr val="accent1"/>
          </a:lnRef>
          <a:fillRef idx="0">
            <a:srgbClr val="FFFFFF"/>
          </a:fillRef>
          <a:effectRef idx="0">
            <a:srgbClr val="FFFFFF"/>
          </a:effectRef>
          <a:fontRef idx="minor">
            <a:schemeClr val="tx1"/>
          </a:fontRef>
        </p:style>
      </p:cxnSp>
      <p:sp>
        <p:nvSpPr>
          <p:cNvPr id="88" name="TextBox 92"/>
          <p:cNvSpPr txBox="1"/>
          <p:nvPr/>
        </p:nvSpPr>
        <p:spPr>
          <a:xfrm>
            <a:off x="7848600" y="1444943"/>
            <a:ext cx="900748" cy="713105"/>
          </a:xfrm>
          <a:prstGeom prst="rect">
            <a:avLst/>
          </a:prstGeom>
        </p:spPr>
        <p:txBody>
          <a:bodyPr wrap="square" lIns="0" tIns="0" rIns="0" bIns="0" rtlCol="0" anchor="t">
            <a:noAutofit/>
          </a:bodyPr>
          <a:lstStyle/>
          <a:p>
            <a:pPr algn="ctr">
              <a:lnSpc>
                <a:spcPts val="3040"/>
              </a:lnSpc>
            </a:pPr>
            <a:r>
              <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设置部分可以编辑环境变量与编辑代码解释器等</a:t>
            </a:r>
            <a:endPar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89" name="直接箭头连接符 88"/>
          <p:cNvCxnSpPr/>
          <p:nvPr/>
        </p:nvCxnSpPr>
        <p:spPr>
          <a:xfrm flipV="1">
            <a:off x="1219200" y="3688715"/>
            <a:ext cx="1295400" cy="800100"/>
          </a:xfrm>
          <a:prstGeom prst="straightConnector1">
            <a:avLst/>
          </a:prstGeom>
          <a:ln>
            <a:solidFill>
              <a:srgbClr val="FF0000"/>
            </a:solidFill>
            <a:tailEnd type="arrow" w="med" len="med"/>
          </a:ln>
        </p:spPr>
        <p:style>
          <a:lnRef idx="3">
            <a:schemeClr val="accent1"/>
          </a:lnRef>
          <a:fillRef idx="0">
            <a:srgbClr val="FFFFFF"/>
          </a:fillRef>
          <a:effectRef idx="0">
            <a:srgbClr val="FFFFFF"/>
          </a:effectRef>
          <a:fontRef idx="minor">
            <a:schemeClr val="tx1"/>
          </a:fontRef>
        </p:style>
      </p:cxnSp>
      <p:sp>
        <p:nvSpPr>
          <p:cNvPr id="90" name="TextBox 92"/>
          <p:cNvSpPr txBox="1"/>
          <p:nvPr/>
        </p:nvSpPr>
        <p:spPr>
          <a:xfrm>
            <a:off x="366395" y="4069715"/>
            <a:ext cx="795655" cy="906145"/>
          </a:xfrm>
          <a:prstGeom prst="rect">
            <a:avLst/>
          </a:prstGeom>
        </p:spPr>
        <p:txBody>
          <a:bodyPr wrap="square" lIns="0" tIns="0" rIns="0" bIns="0" rtlCol="0" anchor="t">
            <a:noAutofit/>
          </a:bodyPr>
          <a:lstStyle/>
          <a:p>
            <a:pPr algn="ctr">
              <a:lnSpc>
                <a:spcPts val="3040"/>
              </a:lnSpc>
            </a:pPr>
            <a:r>
              <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代码主要编辑部分，负责查看代码与代码运行调试</a:t>
            </a:r>
            <a:endParaRPr lang="en-US" altLang="zh-CN"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lnSpc>
                <a:spcPts val="3040"/>
              </a:lnSpc>
            </a:pPr>
            <a:endPar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57250"/>
            <a:ext cx="9144000" cy="51435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38888" b="-38888"/>
            </a:stretch>
          </a:blipFill>
        </p:spPr>
      </p:sp>
      <p:grpSp>
        <p:nvGrpSpPr>
          <p:cNvPr id="3" name="Group 3"/>
          <p:cNvGrpSpPr/>
          <p:nvPr/>
        </p:nvGrpSpPr>
        <p:grpSpPr>
          <a:xfrm>
            <a:off x="0" y="857250"/>
            <a:ext cx="9189882" cy="5143500"/>
            <a:chOff x="0" y="0"/>
            <a:chExt cx="24506350" cy="13716000"/>
          </a:xfrm>
        </p:grpSpPr>
        <p:grpSp>
          <p:nvGrpSpPr>
            <p:cNvPr id="4" name="Group 4"/>
            <p:cNvGrpSpPr/>
            <p:nvPr/>
          </p:nvGrpSpPr>
          <p:grpSpPr>
            <a:xfrm>
              <a:off x="0" y="0"/>
              <a:ext cx="24384000" cy="215022"/>
              <a:chOff x="0" y="0"/>
              <a:chExt cx="4816593" cy="42474"/>
            </a:xfrm>
          </p:grpSpPr>
          <p:sp>
            <p:nvSpPr>
              <p:cNvPr id="5" name="Freeform 5"/>
              <p:cNvSpPr/>
              <p:nvPr/>
            </p:nvSpPr>
            <p:spPr>
              <a:xfrm>
                <a:off x="0" y="0"/>
                <a:ext cx="4816592" cy="42474"/>
              </a:xfrm>
              <a:custGeom>
                <a:avLst/>
                <a:gdLst/>
                <a:ahLst/>
                <a:cxnLst/>
                <a:rect l="l" t="t" r="r" b="b"/>
                <a:pathLst>
                  <a:path w="4816592" h="42474">
                    <a:moveTo>
                      <a:pt x="0" y="0"/>
                    </a:moveTo>
                    <a:lnTo>
                      <a:pt x="4816592" y="0"/>
                    </a:lnTo>
                    <a:lnTo>
                      <a:pt x="4816592" y="42474"/>
                    </a:lnTo>
                    <a:lnTo>
                      <a:pt x="0" y="42474"/>
                    </a:lnTo>
                    <a:close/>
                  </a:path>
                </a:pathLst>
              </a:custGeom>
              <a:solidFill>
                <a:srgbClr val="004AAD"/>
              </a:solidFill>
            </p:spPr>
          </p:sp>
          <p:sp>
            <p:nvSpPr>
              <p:cNvPr id="6" name="TextBox 6"/>
              <p:cNvSpPr txBox="1"/>
              <p:nvPr/>
            </p:nvSpPr>
            <p:spPr>
              <a:xfrm>
                <a:off x="0" y="-38100"/>
                <a:ext cx="4816593" cy="80574"/>
              </a:xfrm>
              <a:prstGeom prst="rect">
                <a:avLst/>
              </a:prstGeom>
            </p:spPr>
            <p:txBody>
              <a:bodyPr lIns="25400" tIns="25400" rIns="25400" bIns="25400"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7" name="Group 7"/>
            <p:cNvGrpSpPr/>
            <p:nvPr/>
          </p:nvGrpSpPr>
          <p:grpSpPr>
            <a:xfrm>
              <a:off x="279152" y="630203"/>
              <a:ext cx="456256" cy="45625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9" name="TextBox 9"/>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10" name="Group 10"/>
            <p:cNvGrpSpPr/>
            <p:nvPr/>
          </p:nvGrpSpPr>
          <p:grpSpPr>
            <a:xfrm rot="553339">
              <a:off x="7583" y="761446"/>
              <a:ext cx="543138" cy="138439"/>
              <a:chOff x="0" y="0"/>
              <a:chExt cx="147751" cy="37660"/>
            </a:xfrm>
          </p:grpSpPr>
          <p:sp>
            <p:nvSpPr>
              <p:cNvPr id="11" name="Freeform 11"/>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12" name="TextBox 12"/>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13" name="Group 13"/>
            <p:cNvGrpSpPr/>
            <p:nvPr/>
          </p:nvGrpSpPr>
          <p:grpSpPr>
            <a:xfrm>
              <a:off x="279152" y="3296723"/>
              <a:ext cx="456256" cy="456256"/>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15" name="TextBox 15"/>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16" name="Group 16"/>
            <p:cNvGrpSpPr/>
            <p:nvPr/>
          </p:nvGrpSpPr>
          <p:grpSpPr>
            <a:xfrm rot="553339">
              <a:off x="7583" y="3427966"/>
              <a:ext cx="543138" cy="138439"/>
              <a:chOff x="0" y="0"/>
              <a:chExt cx="147751" cy="37660"/>
            </a:xfrm>
          </p:grpSpPr>
          <p:sp>
            <p:nvSpPr>
              <p:cNvPr id="17" name="Freeform 17"/>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18" name="TextBox 18"/>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19" name="Group 19"/>
            <p:cNvGrpSpPr/>
            <p:nvPr/>
          </p:nvGrpSpPr>
          <p:grpSpPr>
            <a:xfrm>
              <a:off x="279152" y="8629761"/>
              <a:ext cx="456256" cy="456256"/>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21" name="TextBox 21"/>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22" name="Group 22"/>
            <p:cNvGrpSpPr/>
            <p:nvPr/>
          </p:nvGrpSpPr>
          <p:grpSpPr>
            <a:xfrm rot="553339">
              <a:off x="7583" y="8761004"/>
              <a:ext cx="543138" cy="138439"/>
              <a:chOff x="0" y="0"/>
              <a:chExt cx="147751" cy="37660"/>
            </a:xfrm>
          </p:grpSpPr>
          <p:sp>
            <p:nvSpPr>
              <p:cNvPr id="23" name="Freeform 23"/>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24" name="TextBox 24"/>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25" name="Group 25"/>
            <p:cNvGrpSpPr/>
            <p:nvPr/>
          </p:nvGrpSpPr>
          <p:grpSpPr>
            <a:xfrm>
              <a:off x="279152" y="4629982"/>
              <a:ext cx="456256" cy="456256"/>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27" name="TextBox 27"/>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28" name="Group 28"/>
            <p:cNvGrpSpPr/>
            <p:nvPr/>
          </p:nvGrpSpPr>
          <p:grpSpPr>
            <a:xfrm rot="553339">
              <a:off x="7583" y="4761225"/>
              <a:ext cx="543138" cy="138439"/>
              <a:chOff x="0" y="0"/>
              <a:chExt cx="147751" cy="37660"/>
            </a:xfrm>
          </p:grpSpPr>
          <p:sp>
            <p:nvSpPr>
              <p:cNvPr id="29" name="Freeform 29"/>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30" name="TextBox 30"/>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31" name="Group 31"/>
            <p:cNvGrpSpPr/>
            <p:nvPr/>
          </p:nvGrpSpPr>
          <p:grpSpPr>
            <a:xfrm>
              <a:off x="279152" y="9963021"/>
              <a:ext cx="456256" cy="456256"/>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33" name="TextBox 33"/>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34" name="Group 34"/>
            <p:cNvGrpSpPr/>
            <p:nvPr/>
          </p:nvGrpSpPr>
          <p:grpSpPr>
            <a:xfrm rot="553339">
              <a:off x="7583" y="10094264"/>
              <a:ext cx="543138" cy="138439"/>
              <a:chOff x="0" y="0"/>
              <a:chExt cx="147751" cy="37660"/>
            </a:xfrm>
          </p:grpSpPr>
          <p:sp>
            <p:nvSpPr>
              <p:cNvPr id="35" name="Freeform 35"/>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36" name="TextBox 36"/>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37" name="Group 37"/>
            <p:cNvGrpSpPr/>
            <p:nvPr/>
          </p:nvGrpSpPr>
          <p:grpSpPr>
            <a:xfrm>
              <a:off x="279152" y="1963463"/>
              <a:ext cx="456256" cy="456256"/>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39" name="TextBox 39"/>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40" name="Group 40"/>
            <p:cNvGrpSpPr/>
            <p:nvPr/>
          </p:nvGrpSpPr>
          <p:grpSpPr>
            <a:xfrm rot="553339">
              <a:off x="7583" y="2094706"/>
              <a:ext cx="543138" cy="138439"/>
              <a:chOff x="0" y="0"/>
              <a:chExt cx="147751" cy="37660"/>
            </a:xfrm>
          </p:grpSpPr>
          <p:sp>
            <p:nvSpPr>
              <p:cNvPr id="41" name="Freeform 41"/>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42" name="TextBox 42"/>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43" name="Group 43"/>
            <p:cNvGrpSpPr/>
            <p:nvPr/>
          </p:nvGrpSpPr>
          <p:grpSpPr>
            <a:xfrm>
              <a:off x="279152" y="5963242"/>
              <a:ext cx="456256" cy="456256"/>
              <a:chOff x="0" y="0"/>
              <a:chExt cx="812800" cy="812800"/>
            </a:xfrm>
          </p:grpSpPr>
          <p:sp>
            <p:nvSpPr>
              <p:cNvPr id="44" name="Freeform 4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45" name="TextBox 45"/>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46" name="Group 46"/>
            <p:cNvGrpSpPr/>
            <p:nvPr/>
          </p:nvGrpSpPr>
          <p:grpSpPr>
            <a:xfrm rot="553339">
              <a:off x="7583" y="6094485"/>
              <a:ext cx="543138" cy="138439"/>
              <a:chOff x="0" y="0"/>
              <a:chExt cx="147751" cy="37660"/>
            </a:xfrm>
          </p:grpSpPr>
          <p:sp>
            <p:nvSpPr>
              <p:cNvPr id="47" name="Freeform 47"/>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48" name="TextBox 48"/>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49" name="Group 49"/>
            <p:cNvGrpSpPr/>
            <p:nvPr/>
          </p:nvGrpSpPr>
          <p:grpSpPr>
            <a:xfrm>
              <a:off x="279152" y="11296281"/>
              <a:ext cx="456256" cy="456256"/>
              <a:chOff x="0" y="0"/>
              <a:chExt cx="812800" cy="812800"/>
            </a:xfrm>
          </p:grpSpPr>
          <p:sp>
            <p:nvSpPr>
              <p:cNvPr id="50" name="Freeform 5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51" name="TextBox 51"/>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52" name="Group 52"/>
            <p:cNvGrpSpPr/>
            <p:nvPr/>
          </p:nvGrpSpPr>
          <p:grpSpPr>
            <a:xfrm rot="553339">
              <a:off x="7583" y="11427524"/>
              <a:ext cx="543138" cy="138439"/>
              <a:chOff x="0" y="0"/>
              <a:chExt cx="147751" cy="37660"/>
            </a:xfrm>
          </p:grpSpPr>
          <p:sp>
            <p:nvSpPr>
              <p:cNvPr id="53" name="Freeform 53"/>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54" name="TextBox 54"/>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55" name="Group 55"/>
            <p:cNvGrpSpPr/>
            <p:nvPr/>
          </p:nvGrpSpPr>
          <p:grpSpPr>
            <a:xfrm>
              <a:off x="279152" y="7296502"/>
              <a:ext cx="456256" cy="456256"/>
              <a:chOff x="0" y="0"/>
              <a:chExt cx="812800" cy="812800"/>
            </a:xfrm>
          </p:grpSpPr>
          <p:sp>
            <p:nvSpPr>
              <p:cNvPr id="56" name="Freeform 5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57" name="TextBox 57"/>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58" name="Group 58"/>
            <p:cNvGrpSpPr/>
            <p:nvPr/>
          </p:nvGrpSpPr>
          <p:grpSpPr>
            <a:xfrm rot="553339">
              <a:off x="7583" y="7427745"/>
              <a:ext cx="543138" cy="138439"/>
              <a:chOff x="0" y="0"/>
              <a:chExt cx="147751" cy="37660"/>
            </a:xfrm>
          </p:grpSpPr>
          <p:sp>
            <p:nvSpPr>
              <p:cNvPr id="59" name="Freeform 59"/>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60" name="TextBox 60"/>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61" name="Group 61"/>
            <p:cNvGrpSpPr/>
            <p:nvPr/>
          </p:nvGrpSpPr>
          <p:grpSpPr>
            <a:xfrm>
              <a:off x="279152" y="12629540"/>
              <a:ext cx="456256" cy="456256"/>
              <a:chOff x="0" y="0"/>
              <a:chExt cx="812800" cy="812800"/>
            </a:xfrm>
          </p:grpSpPr>
          <p:sp>
            <p:nvSpPr>
              <p:cNvPr id="62" name="Freeform 6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63" name="TextBox 63"/>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64" name="Group 64"/>
            <p:cNvGrpSpPr/>
            <p:nvPr/>
          </p:nvGrpSpPr>
          <p:grpSpPr>
            <a:xfrm rot="553339">
              <a:off x="7583" y="12760783"/>
              <a:ext cx="543138" cy="138439"/>
              <a:chOff x="0" y="0"/>
              <a:chExt cx="147751" cy="37660"/>
            </a:xfrm>
          </p:grpSpPr>
          <p:sp>
            <p:nvSpPr>
              <p:cNvPr id="65" name="Freeform 65"/>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66" name="TextBox 66"/>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67" name="Group 67"/>
            <p:cNvGrpSpPr/>
            <p:nvPr/>
          </p:nvGrpSpPr>
          <p:grpSpPr>
            <a:xfrm>
              <a:off x="0" y="13500978"/>
              <a:ext cx="24384000" cy="215022"/>
              <a:chOff x="0" y="0"/>
              <a:chExt cx="4816593" cy="42474"/>
            </a:xfrm>
          </p:grpSpPr>
          <p:sp>
            <p:nvSpPr>
              <p:cNvPr id="68" name="Freeform 68"/>
              <p:cNvSpPr/>
              <p:nvPr/>
            </p:nvSpPr>
            <p:spPr>
              <a:xfrm>
                <a:off x="0" y="0"/>
                <a:ext cx="4816592" cy="42474"/>
              </a:xfrm>
              <a:custGeom>
                <a:avLst/>
                <a:gdLst/>
                <a:ahLst/>
                <a:cxnLst/>
                <a:rect l="l" t="t" r="r" b="b"/>
                <a:pathLst>
                  <a:path w="4816592" h="42474">
                    <a:moveTo>
                      <a:pt x="0" y="0"/>
                    </a:moveTo>
                    <a:lnTo>
                      <a:pt x="4816592" y="0"/>
                    </a:lnTo>
                    <a:lnTo>
                      <a:pt x="4816592" y="42474"/>
                    </a:lnTo>
                    <a:lnTo>
                      <a:pt x="0" y="42474"/>
                    </a:lnTo>
                    <a:close/>
                  </a:path>
                </a:pathLst>
              </a:custGeom>
              <a:solidFill>
                <a:srgbClr val="004AAD"/>
              </a:solidFill>
            </p:spPr>
          </p:sp>
          <p:sp>
            <p:nvSpPr>
              <p:cNvPr id="69" name="TextBox 69"/>
              <p:cNvSpPr txBox="1"/>
              <p:nvPr/>
            </p:nvSpPr>
            <p:spPr>
              <a:xfrm>
                <a:off x="0" y="-38100"/>
                <a:ext cx="4816593" cy="80574"/>
              </a:xfrm>
              <a:prstGeom prst="rect">
                <a:avLst/>
              </a:prstGeom>
            </p:spPr>
            <p:txBody>
              <a:bodyPr lIns="25400" tIns="25400" rIns="25400" bIns="25400"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70" name="Group 70"/>
            <p:cNvGrpSpPr/>
            <p:nvPr/>
          </p:nvGrpSpPr>
          <p:grpSpPr>
            <a:xfrm>
              <a:off x="24148870" y="0"/>
              <a:ext cx="357480" cy="13716000"/>
              <a:chOff x="0" y="0"/>
              <a:chExt cx="70613" cy="2709333"/>
            </a:xfrm>
          </p:grpSpPr>
          <p:sp>
            <p:nvSpPr>
              <p:cNvPr id="71" name="Freeform 71"/>
              <p:cNvSpPr/>
              <p:nvPr/>
            </p:nvSpPr>
            <p:spPr>
              <a:xfrm>
                <a:off x="0" y="0"/>
                <a:ext cx="70613" cy="2709333"/>
              </a:xfrm>
              <a:custGeom>
                <a:avLst/>
                <a:gdLst/>
                <a:ahLst/>
                <a:cxnLst/>
                <a:rect l="l" t="t" r="r" b="b"/>
                <a:pathLst>
                  <a:path w="70613" h="2709333">
                    <a:moveTo>
                      <a:pt x="0" y="0"/>
                    </a:moveTo>
                    <a:lnTo>
                      <a:pt x="70613" y="0"/>
                    </a:lnTo>
                    <a:lnTo>
                      <a:pt x="70613" y="2709333"/>
                    </a:lnTo>
                    <a:lnTo>
                      <a:pt x="0" y="2709333"/>
                    </a:lnTo>
                    <a:close/>
                  </a:path>
                </a:pathLst>
              </a:custGeom>
              <a:solidFill>
                <a:srgbClr val="004AAD"/>
              </a:solidFill>
            </p:spPr>
          </p:sp>
          <p:sp>
            <p:nvSpPr>
              <p:cNvPr id="72" name="TextBox 72"/>
              <p:cNvSpPr txBox="1"/>
              <p:nvPr/>
            </p:nvSpPr>
            <p:spPr>
              <a:xfrm>
                <a:off x="0" y="-38100"/>
                <a:ext cx="70613" cy="2747433"/>
              </a:xfrm>
              <a:prstGeom prst="rect">
                <a:avLst/>
              </a:prstGeom>
            </p:spPr>
            <p:txBody>
              <a:bodyPr lIns="25400" tIns="25400" rIns="25400" bIns="25400"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73" name="Group 73"/>
            <p:cNvGrpSpPr/>
            <p:nvPr/>
          </p:nvGrpSpPr>
          <p:grpSpPr>
            <a:xfrm>
              <a:off x="21623711" y="858331"/>
              <a:ext cx="337709" cy="578975"/>
              <a:chOff x="0" y="0"/>
              <a:chExt cx="796036" cy="1364742"/>
            </a:xfrm>
          </p:grpSpPr>
          <p:sp>
            <p:nvSpPr>
              <p:cNvPr id="74" name="Freeform 74"/>
              <p:cNvSpPr/>
              <p:nvPr/>
            </p:nvSpPr>
            <p:spPr>
              <a:xfrm>
                <a:off x="0" y="0"/>
                <a:ext cx="796036" cy="1364742"/>
              </a:xfrm>
              <a:custGeom>
                <a:avLst/>
                <a:gdLst/>
                <a:ahLst/>
                <a:cxnLst/>
                <a:rect l="l" t="t" r="r" b="b"/>
                <a:pathLst>
                  <a:path w="796036" h="1364742">
                    <a:moveTo>
                      <a:pt x="795401" y="682371"/>
                    </a:moveTo>
                    <a:lnTo>
                      <a:pt x="796036" y="681355"/>
                    </a:lnTo>
                    <a:lnTo>
                      <a:pt x="794893" y="681355"/>
                    </a:lnTo>
                    <a:lnTo>
                      <a:pt x="398018" y="0"/>
                    </a:lnTo>
                    <a:lnTo>
                      <a:pt x="1143" y="681355"/>
                    </a:lnTo>
                    <a:lnTo>
                      <a:pt x="0" y="681355"/>
                    </a:lnTo>
                    <a:lnTo>
                      <a:pt x="635" y="682371"/>
                    </a:lnTo>
                    <a:lnTo>
                      <a:pt x="0" y="683387"/>
                    </a:lnTo>
                    <a:lnTo>
                      <a:pt x="1143" y="683387"/>
                    </a:lnTo>
                    <a:lnTo>
                      <a:pt x="398018" y="1364742"/>
                    </a:lnTo>
                    <a:lnTo>
                      <a:pt x="794893" y="683387"/>
                    </a:lnTo>
                    <a:lnTo>
                      <a:pt x="796036" y="683387"/>
                    </a:lnTo>
                    <a:lnTo>
                      <a:pt x="795401" y="682371"/>
                    </a:lnTo>
                    <a:close/>
                  </a:path>
                </a:pathLst>
              </a:custGeom>
              <a:solidFill>
                <a:srgbClr val="004AAD"/>
              </a:solidFill>
            </p:spPr>
          </p:sp>
        </p:grpSp>
        <p:grpSp>
          <p:nvGrpSpPr>
            <p:cNvPr id="75" name="Group 75"/>
            <p:cNvGrpSpPr/>
            <p:nvPr/>
          </p:nvGrpSpPr>
          <p:grpSpPr>
            <a:xfrm>
              <a:off x="22233628" y="858331"/>
              <a:ext cx="337709" cy="578975"/>
              <a:chOff x="0" y="0"/>
              <a:chExt cx="796036" cy="1364742"/>
            </a:xfrm>
          </p:grpSpPr>
          <p:sp>
            <p:nvSpPr>
              <p:cNvPr id="76" name="Freeform 76"/>
              <p:cNvSpPr/>
              <p:nvPr/>
            </p:nvSpPr>
            <p:spPr>
              <a:xfrm>
                <a:off x="0" y="0"/>
                <a:ext cx="796036" cy="1364742"/>
              </a:xfrm>
              <a:custGeom>
                <a:avLst/>
                <a:gdLst/>
                <a:ahLst/>
                <a:cxnLst/>
                <a:rect l="l" t="t" r="r" b="b"/>
                <a:pathLst>
                  <a:path w="796036" h="1364742">
                    <a:moveTo>
                      <a:pt x="795401" y="682371"/>
                    </a:moveTo>
                    <a:lnTo>
                      <a:pt x="796036" y="681355"/>
                    </a:lnTo>
                    <a:lnTo>
                      <a:pt x="794893" y="681355"/>
                    </a:lnTo>
                    <a:lnTo>
                      <a:pt x="398018" y="0"/>
                    </a:lnTo>
                    <a:lnTo>
                      <a:pt x="1143" y="681355"/>
                    </a:lnTo>
                    <a:lnTo>
                      <a:pt x="0" y="681355"/>
                    </a:lnTo>
                    <a:lnTo>
                      <a:pt x="635" y="682371"/>
                    </a:lnTo>
                    <a:lnTo>
                      <a:pt x="0" y="683387"/>
                    </a:lnTo>
                    <a:lnTo>
                      <a:pt x="1143" y="683387"/>
                    </a:lnTo>
                    <a:lnTo>
                      <a:pt x="398018" y="1364742"/>
                    </a:lnTo>
                    <a:lnTo>
                      <a:pt x="794893" y="683387"/>
                    </a:lnTo>
                    <a:lnTo>
                      <a:pt x="796036" y="683387"/>
                    </a:lnTo>
                    <a:lnTo>
                      <a:pt x="795401" y="682371"/>
                    </a:lnTo>
                    <a:close/>
                  </a:path>
                </a:pathLst>
              </a:custGeom>
              <a:solidFill>
                <a:srgbClr val="004AAD"/>
              </a:solidFill>
            </p:spPr>
          </p:sp>
        </p:grpSp>
        <p:grpSp>
          <p:nvGrpSpPr>
            <p:cNvPr id="77" name="Group 77"/>
            <p:cNvGrpSpPr/>
            <p:nvPr/>
          </p:nvGrpSpPr>
          <p:grpSpPr>
            <a:xfrm>
              <a:off x="22843546" y="858331"/>
              <a:ext cx="337709" cy="578975"/>
              <a:chOff x="0" y="0"/>
              <a:chExt cx="796036" cy="1364742"/>
            </a:xfrm>
          </p:grpSpPr>
          <p:sp>
            <p:nvSpPr>
              <p:cNvPr id="78" name="Freeform 78"/>
              <p:cNvSpPr/>
              <p:nvPr/>
            </p:nvSpPr>
            <p:spPr>
              <a:xfrm>
                <a:off x="0" y="0"/>
                <a:ext cx="796036" cy="1364742"/>
              </a:xfrm>
              <a:custGeom>
                <a:avLst/>
                <a:gdLst/>
                <a:ahLst/>
                <a:cxnLst/>
                <a:rect l="l" t="t" r="r" b="b"/>
                <a:pathLst>
                  <a:path w="796036" h="1364742">
                    <a:moveTo>
                      <a:pt x="795401" y="682371"/>
                    </a:moveTo>
                    <a:lnTo>
                      <a:pt x="796036" y="681355"/>
                    </a:lnTo>
                    <a:lnTo>
                      <a:pt x="794893" y="681355"/>
                    </a:lnTo>
                    <a:lnTo>
                      <a:pt x="398018" y="0"/>
                    </a:lnTo>
                    <a:lnTo>
                      <a:pt x="1143" y="681355"/>
                    </a:lnTo>
                    <a:lnTo>
                      <a:pt x="0" y="681355"/>
                    </a:lnTo>
                    <a:lnTo>
                      <a:pt x="635" y="682371"/>
                    </a:lnTo>
                    <a:lnTo>
                      <a:pt x="0" y="683387"/>
                    </a:lnTo>
                    <a:lnTo>
                      <a:pt x="1143" y="683387"/>
                    </a:lnTo>
                    <a:lnTo>
                      <a:pt x="398018" y="1364742"/>
                    </a:lnTo>
                    <a:lnTo>
                      <a:pt x="794893" y="683387"/>
                    </a:lnTo>
                    <a:lnTo>
                      <a:pt x="796036" y="683387"/>
                    </a:lnTo>
                    <a:lnTo>
                      <a:pt x="795401" y="682371"/>
                    </a:lnTo>
                    <a:close/>
                  </a:path>
                </a:pathLst>
              </a:custGeom>
              <a:solidFill>
                <a:srgbClr val="004AAD"/>
              </a:solidFill>
            </p:spPr>
          </p:sp>
        </p:grpSp>
      </p:grpSp>
      <p:grpSp>
        <p:nvGrpSpPr>
          <p:cNvPr id="122" name="组合 121"/>
          <p:cNvGrpSpPr/>
          <p:nvPr/>
        </p:nvGrpSpPr>
        <p:grpSpPr>
          <a:xfrm>
            <a:off x="419100" y="-387137"/>
            <a:ext cx="7467427" cy="1272016"/>
            <a:chOff x="1560" y="-951"/>
            <a:chExt cx="23519" cy="4006"/>
          </a:xfrm>
        </p:grpSpPr>
        <p:sp>
          <p:nvSpPr>
            <p:cNvPr id="125" name="TextBox 113"/>
            <p:cNvSpPr txBox="1"/>
            <p:nvPr/>
          </p:nvSpPr>
          <p:spPr>
            <a:xfrm>
              <a:off x="4014" y="-951"/>
              <a:ext cx="21065" cy="4006"/>
            </a:xfrm>
            <a:prstGeom prst="rect">
              <a:avLst/>
            </a:prstGeom>
          </p:spPr>
          <p:txBody>
            <a:bodyPr wrap="square" lIns="0" tIns="0" rIns="0" bIns="0" rtlCol="0" anchor="t">
              <a:spAutoFit/>
            </a:bodyPr>
            <a:lstStyle/>
            <a:p>
              <a:pPr algn="l">
                <a:lnSpc>
                  <a:spcPts val="9920"/>
                </a:lnSpc>
              </a:pPr>
              <a:r>
                <a:rPr lang="en-US" altLang="zh-CN" sz="2700">
                  <a:solidFill>
                    <a:srgbClr val="004AAD"/>
                  </a:solidFill>
                  <a:latin typeface="微软雅黑" panose="020B0503020204020204" charset="-122"/>
                  <a:ea typeface="微软雅黑" panose="020B0503020204020204" charset="-122"/>
                  <a:cs typeface="微软雅黑" panose="020B0503020204020204" charset="-122"/>
                  <a:sym typeface="微软雅黑" panose="020B0503020204020204" charset="-122"/>
                </a:rPr>
                <a:t>Trae SOLO</a:t>
              </a:r>
              <a:r>
                <a:rPr lang="zh-CN" altLang="en-US" sz="2700">
                  <a:solidFill>
                    <a:srgbClr val="004AAD"/>
                  </a:solidFill>
                  <a:latin typeface="微软雅黑" panose="020B0503020204020204" charset="-122"/>
                  <a:ea typeface="微软雅黑" panose="020B0503020204020204" charset="-122"/>
                  <a:cs typeface="微软雅黑" panose="020B0503020204020204" charset="-122"/>
                  <a:sym typeface="微软雅黑" panose="020B0503020204020204" charset="-122"/>
                </a:rPr>
                <a:t>模式</a:t>
              </a:r>
              <a:endParaRPr lang="zh-CN" altLang="en-US" sz="2700">
                <a:solidFill>
                  <a:srgbClr val="004AAD"/>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24" name="图片 136" descr="仅校徽"/>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60" y="686"/>
              <a:ext cx="2100" cy="2100"/>
            </a:xfrm>
            <a:prstGeom prst="rect">
              <a:avLst/>
            </a:prstGeom>
          </p:spPr>
        </p:pic>
      </p:grpSp>
      <p:sp>
        <p:nvSpPr>
          <p:cNvPr id="79" name="TextBox 92"/>
          <p:cNvSpPr txBox="1"/>
          <p:nvPr/>
        </p:nvSpPr>
        <p:spPr>
          <a:xfrm>
            <a:off x="571500" y="5056188"/>
            <a:ext cx="7587615" cy="206058"/>
          </a:xfrm>
          <a:prstGeom prst="rect">
            <a:avLst/>
          </a:prstGeom>
        </p:spPr>
        <p:txBody>
          <a:bodyPr wrap="square" lIns="0" tIns="0" rIns="0" bIns="0" rtlCol="0" anchor="t">
            <a:noAutofit/>
          </a:bodyPr>
          <a:lstStyle/>
          <a:p>
            <a:pPr algn="ctr">
              <a:lnSpc>
                <a:spcPts val="3040"/>
              </a:lnSpc>
            </a:pPr>
            <a:r>
              <a:rPr lang="en-US" altLang="zh-CN"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Trae SOLO</a:t>
            </a:r>
            <a:r>
              <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界面，通过与</a:t>
            </a:r>
            <a:r>
              <a:rPr lang="en-US" altLang="zh-CN"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ai</a:t>
            </a:r>
            <a:r>
              <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对话的方式可进行代码的</a:t>
            </a:r>
            <a:r>
              <a:rPr lang="zh-CN" altLang="en-US" sz="1000">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全自动</a:t>
            </a:r>
            <a:r>
              <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编写</a:t>
            </a:r>
            <a:endParaRPr lang="en-US" altLang="zh-CN"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lnSpc>
                <a:spcPts val="3040"/>
              </a:lnSpc>
            </a:pPr>
            <a:endPar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85" name="图片 84"/>
          <p:cNvPicPr>
            <a:picLocks noChangeAspect="1"/>
          </p:cNvPicPr>
          <p:nvPr/>
        </p:nvPicPr>
        <p:blipFill>
          <a:blip r:embed="rId4"/>
          <a:stretch>
            <a:fillRect/>
          </a:stretch>
        </p:blipFill>
        <p:spPr>
          <a:xfrm>
            <a:off x="1371600" y="1262380"/>
            <a:ext cx="6405880" cy="3724275"/>
          </a:xfrm>
          <a:prstGeom prst="rect">
            <a:avLst/>
          </a:prstGeom>
        </p:spPr>
      </p:pic>
      <p:cxnSp>
        <p:nvCxnSpPr>
          <p:cNvPr id="86" name="直接箭头连接符 85"/>
          <p:cNvCxnSpPr/>
          <p:nvPr/>
        </p:nvCxnSpPr>
        <p:spPr>
          <a:xfrm>
            <a:off x="1219200" y="1783715"/>
            <a:ext cx="457200" cy="342900"/>
          </a:xfrm>
          <a:prstGeom prst="straightConnector1">
            <a:avLst/>
          </a:prstGeom>
          <a:ln>
            <a:solidFill>
              <a:srgbClr val="FF0000"/>
            </a:solidFill>
            <a:tailEnd type="arrow" w="med" len="med"/>
          </a:ln>
        </p:spPr>
        <p:style>
          <a:lnRef idx="3">
            <a:schemeClr val="accent1"/>
          </a:lnRef>
          <a:fillRef idx="0">
            <a:srgbClr val="FFFFFF"/>
          </a:fillRef>
          <a:effectRef idx="0">
            <a:srgbClr val="FFFFFF"/>
          </a:effectRef>
          <a:fontRef idx="minor">
            <a:schemeClr val="tx1"/>
          </a:fontRef>
        </p:style>
      </p:cxnSp>
      <p:sp>
        <p:nvSpPr>
          <p:cNvPr id="87" name="TextBox 92"/>
          <p:cNvSpPr txBox="1"/>
          <p:nvPr/>
        </p:nvSpPr>
        <p:spPr>
          <a:xfrm>
            <a:off x="366395" y="1444943"/>
            <a:ext cx="795655" cy="781685"/>
          </a:xfrm>
          <a:prstGeom prst="rect">
            <a:avLst/>
          </a:prstGeom>
        </p:spPr>
        <p:txBody>
          <a:bodyPr wrap="square" lIns="0" tIns="0" rIns="0" bIns="0" rtlCol="0" anchor="t">
            <a:noAutofit/>
          </a:bodyPr>
          <a:lstStyle/>
          <a:p>
            <a:pPr algn="ctr">
              <a:lnSpc>
                <a:spcPts val="3040"/>
              </a:lnSpc>
            </a:pPr>
            <a:r>
              <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任务管理器部分，查看当前已的代码任务以及相关的项目情况</a:t>
            </a:r>
            <a:endParaRPr lang="en-US" altLang="zh-CN"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lnSpc>
                <a:spcPts val="3040"/>
              </a:lnSpc>
            </a:pPr>
            <a:endPar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94" name="直接箭头连接符 93"/>
          <p:cNvCxnSpPr/>
          <p:nvPr/>
        </p:nvCxnSpPr>
        <p:spPr>
          <a:xfrm>
            <a:off x="1257300" y="4031615"/>
            <a:ext cx="1714500" cy="457200"/>
          </a:xfrm>
          <a:prstGeom prst="straightConnector1">
            <a:avLst/>
          </a:prstGeom>
          <a:ln>
            <a:solidFill>
              <a:srgbClr val="FF0000"/>
            </a:solidFill>
            <a:tailEnd type="arrow" w="med" len="med"/>
          </a:ln>
        </p:spPr>
        <p:style>
          <a:lnRef idx="3">
            <a:schemeClr val="accent1"/>
          </a:lnRef>
          <a:fillRef idx="0">
            <a:srgbClr val="FFFFFF"/>
          </a:fillRef>
          <a:effectRef idx="0">
            <a:srgbClr val="FFFFFF"/>
          </a:effectRef>
          <a:fontRef idx="minor">
            <a:schemeClr val="tx1"/>
          </a:fontRef>
        </p:style>
      </p:cxnSp>
      <p:sp>
        <p:nvSpPr>
          <p:cNvPr id="95" name="TextBox 92"/>
          <p:cNvSpPr txBox="1"/>
          <p:nvPr/>
        </p:nvSpPr>
        <p:spPr>
          <a:xfrm>
            <a:off x="419100" y="3650615"/>
            <a:ext cx="795655" cy="1036320"/>
          </a:xfrm>
          <a:prstGeom prst="rect">
            <a:avLst/>
          </a:prstGeom>
        </p:spPr>
        <p:txBody>
          <a:bodyPr wrap="square" lIns="0" tIns="0" rIns="0" bIns="0" rtlCol="0" anchor="t">
            <a:noAutofit/>
          </a:bodyPr>
          <a:lstStyle/>
          <a:p>
            <a:pPr algn="ctr">
              <a:lnSpc>
                <a:spcPts val="3040"/>
              </a:lnSpc>
            </a:pPr>
            <a:r>
              <a:rPr lang="en-US" altLang="zh-CN"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SOLO</a:t>
            </a:r>
            <a:r>
              <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模式下的主要部分，给</a:t>
            </a:r>
            <a:r>
              <a:rPr lang="en-US" altLang="zh-CN"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ai</a:t>
            </a:r>
            <a:r>
              <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相应的提示词来完成全局代码的编写</a:t>
            </a:r>
            <a:endParaRPr lang="en-US" altLang="zh-CN"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lnSpc>
                <a:spcPts val="3040"/>
              </a:lnSpc>
            </a:pPr>
            <a:endPar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96" name="直接箭头连接符 95"/>
          <p:cNvCxnSpPr/>
          <p:nvPr/>
        </p:nvCxnSpPr>
        <p:spPr>
          <a:xfrm flipH="1">
            <a:off x="5753100" y="1707515"/>
            <a:ext cx="2133600" cy="1181100"/>
          </a:xfrm>
          <a:prstGeom prst="straightConnector1">
            <a:avLst/>
          </a:prstGeom>
          <a:ln>
            <a:solidFill>
              <a:srgbClr val="FF0000"/>
            </a:solidFill>
            <a:tailEnd type="arrow" w="med" len="med"/>
          </a:ln>
        </p:spPr>
        <p:style>
          <a:lnRef idx="3">
            <a:schemeClr val="accent1"/>
          </a:lnRef>
          <a:fillRef idx="0">
            <a:srgbClr val="FFFFFF"/>
          </a:fillRef>
          <a:effectRef idx="0">
            <a:srgbClr val="FFFFFF"/>
          </a:effectRef>
          <a:fontRef idx="minor">
            <a:schemeClr val="tx1"/>
          </a:fontRef>
        </p:style>
      </p:cxnSp>
      <p:sp>
        <p:nvSpPr>
          <p:cNvPr id="97" name="TextBox 92"/>
          <p:cNvSpPr txBox="1"/>
          <p:nvPr/>
        </p:nvSpPr>
        <p:spPr>
          <a:xfrm>
            <a:off x="8001000" y="1212215"/>
            <a:ext cx="795655" cy="754063"/>
          </a:xfrm>
          <a:prstGeom prst="rect">
            <a:avLst/>
          </a:prstGeom>
        </p:spPr>
        <p:txBody>
          <a:bodyPr wrap="square" lIns="0" tIns="0" rIns="0" bIns="0" rtlCol="0" anchor="t">
            <a:noAutofit/>
          </a:bodyPr>
          <a:lstStyle/>
          <a:p>
            <a:pPr algn="ctr">
              <a:lnSpc>
                <a:spcPts val="3040"/>
              </a:lnSpc>
            </a:pPr>
            <a:r>
              <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代码调试部分，查看生成的代码情况</a:t>
            </a:r>
            <a:endParaRPr lang="en-US" altLang="zh-CN"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lnSpc>
                <a:spcPts val="3040"/>
              </a:lnSpc>
            </a:pPr>
            <a:endPar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98" name="直接箭头连接符 97"/>
          <p:cNvCxnSpPr/>
          <p:nvPr/>
        </p:nvCxnSpPr>
        <p:spPr>
          <a:xfrm flipH="1" flipV="1">
            <a:off x="7391400" y="2621915"/>
            <a:ext cx="571500" cy="1066800"/>
          </a:xfrm>
          <a:prstGeom prst="straightConnector1">
            <a:avLst/>
          </a:prstGeom>
          <a:ln>
            <a:solidFill>
              <a:srgbClr val="FF0000"/>
            </a:solidFill>
            <a:tailEnd type="arrow" w="med" len="med"/>
          </a:ln>
        </p:spPr>
        <p:style>
          <a:lnRef idx="3">
            <a:schemeClr val="accent1"/>
          </a:lnRef>
          <a:fillRef idx="0">
            <a:srgbClr val="FFFFFF"/>
          </a:fillRef>
          <a:effectRef idx="0">
            <a:srgbClr val="FFFFFF"/>
          </a:effectRef>
          <a:fontRef idx="minor">
            <a:schemeClr val="tx1"/>
          </a:fontRef>
        </p:style>
      </p:cxnSp>
      <p:sp>
        <p:nvSpPr>
          <p:cNvPr id="99" name="TextBox 92"/>
          <p:cNvSpPr txBox="1"/>
          <p:nvPr/>
        </p:nvSpPr>
        <p:spPr>
          <a:xfrm>
            <a:off x="8039100" y="3370263"/>
            <a:ext cx="795655" cy="754063"/>
          </a:xfrm>
          <a:prstGeom prst="rect">
            <a:avLst/>
          </a:prstGeom>
        </p:spPr>
        <p:txBody>
          <a:bodyPr wrap="square" lIns="0" tIns="0" rIns="0" bIns="0" rtlCol="0" anchor="t">
            <a:noAutofit/>
          </a:bodyPr>
          <a:lstStyle/>
          <a:p>
            <a:pPr algn="ctr">
              <a:lnSpc>
                <a:spcPts val="3040"/>
              </a:lnSpc>
            </a:pPr>
            <a:r>
              <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资源管理器，查看已有的代码文件</a:t>
            </a:r>
            <a:endParaRPr lang="en-US" altLang="zh-CN"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lnSpc>
                <a:spcPts val="3040"/>
              </a:lnSpc>
            </a:pPr>
            <a:endParaRPr lang="zh-CN" altLang="en-US" sz="10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57250"/>
            <a:ext cx="9144000" cy="51435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38888" b="-38888"/>
            </a:stretch>
          </a:blipFill>
        </p:spPr>
      </p:sp>
      <p:grpSp>
        <p:nvGrpSpPr>
          <p:cNvPr id="3" name="Group 3"/>
          <p:cNvGrpSpPr/>
          <p:nvPr/>
        </p:nvGrpSpPr>
        <p:grpSpPr>
          <a:xfrm>
            <a:off x="0" y="857250"/>
            <a:ext cx="9189882" cy="5143500"/>
            <a:chOff x="0" y="0"/>
            <a:chExt cx="24506350" cy="13716000"/>
          </a:xfrm>
        </p:grpSpPr>
        <p:grpSp>
          <p:nvGrpSpPr>
            <p:cNvPr id="4" name="Group 4"/>
            <p:cNvGrpSpPr/>
            <p:nvPr/>
          </p:nvGrpSpPr>
          <p:grpSpPr>
            <a:xfrm>
              <a:off x="0" y="0"/>
              <a:ext cx="24384000" cy="215022"/>
              <a:chOff x="0" y="0"/>
              <a:chExt cx="4816593" cy="42474"/>
            </a:xfrm>
          </p:grpSpPr>
          <p:sp>
            <p:nvSpPr>
              <p:cNvPr id="5" name="Freeform 5"/>
              <p:cNvSpPr/>
              <p:nvPr/>
            </p:nvSpPr>
            <p:spPr>
              <a:xfrm>
                <a:off x="0" y="0"/>
                <a:ext cx="4816592" cy="42474"/>
              </a:xfrm>
              <a:custGeom>
                <a:avLst/>
                <a:gdLst/>
                <a:ahLst/>
                <a:cxnLst/>
                <a:rect l="l" t="t" r="r" b="b"/>
                <a:pathLst>
                  <a:path w="4816592" h="42474">
                    <a:moveTo>
                      <a:pt x="0" y="0"/>
                    </a:moveTo>
                    <a:lnTo>
                      <a:pt x="4816592" y="0"/>
                    </a:lnTo>
                    <a:lnTo>
                      <a:pt x="4816592" y="42474"/>
                    </a:lnTo>
                    <a:lnTo>
                      <a:pt x="0" y="42474"/>
                    </a:lnTo>
                    <a:close/>
                  </a:path>
                </a:pathLst>
              </a:custGeom>
              <a:solidFill>
                <a:srgbClr val="004AAD"/>
              </a:solidFill>
            </p:spPr>
          </p:sp>
          <p:sp>
            <p:nvSpPr>
              <p:cNvPr id="6" name="TextBox 6"/>
              <p:cNvSpPr txBox="1"/>
              <p:nvPr/>
            </p:nvSpPr>
            <p:spPr>
              <a:xfrm>
                <a:off x="0" y="-38100"/>
                <a:ext cx="4816593" cy="80574"/>
              </a:xfrm>
              <a:prstGeom prst="rect">
                <a:avLst/>
              </a:prstGeom>
            </p:spPr>
            <p:txBody>
              <a:bodyPr lIns="25400" tIns="25400" rIns="25400" bIns="25400"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7" name="Group 7"/>
            <p:cNvGrpSpPr/>
            <p:nvPr/>
          </p:nvGrpSpPr>
          <p:grpSpPr>
            <a:xfrm>
              <a:off x="279152" y="630203"/>
              <a:ext cx="456256" cy="45625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9" name="TextBox 9"/>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10" name="Group 10"/>
            <p:cNvGrpSpPr/>
            <p:nvPr/>
          </p:nvGrpSpPr>
          <p:grpSpPr>
            <a:xfrm rot="553339">
              <a:off x="7583" y="761446"/>
              <a:ext cx="543138" cy="138439"/>
              <a:chOff x="0" y="0"/>
              <a:chExt cx="147751" cy="37660"/>
            </a:xfrm>
          </p:grpSpPr>
          <p:sp>
            <p:nvSpPr>
              <p:cNvPr id="11" name="Freeform 11"/>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12" name="TextBox 12"/>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13" name="Group 13"/>
            <p:cNvGrpSpPr/>
            <p:nvPr/>
          </p:nvGrpSpPr>
          <p:grpSpPr>
            <a:xfrm>
              <a:off x="279152" y="3296723"/>
              <a:ext cx="456256" cy="456256"/>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15" name="TextBox 15"/>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16" name="Group 16"/>
            <p:cNvGrpSpPr/>
            <p:nvPr/>
          </p:nvGrpSpPr>
          <p:grpSpPr>
            <a:xfrm rot="553339">
              <a:off x="7583" y="3427966"/>
              <a:ext cx="543138" cy="138439"/>
              <a:chOff x="0" y="0"/>
              <a:chExt cx="147751" cy="37660"/>
            </a:xfrm>
          </p:grpSpPr>
          <p:sp>
            <p:nvSpPr>
              <p:cNvPr id="17" name="Freeform 17"/>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18" name="TextBox 18"/>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19" name="Group 19"/>
            <p:cNvGrpSpPr/>
            <p:nvPr/>
          </p:nvGrpSpPr>
          <p:grpSpPr>
            <a:xfrm>
              <a:off x="279152" y="8629761"/>
              <a:ext cx="456256" cy="456256"/>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21" name="TextBox 21"/>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22" name="Group 22"/>
            <p:cNvGrpSpPr/>
            <p:nvPr/>
          </p:nvGrpSpPr>
          <p:grpSpPr>
            <a:xfrm rot="553339">
              <a:off x="7583" y="8761004"/>
              <a:ext cx="543138" cy="138439"/>
              <a:chOff x="0" y="0"/>
              <a:chExt cx="147751" cy="37660"/>
            </a:xfrm>
          </p:grpSpPr>
          <p:sp>
            <p:nvSpPr>
              <p:cNvPr id="23" name="Freeform 23"/>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24" name="TextBox 24"/>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25" name="Group 25"/>
            <p:cNvGrpSpPr/>
            <p:nvPr/>
          </p:nvGrpSpPr>
          <p:grpSpPr>
            <a:xfrm>
              <a:off x="279152" y="4629982"/>
              <a:ext cx="456256" cy="456256"/>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27" name="TextBox 27"/>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28" name="Group 28"/>
            <p:cNvGrpSpPr/>
            <p:nvPr/>
          </p:nvGrpSpPr>
          <p:grpSpPr>
            <a:xfrm rot="553339">
              <a:off x="7583" y="4761225"/>
              <a:ext cx="543138" cy="138439"/>
              <a:chOff x="0" y="0"/>
              <a:chExt cx="147751" cy="37660"/>
            </a:xfrm>
          </p:grpSpPr>
          <p:sp>
            <p:nvSpPr>
              <p:cNvPr id="29" name="Freeform 29"/>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30" name="TextBox 30"/>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31" name="Group 31"/>
            <p:cNvGrpSpPr/>
            <p:nvPr/>
          </p:nvGrpSpPr>
          <p:grpSpPr>
            <a:xfrm>
              <a:off x="279152" y="9963021"/>
              <a:ext cx="456256" cy="456256"/>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33" name="TextBox 33"/>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34" name="Group 34"/>
            <p:cNvGrpSpPr/>
            <p:nvPr/>
          </p:nvGrpSpPr>
          <p:grpSpPr>
            <a:xfrm rot="553339">
              <a:off x="7583" y="10094264"/>
              <a:ext cx="543138" cy="138439"/>
              <a:chOff x="0" y="0"/>
              <a:chExt cx="147751" cy="37660"/>
            </a:xfrm>
          </p:grpSpPr>
          <p:sp>
            <p:nvSpPr>
              <p:cNvPr id="35" name="Freeform 35"/>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36" name="TextBox 36"/>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37" name="Group 37"/>
            <p:cNvGrpSpPr/>
            <p:nvPr/>
          </p:nvGrpSpPr>
          <p:grpSpPr>
            <a:xfrm>
              <a:off x="279152" y="1963463"/>
              <a:ext cx="456256" cy="456256"/>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39" name="TextBox 39"/>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40" name="Group 40"/>
            <p:cNvGrpSpPr/>
            <p:nvPr/>
          </p:nvGrpSpPr>
          <p:grpSpPr>
            <a:xfrm rot="553339">
              <a:off x="7583" y="2094706"/>
              <a:ext cx="543138" cy="138439"/>
              <a:chOff x="0" y="0"/>
              <a:chExt cx="147751" cy="37660"/>
            </a:xfrm>
          </p:grpSpPr>
          <p:sp>
            <p:nvSpPr>
              <p:cNvPr id="41" name="Freeform 41"/>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42" name="TextBox 42"/>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43" name="Group 43"/>
            <p:cNvGrpSpPr/>
            <p:nvPr/>
          </p:nvGrpSpPr>
          <p:grpSpPr>
            <a:xfrm>
              <a:off x="279152" y="5963242"/>
              <a:ext cx="456256" cy="456256"/>
              <a:chOff x="0" y="0"/>
              <a:chExt cx="812800" cy="812800"/>
            </a:xfrm>
          </p:grpSpPr>
          <p:sp>
            <p:nvSpPr>
              <p:cNvPr id="44" name="Freeform 4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45" name="TextBox 45"/>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46" name="Group 46"/>
            <p:cNvGrpSpPr/>
            <p:nvPr/>
          </p:nvGrpSpPr>
          <p:grpSpPr>
            <a:xfrm rot="553339">
              <a:off x="7583" y="6094485"/>
              <a:ext cx="543138" cy="138439"/>
              <a:chOff x="0" y="0"/>
              <a:chExt cx="147751" cy="37660"/>
            </a:xfrm>
          </p:grpSpPr>
          <p:sp>
            <p:nvSpPr>
              <p:cNvPr id="47" name="Freeform 47"/>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48" name="TextBox 48"/>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49" name="Group 49"/>
            <p:cNvGrpSpPr/>
            <p:nvPr/>
          </p:nvGrpSpPr>
          <p:grpSpPr>
            <a:xfrm>
              <a:off x="279152" y="11296281"/>
              <a:ext cx="456256" cy="456256"/>
              <a:chOff x="0" y="0"/>
              <a:chExt cx="812800" cy="812800"/>
            </a:xfrm>
          </p:grpSpPr>
          <p:sp>
            <p:nvSpPr>
              <p:cNvPr id="50" name="Freeform 5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51" name="TextBox 51"/>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52" name="Group 52"/>
            <p:cNvGrpSpPr/>
            <p:nvPr/>
          </p:nvGrpSpPr>
          <p:grpSpPr>
            <a:xfrm rot="553339">
              <a:off x="7583" y="11427524"/>
              <a:ext cx="543138" cy="138439"/>
              <a:chOff x="0" y="0"/>
              <a:chExt cx="147751" cy="37660"/>
            </a:xfrm>
          </p:grpSpPr>
          <p:sp>
            <p:nvSpPr>
              <p:cNvPr id="53" name="Freeform 53"/>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54" name="TextBox 54"/>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55" name="Group 55"/>
            <p:cNvGrpSpPr/>
            <p:nvPr/>
          </p:nvGrpSpPr>
          <p:grpSpPr>
            <a:xfrm>
              <a:off x="279152" y="7296502"/>
              <a:ext cx="456256" cy="456256"/>
              <a:chOff x="0" y="0"/>
              <a:chExt cx="812800" cy="812800"/>
            </a:xfrm>
          </p:grpSpPr>
          <p:sp>
            <p:nvSpPr>
              <p:cNvPr id="56" name="Freeform 5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57" name="TextBox 57"/>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58" name="Group 58"/>
            <p:cNvGrpSpPr/>
            <p:nvPr/>
          </p:nvGrpSpPr>
          <p:grpSpPr>
            <a:xfrm rot="553339">
              <a:off x="7583" y="7427745"/>
              <a:ext cx="543138" cy="138439"/>
              <a:chOff x="0" y="0"/>
              <a:chExt cx="147751" cy="37660"/>
            </a:xfrm>
          </p:grpSpPr>
          <p:sp>
            <p:nvSpPr>
              <p:cNvPr id="59" name="Freeform 59"/>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60" name="TextBox 60"/>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61" name="Group 61"/>
            <p:cNvGrpSpPr/>
            <p:nvPr/>
          </p:nvGrpSpPr>
          <p:grpSpPr>
            <a:xfrm>
              <a:off x="279152" y="12629540"/>
              <a:ext cx="456256" cy="456256"/>
              <a:chOff x="0" y="0"/>
              <a:chExt cx="812800" cy="812800"/>
            </a:xfrm>
          </p:grpSpPr>
          <p:sp>
            <p:nvSpPr>
              <p:cNvPr id="62" name="Freeform 6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63" name="TextBox 63"/>
              <p:cNvSpPr txBox="1"/>
              <p:nvPr/>
            </p:nvSpPr>
            <p:spPr>
              <a:xfrm>
                <a:off x="76200" y="38100"/>
                <a:ext cx="660400" cy="698500"/>
              </a:xfrm>
              <a:prstGeom prst="rect">
                <a:avLst/>
              </a:prstGeom>
            </p:spPr>
            <p:txBody>
              <a:bodyPr lIns="18444" tIns="18444" rIns="18444" bIns="18444" rtlCol="0" anchor="ctr"/>
              <a:lstStyle/>
              <a:p>
                <a:pPr algn="ctr">
                  <a:lnSpc>
                    <a:spcPts val="2660"/>
                  </a:lnSpc>
                  <a:spcBef>
                    <a:spcPct val="0"/>
                  </a:spcBef>
                </a:pPr>
                <a:endParaRPr sz="1200" dirty="0">
                  <a:ea typeface="微软雅黑" panose="020B0503020204020204" charset="-122"/>
                  <a:cs typeface="微软雅黑" panose="020B0503020204020204" charset="-122"/>
                </a:endParaRPr>
              </a:p>
            </p:txBody>
          </p:sp>
        </p:grpSp>
        <p:grpSp>
          <p:nvGrpSpPr>
            <p:cNvPr id="64" name="Group 64"/>
            <p:cNvGrpSpPr/>
            <p:nvPr/>
          </p:nvGrpSpPr>
          <p:grpSpPr>
            <a:xfrm rot="553339">
              <a:off x="7583" y="12760783"/>
              <a:ext cx="543138" cy="138439"/>
              <a:chOff x="0" y="0"/>
              <a:chExt cx="147751" cy="37660"/>
            </a:xfrm>
          </p:grpSpPr>
          <p:sp>
            <p:nvSpPr>
              <p:cNvPr id="65" name="Freeform 65"/>
              <p:cNvSpPr/>
              <p:nvPr/>
            </p:nvSpPr>
            <p:spPr>
              <a:xfrm>
                <a:off x="0" y="0"/>
                <a:ext cx="147751" cy="37660"/>
              </a:xfrm>
              <a:custGeom>
                <a:avLst/>
                <a:gdLst/>
                <a:ahLst/>
                <a:cxnLst/>
                <a:rect l="l" t="t" r="r" b="b"/>
                <a:pathLst>
                  <a:path w="147751" h="37660">
                    <a:moveTo>
                      <a:pt x="0" y="0"/>
                    </a:moveTo>
                    <a:lnTo>
                      <a:pt x="147751" y="0"/>
                    </a:lnTo>
                    <a:lnTo>
                      <a:pt x="147751" y="37660"/>
                    </a:lnTo>
                    <a:lnTo>
                      <a:pt x="0" y="37660"/>
                    </a:lnTo>
                    <a:close/>
                  </a:path>
                </a:pathLst>
              </a:custGeom>
              <a:solidFill>
                <a:srgbClr val="D9D9D9"/>
              </a:solidFill>
            </p:spPr>
          </p:sp>
          <p:sp>
            <p:nvSpPr>
              <p:cNvPr id="66" name="TextBox 66"/>
              <p:cNvSpPr txBox="1"/>
              <p:nvPr/>
            </p:nvSpPr>
            <p:spPr>
              <a:xfrm>
                <a:off x="0" y="-38100"/>
                <a:ext cx="147751" cy="75760"/>
              </a:xfrm>
              <a:prstGeom prst="rect">
                <a:avLst/>
              </a:prstGeom>
            </p:spPr>
            <p:txBody>
              <a:bodyPr lIns="18444" tIns="18444" rIns="18444" bIns="18444"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67" name="Group 67"/>
            <p:cNvGrpSpPr/>
            <p:nvPr/>
          </p:nvGrpSpPr>
          <p:grpSpPr>
            <a:xfrm>
              <a:off x="0" y="13500978"/>
              <a:ext cx="24384000" cy="215022"/>
              <a:chOff x="0" y="0"/>
              <a:chExt cx="4816593" cy="42474"/>
            </a:xfrm>
          </p:grpSpPr>
          <p:sp>
            <p:nvSpPr>
              <p:cNvPr id="68" name="Freeform 68"/>
              <p:cNvSpPr/>
              <p:nvPr/>
            </p:nvSpPr>
            <p:spPr>
              <a:xfrm>
                <a:off x="0" y="0"/>
                <a:ext cx="4816592" cy="42474"/>
              </a:xfrm>
              <a:custGeom>
                <a:avLst/>
                <a:gdLst/>
                <a:ahLst/>
                <a:cxnLst/>
                <a:rect l="l" t="t" r="r" b="b"/>
                <a:pathLst>
                  <a:path w="4816592" h="42474">
                    <a:moveTo>
                      <a:pt x="0" y="0"/>
                    </a:moveTo>
                    <a:lnTo>
                      <a:pt x="4816592" y="0"/>
                    </a:lnTo>
                    <a:lnTo>
                      <a:pt x="4816592" y="42474"/>
                    </a:lnTo>
                    <a:lnTo>
                      <a:pt x="0" y="42474"/>
                    </a:lnTo>
                    <a:close/>
                  </a:path>
                </a:pathLst>
              </a:custGeom>
              <a:solidFill>
                <a:srgbClr val="004AAD"/>
              </a:solidFill>
            </p:spPr>
          </p:sp>
          <p:sp>
            <p:nvSpPr>
              <p:cNvPr id="69" name="TextBox 69"/>
              <p:cNvSpPr txBox="1"/>
              <p:nvPr/>
            </p:nvSpPr>
            <p:spPr>
              <a:xfrm>
                <a:off x="0" y="-38100"/>
                <a:ext cx="4816593" cy="80574"/>
              </a:xfrm>
              <a:prstGeom prst="rect">
                <a:avLst/>
              </a:prstGeom>
            </p:spPr>
            <p:txBody>
              <a:bodyPr lIns="25400" tIns="25400" rIns="25400" bIns="25400"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70" name="Group 70"/>
            <p:cNvGrpSpPr/>
            <p:nvPr/>
          </p:nvGrpSpPr>
          <p:grpSpPr>
            <a:xfrm>
              <a:off x="24148870" y="0"/>
              <a:ext cx="357480" cy="13716000"/>
              <a:chOff x="0" y="0"/>
              <a:chExt cx="70613" cy="2709333"/>
            </a:xfrm>
          </p:grpSpPr>
          <p:sp>
            <p:nvSpPr>
              <p:cNvPr id="71" name="Freeform 71"/>
              <p:cNvSpPr/>
              <p:nvPr/>
            </p:nvSpPr>
            <p:spPr>
              <a:xfrm>
                <a:off x="0" y="0"/>
                <a:ext cx="70613" cy="2709333"/>
              </a:xfrm>
              <a:custGeom>
                <a:avLst/>
                <a:gdLst/>
                <a:ahLst/>
                <a:cxnLst/>
                <a:rect l="l" t="t" r="r" b="b"/>
                <a:pathLst>
                  <a:path w="70613" h="2709333">
                    <a:moveTo>
                      <a:pt x="0" y="0"/>
                    </a:moveTo>
                    <a:lnTo>
                      <a:pt x="70613" y="0"/>
                    </a:lnTo>
                    <a:lnTo>
                      <a:pt x="70613" y="2709333"/>
                    </a:lnTo>
                    <a:lnTo>
                      <a:pt x="0" y="2709333"/>
                    </a:lnTo>
                    <a:close/>
                  </a:path>
                </a:pathLst>
              </a:custGeom>
              <a:solidFill>
                <a:srgbClr val="004AAD"/>
              </a:solidFill>
            </p:spPr>
          </p:sp>
          <p:sp>
            <p:nvSpPr>
              <p:cNvPr id="72" name="TextBox 72"/>
              <p:cNvSpPr txBox="1"/>
              <p:nvPr/>
            </p:nvSpPr>
            <p:spPr>
              <a:xfrm>
                <a:off x="0" y="-38100"/>
                <a:ext cx="70613" cy="2747433"/>
              </a:xfrm>
              <a:prstGeom prst="rect">
                <a:avLst/>
              </a:prstGeom>
            </p:spPr>
            <p:txBody>
              <a:bodyPr lIns="25400" tIns="25400" rIns="25400" bIns="25400" rtlCol="0" anchor="ctr"/>
              <a:lstStyle/>
              <a:p>
                <a:pPr algn="ctr">
                  <a:lnSpc>
                    <a:spcPts val="2660"/>
                  </a:lnSpc>
                </a:pPr>
                <a:endParaRPr sz="1200" dirty="0">
                  <a:ea typeface="微软雅黑" panose="020B0503020204020204" charset="-122"/>
                  <a:cs typeface="微软雅黑" panose="020B0503020204020204" charset="-122"/>
                </a:endParaRPr>
              </a:p>
            </p:txBody>
          </p:sp>
        </p:grpSp>
        <p:grpSp>
          <p:nvGrpSpPr>
            <p:cNvPr id="73" name="Group 73"/>
            <p:cNvGrpSpPr/>
            <p:nvPr/>
          </p:nvGrpSpPr>
          <p:grpSpPr>
            <a:xfrm>
              <a:off x="21623711" y="858331"/>
              <a:ext cx="337709" cy="578975"/>
              <a:chOff x="0" y="0"/>
              <a:chExt cx="796036" cy="1364742"/>
            </a:xfrm>
          </p:grpSpPr>
          <p:sp>
            <p:nvSpPr>
              <p:cNvPr id="74" name="Freeform 74"/>
              <p:cNvSpPr/>
              <p:nvPr/>
            </p:nvSpPr>
            <p:spPr>
              <a:xfrm>
                <a:off x="0" y="0"/>
                <a:ext cx="796036" cy="1364742"/>
              </a:xfrm>
              <a:custGeom>
                <a:avLst/>
                <a:gdLst/>
                <a:ahLst/>
                <a:cxnLst/>
                <a:rect l="l" t="t" r="r" b="b"/>
                <a:pathLst>
                  <a:path w="796036" h="1364742">
                    <a:moveTo>
                      <a:pt x="795401" y="682371"/>
                    </a:moveTo>
                    <a:lnTo>
                      <a:pt x="796036" y="681355"/>
                    </a:lnTo>
                    <a:lnTo>
                      <a:pt x="794893" y="681355"/>
                    </a:lnTo>
                    <a:lnTo>
                      <a:pt x="398018" y="0"/>
                    </a:lnTo>
                    <a:lnTo>
                      <a:pt x="1143" y="681355"/>
                    </a:lnTo>
                    <a:lnTo>
                      <a:pt x="0" y="681355"/>
                    </a:lnTo>
                    <a:lnTo>
                      <a:pt x="635" y="682371"/>
                    </a:lnTo>
                    <a:lnTo>
                      <a:pt x="0" y="683387"/>
                    </a:lnTo>
                    <a:lnTo>
                      <a:pt x="1143" y="683387"/>
                    </a:lnTo>
                    <a:lnTo>
                      <a:pt x="398018" y="1364742"/>
                    </a:lnTo>
                    <a:lnTo>
                      <a:pt x="794893" y="683387"/>
                    </a:lnTo>
                    <a:lnTo>
                      <a:pt x="796036" y="683387"/>
                    </a:lnTo>
                    <a:lnTo>
                      <a:pt x="795401" y="682371"/>
                    </a:lnTo>
                    <a:close/>
                  </a:path>
                </a:pathLst>
              </a:custGeom>
              <a:solidFill>
                <a:srgbClr val="004AAD"/>
              </a:solidFill>
            </p:spPr>
          </p:sp>
        </p:grpSp>
        <p:grpSp>
          <p:nvGrpSpPr>
            <p:cNvPr id="75" name="Group 75"/>
            <p:cNvGrpSpPr/>
            <p:nvPr/>
          </p:nvGrpSpPr>
          <p:grpSpPr>
            <a:xfrm>
              <a:off x="22233628" y="858331"/>
              <a:ext cx="337709" cy="578975"/>
              <a:chOff x="0" y="0"/>
              <a:chExt cx="796036" cy="1364742"/>
            </a:xfrm>
          </p:grpSpPr>
          <p:sp>
            <p:nvSpPr>
              <p:cNvPr id="76" name="Freeform 76"/>
              <p:cNvSpPr/>
              <p:nvPr/>
            </p:nvSpPr>
            <p:spPr>
              <a:xfrm>
                <a:off x="0" y="0"/>
                <a:ext cx="796036" cy="1364742"/>
              </a:xfrm>
              <a:custGeom>
                <a:avLst/>
                <a:gdLst/>
                <a:ahLst/>
                <a:cxnLst/>
                <a:rect l="l" t="t" r="r" b="b"/>
                <a:pathLst>
                  <a:path w="796036" h="1364742">
                    <a:moveTo>
                      <a:pt x="795401" y="682371"/>
                    </a:moveTo>
                    <a:lnTo>
                      <a:pt x="796036" y="681355"/>
                    </a:lnTo>
                    <a:lnTo>
                      <a:pt x="794893" y="681355"/>
                    </a:lnTo>
                    <a:lnTo>
                      <a:pt x="398018" y="0"/>
                    </a:lnTo>
                    <a:lnTo>
                      <a:pt x="1143" y="681355"/>
                    </a:lnTo>
                    <a:lnTo>
                      <a:pt x="0" y="681355"/>
                    </a:lnTo>
                    <a:lnTo>
                      <a:pt x="635" y="682371"/>
                    </a:lnTo>
                    <a:lnTo>
                      <a:pt x="0" y="683387"/>
                    </a:lnTo>
                    <a:lnTo>
                      <a:pt x="1143" y="683387"/>
                    </a:lnTo>
                    <a:lnTo>
                      <a:pt x="398018" y="1364742"/>
                    </a:lnTo>
                    <a:lnTo>
                      <a:pt x="794893" y="683387"/>
                    </a:lnTo>
                    <a:lnTo>
                      <a:pt x="796036" y="683387"/>
                    </a:lnTo>
                    <a:lnTo>
                      <a:pt x="795401" y="682371"/>
                    </a:lnTo>
                    <a:close/>
                  </a:path>
                </a:pathLst>
              </a:custGeom>
              <a:solidFill>
                <a:srgbClr val="004AAD"/>
              </a:solidFill>
            </p:spPr>
          </p:sp>
        </p:grpSp>
        <p:grpSp>
          <p:nvGrpSpPr>
            <p:cNvPr id="77" name="Group 77"/>
            <p:cNvGrpSpPr/>
            <p:nvPr/>
          </p:nvGrpSpPr>
          <p:grpSpPr>
            <a:xfrm>
              <a:off x="22843546" y="858331"/>
              <a:ext cx="337709" cy="578975"/>
              <a:chOff x="0" y="0"/>
              <a:chExt cx="796036" cy="1364742"/>
            </a:xfrm>
          </p:grpSpPr>
          <p:sp>
            <p:nvSpPr>
              <p:cNvPr id="78" name="Freeform 78"/>
              <p:cNvSpPr/>
              <p:nvPr/>
            </p:nvSpPr>
            <p:spPr>
              <a:xfrm>
                <a:off x="0" y="0"/>
                <a:ext cx="796036" cy="1364742"/>
              </a:xfrm>
              <a:custGeom>
                <a:avLst/>
                <a:gdLst/>
                <a:ahLst/>
                <a:cxnLst/>
                <a:rect l="l" t="t" r="r" b="b"/>
                <a:pathLst>
                  <a:path w="796036" h="1364742">
                    <a:moveTo>
                      <a:pt x="795401" y="682371"/>
                    </a:moveTo>
                    <a:lnTo>
                      <a:pt x="796036" y="681355"/>
                    </a:lnTo>
                    <a:lnTo>
                      <a:pt x="794893" y="681355"/>
                    </a:lnTo>
                    <a:lnTo>
                      <a:pt x="398018" y="0"/>
                    </a:lnTo>
                    <a:lnTo>
                      <a:pt x="1143" y="681355"/>
                    </a:lnTo>
                    <a:lnTo>
                      <a:pt x="0" y="681355"/>
                    </a:lnTo>
                    <a:lnTo>
                      <a:pt x="635" y="682371"/>
                    </a:lnTo>
                    <a:lnTo>
                      <a:pt x="0" y="683387"/>
                    </a:lnTo>
                    <a:lnTo>
                      <a:pt x="1143" y="683387"/>
                    </a:lnTo>
                    <a:lnTo>
                      <a:pt x="398018" y="1364742"/>
                    </a:lnTo>
                    <a:lnTo>
                      <a:pt x="794893" y="683387"/>
                    </a:lnTo>
                    <a:lnTo>
                      <a:pt x="796036" y="683387"/>
                    </a:lnTo>
                    <a:lnTo>
                      <a:pt x="795401" y="682371"/>
                    </a:lnTo>
                    <a:close/>
                  </a:path>
                </a:pathLst>
              </a:custGeom>
              <a:solidFill>
                <a:srgbClr val="004AAD"/>
              </a:solidFill>
            </p:spPr>
          </p:sp>
        </p:grpSp>
      </p:grpSp>
      <p:grpSp>
        <p:nvGrpSpPr>
          <p:cNvPr id="122" name="组合 121"/>
          <p:cNvGrpSpPr/>
          <p:nvPr/>
        </p:nvGrpSpPr>
        <p:grpSpPr>
          <a:xfrm>
            <a:off x="323850" y="-459228"/>
            <a:ext cx="7545533" cy="1403473"/>
            <a:chOff x="1560" y="-1634"/>
            <a:chExt cx="23765" cy="4420"/>
          </a:xfrm>
        </p:grpSpPr>
        <p:sp>
          <p:nvSpPr>
            <p:cNvPr id="125" name="TextBox 113"/>
            <p:cNvSpPr txBox="1"/>
            <p:nvPr/>
          </p:nvSpPr>
          <p:spPr>
            <a:xfrm>
              <a:off x="4260" y="-1634"/>
              <a:ext cx="21065" cy="1552"/>
            </a:xfrm>
            <a:prstGeom prst="rect">
              <a:avLst/>
            </a:prstGeom>
          </p:spPr>
          <p:txBody>
            <a:bodyPr wrap="square" lIns="0" tIns="0" rIns="0" bIns="0" rtlCol="0" anchor="t">
              <a:noAutofit/>
            </a:bodyPr>
            <a:lstStyle/>
            <a:p>
              <a:pPr algn="l">
                <a:lnSpc>
                  <a:spcPts val="9920"/>
                </a:lnSpc>
              </a:pPr>
              <a:r>
                <a:rPr lang="en-US" altLang="zh-CN" sz="2200">
                  <a:solidFill>
                    <a:srgbClr val="004AAD"/>
                  </a:solidFill>
                  <a:latin typeface="微软雅黑" panose="020B0503020204020204" charset="-122"/>
                  <a:ea typeface="微软雅黑" panose="020B0503020204020204" charset="-122"/>
                  <a:cs typeface="微软雅黑" panose="020B0503020204020204" charset="-122"/>
                  <a:sym typeface="微软雅黑" panose="020B0503020204020204" charset="-122"/>
                </a:rPr>
                <a:t>Trae SOLO</a:t>
              </a:r>
              <a:r>
                <a:rPr lang="zh-CN" altLang="en-US" sz="2200">
                  <a:solidFill>
                    <a:srgbClr val="004AAD"/>
                  </a:solidFill>
                  <a:latin typeface="微软雅黑" panose="020B0503020204020204" charset="-122"/>
                  <a:ea typeface="微软雅黑" panose="020B0503020204020204" charset="-122"/>
                  <a:cs typeface="微软雅黑" panose="020B0503020204020204" charset="-122"/>
                  <a:sym typeface="微软雅黑" panose="020B0503020204020204" charset="-122"/>
                </a:rPr>
                <a:t>实战</a:t>
              </a:r>
              <a:endParaRPr lang="zh-CN" altLang="en-US" sz="2200">
                <a:solidFill>
                  <a:srgbClr val="004AAD"/>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24" name="图片 136" descr="仅校徽"/>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60" y="686"/>
              <a:ext cx="2100" cy="2100"/>
            </a:xfrm>
            <a:prstGeom prst="rect">
              <a:avLst/>
            </a:prstGeom>
          </p:spPr>
        </p:pic>
      </p:grpSp>
      <p:pic>
        <p:nvPicPr>
          <p:cNvPr id="85" name="图片 84"/>
          <p:cNvPicPr>
            <a:picLocks noChangeAspect="1"/>
          </p:cNvPicPr>
          <p:nvPr/>
        </p:nvPicPr>
        <p:blipFill>
          <a:blip r:embed="rId4"/>
          <a:stretch>
            <a:fillRect/>
          </a:stretch>
        </p:blipFill>
        <p:spPr>
          <a:xfrm>
            <a:off x="179705" y="2059305"/>
            <a:ext cx="6135370" cy="3567430"/>
          </a:xfrm>
          <a:prstGeom prst="rect">
            <a:avLst/>
          </a:prstGeom>
        </p:spPr>
      </p:pic>
      <p:pic>
        <p:nvPicPr>
          <p:cNvPr id="80" name="图片 79"/>
          <p:cNvPicPr>
            <a:picLocks noChangeAspect="1"/>
          </p:cNvPicPr>
          <p:nvPr/>
        </p:nvPicPr>
        <p:blipFill>
          <a:blip r:embed="rId5"/>
          <a:stretch>
            <a:fillRect/>
          </a:stretch>
        </p:blipFill>
        <p:spPr>
          <a:xfrm>
            <a:off x="1475740" y="981075"/>
            <a:ext cx="5198428" cy="1022668"/>
          </a:xfrm>
          <a:prstGeom prst="rect">
            <a:avLst/>
          </a:prstGeom>
        </p:spPr>
      </p:pic>
      <p:sp>
        <p:nvSpPr>
          <p:cNvPr id="81" name="TextBox 92"/>
          <p:cNvSpPr txBox="1"/>
          <p:nvPr/>
        </p:nvSpPr>
        <p:spPr>
          <a:xfrm>
            <a:off x="539750" y="1101725"/>
            <a:ext cx="965200" cy="527685"/>
          </a:xfrm>
          <a:prstGeom prst="rect">
            <a:avLst/>
          </a:prstGeom>
        </p:spPr>
        <p:txBody>
          <a:bodyPr wrap="square" lIns="0" tIns="0" rIns="0" bIns="0" rtlCol="0" anchor="t">
            <a:noAutofit/>
          </a:bodyPr>
          <a:lstStyle/>
          <a:p>
            <a:pPr algn="ctr">
              <a:lnSpc>
                <a:spcPts val="3040"/>
              </a:lnSpc>
            </a:pPr>
            <a:r>
              <a:rPr lang="zh-CN" altLang="en-US"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工作流程如右侧所示</a:t>
            </a:r>
            <a:endParaRPr lang="en-US" altLang="zh-CN"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lnSpc>
                <a:spcPts val="3040"/>
              </a:lnSpc>
            </a:pPr>
            <a:endParaRPr lang="zh-CN" altLang="en-US"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2" name="TextBox 92"/>
          <p:cNvSpPr txBox="1"/>
          <p:nvPr/>
        </p:nvSpPr>
        <p:spPr>
          <a:xfrm>
            <a:off x="6516370" y="1484630"/>
            <a:ext cx="2307590" cy="2964180"/>
          </a:xfrm>
          <a:prstGeom prst="rect">
            <a:avLst/>
          </a:prstGeom>
        </p:spPr>
        <p:txBody>
          <a:bodyPr wrap="square" lIns="0" tIns="0" rIns="0" bIns="0" rtlCol="0" anchor="t">
            <a:noAutofit/>
          </a:bodyPr>
          <a:lstStyle/>
          <a:p>
            <a:pPr algn="l">
              <a:lnSpc>
                <a:spcPts val="3040"/>
              </a:lnSpc>
            </a:pPr>
            <a:r>
              <a:rPr lang="en-US" altLang="zh-CN"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1.</a:t>
            </a:r>
            <a:r>
              <a:rPr lang="zh-CN" altLang="en-US"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在与</a:t>
            </a:r>
            <a:r>
              <a:rPr lang="en-US" altLang="zh-CN"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SOLO Code</a:t>
            </a:r>
            <a:r>
              <a:rPr lang="zh-CN" altLang="en-US"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聊天框中输入你的需求，例如输入编写一个贪吃蛇程序</a:t>
            </a:r>
            <a:endParaRPr lang="en-US" altLang="zh-CN"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l">
              <a:lnSpc>
                <a:spcPts val="3040"/>
              </a:lnSpc>
            </a:pPr>
            <a:r>
              <a:rPr lang="en-US" altLang="zh-CN"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2.AI</a:t>
            </a:r>
            <a:r>
              <a:rPr lang="zh-CN" altLang="en-US"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会为你生成一个工作流，询问你是否有修改的地方，你进行相应修改</a:t>
            </a:r>
            <a:endParaRPr lang="zh-CN" altLang="en-US"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l">
              <a:lnSpc>
                <a:spcPts val="3040"/>
              </a:lnSpc>
            </a:pPr>
            <a:r>
              <a:rPr lang="en-US" altLang="zh-CN"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3.</a:t>
            </a:r>
            <a:r>
              <a:rPr lang="zh-CN" altLang="en-US"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生成最终的技术线路让你来确认</a:t>
            </a:r>
            <a:endParaRPr lang="zh-CN" altLang="en-US"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l">
              <a:lnSpc>
                <a:spcPts val="3040"/>
              </a:lnSpc>
            </a:pPr>
            <a:r>
              <a:rPr lang="en-US" altLang="zh-CN"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4.AI</a:t>
            </a:r>
            <a:r>
              <a:rPr lang="zh-CN" altLang="en-US"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开始设计代码，配置环境，运行调试，最终可以生成右侧的文件</a:t>
            </a:r>
            <a:endParaRPr lang="en-US" altLang="zh-CN"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l">
              <a:lnSpc>
                <a:spcPts val="3040"/>
              </a:lnSpc>
            </a:pPr>
            <a:endParaRPr lang="zh-CN" altLang="en-US" sz="14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5. </a:t>
            </a: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程序效率</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3107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31076" name="Rectangle 2"/>
          <p:cNvSpPr/>
          <p:nvPr/>
        </p:nvSpPr>
        <p:spPr>
          <a:xfrm>
            <a:off x="755650" y="946150"/>
            <a:ext cx="3048000" cy="838200"/>
          </a:xfrm>
          <a:prstGeom prst="rect">
            <a:avLst/>
          </a:prstGeom>
          <a:noFill/>
          <a:ln w="9525">
            <a:noFill/>
          </a:ln>
        </p:spPr>
        <p:txBody>
          <a:bodyPr lIns="92075" tIns="46038" rIns="92075" bIns="46038" anchor="ctr" anchorCtr="0"/>
          <a:p>
            <a:pPr algn="just" eaLnBrk="1" hangingPunct="1"/>
            <a:r>
              <a:rPr lang="zh-CN" altLang="en-US" sz="2800" dirty="0">
                <a:solidFill>
                  <a:srgbClr val="CC0000"/>
                </a:solidFill>
                <a:latin typeface="华文中宋" panose="02010600040101010101" pitchFamily="2" charset="-122"/>
              </a:rPr>
              <a:t>程序效率</a:t>
            </a:r>
            <a:endParaRPr lang="zh-CN" altLang="en-US" sz="2800" dirty="0">
              <a:solidFill>
                <a:srgbClr val="CC0000"/>
              </a:solidFill>
              <a:latin typeface="华文中宋" panose="02010600040101010101" pitchFamily="2" charset="-122"/>
            </a:endParaRPr>
          </a:p>
        </p:txBody>
      </p:sp>
      <p:pic>
        <p:nvPicPr>
          <p:cNvPr id="131077" name="Picture 4" descr="wu07"/>
          <p:cNvPicPr>
            <a:picLocks noChangeAspect="1"/>
          </p:cNvPicPr>
          <p:nvPr/>
        </p:nvPicPr>
        <p:blipFill>
          <a:blip r:embed="rId1"/>
          <a:stretch>
            <a:fillRect/>
          </a:stretch>
        </p:blipFill>
        <p:spPr>
          <a:xfrm>
            <a:off x="285750" y="1114425"/>
            <a:ext cx="628650" cy="514350"/>
          </a:xfrm>
          <a:prstGeom prst="rect">
            <a:avLst/>
          </a:prstGeom>
          <a:noFill/>
          <a:ln w="9525">
            <a:noFill/>
          </a:ln>
        </p:spPr>
      </p:pic>
      <p:sp>
        <p:nvSpPr>
          <p:cNvPr id="11" name="Rectangle 3"/>
          <p:cNvSpPr>
            <a:spLocks noChangeArrowheads="1"/>
          </p:cNvSpPr>
          <p:nvPr/>
        </p:nvSpPr>
        <p:spPr bwMode="auto">
          <a:xfrm>
            <a:off x="642938" y="1920875"/>
            <a:ext cx="7858125" cy="3956050"/>
          </a:xfrm>
          <a:prstGeom prst="rect">
            <a:avLst/>
          </a:prstGeom>
          <a:noFill/>
          <a:ln>
            <a:noFill/>
          </a:ln>
          <a:effectLst/>
        </p:spPr>
        <p:txBody>
          <a:bodyPr lIns="92075" tIns="46038" rIns="92075" bIns="46038"/>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讨论效率的准则</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时间和空间</a:t>
            </a: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endParaRPr>
          </a:p>
          <a:p>
            <a:pPr marL="457200" marR="0" lvl="0" indent="-4572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程序的效率是指</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程序的执行速度</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及</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程序所需占用的内存的存储空间。</a:t>
            </a:r>
            <a:endParaRPr kumimoji="0" lang="en-US" altLang="zh-CN"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a:p>
            <a:pPr marL="457200" marR="0" lvl="0" indent="-4572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程序编码是最后提高运行速度和节省存储的机会，因此在此阶段考虑程序的效率。让我们首先明确讨论程序效率的几条准则</a:t>
            </a:r>
            <a:endPar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程序效率</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3312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7" name="Rectangle 2"/>
          <p:cNvSpPr>
            <a:spLocks noChangeArrowheads="1"/>
          </p:cNvSpPr>
          <p:nvPr/>
        </p:nvSpPr>
        <p:spPr bwMode="auto">
          <a:xfrm>
            <a:off x="574675" y="1357313"/>
            <a:ext cx="7993063" cy="4552950"/>
          </a:xfrm>
          <a:prstGeom prst="rect">
            <a:avLst/>
          </a:prstGeom>
          <a:noFill/>
          <a:ln>
            <a:noFill/>
          </a:ln>
          <a:effectLst/>
        </p:spPr>
        <p:txBody>
          <a:bodyPr lIns="92075" tIns="46038" rIns="92075" bIns="46038"/>
          <a:lstStyle/>
          <a:p>
            <a:pPr marL="457200" marR="0" lvl="1" indent="0" algn="l" defTabSz="914400" rtl="0" eaLnBrk="1" fontAlgn="base" latinLnBrk="0" hangingPunct="1">
              <a:lnSpc>
                <a:spcPct val="150000"/>
              </a:lnSpc>
              <a:spcBef>
                <a:spcPct val="0"/>
              </a:spcBef>
              <a:spcAft>
                <a:spcPct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  </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效率是一个性能要求，应当在需求分析阶段给出。</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软件效率以需求为准</a:t>
            </a: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，不应以人力所及为准。</a:t>
            </a:r>
            <a:endPar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endParaRPr>
          </a:p>
          <a:p>
            <a:pPr marL="914400" marR="0" lvl="1" indent="-4572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 </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好的设计可以提高效率。</a:t>
            </a:r>
            <a:endPar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a:p>
            <a:pPr marL="914400" marR="0" lvl="1" indent="-4572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 程序的</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效率与程序的简单性相关。</a:t>
            </a:r>
            <a:endPar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a:p>
            <a:pPr marL="914400" marR="0" lvl="1" indent="-4572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 一般说来，任何对效率无重要改善，且对程序的简单性、可读性和正确性不利的程序设计方法都是不可取的。</a:t>
            </a:r>
            <a:endParaRPr kumimoji="0" lang="zh-CN" altLang="en-US" sz="2400" b="0"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算法对效率的影响</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3517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9" name="Rectangle 2"/>
          <p:cNvSpPr>
            <a:spLocks noChangeArrowheads="1"/>
          </p:cNvSpPr>
          <p:nvPr/>
        </p:nvSpPr>
        <p:spPr bwMode="auto">
          <a:xfrm>
            <a:off x="250825" y="1046163"/>
            <a:ext cx="5105400" cy="838200"/>
          </a:xfrm>
          <a:prstGeom prst="rect">
            <a:avLst/>
          </a:prstGeom>
          <a:noFill/>
          <a:ln>
            <a:noFill/>
          </a:ln>
          <a:effectLst/>
        </p:spPr>
        <p:txBody>
          <a:bodyPr lIns="92075" tIns="46038" rIns="92075" bIns="46038" anchor="ctr"/>
          <a:lstStyle>
            <a:lvl1pPr>
              <a:tabLst>
                <a:tab pos="1041400" algn="l"/>
              </a:tabLst>
              <a:defRPr kumimoji="1" sz="2400">
                <a:solidFill>
                  <a:schemeClr val="tx1"/>
                </a:solidFill>
                <a:latin typeface="Times New Roman" panose="02020603050405020304" pitchFamily="18" charset="0"/>
                <a:ea typeface="宋体" panose="02010600030101010101" pitchFamily="2" charset="-122"/>
              </a:defRPr>
            </a:lvl1pPr>
            <a:lvl2pPr>
              <a:tabLst>
                <a:tab pos="1041400" algn="l"/>
              </a:tabLst>
              <a:defRPr kumimoji="1" sz="2400">
                <a:solidFill>
                  <a:schemeClr val="tx1"/>
                </a:solidFill>
                <a:latin typeface="Times New Roman" panose="02020603050405020304" pitchFamily="18" charset="0"/>
                <a:ea typeface="宋体" panose="02010600030101010101" pitchFamily="2" charset="-122"/>
              </a:defRPr>
            </a:lvl2pPr>
            <a:lvl3pPr>
              <a:tabLst>
                <a:tab pos="1041400" algn="l"/>
              </a:tabLst>
              <a:defRPr kumimoji="1" sz="2400">
                <a:solidFill>
                  <a:schemeClr val="tx1"/>
                </a:solidFill>
                <a:latin typeface="Times New Roman" panose="02020603050405020304" pitchFamily="18" charset="0"/>
                <a:ea typeface="宋体" panose="02010600030101010101" pitchFamily="2" charset="-122"/>
              </a:defRPr>
            </a:lvl3pPr>
            <a:lvl4pPr>
              <a:tabLst>
                <a:tab pos="1041400" algn="l"/>
              </a:tabLst>
              <a:defRPr kumimoji="1" sz="2400">
                <a:solidFill>
                  <a:schemeClr val="tx1"/>
                </a:solidFill>
                <a:latin typeface="Times New Roman" panose="02020603050405020304" pitchFamily="18" charset="0"/>
                <a:ea typeface="宋体" panose="02010600030101010101" pitchFamily="2" charset="-122"/>
              </a:defRPr>
            </a:lvl4pPr>
            <a:lvl5pPr>
              <a:tabLst>
                <a:tab pos="10414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10414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10414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10414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1041400" algn="l"/>
              </a:tabLs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tab pos="1041400" algn="l"/>
              </a:tabLst>
              <a:defRPr/>
            </a:pPr>
            <a:r>
              <a:rPr kumimoji="1" lang="en-US" altLang="zh-CN"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1</a:t>
            </a:r>
            <a:r>
              <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、算法对效率的影响</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10" name="Rectangle 3"/>
          <p:cNvSpPr>
            <a:spLocks noChangeArrowheads="1"/>
          </p:cNvSpPr>
          <p:nvPr/>
        </p:nvSpPr>
        <p:spPr bwMode="auto">
          <a:xfrm>
            <a:off x="684213" y="2060575"/>
            <a:ext cx="7543800" cy="4467225"/>
          </a:xfrm>
          <a:prstGeom prst="rect">
            <a:avLst/>
          </a:prstGeom>
          <a:noFill/>
          <a:ln>
            <a:noFill/>
          </a:ln>
          <a:effectLst/>
        </p:spPr>
        <p:txBody>
          <a:bodyPr lIns="92075" tIns="46038" rIns="92075" bIns="46038"/>
          <a:lstStyle/>
          <a:p>
            <a:pPr marL="457200" marR="0" lvl="0" indent="-4572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zh-CN" altLang="en-US" sz="2400" b="1"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源程序的</a:t>
            </a:r>
            <a:r>
              <a:rPr kumimoji="0" lang="zh-CN" altLang="en-US"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效率与详细设计阶段确定的算法的效率直接有关。</a:t>
            </a:r>
            <a:endParaRPr kumimoji="0" lang="en-US" altLang="zh-CN" sz="2400" b="1"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a:p>
            <a:pPr marL="457200" marR="0" lvl="0" indent="-457200" algn="l" defTabSz="914400" rtl="0" eaLnBrk="1" fontAlgn="base" latinLnBrk="0" hangingPunct="1">
              <a:lnSpc>
                <a:spcPct val="150000"/>
              </a:lnSpc>
              <a:spcBef>
                <a:spcPct val="0"/>
              </a:spcBef>
              <a:spcAft>
                <a:spcPct val="0"/>
              </a:spcAft>
              <a:buClrTx/>
              <a:buSzTx/>
              <a:buFont typeface="Arial" panose="020B0604020202020204" pitchFamily="34" charset="0"/>
              <a:buChar char="•"/>
              <a:defRPr/>
            </a:pPr>
            <a:r>
              <a:rPr kumimoji="0" lang="zh-CN" altLang="en-US" sz="2400" b="1"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t>在详细设计翻译转换成源程序代码后，</a:t>
            </a:r>
            <a:r>
              <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算法效率反映为程序的执行速度和存储容量的要求。</a:t>
            </a:r>
            <a:endParaRPr kumimoji="0" lang="zh-CN" altLang="en-US" sz="24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10000"/>
              </a:lnSpc>
              <a:spcBef>
                <a:spcPct val="0"/>
              </a:spcBef>
              <a:spcAft>
                <a:spcPct val="0"/>
              </a:spcAft>
              <a:buClrTx/>
              <a:buSzTx/>
              <a:buFontTx/>
              <a:buNone/>
              <a:defRPr/>
            </a:pPr>
            <a:br>
              <a:rPr kumimoji="0" lang="zh-CN" altLang="en-US" sz="2400" b="1"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br>
            <a:br>
              <a:rPr kumimoji="0" lang="zh-CN" altLang="en-US" sz="2400" b="1"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rPr>
            </a:br>
            <a:endParaRPr kumimoji="0" lang="zh-CN" altLang="en-US" sz="2400" b="1" i="0" u="none" strike="noStrike" kern="1200" cap="none" spc="0" normalizeH="0" baseline="0" noProof="0" dirty="0">
              <a:ln>
                <a:noFill/>
              </a:ln>
              <a:solidFill>
                <a:prstClr val="black"/>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算法对效率的影响</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3721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37220" name="Rectangle 2"/>
          <p:cNvSpPr/>
          <p:nvPr/>
        </p:nvSpPr>
        <p:spPr>
          <a:xfrm>
            <a:off x="685800" y="1773238"/>
            <a:ext cx="7772400" cy="4484687"/>
          </a:xfrm>
          <a:prstGeom prst="rect">
            <a:avLst/>
          </a:prstGeom>
          <a:noFill/>
          <a:ln w="9525">
            <a:noFill/>
          </a:ln>
        </p:spPr>
        <p:txBody>
          <a:bodyPr lIns="92075" tIns="46038" rIns="92075" bIns="46038"/>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50000"/>
              </a:lnSpc>
              <a:spcBef>
                <a:spcPct val="0"/>
              </a:spcBef>
              <a:buClrTx/>
              <a:buSzTx/>
              <a:buFontTx/>
              <a:buNone/>
            </a:pPr>
            <a:r>
              <a:rPr lang="en-US" altLang="zh-CN" sz="2400" dirty="0">
                <a:latin typeface="华文中宋" panose="02010600040101010101" pitchFamily="2" charset="-122"/>
                <a:ea typeface="华文中宋" panose="02010600040101010101" pitchFamily="2" charset="-122"/>
              </a:rPr>
              <a:t>  ① </a:t>
            </a:r>
            <a:r>
              <a:rPr lang="zh-CN" altLang="en-US" sz="2400" dirty="0">
                <a:latin typeface="华文中宋" panose="02010600040101010101" pitchFamily="2" charset="-122"/>
                <a:ea typeface="华文中宋" panose="02010600040101010101" pitchFamily="2" charset="-122"/>
              </a:rPr>
              <a:t>在编程序前，尽可能化简有关的算术表达式和逻辑表达式；</a:t>
            </a:r>
            <a:endParaRPr lang="zh-CN" altLang="en-US" sz="2400" dirty="0">
              <a:latin typeface="华文中宋" panose="02010600040101010101" pitchFamily="2" charset="-122"/>
              <a:ea typeface="华文中宋" panose="02010600040101010101" pitchFamily="2" charset="-122"/>
            </a:endParaRPr>
          </a:p>
          <a:p>
            <a:pPr marL="0" lvl="0" indent="0" algn="l" eaLnBrk="1" hangingPunct="1">
              <a:lnSpc>
                <a:spcPct val="150000"/>
              </a:lnSpc>
              <a:spcBef>
                <a:spcPct val="0"/>
              </a:spcBef>
              <a:buClrTx/>
              <a:buSzTx/>
              <a:buFontTx/>
              <a:buNone/>
            </a:pPr>
            <a:r>
              <a:rPr lang="zh-CN" altLang="en-US" sz="2400" dirty="0">
                <a:latin typeface="华文中宋" panose="02010600040101010101" pitchFamily="2" charset="-122"/>
                <a:ea typeface="华文中宋" panose="02010600040101010101" pitchFamily="2" charset="-122"/>
              </a:rPr>
              <a:t>  ② 仔细检查算法中的嵌套的循环，尽可能将某些语句或表达式移到循环外面；</a:t>
            </a:r>
            <a:endParaRPr lang="zh-CN" altLang="en-US" sz="2400" dirty="0">
              <a:latin typeface="华文中宋" panose="02010600040101010101" pitchFamily="2" charset="-122"/>
              <a:ea typeface="华文中宋" panose="02010600040101010101" pitchFamily="2" charset="-122"/>
            </a:endParaRPr>
          </a:p>
          <a:p>
            <a:pPr marL="0" lvl="0" indent="0" algn="l" eaLnBrk="1" hangingPunct="1">
              <a:lnSpc>
                <a:spcPct val="150000"/>
              </a:lnSpc>
              <a:spcBef>
                <a:spcPct val="0"/>
              </a:spcBef>
              <a:buClrTx/>
              <a:buSzTx/>
              <a:buFontTx/>
              <a:buNone/>
            </a:pPr>
            <a:r>
              <a:rPr lang="zh-CN" altLang="en-US" sz="2400" dirty="0">
                <a:latin typeface="华文中宋" panose="02010600040101010101" pitchFamily="2" charset="-122"/>
                <a:ea typeface="华文中宋" panose="02010600040101010101" pitchFamily="2" charset="-122"/>
              </a:rPr>
              <a:t>  ③ 尽量避免使用多维数组；</a:t>
            </a:r>
            <a:endParaRPr lang="zh-CN" altLang="en-US" sz="2400" dirty="0">
              <a:latin typeface="华文中宋" panose="02010600040101010101" pitchFamily="2" charset="-122"/>
              <a:ea typeface="华文中宋" panose="02010600040101010101" pitchFamily="2" charset="-122"/>
            </a:endParaRPr>
          </a:p>
          <a:p>
            <a:pPr marL="0" lvl="0" indent="0" algn="l" eaLnBrk="1" hangingPunct="1">
              <a:lnSpc>
                <a:spcPct val="150000"/>
              </a:lnSpc>
              <a:spcBef>
                <a:spcPct val="0"/>
              </a:spcBef>
              <a:buClrTx/>
              <a:buSzTx/>
              <a:buFontTx/>
              <a:buNone/>
            </a:pPr>
            <a:r>
              <a:rPr lang="zh-CN" altLang="en-US" sz="2400" dirty="0">
                <a:latin typeface="华文中宋" panose="02010600040101010101" pitchFamily="2" charset="-122"/>
                <a:ea typeface="华文中宋" panose="02010600040101010101" pitchFamily="2" charset="-122"/>
              </a:rPr>
              <a:t>  ④ 尽量避免使用指针和复杂的表；</a:t>
            </a:r>
            <a:endParaRPr lang="zh-CN" altLang="en-US" sz="2400" dirty="0">
              <a:latin typeface="华文中宋" panose="02010600040101010101" pitchFamily="2" charset="-122"/>
              <a:ea typeface="华文中宋" panose="02010600040101010101" pitchFamily="2" charset="-122"/>
            </a:endParaRPr>
          </a:p>
          <a:p>
            <a:pPr marL="0" lvl="0" indent="0" algn="l" eaLnBrk="1" hangingPunct="1">
              <a:lnSpc>
                <a:spcPct val="150000"/>
              </a:lnSpc>
              <a:spcBef>
                <a:spcPct val="0"/>
              </a:spcBef>
              <a:buClrTx/>
              <a:buSzTx/>
              <a:buFontTx/>
              <a:buNone/>
            </a:pPr>
            <a:r>
              <a:rPr lang="zh-CN" altLang="en-US" sz="2400" dirty="0">
                <a:latin typeface="华文中宋" panose="02010600040101010101" pitchFamily="2" charset="-122"/>
                <a:ea typeface="华文中宋" panose="02010600040101010101" pitchFamily="2" charset="-122"/>
              </a:rPr>
              <a:t>  ⑤ 采用“快速”的算术运算；</a:t>
            </a:r>
            <a:endParaRPr lang="zh-CN" altLang="en-US" sz="2400" dirty="0">
              <a:latin typeface="华文中宋" panose="02010600040101010101" pitchFamily="2" charset="-122"/>
              <a:ea typeface="华文中宋" panose="02010600040101010101" pitchFamily="2" charset="-122"/>
            </a:endParaRPr>
          </a:p>
          <a:p>
            <a:pPr marL="0" lvl="0" indent="0" algn="l" eaLnBrk="1" hangingPunct="1">
              <a:lnSpc>
                <a:spcPct val="150000"/>
              </a:lnSpc>
              <a:spcBef>
                <a:spcPct val="0"/>
              </a:spcBef>
              <a:buClrTx/>
              <a:buSzTx/>
              <a:buFontTx/>
              <a:buNone/>
            </a:pPr>
            <a:r>
              <a:rPr lang="zh-CN" altLang="en-US" sz="2400" dirty="0">
                <a:latin typeface="华文中宋" panose="02010600040101010101" pitchFamily="2" charset="-122"/>
                <a:ea typeface="华文中宋" panose="02010600040101010101" pitchFamily="2" charset="-122"/>
              </a:rPr>
              <a:t>  </a:t>
            </a:r>
            <a:endParaRPr lang="zh-CN" altLang="en-US" sz="2400" dirty="0">
              <a:latin typeface="华文中宋" panose="02010600040101010101" pitchFamily="2" charset="-122"/>
              <a:ea typeface="华文中宋" panose="02010600040101010101" pitchFamily="2" charset="-122"/>
            </a:endParaRPr>
          </a:p>
        </p:txBody>
      </p:sp>
      <p:sp>
        <p:nvSpPr>
          <p:cNvPr id="3" name="矩形 2"/>
          <p:cNvSpPr/>
          <p:nvPr/>
        </p:nvSpPr>
        <p:spPr>
          <a:xfrm>
            <a:off x="449263" y="1069975"/>
            <a:ext cx="5929313" cy="52387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设计</a:t>
            </a:r>
            <a:r>
              <a:rPr kumimoji="1" lang="zh-CN" altLang="en-US" sz="28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向程序转换</a:t>
            </a:r>
            <a:r>
              <a:rPr kumimoji="0" lang="zh-CN" altLang="en-US" sz="28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过程中的指导原则：</a:t>
            </a:r>
            <a:endParaRPr kumimoji="0" lang="zh-CN" altLang="en-US" sz="28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算法对效率的影响</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39267"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39268" name="Rectangle 2"/>
          <p:cNvSpPr/>
          <p:nvPr/>
        </p:nvSpPr>
        <p:spPr>
          <a:xfrm>
            <a:off x="684213" y="1373188"/>
            <a:ext cx="7315200" cy="4546600"/>
          </a:xfrm>
          <a:prstGeom prst="rect">
            <a:avLst/>
          </a:prstGeom>
          <a:noFill/>
          <a:ln w="9525">
            <a:noFill/>
          </a:ln>
        </p:spPr>
        <p:txBody>
          <a:bodyPr lIns="92075" tIns="46038" rIns="92075" bIns="46038"/>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50000"/>
              </a:lnSpc>
              <a:spcBef>
                <a:spcPct val="0"/>
              </a:spcBef>
              <a:buClrTx/>
              <a:buSzTx/>
              <a:buNone/>
            </a:pPr>
            <a:r>
              <a:rPr lang="en-US" altLang="zh-CN" sz="2400" dirty="0">
                <a:latin typeface="华文中宋" panose="02010600040101010101" pitchFamily="2" charset="-122"/>
                <a:ea typeface="华文中宋" panose="02010600040101010101" pitchFamily="2" charset="-122"/>
              </a:rPr>
              <a:t>  ⑥ </a:t>
            </a:r>
            <a:r>
              <a:rPr lang="zh-CN" altLang="en-US" sz="2400" dirty="0">
                <a:latin typeface="华文中宋" panose="02010600040101010101" pitchFamily="2" charset="-122"/>
                <a:ea typeface="华文中宋" panose="02010600040101010101" pitchFamily="2" charset="-122"/>
              </a:rPr>
              <a:t>不要混淆数据类型，避免在表达式中出现类型混杂；</a:t>
            </a:r>
            <a:endParaRPr lang="zh-CN" altLang="en-US" sz="2400" dirty="0">
              <a:latin typeface="华文中宋" panose="02010600040101010101" pitchFamily="2" charset="-122"/>
              <a:ea typeface="华文中宋" panose="02010600040101010101" pitchFamily="2" charset="-122"/>
            </a:endParaRPr>
          </a:p>
          <a:p>
            <a:pPr marL="0" lvl="0" indent="0" algn="l" eaLnBrk="1" hangingPunct="1">
              <a:lnSpc>
                <a:spcPct val="150000"/>
              </a:lnSpc>
              <a:spcBef>
                <a:spcPct val="0"/>
              </a:spcBef>
              <a:buClrTx/>
              <a:buSzTx/>
              <a:buNone/>
            </a:pPr>
            <a:r>
              <a:rPr lang="zh-CN" altLang="en-US" sz="2400" dirty="0">
                <a:latin typeface="华文中宋" panose="02010600040101010101" pitchFamily="2" charset="-122"/>
                <a:ea typeface="华文中宋" panose="02010600040101010101" pitchFamily="2" charset="-122"/>
              </a:rPr>
              <a:t>  ⑦ 尽量采用整数算术表达式和布尔表达式；</a:t>
            </a:r>
            <a:endParaRPr lang="zh-CN" altLang="en-US" sz="2400" dirty="0">
              <a:latin typeface="华文中宋" panose="02010600040101010101" pitchFamily="2" charset="-122"/>
              <a:ea typeface="华文中宋" panose="02010600040101010101" pitchFamily="2" charset="-122"/>
            </a:endParaRPr>
          </a:p>
          <a:p>
            <a:pPr marL="0" lvl="0" indent="0" algn="l" eaLnBrk="1" hangingPunct="1">
              <a:lnSpc>
                <a:spcPct val="150000"/>
              </a:lnSpc>
              <a:spcBef>
                <a:spcPct val="0"/>
              </a:spcBef>
              <a:buClrTx/>
              <a:buSzTx/>
              <a:buNone/>
            </a:pPr>
            <a:r>
              <a:rPr lang="zh-CN" altLang="en-US" sz="2400" dirty="0">
                <a:latin typeface="华文中宋" panose="02010600040101010101" pitchFamily="2" charset="-122"/>
                <a:ea typeface="华文中宋" panose="02010600040101010101" pitchFamily="2" charset="-122"/>
              </a:rPr>
              <a:t>  ⑧ 选用等效的高效率算法；</a:t>
            </a:r>
            <a:endParaRPr lang="zh-CN" altLang="en-US" sz="2400" dirty="0">
              <a:latin typeface="华文中宋" panose="02010600040101010101" pitchFamily="2" charset="-122"/>
              <a:ea typeface="华文中宋" panose="02010600040101010101" pitchFamily="2" charset="-122"/>
            </a:endParaRPr>
          </a:p>
          <a:p>
            <a:pPr marL="0" lvl="0" indent="0" algn="l" eaLnBrk="1" hangingPunct="1">
              <a:lnSpc>
                <a:spcPct val="150000"/>
              </a:lnSpc>
              <a:spcBef>
                <a:spcPct val="0"/>
              </a:spcBef>
              <a:buClrTx/>
              <a:buSzTx/>
              <a:buNone/>
            </a:pPr>
            <a:r>
              <a:rPr lang="zh-CN" altLang="en-US" sz="2400" dirty="0">
                <a:latin typeface="宋体" panose="02010600030101010101" pitchFamily="2" charset="-122"/>
              </a:rPr>
              <a:t> ⑨</a:t>
            </a:r>
            <a:r>
              <a:rPr lang="zh-CN" altLang="en-US" sz="2400" dirty="0">
                <a:latin typeface="华文中宋" panose="02010600040101010101" pitchFamily="2" charset="-122"/>
                <a:ea typeface="华文中宋" panose="02010600040101010101" pitchFamily="2" charset="-122"/>
              </a:rPr>
              <a:t>许多编译程序具有“优化”功能，可以自动生成高效率的目标代码。</a:t>
            </a:r>
            <a:endParaRPr lang="zh-CN" altLang="en-US" sz="2400" dirty="0">
              <a:latin typeface="华文中宋" panose="02010600040101010101" pitchFamily="2" charset="-122"/>
              <a:ea typeface="华文中宋" panose="02010600040101010101" pitchFamily="2" charset="-122"/>
            </a:endParaRPr>
          </a:p>
        </p:txBody>
      </p:sp>
    </p:spTree>
  </p:cSld>
  <p:clrMapOvr>
    <a:masterClrMapping/>
  </p:clrMapOvr>
  <p:transition spd="med">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影响存储器效率的因素</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41315"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2" name="Rectangle 2"/>
          <p:cNvSpPr>
            <a:spLocks noChangeArrowheads="1"/>
          </p:cNvSpPr>
          <p:nvPr/>
        </p:nvSpPr>
        <p:spPr bwMode="auto">
          <a:xfrm>
            <a:off x="393700" y="976313"/>
            <a:ext cx="6172200" cy="838200"/>
          </a:xfrm>
          <a:prstGeom prst="rect">
            <a:avLst/>
          </a:prstGeom>
          <a:noFill/>
          <a:ln>
            <a:noFill/>
          </a:ln>
          <a:effectLst/>
        </p:spPr>
        <p:txBody>
          <a:bodyPr lIns="92075" tIns="46038" rIns="92075" bIns="46038" anchor="ct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2</a:t>
            </a:r>
            <a:r>
              <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、影响存储器效率的因素</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141317" name="Rectangle 3"/>
          <p:cNvSpPr/>
          <p:nvPr/>
        </p:nvSpPr>
        <p:spPr>
          <a:xfrm>
            <a:off x="515938" y="2060575"/>
            <a:ext cx="8112125" cy="3590925"/>
          </a:xfrm>
          <a:prstGeom prst="rect">
            <a:avLst/>
          </a:prstGeom>
          <a:noFill/>
          <a:ln w="9525">
            <a:noFill/>
          </a:ln>
        </p:spPr>
        <p:txBody>
          <a:bodyPr lIns="92075" tIns="46038" rIns="92075" bIns="46038"/>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b="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stStyle>
          <a:p>
            <a:pPr marL="0" lvl="0" indent="0" algn="l" eaLnBrk="1" hangingPunct="1">
              <a:lnSpc>
                <a:spcPct val="150000"/>
              </a:lnSpc>
              <a:spcBef>
                <a:spcPct val="0"/>
              </a:spcBef>
              <a:buClrTx/>
              <a:buSzTx/>
              <a:buFontTx/>
              <a:buNone/>
            </a:pPr>
            <a:r>
              <a:rPr lang="zh-CN" altLang="en-US" sz="2400" dirty="0">
                <a:latin typeface="华文中宋" panose="02010600040101010101" pitchFamily="2" charset="-122"/>
                <a:ea typeface="华文中宋" panose="02010600040101010101" pitchFamily="2" charset="-122"/>
              </a:rPr>
              <a:t>   在大中型计算机系统中，存储限制不再是主要问题。在这种环境下，对</a:t>
            </a:r>
            <a:r>
              <a:rPr lang="zh-CN" altLang="en-US" sz="2400" dirty="0">
                <a:solidFill>
                  <a:srgbClr val="C00000"/>
                </a:solidFill>
                <a:latin typeface="华文中宋" panose="02010600040101010101" pitchFamily="2" charset="-122"/>
                <a:ea typeface="华文中宋" panose="02010600040101010101" pitchFamily="2" charset="-122"/>
              </a:rPr>
              <a:t>内存采取基于操作系统的分页功能的虚拟存储管理。存储效率与操作系统的分页功能直接有关。</a:t>
            </a:r>
            <a:endParaRPr lang="zh-CN" altLang="en-US" sz="2400" dirty="0">
              <a:solidFill>
                <a:srgbClr val="C00000"/>
              </a:solidFill>
              <a:latin typeface="华文中宋" panose="02010600040101010101" pitchFamily="2" charset="-122"/>
              <a:ea typeface="华文中宋" panose="02010600040101010101" pitchFamily="2" charset="-122"/>
            </a:endParaRPr>
          </a:p>
          <a:p>
            <a:pPr marL="0" lvl="0" indent="0" algn="l" eaLnBrk="1" hangingPunct="1">
              <a:lnSpc>
                <a:spcPct val="150000"/>
              </a:lnSpc>
              <a:spcBef>
                <a:spcPct val="0"/>
              </a:spcBef>
              <a:buClrTx/>
              <a:buSzTx/>
              <a:buFontTx/>
              <a:buNone/>
            </a:pPr>
            <a:endParaRPr lang="zh-CN" altLang="en-US" sz="3200" b="1" dirty="0"/>
          </a:p>
          <a:p>
            <a:pPr marL="0" lvl="0" indent="0" algn="l" eaLnBrk="1" hangingPunct="1">
              <a:lnSpc>
                <a:spcPct val="150000"/>
              </a:lnSpc>
              <a:spcBef>
                <a:spcPct val="0"/>
              </a:spcBef>
              <a:buClrTx/>
              <a:buSzTx/>
              <a:buFontTx/>
              <a:buNone/>
            </a:pPr>
            <a:endParaRPr lang="en-US" altLang="zh-CN" sz="3200" b="1" dirty="0"/>
          </a:p>
        </p:txBody>
      </p:sp>
    </p:spTree>
  </p:cSld>
  <p:clrMapOvr>
    <a:masterClrMapping/>
  </p:clrMapOvr>
  <p:transition spd="med">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影响存储器效率的因素</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43363"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43364" name="Rectangle 2"/>
          <p:cNvSpPr>
            <a:spLocks noChangeArrowheads="1"/>
          </p:cNvSpPr>
          <p:nvPr/>
        </p:nvSpPr>
        <p:spPr bwMode="auto">
          <a:xfrm>
            <a:off x="431800" y="1484313"/>
            <a:ext cx="8280400" cy="446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742950" indent="-28575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l"/>
              <a:defRPr/>
            </a:pPr>
            <a:r>
              <a:rPr kumimoji="0" lang="zh-CN" altLang="en-US" sz="2400" b="0" i="0" u="none" strike="noStrike" kern="120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采用结构化程序设计，</a:t>
            </a:r>
            <a:r>
              <a:rPr kumimoji="0" lang="zh-CN" altLang="en-US" sz="2400" b="0" i="0" u="none" strike="noStrike" kern="1200" cap="none" spc="0" normalizeH="0" baseline="0" noProof="0" dirty="0" smtClean="0">
                <a:ln>
                  <a:noFill/>
                </a:ln>
                <a:solidFill>
                  <a:srgbClr val="C00000"/>
                </a:solidFill>
                <a:effectLst/>
                <a:uLnTx/>
                <a:uFillTx/>
                <a:latin typeface="华文中宋" panose="02010600040101010101" pitchFamily="2" charset="-122"/>
                <a:ea typeface="华文中宋" panose="02010600040101010101" pitchFamily="2" charset="-122"/>
                <a:cs typeface="+mn-cs"/>
              </a:rPr>
              <a:t>将程序功能合理分块，使每个模块或一组密切相关模块的程序体积大小与每页的容量相匹配，</a:t>
            </a:r>
            <a:r>
              <a:rPr kumimoji="0" lang="zh-CN" altLang="en-US" sz="2400" b="0" i="0" u="none" strike="noStrike" kern="120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可减少页面调度，减少内外存交换，提高存储效率。</a:t>
            </a:r>
            <a:endParaRPr kumimoji="0" lang="en-US" altLang="zh-CN" sz="2400" b="0" i="0" u="none" strike="noStrike" kern="120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l"/>
              <a:defRPr/>
            </a:pPr>
            <a:r>
              <a:rPr kumimoji="0" lang="zh-CN" altLang="en-US" sz="2400" b="0" i="0" u="none" strike="noStrike" kern="120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在微型计算机系统中，存储器的容量对软件设计和编码的制约很大。因此</a:t>
            </a:r>
            <a:r>
              <a:rPr kumimoji="0" lang="zh-CN" altLang="en-US" sz="2400" b="0" i="0" u="none" strike="noStrike" kern="1200" cap="none" spc="0" normalizeH="0" baseline="0" noProof="0" dirty="0" smtClean="0">
                <a:ln>
                  <a:noFill/>
                </a:ln>
                <a:solidFill>
                  <a:srgbClr val="C00000"/>
                </a:solidFill>
                <a:effectLst/>
                <a:uLnTx/>
                <a:uFillTx/>
                <a:latin typeface="华文中宋" panose="02010600040101010101" pitchFamily="2" charset="-122"/>
                <a:ea typeface="华文中宋" panose="02010600040101010101" pitchFamily="2" charset="-122"/>
                <a:cs typeface="+mn-cs"/>
              </a:rPr>
              <a:t>要选择可生成较短目标代码且存储压缩性能优良的编译程序，</a:t>
            </a:r>
            <a:r>
              <a:rPr kumimoji="0" lang="zh-CN" altLang="en-US" sz="2400" b="0" i="0" u="none" strike="noStrike" kern="120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有时需采用汇编程序。</a:t>
            </a:r>
            <a:endParaRPr kumimoji="0" lang="zh-CN" altLang="en-US" sz="2400" b="0" i="0" u="none" strike="noStrike" kern="120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342900" marR="0" lvl="0" indent="-342900" algn="l" defTabSz="914400" rtl="0" eaLnBrk="1" fontAlgn="base" latinLnBrk="0" hangingPunct="1">
              <a:lnSpc>
                <a:spcPct val="150000"/>
              </a:lnSpc>
              <a:spcBef>
                <a:spcPct val="0"/>
              </a:spcBef>
              <a:spcAft>
                <a:spcPct val="0"/>
              </a:spcAft>
              <a:buClrTx/>
              <a:buSzTx/>
              <a:buFont typeface="Wingdings" panose="05000000000000000000" pitchFamily="2" charset="2"/>
              <a:buChar char="l"/>
              <a:defRPr/>
            </a:pPr>
            <a:r>
              <a:rPr kumimoji="0" lang="zh-CN" altLang="en-US" sz="2400" b="0" i="0" u="none" strike="noStrike" kern="120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rPr>
              <a:t>提高存储器效率的关键是程序的简单性。</a:t>
            </a:r>
            <a:endParaRPr kumimoji="0" lang="zh-CN" altLang="en-US" sz="2400" b="0" i="0" u="none" strike="noStrike" kern="1200" cap="none" spc="0" normalizeH="0" baseline="0" noProof="0" dirty="0" smtClean="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457200" marR="0" lvl="0" indent="-457200" algn="l" defTabSz="914400" rtl="0" eaLnBrk="1" fontAlgn="base" latinLnBrk="0" hangingPunct="1">
              <a:lnSpc>
                <a:spcPct val="150000"/>
              </a:lnSpc>
              <a:spcBef>
                <a:spcPct val="0"/>
              </a:spcBef>
              <a:spcAft>
                <a:spcPct val="0"/>
              </a:spcAft>
              <a:buClrTx/>
              <a:buSzTx/>
              <a:buFont typeface="Wingdings" panose="05000000000000000000" pitchFamily="2" charset="2"/>
              <a:buChar char="l"/>
              <a:defRPr/>
            </a:pPr>
            <a:endParaRPr kumimoji="0" lang="zh-CN" altLang="en-US" sz="32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50000"/>
              </a:lnSpc>
              <a:spcBef>
                <a:spcPct val="0"/>
              </a:spcBef>
              <a:spcAft>
                <a:spcPct val="0"/>
              </a:spcAft>
              <a:buClrTx/>
              <a:buSzTx/>
              <a:buFont typeface="Wingdings" panose="05000000000000000000" pitchFamily="2" charset="2"/>
              <a:buChar char="l"/>
              <a:defRPr/>
            </a:pPr>
            <a:endParaRPr kumimoji="0" lang="en-US" altLang="zh-CN" sz="32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med">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影响输入／输出的因素</a:t>
            </a:r>
            <a:endPar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45411"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2" name="Rectangle 2"/>
          <p:cNvSpPr>
            <a:spLocks noChangeArrowheads="1"/>
          </p:cNvSpPr>
          <p:nvPr/>
        </p:nvSpPr>
        <p:spPr bwMode="auto">
          <a:xfrm>
            <a:off x="395288" y="1052513"/>
            <a:ext cx="6553200" cy="838200"/>
          </a:xfrm>
          <a:prstGeom prst="rect">
            <a:avLst/>
          </a:prstGeom>
          <a:noFill/>
          <a:ln>
            <a:noFill/>
          </a:ln>
          <a:effectLst/>
        </p:spPr>
        <p:txBody>
          <a:bodyPr lIns="92075" tIns="46038" rIns="92075" bIns="46038" anchor="ct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3</a:t>
            </a:r>
            <a:r>
              <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、影响输入／输出的因素</a:t>
            </a:r>
            <a:endParaRPr kumimoji="1" lang="zh-CN" altLang="en-US" sz="2800" b="1"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145413" name="Rectangle 3"/>
          <p:cNvSpPr/>
          <p:nvPr/>
        </p:nvSpPr>
        <p:spPr>
          <a:xfrm>
            <a:off x="800100" y="1963738"/>
            <a:ext cx="7543800" cy="3625850"/>
          </a:xfrm>
          <a:prstGeom prst="rect">
            <a:avLst/>
          </a:prstGeom>
          <a:noFill/>
          <a:ln w="9525">
            <a:noFill/>
          </a:ln>
        </p:spPr>
        <p:txBody>
          <a:bodyPr lIns="92075" tIns="46038" rIns="92075" bIns="46038"/>
          <a:p>
            <a:pPr eaLnBrk="1" hangingPunct="1">
              <a:lnSpc>
                <a:spcPct val="150000"/>
              </a:lnSpc>
            </a:pPr>
            <a:r>
              <a:rPr lang="zh-CN" altLang="en-US" b="0" dirty="0">
                <a:solidFill>
                  <a:schemeClr val="tx1"/>
                </a:solidFill>
                <a:latin typeface="华文中宋" panose="02010600040101010101" pitchFamily="2" charset="-122"/>
              </a:rPr>
              <a:t>输入／输出可分为两种类型：</a:t>
            </a:r>
            <a:endParaRPr lang="zh-CN" altLang="en-US" b="0" dirty="0">
              <a:solidFill>
                <a:schemeClr val="tx1"/>
              </a:solidFill>
              <a:latin typeface="华文中宋" panose="02010600040101010101" pitchFamily="2" charset="-122"/>
            </a:endParaRPr>
          </a:p>
          <a:p>
            <a:pPr marL="914400" lvl="1" indent="-457200" eaLnBrk="1" hangingPunct="1">
              <a:lnSpc>
                <a:spcPct val="150000"/>
              </a:lnSpc>
              <a:buFont typeface="Arial" panose="020B0604020202020204" pitchFamily="34" charset="0"/>
              <a:buChar char="•"/>
            </a:pPr>
            <a:r>
              <a:rPr lang="zh-CN" altLang="en-US" b="0" dirty="0">
                <a:solidFill>
                  <a:srgbClr val="C00000"/>
                </a:solidFill>
                <a:latin typeface="华文中宋" panose="02010600040101010101" pitchFamily="2" charset="-122"/>
              </a:rPr>
              <a:t>面向人</a:t>
            </a:r>
            <a:r>
              <a:rPr lang="en-US" altLang="zh-CN" b="0" dirty="0">
                <a:solidFill>
                  <a:srgbClr val="C00000"/>
                </a:solidFill>
                <a:latin typeface="华文中宋" panose="02010600040101010101" pitchFamily="2" charset="-122"/>
              </a:rPr>
              <a:t>(</a:t>
            </a:r>
            <a:r>
              <a:rPr lang="zh-CN" altLang="en-US" b="0" dirty="0">
                <a:solidFill>
                  <a:srgbClr val="C00000"/>
                </a:solidFill>
                <a:latin typeface="华文中宋" panose="02010600040101010101" pitchFamily="2" charset="-122"/>
              </a:rPr>
              <a:t>操作员</a:t>
            </a:r>
            <a:r>
              <a:rPr lang="en-US" altLang="zh-CN" b="0" dirty="0">
                <a:solidFill>
                  <a:srgbClr val="C00000"/>
                </a:solidFill>
                <a:latin typeface="华文中宋" panose="02010600040101010101" pitchFamily="2" charset="-122"/>
              </a:rPr>
              <a:t>)</a:t>
            </a:r>
            <a:r>
              <a:rPr lang="zh-CN" altLang="en-US" b="0" dirty="0">
                <a:solidFill>
                  <a:srgbClr val="C00000"/>
                </a:solidFill>
                <a:latin typeface="华文中宋" panose="02010600040101010101" pitchFamily="2" charset="-122"/>
              </a:rPr>
              <a:t>的输入／输出</a:t>
            </a:r>
            <a:endParaRPr lang="zh-CN" altLang="en-US" b="0" dirty="0">
              <a:solidFill>
                <a:srgbClr val="C00000"/>
              </a:solidFill>
              <a:latin typeface="华文中宋" panose="02010600040101010101" pitchFamily="2" charset="-122"/>
            </a:endParaRPr>
          </a:p>
          <a:p>
            <a:pPr marL="800100" lvl="1" indent="-342900" eaLnBrk="1" hangingPunct="1">
              <a:lnSpc>
                <a:spcPct val="150000"/>
              </a:lnSpc>
              <a:buFont typeface="Arial" panose="020B0604020202020204" pitchFamily="34" charset="0"/>
              <a:buChar char="•"/>
            </a:pPr>
            <a:r>
              <a:rPr lang="zh-CN" altLang="en-US" b="0" dirty="0">
                <a:solidFill>
                  <a:srgbClr val="C00000"/>
                </a:solidFill>
                <a:latin typeface="华文中宋" panose="02010600040101010101" pitchFamily="2" charset="-122"/>
              </a:rPr>
              <a:t> 面向设备的输入／输出</a:t>
            </a:r>
            <a:endParaRPr lang="zh-CN" altLang="en-US" b="0" dirty="0">
              <a:solidFill>
                <a:srgbClr val="C00000"/>
              </a:solidFill>
              <a:latin typeface="华文中宋" panose="02010600040101010101" pitchFamily="2" charset="-122"/>
            </a:endParaRPr>
          </a:p>
          <a:p>
            <a:pPr eaLnBrk="1" hangingPunct="1">
              <a:lnSpc>
                <a:spcPct val="150000"/>
              </a:lnSpc>
            </a:pPr>
            <a:r>
              <a:rPr lang="zh-CN" altLang="en-US" b="0" dirty="0">
                <a:solidFill>
                  <a:schemeClr val="tx1"/>
                </a:solidFill>
                <a:latin typeface="华文中宋" panose="02010600040101010101" pitchFamily="2" charset="-122"/>
              </a:rPr>
              <a:t>如果操作员能够十分方便、简单地录入输入数据，或者能够十分直观、一目了然地了解输出信息，则可以说面向人的输入／输出是高效的。</a:t>
            </a:r>
            <a:br>
              <a:rPr lang="zh-CN" altLang="en-US" sz="3200" dirty="0">
                <a:solidFill>
                  <a:srgbClr val="000000"/>
                </a:solidFill>
                <a:latin typeface="宋体" panose="02010600030101010101" pitchFamily="2" charset="-122"/>
                <a:ea typeface="宋体" panose="02010600030101010101" pitchFamily="2" charset="-122"/>
              </a:rPr>
            </a:br>
            <a:endParaRPr lang="zh-CN" altLang="en-US" sz="3200" dirty="0">
              <a:solidFill>
                <a:srgbClr val="000000"/>
              </a:solidFill>
              <a:latin typeface="宋体" panose="02010600030101010101" pitchFamily="2" charset="-122"/>
              <a:ea typeface="宋体" panose="02010600030101010101" pitchFamily="2" charset="-122"/>
            </a:endParaRPr>
          </a:p>
        </p:txBody>
      </p:sp>
    </p:spTree>
  </p:cSld>
  <p:clrMapOvr>
    <a:masterClrMapping/>
  </p:clrMapOvr>
  <p:transition spd="med">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标题 1"/>
          <p:cNvSpPr>
            <a:spLocks noGrp="1" noChangeArrowheads="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0" cap="none" spc="0" normalizeH="0" baseline="0" noProof="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rPr>
              <a:t>影响输入／输出的因素</a:t>
            </a:r>
            <a:endPar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j-cs"/>
            </a:endParaRPr>
          </a:p>
        </p:txBody>
      </p:sp>
      <p:sp>
        <p:nvSpPr>
          <p:cNvPr id="147459" name="页脚占位符 3"/>
          <p:cNvSpPr txBox="1">
            <a:spLocks noGrp="1"/>
          </p:cNvSpPr>
          <p:nvPr>
            <p:ph type="ftr" sz="quarter" idx="10"/>
          </p:nvPr>
        </p:nvSpPr>
        <p:spPr>
          <a:xfrm>
            <a:off x="7812088" y="6381750"/>
            <a:ext cx="1331912" cy="476250"/>
          </a:xfrm>
          <a:ln/>
        </p:spPr>
        <p:txBody>
          <a:bodyPr/>
          <a:p>
            <a:pPr marL="0" indent="0" algn="ctr" eaLnBrk="1" hangingPunct="1">
              <a:lnSpc>
                <a:spcPct val="100000"/>
              </a:lnSpc>
              <a:spcBef>
                <a:spcPct val="0"/>
              </a:spcBef>
              <a:buClrTx/>
              <a:buSzTx/>
              <a:buFontTx/>
              <a:buNone/>
            </a:pPr>
            <a:r>
              <a:rPr lang="zh-CN" altLang="zh-CN" sz="1800" b="1" dirty="0">
                <a:solidFill>
                  <a:schemeClr val="accent2"/>
                </a:solidFill>
                <a:latin typeface="Times New Roman" panose="02020603050405020304" pitchFamily="18" charset="0"/>
              </a:rPr>
              <a:t>　　</a:t>
            </a:r>
            <a:fld id="{9A0DB2DC-4C9A-4742-B13C-FB6460FD3503}" type="slidenum">
              <a:rPr lang="en-US" altLang="zh-CN" sz="1800" b="1" dirty="0">
                <a:solidFill>
                  <a:schemeClr val="accent2"/>
                </a:solidFill>
                <a:latin typeface="Times New Roman" panose="02020603050405020304" pitchFamily="18" charset="0"/>
              </a:rPr>
            </a:fld>
            <a:r>
              <a:rPr lang="zh-CN" altLang="zh-CN" sz="1800" b="1" dirty="0">
                <a:solidFill>
                  <a:schemeClr val="accent2"/>
                </a:solidFill>
                <a:latin typeface="Times New Roman" panose="02020603050405020304" pitchFamily="18" charset="0"/>
              </a:rPr>
              <a:t>　　　　　　</a:t>
            </a:r>
            <a:endParaRPr lang="zh-CN" altLang="zh-CN" sz="1800" b="1" dirty="0">
              <a:solidFill>
                <a:schemeClr val="accent2"/>
              </a:solidFill>
              <a:latin typeface="Times New Roman" panose="02020603050405020304" pitchFamily="18" charset="0"/>
            </a:endParaRPr>
          </a:p>
        </p:txBody>
      </p:sp>
      <p:sp>
        <p:nvSpPr>
          <p:cNvPr id="145412" name="Rectangle 2"/>
          <p:cNvSpPr>
            <a:spLocks noChangeArrowheads="1"/>
          </p:cNvSpPr>
          <p:nvPr/>
        </p:nvSpPr>
        <p:spPr bwMode="auto">
          <a:xfrm>
            <a:off x="838200" y="1268413"/>
            <a:ext cx="7694613" cy="4321175"/>
          </a:xfrm>
          <a:prstGeom prst="rect">
            <a:avLst/>
          </a:prstGeom>
          <a:noFill/>
          <a:ln>
            <a:noFill/>
          </a:ln>
          <a:effectLst/>
        </p:spPr>
        <p:txBody>
          <a:bodyPr lIns="92075" tIns="46038" rIns="92075" bIns="46038"/>
          <a:lstStyle>
            <a:lvl1pPr algn="just">
              <a:lnSpc>
                <a:spcPct val="140000"/>
              </a:lnSpc>
              <a:spcBef>
                <a:spcPct val="20000"/>
              </a:spcBef>
              <a:buClr>
                <a:schemeClr val="accent2"/>
              </a:buClr>
              <a:buSzPct val="7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1pPr>
            <a:lvl2pPr marL="914400" indent="-457200" algn="just">
              <a:lnSpc>
                <a:spcPct val="140000"/>
              </a:lnSpc>
              <a:spcBef>
                <a:spcPct val="20000"/>
              </a:spcBef>
              <a:buClr>
                <a:schemeClr val="accent2"/>
              </a:buClr>
              <a:buSzPct val="70000"/>
              <a:buFont typeface="Wingdings" panose="05000000000000000000" pitchFamily="2" charset="2"/>
              <a:buChar char="è"/>
              <a:defRPr>
                <a:solidFill>
                  <a:schemeClr val="tx1"/>
                </a:solidFill>
                <a:latin typeface="Arial" panose="020B0604020202020204" pitchFamily="34" charset="0"/>
                <a:ea typeface="宋体" panose="02010600030101010101" pitchFamily="2" charset="-122"/>
              </a:defRPr>
            </a:lvl2pPr>
            <a:lvl3pPr marL="1143000" indent="-228600" algn="just">
              <a:lnSpc>
                <a:spcPct val="140000"/>
              </a:lnSpc>
              <a:spcBef>
                <a:spcPct val="20000"/>
              </a:spcBef>
              <a:buClr>
                <a:schemeClr val="accent2"/>
              </a:buClr>
              <a:buFont typeface="Wingdings" panose="05000000000000000000" pitchFamily="2" charset="2"/>
              <a:buChar char="Ø"/>
              <a:defRPr sz="1600">
                <a:solidFill>
                  <a:schemeClr val="tx1"/>
                </a:solidFill>
                <a:latin typeface="Arial" panose="020B0604020202020204" pitchFamily="34" charset="0"/>
                <a:ea typeface="宋体" panose="02010600030101010101" pitchFamily="2" charset="-122"/>
              </a:defRPr>
            </a:lvl3pPr>
            <a:lvl4pPr marL="1600200" indent="-228600" algn="just">
              <a:lnSpc>
                <a:spcPct val="140000"/>
              </a:lnSpc>
              <a:spcBef>
                <a:spcPct val="20000"/>
              </a:spcBef>
              <a:buChar char="–"/>
              <a:defRPr sz="1400">
                <a:solidFill>
                  <a:schemeClr val="tx1"/>
                </a:solidFill>
                <a:latin typeface="Arial" panose="020B0604020202020204" pitchFamily="34" charset="0"/>
                <a:ea typeface="宋体" panose="02010600030101010101" pitchFamily="2" charset="-122"/>
              </a:defRPr>
            </a:lvl4pPr>
            <a:lvl5pPr marL="2057400" indent="-228600" algn="just">
              <a:lnSpc>
                <a:spcPct val="140000"/>
              </a:lnSpc>
              <a:spcBef>
                <a:spcPct val="20000"/>
              </a:spcBef>
              <a:buChar char="»"/>
              <a:defRPr sz="12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lnSpc>
                <a:spcPct val="140000"/>
              </a:lnSpc>
              <a:spcBef>
                <a:spcPct val="20000"/>
              </a:spcBef>
              <a:spcAft>
                <a:spcPct val="0"/>
              </a:spcAft>
              <a:buChar char="»"/>
              <a:defRPr sz="1200">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ct val="0"/>
              </a:spcBef>
              <a:spcAft>
                <a:spcPct val="0"/>
              </a:spcAft>
              <a:buClr>
                <a:schemeClr val="accent2">
                  <a:lumMod val="75000"/>
                </a:schemeClr>
              </a:buClr>
              <a:buSzTx/>
              <a:buFont typeface="Wingdings" panose="05000000000000000000" pitchFamily="2" charset="2"/>
              <a:buChar char="l"/>
              <a:defRPr/>
            </a:pP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关于面向设备的输入</a:t>
            </a:r>
            <a:r>
              <a:rPr kumimoji="0" lang="en-US"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输出，可以提出一些提高输入</a:t>
            </a:r>
            <a:r>
              <a:rPr kumimoji="0" lang="en-US"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输出效率的指导原则：</a:t>
            </a:r>
            <a:endPar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914400" marR="0" lvl="1" indent="-457200" algn="l" defTabSz="914400" rtl="0" eaLnBrk="1" fontAlgn="base" latinLnBrk="0" hangingPunct="1">
              <a:lnSpc>
                <a:spcPct val="150000"/>
              </a:lnSpc>
              <a:spcBef>
                <a:spcPct val="0"/>
              </a:spcBef>
              <a:spcAft>
                <a:spcPct val="0"/>
              </a:spcAft>
              <a:buClr>
                <a:schemeClr val="accent2">
                  <a:lumMod val="75000"/>
                </a:schemeClr>
              </a:buClr>
              <a:buSzTx/>
              <a:buFont typeface="Wingdings" panose="05000000000000000000" pitchFamily="2" charset="2"/>
              <a:buChar char="l"/>
              <a:defRPr/>
            </a:pP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输入</a:t>
            </a:r>
            <a:r>
              <a:rPr kumimoji="0" lang="en-US"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输出的请求应当最小化；</a:t>
            </a:r>
            <a:endPar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914400" marR="0" lvl="1" indent="-457200" algn="l" defTabSz="914400" rtl="0" eaLnBrk="1" fontAlgn="base" latinLnBrk="0" hangingPunct="1">
              <a:lnSpc>
                <a:spcPct val="150000"/>
              </a:lnSpc>
              <a:spcBef>
                <a:spcPct val="0"/>
              </a:spcBef>
              <a:spcAft>
                <a:spcPct val="0"/>
              </a:spcAft>
              <a:buClr>
                <a:schemeClr val="accent2">
                  <a:lumMod val="75000"/>
                </a:schemeClr>
              </a:buClr>
              <a:buSzTx/>
              <a:buFont typeface="Wingdings" panose="05000000000000000000" pitchFamily="2" charset="2"/>
              <a:buChar char="l"/>
              <a:defRPr/>
            </a:pP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对于所有的输入</a:t>
            </a:r>
            <a:r>
              <a:rPr kumimoji="0" lang="en-US"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输出操作，</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安排适当的缓冲区，</a:t>
            </a: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以减少频繁的信息交换。</a:t>
            </a:r>
            <a:endPar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914400" marR="0" lvl="1" indent="-457200" algn="l" defTabSz="914400" rtl="0" eaLnBrk="1" fontAlgn="base" latinLnBrk="0" hangingPunct="1">
              <a:lnSpc>
                <a:spcPct val="150000"/>
              </a:lnSpc>
              <a:spcBef>
                <a:spcPct val="0"/>
              </a:spcBef>
              <a:spcAft>
                <a:spcPct val="0"/>
              </a:spcAft>
              <a:buClr>
                <a:schemeClr val="accent2">
                  <a:lumMod val="75000"/>
                </a:schemeClr>
              </a:buClr>
              <a:buSzTx/>
              <a:buFont typeface="Wingdings" panose="05000000000000000000" pitchFamily="2" charset="2"/>
              <a:buChar char="l"/>
              <a:defRPr/>
            </a:pP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对辅助存储</a:t>
            </a:r>
            <a:r>
              <a:rPr kumimoji="0" lang="en-US"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例如磁盘</a:t>
            </a:r>
            <a:r>
              <a:rPr kumimoji="0" lang="en-US" altLang="zh-CN"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选择尽可能简单的，可接受的存取方法；</a:t>
            </a:r>
            <a:br>
              <a:rPr kumimoji="0" lang="zh-CN" altLang="en-US" sz="32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br>
            <a:endParaRPr kumimoji="0" lang="zh-CN" altLang="en-US" sz="32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med">
    <p:fade/>
  </p:transition>
</p:sld>
</file>

<file path=ppt/tags/tag1.xml><?xml version="1.0" encoding="utf-8"?>
<p:tagLst xmlns:p="http://schemas.openxmlformats.org/presentationml/2006/main">
  <p:tag name="TABLE_ENDDRAG_ORIGIN_RECT" val="541*233"/>
  <p:tag name="TABLE_ENDDRAG_RECT" val="81*150*541*233"/>
</p:tagLst>
</file>

<file path=ppt/theme/theme1.xml><?xml version="1.0" encoding="utf-8"?>
<a:theme xmlns:a="http://schemas.openxmlformats.org/drawingml/2006/main" name="华为3Com培训胶片模板ISSUE1.1">
  <a:themeElements>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华为3Com培训胶片模板ISSUE1.1">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lnDef>
  </a:objectDefaults>
  <a:extraClrSchemeLst>
    <a:extraClrScheme>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华为3Com培训胶片模板ISSUE1.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华为3Com培训胶片模板ISSUE1.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华为3Com培训胶片模板ISSUE1.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华为3Com培训胶片模板ISSUE1.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华为3Com培训胶片模板ISSUE1.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华为3Com培训胶片模板ISSUE1.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12118</Words>
  <Application>WPS 演示</Application>
  <PresentationFormat>全屏显示(4:3)</PresentationFormat>
  <Paragraphs>859</Paragraphs>
  <Slides>77</Slides>
  <Notes>69</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77</vt:i4>
      </vt:variant>
    </vt:vector>
  </HeadingPairs>
  <TitlesOfParts>
    <vt:vector size="93" baseType="lpstr">
      <vt:lpstr>Arial</vt:lpstr>
      <vt:lpstr>宋体</vt:lpstr>
      <vt:lpstr>Wingdings</vt:lpstr>
      <vt:lpstr>华文中宋</vt:lpstr>
      <vt:lpstr>Times New Roman</vt:lpstr>
      <vt:lpstr>Symbol</vt:lpstr>
      <vt:lpstr>黑体</vt:lpstr>
      <vt:lpstr>Calibri</vt:lpstr>
      <vt:lpstr>仿宋_GB2312</vt:lpstr>
      <vt:lpstr>微软雅黑</vt:lpstr>
      <vt:lpstr>Arial Unicode MS</vt:lpstr>
      <vt:lpstr>Calibri</vt:lpstr>
      <vt:lpstr>汉仪力量黑简</vt:lpstr>
      <vt:lpstr>华文仿宋</vt:lpstr>
      <vt:lpstr>华文新魏</vt:lpstr>
      <vt:lpstr>华为3Com培训胶片模板ISSUE1.1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输入和输出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ECJTU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dc:title>
  <dc:creator>xiexin</dc:creator>
  <cp:lastModifiedBy>芦效峰</cp:lastModifiedBy>
  <cp:revision>89</cp:revision>
  <dcterms:created xsi:type="dcterms:W3CDTF">2006-02-20T02:27:42Z</dcterms:created>
  <dcterms:modified xsi:type="dcterms:W3CDTF">2025-12-11T01:31:58Z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729878F3199A469FB625E4CDB8E4DC05_12</vt:lpwstr>
  </property>
</Properties>
</file>