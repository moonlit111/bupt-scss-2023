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 id="2147483680" r:id="rId4"/>
  </p:sldMasterIdLst>
  <p:notesMasterIdLst>
    <p:notesMasterId r:id="rId10"/>
  </p:notesMasterIdLst>
  <p:sldIdLst>
    <p:sldId id="530" r:id="rId5"/>
    <p:sldId id="756" r:id="rId6"/>
    <p:sldId id="758" r:id="rId7"/>
    <p:sldId id="759" r:id="rId8"/>
    <p:sldId id="675" r:id="rId9"/>
    <p:sldId id="529" r:id="rId11"/>
    <p:sldId id="625" r:id="rId12"/>
    <p:sldId id="626" r:id="rId13"/>
    <p:sldId id="627" r:id="rId14"/>
    <p:sldId id="628" r:id="rId15"/>
    <p:sldId id="629" r:id="rId16"/>
    <p:sldId id="630" r:id="rId17"/>
    <p:sldId id="631" r:id="rId18"/>
    <p:sldId id="632" r:id="rId19"/>
    <p:sldId id="633" r:id="rId20"/>
    <p:sldId id="634" r:id="rId21"/>
    <p:sldId id="623" r:id="rId22"/>
    <p:sldId id="533" r:id="rId23"/>
    <p:sldId id="534" r:id="rId24"/>
    <p:sldId id="537" r:id="rId25"/>
    <p:sldId id="538" r:id="rId26"/>
    <p:sldId id="539" r:id="rId27"/>
    <p:sldId id="532" r:id="rId28"/>
    <p:sldId id="531" r:id="rId29"/>
    <p:sldId id="554" r:id="rId30"/>
    <p:sldId id="553" r:id="rId31"/>
    <p:sldId id="552" r:id="rId32"/>
    <p:sldId id="551" r:id="rId33"/>
    <p:sldId id="550" r:id="rId34"/>
    <p:sldId id="549" r:id="rId35"/>
    <p:sldId id="548" r:id="rId36"/>
    <p:sldId id="547" r:id="rId37"/>
    <p:sldId id="546" r:id="rId38"/>
    <p:sldId id="545" r:id="rId39"/>
    <p:sldId id="543" r:id="rId40"/>
    <p:sldId id="558" r:id="rId41"/>
    <p:sldId id="557" r:id="rId42"/>
    <p:sldId id="556" r:id="rId43"/>
    <p:sldId id="555" r:id="rId44"/>
    <p:sldId id="561" r:id="rId45"/>
    <p:sldId id="562" r:id="rId46"/>
    <p:sldId id="567" r:id="rId47"/>
    <p:sldId id="566" r:id="rId48"/>
    <p:sldId id="568" r:id="rId49"/>
    <p:sldId id="573" r:id="rId50"/>
    <p:sldId id="572" r:id="rId51"/>
    <p:sldId id="571" r:id="rId52"/>
    <p:sldId id="576" r:id="rId53"/>
    <p:sldId id="575" r:id="rId54"/>
    <p:sldId id="574" r:id="rId55"/>
    <p:sldId id="727" r:id="rId56"/>
    <p:sldId id="752" r:id="rId57"/>
    <p:sldId id="728" r:id="rId58"/>
    <p:sldId id="754" r:id="rId59"/>
    <p:sldId id="755" r:id="rId60"/>
    <p:sldId id="730" r:id="rId61"/>
    <p:sldId id="731" r:id="rId62"/>
    <p:sldId id="733" r:id="rId63"/>
    <p:sldId id="753" r:id="rId64"/>
    <p:sldId id="735" r:id="rId65"/>
    <p:sldId id="736" r:id="rId66"/>
    <p:sldId id="737" r:id="rId67"/>
    <p:sldId id="738" r:id="rId68"/>
    <p:sldId id="741" r:id="rId69"/>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77" userDrawn="1">
          <p15:clr>
            <a:srgbClr val="A4A3A4"/>
          </p15:clr>
        </p15:guide>
        <p15:guide id="2" pos="2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3300"/>
    <a:srgbClr val="0066FF"/>
    <a:srgbClr val="FF99FF"/>
    <a:srgbClr val="FFCC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003"/>
  </p:normalViewPr>
  <p:slideViewPr>
    <p:cSldViewPr showGuides="1">
      <p:cViewPr varScale="1">
        <p:scale>
          <a:sx n="83" d="100"/>
          <a:sy n="83" d="100"/>
        </p:scale>
        <p:origin x="1378" y="48"/>
      </p:cViewPr>
      <p:guideLst>
        <p:guide orient="horz" pos="2177"/>
        <p:guide pos="28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2" name="Rectangle 4"/>
          <p:cNvSpPr>
            <a:spLocks noGrp="1" noRot="1"/>
          </p:cNvSpPr>
          <p:nvPr>
            <p:ph type="sldImg"/>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noProof="1">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CD551C-DED6-4B45-A832-07904A49051A}" type="slidenum">
              <a:rPr kumimoji="0" lang="zh-CN"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338" name="Rectangle 2"/>
          <p:cNvSpPr>
            <a:spLocks noGrp="1" noRot="1" noTextEdit="1"/>
          </p:cNvSpPr>
          <p:nvPr>
            <p:ph type="sldImg"/>
          </p:nvPr>
        </p:nvSpPr>
        <p:spPr>
          <a:ln/>
        </p:spPr>
      </p:sp>
      <p:sp>
        <p:nvSpPr>
          <p:cNvPr id="14339" name="Rectangle 3"/>
          <p:cNvSpPr>
            <a:spLocks noGrp="1" noRot="1"/>
          </p:cNvSpPr>
          <p:nvPr>
            <p:ph type="body"/>
          </p:nvPr>
        </p:nvSpPr>
        <p:spPr>
          <a:xfrm>
            <a:off x="990600" y="4267200"/>
            <a:ext cx="4648200" cy="4191000"/>
          </a:xfrm>
          <a:ln/>
        </p:spPr>
        <p:txBody>
          <a:bodyPr wrap="square" lIns="91440" tIns="45720" rIns="91440" bIns="45720" anchor="ctr"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337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 altLang="zh-CN" sz="1200" b="0" dirty="0">
                <a:solidFill>
                  <a:schemeClr val="tx1"/>
                </a:solidFill>
                <a:latin typeface="Arial" panose="020B0604020202020204" pitchFamily="34" charset="0"/>
                <a:ea typeface="宋体" panose="02010600030101010101" pitchFamily="2" charset="-122"/>
              </a:rPr>
            </a:fld>
            <a:endParaRPr lang=""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696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 altLang="zh-CN" sz="1200" b="0" dirty="0">
                <a:solidFill>
                  <a:schemeClr val="tx1"/>
                </a:solidFill>
                <a:latin typeface="Arial" panose="020B0604020202020204" pitchFamily="34" charset="0"/>
                <a:ea typeface="宋体" panose="02010600030101010101" pitchFamily="2" charset="-122"/>
              </a:rPr>
            </a:fld>
            <a:endParaRPr lang=""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727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 altLang="zh-CN" sz="1200" b="0" dirty="0">
                <a:solidFill>
                  <a:schemeClr val="tx1"/>
                </a:solidFill>
                <a:latin typeface="Arial" panose="020B0604020202020204" pitchFamily="34" charset="0"/>
                <a:ea typeface="宋体" panose="02010600030101010101" pitchFamily="2" charset="-122"/>
              </a:rPr>
            </a:fld>
            <a:endParaRPr lang=""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4098"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5122"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6146"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7" Type="http://schemas.openxmlformats.org/officeDocument/2006/relationships/theme" Target="../theme/theme2.xml"/><Relationship Id="rId16" Type="http://schemas.openxmlformats.org/officeDocument/2006/relationships/image" Target="../media/image2.png"/><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7" Type="http://schemas.openxmlformats.org/officeDocument/2006/relationships/theme" Target="../theme/theme3.xml"/><Relationship Id="rId16" Type="http://schemas.openxmlformats.org/officeDocument/2006/relationships/image" Target="../media/image2.png"/><Relationship Id="rId15" Type="http://schemas.openxmlformats.org/officeDocument/2006/relationships/slideLayout" Target="../slideLayouts/slideLayout45.xml"/><Relationship Id="rId14" Type="http://schemas.openxmlformats.org/officeDocument/2006/relationships/slideLayout" Target="../slideLayouts/slideLayout44.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noProof="1">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17935646-928F-4662-809B-20917ADD0030}"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2051"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052"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noProof="1">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CF7645E0-37C3-41FA-9A07-94BED515B25D}"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2056"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3075"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3076"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noProof="1">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fld id="{4D4FB107-8C13-46B6-AA96-72A76E5E4A49}" type="slidenum">
              <a:rPr kumimoji="0" lang="en-US"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1">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软件工程技术基础</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3080"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ransition spd="med">
    <p:fade/>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9.jpeg"/><Relationship Id="rId1" Type="http://schemas.openxmlformats.org/officeDocument/2006/relationships/image" Target="../media/image8.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7.xml"/><Relationship Id="rId2" Type="http://schemas.openxmlformats.org/officeDocument/2006/relationships/image" Target="../media/image10.e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7.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7.xml"/><Relationship Id="rId2" Type="http://schemas.openxmlformats.org/officeDocument/2006/relationships/image" Target="../media/image12.e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7.xml"/><Relationship Id="rId2" Type="http://schemas.openxmlformats.org/officeDocument/2006/relationships/image" Target="../media/image13.e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17.xml"/><Relationship Id="rId2" Type="http://schemas.openxmlformats.org/officeDocument/2006/relationships/image" Target="../media/image14.emf"/><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7.xml"/><Relationship Id="rId2" Type="http://schemas.openxmlformats.org/officeDocument/2006/relationships/image" Target="../media/image15.emf"/><Relationship Id="rId1" Type="http://schemas.openxmlformats.org/officeDocument/2006/relationships/oleObject" Target="../embeddings/oleObject6.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7.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8.emf"/><Relationship Id="rId1"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9.emf"/><Relationship Id="rId1" Type="http://schemas.openxmlformats.org/officeDocument/2006/relationships/oleObject" Target="../embeddings/oleObject9.bin"/></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10.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image" Target="../media/image38.wmf"/></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40.emf"/><Relationship Id="rId1"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45.emf"/><Relationship Id="rId1" Type="http://schemas.openxmlformats.org/officeDocument/2006/relationships/oleObject" Target="../embeddings/oleObject12.bin"/></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47.emf"/><Relationship Id="rId3" Type="http://schemas.openxmlformats.org/officeDocument/2006/relationships/oleObject" Target="../embeddings/oleObject14.bin"/><Relationship Id="rId2" Type="http://schemas.openxmlformats.org/officeDocument/2006/relationships/image" Target="../media/image46.emf"/><Relationship Id="rId1" Type="http://schemas.openxmlformats.org/officeDocument/2006/relationships/oleObject" Target="../embeddings/oleObject13.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4"/>
          <p:cNvSpPr>
            <a:spLocks noGrp="1"/>
          </p:cNvSpPr>
          <p:nvPr>
            <p:ph type="ctrTitle"/>
          </p:nvPr>
        </p:nvSpPr>
        <p:spPr>
          <a:xfrm>
            <a:off x="1050925" y="1836738"/>
            <a:ext cx="6878638" cy="1439862"/>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华文中宋" panose="02010600040101010101" pitchFamily="2" charset="-122"/>
                <a:ea typeface="华文中宋" panose="02010600040101010101" pitchFamily="2" charset="-122"/>
                <a:cs typeface="+mj-cs"/>
              </a:rPr>
              <a:t>第八章 面向对象设计</a:t>
            </a:r>
            <a:endParaRPr lang="zh-CN" altLang="en-US" dirty="0">
              <a:latin typeface="华文中宋" panose="02010600040101010101" pitchFamily="2" charset="-122"/>
              <a:ea typeface="华文中宋" panose="02010600040101010101" pitchFamily="2" charset="-122"/>
              <a:cs typeface="+mj-cs"/>
            </a:endParaRPr>
          </a:p>
        </p:txBody>
      </p:sp>
      <p:sp>
        <p:nvSpPr>
          <p:cNvPr id="819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zh-CN"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ln/>
        </p:spPr>
        <p:txBody>
          <a:bodyPr vert="horz" wrap="square" lIns="91440" tIns="45720" rIns="91440" bIns="45720" anchor="ctr" anchorCtr="0"/>
          <a:p>
            <a:endParaRPr lang="zh-CN" altLang="en-US" dirty="0"/>
          </a:p>
        </p:txBody>
      </p:sp>
      <p:pic>
        <p:nvPicPr>
          <p:cNvPr id="9219" name="内容占位符 2"/>
          <p:cNvPicPr>
            <a:picLocks noGrp="1" noChangeAspect="1"/>
          </p:cNvPicPr>
          <p:nvPr>
            <p:ph idx="1"/>
          </p:nvPr>
        </p:nvPicPr>
        <p:blipFill>
          <a:blip r:embed="rId1"/>
          <a:srcRect r="10699" b="30177"/>
          <a:stretch>
            <a:fillRect/>
          </a:stretch>
        </p:blipFill>
        <p:spPr>
          <a:xfrm>
            <a:off x="0" y="1484313"/>
            <a:ext cx="4327525" cy="4392612"/>
          </a:xfrm>
          <a:ln/>
        </p:spPr>
      </p:pic>
      <p:pic>
        <p:nvPicPr>
          <p:cNvPr id="9220" name="图片 4"/>
          <p:cNvPicPr>
            <a:picLocks noChangeAspect="1"/>
          </p:cNvPicPr>
          <p:nvPr/>
        </p:nvPicPr>
        <p:blipFill>
          <a:blip r:embed="rId2"/>
          <a:srcRect l="2081" t="20586" r="18042" b="13039"/>
          <a:stretch>
            <a:fillRect/>
          </a:stretch>
        </p:blipFill>
        <p:spPr>
          <a:xfrm>
            <a:off x="4327525" y="2492375"/>
            <a:ext cx="4708525" cy="2600325"/>
          </a:xfrm>
          <a:prstGeom prst="rect">
            <a:avLst/>
          </a:prstGeom>
          <a:noFill/>
          <a:ln w="9525">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a:ln/>
        </p:spPr>
        <p:txBody>
          <a:bodyPr vert="horz" wrap="square" lIns="91440" tIns="45720" rIns="91440" bIns="45720" anchor="ctr" anchorCtr="0"/>
          <a:p>
            <a:endParaRPr lang="zh-CN" altLang="en-US" dirty="0"/>
          </a:p>
        </p:txBody>
      </p:sp>
      <p:pic>
        <p:nvPicPr>
          <p:cNvPr id="11267" name="内容占位符 2"/>
          <p:cNvPicPr>
            <a:picLocks noGrp="1" noChangeAspect="1"/>
          </p:cNvPicPr>
          <p:nvPr>
            <p:ph idx="1"/>
          </p:nvPr>
        </p:nvPicPr>
        <p:blipFill>
          <a:blip r:embed="rId1"/>
          <a:stretch>
            <a:fillRect/>
          </a:stretch>
        </p:blipFill>
        <p:spPr>
          <a:xfrm>
            <a:off x="323850" y="1268413"/>
            <a:ext cx="3775075" cy="4681537"/>
          </a:xfrm>
          <a:ln/>
        </p:spPr>
      </p:pic>
      <p:pic>
        <p:nvPicPr>
          <p:cNvPr id="11268" name="图片 4"/>
          <p:cNvPicPr>
            <a:picLocks noChangeAspect="1"/>
          </p:cNvPicPr>
          <p:nvPr/>
        </p:nvPicPr>
        <p:blipFill>
          <a:blip r:embed="rId2"/>
          <a:stretch>
            <a:fillRect/>
          </a:stretch>
        </p:blipFill>
        <p:spPr>
          <a:xfrm>
            <a:off x="4659313" y="1263650"/>
            <a:ext cx="3811587" cy="5084763"/>
          </a:xfrm>
          <a:prstGeom prst="rect">
            <a:avLst/>
          </a:prstGeom>
          <a:noFill/>
          <a:ln w="9525">
            <a:noFill/>
          </a:ln>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a:ln/>
        </p:spPr>
        <p:txBody>
          <a:bodyPr vert="horz" wrap="square" lIns="91440" tIns="45720" rIns="91440" bIns="45720" anchor="ctr" anchorCtr="0"/>
          <a:p>
            <a:endParaRPr lang="zh-CN" altLang="en-US" dirty="0"/>
          </a:p>
        </p:txBody>
      </p:sp>
      <p:pic>
        <p:nvPicPr>
          <p:cNvPr id="12291" name="内容占位符 2"/>
          <p:cNvPicPr>
            <a:picLocks noGrp="1" noChangeAspect="1"/>
          </p:cNvPicPr>
          <p:nvPr>
            <p:ph idx="1"/>
          </p:nvPr>
        </p:nvPicPr>
        <p:blipFill>
          <a:blip r:embed="rId1"/>
          <a:stretch>
            <a:fillRect/>
          </a:stretch>
        </p:blipFill>
        <p:spPr>
          <a:xfrm>
            <a:off x="2482850" y="908050"/>
            <a:ext cx="4178300" cy="5554663"/>
          </a:xfrm>
          <a:ln/>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页脚占位符 2"/>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13315" name="Rectangle 2"/>
          <p:cNvSpPr>
            <a:spLocks noGrp="1"/>
          </p:cNvSpPr>
          <p:nvPr>
            <p:ph type="title"/>
          </p:nvPr>
        </p:nvSpPr>
        <p:spPr>
          <a:xfrm>
            <a:off x="1476375" y="260350"/>
            <a:ext cx="6048375" cy="685800"/>
          </a:xfrm>
          <a:ln/>
        </p:spPr>
        <p:txBody>
          <a:bodyPr vert="horz" wrap="square" lIns="91440" tIns="45720" rIns="91440" bIns="45720" anchor="ctr" anchorCtr="0"/>
          <a:p>
            <a:pPr eaLnBrk="1" hangingPunct="1"/>
            <a:r>
              <a:rPr lang="zh-CN" altLang="en-US" dirty="0"/>
              <a:t>本章要点</a:t>
            </a:r>
            <a:endParaRPr lang="zh-CN" altLang="zh-CN" dirty="0"/>
          </a:p>
        </p:txBody>
      </p:sp>
      <p:pic>
        <p:nvPicPr>
          <p:cNvPr id="13316" name="Picture 3"/>
          <p:cNvPicPr>
            <a:picLocks noChangeAspect="1"/>
          </p:cNvPicPr>
          <p:nvPr/>
        </p:nvPicPr>
        <p:blipFill>
          <a:blip r:embed="rId1"/>
          <a:stretch>
            <a:fillRect/>
          </a:stretch>
        </p:blipFill>
        <p:spPr>
          <a:xfrm>
            <a:off x="457200" y="3886200"/>
            <a:ext cx="2895600" cy="1184275"/>
          </a:xfrm>
          <a:prstGeom prst="rect">
            <a:avLst/>
          </a:prstGeom>
          <a:noFill/>
          <a:ln w="9525">
            <a:noFill/>
          </a:ln>
        </p:spPr>
      </p:pic>
      <p:sp>
        <p:nvSpPr>
          <p:cNvPr id="13317" name="Rectangle 4"/>
          <p:cNvSpPr/>
          <p:nvPr/>
        </p:nvSpPr>
        <p:spPr>
          <a:xfrm>
            <a:off x="4546600" y="1741488"/>
            <a:ext cx="3527425" cy="552450"/>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solidFill>
                  <a:srgbClr val="FF0000"/>
                </a:solidFill>
                <a:latin typeface="Times New Roman" panose="02020603050405020304" pitchFamily="18" charset="0"/>
              </a:rPr>
              <a:t>面向对象设计与</a:t>
            </a:r>
            <a:r>
              <a:rPr lang="en-US" altLang="zh-CN" dirty="0">
                <a:solidFill>
                  <a:srgbClr val="FF0000"/>
                </a:solidFill>
                <a:latin typeface="Times New Roman" panose="02020603050405020304" pitchFamily="18" charset="0"/>
              </a:rPr>
              <a:t>UML</a:t>
            </a:r>
            <a:endParaRPr lang="en-US" altLang="zh-CN" dirty="0">
              <a:solidFill>
                <a:srgbClr val="FF0000"/>
              </a:solidFill>
              <a:latin typeface="Times New Roman" panose="02020603050405020304" pitchFamily="18" charset="0"/>
            </a:endParaRPr>
          </a:p>
        </p:txBody>
      </p:sp>
      <p:grpSp>
        <p:nvGrpSpPr>
          <p:cNvPr id="13318" name="Group 5"/>
          <p:cNvGrpSpPr/>
          <p:nvPr/>
        </p:nvGrpSpPr>
        <p:grpSpPr>
          <a:xfrm>
            <a:off x="3825875" y="1903413"/>
            <a:ext cx="4275138" cy="469900"/>
            <a:chOff x="0" y="0"/>
            <a:chExt cx="2693" cy="296"/>
          </a:xfrm>
        </p:grpSpPr>
        <p:sp>
          <p:nvSpPr>
            <p:cNvPr id="13331" name="Line 6"/>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3332" name="Picture 7"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grpSp>
        <p:nvGrpSpPr>
          <p:cNvPr id="13319" name="Group 9"/>
          <p:cNvGrpSpPr/>
          <p:nvPr/>
        </p:nvGrpSpPr>
        <p:grpSpPr>
          <a:xfrm>
            <a:off x="3825875" y="2606675"/>
            <a:ext cx="4275138" cy="469900"/>
            <a:chOff x="0" y="0"/>
            <a:chExt cx="2693" cy="296"/>
          </a:xfrm>
        </p:grpSpPr>
        <p:sp>
          <p:nvSpPr>
            <p:cNvPr id="13329" name="Line 10"/>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3330" name="Picture 11"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3320" name="Rectangle 12"/>
          <p:cNvSpPr/>
          <p:nvPr/>
        </p:nvSpPr>
        <p:spPr>
          <a:xfrm>
            <a:off x="4546600" y="2462213"/>
            <a:ext cx="3527425" cy="552450"/>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latin typeface="Times New Roman" panose="02020603050405020304" pitchFamily="18" charset="0"/>
              </a:rPr>
              <a:t>类图与对象图</a:t>
            </a:r>
            <a:endParaRPr lang="zh-CN" altLang="en-US" dirty="0">
              <a:latin typeface="Times New Roman" panose="02020603050405020304" pitchFamily="18" charset="0"/>
            </a:endParaRPr>
          </a:p>
        </p:txBody>
      </p:sp>
      <p:grpSp>
        <p:nvGrpSpPr>
          <p:cNvPr id="13321" name="Group 13"/>
          <p:cNvGrpSpPr/>
          <p:nvPr/>
        </p:nvGrpSpPr>
        <p:grpSpPr>
          <a:xfrm>
            <a:off x="3825875" y="3316288"/>
            <a:ext cx="4275138" cy="469900"/>
            <a:chOff x="0" y="0"/>
            <a:chExt cx="2693" cy="296"/>
          </a:xfrm>
        </p:grpSpPr>
        <p:sp>
          <p:nvSpPr>
            <p:cNvPr id="13327" name="Line 14"/>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3328" name="Picture 15"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3322" name="Rectangle 16"/>
          <p:cNvSpPr/>
          <p:nvPr/>
        </p:nvSpPr>
        <p:spPr>
          <a:xfrm>
            <a:off x="4546600" y="3214688"/>
            <a:ext cx="3527425" cy="554037"/>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latin typeface="Times New Roman" panose="02020603050405020304" pitchFamily="18" charset="0"/>
              </a:rPr>
              <a:t>顺序图和协作图</a:t>
            </a:r>
            <a:endParaRPr lang="zh-CN" altLang="en-US" dirty="0">
              <a:latin typeface="Times New Roman" panose="02020603050405020304" pitchFamily="18" charset="0"/>
            </a:endParaRPr>
          </a:p>
        </p:txBody>
      </p:sp>
      <p:grpSp>
        <p:nvGrpSpPr>
          <p:cNvPr id="13323" name="Group 13"/>
          <p:cNvGrpSpPr/>
          <p:nvPr/>
        </p:nvGrpSpPr>
        <p:grpSpPr>
          <a:xfrm>
            <a:off x="3827463" y="4070350"/>
            <a:ext cx="4275137" cy="469900"/>
            <a:chOff x="0" y="0"/>
            <a:chExt cx="2693" cy="296"/>
          </a:xfrm>
        </p:grpSpPr>
        <p:sp>
          <p:nvSpPr>
            <p:cNvPr id="13325" name="Line 14"/>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13326" name="Picture 15"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13324" name="Rectangle 16"/>
          <p:cNvSpPr/>
          <p:nvPr/>
        </p:nvSpPr>
        <p:spPr>
          <a:xfrm>
            <a:off x="4548188" y="3968750"/>
            <a:ext cx="3527425" cy="554038"/>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latin typeface="Times New Roman" panose="02020603050405020304" pitchFamily="18" charset="0"/>
              </a:rPr>
              <a:t>实现图</a:t>
            </a:r>
            <a:endParaRPr lang="zh-CN" altLang="en-US" dirty="0">
              <a:latin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a:ln/>
        </p:spPr>
        <p:txBody>
          <a:bodyPr vert="horz" wrap="square" lIns="91440" tIns="45720" rIns="91440" bIns="45720" anchor="ctr" anchorCtr="0"/>
          <a:p>
            <a:r>
              <a:rPr lang="zh-CN" altLang="zh-CN" dirty="0"/>
              <a:t>8.1面向对象设计与UML</a:t>
            </a:r>
            <a:endParaRPr lang="zh-CN" altLang="zh-CN" dirty="0"/>
          </a:p>
        </p:txBody>
      </p:sp>
      <p:sp>
        <p:nvSpPr>
          <p:cNvPr id="15363" name="内容占位符 2"/>
          <p:cNvSpPr>
            <a:spLocks noGrp="1"/>
          </p:cNvSpPr>
          <p:nvPr>
            <p:ph idx="1"/>
          </p:nvPr>
        </p:nvSpPr>
        <p:spPr>
          <a:xfrm>
            <a:off x="720725" y="1109663"/>
            <a:ext cx="7877175" cy="223202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UML的重要内容可以由以下五类共九种图来定义，用例图、行为图和交互图用来对软件行为建模，静态图和实现图用来对软件结构建模。</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15364"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aphicFrame>
        <p:nvGraphicFramePr>
          <p:cNvPr id="4" name="表格 3"/>
          <p:cNvGraphicFramePr/>
          <p:nvPr/>
        </p:nvGraphicFramePr>
        <p:xfrm>
          <a:off x="1838325" y="2935288"/>
          <a:ext cx="5465763" cy="2925763"/>
        </p:xfrm>
        <a:graphic>
          <a:graphicData uri="http://schemas.openxmlformats.org/drawingml/2006/table">
            <a:tbl>
              <a:tblPr firstRow="1" bandRow="1">
                <a:tableStyleId>{5940675A-B579-460E-94D1-54222C63F5DA}</a:tableStyleId>
              </a:tblPr>
              <a:tblGrid>
                <a:gridCol w="1656619"/>
                <a:gridCol w="1655349"/>
                <a:gridCol w="2153795"/>
              </a:tblGrid>
              <a:tr h="487627">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建模对象</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图类型</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UML图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27">
                <a:tc rowSpan="3">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软件行为</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用例图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用例图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27">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行为图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活动图</a:t>
                      </a:r>
                      <a:r>
                        <a:rPr lang="zh-CN" altLang="en-US" sz="2000" b="0">
                          <a:latin typeface="宋体" panose="02010600030101010101" pitchFamily="2" charset="-122"/>
                          <a:ea typeface="宋体" panose="02010600030101010101" pitchFamily="2" charset="-122"/>
                          <a:cs typeface="宋体" panose="02010600030101010101" pitchFamily="2" charset="-122"/>
                        </a:rPr>
                        <a:t>、</a:t>
                      </a:r>
                      <a:r>
                        <a:rPr lang="en-US" sz="2000" b="0">
                          <a:latin typeface="宋体" panose="02010600030101010101" pitchFamily="2" charset="-122"/>
                          <a:ea typeface="宋体" panose="02010600030101010101" pitchFamily="2" charset="-122"/>
                          <a:cs typeface="宋体" panose="02010600030101010101" pitchFamily="2" charset="-122"/>
                        </a:rPr>
                        <a:t>状态图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27">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交互图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顺序图</a:t>
                      </a:r>
                      <a:r>
                        <a:rPr lang="zh-CN" altLang="en-US" sz="2000" b="0">
                          <a:latin typeface="宋体" panose="02010600030101010101" pitchFamily="2" charset="-122"/>
                          <a:ea typeface="宋体" panose="02010600030101010101" pitchFamily="2" charset="-122"/>
                          <a:cs typeface="宋体" panose="02010600030101010101" pitchFamily="2" charset="-122"/>
                        </a:rPr>
                        <a:t>、</a:t>
                      </a:r>
                      <a:r>
                        <a:rPr lang="en-US" sz="2000" b="0">
                          <a:latin typeface="宋体" panose="02010600030101010101" pitchFamily="2" charset="-122"/>
                          <a:ea typeface="宋体" panose="02010600030101010101" pitchFamily="2" charset="-122"/>
                          <a:cs typeface="宋体" panose="02010600030101010101" pitchFamily="2" charset="-122"/>
                        </a:rPr>
                        <a:t>协作图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27">
                <a:tc rowSpan="2">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软件结构</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静态图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类图</a:t>
                      </a:r>
                      <a:r>
                        <a:rPr lang="zh-CN" altLang="en-US" sz="2000" b="0">
                          <a:latin typeface="宋体" panose="02010600030101010101" pitchFamily="2" charset="-122"/>
                          <a:ea typeface="宋体" panose="02010600030101010101" pitchFamily="2" charset="-122"/>
                          <a:cs typeface="宋体" panose="02010600030101010101" pitchFamily="2" charset="-122"/>
                        </a:rPr>
                        <a:t>、</a:t>
                      </a:r>
                      <a:r>
                        <a:rPr lang="en-US" sz="2000" b="0">
                          <a:latin typeface="宋体" panose="02010600030101010101" pitchFamily="2" charset="-122"/>
                          <a:ea typeface="宋体" panose="02010600030101010101" pitchFamily="2" charset="-122"/>
                          <a:cs typeface="宋体" panose="02010600030101010101" pitchFamily="2" charset="-122"/>
                        </a:rPr>
                        <a:t>对象图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87627">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实现图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2000" b="0">
                          <a:latin typeface="宋体" panose="02010600030101010101" pitchFamily="2" charset="-122"/>
                          <a:ea typeface="宋体" panose="02010600030101010101" pitchFamily="2" charset="-122"/>
                          <a:cs typeface="宋体" panose="02010600030101010101" pitchFamily="2" charset="-122"/>
                        </a:rPr>
                        <a:t>构件图</a:t>
                      </a:r>
                      <a:r>
                        <a:rPr lang="zh-CN" altLang="en-US" sz="2000" b="0">
                          <a:latin typeface="宋体" panose="02010600030101010101" pitchFamily="2" charset="-122"/>
                          <a:ea typeface="宋体" panose="02010600030101010101" pitchFamily="2" charset="-122"/>
                          <a:cs typeface="宋体" panose="02010600030101010101" pitchFamily="2" charset="-122"/>
                        </a:rPr>
                        <a:t>、</a:t>
                      </a:r>
                      <a:r>
                        <a:rPr lang="en-US" sz="2000" b="0">
                          <a:latin typeface="宋体" panose="02010600030101010101" pitchFamily="2" charset="-122"/>
                          <a:ea typeface="宋体" panose="02010600030101010101" pitchFamily="2" charset="-122"/>
                          <a:cs typeface="宋体" panose="02010600030101010101" pitchFamily="2" charset="-122"/>
                        </a:rPr>
                        <a:t>部署图</a:t>
                      </a:r>
                      <a:endParaRPr lang="en-US" altLang="en-US" sz="2000" b="0">
                        <a:latin typeface="宋体" panose="02010600030101010101" pitchFamily="2" charset="-122"/>
                        <a:ea typeface="宋体" panose="02010600030101010101" pitchFamily="2" charset="-122"/>
                        <a:cs typeface="宋体" panose="02010600030101010101" pitchFamily="2" charset="-122"/>
                      </a:endParaRPr>
                    </a:p>
                  </a:txBody>
                  <a:tcPr marL="68576" marR="68576"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a:ln/>
        </p:spPr>
        <p:txBody>
          <a:bodyPr vert="horz" wrap="square" lIns="91440" tIns="45720" rIns="91440" bIns="45720" anchor="ctr" anchorCtr="0"/>
          <a:p>
            <a:r>
              <a:rPr lang="zh-CN" altLang="zh-CN" dirty="0"/>
              <a:t>UML图</a:t>
            </a:r>
            <a:endParaRPr lang="zh-CN" altLang="en-US" dirty="0"/>
          </a:p>
        </p:txBody>
      </p:sp>
      <p:sp>
        <p:nvSpPr>
          <p:cNvPr id="16387" name="内容占位符 2"/>
          <p:cNvSpPr>
            <a:spLocks noGrp="1"/>
          </p:cNvSpPr>
          <p:nvPr>
            <p:ph idx="1"/>
          </p:nvPr>
        </p:nvSpPr>
        <p:spPr>
          <a:xfrm>
            <a:off x="720725" y="1109663"/>
            <a:ext cx="7877175" cy="503745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在需求获取和分析阶段，常常用用例图获取用户的功能需求，用活动图和状态图对业务流程建模。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在系统设计阶段，活动图和状态图也被用来对系统流程建模。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交互图描述对象间的交互关系，包括顺序图和协作图。</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静态图是从系统内部来看数据和功能性，主要包括类图、对象图和包图。</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实现图是将系统的结构和行为表达成为易于实现的方式，包括构件图和部署图。</a:t>
            </a:r>
            <a:endParaRPr lang="zh-CN" altLang="en-US" dirty="0">
              <a:latin typeface="华文中宋" panose="02010600040101010101" pitchFamily="2" charset="-122"/>
              <a:ea typeface="华文中宋" panose="02010600040101010101" pitchFamily="2" charset="-122"/>
              <a:cs typeface="+mn-cs"/>
            </a:endParaRPr>
          </a:p>
        </p:txBody>
      </p:sp>
      <p:sp>
        <p:nvSpPr>
          <p:cNvPr id="1638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ln/>
        </p:spPr>
        <p:txBody>
          <a:bodyPr vert="horz" wrap="square" lIns="91440" tIns="45720" rIns="91440" bIns="45720" anchor="ctr" anchorCtr="0"/>
          <a:p>
            <a:r>
              <a:rPr lang="en-US" altLang="zh-CN" dirty="0"/>
              <a:t>8.2 类图和对象图</a:t>
            </a:r>
            <a:endParaRPr lang="en-US" altLang="zh-CN" dirty="0"/>
          </a:p>
        </p:txBody>
      </p:sp>
      <p:sp>
        <p:nvSpPr>
          <p:cNvPr id="3" name="内容占位符 2"/>
          <p:cNvSpPr>
            <a:spLocks noGrp="1"/>
          </p:cNvSpPr>
          <p:nvPr>
            <p:ph idx="1"/>
          </p:nvPr>
        </p:nvSpPr>
        <p:spPr>
          <a:xfrm>
            <a:off x="827088" y="1379538"/>
            <a:ext cx="7391400" cy="45942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8.2.1 类与类图</a:t>
            </a: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在UML中，类通过一个矩形表示，被两条直线分隔成3个部分，分别表示类名、属性和方法。属性和方法之前可附加的可见性修饰符：</a:t>
            </a: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加号（+）表示public；</a:t>
            </a: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减号（-）表示private；</a:t>
            </a: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井号（#）表示protected；</a:t>
            </a: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17412" name="对象 -2147482596"/>
          <p:cNvGraphicFramePr>
            <a:graphicFrameLocks noChangeAspect="1"/>
          </p:cNvGraphicFramePr>
          <p:nvPr/>
        </p:nvGraphicFramePr>
        <p:xfrm>
          <a:off x="5118100" y="3617913"/>
          <a:ext cx="2890838" cy="1560512"/>
        </p:xfrm>
        <a:graphic>
          <a:graphicData uri="http://schemas.openxmlformats.org/presentationml/2006/ole">
            <mc:AlternateContent xmlns:mc="http://schemas.openxmlformats.org/markup-compatibility/2006">
              <mc:Choice xmlns:v="urn:schemas-microsoft-com:vml" Requires="v">
                <p:oleObj spid="_x0000_s3076" name="" r:id="rId1" imgW="4216400" imgH="2273300" progId="Visio.Drawing.15">
                  <p:embed/>
                </p:oleObj>
              </mc:Choice>
              <mc:Fallback>
                <p:oleObj name="" r:id="rId1" imgW="4216400" imgH="2273300" progId="Visio.Drawing.15">
                  <p:embed/>
                  <p:pic>
                    <p:nvPicPr>
                      <p:cNvPr id="0" name="图片 3075"/>
                      <p:cNvPicPr/>
                      <p:nvPr/>
                    </p:nvPicPr>
                    <p:blipFill>
                      <a:blip r:embed="rId2"/>
                      <a:stretch>
                        <a:fillRect/>
                      </a:stretch>
                    </p:blipFill>
                    <p:spPr>
                      <a:xfrm>
                        <a:off x="5118100" y="3617913"/>
                        <a:ext cx="2890838" cy="1560512"/>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18435" name="内容占位符 2"/>
          <p:cNvSpPr>
            <a:spLocks noGrp="1"/>
          </p:cNvSpPr>
          <p:nvPr>
            <p:ph idx="1"/>
          </p:nvPr>
        </p:nvSpPr>
        <p:spPr>
          <a:xfrm>
            <a:off x="684213" y="1131888"/>
            <a:ext cx="7391400" cy="42989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在UML类图中，常见的有以下几种关系: 泛化（Generalization）, 实现（Realization），关联（Association)，聚合（Aggregation），组合（Composition），依赖（Dependency）。</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根据类与类之间的耦合度从弱到强排列分别是：依赖关系、关联关系、聚合关系、组合关系、泛化关系和实现关系。</a:t>
            </a:r>
            <a:r>
              <a:rPr lang="zh-CN" altLang="en-US" dirty="0">
                <a:solidFill>
                  <a:srgbClr val="FF0000"/>
                </a:solidFill>
                <a:latin typeface="华文中宋" panose="02010600040101010101" pitchFamily="2" charset="-122"/>
                <a:ea typeface="华文中宋" panose="02010600040101010101" pitchFamily="2" charset="-122"/>
                <a:cs typeface="+mn-cs"/>
              </a:rPr>
              <a:t>其中泛化和实现的耦合度相等，它们是最强的</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19459" name="内容占位符 2"/>
          <p:cNvSpPr>
            <a:spLocks noGrp="1"/>
          </p:cNvSpPr>
          <p:nvPr>
            <p:ph idx="1"/>
          </p:nvPr>
        </p:nvSpPr>
        <p:spPr>
          <a:xfrm>
            <a:off x="684213" y="1131888"/>
            <a:ext cx="7391400" cy="28225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1. 依赖关系</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依赖（Dependency）关系是一种使用关系，它是对象之间耦合度最弱的一种关联方式，是临时性的关联。</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在UML中依赖关系使用虚线箭头连接两个类来表示，箭头从使用类指向被依赖的类</a:t>
            </a:r>
            <a:endParaRPr lang="zh-CN" altLang="en-US" dirty="0">
              <a:latin typeface="华文中宋" panose="02010600040101010101" pitchFamily="2" charset="-122"/>
              <a:ea typeface="华文中宋" panose="02010600040101010101" pitchFamily="2" charset="-122"/>
              <a:cs typeface="+mn-cs"/>
            </a:endParaRPr>
          </a:p>
        </p:txBody>
      </p:sp>
      <p:graphicFrame>
        <p:nvGraphicFramePr>
          <p:cNvPr id="19460" name="对象 -2147482595"/>
          <p:cNvGraphicFramePr>
            <a:graphicFrameLocks noChangeAspect="1"/>
          </p:cNvGraphicFramePr>
          <p:nvPr/>
        </p:nvGraphicFramePr>
        <p:xfrm>
          <a:off x="1992313" y="4062413"/>
          <a:ext cx="5026025" cy="1852612"/>
        </p:xfrm>
        <a:graphic>
          <a:graphicData uri="http://schemas.openxmlformats.org/presentationml/2006/ole">
            <mc:AlternateContent xmlns:mc="http://schemas.openxmlformats.org/markup-compatibility/2006">
              <mc:Choice xmlns:v="urn:schemas-microsoft-com:vml" Requires="v">
                <p:oleObj spid="_x0000_s3076" name="" r:id="rId1" imgW="9550400" imgH="3175000" progId="Visio.Drawing.15">
                  <p:embed/>
                </p:oleObj>
              </mc:Choice>
              <mc:Fallback>
                <p:oleObj name="" r:id="rId1" imgW="9550400" imgH="3175000" progId="Visio.Drawing.15">
                  <p:embed/>
                  <p:pic>
                    <p:nvPicPr>
                      <p:cNvPr id="0" name="图片 3075"/>
                      <p:cNvPicPr/>
                      <p:nvPr/>
                    </p:nvPicPr>
                    <p:blipFill>
                      <a:blip r:embed="rId2"/>
                      <a:stretch>
                        <a:fillRect/>
                      </a:stretch>
                    </p:blipFill>
                    <p:spPr>
                      <a:xfrm>
                        <a:off x="1992313" y="4062413"/>
                        <a:ext cx="5026025" cy="1852612"/>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20483" name="内容占位符 2"/>
          <p:cNvSpPr>
            <a:spLocks noGrp="1"/>
          </p:cNvSpPr>
          <p:nvPr>
            <p:ph idx="1"/>
          </p:nvPr>
        </p:nvSpPr>
        <p:spPr>
          <a:xfrm>
            <a:off x="684213" y="1131888"/>
            <a:ext cx="7391400" cy="3338512"/>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2.关联关系</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关联（Association）关系是对象之间的一种引用关系，在代码中</a:t>
            </a:r>
            <a:r>
              <a:rPr lang="zh-CN" altLang="en-US" dirty="0">
                <a:solidFill>
                  <a:srgbClr val="FF0000"/>
                </a:solidFill>
                <a:latin typeface="华文中宋" panose="02010600040101010101" pitchFamily="2" charset="-122"/>
                <a:ea typeface="华文中宋" panose="02010600040101010101" pitchFamily="2" charset="-122"/>
                <a:cs typeface="+mn-cs"/>
              </a:rPr>
              <a:t>通常将一个类的对象作为另一个类的成员变量</a:t>
            </a:r>
            <a:r>
              <a:rPr lang="zh-CN" altLang="en-US" dirty="0">
                <a:latin typeface="华文中宋" panose="02010600040101010101" pitchFamily="2" charset="-122"/>
                <a:ea typeface="华文中宋" panose="02010600040101010101" pitchFamily="2" charset="-122"/>
                <a:cs typeface="+mn-cs"/>
              </a:rPr>
              <a:t>来实现关联关系。</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单向的关联用带一个箭头的实线来表示，箭头从使用类指向被关联的类。</a:t>
            </a:r>
            <a:endParaRPr lang="zh-CN" altLang="en-US" dirty="0">
              <a:latin typeface="华文中宋" panose="02010600040101010101" pitchFamily="2" charset="-122"/>
              <a:ea typeface="华文中宋" panose="02010600040101010101" pitchFamily="2" charset="-122"/>
              <a:cs typeface="+mn-cs"/>
            </a:endParaRPr>
          </a:p>
        </p:txBody>
      </p:sp>
      <p:graphicFrame>
        <p:nvGraphicFramePr>
          <p:cNvPr id="20484" name="对象 -2147482594"/>
          <p:cNvGraphicFramePr>
            <a:graphicFrameLocks noChangeAspect="1"/>
          </p:cNvGraphicFramePr>
          <p:nvPr/>
        </p:nvGraphicFramePr>
        <p:xfrm>
          <a:off x="1354138" y="4705350"/>
          <a:ext cx="6610350" cy="1104900"/>
        </p:xfrm>
        <a:graphic>
          <a:graphicData uri="http://schemas.openxmlformats.org/presentationml/2006/ole">
            <mc:AlternateContent xmlns:mc="http://schemas.openxmlformats.org/markup-compatibility/2006">
              <mc:Choice xmlns:v="urn:schemas-microsoft-com:vml" Requires="v">
                <p:oleObj spid="_x0000_s3077" name="" r:id="rId1" imgW="9804400" imgH="1651000" progId="Visio.Drawing.15">
                  <p:embed/>
                </p:oleObj>
              </mc:Choice>
              <mc:Fallback>
                <p:oleObj name="" r:id="rId1" imgW="9804400" imgH="1651000" progId="Visio.Drawing.15">
                  <p:embed/>
                  <p:pic>
                    <p:nvPicPr>
                      <p:cNvPr id="0" name="图片 3076"/>
                      <p:cNvPicPr/>
                      <p:nvPr/>
                    </p:nvPicPr>
                    <p:blipFill>
                      <a:blip r:embed="rId2"/>
                      <a:stretch>
                        <a:fillRect/>
                      </a:stretch>
                    </p:blipFill>
                    <p:spPr>
                      <a:xfrm>
                        <a:off x="1354138" y="4705350"/>
                        <a:ext cx="6610350" cy="1104900"/>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21507" name="内容占位符 2"/>
          <p:cNvSpPr>
            <a:spLocks noGrp="1"/>
          </p:cNvSpPr>
          <p:nvPr>
            <p:ph idx="1"/>
          </p:nvPr>
        </p:nvSpPr>
        <p:spPr>
          <a:xfrm>
            <a:off x="684213" y="1068388"/>
            <a:ext cx="7391400" cy="2798762"/>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3. 聚合关系</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聚合（Aggregation）关系是关联关系的一种，是强关联关系，是</a:t>
            </a:r>
            <a:r>
              <a:rPr lang="zh-CN" altLang="en-US" sz="2000" dirty="0">
                <a:solidFill>
                  <a:srgbClr val="C00000"/>
                </a:solidFill>
                <a:latin typeface="华文中宋" panose="02010600040101010101" pitchFamily="2" charset="-122"/>
                <a:ea typeface="华文中宋" panose="02010600040101010101" pitchFamily="2" charset="-122"/>
                <a:cs typeface="+mn-cs"/>
              </a:rPr>
              <a:t>整体和部分之间的关系，是 has-a 的关系</a:t>
            </a:r>
            <a:r>
              <a:rPr lang="zh-CN" altLang="en-US" sz="2000" dirty="0">
                <a:latin typeface="华文中宋" panose="02010600040101010101" pitchFamily="2" charset="-122"/>
                <a:ea typeface="华文中宋" panose="02010600040101010101" pitchFamily="2" charset="-122"/>
                <a:cs typeface="+mn-cs"/>
              </a:rPr>
              <a:t>。成员对象是整体对象的一部分，但是成员对象可以脱离整体对象而独立存在</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在 UML 类图中，聚合关系可以用带空心菱形的实线来表示，菱形指向整体。</a:t>
            </a:r>
            <a:endParaRPr lang="zh-CN" altLang="en-US" sz="2000" dirty="0">
              <a:latin typeface="华文中宋" panose="02010600040101010101" pitchFamily="2" charset="-122"/>
              <a:ea typeface="华文中宋" panose="02010600040101010101" pitchFamily="2" charset="-122"/>
              <a:cs typeface="+mn-cs"/>
            </a:endParaRPr>
          </a:p>
        </p:txBody>
      </p:sp>
      <p:graphicFrame>
        <p:nvGraphicFramePr>
          <p:cNvPr id="21508" name="对象 -2147482593"/>
          <p:cNvGraphicFramePr>
            <a:graphicFrameLocks noChangeAspect="1"/>
          </p:cNvGraphicFramePr>
          <p:nvPr/>
        </p:nvGraphicFramePr>
        <p:xfrm>
          <a:off x="1828800" y="4437063"/>
          <a:ext cx="5486400" cy="1417637"/>
        </p:xfrm>
        <a:graphic>
          <a:graphicData uri="http://schemas.openxmlformats.org/presentationml/2006/ole">
            <mc:AlternateContent xmlns:mc="http://schemas.openxmlformats.org/markup-compatibility/2006">
              <mc:Choice xmlns:v="urn:schemas-microsoft-com:vml" Requires="v">
                <p:oleObj spid="_x0000_s3078" name="" r:id="rId1" imgW="9766300" imgH="2514600" progId="Visio.Drawing.15">
                  <p:embed/>
                </p:oleObj>
              </mc:Choice>
              <mc:Fallback>
                <p:oleObj name="" r:id="rId1" imgW="9766300" imgH="2514600" progId="Visio.Drawing.15">
                  <p:embed/>
                  <p:pic>
                    <p:nvPicPr>
                      <p:cNvPr id="0" name="图片 3077"/>
                      <p:cNvPicPr/>
                      <p:nvPr/>
                    </p:nvPicPr>
                    <p:blipFill>
                      <a:blip r:embed="rId2"/>
                      <a:stretch>
                        <a:fillRect/>
                      </a:stretch>
                    </p:blipFill>
                    <p:spPr>
                      <a:xfrm>
                        <a:off x="1828800" y="4437063"/>
                        <a:ext cx="5486400" cy="1417637"/>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22531" name="内容占位符 2"/>
          <p:cNvSpPr>
            <a:spLocks noGrp="1"/>
          </p:cNvSpPr>
          <p:nvPr>
            <p:ph idx="1"/>
          </p:nvPr>
        </p:nvSpPr>
        <p:spPr>
          <a:xfrm>
            <a:off x="684213" y="1068388"/>
            <a:ext cx="7391400" cy="3660775"/>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4.组合关系</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组合（Composition）关系也是关联关系的一种，也表示类之间的</a:t>
            </a:r>
            <a:r>
              <a:rPr lang="zh-CN" altLang="en-US" sz="2000" dirty="0">
                <a:solidFill>
                  <a:srgbClr val="C00000"/>
                </a:solidFill>
                <a:latin typeface="华文中宋" panose="02010600040101010101" pitchFamily="2" charset="-122"/>
                <a:ea typeface="华文中宋" panose="02010600040101010101" pitchFamily="2" charset="-122"/>
                <a:cs typeface="+mn-cs"/>
              </a:rPr>
              <a:t>整体与部分的关系</a:t>
            </a:r>
            <a:r>
              <a:rPr lang="zh-CN" altLang="en-US" sz="2000" dirty="0">
                <a:latin typeface="华文中宋" panose="02010600040101010101" pitchFamily="2" charset="-122"/>
                <a:ea typeface="华文中宋" panose="02010600040101010101" pitchFamily="2" charset="-122"/>
                <a:cs typeface="+mn-cs"/>
              </a:rPr>
              <a:t>，但</a:t>
            </a:r>
            <a:r>
              <a:rPr lang="zh-CN" altLang="en-US" sz="2000" dirty="0">
                <a:solidFill>
                  <a:srgbClr val="FF0000"/>
                </a:solidFill>
                <a:latin typeface="华文中宋" panose="02010600040101010101" pitchFamily="2" charset="-122"/>
                <a:ea typeface="华文中宋" panose="02010600040101010101" pitchFamily="2" charset="-122"/>
                <a:cs typeface="+mn-cs"/>
              </a:rPr>
              <a:t>它是一种更强烈的聚合关系</a:t>
            </a:r>
            <a:r>
              <a:rPr lang="zh-CN" altLang="en-US" sz="2000" dirty="0">
                <a:latin typeface="华文中宋" panose="02010600040101010101" pitchFamily="2" charset="-122"/>
                <a:ea typeface="华文中宋" panose="02010600040101010101" pitchFamily="2" charset="-122"/>
                <a:cs typeface="+mn-cs"/>
              </a:rPr>
              <a:t>。</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在组合关系中，</a:t>
            </a:r>
            <a:r>
              <a:rPr lang="zh-CN" altLang="en-US" sz="2000" dirty="0">
                <a:solidFill>
                  <a:srgbClr val="FF0000"/>
                </a:solidFill>
                <a:latin typeface="华文中宋" panose="02010600040101010101" pitchFamily="2" charset="-122"/>
                <a:ea typeface="华文中宋" panose="02010600040101010101" pitchFamily="2" charset="-122"/>
                <a:cs typeface="+mn-cs"/>
              </a:rPr>
              <a:t>整体对象可以控制部分对象的生命周期，一旦整体对象不存在，部分对象也将不存在</a:t>
            </a:r>
            <a:r>
              <a:rPr lang="zh-CN" altLang="en-US" sz="2000" dirty="0">
                <a:latin typeface="华文中宋" panose="02010600040101010101" pitchFamily="2" charset="-122"/>
                <a:ea typeface="华文中宋" panose="02010600040101010101" pitchFamily="2" charset="-122"/>
                <a:cs typeface="+mn-cs"/>
              </a:rPr>
              <a:t>，部分对象不能脱离整体对象而存在。例如，头和嘴的关系，没有了头，嘴也就不存在了。在 UML 类图中，组合关系用带实心菱形的实线来表示，菱形指向整体。</a:t>
            </a:r>
            <a:endParaRPr lang="zh-CN" altLang="en-US" sz="2000" dirty="0">
              <a:latin typeface="华文中宋" panose="02010600040101010101" pitchFamily="2" charset="-122"/>
              <a:ea typeface="华文中宋" panose="02010600040101010101" pitchFamily="2" charset="-122"/>
              <a:cs typeface="+mn-cs"/>
            </a:endParaRPr>
          </a:p>
        </p:txBody>
      </p:sp>
      <p:graphicFrame>
        <p:nvGraphicFramePr>
          <p:cNvPr id="22532" name="对象 -2147482592"/>
          <p:cNvGraphicFramePr>
            <a:graphicFrameLocks noChangeAspect="1"/>
          </p:cNvGraphicFramePr>
          <p:nvPr/>
        </p:nvGraphicFramePr>
        <p:xfrm>
          <a:off x="1739900" y="4905375"/>
          <a:ext cx="6759575" cy="1147763"/>
        </p:xfrm>
        <a:graphic>
          <a:graphicData uri="http://schemas.openxmlformats.org/presentationml/2006/ole">
            <mc:AlternateContent xmlns:mc="http://schemas.openxmlformats.org/markup-compatibility/2006">
              <mc:Choice xmlns:v="urn:schemas-microsoft-com:vml" Requires="v">
                <p:oleObj spid="_x0000_s3079" name="" r:id="rId1" imgW="9766300" imgH="1676400" progId="Visio.Drawing.15">
                  <p:embed/>
                </p:oleObj>
              </mc:Choice>
              <mc:Fallback>
                <p:oleObj name="" r:id="rId1" imgW="9766300" imgH="1676400" progId="Visio.Drawing.15">
                  <p:embed/>
                  <p:pic>
                    <p:nvPicPr>
                      <p:cNvPr id="0" name="图片 3078"/>
                      <p:cNvPicPr/>
                      <p:nvPr/>
                    </p:nvPicPr>
                    <p:blipFill>
                      <a:blip r:embed="rId2"/>
                      <a:stretch>
                        <a:fillRect/>
                      </a:stretch>
                    </p:blipFill>
                    <p:spPr>
                      <a:xfrm>
                        <a:off x="1739900" y="4905375"/>
                        <a:ext cx="6759575" cy="1147763"/>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23555" name="内容占位符 2"/>
          <p:cNvSpPr>
            <a:spLocks noGrp="1"/>
          </p:cNvSpPr>
          <p:nvPr>
            <p:ph idx="1"/>
          </p:nvPr>
        </p:nvSpPr>
        <p:spPr>
          <a:xfrm>
            <a:off x="684213" y="1068388"/>
            <a:ext cx="7391400" cy="1936750"/>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5. 泛化（Generalization）</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泛化关系是一种继承关系，表示一般与特殊的关系，它指定了子类如何特殊化父类的所有特征和行为。</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泛化关系是带三角箭头的实线，箭头指向父类。</a:t>
            </a:r>
            <a:endParaRPr lang="zh-CN" altLang="en-US" sz="2000" dirty="0">
              <a:latin typeface="华文中宋" panose="02010600040101010101" pitchFamily="2" charset="-122"/>
              <a:ea typeface="华文中宋" panose="02010600040101010101" pitchFamily="2" charset="-122"/>
              <a:cs typeface="+mn-cs"/>
            </a:endParaRPr>
          </a:p>
        </p:txBody>
      </p:sp>
      <p:graphicFrame>
        <p:nvGraphicFramePr>
          <p:cNvPr id="23556" name="对象 -2147482591"/>
          <p:cNvGraphicFramePr>
            <a:graphicFrameLocks noChangeAspect="1"/>
          </p:cNvGraphicFramePr>
          <p:nvPr/>
        </p:nvGraphicFramePr>
        <p:xfrm>
          <a:off x="763588" y="3724275"/>
          <a:ext cx="7231062" cy="1031875"/>
        </p:xfrm>
        <a:graphic>
          <a:graphicData uri="http://schemas.openxmlformats.org/presentationml/2006/ole">
            <mc:AlternateContent xmlns:mc="http://schemas.openxmlformats.org/markup-compatibility/2006">
              <mc:Choice xmlns:v="urn:schemas-microsoft-com:vml" Requires="v">
                <p:oleObj spid="_x0000_s3080" name="" r:id="rId1" imgW="9766300" imgH="1143000" progId="Visio.Drawing.15">
                  <p:embed/>
                </p:oleObj>
              </mc:Choice>
              <mc:Fallback>
                <p:oleObj name="" r:id="rId1" imgW="9766300" imgH="1143000" progId="Visio.Drawing.15">
                  <p:embed/>
                  <p:pic>
                    <p:nvPicPr>
                      <p:cNvPr id="0" name="图片 3079"/>
                      <p:cNvPicPr/>
                      <p:nvPr/>
                    </p:nvPicPr>
                    <p:blipFill>
                      <a:blip r:embed="rId2"/>
                      <a:stretch>
                        <a:fillRect/>
                      </a:stretch>
                    </p:blipFill>
                    <p:spPr>
                      <a:xfrm>
                        <a:off x="763588" y="3724275"/>
                        <a:ext cx="7231062" cy="1031875"/>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ln/>
        </p:spPr>
        <p:txBody>
          <a:bodyPr vert="horz" wrap="square" lIns="91440" tIns="45720" rIns="91440" bIns="45720" anchor="ctr" anchorCtr="0"/>
          <a:p>
            <a:r>
              <a:rPr lang="en-US" altLang="zh-CN" dirty="0"/>
              <a:t>8.2.2 类之间关系</a:t>
            </a:r>
            <a:endParaRPr lang="en-US" altLang="zh-CN" dirty="0"/>
          </a:p>
        </p:txBody>
      </p:sp>
      <p:sp>
        <p:nvSpPr>
          <p:cNvPr id="24579" name="内容占位符 2"/>
          <p:cNvSpPr>
            <a:spLocks noGrp="1"/>
          </p:cNvSpPr>
          <p:nvPr>
            <p:ph idx="1"/>
          </p:nvPr>
        </p:nvSpPr>
        <p:spPr>
          <a:xfrm>
            <a:off x="684213" y="1068388"/>
            <a:ext cx="7391400" cy="2798762"/>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6. 实现（Realization）</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实现关系是一种</a:t>
            </a:r>
            <a:r>
              <a:rPr lang="zh-CN" altLang="en-US" sz="2000" dirty="0">
                <a:solidFill>
                  <a:srgbClr val="C00000"/>
                </a:solidFill>
                <a:latin typeface="华文中宋" panose="02010600040101010101" pitchFamily="2" charset="-122"/>
                <a:ea typeface="华文中宋" panose="02010600040101010101" pitchFamily="2" charset="-122"/>
                <a:cs typeface="+mn-cs"/>
              </a:rPr>
              <a:t>类与接口的关系</a:t>
            </a:r>
            <a:r>
              <a:rPr lang="zh-CN" altLang="en-US" sz="2000" dirty="0">
                <a:latin typeface="华文中宋" panose="02010600040101010101" pitchFamily="2" charset="-122"/>
                <a:ea typeface="华文中宋" panose="02010600040101010101" pitchFamily="2" charset="-122"/>
                <a:cs typeface="+mn-cs"/>
              </a:rPr>
              <a:t>，表示类是接口所有特征和行为的实现，在这种关系中，</a:t>
            </a:r>
            <a:r>
              <a:rPr lang="zh-CN" altLang="en-US" sz="2000" b="1" dirty="0">
                <a:solidFill>
                  <a:srgbClr val="C00000"/>
                </a:solidFill>
                <a:latin typeface="华文中宋" panose="02010600040101010101" pitchFamily="2" charset="-122"/>
                <a:ea typeface="华文中宋" panose="02010600040101010101" pitchFamily="2" charset="-122"/>
                <a:cs typeface="+mn-cs"/>
              </a:rPr>
              <a:t>类实现了接口</a:t>
            </a:r>
            <a:r>
              <a:rPr lang="zh-CN" altLang="en-US" sz="2000" dirty="0">
                <a:solidFill>
                  <a:srgbClr val="C00000"/>
                </a:solidFill>
                <a:latin typeface="华文中宋" panose="02010600040101010101" pitchFamily="2" charset="-122"/>
                <a:ea typeface="华文中宋" panose="02010600040101010101" pitchFamily="2" charset="-122"/>
                <a:cs typeface="+mn-cs"/>
              </a:rPr>
              <a:t>，类中的操作实现了接口中所声明的所有的抽象操作</a:t>
            </a:r>
            <a:r>
              <a:rPr lang="zh-CN" altLang="en-US" sz="2000" dirty="0">
                <a:latin typeface="华文中宋" panose="02010600040101010101" pitchFamily="2" charset="-122"/>
                <a:ea typeface="华文中宋" panose="02010600040101010101" pitchFamily="2" charset="-122"/>
                <a:cs typeface="+mn-cs"/>
              </a:rPr>
              <a:t>。</a:t>
            </a:r>
            <a:endParaRPr lang="zh-CN" altLang="en-US" sz="2000" dirty="0">
              <a:latin typeface="华文中宋" panose="02010600040101010101" pitchFamily="2" charset="-122"/>
              <a:ea typeface="华文中宋" panose="02010600040101010101" pitchFamily="2" charset="-122"/>
              <a:cs typeface="+mn-cs"/>
            </a:endParaRPr>
          </a:p>
          <a:p>
            <a:pPr>
              <a:buSzPct val="70000"/>
            </a:pPr>
            <a:r>
              <a:rPr lang="zh-CN" altLang="en-US" sz="2000" dirty="0">
                <a:latin typeface="华文中宋" panose="02010600040101010101" pitchFamily="2" charset="-122"/>
                <a:ea typeface="华文中宋" panose="02010600040101010101" pitchFamily="2" charset="-122"/>
                <a:cs typeface="+mn-cs"/>
              </a:rPr>
              <a:t>在 UML 类图中实现关系用带空心三角形的虚线表示，箭头指向接口。</a:t>
            </a:r>
            <a:endParaRPr lang="zh-CN" altLang="en-US" sz="2000" dirty="0">
              <a:latin typeface="华文中宋" panose="02010600040101010101" pitchFamily="2" charset="-122"/>
              <a:ea typeface="华文中宋" panose="02010600040101010101" pitchFamily="2" charset="-122"/>
              <a:cs typeface="+mn-cs"/>
            </a:endParaRPr>
          </a:p>
        </p:txBody>
      </p:sp>
      <p:pic>
        <p:nvPicPr>
          <p:cNvPr id="24580" name="图片 4"/>
          <p:cNvPicPr>
            <a:picLocks noChangeAspect="1"/>
          </p:cNvPicPr>
          <p:nvPr/>
        </p:nvPicPr>
        <p:blipFill>
          <a:blip r:embed="rId1"/>
          <a:stretch>
            <a:fillRect/>
          </a:stretch>
        </p:blipFill>
        <p:spPr>
          <a:xfrm>
            <a:off x="1955800" y="3606800"/>
            <a:ext cx="5597525" cy="2592388"/>
          </a:xfrm>
          <a:prstGeom prst="rect">
            <a:avLst/>
          </a:prstGeom>
          <a:noFill/>
          <a:ln w="9525">
            <a:noFill/>
          </a:ln>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r>
              <a:rPr lang="en-US" altLang="zh-CN" dirty="0"/>
              <a:t>8.2.3 对象图</a:t>
            </a:r>
            <a:endParaRPr lang="en-US" altLang="zh-CN" dirty="0"/>
          </a:p>
        </p:txBody>
      </p:sp>
      <p:sp>
        <p:nvSpPr>
          <p:cNvPr id="25603" name="内容占位符 2"/>
          <p:cNvSpPr>
            <a:spLocks noGrp="1"/>
          </p:cNvSpPr>
          <p:nvPr>
            <p:ph idx="1"/>
          </p:nvPr>
        </p:nvSpPr>
        <p:spPr>
          <a:xfrm>
            <a:off x="682625" y="1068388"/>
            <a:ext cx="7724775" cy="23050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对象图显示了某一时刻的一组对象及它们之间的关系。</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一个UML对象图可看成一个类图的特殊用例，实例和类可在其中显示。</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对象图几乎使用与类图完全相同的标识。</a:t>
            </a: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ln/>
        </p:spPr>
        <p:txBody>
          <a:bodyPr vert="horz" wrap="square" lIns="91440" tIns="45720" rIns="91440" bIns="45720" anchor="ctr" anchorCtr="0"/>
          <a:p>
            <a:r>
              <a:rPr lang="zh-CN" altLang="zh-CN" dirty="0"/>
              <a:t>8.3顺序图和协作图</a:t>
            </a:r>
            <a:endParaRPr lang="zh-CN" altLang="zh-CN" dirty="0"/>
          </a:p>
        </p:txBody>
      </p:sp>
      <p:sp>
        <p:nvSpPr>
          <p:cNvPr id="26627" name="内容占位符 2"/>
          <p:cNvSpPr>
            <a:spLocks noGrp="1"/>
          </p:cNvSpPr>
          <p:nvPr>
            <p:ph idx="1"/>
          </p:nvPr>
        </p:nvSpPr>
        <p:spPr>
          <a:xfrm>
            <a:off x="655638" y="1109663"/>
            <a:ext cx="7391400" cy="4633912"/>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交互图描述对象间的交互关系，包括顺序图和协作图</a:t>
            </a:r>
            <a:endParaRPr lang="zh-CN" altLang="en-US" dirty="0">
              <a:latin typeface="华文中宋" panose="02010600040101010101" pitchFamily="2" charset="-122"/>
              <a:ea typeface="华文中宋" panose="02010600040101010101" pitchFamily="2" charset="-122"/>
              <a:cs typeface="+mn-cs"/>
            </a:endParaRPr>
          </a:p>
          <a:p>
            <a:pPr eaLnBrk="1" hangingPunct="1">
              <a:lnSpc>
                <a:spcPct val="150000"/>
              </a:lnSpc>
              <a:buClrTx/>
              <a:buSzTx/>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cs typeface="+mn-cs"/>
              </a:rPr>
              <a:t>顺序图（或称时序图）显示对象之间的动态合作关系，它</a:t>
            </a:r>
            <a:r>
              <a:rPr lang="zh-CN" altLang="en-US" dirty="0">
                <a:solidFill>
                  <a:srgbClr val="C00000"/>
                </a:solidFill>
                <a:latin typeface="华文中宋" panose="02010600040101010101" pitchFamily="2" charset="-122"/>
                <a:ea typeface="华文中宋" panose="02010600040101010101" pitchFamily="2" charset="-122"/>
                <a:cs typeface="+mn-cs"/>
              </a:rPr>
              <a:t>强调对象之间消息发送的顺序</a:t>
            </a:r>
            <a:r>
              <a:rPr lang="zh-CN" altLang="en-US" dirty="0">
                <a:latin typeface="华文中宋" panose="02010600040101010101" pitchFamily="2" charset="-122"/>
                <a:ea typeface="华文中宋" panose="02010600040101010101" pitchFamily="2" charset="-122"/>
                <a:cs typeface="+mn-cs"/>
              </a:rPr>
              <a:t>，同时显示对象之间的交互，</a:t>
            </a:r>
            <a:r>
              <a:rPr lang="zh-CN" altLang="en-US" dirty="0">
                <a:solidFill>
                  <a:srgbClr val="C00000"/>
                </a:solidFill>
                <a:latin typeface="华文中宋" panose="02010600040101010101" pitchFamily="2" charset="-122"/>
                <a:ea typeface="华文中宋" panose="02010600040101010101" pitchFamily="2" charset="-122"/>
                <a:cs typeface="+mn-cs"/>
              </a:rPr>
              <a:t>强调时间和顺序</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eaLnBrk="1" hangingPunct="1">
              <a:lnSpc>
                <a:spcPct val="150000"/>
              </a:lnSpc>
              <a:buClrTx/>
              <a:buSzTx/>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cs typeface="+mn-cs"/>
              </a:rPr>
              <a:t>协作图（或称合作图）</a:t>
            </a:r>
            <a:r>
              <a:rPr lang="zh-CN" altLang="en-US" dirty="0">
                <a:solidFill>
                  <a:srgbClr val="C00000"/>
                </a:solidFill>
                <a:latin typeface="华文中宋" panose="02010600040101010101" pitchFamily="2" charset="-122"/>
                <a:ea typeface="华文中宋" panose="02010600040101010101" pitchFamily="2" charset="-122"/>
                <a:cs typeface="+mn-cs"/>
              </a:rPr>
              <a:t>描述对象间的协作关系</a:t>
            </a:r>
            <a:r>
              <a:rPr lang="zh-CN" altLang="en-US" dirty="0">
                <a:latin typeface="华文中宋" panose="02010600040101010101" pitchFamily="2" charset="-122"/>
                <a:ea typeface="华文中宋" panose="02010600040101010101" pitchFamily="2" charset="-122"/>
                <a:cs typeface="+mn-cs"/>
              </a:rPr>
              <a:t>，协作图跟顺序图相似，显示对象间的动态合作关系。除显示信息交换外，协作图还显示对象以及它们之间的关系。</a:t>
            </a:r>
            <a:r>
              <a:rPr lang="zh-CN" altLang="en-US" dirty="0">
                <a:solidFill>
                  <a:srgbClr val="C00000"/>
                </a:solidFill>
                <a:latin typeface="华文中宋" panose="02010600040101010101" pitchFamily="2" charset="-122"/>
                <a:ea typeface="华文中宋" panose="02010600040101010101" pitchFamily="2" charset="-122"/>
                <a:cs typeface="+mn-cs"/>
              </a:rPr>
              <a:t>协作图强调上下级关系</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pPr eaLnBrk="1" hangingPunct="1">
              <a:lnSpc>
                <a:spcPct val="120000"/>
              </a:lnSpc>
            </a:pPr>
            <a:r>
              <a:rPr lang="en-US" altLang="zh-CN" dirty="0"/>
              <a:t>8.3.1 </a:t>
            </a:r>
            <a:r>
              <a:rPr lang="zh-CN" altLang="en-US" dirty="0"/>
              <a:t>顺序图</a:t>
            </a:r>
            <a:endParaRPr lang="en-US" altLang="zh-CN" dirty="0"/>
          </a:p>
        </p:txBody>
      </p:sp>
      <p:sp>
        <p:nvSpPr>
          <p:cNvPr id="27651" name="内容占位符 2"/>
          <p:cNvSpPr>
            <a:spLocks noGrp="1"/>
          </p:cNvSpPr>
          <p:nvPr>
            <p:ph idx="1"/>
          </p:nvPr>
        </p:nvSpPr>
        <p:spPr>
          <a:xfrm>
            <a:off x="827088" y="1268413"/>
            <a:ext cx="7391400" cy="4964112"/>
          </a:xfrm>
          <a:ln/>
        </p:spPr>
        <p:txBody>
          <a:bodyPr vert="horz" wrap="square" lIns="91440" tIns="45720" rIns="91440" bIns="45720" anchor="t" anchorCtr="0">
            <a:spAutoFit/>
          </a:bodyPr>
          <a:p>
            <a:pPr eaLnBrk="1" hangingPunct="1">
              <a:lnSpc>
                <a:spcPct val="120000"/>
              </a:lnSpc>
              <a:buSzPct val="70000"/>
            </a:pPr>
            <a:r>
              <a:rPr lang="zh-CN" altLang="zh-CN" dirty="0">
                <a:latin typeface="华文中宋" panose="02010600040101010101" pitchFamily="2" charset="-122"/>
                <a:ea typeface="华文中宋" panose="02010600040101010101" pitchFamily="2" charset="-122"/>
                <a:cs typeface="+mn-cs"/>
              </a:rPr>
              <a:t>顺序图把用例行为分配给类(对象)，并</a:t>
            </a:r>
            <a:r>
              <a:rPr lang="zh-CN" altLang="zh-CN" dirty="0">
                <a:solidFill>
                  <a:srgbClr val="C00000"/>
                </a:solidFill>
                <a:latin typeface="华文中宋" panose="02010600040101010101" pitchFamily="2" charset="-122"/>
                <a:ea typeface="华文中宋" panose="02010600040101010101" pitchFamily="2" charset="-122"/>
                <a:cs typeface="+mn-cs"/>
              </a:rPr>
              <a:t>将交互关系表示为一个二维图，纵向是时间轴</a:t>
            </a:r>
            <a:r>
              <a:rPr lang="zh-CN" altLang="zh-CN" dirty="0">
                <a:latin typeface="华文中宋" panose="02010600040101010101" pitchFamily="2" charset="-122"/>
                <a:ea typeface="华文中宋" panose="02010600040101010101" pitchFamily="2" charset="-122"/>
                <a:cs typeface="+mn-cs"/>
              </a:rPr>
              <a:t>，时间沿竖线向下延伸，</a:t>
            </a:r>
            <a:r>
              <a:rPr lang="zh-CN" altLang="zh-CN" dirty="0">
                <a:solidFill>
                  <a:srgbClr val="C00000"/>
                </a:solidFill>
                <a:latin typeface="华文中宋" panose="02010600040101010101" pitchFamily="2" charset="-122"/>
                <a:ea typeface="华文中宋" panose="02010600040101010101" pitchFamily="2" charset="-122"/>
                <a:cs typeface="+mn-cs"/>
              </a:rPr>
              <a:t>横轴代表了在交互的参与者和独立类、对象或其组成的系统</a:t>
            </a:r>
            <a:r>
              <a:rPr lang="zh-CN" altLang="zh-CN" dirty="0">
                <a:latin typeface="华文中宋" panose="02010600040101010101" pitchFamily="2" charset="-122"/>
                <a:ea typeface="华文中宋" panose="02010600040101010101" pitchFamily="2" charset="-122"/>
                <a:cs typeface="+mn-cs"/>
              </a:rPr>
              <a:t>。</a:t>
            </a: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endParaRPr lang="zh-CN" altLang="zh-CN" dirty="0">
              <a:latin typeface="华文中宋" panose="02010600040101010101" pitchFamily="2" charset="-122"/>
              <a:ea typeface="华文中宋" panose="02010600040101010101" pitchFamily="2" charset="-122"/>
              <a:cs typeface="+mn-cs"/>
            </a:endParaRPr>
          </a:p>
          <a:p>
            <a:pPr eaLnBrk="1" hangingPunct="1">
              <a:lnSpc>
                <a:spcPct val="120000"/>
              </a:lnSpc>
              <a:buSzPct val="70000"/>
            </a:pPr>
            <a:r>
              <a:rPr lang="zh-CN" altLang="zh-CN" dirty="0">
                <a:latin typeface="华文中宋" panose="02010600040101010101" pitchFamily="2" charset="-122"/>
                <a:ea typeface="华文中宋" panose="02010600040101010101" pitchFamily="2" charset="-122"/>
                <a:cs typeface="+mn-cs"/>
              </a:rPr>
              <a:t>顺序图有两个主要的标记符：活动对象和消息。</a:t>
            </a:r>
            <a:endParaRPr lang="zh-CN" altLang="zh-CN" dirty="0">
              <a:latin typeface="华文中宋" panose="02010600040101010101" pitchFamily="2" charset="-122"/>
              <a:ea typeface="华文中宋" panose="02010600040101010101" pitchFamily="2" charset="-122"/>
              <a:cs typeface="+mn-cs"/>
            </a:endParaRPr>
          </a:p>
        </p:txBody>
      </p:sp>
      <p:sp>
        <p:nvSpPr>
          <p:cNvPr id="2765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27653" name="图片 3"/>
          <p:cNvPicPr>
            <a:picLocks noChangeAspect="1"/>
          </p:cNvPicPr>
          <p:nvPr/>
        </p:nvPicPr>
        <p:blipFill>
          <a:blip r:embed="rId1"/>
          <a:srcRect b="25386"/>
          <a:stretch>
            <a:fillRect/>
          </a:stretch>
        </p:blipFill>
        <p:spPr>
          <a:xfrm>
            <a:off x="2008188" y="3117850"/>
            <a:ext cx="5029200" cy="2462213"/>
          </a:xfrm>
          <a:prstGeom prst="rect">
            <a:avLst/>
          </a:prstGeom>
          <a:noFill/>
          <a:ln w="9525">
            <a:noFill/>
          </a:ln>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a:ln/>
        </p:spPr>
        <p:txBody>
          <a:bodyPr vert="horz" wrap="square" lIns="91440" tIns="45720" rIns="91440" bIns="45720" anchor="ctr" anchorCtr="0"/>
          <a:p>
            <a:pPr eaLnBrk="1" hangingPunct="1">
              <a:spcBef>
                <a:spcPct val="50000"/>
              </a:spcBef>
            </a:pPr>
            <a:r>
              <a:rPr lang="zh-CN" altLang="en-US" dirty="0">
                <a:solidFill>
                  <a:srgbClr val="000066"/>
                </a:solidFill>
                <a:ea typeface="宋体" panose="02010600030101010101" pitchFamily="2" charset="-122"/>
              </a:rPr>
              <a:t>顺序图与用例图和类图的关系</a:t>
            </a:r>
            <a:endParaRPr lang="zh-CN" altLang="en-US" dirty="0">
              <a:solidFill>
                <a:srgbClr val="000066"/>
              </a:solidFill>
              <a:ea typeface="宋体" panose="02010600030101010101" pitchFamily="2" charset="-122"/>
            </a:endParaRPr>
          </a:p>
        </p:txBody>
      </p:sp>
      <p:sp>
        <p:nvSpPr>
          <p:cNvPr id="2867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28676" name="Picture 6"/>
          <p:cNvPicPr>
            <a:picLocks noChangeAspect="1"/>
          </p:cNvPicPr>
          <p:nvPr/>
        </p:nvPicPr>
        <p:blipFill>
          <a:blip r:embed="rId1"/>
          <a:stretch>
            <a:fillRect/>
          </a:stretch>
        </p:blipFill>
        <p:spPr>
          <a:xfrm>
            <a:off x="806450" y="1547813"/>
            <a:ext cx="7705725" cy="4465637"/>
          </a:xfrm>
          <a:prstGeom prst="rect">
            <a:avLst/>
          </a:prstGeom>
          <a:noFill/>
          <a:ln w="9525">
            <a:noFill/>
          </a:ln>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en-US" altLang="zh-CN" dirty="0"/>
              <a:t>1. </a:t>
            </a:r>
            <a:r>
              <a:rPr lang="zh-CN" altLang="en-US" dirty="0"/>
              <a:t>活动对象</a:t>
            </a:r>
            <a:endParaRPr lang="zh-CN" altLang="en-US" dirty="0"/>
          </a:p>
        </p:txBody>
      </p:sp>
      <p:sp>
        <p:nvSpPr>
          <p:cNvPr id="2969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29700" name="内容占位符 2"/>
          <p:cNvSpPr>
            <a:spLocks noGrp="1"/>
          </p:cNvSpPr>
          <p:nvPr>
            <p:ph idx="1"/>
          </p:nvPr>
        </p:nvSpPr>
        <p:spPr>
          <a:xfrm>
            <a:off x="287338" y="1108075"/>
            <a:ext cx="8569325" cy="2159000"/>
          </a:xfrm>
          <a:ln/>
        </p:spPr>
        <p:txBody>
          <a:bodyPr vert="horz" wrap="square" lIns="91440" tIns="45720" rIns="91440" bIns="45720" anchor="t" anchorCtr="0">
            <a:spAutoFit/>
          </a:bodyPr>
          <a:p>
            <a:pPr marL="538480" indent="-342900" eaLnBrk="1" hangingPunct="1">
              <a:spcBef>
                <a:spcPct val="0"/>
              </a:spcBef>
              <a:buClrTx/>
              <a:buSzTx/>
            </a:pPr>
            <a:r>
              <a:rPr lang="zh-CN" altLang="en-US" dirty="0">
                <a:latin typeface="华文中宋" panose="02010600040101010101" pitchFamily="2" charset="-122"/>
                <a:ea typeface="华文中宋" panose="02010600040101010101" pitchFamily="2" charset="-122"/>
                <a:cs typeface="+mn-cs"/>
              </a:rPr>
              <a:t>活动对象可以是系统的</a:t>
            </a:r>
            <a:r>
              <a:rPr lang="zh-CN" altLang="en-US" dirty="0">
                <a:solidFill>
                  <a:srgbClr val="C00000"/>
                </a:solidFill>
                <a:latin typeface="华文中宋" panose="02010600040101010101" pitchFamily="2" charset="-122"/>
                <a:ea typeface="华文中宋" panose="02010600040101010101" pitchFamily="2" charset="-122"/>
                <a:cs typeface="+mn-cs"/>
              </a:rPr>
              <a:t>参与者</a:t>
            </a:r>
            <a:r>
              <a:rPr lang="zh-CN" altLang="en-US" dirty="0">
                <a:latin typeface="华文中宋" panose="02010600040101010101" pitchFamily="2" charset="-122"/>
                <a:ea typeface="华文中宋" panose="02010600040101010101" pitchFamily="2" charset="-122"/>
                <a:cs typeface="+mn-cs"/>
              </a:rPr>
              <a:t>或者任何有效的</a:t>
            </a:r>
            <a:r>
              <a:rPr lang="zh-CN" altLang="en-US" dirty="0">
                <a:solidFill>
                  <a:srgbClr val="C00000"/>
                </a:solidFill>
                <a:latin typeface="华文中宋" panose="02010600040101010101" pitchFamily="2" charset="-122"/>
                <a:ea typeface="华文中宋" panose="02010600040101010101" pitchFamily="2" charset="-122"/>
                <a:cs typeface="+mn-cs"/>
              </a:rPr>
              <a:t>系统对象</a:t>
            </a:r>
            <a:r>
              <a:rPr lang="zh-CN" altLang="en-US" dirty="0">
                <a:latin typeface="华文中宋" panose="02010600040101010101" pitchFamily="2" charset="-122"/>
                <a:ea typeface="华文中宋" panose="02010600040101010101" pitchFamily="2" charset="-122"/>
                <a:cs typeface="+mn-cs"/>
              </a:rPr>
              <a:t>。对象是类的实例，它使用</a:t>
            </a:r>
            <a:r>
              <a:rPr lang="zh-CN" altLang="en-US" dirty="0">
                <a:solidFill>
                  <a:srgbClr val="C00000"/>
                </a:solidFill>
                <a:latin typeface="华文中宋" panose="02010600040101010101" pitchFamily="2" charset="-122"/>
                <a:ea typeface="华文中宋" panose="02010600040101010101" pitchFamily="2" charset="-122"/>
                <a:cs typeface="+mn-cs"/>
              </a:rPr>
              <a:t>包围名称的矩形框</a:t>
            </a:r>
            <a:r>
              <a:rPr lang="zh-CN" altLang="en-US" dirty="0">
                <a:latin typeface="华文中宋" panose="02010600040101010101" pitchFamily="2" charset="-122"/>
                <a:ea typeface="华文中宋" panose="02010600040101010101" pitchFamily="2" charset="-122"/>
                <a:cs typeface="+mn-cs"/>
              </a:rPr>
              <a:t>来标记。使用“</a:t>
            </a:r>
            <a:r>
              <a:rPr lang="zh-CN" altLang="en-US" dirty="0">
                <a:solidFill>
                  <a:srgbClr val="FF0000"/>
                </a:solidFill>
                <a:latin typeface="华文中宋" panose="02010600040101010101" pitchFamily="2" charset="-122"/>
                <a:ea typeface="华文中宋" panose="02010600040101010101" pitchFamily="2" charset="-122"/>
                <a:cs typeface="+mn-cs"/>
              </a:rPr>
              <a:t>对象名：类名</a:t>
            </a:r>
            <a:r>
              <a:rPr lang="zh-CN" altLang="en-US" dirty="0">
                <a:latin typeface="华文中宋" panose="02010600040101010101" pitchFamily="2" charset="-122"/>
                <a:ea typeface="华文中宋" panose="02010600040101010101" pitchFamily="2" charset="-122"/>
                <a:cs typeface="+mn-cs"/>
              </a:rPr>
              <a:t>”的形式，把参与者表示为活动对象可以说明参与者如何与系统交互，以及系统如何与用户交互。</a:t>
            </a:r>
            <a:endParaRPr lang="zh-CN" altLang="en-US" dirty="0">
              <a:latin typeface="华文中宋" panose="02010600040101010101" pitchFamily="2" charset="-122"/>
              <a:ea typeface="华文中宋" panose="02010600040101010101" pitchFamily="2" charset="-122"/>
              <a:cs typeface="+mn-cs"/>
            </a:endParaRPr>
          </a:p>
        </p:txBody>
      </p:sp>
      <p:pic>
        <p:nvPicPr>
          <p:cNvPr id="29701" name="图片 3"/>
          <p:cNvPicPr>
            <a:picLocks noChangeAspect="1"/>
          </p:cNvPicPr>
          <p:nvPr/>
        </p:nvPicPr>
        <p:blipFill>
          <a:blip r:embed="rId1"/>
          <a:srcRect b="25386"/>
          <a:stretch>
            <a:fillRect/>
          </a:stretch>
        </p:blipFill>
        <p:spPr>
          <a:xfrm>
            <a:off x="1933575" y="3354388"/>
            <a:ext cx="5451475" cy="2670175"/>
          </a:xfrm>
          <a:prstGeom prst="rect">
            <a:avLst/>
          </a:prstGeom>
          <a:noFill/>
          <a:ln w="9525">
            <a:noFill/>
          </a:ln>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zh-CN" altLang="en-US" dirty="0"/>
              <a:t>对象的命名和排序</a:t>
            </a:r>
            <a:endParaRPr lang="zh-CN" altLang="en-US" dirty="0"/>
          </a:p>
        </p:txBody>
      </p:sp>
      <p:sp>
        <p:nvSpPr>
          <p:cNvPr id="3072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30724" name="内容占位符 2"/>
          <p:cNvSpPr>
            <a:spLocks noGrp="1"/>
          </p:cNvSpPr>
          <p:nvPr>
            <p:ph idx="1"/>
          </p:nvPr>
        </p:nvSpPr>
        <p:spPr>
          <a:xfrm>
            <a:off x="287338" y="1109663"/>
            <a:ext cx="8569325" cy="498475"/>
          </a:xfrm>
          <a:ln/>
        </p:spPr>
        <p:txBody>
          <a:bodyPr vert="horz" wrap="square" lIns="91440" tIns="45720" rIns="91440" bIns="45720" anchor="t" anchorCtr="0">
            <a:spAutoFit/>
          </a:bodyPr>
          <a:p>
            <a:pPr eaLnBrk="1" hangingPunct="1">
              <a:lnSpc>
                <a:spcPct val="120000"/>
              </a:lnSpc>
              <a:buSzPct val="70000"/>
              <a:buFontTx/>
              <a:buNone/>
            </a:pP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）对象的命名</a:t>
            </a:r>
            <a:endParaRPr lang="zh-CN" altLang="en-US" dirty="0">
              <a:latin typeface="华文中宋" panose="02010600040101010101" pitchFamily="2" charset="-122"/>
              <a:ea typeface="华文中宋" panose="02010600040101010101" pitchFamily="2" charset="-122"/>
              <a:cs typeface="+mn-cs"/>
            </a:endParaRPr>
          </a:p>
        </p:txBody>
      </p:sp>
      <p:grpSp>
        <p:nvGrpSpPr>
          <p:cNvPr id="30725" name="Group 16"/>
          <p:cNvGrpSpPr/>
          <p:nvPr/>
        </p:nvGrpSpPr>
        <p:grpSpPr>
          <a:xfrm>
            <a:off x="395288" y="1876425"/>
            <a:ext cx="8353425" cy="1800225"/>
            <a:chOff x="204" y="845"/>
            <a:chExt cx="5261" cy="1134"/>
          </a:xfrm>
        </p:grpSpPr>
        <p:pic>
          <p:nvPicPr>
            <p:cNvPr id="30728" name="Picture 10"/>
            <p:cNvPicPr>
              <a:picLocks noChangeAspect="1"/>
            </p:cNvPicPr>
            <p:nvPr/>
          </p:nvPicPr>
          <p:blipFill>
            <a:blip r:embed="rId1"/>
            <a:stretch>
              <a:fillRect/>
            </a:stretch>
          </p:blipFill>
          <p:spPr>
            <a:xfrm>
              <a:off x="1429" y="1253"/>
              <a:ext cx="3039" cy="726"/>
            </a:xfrm>
            <a:prstGeom prst="rect">
              <a:avLst/>
            </a:prstGeom>
            <a:noFill/>
            <a:ln w="9525">
              <a:noFill/>
            </a:ln>
          </p:spPr>
        </p:pic>
        <p:sp>
          <p:nvSpPr>
            <p:cNvPr id="30729" name="AutoShape 5"/>
            <p:cNvSpPr/>
            <p:nvPr/>
          </p:nvSpPr>
          <p:spPr>
            <a:xfrm>
              <a:off x="204" y="1661"/>
              <a:ext cx="1043" cy="318"/>
            </a:xfrm>
            <a:prstGeom prst="wedgeRoundRectCallout">
              <a:avLst>
                <a:gd name="adj1" fmla="val 89597"/>
                <a:gd name="adj2" fmla="val -60380"/>
                <a:gd name="adj3" fmla="val 16667"/>
              </a:avLst>
            </a:prstGeom>
            <a:solidFill>
              <a:srgbClr val="99CCFF"/>
            </a:solidFill>
            <a:ln w="9525" cap="flat" cmpd="sng">
              <a:solidFill>
                <a:schemeClr val="tx1"/>
              </a:solidFill>
              <a:prstDash val="solid"/>
              <a:miter/>
              <a:headEnd type="none" w="med" len="med"/>
              <a:tailEnd type="none" w="med" len="med"/>
            </a:ln>
          </p:spPr>
          <p:txBody>
            <a:bodyPr/>
            <a:p>
              <a:pPr algn="ctr"/>
              <a:r>
                <a:rPr lang="zh-CN" altLang="en-US" sz="1600" dirty="0">
                  <a:solidFill>
                    <a:srgbClr val="3333CC"/>
                  </a:solidFill>
                  <a:latin typeface="Arial" panose="020B0604020202020204" pitchFamily="34" charset="0"/>
                  <a:ea typeface="宋体" panose="02010600030101010101" pitchFamily="2" charset="-122"/>
                </a:rPr>
                <a:t>对象名：类名</a:t>
              </a:r>
              <a:endParaRPr lang="zh-CN" altLang="en-US" sz="1600" dirty="0">
                <a:solidFill>
                  <a:srgbClr val="3333CC"/>
                </a:solidFill>
                <a:latin typeface="Arial" panose="020B0604020202020204" pitchFamily="34" charset="0"/>
                <a:ea typeface="宋体" panose="02010600030101010101" pitchFamily="2" charset="-122"/>
              </a:endParaRPr>
            </a:p>
          </p:txBody>
        </p:sp>
        <p:sp>
          <p:nvSpPr>
            <p:cNvPr id="30730" name="AutoShape 12"/>
            <p:cNvSpPr/>
            <p:nvPr/>
          </p:nvSpPr>
          <p:spPr>
            <a:xfrm>
              <a:off x="2971" y="845"/>
              <a:ext cx="589" cy="318"/>
            </a:xfrm>
            <a:prstGeom prst="wedgeRoundRectCallout">
              <a:avLst>
                <a:gd name="adj1" fmla="val -54245"/>
                <a:gd name="adj2" fmla="val 133648"/>
                <a:gd name="adj3" fmla="val 16667"/>
              </a:avLst>
            </a:prstGeom>
            <a:solidFill>
              <a:srgbClr val="99CCFF"/>
            </a:solidFill>
            <a:ln w="9525" cap="flat" cmpd="sng">
              <a:solidFill>
                <a:schemeClr val="tx1"/>
              </a:solidFill>
              <a:prstDash val="solid"/>
              <a:miter/>
              <a:headEnd type="none" w="med" len="med"/>
              <a:tailEnd type="none" w="med" len="med"/>
            </a:ln>
          </p:spPr>
          <p:txBody>
            <a:bodyPr/>
            <a:p>
              <a:pPr algn="ctr"/>
              <a:r>
                <a:rPr lang="zh-CN" altLang="en-US" sz="1600" dirty="0">
                  <a:solidFill>
                    <a:srgbClr val="3333CC"/>
                  </a:solidFill>
                  <a:latin typeface="Arial" panose="020B0604020202020204" pitchFamily="34" charset="0"/>
                  <a:ea typeface="宋体" panose="02010600030101010101" pitchFamily="2" charset="-122"/>
                </a:rPr>
                <a:t>：类名</a:t>
              </a:r>
              <a:endParaRPr lang="zh-CN" altLang="en-US" sz="1600" dirty="0">
                <a:solidFill>
                  <a:srgbClr val="3333CC"/>
                </a:solidFill>
                <a:latin typeface="Arial" panose="020B0604020202020204" pitchFamily="34" charset="0"/>
                <a:ea typeface="宋体" panose="02010600030101010101" pitchFamily="2" charset="-122"/>
              </a:endParaRPr>
            </a:p>
          </p:txBody>
        </p:sp>
        <p:sp>
          <p:nvSpPr>
            <p:cNvPr id="30731" name="AutoShape 13"/>
            <p:cNvSpPr/>
            <p:nvPr/>
          </p:nvSpPr>
          <p:spPr>
            <a:xfrm>
              <a:off x="4785" y="1253"/>
              <a:ext cx="680" cy="318"/>
            </a:xfrm>
            <a:prstGeom prst="wedgeRoundRectCallout">
              <a:avLst>
                <a:gd name="adj1" fmla="val -140884"/>
                <a:gd name="adj2" fmla="val 45597"/>
                <a:gd name="adj3" fmla="val 16667"/>
              </a:avLst>
            </a:prstGeom>
            <a:solidFill>
              <a:srgbClr val="99CCFF"/>
            </a:solidFill>
            <a:ln w="9525" cap="flat" cmpd="sng">
              <a:solidFill>
                <a:schemeClr val="tx1"/>
              </a:solidFill>
              <a:prstDash val="solid"/>
              <a:miter/>
              <a:headEnd type="none" w="med" len="med"/>
              <a:tailEnd type="none" w="med" len="med"/>
            </a:ln>
          </p:spPr>
          <p:txBody>
            <a:bodyPr/>
            <a:p>
              <a:pPr algn="ctr"/>
              <a:r>
                <a:rPr lang="zh-CN" altLang="en-US" sz="1600" dirty="0">
                  <a:solidFill>
                    <a:srgbClr val="3333CC"/>
                  </a:solidFill>
                  <a:latin typeface="Arial" panose="020B0604020202020204" pitchFamily="34" charset="0"/>
                  <a:ea typeface="宋体" panose="02010600030101010101" pitchFamily="2" charset="-122"/>
                </a:rPr>
                <a:t>：对象名</a:t>
              </a:r>
              <a:endParaRPr lang="zh-CN" altLang="en-US" sz="1600" dirty="0">
                <a:solidFill>
                  <a:srgbClr val="3333CC"/>
                </a:solidFill>
                <a:latin typeface="Arial" panose="020B0604020202020204" pitchFamily="34" charset="0"/>
                <a:ea typeface="宋体" panose="02010600030101010101" pitchFamily="2" charset="-122"/>
              </a:endParaRPr>
            </a:p>
          </p:txBody>
        </p:sp>
      </p:grpSp>
      <p:sp>
        <p:nvSpPr>
          <p:cNvPr id="30726" name="AutoShape 17"/>
          <p:cNvSpPr/>
          <p:nvPr/>
        </p:nvSpPr>
        <p:spPr>
          <a:xfrm>
            <a:off x="4446588" y="4322763"/>
            <a:ext cx="1296987" cy="504825"/>
          </a:xfrm>
          <a:prstGeom prst="wedgeRoundRectCallout">
            <a:avLst>
              <a:gd name="adj1" fmla="val -25273"/>
              <a:gd name="adj2" fmla="val -243713"/>
              <a:gd name="adj3" fmla="val 16667"/>
            </a:avLst>
          </a:prstGeom>
          <a:solidFill>
            <a:srgbClr val="00CCFF"/>
          </a:solidFill>
          <a:ln w="9525" cap="flat" cmpd="sng">
            <a:solidFill>
              <a:schemeClr val="tx1"/>
            </a:solidFill>
            <a:prstDash val="solid"/>
            <a:miter/>
            <a:headEnd type="none" w="med" len="med"/>
            <a:tailEnd type="none" w="med" len="med"/>
          </a:ln>
        </p:spPr>
        <p:txBody>
          <a:bodyPr/>
          <a:p>
            <a:pPr algn="ctr"/>
            <a:r>
              <a:rPr lang="zh-CN" altLang="en-US" sz="1800" dirty="0">
                <a:solidFill>
                  <a:srgbClr val="000000"/>
                </a:solidFill>
                <a:latin typeface="Arial" panose="020B0604020202020204" pitchFamily="34" charset="0"/>
                <a:ea typeface="宋体" panose="02010600030101010101" pitchFamily="2" charset="-122"/>
              </a:rPr>
              <a:t>匿名对象</a:t>
            </a:r>
            <a:endParaRPr lang="zh-CN" altLang="en-US" sz="1800" dirty="0">
              <a:solidFill>
                <a:srgbClr val="000000"/>
              </a:solidFill>
              <a:latin typeface="Arial" panose="020B0604020202020204" pitchFamily="34" charset="0"/>
              <a:ea typeface="宋体" panose="02010600030101010101" pitchFamily="2" charset="-122"/>
            </a:endParaRPr>
          </a:p>
        </p:txBody>
      </p:sp>
      <p:sp>
        <p:nvSpPr>
          <p:cNvPr id="30727" name="文本框 18"/>
          <p:cNvSpPr txBox="1"/>
          <p:nvPr/>
        </p:nvSpPr>
        <p:spPr>
          <a:xfrm>
            <a:off x="0" y="4819650"/>
            <a:ext cx="8948738" cy="1630363"/>
          </a:xfrm>
          <a:prstGeom prst="rect">
            <a:avLst/>
          </a:prstGeom>
          <a:noFill/>
          <a:ln w="9525">
            <a:noFill/>
          </a:ln>
        </p:spPr>
        <p:txBody>
          <a:bodyPr>
            <a:spAutoFit/>
          </a:bodyPr>
          <a:p>
            <a:r>
              <a:rPr lang="zh-CN" altLang="en-US" sz="2000" dirty="0">
                <a:solidFill>
                  <a:srgbClr val="C00000"/>
                </a:solidFill>
                <a:latin typeface="Arial" panose="020B0604020202020204" pitchFamily="34" charset="0"/>
                <a:ea typeface="宋体" panose="02010600030101010101" pitchFamily="2" charset="-122"/>
              </a:rPr>
              <a:t>对象的左右排列位置</a:t>
            </a:r>
            <a:r>
              <a:rPr lang="en-US" altLang="zh-CN" sz="2000" dirty="0">
                <a:solidFill>
                  <a:srgbClr val="C00000"/>
                </a:solidFill>
                <a:latin typeface="Arial" panose="020B0604020202020204" pitchFamily="34" charset="0"/>
                <a:ea typeface="宋体" panose="02010600030101010101" pitchFamily="2" charset="-122"/>
              </a:rPr>
              <a:t>:</a:t>
            </a:r>
            <a:endParaRPr lang="en-US" altLang="zh-CN" sz="2000" dirty="0">
              <a:solidFill>
                <a:srgbClr val="C00000"/>
              </a:solidFill>
              <a:latin typeface="Arial" panose="020B0604020202020204" pitchFamily="34" charset="0"/>
              <a:ea typeface="宋体" panose="02010600030101010101" pitchFamily="2" charset="-122"/>
            </a:endParaRPr>
          </a:p>
          <a:p>
            <a:r>
              <a:rPr lang="en-US" altLang="zh-CN" sz="2000" dirty="0">
                <a:solidFill>
                  <a:schemeClr val="tx1"/>
                </a:solidFill>
                <a:latin typeface="Arial" panose="020B0604020202020204" pitchFamily="34" charset="0"/>
                <a:ea typeface="宋体" panose="02010600030101010101" pitchFamily="2" charset="-122"/>
              </a:rPr>
              <a:t>        </a:t>
            </a:r>
            <a:r>
              <a:rPr lang="zh-CN" altLang="en-US" sz="2000" dirty="0">
                <a:solidFill>
                  <a:srgbClr val="FF0000"/>
                </a:solidFill>
                <a:latin typeface="Arial" panose="020B0604020202020204" pitchFamily="34" charset="0"/>
                <a:ea typeface="宋体" panose="02010600030101010101" pitchFamily="2" charset="-122"/>
              </a:rPr>
              <a:t>对象的左右顺序并不重要</a:t>
            </a:r>
            <a:r>
              <a:rPr lang="zh-CN" altLang="en-US" sz="2000" dirty="0">
                <a:solidFill>
                  <a:schemeClr val="tx1"/>
                </a:solidFill>
                <a:latin typeface="Arial" panose="020B0604020202020204" pitchFamily="34" charset="0"/>
                <a:ea typeface="宋体" panose="02010600030101010101" pitchFamily="2" charset="-122"/>
              </a:rPr>
              <a:t>，但是为了图面的清晰整洁起见，通常应遵循以下两个原则：</a:t>
            </a:r>
            <a:endParaRPr lang="en-US" altLang="zh-CN" sz="2000" dirty="0">
              <a:solidFill>
                <a:schemeClr val="tx1"/>
              </a:solidFill>
              <a:latin typeface="Arial" panose="020B0604020202020204" pitchFamily="34" charset="0"/>
              <a:ea typeface="宋体" panose="02010600030101010101" pitchFamily="2" charset="-122"/>
            </a:endParaRPr>
          </a:p>
          <a:p>
            <a:r>
              <a:rPr lang="zh-CN" altLang="en-US" sz="2000" dirty="0">
                <a:solidFill>
                  <a:schemeClr val="tx1"/>
                </a:solidFill>
                <a:latin typeface="Arial" panose="020B0604020202020204" pitchFamily="34" charset="0"/>
                <a:ea typeface="宋体" panose="02010600030101010101" pitchFamily="2" charset="-122"/>
              </a:rPr>
              <a:t>（</a:t>
            </a:r>
            <a:r>
              <a:rPr lang="en-US" altLang="zh-CN" sz="2000" dirty="0">
                <a:solidFill>
                  <a:schemeClr val="tx1"/>
                </a:solidFill>
                <a:latin typeface="Arial" panose="020B0604020202020204" pitchFamily="34" charset="0"/>
                <a:ea typeface="宋体" panose="02010600030101010101" pitchFamily="2" charset="-122"/>
              </a:rPr>
              <a:t>1</a:t>
            </a:r>
            <a:r>
              <a:rPr lang="zh-CN" altLang="en-US" sz="2000" dirty="0">
                <a:solidFill>
                  <a:schemeClr val="tx1"/>
                </a:solidFill>
                <a:latin typeface="Arial" panose="020B0604020202020204" pitchFamily="34" charset="0"/>
                <a:ea typeface="宋体" panose="02010600030101010101" pitchFamily="2" charset="-122"/>
              </a:rPr>
              <a:t>）把交互频繁的对象尽可能地靠拢</a:t>
            </a:r>
            <a:endParaRPr lang="en-US" altLang="zh-CN" sz="2000" dirty="0">
              <a:solidFill>
                <a:schemeClr val="tx1"/>
              </a:solidFill>
              <a:latin typeface="Arial" panose="020B0604020202020204" pitchFamily="34" charset="0"/>
              <a:ea typeface="宋体" panose="02010600030101010101" pitchFamily="2" charset="-122"/>
            </a:endParaRPr>
          </a:p>
          <a:p>
            <a:r>
              <a:rPr lang="zh-CN" altLang="en-US" sz="2000" dirty="0">
                <a:solidFill>
                  <a:schemeClr val="tx1"/>
                </a:solidFill>
                <a:latin typeface="Arial" panose="020B0604020202020204" pitchFamily="34" charset="0"/>
                <a:ea typeface="宋体" panose="02010600030101010101" pitchFamily="2" charset="-122"/>
              </a:rPr>
              <a:t>（</a:t>
            </a:r>
            <a:r>
              <a:rPr lang="en-US" altLang="zh-CN" sz="2000" dirty="0">
                <a:solidFill>
                  <a:schemeClr val="tx1"/>
                </a:solidFill>
                <a:latin typeface="Arial" panose="020B0604020202020204" pitchFamily="34" charset="0"/>
                <a:ea typeface="宋体" panose="02010600030101010101" pitchFamily="2" charset="-122"/>
              </a:rPr>
              <a:t>2</a:t>
            </a:r>
            <a:r>
              <a:rPr lang="zh-CN" altLang="en-US" sz="2000" dirty="0">
                <a:solidFill>
                  <a:schemeClr val="tx1"/>
                </a:solidFill>
                <a:latin typeface="Arial" panose="020B0604020202020204" pitchFamily="34" charset="0"/>
                <a:ea typeface="宋体" panose="02010600030101010101" pitchFamily="2" charset="-122"/>
              </a:rPr>
              <a:t>）把初始化整个交互活动的对象（有时是一个参与者）放置在最左边</a:t>
            </a:r>
            <a:endParaRPr lang="zh-CN" altLang="en-US" sz="200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pPr eaLnBrk="1" hangingPunct="1">
              <a:lnSpc>
                <a:spcPct val="120000"/>
              </a:lnSpc>
            </a:pPr>
            <a:r>
              <a:rPr lang="zh-CN" altLang="en-US" dirty="0"/>
              <a:t>生命线</a:t>
            </a:r>
            <a:endParaRPr lang="en-US" altLang="zh-CN" dirty="0"/>
          </a:p>
        </p:txBody>
      </p:sp>
      <p:sp>
        <p:nvSpPr>
          <p:cNvPr id="3174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2" name="内容占位符 1"/>
          <p:cNvSpPr>
            <a:spLocks noGrp="1"/>
          </p:cNvSpPr>
          <p:nvPr>
            <p:ph idx="1"/>
          </p:nvPr>
        </p:nvSpPr>
        <p:spPr>
          <a:xfrm>
            <a:off x="946150" y="1166813"/>
            <a:ext cx="7391400" cy="1527175"/>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20000"/>
              </a:lnSpc>
              <a:spcBef>
                <a:spcPct val="20000"/>
              </a:spcBef>
              <a:spcAft>
                <a:spcPct val="0"/>
              </a:spcAft>
              <a:buClrTx/>
              <a:buSzTx/>
              <a:buFontTx/>
              <a:buNone/>
              <a:defRPr/>
            </a:pPr>
            <a:r>
              <a:rPr kumimoji="0" lang="zh-CN"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②</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生命线</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表示对象存在的时间，对象下面一条虚线表示。</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20000"/>
              </a:lnSpc>
              <a:spcBef>
                <a:spcPct val="2000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生命线从对象创建开始到对象销毁时终止。</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1749" name="文本框 11"/>
          <p:cNvSpPr txBox="1"/>
          <p:nvPr/>
        </p:nvSpPr>
        <p:spPr>
          <a:xfrm>
            <a:off x="6234113" y="3524250"/>
            <a:ext cx="1944687" cy="1128713"/>
          </a:xfrm>
          <a:prstGeom prst="rect">
            <a:avLst/>
          </a:prstGeom>
          <a:noFill/>
          <a:ln w="9525">
            <a:noFill/>
          </a:ln>
        </p:spPr>
        <p:txBody>
          <a:bodyPr>
            <a:spAutoFit/>
          </a:bodyPr>
          <a:p>
            <a:pPr>
              <a:lnSpc>
                <a:spcPct val="150000"/>
              </a:lnSpc>
            </a:pPr>
            <a:r>
              <a:rPr lang="zh-CN" altLang="en-US" dirty="0">
                <a:solidFill>
                  <a:srgbClr val="C00000"/>
                </a:solidFill>
                <a:latin typeface="Arial" panose="020B0604020202020204" pitchFamily="34" charset="0"/>
                <a:ea typeface="宋体" panose="02010600030101010101" pitchFamily="2" charset="-122"/>
              </a:rPr>
              <a:t>休眠状态</a:t>
            </a:r>
            <a:endParaRPr lang="zh-CN" altLang="en-US" dirty="0">
              <a:solidFill>
                <a:srgbClr val="C00000"/>
              </a:solidFill>
              <a:latin typeface="Arial" panose="020B0604020202020204" pitchFamily="34" charset="0"/>
              <a:ea typeface="宋体" panose="02010600030101010101" pitchFamily="2" charset="-122"/>
            </a:endParaRPr>
          </a:p>
          <a:p>
            <a:pPr>
              <a:lnSpc>
                <a:spcPct val="150000"/>
              </a:lnSpc>
            </a:pPr>
            <a:r>
              <a:rPr lang="zh-CN" altLang="en-US" dirty="0">
                <a:solidFill>
                  <a:srgbClr val="C00000"/>
                </a:solidFill>
                <a:latin typeface="Arial" panose="020B0604020202020204" pitchFamily="34" charset="0"/>
                <a:ea typeface="宋体" panose="02010600030101010101" pitchFamily="2" charset="-122"/>
              </a:rPr>
              <a:t>激活状态</a:t>
            </a:r>
            <a:endParaRPr lang="zh-CN" altLang="en-US" b="0" dirty="0">
              <a:solidFill>
                <a:srgbClr val="C00000"/>
              </a:solidFill>
              <a:latin typeface="Arial" panose="020B0604020202020204" pitchFamily="34" charset="0"/>
              <a:ea typeface="宋体" panose="02010600030101010101" pitchFamily="2" charset="-122"/>
            </a:endParaRPr>
          </a:p>
        </p:txBody>
      </p:sp>
      <p:pic>
        <p:nvPicPr>
          <p:cNvPr id="31750" name="Picture 9"/>
          <p:cNvPicPr>
            <a:picLocks noChangeAspect="1"/>
          </p:cNvPicPr>
          <p:nvPr/>
        </p:nvPicPr>
        <p:blipFill>
          <a:blip r:embed="rId1"/>
          <a:stretch>
            <a:fillRect/>
          </a:stretch>
        </p:blipFill>
        <p:spPr>
          <a:xfrm>
            <a:off x="2913063" y="3213100"/>
            <a:ext cx="1728787" cy="1439863"/>
          </a:xfrm>
          <a:prstGeom prst="rect">
            <a:avLst/>
          </a:prstGeom>
          <a:noFill/>
          <a:ln w="9525">
            <a:noFill/>
          </a:ln>
        </p:spPr>
      </p:pic>
      <p:sp>
        <p:nvSpPr>
          <p:cNvPr id="20" name="Text Box 11"/>
          <p:cNvSpPr txBox="1"/>
          <p:nvPr/>
        </p:nvSpPr>
        <p:spPr>
          <a:xfrm>
            <a:off x="3424238" y="4292600"/>
            <a:ext cx="715962" cy="457200"/>
          </a:xfrm>
          <a:prstGeom prst="rect">
            <a:avLst/>
          </a:prstGeom>
          <a:noFill/>
          <a:ln w="9525">
            <a:noFill/>
          </a:ln>
        </p:spPr>
        <p:txBody>
          <a:bodyPr>
            <a:spAutoFit/>
          </a:bodyPr>
          <a:p>
            <a:pPr algn="ctr"/>
            <a:r>
              <a:rPr lang="en-US" altLang="zh-CN" dirty="0">
                <a:solidFill>
                  <a:srgbClr val="CC3300"/>
                </a:solidFill>
                <a:latin typeface="Arial" panose="020B0604020202020204" pitchFamily="34" charset="0"/>
                <a:ea typeface="宋体" panose="02010600030101010101" pitchFamily="2" charset="-122"/>
              </a:rPr>
              <a:t> × </a:t>
            </a:r>
            <a:endParaRPr lang="en-US" altLang="zh-CN" dirty="0">
              <a:solidFill>
                <a:srgbClr val="CC3300"/>
              </a:solidFill>
              <a:latin typeface="Arial" panose="020B0604020202020204" pitchFamily="34" charset="0"/>
              <a:ea typeface="宋体" panose="02010600030101010101" pitchFamily="2" charset="-122"/>
            </a:endParaRPr>
          </a:p>
        </p:txBody>
      </p:sp>
      <p:sp>
        <p:nvSpPr>
          <p:cNvPr id="21" name="AutoShape 12"/>
          <p:cNvSpPr/>
          <p:nvPr/>
        </p:nvSpPr>
        <p:spPr>
          <a:xfrm>
            <a:off x="5292725" y="5013325"/>
            <a:ext cx="1225550" cy="719138"/>
          </a:xfrm>
          <a:prstGeom prst="wedgeRoundRectCallout">
            <a:avLst>
              <a:gd name="adj1" fmla="val -163083"/>
              <a:gd name="adj2" fmla="val -105190"/>
              <a:gd name="adj3" fmla="val 16667"/>
            </a:avLst>
          </a:prstGeom>
          <a:solidFill>
            <a:srgbClr val="FFFF99"/>
          </a:solidFill>
          <a:ln w="9525" cap="flat" cmpd="sng">
            <a:solidFill>
              <a:schemeClr val="tx1"/>
            </a:solidFill>
            <a:prstDash val="solid"/>
            <a:miter/>
            <a:headEnd type="none" w="med" len="med"/>
            <a:tailEnd type="none" w="med" len="med"/>
          </a:ln>
        </p:spPr>
        <p:txBody>
          <a:bodyPr/>
          <a:p>
            <a:pPr algn="ctr"/>
            <a:r>
              <a:rPr lang="zh-CN" altLang="en-US" sz="1800" dirty="0">
                <a:solidFill>
                  <a:srgbClr val="000000"/>
                </a:solidFill>
                <a:latin typeface="Arial" panose="020B0604020202020204" pitchFamily="34" charset="0"/>
                <a:ea typeface="宋体" panose="02010600030101010101" pitchFamily="2" charset="-122"/>
              </a:rPr>
              <a:t>表示对象的撤销</a:t>
            </a:r>
            <a:endParaRPr lang="zh-CN" altLang="en-US" sz="1800" dirty="0">
              <a:solidFill>
                <a:srgbClr val="000000"/>
              </a:solidFill>
              <a:latin typeface="Arial" panose="020B0604020202020204" pitchFamily="34" charset="0"/>
              <a:ea typeface="宋体" panose="02010600030101010101" pitchFamily="2" charset="-122"/>
            </a:endParaRPr>
          </a:p>
        </p:txBody>
      </p:sp>
      <p:sp>
        <p:nvSpPr>
          <p:cNvPr id="31753" name="AutoShape 10"/>
          <p:cNvSpPr/>
          <p:nvPr/>
        </p:nvSpPr>
        <p:spPr>
          <a:xfrm>
            <a:off x="827088" y="3857625"/>
            <a:ext cx="1655762" cy="504825"/>
          </a:xfrm>
          <a:prstGeom prst="wedgeRoundRectCallout">
            <a:avLst>
              <a:gd name="adj1" fmla="val 127852"/>
              <a:gd name="adj2" fmla="val 23898"/>
              <a:gd name="adj3" fmla="val 16667"/>
            </a:avLst>
          </a:prstGeom>
          <a:solidFill>
            <a:srgbClr val="99CCFF"/>
          </a:solidFill>
          <a:ln w="9525" cap="flat" cmpd="sng">
            <a:solidFill>
              <a:schemeClr val="tx1"/>
            </a:solidFill>
            <a:prstDash val="solid"/>
            <a:miter/>
            <a:headEnd type="none" w="med" len="med"/>
            <a:tailEnd type="none" w="med" len="med"/>
          </a:ln>
        </p:spPr>
        <p:txBody>
          <a:bodyPr/>
          <a:p>
            <a:pPr algn="ctr"/>
            <a:r>
              <a:rPr lang="zh-CN" altLang="en-US" sz="1600" dirty="0">
                <a:solidFill>
                  <a:srgbClr val="3333CC"/>
                </a:solidFill>
                <a:latin typeface="Arial" panose="020B0604020202020204" pitchFamily="34" charset="0"/>
                <a:ea typeface="宋体" panose="02010600030101010101" pitchFamily="2" charset="-122"/>
              </a:rPr>
              <a:t>对象生命线</a:t>
            </a:r>
            <a:endParaRPr lang="zh-CN" altLang="en-US" sz="1600" dirty="0">
              <a:solidFill>
                <a:srgbClr val="3333CC"/>
              </a:solidFill>
              <a:latin typeface="Arial" panose="020B0604020202020204" pitchFamily="34" charset="0"/>
              <a:ea typeface="宋体" panose="02010600030101010101" pitchFamily="2" charset="-122"/>
            </a:endParaRPr>
          </a:p>
        </p:txBody>
      </p:sp>
      <p:sp>
        <p:nvSpPr>
          <p:cNvPr id="31754" name="文本框 16"/>
          <p:cNvSpPr txBox="1"/>
          <p:nvPr/>
        </p:nvSpPr>
        <p:spPr>
          <a:xfrm>
            <a:off x="5045075" y="3032125"/>
            <a:ext cx="4322763" cy="831850"/>
          </a:xfrm>
          <a:prstGeom prst="rect">
            <a:avLst/>
          </a:prstGeom>
          <a:noFill/>
          <a:ln w="9525">
            <a:noFill/>
          </a:ln>
        </p:spPr>
        <p:txBody>
          <a:bodyPr>
            <a:spAutoFit/>
          </a:bodyPr>
          <a:p>
            <a:r>
              <a:rPr lang="zh-CN" altLang="en-US" dirty="0">
                <a:solidFill>
                  <a:schemeClr val="tx1"/>
                </a:solidFill>
                <a:latin typeface="Arial" panose="020B0604020202020204" pitchFamily="34" charset="0"/>
                <a:ea typeface="宋体" panose="02010600030101010101" pitchFamily="2" charset="-122"/>
              </a:rPr>
              <a:t>对象在生命线上的两种状态</a:t>
            </a:r>
            <a:r>
              <a:rPr lang="zh-CN" altLang="en-US" dirty="0">
                <a:solidFill>
                  <a:srgbClr val="FFFFFF"/>
                </a:solidFill>
                <a:latin typeface="Arial" panose="020B0604020202020204" pitchFamily="34" charset="0"/>
                <a:ea typeface="宋体" panose="02010600030101010101" pitchFamily="2" charset="-122"/>
              </a:rPr>
              <a:t>：</a:t>
            </a:r>
            <a:endParaRPr lang="zh-CN" altLang="en-US" dirty="0">
              <a:solidFill>
                <a:srgbClr val="FFFFFF"/>
              </a:solidFill>
              <a:latin typeface="Arial" panose="020B0604020202020204" pitchFamily="34" charset="0"/>
              <a:ea typeface="宋体" panose="02010600030101010101" pitchFamily="2" charset="-122"/>
            </a:endParaRPr>
          </a:p>
          <a:p>
            <a:endParaRPr lang="zh-CN" altLang="en-US" dirty="0">
              <a:latin typeface="华文中宋" panose="02010600040101010101" pitchFamily="2"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控制焦点 </a:t>
            </a:r>
            <a:r>
              <a:rPr lang="en-US" altLang="zh-CN" dirty="0"/>
              <a:t>/ </a:t>
            </a:r>
            <a:r>
              <a:rPr lang="zh-CN" altLang="en-US" dirty="0"/>
              <a:t>激活期</a:t>
            </a:r>
            <a:endParaRPr lang="en-US" altLang="zh-CN" dirty="0"/>
          </a:p>
        </p:txBody>
      </p:sp>
      <p:sp>
        <p:nvSpPr>
          <p:cNvPr id="32771" name="内容占位符 2"/>
          <p:cNvSpPr>
            <a:spLocks noGrp="1"/>
          </p:cNvSpPr>
          <p:nvPr>
            <p:ph idx="1"/>
          </p:nvPr>
        </p:nvSpPr>
        <p:spPr>
          <a:xfrm>
            <a:off x="250825" y="946150"/>
            <a:ext cx="8642350" cy="2585720"/>
          </a:xfrm>
          <a:ln/>
        </p:spPr>
        <p:txBody>
          <a:bodyPr vert="horz" wrap="square" lIns="91440" tIns="45720" rIns="91440" bIns="45720" anchor="t" anchorCtr="0">
            <a:spAutoFit/>
          </a:bodyPr>
          <a:p>
            <a:pPr marL="0" indent="0">
              <a:lnSpc>
                <a:spcPct val="100000"/>
              </a:lnSpc>
              <a:buSzPct val="70000"/>
              <a:buFont typeface="Wingdings" panose="05000000000000000000" pitchFamily="2" charset="2"/>
              <a:buNone/>
            </a:pPr>
            <a:r>
              <a:rPr lang="en-US" altLang="zh-CN" dirty="0">
                <a:latin typeface="华文中宋" panose="02010600040101010101" pitchFamily="2" charset="-122"/>
                <a:ea typeface="华文中宋" panose="02010600040101010101" pitchFamily="2" charset="-122"/>
                <a:cs typeface="+mn-cs"/>
              </a:rPr>
              <a:t>③ </a:t>
            </a:r>
            <a:r>
              <a:rPr lang="zh-CN" altLang="en-US" dirty="0">
                <a:latin typeface="华文中宋" panose="02010600040101010101" pitchFamily="2" charset="-122"/>
                <a:ea typeface="华文中宋" panose="02010600040101010101" pitchFamily="2" charset="-122"/>
                <a:cs typeface="+mn-cs"/>
              </a:rPr>
              <a:t>控制焦点 </a:t>
            </a:r>
            <a:r>
              <a:rPr lang="en-US" altLang="zh-CN" dirty="0">
                <a:latin typeface="华文中宋" panose="02010600040101010101" pitchFamily="2" charset="-122"/>
                <a:ea typeface="华文中宋" panose="02010600040101010101" pitchFamily="2" charset="-122"/>
                <a:cs typeface="+mn-cs"/>
              </a:rPr>
              <a:t>/ </a:t>
            </a:r>
            <a:r>
              <a:rPr lang="zh-CN" altLang="en-US" dirty="0">
                <a:latin typeface="华文中宋" panose="02010600040101010101" pitchFamily="2" charset="-122"/>
                <a:ea typeface="华文中宋" panose="02010600040101010101" pitchFamily="2" charset="-122"/>
                <a:cs typeface="+mn-cs"/>
              </a:rPr>
              <a:t>激活期</a:t>
            </a:r>
            <a:endParaRPr lang="en-US" altLang="zh-CN" dirty="0">
              <a:latin typeface="华文中宋" panose="02010600040101010101" pitchFamily="2" charset="-122"/>
              <a:ea typeface="华文中宋" panose="02010600040101010101" pitchFamily="2" charset="-122"/>
              <a:cs typeface="+mn-cs"/>
            </a:endParaRPr>
          </a:p>
          <a:p>
            <a:pPr marL="0" indent="0">
              <a:lnSpc>
                <a:spcPct val="115000"/>
              </a:lnSpc>
              <a:spcBef>
                <a:spcPts val="20"/>
              </a:spcBef>
              <a:spcAft>
                <a:spcPts val="0"/>
              </a:spcAft>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控制焦点/激活期用生命线上的小矩形表示，</a:t>
            </a:r>
            <a:r>
              <a:rPr lang="zh-CN" altLang="en-US" dirty="0">
                <a:solidFill>
                  <a:srgbClr val="C00000"/>
                </a:solidFill>
                <a:latin typeface="华文中宋" panose="02010600040101010101" pitchFamily="2" charset="-122"/>
                <a:ea typeface="华文中宋" panose="02010600040101010101" pitchFamily="2" charset="-122"/>
                <a:cs typeface="+mn-cs"/>
              </a:rPr>
              <a:t>表示这个时间内对象将执行操作</a:t>
            </a:r>
            <a:r>
              <a:rPr lang="zh-CN" altLang="en-US" dirty="0">
                <a:latin typeface="华文中宋" panose="02010600040101010101" pitchFamily="2" charset="-122"/>
                <a:ea typeface="华文中宋" panose="02010600040101010101" pitchFamily="2" charset="-122"/>
                <a:cs typeface="+mn-cs"/>
              </a:rPr>
              <a:t>。矩形框的高度表示对象执行一个操作所经历的时间段，</a:t>
            </a:r>
            <a:r>
              <a:rPr lang="zh-CN" altLang="en-US" dirty="0">
                <a:solidFill>
                  <a:srgbClr val="FF0000"/>
                </a:solidFill>
                <a:latin typeface="华文中宋" panose="02010600040101010101" pitchFamily="2" charset="-122"/>
                <a:ea typeface="华文中宋" panose="02010600040101010101" pitchFamily="2" charset="-122"/>
                <a:cs typeface="+mn-cs"/>
              </a:rPr>
              <a:t>矩形的顶部表示动作的开始，底部表示动作的结束</a:t>
            </a:r>
            <a:r>
              <a:rPr lang="zh-CN" altLang="en-US" dirty="0">
                <a:latin typeface="华文中宋" panose="02010600040101010101" pitchFamily="2" charset="-122"/>
                <a:ea typeface="华文中宋" panose="02010600040101010101" pitchFamily="2" charset="-122"/>
                <a:cs typeface="+mn-cs"/>
              </a:rPr>
              <a:t>。</a:t>
            </a:r>
            <a:r>
              <a:rPr lang="zh-CN" altLang="en-US" dirty="0">
                <a:solidFill>
                  <a:schemeClr val="tx1"/>
                </a:solidFill>
                <a:latin typeface="华文中宋" panose="02010600040101010101" pitchFamily="2" charset="-122"/>
                <a:ea typeface="华文中宋" panose="02010600040101010101" pitchFamily="2" charset="-122"/>
                <a:cs typeface="+mn-cs"/>
              </a:rPr>
              <a:t>对象接收消息后可以由自己的某个操作来完成，也可以通过其他对象的操作来完成。</a:t>
            </a:r>
            <a:endParaRPr lang="zh-CN" altLang="en-US" dirty="0">
              <a:solidFill>
                <a:schemeClr val="tx1"/>
              </a:solidFill>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pSp>
        <p:nvGrpSpPr>
          <p:cNvPr id="32773" name="Group 11"/>
          <p:cNvGrpSpPr/>
          <p:nvPr/>
        </p:nvGrpSpPr>
        <p:grpSpPr>
          <a:xfrm>
            <a:off x="2089150" y="3587750"/>
            <a:ext cx="4240213" cy="2252663"/>
            <a:chOff x="1474" y="2704"/>
            <a:chExt cx="2177" cy="999"/>
          </a:xfrm>
        </p:grpSpPr>
        <p:pic>
          <p:nvPicPr>
            <p:cNvPr id="32774" name="Picture 7"/>
            <p:cNvPicPr>
              <a:picLocks noChangeAspect="1"/>
            </p:cNvPicPr>
            <p:nvPr/>
          </p:nvPicPr>
          <p:blipFill>
            <a:blip r:embed="rId1"/>
            <a:stretch>
              <a:fillRect/>
            </a:stretch>
          </p:blipFill>
          <p:spPr>
            <a:xfrm>
              <a:off x="2472" y="2704"/>
              <a:ext cx="1179" cy="998"/>
            </a:xfrm>
            <a:prstGeom prst="rect">
              <a:avLst/>
            </a:prstGeom>
            <a:noFill/>
            <a:ln w="9525">
              <a:noFill/>
            </a:ln>
          </p:spPr>
        </p:pic>
        <p:sp>
          <p:nvSpPr>
            <p:cNvPr id="32775" name="Text Box 8"/>
            <p:cNvSpPr txBox="1"/>
            <p:nvPr/>
          </p:nvSpPr>
          <p:spPr>
            <a:xfrm>
              <a:off x="2934" y="3085"/>
              <a:ext cx="273" cy="81"/>
            </a:xfrm>
            <a:prstGeom prst="rect">
              <a:avLst/>
            </a:prstGeom>
            <a:solidFill>
              <a:schemeClr val="bg1">
                <a:alpha val="0"/>
              </a:schemeClr>
            </a:solidFill>
            <a:ln w="9525">
              <a:noFill/>
            </a:ln>
          </p:spPr>
          <p:txBody>
            <a:bodyPr>
              <a:spAutoFit/>
            </a:bodyPr>
            <a:p>
              <a:pPr algn="ctr">
                <a:lnSpc>
                  <a:spcPct val="30000"/>
                </a:lnSpc>
              </a:pPr>
              <a:r>
                <a:rPr lang="en-US" altLang="zh-CN" sz="1000" dirty="0">
                  <a:solidFill>
                    <a:srgbClr val="000000"/>
                  </a:solidFill>
                  <a:latin typeface="Arial" panose="020B0604020202020204" pitchFamily="34" charset="0"/>
                  <a:ea typeface="宋体" panose="02010600030101010101" pitchFamily="2" charset="-122"/>
                </a:rPr>
                <a:t>.</a:t>
              </a:r>
              <a:endParaRPr lang="en-US" altLang="zh-CN" sz="1000" dirty="0">
                <a:solidFill>
                  <a:srgbClr val="000000"/>
                </a:solidFill>
                <a:latin typeface="Arial" panose="020B0604020202020204" pitchFamily="34" charset="0"/>
                <a:ea typeface="宋体" panose="02010600030101010101" pitchFamily="2" charset="-122"/>
              </a:endParaRPr>
            </a:p>
            <a:p>
              <a:pPr algn="ctr">
                <a:lnSpc>
                  <a:spcPct val="30000"/>
                </a:lnSpc>
              </a:pPr>
              <a:r>
                <a:rPr lang="en-US" altLang="zh-CN" sz="1000" dirty="0">
                  <a:solidFill>
                    <a:srgbClr val="000000"/>
                  </a:solidFill>
                  <a:latin typeface="Arial" panose="020B0604020202020204" pitchFamily="34" charset="0"/>
                  <a:ea typeface="宋体" panose="02010600030101010101" pitchFamily="2" charset="-122"/>
                </a:rPr>
                <a:t>.</a:t>
              </a:r>
              <a:endParaRPr lang="en-US" altLang="zh-CN" sz="1000" dirty="0">
                <a:solidFill>
                  <a:srgbClr val="000000"/>
                </a:solidFill>
                <a:latin typeface="Arial" panose="020B0604020202020204" pitchFamily="34" charset="0"/>
                <a:ea typeface="宋体" panose="02010600030101010101" pitchFamily="2" charset="-122"/>
              </a:endParaRPr>
            </a:p>
          </p:txBody>
        </p:sp>
        <p:sp>
          <p:nvSpPr>
            <p:cNvPr id="32776" name="AutoShape 6"/>
            <p:cNvSpPr/>
            <p:nvPr/>
          </p:nvSpPr>
          <p:spPr>
            <a:xfrm>
              <a:off x="1474" y="3385"/>
              <a:ext cx="771" cy="318"/>
            </a:xfrm>
            <a:prstGeom prst="wedgeRoundRectCallout">
              <a:avLst>
                <a:gd name="adj1" fmla="val 151556"/>
                <a:gd name="adj2" fmla="val -70755"/>
                <a:gd name="adj3" fmla="val 16667"/>
              </a:avLst>
            </a:prstGeom>
            <a:solidFill>
              <a:srgbClr val="99CCFF"/>
            </a:solidFill>
            <a:ln w="9525" cap="flat" cmpd="sng">
              <a:solidFill>
                <a:schemeClr val="tx1"/>
              </a:solidFill>
              <a:prstDash val="solid"/>
              <a:miter/>
              <a:headEnd type="none" w="med" len="med"/>
              <a:tailEnd type="none" w="med" len="med"/>
            </a:ln>
          </p:spPr>
          <p:txBody>
            <a:bodyPr/>
            <a:p>
              <a:pPr algn="ctr"/>
              <a:r>
                <a:rPr lang="zh-CN" altLang="en-US" sz="1600" dirty="0">
                  <a:solidFill>
                    <a:srgbClr val="3333CC"/>
                  </a:solidFill>
                  <a:latin typeface="Arial" panose="020B0604020202020204" pitchFamily="34" charset="0"/>
                  <a:ea typeface="宋体" panose="02010600030101010101" pitchFamily="2" charset="-122"/>
                </a:rPr>
                <a:t>激活期</a:t>
              </a:r>
              <a:endParaRPr lang="zh-CN" altLang="en-US" sz="1600" dirty="0">
                <a:solidFill>
                  <a:srgbClr val="3333CC"/>
                </a:solidFill>
                <a:latin typeface="Arial" panose="020B0604020202020204" pitchFamily="34" charset="0"/>
                <a:ea typeface="宋体" panose="02010600030101010101" pitchFamily="2" charset="-122"/>
              </a:endParaRPr>
            </a:p>
          </p:txBody>
        </p:sp>
      </p:gr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a:ln/>
        </p:spPr>
        <p:txBody>
          <a:bodyPr vert="horz" wrap="square" lIns="91440" tIns="45720" rIns="91440" bIns="45720" anchor="ctr" anchorCtr="0"/>
          <a:p>
            <a:r>
              <a:rPr lang="en-US" altLang="zh-CN" dirty="0"/>
              <a:t>2. </a:t>
            </a:r>
            <a:r>
              <a:rPr lang="zh-CN" altLang="en-US" dirty="0"/>
              <a:t>消息</a:t>
            </a:r>
            <a:endParaRPr lang="zh-CN" altLang="en-US" dirty="0"/>
          </a:p>
        </p:txBody>
      </p:sp>
      <p:sp>
        <p:nvSpPr>
          <p:cNvPr id="34819" name="内容占位符 2"/>
          <p:cNvSpPr>
            <a:spLocks noGrp="1"/>
          </p:cNvSpPr>
          <p:nvPr>
            <p:ph idx="1"/>
          </p:nvPr>
        </p:nvSpPr>
        <p:spPr>
          <a:xfrm>
            <a:off x="776288" y="1035050"/>
            <a:ext cx="7766050" cy="3192145"/>
          </a:xfrm>
          <a:ln/>
        </p:spPr>
        <p:txBody>
          <a:bodyPr vert="horz" wrap="square" lIns="91440" tIns="45720" rIns="91440" bIns="45720" anchor="t" anchorCtr="0">
            <a:spAutoFit/>
          </a:bodyPr>
          <a:p>
            <a:pPr eaLnBrk="1" hangingPunct="1">
              <a:spcBef>
                <a:spcPct val="0"/>
              </a:spcBef>
              <a:buClrTx/>
              <a:buSzTx/>
              <a:buFont typeface="Wingdings" panose="05000000000000000000" charset="0"/>
              <a:buChar char="l"/>
            </a:pPr>
            <a:r>
              <a:rPr lang="zh-CN" altLang="en-US" dirty="0">
                <a:solidFill>
                  <a:srgbClr val="C00000"/>
                </a:solidFill>
                <a:latin typeface="华文中宋" panose="02010600040101010101" pitchFamily="2" charset="-122"/>
                <a:ea typeface="华文中宋" panose="02010600040101010101" pitchFamily="2" charset="-122"/>
                <a:cs typeface="+mn-cs"/>
              </a:rPr>
              <a:t>消息</a:t>
            </a:r>
            <a:r>
              <a:rPr lang="zh-CN" altLang="en-US" dirty="0">
                <a:latin typeface="华文中宋" panose="02010600040101010101" pitchFamily="2" charset="-122"/>
                <a:ea typeface="华文中宋" panose="02010600040101010101" pitchFamily="2" charset="-122"/>
                <a:cs typeface="+mn-cs"/>
              </a:rPr>
              <a:t>用来说明顺序图中不同活动对象之间的通信。</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 typeface="Wingdings" panose="05000000000000000000" pitchFamily="2" charset="2"/>
              <a:buChar char="Ø"/>
            </a:pPr>
            <a:r>
              <a:rPr lang="zh-CN" altLang="en-US" dirty="0">
                <a:latin typeface="华文中宋" panose="02010600040101010101" pitchFamily="2" charset="-122"/>
                <a:ea typeface="华文中宋" panose="02010600040101010101" pitchFamily="2" charset="-122"/>
                <a:cs typeface="+mn-cs"/>
              </a:rPr>
              <a:t>用从活动对象生命线到接收对象生命线的箭头表示消息。箭头上面标记要发送的消息，如下图所示。</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 typeface="Wingdings" panose="05000000000000000000" pitchFamily="2" charset="2"/>
              <a:buChar char="Ø"/>
            </a:pPr>
            <a:r>
              <a:rPr lang="zh-CN" altLang="en-US" dirty="0">
                <a:solidFill>
                  <a:srgbClr val="C00000"/>
                </a:solidFill>
                <a:latin typeface="华文中宋" panose="02010600040101010101" pitchFamily="2" charset="-122"/>
                <a:ea typeface="华文中宋" panose="02010600040101010101" pitchFamily="2" charset="-122"/>
                <a:cs typeface="+mn-cs"/>
              </a:rPr>
              <a:t>消息一旦发送便将控制从源对象转移到目标对象</a:t>
            </a:r>
            <a:r>
              <a:rPr lang="zh-CN" altLang="en-US" dirty="0">
                <a:latin typeface="华文中宋" panose="02010600040101010101" pitchFamily="2" charset="-122"/>
                <a:ea typeface="华文中宋" panose="02010600040101010101" pitchFamily="2" charset="-122"/>
                <a:cs typeface="+mn-cs"/>
              </a:rPr>
              <a:t>。因为消息的阅读顺序是严格自上而下的，</a:t>
            </a:r>
            <a:r>
              <a:rPr lang="zh-CN" altLang="en-US" dirty="0">
                <a:solidFill>
                  <a:srgbClr val="C00000"/>
                </a:solidFill>
                <a:latin typeface="华文中宋" panose="02010600040101010101" pitchFamily="2" charset="-122"/>
                <a:ea typeface="华文中宋" panose="02010600040101010101" pitchFamily="2" charset="-122"/>
                <a:cs typeface="+mn-cs"/>
              </a:rPr>
              <a:t>因此活动对象之间发送的消息是顺序图的关键。</a:t>
            </a:r>
            <a:endParaRPr lang="zh-CN" altLang="en-US" dirty="0">
              <a:solidFill>
                <a:srgbClr val="C00000"/>
              </a:solidFill>
              <a:latin typeface="华文中宋" panose="02010600040101010101" pitchFamily="2" charset="-122"/>
              <a:ea typeface="华文中宋" panose="02010600040101010101" pitchFamily="2" charset="-122"/>
              <a:cs typeface="+mn-cs"/>
            </a:endParaRPr>
          </a:p>
        </p:txBody>
      </p:sp>
      <p:sp>
        <p:nvSpPr>
          <p:cNvPr id="34820"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34821" name="Picture 3"/>
          <p:cNvPicPr>
            <a:picLocks noGrp="1" noChangeAspect="1"/>
          </p:cNvPicPr>
          <p:nvPr/>
        </p:nvPicPr>
        <p:blipFill>
          <a:blip r:embed="rId1"/>
          <a:stretch>
            <a:fillRect/>
          </a:stretch>
        </p:blipFill>
        <p:spPr>
          <a:xfrm>
            <a:off x="2565400" y="4227513"/>
            <a:ext cx="4011613" cy="2030412"/>
          </a:xfrm>
          <a:prstGeom prst="rect">
            <a:avLst/>
          </a:prstGeom>
          <a:noFill/>
          <a:ln w="9525">
            <a:noFill/>
          </a:ln>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zh-CN" altLang="en-US" dirty="0"/>
              <a:t>消息的类型</a:t>
            </a:r>
            <a:endParaRPr lang="zh-CN" altLang="en-US" dirty="0"/>
          </a:p>
        </p:txBody>
      </p:sp>
      <p:sp>
        <p:nvSpPr>
          <p:cNvPr id="3584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35844" name="内容占位符 5"/>
          <p:cNvSpPr>
            <a:spLocks noGrp="1"/>
          </p:cNvSpPr>
          <p:nvPr>
            <p:ph idx="1"/>
          </p:nvPr>
        </p:nvSpPr>
        <p:spPr>
          <a:xfrm>
            <a:off x="493713" y="981075"/>
            <a:ext cx="8399462" cy="2232025"/>
          </a:xfrm>
          <a:ln/>
        </p:spPr>
        <p:txBody>
          <a:bodyPr vert="horz" wrap="square" lIns="91440" tIns="45720" rIns="91440" bIns="45720" anchor="t" anchorCtr="0">
            <a:spAutoFit/>
          </a:bodyPr>
          <a:p>
            <a:pPr eaLnBrk="1" hangingPunct="1">
              <a:spcBef>
                <a:spcPct val="0"/>
              </a:spcBef>
              <a:buClrTx/>
              <a:buSzTx/>
            </a:pPr>
            <a:r>
              <a:rPr lang="zh-CN" altLang="en-US" dirty="0">
                <a:latin typeface="华文中宋" panose="02010600040101010101" pitchFamily="2" charset="-122"/>
                <a:ea typeface="华文中宋" panose="02010600040101010101" pitchFamily="2" charset="-122"/>
                <a:cs typeface="+mn-cs"/>
              </a:rPr>
              <a:t>在</a:t>
            </a:r>
            <a:r>
              <a:rPr lang="en-US" altLang="zh-CN" dirty="0">
                <a:latin typeface="华文中宋" panose="02010600040101010101" pitchFamily="2" charset="-122"/>
                <a:ea typeface="华文中宋" panose="02010600040101010101" pitchFamily="2" charset="-122"/>
                <a:cs typeface="+mn-cs"/>
              </a:rPr>
              <a:t>UML</a:t>
            </a:r>
            <a:r>
              <a:rPr lang="zh-CN" altLang="en-US" dirty="0">
                <a:latin typeface="华文中宋" panose="02010600040101010101" pitchFamily="2" charset="-122"/>
                <a:ea typeface="华文中宋" panose="02010600040101010101" pitchFamily="2" charset="-122"/>
                <a:cs typeface="+mn-cs"/>
              </a:rPr>
              <a:t>中，总共有</a:t>
            </a: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种类型的消息，如下图所示。</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到目前为止只看到了一种消息，即</a:t>
            </a:r>
            <a:r>
              <a:rPr lang="zh-CN" altLang="en-US" dirty="0">
                <a:solidFill>
                  <a:srgbClr val="C00000"/>
                </a:solidFill>
                <a:latin typeface="华文中宋" panose="02010600040101010101" pitchFamily="2" charset="-122"/>
                <a:ea typeface="华文中宋" panose="02010600040101010101" pitchFamily="2" charset="-122"/>
                <a:cs typeface="+mn-cs"/>
              </a:rPr>
              <a:t>简单消息</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flat message</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pic>
        <p:nvPicPr>
          <p:cNvPr id="35845" name="图片 16"/>
          <p:cNvPicPr>
            <a:picLocks noChangeAspect="1"/>
          </p:cNvPicPr>
          <p:nvPr/>
        </p:nvPicPr>
        <p:blipFill>
          <a:blip r:embed="rId1"/>
          <a:stretch>
            <a:fillRect/>
          </a:stretch>
        </p:blipFill>
        <p:spPr>
          <a:xfrm>
            <a:off x="1330325" y="2752725"/>
            <a:ext cx="6845300" cy="3351213"/>
          </a:xfrm>
          <a:prstGeom prst="rect">
            <a:avLst/>
          </a:prstGeom>
          <a:noFill/>
          <a:ln w="9525">
            <a:noFill/>
          </a:ln>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ln/>
        </p:spPr>
        <p:txBody>
          <a:bodyPr vert="horz" wrap="square" lIns="91440" tIns="45720" rIns="91440" bIns="45720" anchor="ctr" anchorCtr="0"/>
          <a:p>
            <a:pPr eaLnBrk="1" hangingPunct="1"/>
            <a:r>
              <a:rPr lang="zh-CN" altLang="en-US" dirty="0"/>
              <a:t>同步消息</a:t>
            </a:r>
            <a:endParaRPr lang="zh-CN" altLang="en-US" dirty="0"/>
          </a:p>
        </p:txBody>
      </p:sp>
      <p:sp>
        <p:nvSpPr>
          <p:cNvPr id="3686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36868" name="内容占位符 5"/>
          <p:cNvSpPr>
            <a:spLocks noGrp="1"/>
          </p:cNvSpPr>
          <p:nvPr>
            <p:ph idx="1"/>
          </p:nvPr>
        </p:nvSpPr>
        <p:spPr>
          <a:xfrm>
            <a:off x="647700" y="1035050"/>
            <a:ext cx="7602538" cy="1863725"/>
          </a:xfrm>
          <a:ln/>
        </p:spPr>
        <p:txBody>
          <a:bodyPr vert="horz" wrap="square" lIns="91440" tIns="45720" rIns="91440" bIns="45720" anchor="t" anchorCtr="0">
            <a:spAutoFit/>
          </a:bodyPr>
          <a:p>
            <a:pPr marL="538480" indent="-342900" eaLnBrk="1" hangingPunct="1">
              <a:lnSpc>
                <a:spcPct val="120000"/>
              </a:lnSpc>
              <a:spcBef>
                <a:spcPct val="0"/>
              </a:spcBef>
              <a:buClrTx/>
              <a:buSzTx/>
              <a:buFont typeface="Wingdings" panose="05000000000000000000" charset="0"/>
              <a:buChar char="l"/>
            </a:pPr>
            <a:r>
              <a:rPr lang="zh-CN" altLang="en-US" dirty="0">
                <a:solidFill>
                  <a:srgbClr val="C00000"/>
                </a:solidFill>
                <a:latin typeface="华文中宋" panose="02010600040101010101" pitchFamily="2" charset="-122"/>
                <a:ea typeface="华文中宋" panose="02010600040101010101" pitchFamily="2" charset="-122"/>
                <a:cs typeface="+mn-cs"/>
              </a:rPr>
              <a:t>同步消息</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synchronous message</a:t>
            </a:r>
            <a:r>
              <a:rPr lang="zh-CN" altLang="en-US" dirty="0">
                <a:latin typeface="华文中宋" panose="02010600040101010101" pitchFamily="2" charset="-122"/>
                <a:ea typeface="华文中宋" panose="02010600040101010101" pitchFamily="2" charset="-122"/>
                <a:cs typeface="+mn-cs"/>
              </a:rPr>
              <a:t>）代表一个操作调用的控制流。同步消息的发送者把控制传递给消息的接收者，然后</a:t>
            </a:r>
            <a:r>
              <a:rPr lang="zh-CN" altLang="en-US" dirty="0">
                <a:solidFill>
                  <a:srgbClr val="C00000"/>
                </a:solidFill>
                <a:latin typeface="华文中宋" panose="02010600040101010101" pitchFamily="2" charset="-122"/>
                <a:ea typeface="华文中宋" panose="02010600040101010101" pitchFamily="2" charset="-122"/>
                <a:cs typeface="+mn-cs"/>
              </a:rPr>
              <a:t>暂停活动</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C00000"/>
                </a:solidFill>
                <a:latin typeface="华文中宋" panose="02010600040101010101" pitchFamily="2" charset="-122"/>
                <a:ea typeface="华文中宋" panose="02010600040101010101" pitchFamily="2" charset="-122"/>
                <a:cs typeface="+mn-cs"/>
              </a:rPr>
              <a:t>等待</a:t>
            </a:r>
            <a:r>
              <a:rPr lang="zh-CN" altLang="en-US" dirty="0">
                <a:latin typeface="华文中宋" panose="02010600040101010101" pitchFamily="2" charset="-122"/>
                <a:ea typeface="华文中宋" panose="02010600040101010101" pitchFamily="2" charset="-122"/>
                <a:cs typeface="+mn-cs"/>
              </a:rPr>
              <a:t>消息接收者的应答，收到应答后才继续自己的操作。        </a:t>
            </a:r>
            <a:endParaRPr lang="zh-CN" altLang="en-US" dirty="0">
              <a:latin typeface="华文中宋" panose="02010600040101010101" pitchFamily="2" charset="-122"/>
              <a:ea typeface="华文中宋" panose="02010600040101010101" pitchFamily="2" charset="-122"/>
              <a:cs typeface="+mn-cs"/>
            </a:endParaRPr>
          </a:p>
        </p:txBody>
      </p:sp>
      <p:pic>
        <p:nvPicPr>
          <p:cNvPr id="36869" name="图片 8"/>
          <p:cNvPicPr>
            <a:picLocks noChangeAspect="1"/>
          </p:cNvPicPr>
          <p:nvPr/>
        </p:nvPicPr>
        <p:blipFill>
          <a:blip r:embed="rId1"/>
          <a:srcRect b="24843"/>
          <a:stretch>
            <a:fillRect/>
          </a:stretch>
        </p:blipFill>
        <p:spPr>
          <a:xfrm>
            <a:off x="1254125" y="2898775"/>
            <a:ext cx="6389688" cy="3151188"/>
          </a:xfrm>
          <a:prstGeom prst="rect">
            <a:avLst/>
          </a:prstGeom>
          <a:noFill/>
          <a:ln w="9525">
            <a:noFill/>
          </a:ln>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异步消息</a:t>
            </a:r>
            <a:endParaRPr lang="zh-CN" altLang="en-US" dirty="0"/>
          </a:p>
        </p:txBody>
      </p:sp>
      <p:sp>
        <p:nvSpPr>
          <p:cNvPr id="3789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22532" name="内容占位符 5"/>
          <p:cNvSpPr>
            <a:spLocks noGrp="1" noChangeArrowheads="1"/>
          </p:cNvSpPr>
          <p:nvPr>
            <p:ph idx="1"/>
          </p:nvPr>
        </p:nvSpPr>
        <p:spPr>
          <a:xfrm>
            <a:off x="0" y="995363"/>
            <a:ext cx="9036050" cy="2159000"/>
          </a:xfrm>
        </p:spPr>
        <p:txBody>
          <a:bodyPr vert="horz" wrap="square" lIns="91440" tIns="45720" rIns="91440" bIns="45720" numCol="1" anchor="t" anchorCtr="0" compatLnSpc="1">
            <a:spAutoFit/>
          </a:bodyPr>
          <a:lstStyle/>
          <a:p>
            <a:pPr marL="538480" marR="0" lvl="0" indent="-342900" algn="just" defTabSz="914400" rtl="0" eaLnBrk="1" fontAlgn="base" latinLnBrk="0" hangingPunct="1">
              <a:lnSpc>
                <a:spcPct val="120000"/>
              </a:lnSpc>
              <a:spcBef>
                <a:spcPct val="0"/>
              </a:spcBef>
              <a:spcAft>
                <a:spcPct val="0"/>
              </a:spcAft>
              <a:buClrTx/>
              <a:buSzTx/>
              <a:buFont typeface="Wingdings" panose="05000000000000000000" pitchFamily="2" charset="2"/>
              <a:buChar char="l"/>
              <a:defRPr/>
            </a:pP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异步消息</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(Asynchronous message)</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用于</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控制流在完成前不需要中断的情况</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。消息的发送者把控制传递给消息的接收者</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然后继续自己的活动，</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不需等待接收者返回信息或控制</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538480" marR="0" lvl="0" indent="-342900" algn="just" defTabSz="914400" rtl="0" eaLnBrk="1" fontAlgn="base" latinLnBrk="0" hangingPunct="1">
              <a:lnSpc>
                <a:spcPct val="120000"/>
              </a:lnSpc>
              <a:spcBef>
                <a:spcPct val="0"/>
              </a:spcBef>
              <a:spcAft>
                <a:spcPct val="0"/>
              </a:spcAft>
              <a:buClrTx/>
              <a:buSzTx/>
              <a:buFont typeface="Wingdings" panose="05000000000000000000" pitchFamily="2" charset="2"/>
              <a:buChar char="l"/>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下面示例演示了如何在登录文件的情况下使用异步消息。</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pic>
        <p:nvPicPr>
          <p:cNvPr id="37893" name="Picture 3"/>
          <p:cNvPicPr>
            <a:picLocks noChangeAspect="1"/>
          </p:cNvPicPr>
          <p:nvPr/>
        </p:nvPicPr>
        <p:blipFill>
          <a:blip r:embed="rId1"/>
          <a:stretch>
            <a:fillRect/>
          </a:stretch>
        </p:blipFill>
        <p:spPr>
          <a:xfrm>
            <a:off x="1717675" y="2582863"/>
            <a:ext cx="5600700" cy="3509962"/>
          </a:xfrm>
          <a:prstGeom prst="rect">
            <a:avLst/>
          </a:prstGeom>
          <a:noFill/>
          <a:ln w="9525">
            <a:noFill/>
          </a:ln>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zh-CN" altLang="en-US" dirty="0"/>
              <a:t>简单消息</a:t>
            </a:r>
            <a:endParaRPr lang="zh-CN" altLang="en-US" dirty="0"/>
          </a:p>
        </p:txBody>
      </p:sp>
      <p:sp>
        <p:nvSpPr>
          <p:cNvPr id="3891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23556" name="内容占位符 5"/>
          <p:cNvSpPr>
            <a:spLocks noGrp="1" noChangeArrowheads="1"/>
          </p:cNvSpPr>
          <p:nvPr>
            <p:ph idx="1"/>
          </p:nvPr>
        </p:nvSpPr>
        <p:spPr>
          <a:xfrm>
            <a:off x="574675" y="1116013"/>
            <a:ext cx="7994650" cy="4373563"/>
          </a:xfrm>
        </p:spPr>
        <p:txBody>
          <a:bodyPr vert="horz" wrap="square" lIns="91440" tIns="45720" rIns="91440" bIns="45720" numCol="1" anchor="t" anchorCtr="0" compatLnSpc="1">
            <a:spAutoFit/>
          </a:bodyPr>
          <a:lstStyle/>
          <a:p>
            <a:pPr marL="195580" marR="0" lvl="0" indent="0" algn="just" defTabSz="914400" rtl="0" eaLnBrk="1" fontAlgn="base" latinLnBrk="0" hangingPunct="1">
              <a:lnSpc>
                <a:spcPct val="120000"/>
              </a:lnSpc>
              <a:spcBef>
                <a:spcPct val="0"/>
              </a:spcBef>
              <a:spcAft>
                <a:spcPct val="0"/>
              </a:spcAft>
              <a:buClrTx/>
              <a:buSzTx/>
              <a:buFont typeface="Arial" panose="020B0604020202020204" pitchFamily="34" charset="0"/>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如果所有的消息都是同步或者异步消息，那么为什么还要简单消息呢？因为</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sym typeface="+mn-ea"/>
              </a:rPr>
              <a:t>有时候我们不关心消息是同步还是异步</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，此外在高层分析中，有时候没有必要指定一个消息是同步的还是异步的。</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返回消息（Return message）：一个活动对象收到消息并完成请求的工作后向原对象返回处理结果。</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条件</a:t>
            </a:r>
            <a:endParaRPr lang="zh-CN" altLang="en-US" dirty="0"/>
          </a:p>
        </p:txBody>
      </p:sp>
      <p:sp>
        <p:nvSpPr>
          <p:cNvPr id="3993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24580" name="内容占位符 5"/>
          <p:cNvSpPr>
            <a:spLocks noGrp="1" noChangeArrowheads="1"/>
          </p:cNvSpPr>
          <p:nvPr>
            <p:ph idx="1"/>
          </p:nvPr>
        </p:nvSpPr>
        <p:spPr>
          <a:xfrm>
            <a:off x="395288" y="981075"/>
            <a:ext cx="8208963" cy="1714500"/>
          </a:xfrm>
        </p:spPr>
        <p:txBody>
          <a:bodyPr vert="horz" wrap="square" lIns="91440" tIns="45720" rIns="91440" bIns="45720" numCol="1" anchor="t" anchorCtr="0" compatLnSpc="1">
            <a:spAutoFit/>
          </a:bodyPr>
          <a:lstStyle/>
          <a:p>
            <a:pPr marL="538480" marR="0" lvl="0" indent="-342900" algn="just" defTabSz="914400" rtl="0" eaLnBrk="1" fontAlgn="base" latinLnBrk="0" hangingPunct="1">
              <a:lnSpc>
                <a:spcPct val="140000"/>
              </a:lnSpc>
              <a:spcBef>
                <a:spcPct val="0"/>
              </a:spcBef>
              <a:spcAft>
                <a:spcPct val="0"/>
              </a:spcAft>
              <a:buClrTx/>
              <a:buSzTx/>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消息可以包含</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条件</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以便限制它们只在满足条件时才能发送。条件显示在消息名称上面的方括号中，如下图所示。</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pic>
        <p:nvPicPr>
          <p:cNvPr id="39941" name="Picture 3"/>
          <p:cNvPicPr>
            <a:picLocks noChangeAspect="1"/>
          </p:cNvPicPr>
          <p:nvPr/>
        </p:nvPicPr>
        <p:blipFill>
          <a:blip r:embed="rId1"/>
          <a:stretch>
            <a:fillRect/>
          </a:stretch>
        </p:blipFill>
        <p:spPr>
          <a:xfrm>
            <a:off x="1727200" y="2870200"/>
            <a:ext cx="5545138" cy="2790825"/>
          </a:xfrm>
          <a:prstGeom prst="rect">
            <a:avLst/>
          </a:prstGeom>
          <a:noFill/>
          <a:ln w="9525">
            <a:noFill/>
          </a:ln>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zh-CN" altLang="en-US" dirty="0"/>
              <a:t>案例：编译程序</a:t>
            </a:r>
            <a:endParaRPr lang="zh-CN" altLang="en-US" dirty="0"/>
          </a:p>
        </p:txBody>
      </p:sp>
      <p:sp>
        <p:nvSpPr>
          <p:cNvPr id="4096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40964" name="内容占位符 5"/>
          <p:cNvSpPr>
            <a:spLocks noGrp="1"/>
          </p:cNvSpPr>
          <p:nvPr>
            <p:ph idx="1"/>
          </p:nvPr>
        </p:nvSpPr>
        <p:spPr>
          <a:xfrm>
            <a:off x="395288" y="981075"/>
            <a:ext cx="8353425" cy="4373563"/>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Compile Application用例</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我们可以创建一个成功编译工作流的顺序图。这个顺序图中有4个活动对象：Developer、Compiler、Linker和File System。Developer是系统的参与者，Compiler是Developer交互的应用程序，Linker是一个用来链接对象文件的独立进程，File System是系统层功能的包装器，用来执行文件的输入和输出例程。</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1"/>
          <p:cNvSpPr>
            <a:spLocks noGrp="1"/>
          </p:cNvSpPr>
          <p:nvPr>
            <p:ph type="title"/>
          </p:nvPr>
        </p:nvSpPr>
        <p:spPr>
          <a:ln/>
        </p:spPr>
        <p:txBody>
          <a:bodyPr vert="horz" wrap="square" lIns="91440" tIns="45720" rIns="91440" bIns="45720" anchor="ctr" anchorCtr="0"/>
          <a:p>
            <a:r>
              <a:rPr lang="zh-CN" altLang="en-US" dirty="0"/>
              <a:t>如何使用消息进行通信</a:t>
            </a:r>
            <a:endParaRPr lang="zh-CN" altLang="en-US" dirty="0"/>
          </a:p>
        </p:txBody>
      </p:sp>
      <p:sp>
        <p:nvSpPr>
          <p:cNvPr id="4198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33795" name="Rectangle 3"/>
          <p:cNvSpPr/>
          <p:nvPr/>
        </p:nvSpPr>
        <p:spPr>
          <a:xfrm>
            <a:off x="520700" y="1306513"/>
            <a:ext cx="8101013" cy="4246563"/>
          </a:xfrm>
          <a:prstGeom prst="rect">
            <a:avLst/>
          </a:prstGeom>
          <a:noFill/>
          <a:ln w="9525">
            <a:noFill/>
          </a:ln>
        </p:spPr>
        <p:txBody>
          <a:bodyPr>
            <a:spAutoFit/>
          </a:bodyPr>
          <a:lstStyle/>
          <a:p>
            <a:pPr marL="342900" marR="0" lvl="0" indent="-342900" algn="l" defTabSz="914400" rtl="0" eaLnBrk="1" fontAlgn="base" latinLnBrk="0" hangingPunct="1">
              <a:lnSpc>
                <a:spcPct val="125000"/>
              </a:lnSpc>
              <a:spcBef>
                <a:spcPct val="0"/>
              </a:spcBef>
              <a:spcAft>
                <a:spcPct val="0"/>
              </a:spcAft>
              <a:buClrTx/>
              <a:buSzTx/>
              <a:buFont typeface="Arial" panose="020B0604020202020204" pitchFamily="34" charset="0"/>
              <a:buChar char="•"/>
              <a:defRPr/>
            </a:pPr>
            <a:r>
              <a:rPr kumimoji="0" lang="en-US" altLang="zh-CN" sz="2400" b="0" i="0" u="none" strike="noStrike" kern="1200" cap="none" spc="0" normalizeH="0" baseline="0" noProof="1">
                <a:ln>
                  <a:noFill/>
                </a:ln>
                <a:solidFill>
                  <a:srgbClr val="C00000"/>
                </a:solidFill>
                <a:effectLst/>
                <a:uLnTx/>
                <a:uFillTx/>
                <a:latin typeface="华文中宋" panose="02010600040101010101" pitchFamily="2" charset="-122"/>
                <a:ea typeface="华文中宋" panose="02010600040101010101" pitchFamily="2" charset="-122"/>
                <a:cs typeface="+mn-cs"/>
              </a:rPr>
              <a:t> Compile Application</a:t>
            </a:r>
            <a:r>
              <a:rPr kumimoji="0" lang="zh-CN" altLang="en-US" sz="2400" b="0" i="0" u="none" strike="noStrike" kern="1200" cap="none" spc="0" normalizeH="0" baseline="0" noProof="1">
                <a:ln>
                  <a:noFill/>
                </a:ln>
                <a:solidFill>
                  <a:srgbClr val="C00000"/>
                </a:solidFill>
                <a:effectLst/>
                <a:uLnTx/>
                <a:uFillTx/>
                <a:latin typeface="华文中宋" panose="02010600040101010101" pitchFamily="2" charset="-122"/>
                <a:ea typeface="华文中宋" panose="02010600040101010101" pitchFamily="2" charset="-122"/>
                <a:cs typeface="+mn-cs"/>
              </a:rPr>
              <a:t>用例的顺序图操作：</a:t>
            </a:r>
            <a:endParaRPr kumimoji="0" lang="zh-CN" altLang="en-US" sz="2400" b="0" i="0" u="none" strike="noStrike" kern="1200" cap="none" spc="0" normalizeH="0" baseline="0" noProof="1">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Developer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Compiler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执行编译</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Compiler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FileSystem  </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加载文件</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Compiler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通知自己执行编译</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Compiler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FileSystem   </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保存对象代码</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Compiler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Linker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链接对象代码</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Linker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FileSystem</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加载对象代码</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Liker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通知自己执行链接</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defRPr/>
            </a:pP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Linker</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请求</a:t>
            </a:r>
            <a:r>
              <a:rPr kumimoji="0" lang="en-US" altLang="zh-CN"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FileSystem</a:t>
            </a:r>
            <a:r>
              <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保存编译的结果</a:t>
            </a:r>
            <a:endParaRPr kumimoji="0" lang="zh-CN" altLang="en-US" sz="2400" b="0" i="0" u="none" strike="noStrike" kern="120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zh-CN" altLang="en-US" dirty="0"/>
              <a:t>一个成功编译工作流的顺序图</a:t>
            </a:r>
            <a:endParaRPr lang="zh-CN" altLang="en-US" dirty="0"/>
          </a:p>
        </p:txBody>
      </p:sp>
      <p:sp>
        <p:nvSpPr>
          <p:cNvPr id="4301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aphicFrame>
        <p:nvGraphicFramePr>
          <p:cNvPr id="43012" name="对象 -2147482590"/>
          <p:cNvGraphicFramePr>
            <a:graphicFrameLocks noChangeAspect="1"/>
          </p:cNvGraphicFramePr>
          <p:nvPr/>
        </p:nvGraphicFramePr>
        <p:xfrm>
          <a:off x="593725" y="1422400"/>
          <a:ext cx="8294688" cy="4184650"/>
        </p:xfrm>
        <a:graphic>
          <a:graphicData uri="http://schemas.openxmlformats.org/presentationml/2006/ole">
            <mc:AlternateContent xmlns:mc="http://schemas.openxmlformats.org/markup-compatibility/2006">
              <mc:Choice xmlns:v="urn:schemas-microsoft-com:vml" Requires="v">
                <p:oleObj spid="_x0000_s3081" name="" r:id="rId1" imgW="14503400" imgH="7315200" progId="Visio.Drawing.15">
                  <p:embed/>
                </p:oleObj>
              </mc:Choice>
              <mc:Fallback>
                <p:oleObj name="" r:id="rId1" imgW="14503400" imgH="7315200" progId="Visio.Drawing.15">
                  <p:embed/>
                  <p:pic>
                    <p:nvPicPr>
                      <p:cNvPr id="0" name="图片 3080"/>
                      <p:cNvPicPr/>
                      <p:nvPr/>
                    </p:nvPicPr>
                    <p:blipFill>
                      <a:blip r:embed="rId2"/>
                      <a:stretch>
                        <a:fillRect/>
                      </a:stretch>
                    </p:blipFill>
                    <p:spPr>
                      <a:xfrm>
                        <a:off x="593725" y="1422400"/>
                        <a:ext cx="8294688" cy="4184650"/>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en-US" altLang="zh-CN" dirty="0"/>
              <a:t>8.3.2 </a:t>
            </a:r>
            <a:r>
              <a:rPr lang="zh-CN" altLang="en-US" dirty="0"/>
              <a:t>分支和从属</a:t>
            </a:r>
            <a:endParaRPr lang="zh-CN" altLang="en-US" dirty="0"/>
          </a:p>
        </p:txBody>
      </p:sp>
      <p:sp>
        <p:nvSpPr>
          <p:cNvPr id="4403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6" name="内容占位符 5"/>
          <p:cNvSpPr>
            <a:spLocks noGrp="1"/>
          </p:cNvSpPr>
          <p:nvPr>
            <p:ph idx="1"/>
          </p:nvPr>
        </p:nvSpPr>
        <p:spPr>
          <a:xfrm>
            <a:off x="395288" y="1125538"/>
            <a:ext cx="8497888" cy="533336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None/>
              <a:defRPr/>
            </a:pP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1.</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创建与销毁对象</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0"/>
              </a:spcBef>
              <a:spcAft>
                <a:spcPct val="0"/>
              </a:spcAft>
              <a:buClrTx/>
              <a:buSzTx/>
              <a:buFontTx/>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创建对象的标记符如下图中的示例所示。有一个主要步骤用来把“</a:t>
            </a:r>
            <a:r>
              <a:rPr kumimoji="0" lang="en-US" altLang="zh-CN"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create</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消息发送给对象实例。</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对象创建之后就会具有生命线，</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就像顺序图中的任何其他对象一样。现在可以像顺序图中的其他对象那样来使用该对象发送和接收消息。</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在处理新创建的对象，或者处理顺序图中的任何其他对象时，都可以发送“</a:t>
            </a:r>
            <a:r>
              <a:rPr kumimoji="0" lang="en-US" altLang="zh-CN" sz="2400" b="0" i="0" u="none" strike="noStrike" kern="0" cap="none" spc="0" normalizeH="0" baseline="0" noProof="0" dirty="0">
                <a:ln>
                  <a:noFill/>
                </a:ln>
                <a:solidFill>
                  <a:srgbClr val="FF0000"/>
                </a:solidFill>
                <a:effectLst/>
                <a:uLnTx/>
                <a:uFillTx/>
                <a:latin typeface="华文中宋" panose="02010600040101010101" pitchFamily="2" charset="-122"/>
                <a:ea typeface="华文中宋" panose="02010600040101010101" pitchFamily="2" charset="-122"/>
                <a:cs typeface="+mn-cs"/>
              </a:rPr>
              <a:t>destroys</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消息来</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删除对象。 </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若要想说明某个对象被销毁，需要在被销毁对象的生命线上放一个</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X</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字符。</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sym typeface="+mn-ea"/>
              </a:rPr>
              <a:t>创建与销毁对象</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4505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aphicFrame>
        <p:nvGraphicFramePr>
          <p:cNvPr id="45060" name="对象 -2147482589"/>
          <p:cNvGraphicFramePr>
            <a:graphicFrameLocks noChangeAspect="1"/>
          </p:cNvGraphicFramePr>
          <p:nvPr/>
        </p:nvGraphicFramePr>
        <p:xfrm>
          <a:off x="1844675" y="1533525"/>
          <a:ext cx="5816600" cy="4459288"/>
        </p:xfrm>
        <a:graphic>
          <a:graphicData uri="http://schemas.openxmlformats.org/presentationml/2006/ole">
            <mc:AlternateContent xmlns:mc="http://schemas.openxmlformats.org/markup-compatibility/2006">
              <mc:Choice xmlns:v="urn:schemas-microsoft-com:vml" Requires="v">
                <p:oleObj spid="_x0000_s3084" name="" r:id="rId1" imgW="5695315" imgH="4383405" progId="Visio.Drawing.15">
                  <p:embed/>
                </p:oleObj>
              </mc:Choice>
              <mc:Fallback>
                <p:oleObj name="" r:id="rId1" imgW="5695315" imgH="4383405" progId="Visio.Drawing.15">
                  <p:embed/>
                  <p:pic>
                    <p:nvPicPr>
                      <p:cNvPr id="0" name="图片 3083"/>
                      <p:cNvPicPr/>
                      <p:nvPr/>
                    </p:nvPicPr>
                    <p:blipFill>
                      <a:blip r:embed="rId2"/>
                      <a:stretch>
                        <a:fillRect/>
                      </a:stretch>
                    </p:blipFill>
                    <p:spPr>
                      <a:xfrm>
                        <a:off x="1844675" y="1533525"/>
                        <a:ext cx="5816600" cy="4459288"/>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标题 1"/>
          <p:cNvSpPr>
            <a:spLocks noGrp="1"/>
          </p:cNvSpPr>
          <p:nvPr>
            <p:ph type="title"/>
          </p:nvPr>
        </p:nvSpPr>
        <p:spPr>
          <a:ln/>
        </p:spPr>
        <p:txBody>
          <a:bodyPr vert="horz" wrap="square" lIns="91440" tIns="45720" rIns="91440" bIns="45720" anchor="ctr" anchorCtr="0"/>
          <a:p>
            <a:r>
              <a:rPr lang="en-US" altLang="zh-CN" dirty="0"/>
              <a:t>2.</a:t>
            </a:r>
            <a:r>
              <a:rPr lang="zh-CN" altLang="en-US" dirty="0"/>
              <a:t>分支和从属流</a:t>
            </a:r>
            <a:endParaRPr lang="zh-CN" altLang="en-US" dirty="0"/>
          </a:p>
        </p:txBody>
      </p:sp>
      <p:sp>
        <p:nvSpPr>
          <p:cNvPr id="4608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41988" name="内容占位符 5"/>
          <p:cNvSpPr>
            <a:spLocks noGrp="1" noChangeArrowheads="1"/>
          </p:cNvSpPr>
          <p:nvPr>
            <p:ph idx="1"/>
          </p:nvPr>
        </p:nvSpPr>
        <p:spPr>
          <a:xfrm>
            <a:off x="352425" y="1052513"/>
            <a:ext cx="8407400" cy="2676525"/>
          </a:xfrm>
        </p:spPr>
        <p:txBody>
          <a:bodyPr vert="horz" wrap="square" lIns="91440" tIns="45720" rIns="91440" bIns="45720" numCol="1" anchor="t" anchorCtr="0" compatLnSpc="1">
            <a:spAutoFit/>
          </a:bodyPr>
          <a:lstStyle/>
          <a:p>
            <a:pPr marL="195580" marR="0" lvl="0" indent="-195580" algn="just" defTabSz="914400" rtl="0" eaLnBrk="1" fontAlgn="base" latinLnBrk="0" hangingPunct="1">
              <a:lnSpc>
                <a:spcPct val="140000"/>
              </a:lnSpc>
              <a:spcBef>
                <a:spcPct val="0"/>
              </a:spcBef>
              <a:spcAft>
                <a:spcPct val="0"/>
              </a:spcAft>
              <a:buClrTx/>
              <a:buSzTx/>
              <a:buFontTx/>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有两种方式来修改顺序图的控制流：分支和从属流。控制流的改变是由于不同的条件导致控制流走向不同的道路。</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1" fontAlgn="base" latinLnBrk="0" hangingPunct="1">
              <a:lnSpc>
                <a:spcPct val="140000"/>
              </a:lnSpc>
              <a:spcBef>
                <a:spcPct val="0"/>
              </a:spcBef>
              <a:spcAft>
                <a:spcPct val="0"/>
              </a:spcAft>
              <a:buClrTx/>
              <a:buSzTx/>
              <a:buFont typeface="Wingdings" panose="05000000000000000000" pitchFamily="2" charset="2"/>
              <a:buNone/>
              <a:defRPr/>
            </a:pP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en-US" altLang="zh-CN"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r>
              <a:rPr kumimoji="0" lang="zh-CN" altLang="en-US"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分支允许控制流走向不同的对象</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，如下图所示。消息的开始位置是相同的，分支消息的结束“高度”也是相等的。这说明在下一步中，</a:t>
            </a:r>
            <a:r>
              <a:rPr kumimoji="0" lang="zh-CN" altLang="en-US" sz="20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其中之一</a:t>
            </a:r>
            <a:r>
              <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将会执行。</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0"/>
              </a:spcBef>
              <a:spcAft>
                <a:spcPct val="0"/>
              </a:spcAft>
              <a:buClrTx/>
              <a:buSzTx/>
              <a:buFontTx/>
              <a:buChar char="l"/>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graphicFrame>
        <p:nvGraphicFramePr>
          <p:cNvPr id="46085" name="对象 -2147482588"/>
          <p:cNvGraphicFramePr>
            <a:graphicFrameLocks noChangeAspect="1"/>
          </p:cNvGraphicFramePr>
          <p:nvPr/>
        </p:nvGraphicFramePr>
        <p:xfrm>
          <a:off x="1638300" y="3340100"/>
          <a:ext cx="6042025" cy="2886075"/>
        </p:xfrm>
        <a:graphic>
          <a:graphicData uri="http://schemas.openxmlformats.org/presentationml/2006/ole">
            <mc:AlternateContent xmlns:mc="http://schemas.openxmlformats.org/markup-compatibility/2006">
              <mc:Choice xmlns:v="urn:schemas-microsoft-com:vml" Requires="v">
                <p:oleObj spid="_x0000_s3082" name="" r:id="rId1" imgW="7663180" imgH="3200400" progId="Visio.Drawing.15">
                  <p:embed/>
                </p:oleObj>
              </mc:Choice>
              <mc:Fallback>
                <p:oleObj name="" r:id="rId1" imgW="7663180" imgH="3200400" progId="Visio.Drawing.15">
                  <p:embed/>
                  <p:pic>
                    <p:nvPicPr>
                      <p:cNvPr id="0" name="图片 3081"/>
                      <p:cNvPicPr/>
                      <p:nvPr/>
                    </p:nvPicPr>
                    <p:blipFill>
                      <a:blip r:embed="rId2"/>
                      <a:stretch>
                        <a:fillRect/>
                      </a:stretch>
                    </p:blipFill>
                    <p:spPr>
                      <a:xfrm>
                        <a:off x="1638300" y="3340100"/>
                        <a:ext cx="6042025" cy="2886075"/>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zh-CN" altLang="en-US" dirty="0"/>
              <a:t>从属流</a:t>
            </a:r>
            <a:endParaRPr lang="zh-CN" altLang="en-US" dirty="0"/>
          </a:p>
        </p:txBody>
      </p:sp>
      <p:sp>
        <p:nvSpPr>
          <p:cNvPr id="4710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47108" name="内容占位符 5"/>
          <p:cNvSpPr>
            <a:spLocks noGrp="1"/>
          </p:cNvSpPr>
          <p:nvPr>
            <p:ph idx="1"/>
          </p:nvPr>
        </p:nvSpPr>
        <p:spPr>
          <a:xfrm>
            <a:off x="774700" y="968375"/>
            <a:ext cx="7927975" cy="2738438"/>
          </a:xfrm>
          <a:ln/>
        </p:spPr>
        <p:txBody>
          <a:bodyPr vert="horz" wrap="square" lIns="91440" tIns="45720" rIns="91440" bIns="45720" anchor="t" anchorCtr="0">
            <a:spAutoFit/>
          </a:bodyPr>
          <a:p>
            <a:pPr>
              <a:buSzPct val="70000"/>
            </a:pPr>
            <a:r>
              <a:rPr lang="zh-CN" altLang="en-US" sz="2000" dirty="0">
                <a:solidFill>
                  <a:srgbClr val="C00000"/>
                </a:solidFill>
                <a:latin typeface="华文中宋" panose="02010600040101010101" pitchFamily="2" charset="-122"/>
                <a:ea typeface="华文中宋" panose="02010600040101010101" pitchFamily="2" charset="-122"/>
                <a:cs typeface="+mn-cs"/>
              </a:rPr>
              <a:t>从属流指的是从同一点发出多个消息指向同一个对象的不同生命线</a:t>
            </a:r>
            <a:r>
              <a:rPr lang="zh-CN" altLang="en-US" sz="2000" dirty="0">
                <a:latin typeface="华文中宋" panose="02010600040101010101" pitchFamily="2" charset="-122"/>
                <a:ea typeface="华文中宋" panose="02010600040101010101" pitchFamily="2" charset="-122"/>
                <a:cs typeface="+mn-cs"/>
              </a:rPr>
              <a:t>。</a:t>
            </a:r>
            <a:r>
              <a:rPr lang="zh-CN" altLang="en-US" sz="2000" dirty="0">
                <a:solidFill>
                  <a:schemeClr val="tx1"/>
                </a:solidFill>
                <a:latin typeface="华文中宋" panose="02010600040101010101" pitchFamily="2" charset="-122"/>
                <a:ea typeface="华文中宋" panose="02010600040101010101" pitchFamily="2" charset="-122"/>
                <a:cs typeface="+mn-cs"/>
              </a:rPr>
              <a:t>从属流还允许控制流根据条件改变</a:t>
            </a:r>
            <a:r>
              <a:rPr lang="zh-CN" altLang="en-US" sz="2000" dirty="0">
                <a:latin typeface="华文中宋" panose="02010600040101010101" pitchFamily="2" charset="-122"/>
                <a:ea typeface="华文中宋" panose="02010600040101010101" pitchFamily="2" charset="-122"/>
                <a:cs typeface="+mn-cs"/>
              </a:rPr>
              <a:t>，但是只允许控制流改变为相同对象的另一条生命线分支，如下图所示。</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在使用文字编辑器时，Editor在用户删除文件或者保存文件时向File System发送消息。显然，File System将会执行两种完全不同的活动，并且每一个工作流都需要独立的生命线，</a:t>
            </a:r>
            <a:endParaRPr lang="zh-CN" altLang="zh-CN" sz="2000" dirty="0">
              <a:latin typeface="华文中宋" panose="02010600040101010101" pitchFamily="2" charset="-122"/>
              <a:ea typeface="华文中宋" panose="02010600040101010101" pitchFamily="2" charset="-122"/>
              <a:cs typeface="+mn-cs"/>
            </a:endParaRPr>
          </a:p>
        </p:txBody>
      </p:sp>
      <p:graphicFrame>
        <p:nvGraphicFramePr>
          <p:cNvPr id="47109" name="对象 -2147482587"/>
          <p:cNvGraphicFramePr>
            <a:graphicFrameLocks noChangeAspect="1"/>
          </p:cNvGraphicFramePr>
          <p:nvPr/>
        </p:nvGraphicFramePr>
        <p:xfrm>
          <a:off x="1982788" y="3729038"/>
          <a:ext cx="4508500" cy="2652712"/>
        </p:xfrm>
        <a:graphic>
          <a:graphicData uri="http://schemas.openxmlformats.org/presentationml/2006/ole">
            <mc:AlternateContent xmlns:mc="http://schemas.openxmlformats.org/markup-compatibility/2006">
              <mc:Choice xmlns:v="urn:schemas-microsoft-com:vml" Requires="v">
                <p:oleObj spid="_x0000_s3083" name="" r:id="rId1" imgW="5277485" imgH="3110865" progId="Visio.Drawing.15">
                  <p:embed/>
                </p:oleObj>
              </mc:Choice>
              <mc:Fallback>
                <p:oleObj name="" r:id="rId1" imgW="5277485" imgH="3110865" progId="Visio.Drawing.15">
                  <p:embed/>
                  <p:pic>
                    <p:nvPicPr>
                      <p:cNvPr id="0" name="图片 3082"/>
                      <p:cNvPicPr/>
                      <p:nvPr/>
                    </p:nvPicPr>
                    <p:blipFill>
                      <a:blip r:embed="rId2"/>
                      <a:stretch>
                        <a:fillRect/>
                      </a:stretch>
                    </p:blipFill>
                    <p:spPr>
                      <a:xfrm>
                        <a:off x="1982788" y="3729038"/>
                        <a:ext cx="4508500" cy="2652712"/>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ln/>
        </p:spPr>
        <p:txBody>
          <a:bodyPr vert="horz" wrap="square" lIns="91440" tIns="45720" rIns="91440" bIns="45720" anchor="ctr" anchorCtr="0"/>
          <a:p>
            <a:r>
              <a:rPr lang="zh-CN" altLang="en-US" dirty="0"/>
              <a:t>创建顺序图</a:t>
            </a:r>
            <a:endParaRPr lang="zh-CN" altLang="en-US" dirty="0"/>
          </a:p>
        </p:txBody>
      </p:sp>
      <p:sp>
        <p:nvSpPr>
          <p:cNvPr id="4813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48132" name="内容占位符 5"/>
          <p:cNvSpPr>
            <a:spLocks noGrp="1"/>
          </p:cNvSpPr>
          <p:nvPr>
            <p:ph idx="1"/>
          </p:nvPr>
        </p:nvSpPr>
        <p:spPr>
          <a:xfrm>
            <a:off x="547688" y="981075"/>
            <a:ext cx="8596312" cy="3265488"/>
          </a:xfrm>
          <a:ln/>
        </p:spPr>
        <p:txBody>
          <a:bodyPr vert="horz" wrap="square" lIns="91440" tIns="45720" rIns="91440" bIns="45720" anchor="t" anchorCtr="0">
            <a:spAutoFit/>
          </a:bodyPr>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创建顺序图包含</a:t>
            </a: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项任务：</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）确定需要建模的工作流。</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）从左到右布置对象。</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）添加消息和条件以便创建每一个工作流。</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a:t>
            </a: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）绘制总图以便连接各个分图。       </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48133" name="文本框 2"/>
          <p:cNvSpPr txBox="1"/>
          <p:nvPr/>
        </p:nvSpPr>
        <p:spPr>
          <a:xfrm>
            <a:off x="323850" y="3644900"/>
            <a:ext cx="8280400" cy="2678113"/>
          </a:xfrm>
          <a:prstGeom prst="rect">
            <a:avLst/>
          </a:prstGeom>
          <a:noFill/>
          <a:ln w="9525">
            <a:noFill/>
          </a:ln>
        </p:spPr>
        <p:txBody>
          <a:bodyPr>
            <a:spAutoFit/>
          </a:bodyPr>
          <a:p>
            <a:pPr eaLnBrk="1" hangingPunct="1"/>
            <a:r>
              <a:rPr lang="zh-CN" altLang="en-US" b="0" dirty="0">
                <a:solidFill>
                  <a:srgbClr val="C00000"/>
                </a:solidFill>
                <a:latin typeface="华文中宋" panose="02010600040101010101" pitchFamily="2" charset="-122"/>
              </a:rPr>
              <a:t>例子：建模“教师查询学生分数”</a:t>
            </a:r>
            <a:endParaRPr lang="zh-CN" altLang="en-US" b="0" dirty="0">
              <a:solidFill>
                <a:srgbClr val="C00000"/>
              </a:solidFill>
              <a:latin typeface="华文中宋" panose="02010600040101010101" pitchFamily="2" charset="-122"/>
            </a:endParaRPr>
          </a:p>
          <a:p>
            <a:pPr eaLnBrk="1" hangingPunct="1"/>
            <a:r>
              <a:rPr lang="en-US" altLang="zh-CN" sz="2000" b="0" dirty="0">
                <a:solidFill>
                  <a:srgbClr val="C00000"/>
                </a:solidFill>
                <a:latin typeface="华文中宋" panose="02010600040101010101" pitchFamily="2" charset="-122"/>
              </a:rPr>
              <a:t>1</a:t>
            </a:r>
            <a:r>
              <a:rPr lang="zh-CN" altLang="en-US" sz="2000" b="0" dirty="0">
                <a:solidFill>
                  <a:srgbClr val="C00000"/>
                </a:solidFill>
                <a:latin typeface="华文中宋" panose="02010600040101010101" pitchFamily="2" charset="-122"/>
              </a:rPr>
              <a:t>．确定工作流</a:t>
            </a:r>
            <a:endParaRPr lang="zh-CN" altLang="en-US" sz="2000" b="0" dirty="0">
              <a:solidFill>
                <a:srgbClr val="C00000"/>
              </a:solidFill>
              <a:latin typeface="华文中宋" panose="02010600040101010101" pitchFamily="2" charset="-122"/>
            </a:endParaRPr>
          </a:p>
          <a:p>
            <a:pPr eaLnBrk="1" hangingPunct="1"/>
            <a:r>
              <a:rPr lang="zh-CN" altLang="en-US" sz="2000" b="0" dirty="0">
                <a:latin typeface="华文中宋" panose="02010600040101010101" pitchFamily="2" charset="-122"/>
              </a:rPr>
              <a:t> 建模顺序图的第一步是确定将要建模的工作流。为此，需要至少标识出</a:t>
            </a:r>
            <a:r>
              <a:rPr lang="en-US" altLang="zh-CN" sz="2000" b="0" dirty="0">
                <a:latin typeface="华文中宋" panose="02010600040101010101" pitchFamily="2" charset="-122"/>
              </a:rPr>
              <a:t>3</a:t>
            </a:r>
            <a:r>
              <a:rPr lang="zh-CN" altLang="en-US" sz="2000" b="0" dirty="0">
                <a:latin typeface="华文中宋" panose="02010600040101010101" pitchFamily="2" charset="-122"/>
              </a:rPr>
              <a:t>个要建模的工作流：</a:t>
            </a:r>
            <a:endParaRPr lang="zh-CN" altLang="en-US" sz="2000" b="0" dirty="0">
              <a:latin typeface="华文中宋" panose="02010600040101010101" pitchFamily="2" charset="-122"/>
            </a:endParaRPr>
          </a:p>
          <a:p>
            <a:pPr eaLnBrk="1" hangingPunct="1">
              <a:buChar char="•"/>
            </a:pPr>
            <a:r>
              <a:rPr lang="zh-CN" altLang="en-US" sz="2000" b="0" dirty="0">
                <a:latin typeface="华文中宋" panose="02010600040101010101" pitchFamily="2" charset="-122"/>
              </a:rPr>
              <a:t>    教师成功地检查学生分数</a:t>
            </a:r>
            <a:endParaRPr lang="zh-CN" altLang="en-US" sz="2000" b="0" dirty="0">
              <a:latin typeface="华文中宋" panose="02010600040101010101" pitchFamily="2" charset="-122"/>
            </a:endParaRPr>
          </a:p>
          <a:p>
            <a:pPr eaLnBrk="1" hangingPunct="1">
              <a:buChar char="•"/>
            </a:pPr>
            <a:r>
              <a:rPr lang="zh-CN" altLang="en-US" sz="2000" b="0" dirty="0">
                <a:latin typeface="华文中宋" panose="02010600040101010101" pitchFamily="2" charset="-122"/>
              </a:rPr>
              <a:t>    教师试图检查某个学生分数，但是该学生在系统中不存在。</a:t>
            </a:r>
            <a:endParaRPr lang="zh-CN" altLang="en-US" sz="2000" b="0" dirty="0">
              <a:latin typeface="华文中宋" panose="02010600040101010101" pitchFamily="2" charset="-122"/>
            </a:endParaRPr>
          </a:p>
          <a:p>
            <a:pPr eaLnBrk="1" hangingPunct="1">
              <a:buChar char="•"/>
            </a:pPr>
            <a:r>
              <a:rPr lang="zh-CN" altLang="en-US" sz="2000" b="0" dirty="0">
                <a:latin typeface="华文中宋" panose="02010600040101010101" pitchFamily="2" charset="-122"/>
              </a:rPr>
              <a:t>    教师试图检查某个学生分数，但是该学生分数在系统中不存在。</a:t>
            </a:r>
            <a:endParaRPr lang="zh-CN" altLang="en-US" sz="2000" b="0" dirty="0">
              <a:latin typeface="华文中宋" panose="02010600040101010101" pitchFamily="2" charset="-122"/>
            </a:endParaRPr>
          </a:p>
          <a:p>
            <a:endParaRPr lang="zh-CN" altLang="en-US" dirty="0">
              <a:latin typeface="华文中宋" panose="02010600040101010101" pitchFamily="2" charset="-122"/>
            </a:endParaRPr>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ln/>
        </p:spPr>
        <p:txBody>
          <a:bodyPr vert="horz" wrap="square" lIns="91440" tIns="45720" rIns="91440" bIns="45720" anchor="ctr" anchorCtr="0"/>
          <a:p>
            <a:r>
              <a:rPr lang="zh-CN" altLang="en-US" dirty="0"/>
              <a:t>创建顺序图</a:t>
            </a:r>
            <a:endParaRPr lang="zh-CN" altLang="en-US" dirty="0"/>
          </a:p>
        </p:txBody>
      </p:sp>
      <p:sp>
        <p:nvSpPr>
          <p:cNvPr id="4915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49156" name="内容占位符 5"/>
          <p:cNvSpPr>
            <a:spLocks noGrp="1"/>
          </p:cNvSpPr>
          <p:nvPr>
            <p:ph idx="1"/>
          </p:nvPr>
        </p:nvSpPr>
        <p:spPr>
          <a:xfrm>
            <a:off x="917575" y="981075"/>
            <a:ext cx="7712075" cy="112395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建模顺序图的下一步是从左到右布置所有的参与者和对象，包含要添加消息的对象生命线，如下图所示。</a:t>
            </a:r>
            <a:endParaRPr lang="zh-CN" altLang="en-US" dirty="0">
              <a:latin typeface="华文中宋" panose="02010600040101010101" pitchFamily="2" charset="-122"/>
              <a:ea typeface="华文中宋" panose="02010600040101010101" pitchFamily="2" charset="-122"/>
              <a:cs typeface="+mn-cs"/>
            </a:endParaRPr>
          </a:p>
        </p:txBody>
      </p:sp>
      <p:pic>
        <p:nvPicPr>
          <p:cNvPr id="49157" name="Picture 3"/>
          <p:cNvPicPr>
            <a:picLocks noChangeAspect="1"/>
          </p:cNvPicPr>
          <p:nvPr/>
        </p:nvPicPr>
        <p:blipFill>
          <a:blip r:embed="rId1"/>
          <a:stretch>
            <a:fillRect/>
          </a:stretch>
        </p:blipFill>
        <p:spPr>
          <a:xfrm>
            <a:off x="1247775" y="2822575"/>
            <a:ext cx="6416675" cy="2557463"/>
          </a:xfrm>
          <a:prstGeom prst="rect">
            <a:avLst/>
          </a:prstGeom>
          <a:noFill/>
          <a:ln w="9525">
            <a:noFill/>
          </a:ln>
        </p:spPr>
      </p:pic>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3"/>
          <p:cNvPicPr>
            <a:picLocks noChangeAspect="1"/>
          </p:cNvPicPr>
          <p:nvPr/>
        </p:nvPicPr>
        <p:blipFill>
          <a:blip r:embed="rId1"/>
          <a:stretch>
            <a:fillRect/>
          </a:stretch>
        </p:blipFill>
        <p:spPr>
          <a:xfrm>
            <a:off x="927100" y="2306638"/>
            <a:ext cx="7362825" cy="3822700"/>
          </a:xfrm>
          <a:prstGeom prst="rect">
            <a:avLst/>
          </a:prstGeom>
          <a:noFill/>
          <a:ln w="9525">
            <a:noFill/>
          </a:ln>
        </p:spPr>
      </p:pic>
      <p:sp>
        <p:nvSpPr>
          <p:cNvPr id="50179" name="标题 1"/>
          <p:cNvSpPr>
            <a:spLocks noGrp="1"/>
          </p:cNvSpPr>
          <p:nvPr>
            <p:ph type="title"/>
          </p:nvPr>
        </p:nvSpPr>
        <p:spPr>
          <a:ln/>
        </p:spPr>
        <p:txBody>
          <a:bodyPr vert="horz" wrap="square" lIns="91440" tIns="45720" rIns="91440" bIns="45720" anchor="ctr" anchorCtr="0"/>
          <a:p>
            <a:r>
              <a:rPr lang="zh-CN" altLang="en-US" dirty="0"/>
              <a:t>创建顺序图</a:t>
            </a:r>
            <a:endParaRPr lang="zh-CN" altLang="en-US" dirty="0"/>
          </a:p>
        </p:txBody>
      </p:sp>
      <p:sp>
        <p:nvSpPr>
          <p:cNvPr id="50180"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0181" name="内容占位符 5"/>
          <p:cNvSpPr>
            <a:spLocks noGrp="1"/>
          </p:cNvSpPr>
          <p:nvPr>
            <p:ph idx="1"/>
          </p:nvPr>
        </p:nvSpPr>
        <p:spPr>
          <a:xfrm>
            <a:off x="306388" y="1052513"/>
            <a:ext cx="8604250" cy="1016000"/>
          </a:xfrm>
          <a:ln/>
        </p:spPr>
        <p:txBody>
          <a:bodyPr vert="horz" wrap="square" lIns="91440" tIns="45720" rIns="91440" bIns="45720" anchor="t" anchorCtr="0">
            <a:spAutoFit/>
          </a:bodyPr>
          <a:p>
            <a:pPr>
              <a:lnSpc>
                <a:spcPct val="100000"/>
              </a:lnSpc>
              <a:buSzPct val="70000"/>
            </a:pPr>
            <a:r>
              <a:rPr lang="zh-CN" altLang="en-US" sz="2000" dirty="0">
                <a:latin typeface="华文中宋" panose="02010600040101010101" pitchFamily="2" charset="-122"/>
                <a:ea typeface="华文中宋" panose="02010600040101010101" pitchFamily="2" charset="-122"/>
                <a:cs typeface="+mn-cs"/>
              </a:rPr>
              <a:t>接下来，</a:t>
            </a:r>
            <a:r>
              <a:rPr lang="zh-CN" altLang="en-US" sz="2000" dirty="0">
                <a:solidFill>
                  <a:srgbClr val="C00000"/>
                </a:solidFill>
                <a:latin typeface="华文中宋" panose="02010600040101010101" pitchFamily="2" charset="-122"/>
                <a:ea typeface="华文中宋" panose="02010600040101010101" pitchFamily="2" charset="-122"/>
                <a:cs typeface="+mn-cs"/>
              </a:rPr>
              <a:t>对每一个工作流作为独立的顺序图建模</a:t>
            </a:r>
            <a:r>
              <a:rPr lang="zh-CN" altLang="en-US" sz="2000" dirty="0">
                <a:latin typeface="华文中宋" panose="02010600040101010101" pitchFamily="2" charset="-122"/>
                <a:ea typeface="华文中宋" panose="02010600040101010101" pitchFamily="2" charset="-122"/>
                <a:cs typeface="+mn-cs"/>
              </a:rPr>
              <a:t>。从基本的工作流开始，它是没有出错条件，并且需要最少决策的工作流。在本例中，</a:t>
            </a:r>
            <a:r>
              <a:rPr lang="zh-CN" altLang="en-US" sz="2000" dirty="0">
                <a:solidFill>
                  <a:srgbClr val="C00000"/>
                </a:solidFill>
                <a:latin typeface="华文中宋" panose="02010600040101010101" pitchFamily="2" charset="-122"/>
                <a:ea typeface="华文中宋" panose="02010600040101010101" pitchFamily="2" charset="-122"/>
                <a:cs typeface="+mn-cs"/>
              </a:rPr>
              <a:t>基本工作流是教师成功地检查某个学生的分数</a:t>
            </a:r>
            <a:r>
              <a:rPr lang="zh-CN" altLang="en-US" sz="2000" dirty="0">
                <a:latin typeface="华文中宋" panose="02010600040101010101" pitchFamily="2" charset="-122"/>
                <a:ea typeface="华文中宋" panose="02010600040101010101" pitchFamily="2" charset="-122"/>
                <a:cs typeface="+mn-cs"/>
              </a:rPr>
              <a:t>，如下图所示。</a:t>
            </a:r>
            <a:endParaRPr lang="zh-CN" altLang="en-US" sz="2000"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zh-CN" altLang="en-US" dirty="0"/>
              <a:t>创建顺序图</a:t>
            </a:r>
            <a:endParaRPr lang="zh-CN" altLang="en-US" dirty="0"/>
          </a:p>
        </p:txBody>
      </p:sp>
      <p:sp>
        <p:nvSpPr>
          <p:cNvPr id="5120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51204" name="Picture 3"/>
          <p:cNvPicPr>
            <a:picLocks noChangeAspect="1"/>
          </p:cNvPicPr>
          <p:nvPr/>
        </p:nvPicPr>
        <p:blipFill>
          <a:blip r:embed="rId1"/>
          <a:stretch>
            <a:fillRect/>
          </a:stretch>
        </p:blipFill>
        <p:spPr>
          <a:xfrm>
            <a:off x="1052513" y="1812925"/>
            <a:ext cx="6967537" cy="4038600"/>
          </a:xfrm>
          <a:prstGeom prst="rect">
            <a:avLst/>
          </a:prstGeom>
          <a:noFill/>
          <a:ln w="9525">
            <a:noFill/>
          </a:ln>
        </p:spPr>
      </p:pic>
      <p:sp>
        <p:nvSpPr>
          <p:cNvPr id="12" name="内容占位符 5"/>
          <p:cNvSpPr txBox="1"/>
          <p:nvPr/>
        </p:nvSpPr>
        <p:spPr bwMode="auto">
          <a:xfrm>
            <a:off x="250825" y="1025525"/>
            <a:ext cx="8569325" cy="708025"/>
          </a:xfrm>
          <a:prstGeom prst="rect">
            <a:avLst/>
          </a:prstGeom>
          <a:noFill/>
          <a:ln>
            <a:noFill/>
          </a:ln>
          <a:effectLst/>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400">
                <a:solidFill>
                  <a:schemeClr val="tx1"/>
                </a:solidFill>
                <a:latin typeface="华文中宋" panose="02010600040101010101" pitchFamily="2" charset="-122"/>
                <a:ea typeface="华文中宋" panose="02010600040101010101" pitchFamily="2" charset="-122"/>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sz="2000">
                <a:solidFill>
                  <a:schemeClr val="tx1"/>
                </a:solidFill>
                <a:latin typeface="华文中宋" panose="02010600040101010101" pitchFamily="2" charset="-122"/>
                <a:ea typeface="华文中宋" panose="02010600040101010101" pitchFamily="2" charset="-122"/>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800">
                <a:solidFill>
                  <a:schemeClr val="tx1"/>
                </a:solidFill>
                <a:latin typeface="华文中宋" panose="02010600040101010101" pitchFamily="2" charset="-122"/>
                <a:ea typeface="华文中宋" panose="02010600040101010101" pitchFamily="2" charset="-122"/>
              </a:defRPr>
            </a:lvl3pPr>
            <a:lvl4pPr marL="1510030" indent="-228600" algn="just" rtl="0" eaLnBrk="0" fontAlgn="base" hangingPunct="0">
              <a:lnSpc>
                <a:spcPct val="140000"/>
              </a:lnSpc>
              <a:spcBef>
                <a:spcPct val="20000"/>
              </a:spcBef>
              <a:spcAft>
                <a:spcPct val="0"/>
              </a:spcAft>
              <a:buChar char="–"/>
              <a:defRPr sz="1600">
                <a:solidFill>
                  <a:schemeClr val="tx1"/>
                </a:solidFill>
                <a:latin typeface="华文中宋" panose="02010600040101010101" pitchFamily="2" charset="-122"/>
                <a:ea typeface="华文中宋" panose="02010600040101010101" pitchFamily="2" charset="-122"/>
              </a:defRPr>
            </a:lvl4pPr>
            <a:lvl5pPr marL="1929130" indent="-228600" algn="just" rtl="0" eaLnBrk="0" fontAlgn="base" hangingPunct="0">
              <a:lnSpc>
                <a:spcPct val="140000"/>
              </a:lnSpc>
              <a:spcBef>
                <a:spcPct val="20000"/>
              </a:spcBef>
              <a:spcAft>
                <a:spcPct val="0"/>
              </a:spcAft>
              <a:buChar char="»"/>
              <a:defRPr sz="1400">
                <a:solidFill>
                  <a:schemeClr val="tx1"/>
                </a:solidFill>
                <a:latin typeface="华文中宋" panose="02010600040101010101" pitchFamily="2" charset="-122"/>
                <a:ea typeface="华文中宋" panose="02010600040101010101" pitchFamily="2" charset="-122"/>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a:lstStyle>
          <a:p>
            <a:pPr marL="195580" marR="0" lvl="0" indent="-195580" algn="just"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注意选择适当的消息类型（异步、同步、简单和返回）。接下来以独立的顺序图建模从属工作流。</a:t>
            </a:r>
            <a:r>
              <a:rPr kumimoji="0" lang="zh-CN" altLang="en-US" sz="2000" b="0" i="0" u="none" strike="noStrike" kern="120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此处只建模否定的条件</a:t>
            </a:r>
            <a:r>
              <a:rPr kumimoji="0" lang="zh-CN" altLang="en-US" sz="2000" b="0" i="0" u="none" strike="noStrike" kern="120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，如下图所示。</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zh-CN" altLang="en-US" dirty="0"/>
              <a:t>创建顺序图</a:t>
            </a:r>
            <a:endParaRPr lang="zh-CN" altLang="en-US" dirty="0"/>
          </a:p>
        </p:txBody>
      </p:sp>
      <p:sp>
        <p:nvSpPr>
          <p:cNvPr id="5222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2228" name="内容占位符 4"/>
          <p:cNvSpPr>
            <a:spLocks noGrp="1"/>
          </p:cNvSpPr>
          <p:nvPr>
            <p:ph idx="1"/>
          </p:nvPr>
        </p:nvSpPr>
        <p:spPr>
          <a:xfrm>
            <a:off x="468313" y="981075"/>
            <a:ext cx="8280400" cy="473075"/>
          </a:xfrm>
          <a:ln/>
        </p:spPr>
        <p:txBody>
          <a:bodyPr vert="horz" wrap="square" lIns="91440" tIns="45720" rIns="91440" bIns="45720" anchor="t" anchorCtr="0">
            <a:spAutoFit/>
          </a:bodyPr>
          <a:p>
            <a:pPr>
              <a:buSzPct val="70000"/>
            </a:pPr>
            <a:r>
              <a:rPr lang="zh-CN" altLang="en-US" sz="2000" dirty="0">
                <a:latin typeface="华文中宋" panose="02010600040101010101" pitchFamily="2" charset="-122"/>
                <a:ea typeface="华文中宋" panose="02010600040101010101" pitchFamily="2" charset="-122"/>
                <a:cs typeface="+mn-cs"/>
              </a:rPr>
              <a:t>学生没分数，注意</a:t>
            </a:r>
            <a:r>
              <a:rPr lang="zh-CN" altLang="en-US" sz="2000" dirty="0">
                <a:solidFill>
                  <a:srgbClr val="FF0000"/>
                </a:solidFill>
                <a:latin typeface="华文中宋" panose="02010600040101010101" pitchFamily="2" charset="-122"/>
                <a:ea typeface="华文中宋" panose="02010600040101010101" pitchFamily="2" charset="-122"/>
                <a:cs typeface="+mn-cs"/>
              </a:rPr>
              <a:t>使用条件</a:t>
            </a:r>
            <a:r>
              <a:rPr lang="zh-CN" altLang="en-US" sz="2000" dirty="0">
                <a:latin typeface="华文中宋" panose="02010600040101010101" pitchFamily="2" charset="-122"/>
                <a:ea typeface="华文中宋" panose="02010600040101010101" pitchFamily="2" charset="-122"/>
                <a:cs typeface="+mn-cs"/>
              </a:rPr>
              <a:t>来指示在什么时候发送什么消息，如下图所示。</a:t>
            </a:r>
            <a:endParaRPr lang="zh-CN" altLang="en-US" sz="2000" dirty="0">
              <a:latin typeface="华文中宋" panose="02010600040101010101" pitchFamily="2" charset="-122"/>
              <a:ea typeface="华文中宋" panose="02010600040101010101" pitchFamily="2" charset="-122"/>
              <a:cs typeface="+mn-cs"/>
            </a:endParaRPr>
          </a:p>
        </p:txBody>
      </p:sp>
      <p:pic>
        <p:nvPicPr>
          <p:cNvPr id="52229" name="Picture 3"/>
          <p:cNvPicPr>
            <a:picLocks noChangeAspect="1"/>
          </p:cNvPicPr>
          <p:nvPr/>
        </p:nvPicPr>
        <p:blipFill>
          <a:blip r:embed="rId1"/>
          <a:stretch>
            <a:fillRect/>
          </a:stretch>
        </p:blipFill>
        <p:spPr>
          <a:xfrm>
            <a:off x="755650" y="1844675"/>
            <a:ext cx="7427913" cy="4321175"/>
          </a:xfrm>
          <a:prstGeom prst="rect">
            <a:avLst/>
          </a:prstGeom>
          <a:noFill/>
          <a:ln w="9525">
            <a:noFill/>
          </a:ln>
        </p:spPr>
      </p:pic>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1"/>
          <p:cNvSpPr>
            <a:spLocks noGrp="1"/>
          </p:cNvSpPr>
          <p:nvPr>
            <p:ph type="title"/>
          </p:nvPr>
        </p:nvSpPr>
        <p:spPr>
          <a:ln/>
        </p:spPr>
        <p:txBody>
          <a:bodyPr vert="horz" wrap="square" lIns="91440" tIns="45720" rIns="91440" bIns="45720" anchor="ctr" anchorCtr="0"/>
          <a:p>
            <a:r>
              <a:rPr lang="zh-CN" altLang="en-US" dirty="0"/>
              <a:t>绘制总图</a:t>
            </a:r>
            <a:endParaRPr lang="zh-CN" altLang="en-US" dirty="0"/>
          </a:p>
        </p:txBody>
      </p:sp>
      <p:sp>
        <p:nvSpPr>
          <p:cNvPr id="5325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3252" name="内容占位符 4"/>
          <p:cNvSpPr>
            <a:spLocks noGrp="1"/>
          </p:cNvSpPr>
          <p:nvPr>
            <p:ph idx="1"/>
          </p:nvPr>
        </p:nvSpPr>
        <p:spPr>
          <a:xfrm>
            <a:off x="323850" y="1379538"/>
            <a:ext cx="8278813" cy="3856037"/>
          </a:xfrm>
          <a:ln/>
        </p:spPr>
        <p:txBody>
          <a:bodyPr vert="horz" wrap="square" lIns="91440" tIns="45720" rIns="91440" bIns="45720" anchor="t" anchorCtr="0">
            <a:spAutoFit/>
          </a:bodyPr>
          <a:p>
            <a:pPr eaLnBrk="1" hangingPunct="1">
              <a:lnSpc>
                <a:spcPct val="160000"/>
              </a:lnSpc>
              <a:spcBef>
                <a:spcPct val="0"/>
              </a:spcBef>
              <a:buClrTx/>
              <a:buSzTx/>
              <a:buFontTx/>
              <a:buNone/>
            </a:pP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．绘制总图</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建模顺序图的最后一步是</a:t>
            </a:r>
            <a:r>
              <a:rPr lang="zh-CN" altLang="en-US" dirty="0">
                <a:solidFill>
                  <a:srgbClr val="C00000"/>
                </a:solidFill>
                <a:latin typeface="华文中宋" panose="02010600040101010101" pitchFamily="2" charset="-122"/>
                <a:ea typeface="华文中宋" panose="02010600040101010101" pitchFamily="2" charset="-122"/>
                <a:cs typeface="+mn-cs"/>
              </a:rPr>
              <a:t>把所有独立的工作流连接为一个总图</a:t>
            </a:r>
            <a:r>
              <a:rPr lang="zh-CN" altLang="en-US" dirty="0">
                <a:latin typeface="华文中宋" panose="02010600040101010101" pitchFamily="2" charset="-122"/>
                <a:ea typeface="华文中宋" panose="02010600040101010101" pitchFamily="2" charset="-122"/>
                <a:cs typeface="+mn-cs"/>
              </a:rPr>
              <a:t>，如下图所示。 </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在此阶段，如果觉得前面的消息和交互对于当前的顺序图过于详细，可以让它们更加泛化一些，但是在软件建模的下一个阶段，就会觉得初始的各个顺序图越详细越好。</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a:ln/>
        </p:spPr>
        <p:txBody>
          <a:bodyPr vert="horz" wrap="square" lIns="91440" tIns="45720" rIns="91440" bIns="45720" anchor="ctr" anchorCtr="0"/>
          <a:p>
            <a:r>
              <a:rPr lang="zh-CN" altLang="en-US" dirty="0"/>
              <a:t>绘制总图</a:t>
            </a:r>
            <a:endParaRPr lang="zh-CN" altLang="en-US" dirty="0"/>
          </a:p>
        </p:txBody>
      </p:sp>
      <p:sp>
        <p:nvSpPr>
          <p:cNvPr id="5427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54276" name="Picture 2"/>
          <p:cNvPicPr>
            <a:picLocks noChangeAspect="1"/>
          </p:cNvPicPr>
          <p:nvPr/>
        </p:nvPicPr>
        <p:blipFill>
          <a:blip r:embed="rId1"/>
          <a:stretch>
            <a:fillRect/>
          </a:stretch>
        </p:blipFill>
        <p:spPr>
          <a:xfrm>
            <a:off x="179388" y="1052513"/>
            <a:ext cx="8640762" cy="5348287"/>
          </a:xfrm>
          <a:prstGeom prst="rect">
            <a:avLst/>
          </a:prstGeom>
          <a:noFill/>
          <a:ln w="9525">
            <a:noFill/>
          </a:ln>
        </p:spPr>
      </p:pic>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zh-CN" altLang="en-US" dirty="0"/>
              <a:t>练习</a:t>
            </a:r>
            <a:endParaRPr lang="zh-CN" altLang="en-US" dirty="0"/>
          </a:p>
        </p:txBody>
      </p:sp>
      <p:sp>
        <p:nvSpPr>
          <p:cNvPr id="5529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5300" name="内容占位符 4"/>
          <p:cNvSpPr>
            <a:spLocks noGrp="1"/>
          </p:cNvSpPr>
          <p:nvPr>
            <p:ph idx="1"/>
          </p:nvPr>
        </p:nvSpPr>
        <p:spPr>
          <a:xfrm>
            <a:off x="876300" y="1700213"/>
            <a:ext cx="7391400" cy="2179637"/>
          </a:xfrm>
          <a:ln/>
        </p:spPr>
        <p:txBody>
          <a:bodyPr vert="horz" wrap="square" lIns="91440" tIns="45720" rIns="91440" bIns="45720" anchor="t" anchorCtr="0">
            <a:spAutoFit/>
          </a:bodyPr>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练习：建模一个</a:t>
            </a:r>
            <a:r>
              <a:rPr lang="en-US" altLang="zh-CN" dirty="0">
                <a:latin typeface="华文中宋" panose="02010600040101010101" pitchFamily="2" charset="-122"/>
                <a:ea typeface="华文中宋" panose="02010600040101010101" pitchFamily="2" charset="-122"/>
                <a:cs typeface="+mn-cs"/>
              </a:rPr>
              <a:t>ATM</a:t>
            </a:r>
            <a:r>
              <a:rPr lang="zh-CN" altLang="en-US" dirty="0">
                <a:latin typeface="华文中宋" panose="02010600040101010101" pitchFamily="2" charset="-122"/>
                <a:ea typeface="华文中宋" panose="02010600040101010101" pitchFamily="2" charset="-122"/>
                <a:cs typeface="+mn-cs"/>
              </a:rPr>
              <a:t>取款机取款的过程顺序图</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a:t>
            </a:r>
            <a:endParaRPr lang="zh-CN" altLang="en-US" dirty="0">
              <a:latin typeface="华文中宋" panose="02010600040101010101" pitchFamily="2" charset="-122"/>
              <a:ea typeface="华文中宋" panose="02010600040101010101" pitchFamily="2" charset="-122"/>
              <a:cs typeface="+mn-cs"/>
            </a:endParaRPr>
          </a:p>
          <a:p>
            <a:pPr eaLnBrk="1" hangingPunct="1">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对象：读卡机、</a:t>
            </a:r>
            <a:r>
              <a:rPr lang="en-US" altLang="zh-CN" dirty="0">
                <a:latin typeface="华文中宋" panose="02010600040101010101" pitchFamily="2" charset="-122"/>
                <a:ea typeface="华文中宋" panose="02010600040101010101" pitchFamily="2" charset="-122"/>
                <a:cs typeface="+mn-cs"/>
              </a:rPr>
              <a:t>ATM</a:t>
            </a:r>
            <a:r>
              <a:rPr lang="zh-CN" altLang="en-US" dirty="0">
                <a:latin typeface="华文中宋" panose="02010600040101010101" pitchFamily="2" charset="-122"/>
                <a:ea typeface="华文中宋" panose="02010600040101010101" pitchFamily="2" charset="-122"/>
                <a:cs typeface="+mn-cs"/>
              </a:rPr>
              <a:t>屏幕、账户、出钱机</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zh-CN" altLang="en-US" dirty="0"/>
              <a:t>练习</a:t>
            </a:r>
            <a:endParaRPr lang="zh-CN" altLang="en-US" dirty="0"/>
          </a:p>
        </p:txBody>
      </p:sp>
      <p:sp>
        <p:nvSpPr>
          <p:cNvPr id="5632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pic>
        <p:nvPicPr>
          <p:cNvPr id="56324" name="Picture 2"/>
          <p:cNvPicPr>
            <a:picLocks noChangeAspect="1"/>
          </p:cNvPicPr>
          <p:nvPr/>
        </p:nvPicPr>
        <p:blipFill>
          <a:blip r:embed="rId1"/>
          <a:stretch>
            <a:fillRect/>
          </a:stretch>
        </p:blipFill>
        <p:spPr>
          <a:xfrm>
            <a:off x="250825" y="1052513"/>
            <a:ext cx="8569325" cy="5300662"/>
          </a:xfrm>
          <a:prstGeom prst="rect">
            <a:avLst/>
          </a:prstGeom>
          <a:noFill/>
          <a:ln w="9525">
            <a:noFill/>
          </a:ln>
        </p:spPr>
      </p:pic>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en-US" altLang="zh-CN" dirty="0"/>
              <a:t>8.3.3 </a:t>
            </a:r>
            <a:r>
              <a:rPr lang="zh-CN" altLang="en-US" dirty="0"/>
              <a:t>协作图</a:t>
            </a:r>
            <a:endParaRPr lang="zh-CN" altLang="en-US" dirty="0"/>
          </a:p>
        </p:txBody>
      </p:sp>
      <p:sp>
        <p:nvSpPr>
          <p:cNvPr id="57347"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7348" name="内容占位符 4"/>
          <p:cNvSpPr>
            <a:spLocks noGrp="1"/>
          </p:cNvSpPr>
          <p:nvPr>
            <p:ph idx="1"/>
          </p:nvPr>
        </p:nvSpPr>
        <p:spPr>
          <a:xfrm>
            <a:off x="250825" y="995363"/>
            <a:ext cx="8642350" cy="1568450"/>
          </a:xfrm>
          <a:ln/>
        </p:spPr>
        <p:txBody>
          <a:bodyPr vert="horz" wrap="square" lIns="91440" tIns="45720" rIns="91440" bIns="45720" anchor="t" anchorCtr="0">
            <a:spAutoFit/>
          </a:bodyPr>
          <a:p>
            <a:pPr eaLnBrk="1" hangingPunct="1">
              <a:lnSpc>
                <a:spcPct val="100000"/>
              </a:lnSpc>
              <a:spcBef>
                <a:spcPct val="0"/>
              </a:spcBef>
              <a:buClrTx/>
              <a:buSzTx/>
              <a:buFontTx/>
              <a:buNone/>
            </a:pPr>
            <a:r>
              <a:rPr lang="zh-CN" altLang="en-US" dirty="0">
                <a:solidFill>
                  <a:srgbClr val="C00000"/>
                </a:solidFill>
                <a:latin typeface="华文中宋" panose="02010600040101010101" pitchFamily="2" charset="-122"/>
                <a:ea typeface="华文中宋" panose="02010600040101010101" pitchFamily="2" charset="-122"/>
                <a:cs typeface="+mn-cs"/>
              </a:rPr>
              <a:t>一、协作图</a:t>
            </a:r>
            <a:endParaRPr lang="zh-CN" altLang="en-US" dirty="0">
              <a:solidFill>
                <a:srgbClr val="C00000"/>
              </a:solidFill>
              <a:latin typeface="华文中宋" panose="02010600040101010101" pitchFamily="2" charset="-122"/>
              <a:ea typeface="华文中宋" panose="02010600040101010101" pitchFamily="2" charset="-122"/>
              <a:cs typeface="+mn-cs"/>
            </a:endParaRPr>
          </a:p>
          <a:p>
            <a:pPr eaLnBrk="1" hangingPunct="1">
              <a:lnSpc>
                <a:spcPct val="100000"/>
              </a:lnSpc>
              <a:spcBef>
                <a:spcPct val="0"/>
              </a:spcBef>
              <a:buClrTx/>
              <a:buSzTx/>
              <a:buFontTx/>
              <a:buNone/>
            </a:pPr>
            <a:r>
              <a:rPr lang="zh-CN" altLang="en-US" dirty="0">
                <a:latin typeface="华文中宋" panose="02010600040101010101" pitchFamily="2" charset="-122"/>
                <a:ea typeface="华文中宋" panose="02010600040101010101" pitchFamily="2" charset="-122"/>
                <a:cs typeface="+mn-cs"/>
              </a:rPr>
              <a:t>    协作图描述系统的行为是如何由系统的成分合作实现的。要想使由类构成的系统具有功能，</a:t>
            </a:r>
            <a:r>
              <a:rPr lang="zh-CN" altLang="en-US" dirty="0">
                <a:solidFill>
                  <a:srgbClr val="C00000"/>
                </a:solidFill>
                <a:latin typeface="华文中宋" panose="02010600040101010101" pitchFamily="2" charset="-122"/>
                <a:ea typeface="华文中宋" panose="02010600040101010101" pitchFamily="2" charset="-122"/>
                <a:cs typeface="+mn-cs"/>
              </a:rPr>
              <a:t>这些类的实例（对象）需要彼此通信和交互。</a:t>
            </a:r>
            <a:r>
              <a:rPr lang="zh-CN" altLang="en-US" dirty="0">
                <a:latin typeface="华文中宋" panose="02010600040101010101" pitchFamily="2" charset="-122"/>
                <a:ea typeface="华文中宋" panose="02010600040101010101" pitchFamily="2" charset="-122"/>
                <a:cs typeface="+mn-cs"/>
              </a:rPr>
              <a:t>换句话说，它们需要协作。</a:t>
            </a:r>
            <a:endParaRPr lang="zh-CN" altLang="en-US" dirty="0">
              <a:latin typeface="华文中宋" panose="02010600040101010101" pitchFamily="2" charset="-122"/>
              <a:ea typeface="华文中宋" panose="02010600040101010101" pitchFamily="2" charset="-122"/>
              <a:cs typeface="+mn-cs"/>
            </a:endParaRPr>
          </a:p>
        </p:txBody>
      </p:sp>
      <p:pic>
        <p:nvPicPr>
          <p:cNvPr id="57349" name="Picture 3"/>
          <p:cNvPicPr>
            <a:picLocks noChangeAspect="1"/>
          </p:cNvPicPr>
          <p:nvPr/>
        </p:nvPicPr>
        <p:blipFill>
          <a:blip r:embed="rId1"/>
          <a:stretch>
            <a:fillRect/>
          </a:stretch>
        </p:blipFill>
        <p:spPr>
          <a:xfrm>
            <a:off x="1892300" y="2700338"/>
            <a:ext cx="4978400" cy="3376612"/>
          </a:xfrm>
          <a:prstGeom prst="rect">
            <a:avLst/>
          </a:prstGeom>
          <a:noFill/>
          <a:ln w="9525">
            <a:noFill/>
          </a:ln>
        </p:spPr>
      </p:pic>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1"/>
          <p:cNvSpPr>
            <a:spLocks noGrp="1"/>
          </p:cNvSpPr>
          <p:nvPr>
            <p:ph type="title"/>
          </p:nvPr>
        </p:nvSpPr>
        <p:spPr>
          <a:ln/>
        </p:spPr>
        <p:txBody>
          <a:bodyPr vert="horz" wrap="square" lIns="91440" tIns="45720" rIns="91440" bIns="45720" anchor="ctr" anchorCtr="0"/>
          <a:p>
            <a:r>
              <a:rPr lang="zh-CN" altLang="en-US" dirty="0"/>
              <a:t>协作图</a:t>
            </a:r>
            <a:endParaRPr lang="zh-CN" altLang="en-US" dirty="0"/>
          </a:p>
        </p:txBody>
      </p:sp>
      <p:sp>
        <p:nvSpPr>
          <p:cNvPr id="58371"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t>　　</a:t>
            </a:r>
            <a:fld id="{9A0DB2DC-4C9A-4742-B13C-FB6460FD3503}" type="slidenum">
              <a:rPr lang="" altLang="zh-CN" sz="1800" dirty="0"/>
            </a:fld>
            <a:r>
              <a:rPr lang="" altLang="zh-CN" sz="1800" dirty="0"/>
              <a:t>　　　　　　</a:t>
            </a:r>
            <a:endParaRPr lang="" altLang="zh-CN" sz="1800" dirty="0"/>
          </a:p>
        </p:txBody>
      </p:sp>
      <p:sp>
        <p:nvSpPr>
          <p:cNvPr id="58372" name="内容占位符 4"/>
          <p:cNvSpPr>
            <a:spLocks noGrp="1"/>
          </p:cNvSpPr>
          <p:nvPr>
            <p:ph idx="1"/>
          </p:nvPr>
        </p:nvSpPr>
        <p:spPr>
          <a:xfrm>
            <a:off x="107950" y="935038"/>
            <a:ext cx="8785225" cy="549275"/>
          </a:xfrm>
          <a:ln/>
        </p:spPr>
        <p:txBody>
          <a:bodyPr vert="horz" wrap="square" lIns="91440" tIns="45720" rIns="91440" bIns="45720" anchor="t" anchorCtr="0">
            <a:spAutoFit/>
          </a:bodyPr>
          <a:p>
            <a:pPr>
              <a:buSzPct val="70000"/>
            </a:pPr>
            <a:r>
              <a:rPr lang="zh-CN" altLang="en-US" dirty="0">
                <a:solidFill>
                  <a:srgbClr val="000066"/>
                </a:solidFill>
                <a:latin typeface="华文中宋" panose="02010600040101010101" pitchFamily="2" charset="-122"/>
                <a:ea typeface="华文中宋" panose="02010600040101010101" pitchFamily="2" charset="-122"/>
                <a:cs typeface="+mn-cs"/>
              </a:rPr>
              <a:t>协作图中的事物及解释</a:t>
            </a:r>
            <a:endParaRPr lang="zh-CN" altLang="en-US" dirty="0">
              <a:solidFill>
                <a:srgbClr val="000066"/>
              </a:solidFill>
              <a:latin typeface="华文中宋" panose="02010600040101010101" pitchFamily="2" charset="-122"/>
              <a:ea typeface="华文中宋" panose="02010600040101010101" pitchFamily="2" charset="-122"/>
              <a:cs typeface="+mn-cs"/>
            </a:endParaRPr>
          </a:p>
        </p:txBody>
      </p:sp>
      <p:graphicFrame>
        <p:nvGraphicFramePr>
          <p:cNvPr id="3" name="Group 60"/>
          <p:cNvGraphicFramePr>
            <a:graphicFrameLocks noGrp="1"/>
          </p:cNvGraphicFramePr>
          <p:nvPr/>
        </p:nvGraphicFramePr>
        <p:xfrm>
          <a:off x="314325" y="1482725"/>
          <a:ext cx="8569325" cy="2889250"/>
        </p:xfrm>
        <a:graphic>
          <a:graphicData uri="http://schemas.openxmlformats.org/drawingml/2006/table">
            <a:tbl>
              <a:tblPr/>
              <a:tblGrid>
                <a:gridCol w="1498600"/>
                <a:gridCol w="4806950"/>
                <a:gridCol w="2263775"/>
              </a:tblGrid>
              <a:tr h="3657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事物名称</a:t>
                      </a:r>
                      <a:endParaRPr kumimoji="1" lang="zh-CN" altLang="en-US" sz="18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解释</a:t>
                      </a:r>
                      <a:endPar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rPr>
                        <a:t>图</a:t>
                      </a:r>
                      <a:endParaRPr kumimoji="1" lang="zh-CN" altLang="en-US" sz="1800" b="0" i="0" u="none" strike="noStrike" cap="none" normalizeH="0" baseline="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1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参与者</a:t>
                      </a:r>
                      <a:endPar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endParaRPr>
                    </a:p>
                  </a:txBody>
                  <a:tcPr marT="45692" marB="4569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发出主动操作的对象，负责发送初始消息，启动一个操作。</a:t>
                      </a:r>
                      <a:endParaRPr kumimoji="1" lang="ja-JP"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endParaRPr kumimoji="1" lang="zh-CN"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488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对象</a:t>
                      </a:r>
                      <a:endPar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endParaRPr kumimoji="1" lang="en-US" altLang="zh-CN" sz="1800" b="0" i="0" u="none" strike="noStrike" cap="none" normalizeH="0" baseline="0" dirty="0">
                        <a:ln>
                          <a:noFill/>
                        </a:ln>
                        <a:solidFill>
                          <a:srgbClr val="FF3300"/>
                        </a:solidFill>
                        <a:effectLst/>
                        <a:latin typeface="华文中宋" panose="02010600040101010101" pitchFamily="2" charset="-122"/>
                        <a:ea typeface="华文中宋" panose="02010600040101010101" pitchFamily="2" charset="-122"/>
                      </a:endParaRPr>
                    </a:p>
                  </a:txBody>
                  <a:tcPr marT="45692" marB="4569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对象是类的实例，负责发送和接收消息，冒号前为对象名，冒号后为类名。</a:t>
                      </a:r>
                      <a:endParaRPr kumimoji="1" lang="ja-JP"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endParaRPr kumimoji="1" lang="zh-CN"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8865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消息流</a:t>
                      </a:r>
                      <a:endPar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en-US"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a:t>
                      </a: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由箭头和标签组成</a:t>
                      </a:r>
                      <a:r>
                        <a:rPr kumimoji="1" lang="en-US"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a:t>
                      </a:r>
                      <a:endParaRPr kumimoji="1" lang="en-US"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箭头指示消息的流向，从消息的发出者指向接收者。标签对消息作说明，其中，</a:t>
                      </a:r>
                      <a:r>
                        <a:rPr kumimoji="1" lang="zh-CN" altLang="en-US" sz="1800" b="0" i="0" u="none" strike="noStrike" cap="none" normalizeH="0" baseline="0" dirty="0">
                          <a:ln>
                            <a:noFill/>
                          </a:ln>
                          <a:solidFill>
                            <a:srgbClr val="C00000"/>
                          </a:solidFill>
                          <a:effectLst/>
                          <a:latin typeface="华文中宋" panose="02010600040101010101" pitchFamily="2" charset="-122"/>
                          <a:ea typeface="华文中宋" panose="02010600040101010101" pitchFamily="2" charset="-122"/>
                        </a:rPr>
                        <a:t>顺序号</a:t>
                      </a:r>
                      <a:r>
                        <a:rPr kumimoji="1" lang="zh-CN"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rPr>
                        <a:t>指出消息的发生顺序，并且指明了消息的嵌套关系；冒号后面是消息的名字。</a:t>
                      </a:r>
                      <a:endParaRPr kumimoji="1" lang="ja-JP" altLang="en-US"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endParaRPr kumimoji="1" lang="zh-CN" altLang="zh-CN" sz="18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endParaRPr>
                    </a:p>
                  </a:txBody>
                  <a:tcPr marT="45692" marB="4569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Group 59"/>
          <p:cNvGraphicFramePr>
            <a:graphicFrameLocks noGrp="1"/>
          </p:cNvGraphicFramePr>
          <p:nvPr/>
        </p:nvGraphicFramePr>
        <p:xfrm>
          <a:off x="398463" y="5084763"/>
          <a:ext cx="8516938" cy="1039813"/>
        </p:xfrm>
        <a:graphic>
          <a:graphicData uri="http://schemas.openxmlformats.org/drawingml/2006/table">
            <a:tbl>
              <a:tblPr/>
              <a:tblGrid>
                <a:gridCol w="1446212"/>
                <a:gridCol w="5032375"/>
                <a:gridCol w="2038350"/>
              </a:tblGrid>
              <a:tr h="39979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关系名称</a:t>
                      </a:r>
                      <a:endParaRPr kumimoji="1" lang="ja-JP"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marT="45691" marB="456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解释</a:t>
                      </a:r>
                      <a:endParaRPr kumimoji="1" lang="ja-JP"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rPr>
                        <a:t>关系实例</a:t>
                      </a:r>
                      <a:endParaRPr kumimoji="1" lang="ja-JP" altLang="en-US" sz="1800" b="0" i="0" u="none" strike="noStrike" cap="none" normalizeH="0" baseline="0">
                        <a:ln>
                          <a:noFill/>
                        </a:ln>
                        <a:solidFill>
                          <a:schemeClr val="tx1"/>
                        </a:solidFill>
                        <a:effectLst/>
                        <a:latin typeface="Times New Roman" panose="02020603050405020304" pitchFamily="18" charset="0"/>
                        <a:ea typeface="仿宋_GB2312" panose="02010609030101010101" pitchFamily="49" charset="-122"/>
                      </a:endParaRP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00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rgbClr val="C00000"/>
                          </a:solidFill>
                          <a:effectLst/>
                          <a:latin typeface="Times New Roman" panose="02020603050405020304" pitchFamily="18" charset="0"/>
                          <a:ea typeface="仿宋_GB2312" panose="02010609030101010101" pitchFamily="49" charset="-122"/>
                        </a:rPr>
                        <a:t>链接</a:t>
                      </a:r>
                      <a:endParaRPr kumimoji="1" lang="ja-JP" altLang="en-US" sz="1800" b="0" i="0" u="none" strike="noStrike" cap="none" normalizeH="0" baseline="0" dirty="0">
                        <a:ln>
                          <a:noFill/>
                        </a:ln>
                        <a:solidFill>
                          <a:srgbClr val="C00000"/>
                        </a:solidFill>
                        <a:effectLst/>
                        <a:latin typeface="Times New Roman" panose="02020603050405020304" pitchFamily="18" charset="0"/>
                        <a:ea typeface="仿宋_GB2312" panose="02010609030101010101" pitchFamily="49" charset="-122"/>
                      </a:endParaRPr>
                    </a:p>
                  </a:txBody>
                  <a:tcPr marT="45691" marB="4569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r>
                        <a:rPr kumimoji="1" lang="zh-CN" altLang="en-US" sz="1800" b="0"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rPr>
                        <a:t>用线条来表示链接，链接表示两个对象共享一个消息，位于对象之间或参与者与对象之间</a:t>
                      </a:r>
                      <a:endParaRPr kumimoji="1" lang="ja-JP" altLang="en-US" sz="1800" b="0"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endParaRPr>
                    </a:p>
                  </a:txBody>
                  <a:tcPr marT="45691" marB="456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pPr>
                      <a:endParaRPr kumimoji="1" lang="zh-CN" altLang="zh-CN" sz="1800" b="0" i="0" u="none" strike="noStrike" cap="none" normalizeH="0" baseline="0" dirty="0">
                        <a:ln>
                          <a:noFill/>
                        </a:ln>
                        <a:solidFill>
                          <a:schemeClr val="tx1"/>
                        </a:solidFill>
                        <a:effectLst/>
                        <a:latin typeface="Times New Roman" panose="02020603050405020304" pitchFamily="18" charset="0"/>
                        <a:ea typeface="仿宋_GB2312" panose="02010609030101010101" pitchFamily="49" charset="-122"/>
                      </a:endParaRPr>
                    </a:p>
                  </a:txBody>
                  <a:tcPr marT="45691" marB="456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内容占位符 4"/>
          <p:cNvSpPr txBox="1"/>
          <p:nvPr/>
        </p:nvSpPr>
        <p:spPr bwMode="auto">
          <a:xfrm>
            <a:off x="107950" y="4357688"/>
            <a:ext cx="3725863" cy="549275"/>
          </a:xfrm>
          <a:prstGeom prst="rect">
            <a:avLst/>
          </a:prstGeom>
          <a:noFill/>
          <a:ln>
            <a:noFill/>
          </a:ln>
          <a:effectLst/>
        </p:spPr>
        <p:txBody>
          <a:bodyPr>
            <a:spAutoFit/>
          </a:bodyPr>
          <a:lst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400">
                <a:solidFill>
                  <a:schemeClr val="tx1"/>
                </a:solidFill>
                <a:latin typeface="华文中宋" panose="02010600040101010101" pitchFamily="2" charset="-122"/>
                <a:ea typeface="华文中宋" panose="02010600040101010101" pitchFamily="2" charset="-122"/>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sz="2000">
                <a:solidFill>
                  <a:schemeClr val="tx1"/>
                </a:solidFill>
                <a:latin typeface="华文中宋" panose="02010600040101010101" pitchFamily="2" charset="-122"/>
                <a:ea typeface="华文中宋" panose="02010600040101010101" pitchFamily="2" charset="-122"/>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800">
                <a:solidFill>
                  <a:schemeClr val="tx1"/>
                </a:solidFill>
                <a:latin typeface="华文中宋" panose="02010600040101010101" pitchFamily="2" charset="-122"/>
                <a:ea typeface="华文中宋" panose="02010600040101010101" pitchFamily="2" charset="-122"/>
              </a:defRPr>
            </a:lvl3pPr>
            <a:lvl4pPr marL="1510030" indent="-228600" algn="just" rtl="0" eaLnBrk="0" fontAlgn="base" hangingPunct="0">
              <a:lnSpc>
                <a:spcPct val="140000"/>
              </a:lnSpc>
              <a:spcBef>
                <a:spcPct val="20000"/>
              </a:spcBef>
              <a:spcAft>
                <a:spcPct val="0"/>
              </a:spcAft>
              <a:buChar char="–"/>
              <a:defRPr sz="1600">
                <a:solidFill>
                  <a:schemeClr val="tx1"/>
                </a:solidFill>
                <a:latin typeface="华文中宋" panose="02010600040101010101" pitchFamily="2" charset="-122"/>
                <a:ea typeface="华文中宋" panose="02010600040101010101" pitchFamily="2" charset="-122"/>
              </a:defRPr>
            </a:lvl4pPr>
            <a:lvl5pPr marL="1929130" indent="-228600" algn="just" rtl="0" eaLnBrk="0" fontAlgn="base" hangingPunct="0">
              <a:lnSpc>
                <a:spcPct val="140000"/>
              </a:lnSpc>
              <a:spcBef>
                <a:spcPct val="20000"/>
              </a:spcBef>
              <a:spcAft>
                <a:spcPct val="0"/>
              </a:spcAft>
              <a:buChar char="»"/>
              <a:defRPr sz="1400">
                <a:solidFill>
                  <a:schemeClr val="tx1"/>
                </a:solidFill>
                <a:latin typeface="华文中宋" panose="02010600040101010101" pitchFamily="2" charset="-122"/>
                <a:ea typeface="华文中宋" panose="02010600040101010101" pitchFamily="2" charset="-122"/>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rPr>
              <a:t>协作图中的关系及解释</a:t>
            </a:r>
            <a:endParaRPr kumimoji="0" lang="zh-CN" altLang="en-US" sz="2400" b="0" i="0" u="none" strike="noStrike" kern="0" cap="none" spc="0" normalizeH="0" baseline="0" noProof="0" dirty="0">
              <a:ln>
                <a:noFill/>
              </a:ln>
              <a:solidFill>
                <a:srgbClr val="000066"/>
              </a:solidFill>
              <a:effectLst/>
              <a:uLnTx/>
              <a:uFillTx/>
              <a:latin typeface="华文中宋" panose="02010600040101010101" pitchFamily="2" charset="-122"/>
              <a:ea typeface="华文中宋" panose="02010600040101010101" pitchFamily="2" charset="-122"/>
              <a:cs typeface="+mn-cs"/>
            </a:endParaRPr>
          </a:p>
        </p:txBody>
      </p:sp>
      <p:pic>
        <p:nvPicPr>
          <p:cNvPr id="58410" name="Picture 34"/>
          <p:cNvPicPr>
            <a:picLocks noChangeAspect="1"/>
          </p:cNvPicPr>
          <p:nvPr/>
        </p:nvPicPr>
        <p:blipFill>
          <a:blip r:embed="rId1"/>
          <a:stretch>
            <a:fillRect/>
          </a:stretch>
        </p:blipFill>
        <p:spPr>
          <a:xfrm>
            <a:off x="7253288" y="2027238"/>
            <a:ext cx="990600" cy="609600"/>
          </a:xfrm>
          <a:prstGeom prst="rect">
            <a:avLst/>
          </a:prstGeom>
          <a:noFill/>
          <a:ln w="9525">
            <a:noFill/>
          </a:ln>
        </p:spPr>
      </p:pic>
      <p:pic>
        <p:nvPicPr>
          <p:cNvPr id="58411" name="Picture 35"/>
          <p:cNvPicPr>
            <a:picLocks noChangeAspect="1"/>
          </p:cNvPicPr>
          <p:nvPr/>
        </p:nvPicPr>
        <p:blipFill>
          <a:blip r:embed="rId2"/>
          <a:stretch>
            <a:fillRect/>
          </a:stretch>
        </p:blipFill>
        <p:spPr>
          <a:xfrm>
            <a:off x="6927850" y="2708275"/>
            <a:ext cx="1676400" cy="415925"/>
          </a:xfrm>
          <a:prstGeom prst="rect">
            <a:avLst/>
          </a:prstGeom>
          <a:noFill/>
          <a:ln w="9525">
            <a:noFill/>
          </a:ln>
        </p:spPr>
      </p:pic>
      <p:sp>
        <p:nvSpPr>
          <p:cNvPr id="17" name="Line 36"/>
          <p:cNvSpPr>
            <a:spLocks noChangeShapeType="1"/>
          </p:cNvSpPr>
          <p:nvPr/>
        </p:nvSpPr>
        <p:spPr bwMode="auto">
          <a:xfrm>
            <a:off x="6948488" y="3644900"/>
            <a:ext cx="1600200" cy="0"/>
          </a:xfrm>
          <a:prstGeom prst="line">
            <a:avLst/>
          </a:prstGeom>
          <a:noFill/>
          <a:ln w="9525">
            <a:solidFill>
              <a:schemeClr val="tx1"/>
            </a:solidFill>
            <a:round/>
            <a:tailEnd type="arrow" w="med" len="med"/>
          </a:ln>
          <a:effectLst/>
        </p:spPr>
        <p:txBody>
          <a:bodyPr/>
          <a:lstStyle/>
          <a:p>
            <a:pPr marL="0" marR="0" lvl="0" indent="0" algn="l" defTabSz="914400" rtl="0" eaLnBrk="1" fontAlgn="base" latinLnBrk="0" hangingPunct="1">
              <a:lnSpc>
                <a:spcPct val="7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outerShdw blurRad="38100" dist="38100" dir="2700000" algn="tl">
                  <a:srgbClr val="000000">
                    <a:alpha val="43137"/>
                  </a:srgbClr>
                </a:outerShdw>
              </a:effectLst>
              <a:uLnTx/>
              <a:uFillTx/>
              <a:latin typeface="华文中宋" panose="02010600040101010101" pitchFamily="2" charset="-122"/>
              <a:ea typeface="华文中宋" panose="02010600040101010101" pitchFamily="2" charset="-122"/>
              <a:cs typeface="+mn-cs"/>
            </a:endParaRPr>
          </a:p>
        </p:txBody>
      </p:sp>
      <p:sp>
        <p:nvSpPr>
          <p:cNvPr id="58413" name="Text Box 37"/>
          <p:cNvSpPr txBox="1"/>
          <p:nvPr/>
        </p:nvSpPr>
        <p:spPr>
          <a:xfrm>
            <a:off x="7423150" y="3797300"/>
            <a:ext cx="838200" cy="366713"/>
          </a:xfrm>
          <a:prstGeom prst="rect">
            <a:avLst/>
          </a:prstGeom>
          <a:noFill/>
          <a:ln w="9525">
            <a:noFill/>
          </a:ln>
        </p:spPr>
        <p:txBody>
          <a:bodyPr>
            <a:spAutoFit/>
          </a:bodyPr>
          <a:p>
            <a:pPr eaLnBrk="1" hangingPunct="1">
              <a:spcBef>
                <a:spcPct val="50000"/>
              </a:spcBef>
            </a:pPr>
            <a:r>
              <a:rPr lang="zh-CN" altLang="en-US" sz="1800" dirty="0">
                <a:solidFill>
                  <a:srgbClr val="000066"/>
                </a:solidFill>
                <a:latin typeface="华文中宋" panose="02010600040101010101" pitchFamily="2" charset="-122"/>
              </a:rPr>
              <a:t>标签</a:t>
            </a:r>
            <a:endParaRPr lang="ja-JP" altLang="en-US" sz="1800" dirty="0">
              <a:solidFill>
                <a:srgbClr val="000066"/>
              </a:solidFill>
              <a:latin typeface="华文中宋" panose="02010600040101010101" pitchFamily="2" charset="-122"/>
            </a:endParaRP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标题 1"/>
          <p:cNvSpPr>
            <a:spLocks noGrp="1"/>
          </p:cNvSpPr>
          <p:nvPr>
            <p:ph type="title"/>
          </p:nvPr>
        </p:nvSpPr>
        <p:spPr>
          <a:ln/>
        </p:spPr>
        <p:txBody>
          <a:bodyPr vert="horz" wrap="square" lIns="91440" tIns="45720" rIns="91440" bIns="45720" anchor="ctr" anchorCtr="0"/>
          <a:p>
            <a:r>
              <a:rPr lang="zh-CN" altLang="en-US" dirty="0"/>
              <a:t>协作图例子</a:t>
            </a:r>
            <a:endParaRPr lang="zh-CN" altLang="en-US" dirty="0"/>
          </a:p>
        </p:txBody>
      </p:sp>
      <p:sp>
        <p:nvSpPr>
          <p:cNvPr id="5939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9396" name="内容占位符 4"/>
          <p:cNvSpPr>
            <a:spLocks noGrp="1"/>
          </p:cNvSpPr>
          <p:nvPr>
            <p:ph idx="1"/>
          </p:nvPr>
        </p:nvSpPr>
        <p:spPr>
          <a:xfrm>
            <a:off x="250825" y="952500"/>
            <a:ext cx="7391400" cy="546100"/>
          </a:xfrm>
          <a:ln/>
        </p:spPr>
        <p:txBody>
          <a:bodyPr vert="horz" wrap="square" lIns="91440" tIns="45720" rIns="91440" bIns="45720" anchor="t" anchorCtr="0">
            <a:spAutoFit/>
          </a:bodyPr>
          <a:p>
            <a:pPr>
              <a:buSzPct val="70000"/>
            </a:pPr>
            <a:r>
              <a:rPr lang="zh-CN" altLang="en-US" dirty="0">
                <a:solidFill>
                  <a:srgbClr val="000066"/>
                </a:solidFill>
                <a:latin typeface="+mn-lt"/>
                <a:ea typeface="+mn-ea"/>
                <a:cs typeface="+mn-cs"/>
              </a:rPr>
              <a:t>协作图例子</a:t>
            </a:r>
            <a:endParaRPr lang="zh-CN" altLang="en-US" dirty="0">
              <a:solidFill>
                <a:srgbClr val="000066"/>
              </a:solidFill>
              <a:latin typeface="+mn-lt"/>
              <a:ea typeface="+mn-ea"/>
              <a:cs typeface="+mn-cs"/>
            </a:endParaRPr>
          </a:p>
        </p:txBody>
      </p:sp>
      <p:sp>
        <p:nvSpPr>
          <p:cNvPr id="8" name="AutoShape 9"/>
          <p:cNvSpPr>
            <a:spLocks noChangeArrowheads="1"/>
          </p:cNvSpPr>
          <p:nvPr/>
        </p:nvSpPr>
        <p:spPr bwMode="auto">
          <a:xfrm>
            <a:off x="3887788" y="1050925"/>
            <a:ext cx="5256213" cy="1219200"/>
          </a:xfrm>
          <a:prstGeom prst="wedgeRoundRectCallout">
            <a:avLst>
              <a:gd name="adj1" fmla="val -818"/>
              <a:gd name="adj2" fmla="val 84192"/>
              <a:gd name="adj3" fmla="val 16667"/>
            </a:avLst>
          </a:prstGeom>
          <a:solidFill>
            <a:schemeClr val="accent1">
              <a:lumMod val="20000"/>
              <a:lumOff val="80000"/>
            </a:schemeClr>
          </a:solidFill>
          <a:ln w="9525">
            <a:solidFill>
              <a:schemeClr val="tx1"/>
            </a:solidFill>
            <a:miter lim="800000"/>
          </a:ln>
        </p:spPr>
        <p:txBody>
          <a:bodyPr/>
          <a:lstStyle>
            <a:lvl1pPr>
              <a:spcBef>
                <a:spcPct val="20000"/>
              </a:spcBef>
              <a:buClr>
                <a:schemeClr val="hlink"/>
              </a:buClr>
              <a:buSzPct val="50000"/>
              <a:buFont typeface="Monotype Sorts" pitchFamily="2" charset="2"/>
              <a:buChar char="n"/>
              <a:defRPr kumimoji="1" sz="2800" b="1">
                <a:solidFill>
                  <a:schemeClr val="tx1"/>
                </a:solidFill>
                <a:latin typeface="Times New Roman" panose="02020603050405020304" pitchFamily="18" charset="0"/>
                <a:ea typeface="仿宋_GB2312" panose="02010609030101010101" pitchFamily="49" charset="-122"/>
              </a:defRPr>
            </a:lvl1pPr>
            <a:lvl2pPr marL="742950" indent="-285750">
              <a:spcBef>
                <a:spcPct val="20000"/>
              </a:spcBef>
              <a:buClr>
                <a:schemeClr val="tx2"/>
              </a:buClr>
              <a:buSzPct val="75000"/>
              <a:buFont typeface="Monotype Sorts" pitchFamily="2" charset="2"/>
              <a:buChar char="u"/>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Monotype Sorts" pitchFamily="2" charset="2"/>
              <a:buChar char="F"/>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100000"/>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100000"/>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100000"/>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100000"/>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100000"/>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100000"/>
              <a:buChar char="–"/>
              <a:defRPr kumimoji="1"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actor</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发送</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Print</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消息给</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Computer</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Computer</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发送</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Print</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消息给</a:t>
            </a:r>
            <a:r>
              <a:rPr kumimoji="1" lang="en-US" altLang="zh-CN" sz="20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PrintServer</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，如果打印机空闲，</a:t>
            </a:r>
            <a:r>
              <a:rPr kumimoji="1" lang="en-US" altLang="zh-CN" sz="2000" b="0"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PrintServer</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发送</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Print</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消息给</a:t>
            </a:r>
            <a:r>
              <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printer</a:t>
            </a:r>
            <a:endParaRPr kumimoji="1" lang="en-US" altLang="ja-JP" sz="200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59398" name="对象 -2147482586"/>
          <p:cNvGraphicFramePr>
            <a:graphicFrameLocks noChangeAspect="1"/>
          </p:cNvGraphicFramePr>
          <p:nvPr/>
        </p:nvGraphicFramePr>
        <p:xfrm>
          <a:off x="1633538" y="2365375"/>
          <a:ext cx="5876925" cy="3819525"/>
        </p:xfrm>
        <a:graphic>
          <a:graphicData uri="http://schemas.openxmlformats.org/presentationml/2006/ole">
            <mc:AlternateContent xmlns:mc="http://schemas.openxmlformats.org/markup-compatibility/2006">
              <mc:Choice xmlns:v="urn:schemas-microsoft-com:vml" Requires="v">
                <p:oleObj spid="_x0000_s3085" name="" r:id="rId1" imgW="4965700" imgH="3238500" progId="Visio.Drawing.15">
                  <p:embed/>
                </p:oleObj>
              </mc:Choice>
              <mc:Fallback>
                <p:oleObj name="" r:id="rId1" imgW="4965700" imgH="3238500" progId="Visio.Drawing.15">
                  <p:embed/>
                  <p:pic>
                    <p:nvPicPr>
                      <p:cNvPr id="0" name="图片 3084"/>
                      <p:cNvPicPr/>
                      <p:nvPr/>
                    </p:nvPicPr>
                    <p:blipFill>
                      <a:blip r:embed="rId2"/>
                      <a:stretch>
                        <a:fillRect/>
                      </a:stretch>
                    </p:blipFill>
                    <p:spPr>
                      <a:xfrm>
                        <a:off x="1633538" y="2365375"/>
                        <a:ext cx="5876925" cy="3819525"/>
                      </a:xfrm>
                      <a:prstGeom prst="rect">
                        <a:avLst/>
                      </a:prstGeom>
                      <a:noFill/>
                      <a:ln w="38100">
                        <a:noFill/>
                        <a:miter/>
                      </a:ln>
                    </p:spPr>
                  </p:pic>
                </p:oleObj>
              </mc:Fallback>
            </mc:AlternateContent>
          </a:graphicData>
        </a:graphic>
      </p:graphicFrame>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zh-CN" altLang="en-US" dirty="0"/>
              <a:t>协作图例子</a:t>
            </a:r>
            <a:endParaRPr lang="zh-CN" altLang="en-US" dirty="0"/>
          </a:p>
        </p:txBody>
      </p:sp>
      <p:sp>
        <p:nvSpPr>
          <p:cNvPr id="6041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60420" name="内容占位符 4"/>
          <p:cNvSpPr>
            <a:spLocks noGrp="1"/>
          </p:cNvSpPr>
          <p:nvPr>
            <p:ph idx="1"/>
          </p:nvPr>
        </p:nvSpPr>
        <p:spPr>
          <a:xfrm>
            <a:off x="3024188" y="908050"/>
            <a:ext cx="3095625" cy="541338"/>
          </a:xfrm>
          <a:ln/>
        </p:spPr>
        <p:txBody>
          <a:bodyPr vert="horz" wrap="square" lIns="91440" tIns="45720" rIns="91440" bIns="45720" anchor="t" anchorCtr="0">
            <a:spAutoFit/>
          </a:bodyPr>
          <a:p>
            <a:pPr marL="0" indent="0">
              <a:buSzPct val="70000"/>
              <a:buFont typeface="Wingdings" panose="05000000000000000000" pitchFamily="2" charset="2"/>
              <a:buNone/>
            </a:pPr>
            <a:r>
              <a:rPr lang="zh-CN" altLang="en-US" b="1" dirty="0">
                <a:solidFill>
                  <a:srgbClr val="C00000"/>
                </a:solidFill>
                <a:latin typeface="Tahoma" panose="020B0604030504040204" pitchFamily="34" charset="0"/>
                <a:ea typeface="+mn-ea"/>
                <a:cs typeface="+mn-cs"/>
              </a:rPr>
              <a:t>取款机取钱的协作图</a:t>
            </a:r>
            <a:endParaRPr lang="zh-CN" altLang="en-US" b="1" dirty="0">
              <a:solidFill>
                <a:srgbClr val="C00000"/>
              </a:solidFill>
              <a:latin typeface="Tahoma" panose="020B0604030504040204" pitchFamily="34" charset="0"/>
              <a:ea typeface="+mn-ea"/>
              <a:cs typeface="+mn-cs"/>
            </a:endParaRPr>
          </a:p>
        </p:txBody>
      </p:sp>
      <p:pic>
        <p:nvPicPr>
          <p:cNvPr id="60421" name="Picture 2"/>
          <p:cNvPicPr>
            <a:picLocks noChangeAspect="1"/>
          </p:cNvPicPr>
          <p:nvPr/>
        </p:nvPicPr>
        <p:blipFill>
          <a:blip r:embed="rId1"/>
          <a:stretch>
            <a:fillRect/>
          </a:stretch>
        </p:blipFill>
        <p:spPr>
          <a:xfrm>
            <a:off x="468313" y="1412875"/>
            <a:ext cx="8207375" cy="5003800"/>
          </a:xfrm>
          <a:prstGeom prst="rect">
            <a:avLst/>
          </a:prstGeom>
          <a:noFill/>
          <a:ln w="9525">
            <a:noFill/>
          </a:ln>
        </p:spPr>
      </p:pic>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序列图和协作图区别</a:t>
            </a:r>
            <a:endParaRPr lang="zh-CN" altLang="en-US" dirty="0"/>
          </a:p>
        </p:txBody>
      </p:sp>
      <p:sp>
        <p:nvSpPr>
          <p:cNvPr id="6144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 name="内容占位符 4"/>
          <p:cNvSpPr>
            <a:spLocks noGrp="1"/>
          </p:cNvSpPr>
          <p:nvPr>
            <p:ph idx="1"/>
          </p:nvPr>
        </p:nvSpPr>
        <p:spPr>
          <a:xfrm>
            <a:off x="323850" y="1379538"/>
            <a:ext cx="8496300" cy="461010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序列图和协作图区别</a:t>
            </a:r>
            <a:endParaRPr kumimoji="0" lang="en-US" altLang="zh-CN" sz="2800" b="1"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序列图和协作图都可以表示对象间的交互关系，但它们的侧重点不同。</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序列图用消息的几何排列关系来表达对象间交互消息的先后时间顺序。</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1" fontAlgn="base" latinLnBrk="0" hangingPunct="1">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而协作图则建模对象（或角色）间的通信关系。一般适合大于</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个参与者的情况。</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标题 1"/>
          <p:cNvSpPr>
            <a:spLocks noGrp="1"/>
          </p:cNvSpPr>
          <p:nvPr>
            <p:ph type="title"/>
          </p:nvPr>
        </p:nvSpPr>
        <p:spPr>
          <a:ln/>
        </p:spPr>
        <p:txBody>
          <a:bodyPr vert="horz" wrap="square" lIns="91440" tIns="45720" rIns="91440" bIns="45720" anchor="ctr" anchorCtr="0"/>
          <a:p>
            <a:r>
              <a:rPr lang="en-US" altLang="zh-CN" dirty="0"/>
              <a:t>8.4 </a:t>
            </a:r>
            <a:r>
              <a:rPr lang="zh-CN" altLang="en-US" dirty="0"/>
              <a:t>实现图</a:t>
            </a:r>
            <a:endParaRPr lang="zh-CN" altLang="en-US" dirty="0"/>
          </a:p>
        </p:txBody>
      </p:sp>
      <p:sp>
        <p:nvSpPr>
          <p:cNvPr id="2" name="内容占位符 2"/>
          <p:cNvSpPr>
            <a:spLocks noGrp="1"/>
          </p:cNvSpPr>
          <p:nvPr>
            <p:ph idx="1"/>
          </p:nvPr>
        </p:nvSpPr>
        <p:spPr>
          <a:xfrm>
            <a:off x="827088" y="1379538"/>
            <a:ext cx="7632700" cy="4759325"/>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8.4.1 </a:t>
            </a:r>
            <a:r>
              <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构件图</a:t>
            </a:r>
            <a:endPar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为了实现基于构件（模块）软件开发的设计思想，我们必须将系统划分为若干个可管理的子系统，再把子系统中的类用接口进行封装，以便组成构件内部高内聚</a:t>
            </a:r>
            <a:r>
              <a:rPr kumimoji="0" lang="en-US" altLang="zh-CN"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(High Cohesion)</a:t>
            </a:r>
            <a:r>
              <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、构件之间松耦合</a:t>
            </a:r>
            <a:r>
              <a:rPr kumimoji="0" lang="en-US" altLang="zh-CN"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(Loose Coupling)</a:t>
            </a:r>
            <a:r>
              <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rPr>
              <a:t>的结构。</a:t>
            </a:r>
            <a:endPar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6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1">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246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zh-CN" altLang="en-US" dirty="0"/>
              <a:t>构件图</a:t>
            </a:r>
            <a:endParaRPr lang="zh-CN" altLang="en-US" dirty="0"/>
          </a:p>
        </p:txBody>
      </p:sp>
      <p:sp>
        <p:nvSpPr>
          <p:cNvPr id="63491" name="内容占位符 2"/>
          <p:cNvSpPr>
            <a:spLocks noGrp="1"/>
          </p:cNvSpPr>
          <p:nvPr>
            <p:ph idx="1"/>
          </p:nvPr>
        </p:nvSpPr>
        <p:spPr>
          <a:xfrm>
            <a:off x="827088" y="1379538"/>
            <a:ext cx="7726362" cy="4248150"/>
          </a:xfrm>
          <a:ln/>
        </p:spPr>
        <p:txBody>
          <a:bodyPr vert="horz" wrap="square" lIns="91440" tIns="45720" rIns="91440" bIns="45720" anchor="t" anchorCtr="0">
            <a:spAutoFit/>
          </a:bodyPr>
          <a:p>
            <a:pPr>
              <a:buSzPct val="70000"/>
            </a:pPr>
            <a:r>
              <a:rPr lang="zh-CN" altLang="zh-CN" sz="2600" dirty="0">
                <a:latin typeface="华文中宋" panose="02010600040101010101" pitchFamily="2" charset="-122"/>
                <a:ea typeface="华文中宋" panose="02010600040101010101" pitchFamily="2" charset="-122"/>
                <a:cs typeface="+mn-cs"/>
              </a:rPr>
              <a:t>构件图为系统中的构件建模</a:t>
            </a:r>
            <a:endParaRPr lang="zh-CN" altLang="zh-CN" sz="2600" dirty="0">
              <a:latin typeface="华文中宋" panose="02010600040101010101" pitchFamily="2" charset="-122"/>
              <a:ea typeface="华文中宋" panose="02010600040101010101" pitchFamily="2" charset="-122"/>
              <a:cs typeface="+mn-cs"/>
            </a:endParaRPr>
          </a:p>
          <a:p>
            <a:pPr>
              <a:buSzPct val="70000"/>
            </a:pPr>
            <a:r>
              <a:rPr lang="zh-CN" altLang="zh-CN" sz="2600" dirty="0">
                <a:solidFill>
                  <a:srgbClr val="C00000"/>
                </a:solidFill>
                <a:latin typeface="华文中宋" panose="02010600040101010101" pitchFamily="2" charset="-122"/>
                <a:ea typeface="华文中宋" panose="02010600040101010101" pitchFamily="2" charset="-122"/>
                <a:cs typeface="+mn-cs"/>
              </a:rPr>
              <a:t>构件建模的目标是把系统中的类分布到更大的内聚的构件中，显示系统构件间的结构关系</a:t>
            </a:r>
            <a:r>
              <a:rPr lang="zh-CN" altLang="zh-CN" sz="2600" dirty="0">
                <a:latin typeface="华文中宋" panose="02010600040101010101" pitchFamily="2" charset="-122"/>
                <a:ea typeface="华文中宋" panose="02010600040101010101" pitchFamily="2" charset="-122"/>
                <a:cs typeface="+mn-cs"/>
              </a:rPr>
              <a:t>。</a:t>
            </a:r>
            <a:endParaRPr lang="zh-CN" altLang="zh-CN" sz="2600" dirty="0">
              <a:latin typeface="华文中宋" panose="02010600040101010101" pitchFamily="2" charset="-122"/>
              <a:ea typeface="华文中宋" panose="02010600040101010101" pitchFamily="2" charset="-122"/>
              <a:cs typeface="+mn-cs"/>
            </a:endParaRPr>
          </a:p>
          <a:p>
            <a:pPr>
              <a:buSzPct val="70000"/>
            </a:pPr>
            <a:r>
              <a:rPr lang="zh-CN" altLang="zh-CN" sz="2600" dirty="0">
                <a:latin typeface="华文中宋" panose="02010600040101010101" pitchFamily="2" charset="-122"/>
                <a:ea typeface="华文中宋" panose="02010600040101010101" pitchFamily="2" charset="-122"/>
                <a:cs typeface="+mn-cs"/>
              </a:rPr>
              <a:t>从宏观的角度上，构件图把软件看作多个独立构件组装而成的集合，每个构件可以被实现相同接口的其它构件替换。</a:t>
            </a:r>
            <a:endParaRPr lang="zh-CN" altLang="zh-CN" sz="2600" dirty="0">
              <a:latin typeface="华文中宋" panose="02010600040101010101" pitchFamily="2" charset="-122"/>
              <a:ea typeface="华文中宋" panose="02010600040101010101" pitchFamily="2" charset="-122"/>
              <a:cs typeface="+mn-cs"/>
            </a:endParaRPr>
          </a:p>
          <a:p>
            <a:pPr>
              <a:buSzPct val="70000"/>
            </a:pPr>
            <a:r>
              <a:rPr lang="zh-CN" altLang="zh-CN" sz="2600" dirty="0">
                <a:latin typeface="华文中宋" panose="02010600040101010101" pitchFamily="2" charset="-122"/>
                <a:ea typeface="华文中宋" panose="02010600040101010101" pitchFamily="2" charset="-122"/>
                <a:cs typeface="+mn-cs"/>
              </a:rPr>
              <a:t>构件图的三个元素是构件、接口和构件之间关系。</a:t>
            </a:r>
            <a:endParaRPr lang="zh-CN" altLang="en-US" dirty="0">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构件图</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64515"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64516" name="内容占位符 1"/>
          <p:cNvSpPr>
            <a:spLocks noGrp="1"/>
          </p:cNvSpPr>
          <p:nvPr>
            <p:ph idx="1"/>
          </p:nvPr>
        </p:nvSpPr>
        <p:spPr>
          <a:xfrm>
            <a:off x="827088" y="1379538"/>
            <a:ext cx="7391400" cy="2284412"/>
          </a:xfrm>
          <a:ln/>
        </p:spPr>
        <p:txBody>
          <a:bodyPr vert="horz" wrap="square" lIns="91440" tIns="45720" rIns="91440" bIns="45720" anchor="t" anchorCtr="0">
            <a:spAutoFit/>
          </a:bodyPr>
          <a:p>
            <a:pPr>
              <a:buSzPct val="70000"/>
            </a:pPr>
            <a:endParaRPr lang="zh-CN" altLang="en-US" dirty="0">
              <a:latin typeface="华文中宋" panose="02010600040101010101" pitchFamily="2" charset="-122"/>
              <a:ea typeface="华文中宋" panose="02010600040101010101" pitchFamily="2" charset="-122"/>
              <a:cs typeface="+mn-cs"/>
            </a:endParaRPr>
          </a:p>
        </p:txBody>
      </p:sp>
      <p:pic>
        <p:nvPicPr>
          <p:cNvPr id="64517" name="Picture 6" descr="https://pic1.zhimg.com/80/v2-22fdda2084cb10df57a0fb394701e358_720w.webp"/>
          <p:cNvPicPr>
            <a:picLocks noChangeAspect="1"/>
          </p:cNvPicPr>
          <p:nvPr/>
        </p:nvPicPr>
        <p:blipFill>
          <a:blip r:embed="rId1"/>
          <a:stretch>
            <a:fillRect/>
          </a:stretch>
        </p:blipFill>
        <p:spPr>
          <a:xfrm>
            <a:off x="1660525" y="1557338"/>
            <a:ext cx="5997575" cy="4097337"/>
          </a:xfrm>
          <a:prstGeom prst="rect">
            <a:avLst/>
          </a:prstGeom>
          <a:noFill/>
          <a:ln w="9525">
            <a:no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构件图的作用</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68611" name="内容占位符 2"/>
          <p:cNvSpPr>
            <a:spLocks noGrp="1" noChangeArrowheads="1"/>
          </p:cNvSpPr>
          <p:nvPr>
            <p:ph idx="1"/>
          </p:nvPr>
        </p:nvSpPr>
        <p:spPr>
          <a:xfrm>
            <a:off x="827088" y="1379538"/>
            <a:ext cx="7561263" cy="37592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构件图从软件架构的角度来描述一个系统的主要功能，如系统分成几个子系统，每个子系统包括哪些类、包和构件，它们之间的关系以及它们分配到哪些节点上等。</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从整体上了解系统的所有物理部件，构件图显示了被开发系统所包含的构件之间的依赖关系</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671830" marR="0" lvl="1" indent="-28575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è"/>
              <a:defRPr/>
            </a:pPr>
            <a:endParaRPr kumimoji="0" lang="zh-CN" altLang="en-US" sz="20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ea"/>
            </a:endParaRPr>
          </a:p>
        </p:txBody>
      </p:sp>
      <p:sp>
        <p:nvSpPr>
          <p:cNvPr id="65540"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构件图</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6656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66564" name="内容占位符 1"/>
          <p:cNvSpPr>
            <a:spLocks noGrp="1"/>
          </p:cNvSpPr>
          <p:nvPr>
            <p:ph idx="1"/>
          </p:nvPr>
        </p:nvSpPr>
        <p:spPr>
          <a:xfrm>
            <a:off x="827088" y="1379538"/>
            <a:ext cx="7391400" cy="2284412"/>
          </a:xfrm>
          <a:ln/>
        </p:spPr>
        <p:txBody>
          <a:bodyPr vert="horz" wrap="square" lIns="91440" tIns="45720" rIns="91440" bIns="45720" anchor="t" anchorCtr="0">
            <a:spAutoFit/>
          </a:bodyPr>
          <a:p>
            <a:pPr>
              <a:buSzPct val="70000"/>
            </a:pPr>
            <a:endParaRPr lang="zh-CN" altLang="en-US" dirty="0">
              <a:latin typeface="华文中宋" panose="02010600040101010101" pitchFamily="2" charset="-122"/>
              <a:ea typeface="华文中宋" panose="02010600040101010101" pitchFamily="2" charset="-122"/>
              <a:cs typeface="+mn-cs"/>
            </a:endParaRPr>
          </a:p>
        </p:txBody>
      </p:sp>
      <p:pic>
        <p:nvPicPr>
          <p:cNvPr id="66565" name="Picture 2" descr="https://pic3.zhimg.com/80/v2-1dc6bb8d8207f783b962dc34a2828912_720w.webp"/>
          <p:cNvPicPr>
            <a:picLocks noChangeAspect="1"/>
          </p:cNvPicPr>
          <p:nvPr/>
        </p:nvPicPr>
        <p:blipFill>
          <a:blip r:embed="rId1"/>
          <a:stretch>
            <a:fillRect/>
          </a:stretch>
        </p:blipFill>
        <p:spPr>
          <a:xfrm>
            <a:off x="1230313" y="1557338"/>
            <a:ext cx="6858000" cy="3724275"/>
          </a:xfrm>
          <a:prstGeom prst="rect">
            <a:avLst/>
          </a:prstGeom>
          <a:noFill/>
          <a:ln w="9525">
            <a:noFill/>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a:ln/>
        </p:spPr>
        <p:txBody>
          <a:bodyPr vert="horz" wrap="square" lIns="91440" tIns="45720" rIns="91440" bIns="45720" anchor="ctr" anchorCtr="0"/>
          <a:p>
            <a:r>
              <a:rPr lang="zh-CN" altLang="en-US" dirty="0"/>
              <a:t>构件图</a:t>
            </a:r>
            <a:endParaRPr lang="zh-CN" altLang="en-US" dirty="0"/>
          </a:p>
        </p:txBody>
      </p:sp>
      <p:sp>
        <p:nvSpPr>
          <p:cNvPr id="70659" name="内容占位符 2"/>
          <p:cNvSpPr>
            <a:spLocks noGrp="1" noChangeArrowheads="1"/>
          </p:cNvSpPr>
          <p:nvPr>
            <p:ph idx="1"/>
          </p:nvPr>
        </p:nvSpPr>
        <p:spPr>
          <a:xfrm>
            <a:off x="827088" y="1379538"/>
            <a:ext cx="7391400" cy="630238"/>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构件图的组成</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6758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pSp>
        <p:nvGrpSpPr>
          <p:cNvPr id="67589" name="组合 2228"/>
          <p:cNvGrpSpPr/>
          <p:nvPr/>
        </p:nvGrpSpPr>
        <p:grpSpPr>
          <a:xfrm>
            <a:off x="3603625" y="2205038"/>
            <a:ext cx="4708525" cy="1139825"/>
            <a:chOff x="0" y="0"/>
            <a:chExt cx="4707880" cy="1139825"/>
          </a:xfrm>
        </p:grpSpPr>
        <p:sp>
          <p:nvSpPr>
            <p:cNvPr id="67606" name="AutoShape 33"/>
            <p:cNvSpPr/>
            <p:nvPr/>
          </p:nvSpPr>
          <p:spPr>
            <a:xfrm>
              <a:off x="0" y="0"/>
              <a:ext cx="4707880" cy="1139825"/>
            </a:xfrm>
            <a:prstGeom prst="roundRect">
              <a:avLst>
                <a:gd name="adj" fmla="val 12532"/>
              </a:avLst>
            </a:prstGeom>
            <a:solidFill>
              <a:srgbClr val="FFFFFF"/>
            </a:solidFill>
            <a:ln w="9525" cap="flat" cmpd="sng">
              <a:solidFill>
                <a:srgbClr val="B2B2B2"/>
              </a:solidFill>
              <a:prstDash val="solid"/>
              <a:headEnd type="none" w="med" len="med"/>
              <a:tailEnd type="none" w="med" len="med"/>
            </a:ln>
          </p:spPr>
          <p:txBody>
            <a:bodyPr wrap="none" anchor="ctr" anchorCtr="0"/>
            <a:p>
              <a:pPr eaLnBrk="1" hangingPunct="1">
                <a:buSzPct val="100000"/>
              </a:pPr>
              <a:endParaRPr lang="zh-CN" altLang="en-US" sz="1800" b="0"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pic>
          <p:nvPicPr>
            <p:cNvPr id="67607" name="Picture 164"/>
            <p:cNvPicPr>
              <a:picLocks noChangeAspect="1"/>
            </p:cNvPicPr>
            <p:nvPr/>
          </p:nvPicPr>
          <p:blipFill>
            <a:blip r:embed="rId1">
              <a:lum bright="17999"/>
            </a:blip>
            <a:stretch>
              <a:fillRect/>
            </a:stretch>
          </p:blipFill>
          <p:spPr>
            <a:xfrm>
              <a:off x="171376" y="882897"/>
              <a:ext cx="982663" cy="174625"/>
            </a:xfrm>
            <a:prstGeom prst="rect">
              <a:avLst/>
            </a:prstGeom>
            <a:noFill/>
            <a:ln w="9525">
              <a:noFill/>
            </a:ln>
          </p:spPr>
        </p:pic>
        <p:sp>
          <p:nvSpPr>
            <p:cNvPr id="67608" name="椭圆 55"/>
            <p:cNvSpPr/>
            <p:nvPr/>
          </p:nvSpPr>
          <p:spPr>
            <a:xfrm>
              <a:off x="333623" y="193861"/>
              <a:ext cx="666873" cy="666873"/>
            </a:xfrm>
            <a:prstGeom prst="ellipse">
              <a:avLst/>
            </a:prstGeom>
            <a:solidFill>
              <a:srgbClr val="C2D59B"/>
            </a:solidFill>
            <a:ln w="12700" cap="flat" cmpd="sng">
              <a:solidFill>
                <a:srgbClr val="395E8A"/>
              </a:solidFill>
              <a:prstDash val="sysDot"/>
              <a:headEnd type="none" w="med" len="med"/>
              <a:tailEnd type="none" w="med" len="med"/>
            </a:ln>
          </p:spPr>
          <p:txBody>
            <a:bodyPr anchor="ctr" anchorCtr="0"/>
            <a:p>
              <a:pPr algn="ctr" eaLnBrk="1" hangingPunct="1">
                <a:buSzPct val="100000"/>
              </a:pPr>
              <a:endParaRPr lang="zh-CN" altLang="en-US" sz="1800" b="0"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67609" name="TextBox 56"/>
            <p:cNvSpPr/>
            <p:nvPr/>
          </p:nvSpPr>
          <p:spPr>
            <a:xfrm>
              <a:off x="475958" y="350748"/>
              <a:ext cx="411424" cy="368300"/>
            </a:xfrm>
            <a:prstGeom prst="rect">
              <a:avLst/>
            </a:prstGeom>
            <a:noFill/>
            <a:ln w="9525">
              <a:noFill/>
            </a:ln>
          </p:spPr>
          <p:txBody>
            <a:bodyPr wrap="none">
              <a:spAutoFit/>
            </a:bodyPr>
            <a:p>
              <a:pPr eaLnBrk="1" hangingPunct="1">
                <a:buSzPct val="100000"/>
              </a:pPr>
              <a:r>
                <a:rPr lang="zh-CN" altLang="en-US" sz="1800"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壹</a:t>
              </a:r>
              <a:endParaRPr lang="zh-CN" altLang="en-US" sz="1800" b="0" dirty="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67610" name="Rectangle 35"/>
            <p:cNvSpPr/>
            <p:nvPr/>
          </p:nvSpPr>
          <p:spPr>
            <a:xfrm>
              <a:off x="1251496" y="373819"/>
              <a:ext cx="3357016" cy="368300"/>
            </a:xfrm>
            <a:prstGeom prst="rect">
              <a:avLst/>
            </a:prstGeom>
            <a:noFill/>
            <a:ln w="9525">
              <a:noFill/>
            </a:ln>
          </p:spPr>
          <p:txBody>
            <a:bodyPr>
              <a:spAutoFit/>
            </a:bodyPr>
            <a:p>
              <a:pPr algn="just" eaLnBrk="1" hangingPunct="1">
                <a:buSzPct val="100000"/>
              </a:pP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构件（</a:t>
              </a:r>
              <a:r>
                <a:rPr lang="en-US" altLang="zh-CN"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Component</a:t>
              </a: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800" b="0" dirty="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grpSp>
      <p:grpSp>
        <p:nvGrpSpPr>
          <p:cNvPr id="67590" name="组合 2234"/>
          <p:cNvGrpSpPr/>
          <p:nvPr/>
        </p:nvGrpSpPr>
        <p:grpSpPr>
          <a:xfrm>
            <a:off x="3603625" y="3627438"/>
            <a:ext cx="4708525" cy="1139825"/>
            <a:chOff x="0" y="0"/>
            <a:chExt cx="4707880" cy="1139825"/>
          </a:xfrm>
        </p:grpSpPr>
        <p:sp>
          <p:nvSpPr>
            <p:cNvPr id="67601" name="AutoShape 33"/>
            <p:cNvSpPr/>
            <p:nvPr/>
          </p:nvSpPr>
          <p:spPr>
            <a:xfrm>
              <a:off x="0" y="0"/>
              <a:ext cx="4707880" cy="1139825"/>
            </a:xfrm>
            <a:prstGeom prst="roundRect">
              <a:avLst>
                <a:gd name="adj" fmla="val 12532"/>
              </a:avLst>
            </a:prstGeom>
            <a:solidFill>
              <a:srgbClr val="FFFFFF"/>
            </a:solidFill>
            <a:ln w="9525" cap="flat" cmpd="sng">
              <a:solidFill>
                <a:srgbClr val="B2B2B2"/>
              </a:solidFill>
              <a:prstDash val="solid"/>
              <a:headEnd type="none" w="med" len="med"/>
              <a:tailEnd type="none" w="med" len="med"/>
            </a:ln>
          </p:spPr>
          <p:txBody>
            <a:bodyPr wrap="none" anchor="ctr" anchorCtr="0"/>
            <a:p>
              <a:pPr eaLnBrk="1" hangingPunct="1">
                <a:buSzPct val="100000"/>
              </a:pPr>
              <a:endParaRPr lang="zh-CN" altLang="en-US" sz="1800" b="0"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pic>
          <p:nvPicPr>
            <p:cNvPr id="67602" name="Picture 164"/>
            <p:cNvPicPr>
              <a:picLocks noChangeAspect="1"/>
            </p:cNvPicPr>
            <p:nvPr/>
          </p:nvPicPr>
          <p:blipFill>
            <a:blip r:embed="rId1">
              <a:lum bright="17999"/>
            </a:blip>
            <a:stretch>
              <a:fillRect/>
            </a:stretch>
          </p:blipFill>
          <p:spPr>
            <a:xfrm>
              <a:off x="171376" y="882897"/>
              <a:ext cx="982663" cy="174625"/>
            </a:xfrm>
            <a:prstGeom prst="rect">
              <a:avLst/>
            </a:prstGeom>
            <a:noFill/>
            <a:ln w="9525">
              <a:noFill/>
            </a:ln>
          </p:spPr>
        </p:pic>
        <p:sp>
          <p:nvSpPr>
            <p:cNvPr id="67603" name="椭圆 62"/>
            <p:cNvSpPr/>
            <p:nvPr/>
          </p:nvSpPr>
          <p:spPr>
            <a:xfrm>
              <a:off x="333623" y="193861"/>
              <a:ext cx="666873" cy="666873"/>
            </a:xfrm>
            <a:prstGeom prst="ellipse">
              <a:avLst/>
            </a:prstGeom>
            <a:solidFill>
              <a:srgbClr val="8CB3E3"/>
            </a:solidFill>
            <a:ln w="12700" cap="flat" cmpd="sng">
              <a:solidFill>
                <a:srgbClr val="395E8A"/>
              </a:solidFill>
              <a:prstDash val="sysDot"/>
              <a:headEnd type="none" w="med" len="med"/>
              <a:tailEnd type="none" w="med" len="med"/>
            </a:ln>
          </p:spPr>
          <p:txBody>
            <a:bodyPr anchor="ctr" anchorCtr="0"/>
            <a:p>
              <a:pPr algn="ctr" eaLnBrk="1" hangingPunct="1">
                <a:buSzPct val="100000"/>
              </a:pPr>
              <a:endParaRPr lang="zh-CN" altLang="en-US" sz="1800" b="0"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67604" name="TextBox 63"/>
            <p:cNvSpPr/>
            <p:nvPr/>
          </p:nvSpPr>
          <p:spPr>
            <a:xfrm>
              <a:off x="475958" y="350748"/>
              <a:ext cx="411424" cy="368300"/>
            </a:xfrm>
            <a:prstGeom prst="rect">
              <a:avLst/>
            </a:prstGeom>
            <a:noFill/>
            <a:ln w="9525">
              <a:noFill/>
            </a:ln>
          </p:spPr>
          <p:txBody>
            <a:bodyPr wrap="none">
              <a:spAutoFit/>
            </a:bodyPr>
            <a:p>
              <a:pPr eaLnBrk="1" hangingPunct="1">
                <a:buSzPct val="100000"/>
              </a:pPr>
              <a:r>
                <a:rPr lang="zh-CN" altLang="en-US" sz="1800"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贰</a:t>
              </a:r>
              <a:endParaRPr lang="zh-CN" altLang="en-US" sz="1800" b="0" dirty="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67605" name="Rectangle 35"/>
            <p:cNvSpPr/>
            <p:nvPr/>
          </p:nvSpPr>
          <p:spPr>
            <a:xfrm>
              <a:off x="1251496" y="373819"/>
              <a:ext cx="3357016" cy="368300"/>
            </a:xfrm>
            <a:prstGeom prst="rect">
              <a:avLst/>
            </a:prstGeom>
            <a:noFill/>
            <a:ln w="9525">
              <a:noFill/>
            </a:ln>
          </p:spPr>
          <p:txBody>
            <a:bodyPr>
              <a:spAutoFit/>
            </a:bodyPr>
            <a:p>
              <a:pPr algn="just" eaLnBrk="1" hangingPunct="1">
                <a:buSzPct val="100000"/>
              </a:pP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接口（</a:t>
              </a:r>
              <a:r>
                <a:rPr lang="en-US" altLang="zh-CN"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Interface</a:t>
              </a: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67591" name="组合 2240"/>
          <p:cNvGrpSpPr/>
          <p:nvPr/>
        </p:nvGrpSpPr>
        <p:grpSpPr>
          <a:xfrm>
            <a:off x="3603625" y="5049838"/>
            <a:ext cx="4708525" cy="1139825"/>
            <a:chOff x="0" y="0"/>
            <a:chExt cx="4707880" cy="1139825"/>
          </a:xfrm>
        </p:grpSpPr>
        <p:sp>
          <p:nvSpPr>
            <p:cNvPr id="67596" name="AutoShape 33"/>
            <p:cNvSpPr/>
            <p:nvPr/>
          </p:nvSpPr>
          <p:spPr>
            <a:xfrm>
              <a:off x="0" y="0"/>
              <a:ext cx="4707880" cy="1139825"/>
            </a:xfrm>
            <a:prstGeom prst="roundRect">
              <a:avLst>
                <a:gd name="adj" fmla="val 12532"/>
              </a:avLst>
            </a:prstGeom>
            <a:solidFill>
              <a:srgbClr val="FFFFFF"/>
            </a:solidFill>
            <a:ln w="9525" cap="flat" cmpd="sng">
              <a:solidFill>
                <a:srgbClr val="B2B2B2"/>
              </a:solidFill>
              <a:prstDash val="solid"/>
              <a:headEnd type="none" w="med" len="med"/>
              <a:tailEnd type="none" w="med" len="med"/>
            </a:ln>
          </p:spPr>
          <p:txBody>
            <a:bodyPr wrap="none" anchor="ctr" anchorCtr="0"/>
            <a:p>
              <a:pPr eaLnBrk="1" hangingPunct="1">
                <a:buSzPct val="100000"/>
              </a:pPr>
              <a:endParaRPr lang="zh-CN" altLang="en-US" sz="1800" b="0" dirty="0">
                <a:solidFill>
                  <a:srgbClr val="000000"/>
                </a:solidFill>
                <a:latin typeface="Arial" panose="020B0604020202020204" pitchFamily="34" charset="0"/>
                <a:ea typeface="宋体" panose="02010600030101010101" pitchFamily="2" charset="-122"/>
                <a:sym typeface="Arial" panose="020B0604020202020204" pitchFamily="34" charset="0"/>
              </a:endParaRPr>
            </a:p>
          </p:txBody>
        </p:sp>
        <p:pic>
          <p:nvPicPr>
            <p:cNvPr id="67597" name="Picture 164"/>
            <p:cNvPicPr>
              <a:picLocks noChangeAspect="1"/>
            </p:cNvPicPr>
            <p:nvPr/>
          </p:nvPicPr>
          <p:blipFill>
            <a:blip r:embed="rId1">
              <a:lum bright="17999"/>
            </a:blip>
            <a:stretch>
              <a:fillRect/>
            </a:stretch>
          </p:blipFill>
          <p:spPr>
            <a:xfrm>
              <a:off x="171376" y="882897"/>
              <a:ext cx="982663" cy="174625"/>
            </a:xfrm>
            <a:prstGeom prst="rect">
              <a:avLst/>
            </a:prstGeom>
            <a:noFill/>
            <a:ln w="9525">
              <a:noFill/>
            </a:ln>
          </p:spPr>
        </p:pic>
        <p:sp>
          <p:nvSpPr>
            <p:cNvPr id="67598" name="椭圆 83"/>
            <p:cNvSpPr/>
            <p:nvPr/>
          </p:nvSpPr>
          <p:spPr>
            <a:xfrm>
              <a:off x="333623" y="193861"/>
              <a:ext cx="666873" cy="666873"/>
            </a:xfrm>
            <a:prstGeom prst="ellipse">
              <a:avLst/>
            </a:prstGeom>
            <a:solidFill>
              <a:srgbClr val="E387ED"/>
            </a:solidFill>
            <a:ln w="12700" cap="flat" cmpd="sng">
              <a:solidFill>
                <a:srgbClr val="395E8A"/>
              </a:solidFill>
              <a:prstDash val="sysDot"/>
              <a:headEnd type="none" w="med" len="med"/>
              <a:tailEnd type="none" w="med" len="med"/>
            </a:ln>
          </p:spPr>
          <p:txBody>
            <a:bodyPr anchor="ctr" anchorCtr="0"/>
            <a:p>
              <a:pPr algn="ctr" eaLnBrk="1" hangingPunct="1">
                <a:buSzPct val="100000"/>
              </a:pPr>
              <a:endParaRPr lang="zh-CN" altLang="en-US" sz="1800" b="0"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67599" name="TextBox 84"/>
            <p:cNvSpPr/>
            <p:nvPr/>
          </p:nvSpPr>
          <p:spPr>
            <a:xfrm>
              <a:off x="475958" y="350748"/>
              <a:ext cx="411424" cy="368300"/>
            </a:xfrm>
            <a:prstGeom prst="rect">
              <a:avLst/>
            </a:prstGeom>
            <a:noFill/>
            <a:ln w="9525">
              <a:noFill/>
            </a:ln>
          </p:spPr>
          <p:txBody>
            <a:bodyPr wrap="none">
              <a:spAutoFit/>
            </a:bodyPr>
            <a:p>
              <a:pPr eaLnBrk="1" hangingPunct="1">
                <a:buSzPct val="100000"/>
              </a:pPr>
              <a:r>
                <a:rPr lang="zh-CN" altLang="en-US" sz="1800" b="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叁</a:t>
              </a:r>
              <a:endParaRPr lang="zh-CN" altLang="en-US" sz="1800" b="0" dirty="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67600" name="Rectangle 35"/>
            <p:cNvSpPr/>
            <p:nvPr/>
          </p:nvSpPr>
          <p:spPr>
            <a:xfrm>
              <a:off x="1251496" y="373819"/>
              <a:ext cx="3357016" cy="368300"/>
            </a:xfrm>
            <a:prstGeom prst="rect">
              <a:avLst/>
            </a:prstGeom>
            <a:noFill/>
            <a:ln w="9525">
              <a:noFill/>
            </a:ln>
          </p:spPr>
          <p:txBody>
            <a:bodyPr>
              <a:spAutoFit/>
            </a:bodyPr>
            <a:p>
              <a:pPr algn="just" eaLnBrk="1" hangingPunct="1">
                <a:buSzPct val="100000"/>
              </a:pP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依赖关系（</a:t>
              </a:r>
              <a:r>
                <a:rPr lang="en-US" altLang="zh-CN"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Dependency</a:t>
              </a:r>
              <a:r>
                <a:rPr lang="zh-CN" altLang="en-US" sz="1800" dirty="0">
                  <a:solidFill>
                    <a:srgbClr val="5F5F5F"/>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800" b="0" dirty="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grpSp>
      <p:cxnSp>
        <p:nvCxnSpPr>
          <p:cNvPr id="67592" name="直接连接符 86"/>
          <p:cNvCxnSpPr/>
          <p:nvPr/>
        </p:nvCxnSpPr>
        <p:spPr>
          <a:xfrm>
            <a:off x="2055813" y="2582863"/>
            <a:ext cx="1547812" cy="4762"/>
          </a:xfrm>
          <a:prstGeom prst="line">
            <a:avLst/>
          </a:prstGeom>
          <a:ln w="19050" cap="flat" cmpd="sng">
            <a:solidFill>
              <a:srgbClr val="BFBFBF"/>
            </a:solidFill>
            <a:prstDash val="solid"/>
            <a:headEnd type="oval" w="med" len="med"/>
            <a:tailEnd type="oval" w="med" len="med"/>
          </a:ln>
        </p:spPr>
      </p:cxnSp>
      <p:cxnSp>
        <p:nvCxnSpPr>
          <p:cNvPr id="67593" name="直接连接符 87"/>
          <p:cNvCxnSpPr/>
          <p:nvPr/>
        </p:nvCxnSpPr>
        <p:spPr>
          <a:xfrm>
            <a:off x="2055813" y="3971925"/>
            <a:ext cx="1547812" cy="4763"/>
          </a:xfrm>
          <a:prstGeom prst="line">
            <a:avLst/>
          </a:prstGeom>
          <a:ln w="19050" cap="flat" cmpd="sng">
            <a:solidFill>
              <a:srgbClr val="BFBFBF"/>
            </a:solidFill>
            <a:prstDash val="solid"/>
            <a:headEnd type="oval" w="med" len="med"/>
            <a:tailEnd type="oval" w="med" len="med"/>
          </a:ln>
        </p:spPr>
      </p:cxnSp>
      <p:cxnSp>
        <p:nvCxnSpPr>
          <p:cNvPr id="67594" name="直接连接符 88"/>
          <p:cNvCxnSpPr/>
          <p:nvPr/>
        </p:nvCxnSpPr>
        <p:spPr>
          <a:xfrm>
            <a:off x="2055813" y="5394325"/>
            <a:ext cx="1547812" cy="4763"/>
          </a:xfrm>
          <a:prstGeom prst="line">
            <a:avLst/>
          </a:prstGeom>
          <a:ln w="19050" cap="flat" cmpd="sng">
            <a:solidFill>
              <a:srgbClr val="BFBFBF"/>
            </a:solidFill>
            <a:prstDash val="solid"/>
            <a:headEnd type="oval" w="med" len="med"/>
            <a:tailEnd type="oval" w="med" len="med"/>
          </a:ln>
        </p:spPr>
      </p:cxnSp>
      <p:sp>
        <p:nvSpPr>
          <p:cNvPr id="67595" name="椭圆 59"/>
          <p:cNvSpPr/>
          <p:nvPr/>
        </p:nvSpPr>
        <p:spPr>
          <a:xfrm>
            <a:off x="808038" y="2293938"/>
            <a:ext cx="949325" cy="3509962"/>
          </a:xfrm>
          <a:prstGeom prst="ellipse">
            <a:avLst/>
          </a:prstGeom>
          <a:noFill/>
          <a:ln w="25400" cap="flat" cmpd="sng">
            <a:solidFill>
              <a:srgbClr val="808080"/>
            </a:solidFill>
            <a:prstDash val="solid"/>
            <a:headEnd type="none" w="med" len="med"/>
            <a:tailEnd type="none" w="med" len="med"/>
          </a:ln>
        </p:spPr>
        <p:txBody>
          <a:bodyPr anchor="ctr" anchorCtr="0"/>
          <a:p>
            <a:pPr algn="ctr" eaLnBrk="1" hangingPunct="1"/>
            <a:r>
              <a:rPr lang="zh-CN" altLang="en-US" sz="3200" dirty="0">
                <a:solidFill>
                  <a:srgbClr val="344068"/>
                </a:solidFill>
                <a:latin typeface="Calibri" panose="020F0502020204030204" pitchFamily="34" charset="0"/>
                <a:ea typeface="宋体" panose="02010600030101010101" pitchFamily="2" charset="-122"/>
              </a:rPr>
              <a:t>构</a:t>
            </a:r>
            <a:endParaRPr lang="en-US" altLang="zh-CN" sz="3200" dirty="0">
              <a:solidFill>
                <a:srgbClr val="344068"/>
              </a:solidFill>
              <a:latin typeface="Calibri" panose="020F0502020204030204" pitchFamily="34" charset="0"/>
              <a:ea typeface="宋体" panose="02010600030101010101" pitchFamily="2" charset="-122"/>
            </a:endParaRPr>
          </a:p>
          <a:p>
            <a:pPr algn="ctr" eaLnBrk="1" hangingPunct="1"/>
            <a:r>
              <a:rPr lang="zh-CN" altLang="en-US" sz="3200" dirty="0">
                <a:solidFill>
                  <a:srgbClr val="344068"/>
                </a:solidFill>
                <a:latin typeface="Calibri" panose="020F0502020204030204" pitchFamily="34" charset="0"/>
                <a:ea typeface="宋体" panose="02010600030101010101" pitchFamily="2" charset="-122"/>
              </a:rPr>
              <a:t>件</a:t>
            </a:r>
            <a:endParaRPr lang="en-US" altLang="zh-CN" sz="3200" dirty="0">
              <a:solidFill>
                <a:srgbClr val="344068"/>
              </a:solidFill>
              <a:latin typeface="Calibri" panose="020F0502020204030204" pitchFamily="34" charset="0"/>
              <a:ea typeface="宋体" panose="02010600030101010101" pitchFamily="2" charset="-122"/>
            </a:endParaRPr>
          </a:p>
          <a:p>
            <a:pPr algn="ctr" eaLnBrk="1" hangingPunct="1"/>
            <a:r>
              <a:rPr lang="zh-CN" altLang="en-US" sz="3200" dirty="0">
                <a:solidFill>
                  <a:srgbClr val="344068"/>
                </a:solidFill>
                <a:latin typeface="Calibri" panose="020F0502020204030204" pitchFamily="34" charset="0"/>
                <a:ea typeface="宋体" panose="02010600030101010101" pitchFamily="2" charset="-122"/>
              </a:rPr>
              <a:t>图</a:t>
            </a:r>
            <a:endParaRPr lang="en-US" altLang="zh-CN" sz="3200" dirty="0">
              <a:solidFill>
                <a:srgbClr val="344068"/>
              </a:solidFill>
              <a:latin typeface="Calibri" panose="020F0502020204030204" pitchFamily="34" charset="0"/>
              <a:ea typeface="宋体" panose="02010600030101010101" pitchFamily="2" charset="-122"/>
            </a:endParaRPr>
          </a:p>
          <a:p>
            <a:pPr algn="ctr" eaLnBrk="1" hangingPunct="1"/>
            <a:r>
              <a:rPr lang="zh-CN" altLang="en-US" sz="3200" dirty="0">
                <a:solidFill>
                  <a:srgbClr val="344068"/>
                </a:solidFill>
                <a:latin typeface="Calibri" panose="020F0502020204030204" pitchFamily="34" charset="0"/>
                <a:ea typeface="宋体" panose="02010600030101010101" pitchFamily="2" charset="-122"/>
              </a:rPr>
              <a:t>三</a:t>
            </a:r>
            <a:endParaRPr lang="en-US" altLang="zh-CN" sz="3200" dirty="0">
              <a:solidFill>
                <a:srgbClr val="344068"/>
              </a:solidFill>
              <a:latin typeface="Calibri" panose="020F0502020204030204" pitchFamily="34" charset="0"/>
              <a:ea typeface="宋体" panose="02010600030101010101" pitchFamily="2" charset="-122"/>
            </a:endParaRPr>
          </a:p>
          <a:p>
            <a:pPr algn="ctr" eaLnBrk="1" hangingPunct="1"/>
            <a:r>
              <a:rPr lang="zh-CN" altLang="en-US" sz="3200" dirty="0">
                <a:solidFill>
                  <a:srgbClr val="344068"/>
                </a:solidFill>
                <a:latin typeface="Calibri" panose="020F0502020204030204" pitchFamily="34" charset="0"/>
                <a:ea typeface="宋体" panose="02010600030101010101" pitchFamily="2" charset="-122"/>
              </a:rPr>
              <a:t>元</a:t>
            </a:r>
            <a:endParaRPr lang="en-US" altLang="zh-CN" sz="3200" dirty="0">
              <a:solidFill>
                <a:srgbClr val="344068"/>
              </a:solidFill>
              <a:latin typeface="Calibri" panose="020F0502020204030204" pitchFamily="34" charset="0"/>
              <a:ea typeface="宋体" panose="02010600030101010101" pitchFamily="2" charset="-122"/>
            </a:endParaRPr>
          </a:p>
          <a:p>
            <a:pPr algn="ctr" eaLnBrk="1" hangingPunct="1"/>
            <a:r>
              <a:rPr lang="zh-CN" altLang="en-US" sz="3200" dirty="0">
                <a:solidFill>
                  <a:srgbClr val="344068"/>
                </a:solidFill>
                <a:latin typeface="Calibri" panose="020F0502020204030204" pitchFamily="34" charset="0"/>
                <a:ea typeface="宋体" panose="02010600030101010101" pitchFamily="2" charset="-122"/>
              </a:rPr>
              <a:t>素</a:t>
            </a:r>
            <a:endParaRPr lang="zh-CN" altLang="en-US" sz="3200" dirty="0">
              <a:solidFill>
                <a:srgbClr val="344068"/>
              </a:solidFill>
              <a:latin typeface="Calibri" panose="020F0502020204030204" pitchFamily="34" charset="0"/>
              <a:ea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构件</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68611" name="内容占位符 2"/>
          <p:cNvSpPr>
            <a:spLocks noGrp="1"/>
          </p:cNvSpPr>
          <p:nvPr>
            <p:ph idx="1"/>
          </p:nvPr>
        </p:nvSpPr>
        <p:spPr>
          <a:xfrm>
            <a:off x="487363" y="1019175"/>
            <a:ext cx="8169275" cy="4521200"/>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在UML2.0中，构件被认为是在一个系统或子系统中的独立的封装单位，构件通过一系列的接口对外界提供功能。</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构件的类型：</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1. 部署构件，如dll文件、exe文件、com+对象、corba对象、ejb、动态web页、数据库表等；</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2.工作产品构件，如源代码文件、数据文件等，用来产生部署构件；</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3.执行构件，指系统执行后产生的构件。</a:t>
            </a:r>
            <a:endParaRPr lang="en-US" altLang="zh-CN" dirty="0">
              <a:latin typeface="华文中宋" panose="02010600040101010101" pitchFamily="2" charset="-122"/>
              <a:ea typeface="华文中宋" panose="02010600040101010101" pitchFamily="2" charset="-122"/>
              <a:cs typeface="+mn-cs"/>
            </a:endParaRPr>
          </a:p>
        </p:txBody>
      </p:sp>
      <p:sp>
        <p:nvSpPr>
          <p:cNvPr id="6861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1"/>
          <p:cNvSpPr>
            <a:spLocks noGrp="1"/>
          </p:cNvSpPr>
          <p:nvPr>
            <p:ph type="title"/>
          </p:nvPr>
        </p:nvSpPr>
        <p:spPr>
          <a:ln/>
        </p:spPr>
        <p:txBody>
          <a:bodyPr vert="horz" wrap="square" lIns="91440" tIns="45720" rIns="91440" bIns="45720" anchor="ctr" anchorCtr="0"/>
          <a:p>
            <a:r>
              <a:rPr lang="zh-CN" altLang="en-US" dirty="0"/>
              <a:t>构件与类</a:t>
            </a:r>
            <a:endParaRPr lang="zh-CN" altLang="en-US" dirty="0"/>
          </a:p>
        </p:txBody>
      </p:sp>
      <p:sp>
        <p:nvSpPr>
          <p:cNvPr id="70659"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70660" name="文本框 1"/>
          <p:cNvSpPr txBox="1"/>
          <p:nvPr/>
        </p:nvSpPr>
        <p:spPr>
          <a:xfrm>
            <a:off x="682625" y="1211263"/>
            <a:ext cx="7953375" cy="5056187"/>
          </a:xfrm>
          <a:prstGeom prst="rect">
            <a:avLst/>
          </a:prstGeom>
          <a:noFill/>
          <a:ln w="9525">
            <a:noFill/>
          </a:ln>
        </p:spPr>
        <p:txBody>
          <a:bodyPr>
            <a:spAutoFit/>
          </a:bodyPr>
          <a:p>
            <a:pPr marL="457200" indent="-457200" eaLnBrk="1" hangingPunct="1">
              <a:lnSpc>
                <a:spcPts val="3525"/>
              </a:lnSpc>
              <a:buFont typeface="Arial" panose="020B0604020202020204" pitchFamily="34" charset="0"/>
              <a:buChar char="•"/>
            </a:pPr>
            <a:r>
              <a:rPr lang="zh-CN" altLang="zh-CN" sz="2600" b="0" dirty="0">
                <a:solidFill>
                  <a:schemeClr val="tx1"/>
                </a:solidFill>
                <a:latin typeface="华文中宋" panose="02010600040101010101" pitchFamily="2" charset="-122"/>
              </a:rPr>
              <a:t>从构件的定义上看，构件和类十分相似，事实也是如此。但也存在着一些明显的不同，下面是构件与类的区别：</a:t>
            </a:r>
            <a:endParaRPr lang="zh-CN" altLang="zh-CN" sz="2600" b="0" dirty="0">
              <a:solidFill>
                <a:schemeClr val="tx1"/>
              </a:solidFill>
              <a:latin typeface="华文中宋" panose="02010600040101010101" pitchFamily="2" charset="-122"/>
            </a:endParaRPr>
          </a:p>
          <a:p>
            <a:pPr marL="457200" indent="-457200" eaLnBrk="1" hangingPunct="1">
              <a:lnSpc>
                <a:spcPts val="3525"/>
              </a:lnSpc>
              <a:buFont typeface="Arial" panose="020B0604020202020204" pitchFamily="34" charset="0"/>
              <a:buChar char="•"/>
            </a:pPr>
            <a:r>
              <a:rPr lang="zh-CN" altLang="zh-CN" sz="2600" b="0" dirty="0">
                <a:solidFill>
                  <a:schemeClr val="tx1"/>
                </a:solidFill>
                <a:latin typeface="华文中宋" panose="02010600040101010101" pitchFamily="2" charset="-122"/>
              </a:rPr>
              <a:t>（1）类表示是对实体的抽象，而</a:t>
            </a:r>
            <a:r>
              <a:rPr lang="zh-CN" altLang="zh-CN" sz="2600" b="0" dirty="0">
                <a:solidFill>
                  <a:srgbClr val="C00000"/>
                </a:solidFill>
                <a:latin typeface="华文中宋" panose="02010600040101010101" pitchFamily="2" charset="-122"/>
              </a:rPr>
              <a:t>构件是对存在于计算机中的物理部件的抽象</a:t>
            </a:r>
            <a:r>
              <a:rPr lang="zh-CN" altLang="zh-CN" sz="2600" b="0" dirty="0">
                <a:solidFill>
                  <a:schemeClr val="tx1"/>
                </a:solidFill>
                <a:latin typeface="华文中宋" panose="02010600040101010101" pitchFamily="2" charset="-122"/>
              </a:rPr>
              <a:t>。也就是说，构件是可以部署的，而类不能部署。</a:t>
            </a:r>
            <a:endParaRPr lang="zh-CN" altLang="zh-CN" sz="2600" b="0" dirty="0">
              <a:solidFill>
                <a:schemeClr val="tx1"/>
              </a:solidFill>
              <a:latin typeface="华文中宋" panose="02010600040101010101" pitchFamily="2" charset="-122"/>
            </a:endParaRPr>
          </a:p>
          <a:p>
            <a:pPr marL="457200" indent="-457200" eaLnBrk="1" hangingPunct="1">
              <a:lnSpc>
                <a:spcPts val="3525"/>
              </a:lnSpc>
              <a:buFont typeface="Arial" panose="020B0604020202020204" pitchFamily="34" charset="0"/>
              <a:buChar char="•"/>
            </a:pPr>
            <a:r>
              <a:rPr lang="zh-CN" altLang="zh-CN" sz="2600" b="0" dirty="0">
                <a:solidFill>
                  <a:schemeClr val="tx1"/>
                </a:solidFill>
                <a:latin typeface="华文中宋" panose="02010600040101010101" pitchFamily="2" charset="-122"/>
              </a:rPr>
              <a:t>（2）构件属于软件模块，而非逻辑模块，与类相比，它们处于不同的抽象级别。甚至可以说，</a:t>
            </a:r>
            <a:r>
              <a:rPr lang="zh-CN" altLang="zh-CN" sz="2600" b="0" dirty="0">
                <a:solidFill>
                  <a:srgbClr val="C00000"/>
                </a:solidFill>
                <a:latin typeface="华文中宋" panose="02010600040101010101" pitchFamily="2" charset="-122"/>
              </a:rPr>
              <a:t>构件就是由一组类通过协作完成的</a:t>
            </a:r>
            <a:r>
              <a:rPr lang="zh-CN" altLang="zh-CN" sz="2600" b="0" dirty="0">
                <a:solidFill>
                  <a:schemeClr val="tx1"/>
                </a:solidFill>
                <a:latin typeface="华文中宋" panose="02010600040101010101" pitchFamily="2" charset="-122"/>
              </a:rPr>
              <a:t>。</a:t>
            </a:r>
            <a:endParaRPr lang="zh-CN" altLang="zh-CN" sz="2600" b="0" dirty="0">
              <a:solidFill>
                <a:schemeClr val="tx1"/>
              </a:solidFill>
              <a:latin typeface="华文中宋" panose="02010600040101010101" pitchFamily="2" charset="-122"/>
            </a:endParaRPr>
          </a:p>
          <a:p>
            <a:pPr marL="457200" indent="-457200" eaLnBrk="1" hangingPunct="1">
              <a:lnSpc>
                <a:spcPts val="3525"/>
              </a:lnSpc>
              <a:buFont typeface="Arial" panose="020B0604020202020204" pitchFamily="34" charset="0"/>
              <a:buChar char="•"/>
            </a:pPr>
            <a:r>
              <a:rPr lang="zh-CN" altLang="zh-CN" sz="2600" b="0" dirty="0">
                <a:solidFill>
                  <a:schemeClr val="tx1"/>
                </a:solidFill>
                <a:latin typeface="华文中宋" panose="02010600040101010101" pitchFamily="2" charset="-122"/>
              </a:rPr>
              <a:t>（3）类可以直接拥有操作和属性，而构件仅拥有可以通过其接口访问的操作。</a:t>
            </a:r>
            <a:endParaRPr lang="zh-CN" altLang="zh-CN" sz="2600" b="0" dirty="0">
              <a:solidFill>
                <a:schemeClr val="tx1"/>
              </a:solidFill>
              <a:latin typeface="华文中宋" panose="0201060004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r>
              <a:rPr lang="zh-CN" altLang="en-US" dirty="0"/>
              <a:t>构件图</a:t>
            </a:r>
            <a:r>
              <a:rPr lang="en-US" altLang="zh-CN" dirty="0"/>
              <a:t>--</a:t>
            </a:r>
            <a:r>
              <a:rPr lang="zh-CN" altLang="en-US" dirty="0"/>
              <a:t>接口</a:t>
            </a:r>
            <a:endParaRPr lang="zh-CN" altLang="en-US" dirty="0"/>
          </a:p>
        </p:txBody>
      </p:sp>
      <p:sp>
        <p:nvSpPr>
          <p:cNvPr id="71683" name="内容占位符 2"/>
          <p:cNvSpPr>
            <a:spLocks noGrp="1"/>
          </p:cNvSpPr>
          <p:nvPr>
            <p:ph idx="1"/>
          </p:nvPr>
        </p:nvSpPr>
        <p:spPr>
          <a:xfrm>
            <a:off x="487363" y="1019175"/>
            <a:ext cx="8169275" cy="5554663"/>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sym typeface="+mn-ea"/>
              </a:rPr>
              <a:t>假如有一个类要使用构件中的某个类的具体的某个方法，但当这个具体的方法发生变化时，那么该类就不能应用构件中的相应内容了</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sym typeface="+mn-ea"/>
              </a:rPr>
              <a:t>在构件图中，构件可以通过其他组件的接口来使用其他构件中定义的操作。</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sym typeface="+mn-ea"/>
              </a:rPr>
              <a:t>通过使用命名的接口，可以避免在系统中各个构件之间直接发生依赖关系，有利于构件的替换。</a:t>
            </a: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sym typeface="+mn-ea"/>
              </a:rPr>
              <a:t>应用接口，可以隐藏具体的实现细节，这样，构件中的内容可以任意变化，而接口却是相对固定的</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p:txBody>
      </p:sp>
      <p:sp>
        <p:nvSpPr>
          <p:cNvPr id="71684"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ln/>
        </p:spPr>
        <p:txBody>
          <a:bodyPr vert="horz" wrap="square" lIns="91440" tIns="45720" rIns="91440" bIns="45720" anchor="ctr" anchorCtr="0"/>
          <a:p>
            <a:r>
              <a:rPr lang="zh-CN" altLang="en-US" dirty="0"/>
              <a:t>构件图</a:t>
            </a:r>
            <a:r>
              <a:rPr lang="en-US" altLang="zh-CN" dirty="0"/>
              <a:t>--</a:t>
            </a:r>
            <a:r>
              <a:rPr lang="zh-CN" altLang="en-US" dirty="0"/>
              <a:t>接口类型</a:t>
            </a:r>
            <a:endParaRPr lang="zh-CN" altLang="en-US" dirty="0"/>
          </a:p>
        </p:txBody>
      </p:sp>
      <p:sp>
        <p:nvSpPr>
          <p:cNvPr id="76803" name="内容占位符 2"/>
          <p:cNvSpPr>
            <a:spLocks noGrp="1" noChangeArrowheads="1"/>
          </p:cNvSpPr>
          <p:nvPr>
            <p:ph idx="1"/>
          </p:nvPr>
        </p:nvSpPr>
        <p:spPr>
          <a:xfrm>
            <a:off x="765175" y="1171575"/>
            <a:ext cx="7785100" cy="49466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构件向外部展现两种接口：</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charset="0"/>
              <a:buChar char="ü"/>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供接口</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charset="0"/>
              <a:buChar char="ü"/>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需接口</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供接口表示构件为客户提供的功能，它告知用户构件如何被使用。构件至少要有一个供接口</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需接口表示为了使构件工作，构件必须要从其他服务中所获得的功能。需接口表示该接口是构件的成员变量或构件中类的成员变量</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373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rPr>
              <a:t>构件图</a:t>
            </a:r>
            <a:r>
              <a:rPr kumimoji="0" lang="en-US" altLang="zh-CN"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rPr>
              <a:t>--</a:t>
            </a:r>
            <a:r>
              <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rPr>
              <a:t>供接口和</a:t>
            </a:r>
            <a:r>
              <a:rPr kumimoji="0" lang="zh-CN" altLang="en-US" sz="2800" b="1"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需</a:t>
            </a:r>
            <a:r>
              <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rPr>
              <a:t>接口</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74755" name="内容占位符 2"/>
          <p:cNvSpPr>
            <a:spLocks noGrp="1"/>
          </p:cNvSpPr>
          <p:nvPr>
            <p:ph idx="1"/>
          </p:nvPr>
        </p:nvSpPr>
        <p:spPr>
          <a:xfrm>
            <a:off x="827088" y="1379538"/>
            <a:ext cx="7391400" cy="28225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供接口用棒棒糖式的图形表示，由一个封闭的圆形与一条直线组成</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需接口用插座式的图形表示，由一个半圆与一条直线组成</a:t>
            </a:r>
            <a:r>
              <a:rPr lang="zh-CN" altLang="en-US" sz="2200" dirty="0">
                <a:latin typeface="华文中宋" panose="02010600040101010101" pitchFamily="2" charset="-122"/>
                <a:ea typeface="华文中宋" panose="02010600040101010101" pitchFamily="2" charset="-122"/>
                <a:cs typeface="+mn-cs"/>
              </a:rPr>
              <a:t> </a:t>
            </a:r>
            <a:endParaRPr lang="zh-CN" altLang="en-US" sz="2200"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74756"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5" name="矩形 4"/>
          <p:cNvSpPr/>
          <p:nvPr/>
        </p:nvSpPr>
        <p:spPr>
          <a:xfrm>
            <a:off x="2620963" y="4113213"/>
            <a:ext cx="3081338" cy="976313"/>
          </a:xfrm>
          <a:prstGeom prst="rect">
            <a:avLst/>
          </a:prstGeom>
          <a:solidFill>
            <a:sysClr val="window" lastClr="FFFFFF"/>
          </a:solidFill>
          <a:ln w="15875" cap="flat" cmpd="sng" algn="ctr">
            <a:solidFill>
              <a:srgbClr val="42BA97"/>
            </a:solidFill>
            <a:prstDash val="solid"/>
            <a:headEnd type="none" w="med" len="med"/>
            <a:tailEnd type="none" w="med" len="med"/>
          </a:ln>
          <a:effectLst/>
        </p:spPr>
        <p:txBody>
          <a:bodyPr tIns="252000"/>
          <a:lstStyle/>
          <a:p>
            <a:pPr marL="0" marR="0" lvl="0" indent="0" algn="just" defTabSz="914400" rtl="0" eaLnBrk="1" fontAlgn="auto" latinLnBrk="0" hangingPunct="1">
              <a:lnSpc>
                <a:spcPct val="70000"/>
              </a:lnSpc>
              <a:spcBef>
                <a:spcPts val="0"/>
              </a:spcBef>
              <a:spcAft>
                <a:spcPts val="0"/>
              </a:spcAft>
              <a:buClrTx/>
              <a:buSzTx/>
              <a:buFontTx/>
              <a:buNone/>
              <a:defRPr/>
            </a:pPr>
            <a:r>
              <a:rPr kumimoji="0" lang="en-US" altLang="zh-CN" sz="2000" b="0" i="0" u="none" strike="noStrike" kern="0" cap="none" spc="0" normalizeH="0" baseline="0" noProof="1">
                <a:ln>
                  <a:noFill/>
                </a:ln>
                <a:solidFill>
                  <a:prstClr val="black"/>
                </a:solidFill>
                <a:effectLst/>
                <a:uLnTx/>
                <a:uFillTx/>
                <a:latin typeface="Calibri" panose="020F0502020204030204"/>
                <a:ea typeface="宋体" panose="02010600030101010101" pitchFamily="2" charset="-122"/>
                <a:cs typeface="+mn-cs"/>
              </a:rPr>
              <a:t>OrderProductSession</a:t>
            </a:r>
            <a:endParaRPr kumimoji="0" lang="en-US" altLang="zh-CN" sz="2000" b="0" i="0" u="none" strike="noStrike" kern="0" cap="none" spc="0" normalizeH="0" baseline="0" noProof="1">
              <a:ln>
                <a:noFill/>
              </a:ln>
              <a:solidFill>
                <a:prstClr val="black"/>
              </a:solidFill>
              <a:effectLst/>
              <a:uLnTx/>
              <a:uFillTx/>
              <a:latin typeface="Verdana" panose="020B0604030504040204" pitchFamily="34" charset="0"/>
              <a:ea typeface="宋体" panose="02010600030101010101" pitchFamily="2" charset="-122"/>
              <a:cs typeface="+mn-cs"/>
            </a:endParaRPr>
          </a:p>
        </p:txBody>
      </p:sp>
      <p:grpSp>
        <p:nvGrpSpPr>
          <p:cNvPr id="74758" name="组合 604165"/>
          <p:cNvGrpSpPr/>
          <p:nvPr/>
        </p:nvGrpSpPr>
        <p:grpSpPr>
          <a:xfrm>
            <a:off x="5140325" y="4187825"/>
            <a:ext cx="371475" cy="328613"/>
            <a:chOff x="7217" y="2376"/>
            <a:chExt cx="386" cy="340"/>
          </a:xfrm>
        </p:grpSpPr>
        <p:sp>
          <p:nvSpPr>
            <p:cNvPr id="7" name="矩形 604166"/>
            <p:cNvSpPr>
              <a:spLocks noChangeArrowheads="1"/>
            </p:cNvSpPr>
            <p:nvPr/>
          </p:nvSpPr>
          <p:spPr bwMode="auto">
            <a:xfrm>
              <a:off x="7319" y="2376"/>
              <a:ext cx="284" cy="340"/>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8" name="矩形 604167"/>
            <p:cNvSpPr>
              <a:spLocks noChangeArrowheads="1"/>
            </p:cNvSpPr>
            <p:nvPr/>
          </p:nvSpPr>
          <p:spPr bwMode="auto">
            <a:xfrm>
              <a:off x="7217" y="2424"/>
              <a:ext cx="256" cy="85"/>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9" name="矩形 604168"/>
            <p:cNvSpPr>
              <a:spLocks noChangeArrowheads="1"/>
            </p:cNvSpPr>
            <p:nvPr/>
          </p:nvSpPr>
          <p:spPr bwMode="auto">
            <a:xfrm>
              <a:off x="7217" y="2568"/>
              <a:ext cx="256" cy="85"/>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grpSp>
      <p:sp>
        <p:nvSpPr>
          <p:cNvPr id="74759" name="直接连接符 604169"/>
          <p:cNvSpPr/>
          <p:nvPr/>
        </p:nvSpPr>
        <p:spPr>
          <a:xfrm>
            <a:off x="5707063" y="4338638"/>
            <a:ext cx="520700" cy="1587"/>
          </a:xfrm>
          <a:prstGeom prst="line">
            <a:avLst/>
          </a:prstGeom>
          <a:ln w="9525" cap="flat" cmpd="sng">
            <a:solidFill>
              <a:srgbClr val="000000"/>
            </a:solidFill>
            <a:prstDash val="solid"/>
            <a:headEnd type="none" w="med" len="med"/>
            <a:tailEnd type="none" w="med" len="med"/>
          </a:ln>
        </p:spPr>
      </p:sp>
      <p:sp>
        <p:nvSpPr>
          <p:cNvPr id="74760" name="直接连接符 604170"/>
          <p:cNvSpPr/>
          <p:nvPr/>
        </p:nvSpPr>
        <p:spPr>
          <a:xfrm>
            <a:off x="5707063" y="4787900"/>
            <a:ext cx="520700" cy="1588"/>
          </a:xfrm>
          <a:prstGeom prst="line">
            <a:avLst/>
          </a:prstGeom>
          <a:ln w="9525" cap="flat" cmpd="sng">
            <a:solidFill>
              <a:srgbClr val="000000"/>
            </a:solidFill>
            <a:prstDash val="solid"/>
            <a:headEnd type="none" w="med" len="med"/>
            <a:tailEnd type="none" w="med" len="med"/>
          </a:ln>
        </p:spPr>
      </p:sp>
      <p:sp>
        <p:nvSpPr>
          <p:cNvPr id="74761" name="直接连接符 604171"/>
          <p:cNvSpPr/>
          <p:nvPr/>
        </p:nvSpPr>
        <p:spPr>
          <a:xfrm>
            <a:off x="2109788" y="4337050"/>
            <a:ext cx="519112" cy="1588"/>
          </a:xfrm>
          <a:prstGeom prst="line">
            <a:avLst/>
          </a:prstGeom>
          <a:ln w="9525" cap="flat" cmpd="sng">
            <a:solidFill>
              <a:srgbClr val="000000"/>
            </a:solidFill>
            <a:prstDash val="solid"/>
            <a:headEnd type="none" w="med" len="med"/>
            <a:tailEnd type="none" w="med" len="med"/>
          </a:ln>
        </p:spPr>
      </p:sp>
      <p:sp>
        <p:nvSpPr>
          <p:cNvPr id="74762" name="直接连接符 604172"/>
          <p:cNvSpPr/>
          <p:nvPr/>
        </p:nvSpPr>
        <p:spPr>
          <a:xfrm>
            <a:off x="2109788" y="4819650"/>
            <a:ext cx="519112" cy="1588"/>
          </a:xfrm>
          <a:prstGeom prst="line">
            <a:avLst/>
          </a:prstGeom>
          <a:ln w="9525" cap="flat" cmpd="sng">
            <a:solidFill>
              <a:srgbClr val="000000"/>
            </a:solidFill>
            <a:prstDash val="solid"/>
            <a:headEnd type="none" w="med" len="med"/>
            <a:tailEnd type="none" w="med" len="med"/>
          </a:ln>
        </p:spPr>
      </p:sp>
      <p:sp>
        <p:nvSpPr>
          <p:cNvPr id="74763" name="文本框 604173"/>
          <p:cNvSpPr txBox="1"/>
          <p:nvPr/>
        </p:nvSpPr>
        <p:spPr>
          <a:xfrm>
            <a:off x="5927725" y="3789363"/>
            <a:ext cx="1493838" cy="223837"/>
          </a:xfrm>
          <a:prstGeom prst="rect">
            <a:avLst/>
          </a:prstGeom>
          <a:noFill/>
          <a:ln w="9525">
            <a:noFill/>
          </a:ln>
        </p:spPr>
        <p:txBody>
          <a:bodyPr lIns="0" tIns="0" rIns="0" bIns="0"/>
          <a:p>
            <a:pPr algn="just" eaLnBrk="1" hangingPunct="1">
              <a:lnSpc>
                <a:spcPct val="70000"/>
              </a:lnSpc>
            </a:pPr>
            <a:r>
              <a:rPr lang="en-US" altLang="zh-CN" sz="2000" dirty="0">
                <a:solidFill>
                  <a:srgbClr val="344068"/>
                </a:solidFill>
                <a:latin typeface="Times New Roman" panose="02020603050405020304" pitchFamily="18" charset="0"/>
                <a:ea typeface="宋体" panose="02010600030101010101" pitchFamily="2" charset="-122"/>
              </a:rPr>
              <a:t>IRetailOrder</a:t>
            </a:r>
            <a:endParaRPr lang="en-US" altLang="zh-CN" sz="2000" dirty="0">
              <a:solidFill>
                <a:srgbClr val="344068"/>
              </a:solidFill>
              <a:latin typeface="Verdana" panose="020B0604030504040204" pitchFamily="34" charset="0"/>
              <a:ea typeface="宋体" panose="02010600030101010101" pitchFamily="2" charset="-122"/>
            </a:endParaRPr>
          </a:p>
        </p:txBody>
      </p:sp>
      <p:sp>
        <p:nvSpPr>
          <p:cNvPr id="74764" name="文本框 604174"/>
          <p:cNvSpPr txBox="1"/>
          <p:nvPr/>
        </p:nvSpPr>
        <p:spPr>
          <a:xfrm>
            <a:off x="6008688" y="5033963"/>
            <a:ext cx="1479550" cy="330200"/>
          </a:xfrm>
          <a:prstGeom prst="rect">
            <a:avLst/>
          </a:prstGeom>
          <a:noFill/>
          <a:ln w="9525">
            <a:noFill/>
          </a:ln>
        </p:spPr>
        <p:txBody>
          <a:bodyPr lIns="0" tIns="0" rIns="0" bIns="0"/>
          <a:p>
            <a:pPr algn="just" eaLnBrk="1" hangingPunct="1">
              <a:lnSpc>
                <a:spcPct val="70000"/>
              </a:lnSpc>
            </a:pPr>
            <a:r>
              <a:rPr lang="en-US" altLang="zh-CN" sz="2000" dirty="0">
                <a:solidFill>
                  <a:srgbClr val="344068"/>
                </a:solidFill>
                <a:latin typeface="Times New Roman" panose="02020603050405020304" pitchFamily="18" charset="0"/>
                <a:ea typeface="宋体" panose="02010600030101010101" pitchFamily="2" charset="-122"/>
              </a:rPr>
              <a:t>IBatchOrder</a:t>
            </a:r>
            <a:endParaRPr lang="en-US" altLang="zh-CN" sz="2000" dirty="0">
              <a:solidFill>
                <a:srgbClr val="344068"/>
              </a:solidFill>
              <a:latin typeface="Verdana" panose="020B0604030504040204" pitchFamily="34" charset="0"/>
              <a:ea typeface="宋体" panose="02010600030101010101" pitchFamily="2" charset="-122"/>
            </a:endParaRPr>
          </a:p>
        </p:txBody>
      </p:sp>
      <p:sp>
        <p:nvSpPr>
          <p:cNvPr id="16" name="椭圆 604175"/>
          <p:cNvSpPr>
            <a:spLocks noChangeArrowheads="1"/>
          </p:cNvSpPr>
          <p:nvPr/>
        </p:nvSpPr>
        <p:spPr bwMode="auto">
          <a:xfrm>
            <a:off x="1939925" y="4260850"/>
            <a:ext cx="173038" cy="150813"/>
          </a:xfrm>
          <a:prstGeom prst="ellipse">
            <a:avLst/>
          </a:prstGeom>
          <a:solidFill>
            <a:srgbClr val="FFFFFF"/>
          </a:solidFill>
          <a:ln w="9525">
            <a:solidFill>
              <a:srgbClr val="000000"/>
            </a:solidFill>
            <a:round/>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17" name="椭圆 604176"/>
          <p:cNvSpPr>
            <a:spLocks noChangeArrowheads="1"/>
          </p:cNvSpPr>
          <p:nvPr/>
        </p:nvSpPr>
        <p:spPr bwMode="auto">
          <a:xfrm>
            <a:off x="1939925" y="4746625"/>
            <a:ext cx="173038" cy="150813"/>
          </a:xfrm>
          <a:prstGeom prst="ellipse">
            <a:avLst/>
          </a:prstGeom>
          <a:solidFill>
            <a:srgbClr val="FFFFFF"/>
          </a:solidFill>
          <a:ln w="9525">
            <a:solidFill>
              <a:srgbClr val="000000"/>
            </a:solidFill>
            <a:round/>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74767" name="文本框 604177"/>
          <p:cNvSpPr txBox="1"/>
          <p:nvPr/>
        </p:nvSpPr>
        <p:spPr>
          <a:xfrm>
            <a:off x="1187450" y="3933825"/>
            <a:ext cx="1522413" cy="312738"/>
          </a:xfrm>
          <a:prstGeom prst="rect">
            <a:avLst/>
          </a:prstGeom>
          <a:noFill/>
          <a:ln w="9525">
            <a:noFill/>
          </a:ln>
        </p:spPr>
        <p:txBody>
          <a:bodyPr lIns="0" tIns="0" rIns="0" bIns="0"/>
          <a:p>
            <a:pPr algn="just" eaLnBrk="1" hangingPunct="1">
              <a:lnSpc>
                <a:spcPct val="70000"/>
              </a:lnSpc>
            </a:pPr>
            <a:r>
              <a:rPr lang="en-US" altLang="zh-CN" sz="2000" dirty="0">
                <a:solidFill>
                  <a:srgbClr val="344068"/>
                </a:solidFill>
                <a:latin typeface="Times New Roman" panose="02020603050405020304" pitchFamily="18" charset="0"/>
                <a:ea typeface="宋体" panose="02010600030101010101" pitchFamily="2" charset="-122"/>
              </a:rPr>
              <a:t>ISalesman</a:t>
            </a:r>
            <a:endParaRPr lang="en-US" altLang="zh-CN" sz="2000" dirty="0">
              <a:solidFill>
                <a:srgbClr val="344068"/>
              </a:solidFill>
              <a:latin typeface="Verdana" panose="020B0604030504040204" pitchFamily="34" charset="0"/>
              <a:ea typeface="宋体" panose="02010600030101010101" pitchFamily="2" charset="-122"/>
            </a:endParaRPr>
          </a:p>
        </p:txBody>
      </p:sp>
      <p:sp>
        <p:nvSpPr>
          <p:cNvPr id="74768" name="文本框 604178"/>
          <p:cNvSpPr txBox="1"/>
          <p:nvPr/>
        </p:nvSpPr>
        <p:spPr>
          <a:xfrm>
            <a:off x="1201738" y="4851400"/>
            <a:ext cx="1508125" cy="280988"/>
          </a:xfrm>
          <a:prstGeom prst="rect">
            <a:avLst/>
          </a:prstGeom>
          <a:noFill/>
          <a:ln w="9525">
            <a:noFill/>
          </a:ln>
        </p:spPr>
        <p:txBody>
          <a:bodyPr lIns="0" tIns="0" rIns="0" bIns="0"/>
          <a:p>
            <a:pPr algn="just" eaLnBrk="1" hangingPunct="1">
              <a:lnSpc>
                <a:spcPct val="70000"/>
              </a:lnSpc>
            </a:pPr>
            <a:r>
              <a:rPr lang="en-US" altLang="zh-CN" sz="2000" dirty="0">
                <a:solidFill>
                  <a:srgbClr val="344068"/>
                </a:solidFill>
                <a:latin typeface="Times New Roman" panose="02020603050405020304" pitchFamily="18" charset="0"/>
                <a:ea typeface="宋体" panose="02010600030101010101" pitchFamily="2" charset="-122"/>
              </a:rPr>
              <a:t>ICustomer</a:t>
            </a:r>
            <a:endParaRPr lang="en-US" altLang="zh-CN" sz="2000" dirty="0">
              <a:solidFill>
                <a:srgbClr val="344068"/>
              </a:solidFill>
              <a:latin typeface="Verdana" panose="020B0604030504040204" pitchFamily="34" charset="0"/>
              <a:ea typeface="宋体" panose="02010600030101010101" pitchFamily="2" charset="-122"/>
            </a:endParaRPr>
          </a:p>
        </p:txBody>
      </p:sp>
      <p:sp>
        <p:nvSpPr>
          <p:cNvPr id="74769" name="直接连接符 604179"/>
          <p:cNvSpPr/>
          <p:nvPr/>
        </p:nvSpPr>
        <p:spPr>
          <a:xfrm>
            <a:off x="4887913" y="5089525"/>
            <a:ext cx="1587" cy="450850"/>
          </a:xfrm>
          <a:prstGeom prst="line">
            <a:avLst/>
          </a:prstGeom>
          <a:ln w="9525" cap="flat" cmpd="sng">
            <a:solidFill>
              <a:srgbClr val="000000"/>
            </a:solidFill>
            <a:prstDash val="solid"/>
            <a:headEnd type="none" w="med" len="med"/>
            <a:tailEnd type="none" w="med" len="med"/>
          </a:ln>
        </p:spPr>
      </p:sp>
      <p:sp>
        <p:nvSpPr>
          <p:cNvPr id="74770" name="文本框 604180"/>
          <p:cNvSpPr txBox="1"/>
          <p:nvPr/>
        </p:nvSpPr>
        <p:spPr>
          <a:xfrm>
            <a:off x="2928938" y="5530850"/>
            <a:ext cx="1735137" cy="309563"/>
          </a:xfrm>
          <a:prstGeom prst="rect">
            <a:avLst/>
          </a:prstGeom>
          <a:noFill/>
          <a:ln w="9525">
            <a:noFill/>
          </a:ln>
        </p:spPr>
        <p:txBody>
          <a:bodyPr lIns="0" tIns="0" rIns="0" bIns="0"/>
          <a:p>
            <a:pPr algn="just" eaLnBrk="1" hangingPunct="1">
              <a:lnSpc>
                <a:spcPct val="70000"/>
              </a:lnSpc>
            </a:pPr>
            <a:r>
              <a:rPr lang="en-US" altLang="zh-CN" sz="2000" dirty="0">
                <a:solidFill>
                  <a:srgbClr val="344068"/>
                </a:solidFill>
                <a:latin typeface="Times New Roman" panose="02020603050405020304" pitchFamily="18" charset="0"/>
                <a:ea typeface="宋体" panose="02010600030101010101" pitchFamily="2" charset="-122"/>
              </a:rPr>
              <a:t>IManualOrder</a:t>
            </a:r>
            <a:endParaRPr lang="en-US" altLang="zh-CN" sz="2000" dirty="0">
              <a:solidFill>
                <a:srgbClr val="344068"/>
              </a:solidFill>
              <a:latin typeface="Verdana" panose="020B0604030504040204" pitchFamily="34" charset="0"/>
              <a:ea typeface="宋体" panose="02010600030101010101" pitchFamily="2" charset="-122"/>
            </a:endParaRPr>
          </a:p>
        </p:txBody>
      </p:sp>
      <p:sp>
        <p:nvSpPr>
          <p:cNvPr id="22" name="任意多边形 604181"/>
          <p:cNvSpPr>
            <a:spLocks noChangeArrowheads="1"/>
          </p:cNvSpPr>
          <p:nvPr/>
        </p:nvSpPr>
        <p:spPr bwMode="auto">
          <a:xfrm rot="15774519">
            <a:off x="6202363" y="4127500"/>
            <a:ext cx="433388" cy="360363"/>
          </a:xfrm>
          <a:custGeom>
            <a:avLst/>
            <a:gdLst>
              <a:gd name="T0" fmla="*/ 0 w 38154"/>
              <a:gd name="T1" fmla="*/ 781760948 h 21600"/>
              <a:gd name="T2" fmla="*/ 304297558 w 38154"/>
              <a:gd name="T3" fmla="*/ 0 h 21600"/>
              <a:gd name="T4" fmla="*/ 635212966 w 38154"/>
              <a:gd name="T5" fmla="*/ 1017507683 h 21600"/>
              <a:gd name="T6" fmla="*/ 0 w 38154"/>
              <a:gd name="T7" fmla="*/ 781760948 h 21600"/>
              <a:gd name="T8" fmla="*/ 304297558 w 38154"/>
              <a:gd name="T9" fmla="*/ 0 h 21600"/>
              <a:gd name="T10" fmla="*/ 635212966 w 38154"/>
              <a:gd name="T11" fmla="*/ 1017507683 h 21600"/>
              <a:gd name="T12" fmla="*/ 304297558 w 38154"/>
              <a:gd name="T13" fmla="*/ 167338057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154" h="21600" fill="none">
                <a:moveTo>
                  <a:pt x="0" y="10091"/>
                </a:moveTo>
                <a:cubicBezTo>
                  <a:pt x="3824" y="4027"/>
                  <a:pt x="10581" y="0"/>
                  <a:pt x="18279" y="0"/>
                </a:cubicBezTo>
                <a:cubicBezTo>
                  <a:pt x="27205" y="0"/>
                  <a:pt x="34866" y="5414"/>
                  <a:pt x="38157" y="13134"/>
                </a:cubicBezTo>
              </a:path>
              <a:path w="38154" h="21600" stroke="0">
                <a:moveTo>
                  <a:pt x="0" y="10091"/>
                </a:moveTo>
                <a:cubicBezTo>
                  <a:pt x="3824" y="4027"/>
                  <a:pt x="10581" y="0"/>
                  <a:pt x="18279" y="0"/>
                </a:cubicBezTo>
                <a:cubicBezTo>
                  <a:pt x="27205" y="0"/>
                  <a:pt x="34866" y="5414"/>
                  <a:pt x="38157" y="13134"/>
                </a:cubicBezTo>
                <a:lnTo>
                  <a:pt x="18279" y="21600"/>
                </a:lnTo>
                <a:lnTo>
                  <a:pt x="0" y="10091"/>
                </a:lnTo>
                <a:close/>
              </a:path>
            </a:pathLst>
          </a:custGeom>
          <a:noFill/>
          <a:ln w="952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23" name="任意多边形 604182"/>
          <p:cNvSpPr>
            <a:spLocks noChangeArrowheads="1"/>
          </p:cNvSpPr>
          <p:nvPr/>
        </p:nvSpPr>
        <p:spPr bwMode="auto">
          <a:xfrm rot="15774519">
            <a:off x="6223794" y="4569619"/>
            <a:ext cx="481013" cy="431800"/>
          </a:xfrm>
          <a:custGeom>
            <a:avLst/>
            <a:gdLst>
              <a:gd name="T0" fmla="*/ 0 w 38154"/>
              <a:gd name="T1" fmla="*/ 1611575555 h 21600"/>
              <a:gd name="T2" fmla="*/ 461761346 w 38154"/>
              <a:gd name="T3" fmla="*/ 0 h 21600"/>
              <a:gd name="T4" fmla="*/ 963916833 w 38154"/>
              <a:gd name="T5" fmla="*/ 2097548083 h 21600"/>
              <a:gd name="T6" fmla="*/ 0 w 38154"/>
              <a:gd name="T7" fmla="*/ 1611575555 h 21600"/>
              <a:gd name="T8" fmla="*/ 461761346 w 38154"/>
              <a:gd name="T9" fmla="*/ 0 h 21600"/>
              <a:gd name="T10" fmla="*/ 963916833 w 38154"/>
              <a:gd name="T11" fmla="*/ 2097548083 h 21600"/>
              <a:gd name="T12" fmla="*/ 461761346 w 38154"/>
              <a:gd name="T13" fmla="*/ 2147483646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154" h="21600" fill="none">
                <a:moveTo>
                  <a:pt x="0" y="10091"/>
                </a:moveTo>
                <a:cubicBezTo>
                  <a:pt x="3824" y="4027"/>
                  <a:pt x="10581" y="0"/>
                  <a:pt x="18279" y="0"/>
                </a:cubicBezTo>
                <a:cubicBezTo>
                  <a:pt x="27205" y="0"/>
                  <a:pt x="34866" y="5414"/>
                  <a:pt x="38157" y="13134"/>
                </a:cubicBezTo>
              </a:path>
              <a:path w="38154" h="21600" stroke="0">
                <a:moveTo>
                  <a:pt x="0" y="10091"/>
                </a:moveTo>
                <a:cubicBezTo>
                  <a:pt x="3824" y="4027"/>
                  <a:pt x="10581" y="0"/>
                  <a:pt x="18279" y="0"/>
                </a:cubicBezTo>
                <a:cubicBezTo>
                  <a:pt x="27205" y="0"/>
                  <a:pt x="34866" y="5414"/>
                  <a:pt x="38157" y="13134"/>
                </a:cubicBezTo>
                <a:lnTo>
                  <a:pt x="18279" y="21600"/>
                </a:lnTo>
                <a:lnTo>
                  <a:pt x="0" y="10091"/>
                </a:lnTo>
                <a:close/>
              </a:path>
            </a:pathLst>
          </a:custGeom>
          <a:noFill/>
          <a:ln w="952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24" name="任意多边形 604183"/>
          <p:cNvSpPr>
            <a:spLocks noChangeArrowheads="1"/>
          </p:cNvSpPr>
          <p:nvPr/>
        </p:nvSpPr>
        <p:spPr bwMode="auto">
          <a:xfrm rot="21398110">
            <a:off x="4662488" y="5532438"/>
            <a:ext cx="481013" cy="431800"/>
          </a:xfrm>
          <a:custGeom>
            <a:avLst/>
            <a:gdLst>
              <a:gd name="T0" fmla="*/ 0 w 38154"/>
              <a:gd name="T1" fmla="*/ 1611575555 h 21600"/>
              <a:gd name="T2" fmla="*/ 461763264 w 38154"/>
              <a:gd name="T3" fmla="*/ 0 h 21600"/>
              <a:gd name="T4" fmla="*/ 963920829 w 38154"/>
              <a:gd name="T5" fmla="*/ 2097548083 h 21600"/>
              <a:gd name="T6" fmla="*/ 0 w 38154"/>
              <a:gd name="T7" fmla="*/ 1611575555 h 21600"/>
              <a:gd name="T8" fmla="*/ 461763264 w 38154"/>
              <a:gd name="T9" fmla="*/ 0 h 21600"/>
              <a:gd name="T10" fmla="*/ 963920829 w 38154"/>
              <a:gd name="T11" fmla="*/ 2097548083 h 21600"/>
              <a:gd name="T12" fmla="*/ 461763264 w 38154"/>
              <a:gd name="T13" fmla="*/ 2147483646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154" h="21600" fill="none">
                <a:moveTo>
                  <a:pt x="0" y="10091"/>
                </a:moveTo>
                <a:cubicBezTo>
                  <a:pt x="3824" y="4027"/>
                  <a:pt x="10581" y="0"/>
                  <a:pt x="18279" y="0"/>
                </a:cubicBezTo>
                <a:cubicBezTo>
                  <a:pt x="27205" y="0"/>
                  <a:pt x="34866" y="5414"/>
                  <a:pt x="38157" y="13134"/>
                </a:cubicBezTo>
              </a:path>
              <a:path w="38154" h="21600" stroke="0">
                <a:moveTo>
                  <a:pt x="0" y="10091"/>
                </a:moveTo>
                <a:cubicBezTo>
                  <a:pt x="3824" y="4027"/>
                  <a:pt x="10581" y="0"/>
                  <a:pt x="18279" y="0"/>
                </a:cubicBezTo>
                <a:cubicBezTo>
                  <a:pt x="27205" y="0"/>
                  <a:pt x="34866" y="5414"/>
                  <a:pt x="38157" y="13134"/>
                </a:cubicBezTo>
                <a:lnTo>
                  <a:pt x="18279" y="21600"/>
                </a:lnTo>
                <a:lnTo>
                  <a:pt x="0" y="10091"/>
                </a:lnTo>
                <a:close/>
              </a:path>
            </a:pathLst>
          </a:custGeom>
          <a:noFill/>
          <a:ln w="952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zh-CN" altLang="en-US" dirty="0"/>
              <a:t>构件图</a:t>
            </a:r>
            <a:r>
              <a:rPr lang="en-US" altLang="zh-CN" dirty="0"/>
              <a:t>--</a:t>
            </a:r>
            <a:r>
              <a:rPr lang="zh-CN" altLang="en-US" dirty="0"/>
              <a:t>构件关系</a:t>
            </a:r>
            <a:endParaRPr lang="zh-CN" altLang="en-US" dirty="0"/>
          </a:p>
        </p:txBody>
      </p:sp>
      <p:sp>
        <p:nvSpPr>
          <p:cNvPr id="78851" name="内容占位符 2"/>
          <p:cNvSpPr>
            <a:spLocks noGrp="1" noChangeArrowheads="1"/>
          </p:cNvSpPr>
          <p:nvPr>
            <p:ph idx="1"/>
          </p:nvPr>
        </p:nvSpPr>
        <p:spPr>
          <a:xfrm>
            <a:off x="765175" y="1236663"/>
            <a:ext cx="7391400" cy="38576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如果一个构件有一个需接口，则表示它需要另一个构件或者类来为它提供服务</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为了表达构件与其他构件间的关系，供接口与需接口之间用一个表示</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依赖的箭头</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（即虚线加一个开箭头）连接起来，</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该箭头从需接口引出，指向服务供应者提供的供接口 </a:t>
            </a:r>
            <a:endPar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aphicFrame>
        <p:nvGraphicFramePr>
          <p:cNvPr id="75781" name="对象 -2147482585"/>
          <p:cNvGraphicFramePr>
            <a:graphicFrameLocks noChangeAspect="1"/>
          </p:cNvGraphicFramePr>
          <p:nvPr/>
        </p:nvGraphicFramePr>
        <p:xfrm>
          <a:off x="527050" y="4648200"/>
          <a:ext cx="8089900" cy="1109663"/>
        </p:xfrm>
        <a:graphic>
          <a:graphicData uri="http://schemas.openxmlformats.org/presentationml/2006/ole">
            <mc:AlternateContent xmlns:mc="http://schemas.openxmlformats.org/markup-compatibility/2006">
              <mc:Choice xmlns:v="urn:schemas-microsoft-com:vml" Requires="v">
                <p:oleObj spid="_x0000_s3088" name="" r:id="rId1" imgW="13209270" imgH="1600200" progId="Visio.Drawing.15">
                  <p:embed/>
                </p:oleObj>
              </mc:Choice>
              <mc:Fallback>
                <p:oleObj name="" r:id="rId1" imgW="13209270" imgH="1600200" progId="Visio.Drawing.15">
                  <p:embed/>
                  <p:pic>
                    <p:nvPicPr>
                      <p:cNvPr id="0" name="图片 3087"/>
                      <p:cNvPicPr/>
                      <p:nvPr/>
                    </p:nvPicPr>
                    <p:blipFill>
                      <a:blip r:embed="rId2"/>
                      <a:stretch>
                        <a:fillRect/>
                      </a:stretch>
                    </p:blipFill>
                    <p:spPr>
                      <a:xfrm>
                        <a:off x="527050" y="4648200"/>
                        <a:ext cx="8089900" cy="1109663"/>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5" name="内容占位符 2"/>
          <p:cNvSpPr>
            <a:spLocks noGrp="1" noChangeArrowheads="1"/>
          </p:cNvSpPr>
          <p:nvPr>
            <p:ph idx="1"/>
          </p:nvPr>
        </p:nvSpPr>
        <p:spPr>
          <a:xfrm>
            <a:off x="738188" y="252413"/>
            <a:ext cx="7391400" cy="630238"/>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构建间的关系</a:t>
            </a:r>
            <a:endPar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6803"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graphicFrame>
        <p:nvGraphicFramePr>
          <p:cNvPr id="76804" name="对象 -2147482584"/>
          <p:cNvGraphicFramePr>
            <a:graphicFrameLocks noChangeAspect="1"/>
          </p:cNvGraphicFramePr>
          <p:nvPr/>
        </p:nvGraphicFramePr>
        <p:xfrm>
          <a:off x="2460625" y="2998788"/>
          <a:ext cx="4222750" cy="862012"/>
        </p:xfrm>
        <a:graphic>
          <a:graphicData uri="http://schemas.openxmlformats.org/presentationml/2006/ole">
            <mc:AlternateContent xmlns:mc="http://schemas.openxmlformats.org/markup-compatibility/2006">
              <mc:Choice xmlns:v="urn:schemas-microsoft-com:vml" Requires="v">
                <p:oleObj spid="_x0000_s3086" name="" r:id="rId1" imgW="5317490" imgH="1083310" progId="Visio.Drawing.15">
                  <p:embed/>
                </p:oleObj>
              </mc:Choice>
              <mc:Fallback>
                <p:oleObj name="" r:id="rId1" imgW="5317490" imgH="1083310" progId="Visio.Drawing.15">
                  <p:embed/>
                  <p:pic>
                    <p:nvPicPr>
                      <p:cNvPr id="0" name="图片 3085"/>
                      <p:cNvPicPr/>
                      <p:nvPr/>
                    </p:nvPicPr>
                    <p:blipFill>
                      <a:blip r:embed="rId2"/>
                      <a:stretch>
                        <a:fillRect/>
                      </a:stretch>
                    </p:blipFill>
                    <p:spPr>
                      <a:xfrm>
                        <a:off x="2460625" y="2998788"/>
                        <a:ext cx="4222750" cy="862012"/>
                      </a:xfrm>
                      <a:prstGeom prst="rect">
                        <a:avLst/>
                      </a:prstGeom>
                      <a:noFill/>
                      <a:ln w="38100">
                        <a:noFill/>
                        <a:miter/>
                      </a:ln>
                    </p:spPr>
                  </p:pic>
                </p:oleObj>
              </mc:Fallback>
            </mc:AlternateContent>
          </a:graphicData>
        </a:graphic>
      </p:graphicFrame>
      <p:graphicFrame>
        <p:nvGraphicFramePr>
          <p:cNvPr id="76805" name="对象 -2147482580"/>
          <p:cNvGraphicFramePr>
            <a:graphicFrameLocks noChangeAspect="1"/>
          </p:cNvGraphicFramePr>
          <p:nvPr/>
        </p:nvGraphicFramePr>
        <p:xfrm>
          <a:off x="2159000" y="4633913"/>
          <a:ext cx="5159375" cy="671512"/>
        </p:xfrm>
        <a:graphic>
          <a:graphicData uri="http://schemas.openxmlformats.org/presentationml/2006/ole">
            <mc:AlternateContent xmlns:mc="http://schemas.openxmlformats.org/markup-compatibility/2006">
              <mc:Choice xmlns:v="urn:schemas-microsoft-com:vml" Requires="v">
                <p:oleObj spid="_x0000_s3087" name="" r:id="rId3" imgW="4840605" imgH="636270" progId="Visio.Drawing.15">
                  <p:embed/>
                </p:oleObj>
              </mc:Choice>
              <mc:Fallback>
                <p:oleObj name="" r:id="rId3" imgW="4840605" imgH="636270" progId="Visio.Drawing.15">
                  <p:embed/>
                  <p:pic>
                    <p:nvPicPr>
                      <p:cNvPr id="0" name="图片 3086"/>
                      <p:cNvPicPr/>
                      <p:nvPr/>
                    </p:nvPicPr>
                    <p:blipFill>
                      <a:blip r:embed="rId4"/>
                      <a:stretch>
                        <a:fillRect/>
                      </a:stretch>
                    </p:blipFill>
                    <p:spPr>
                      <a:xfrm>
                        <a:off x="2159000" y="4633913"/>
                        <a:ext cx="5159375" cy="671512"/>
                      </a:xfrm>
                      <a:prstGeom prst="rect">
                        <a:avLst/>
                      </a:prstGeom>
                      <a:noFill/>
                      <a:ln w="38100">
                        <a:noFill/>
                        <a:miter/>
                      </a:ln>
                    </p:spPr>
                  </p:pic>
                </p:oleObj>
              </mc:Fallback>
            </mc:AlternateContent>
          </a:graphicData>
        </a:graphic>
      </p:graphicFrame>
      <p:sp>
        <p:nvSpPr>
          <p:cNvPr id="76806" name="文本框 99"/>
          <p:cNvSpPr txBox="1"/>
          <p:nvPr/>
        </p:nvSpPr>
        <p:spPr>
          <a:xfrm>
            <a:off x="750888" y="1438275"/>
            <a:ext cx="7642225" cy="828675"/>
          </a:xfrm>
          <a:prstGeom prst="rect">
            <a:avLst/>
          </a:prstGeom>
          <a:noFill/>
          <a:ln w="9525">
            <a:noFill/>
          </a:ln>
        </p:spPr>
        <p:txBody>
          <a:bodyPr>
            <a:spAutoFit/>
          </a:bodyPr>
          <a:p>
            <a:pPr marL="342900" indent="-342900" eaLnBrk="1" hangingPunct="1">
              <a:buFont typeface="Arial" panose="020B0604020202020204" pitchFamily="34" charset="0"/>
              <a:buChar char="•"/>
            </a:pPr>
            <a:r>
              <a:rPr lang="zh-CN" altLang="zh-CN" b="0" dirty="0">
                <a:latin typeface="华文中宋" panose="02010600040101010101" pitchFamily="2" charset="-122"/>
                <a:ea typeface="宋体" panose="02010600030101010101" pitchFamily="2" charset="-122"/>
              </a:rPr>
              <a:t>更简单的，可以忽略构件间的供接口和需接口，而直接在构件间画上依赖关系，如图所示。</a:t>
            </a:r>
            <a:endParaRPr lang="zh-CN" altLang="en-US" dirty="0">
              <a:latin typeface="华文中宋" panose="0201060004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ln/>
        </p:spPr>
        <p:txBody>
          <a:bodyPr vert="horz" wrap="square" lIns="91440" tIns="45720" rIns="91440" bIns="45720" anchor="ctr" anchorCtr="0"/>
          <a:p>
            <a:r>
              <a:rPr lang="zh-CN" altLang="en-US" dirty="0"/>
              <a:t>构件图</a:t>
            </a:r>
            <a:r>
              <a:rPr lang="en-US" altLang="zh-CN" dirty="0"/>
              <a:t>--</a:t>
            </a:r>
            <a:r>
              <a:rPr lang="zh-CN" altLang="en-US" dirty="0"/>
              <a:t>实现构建的类</a:t>
            </a:r>
            <a:endParaRPr lang="zh-CN" altLang="en-US" dirty="0"/>
          </a:p>
        </p:txBody>
      </p:sp>
      <p:sp>
        <p:nvSpPr>
          <p:cNvPr id="82947" name="内容占位符 2"/>
          <p:cNvSpPr>
            <a:spLocks noGrp="1" noChangeArrowheads="1"/>
          </p:cNvSpPr>
          <p:nvPr>
            <p:ph idx="1"/>
          </p:nvPr>
        </p:nvSpPr>
        <p:spPr>
          <a:xfrm>
            <a:off x="827088" y="1196975"/>
            <a:ext cx="7391400" cy="25971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实现构件的类</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构件需要包含和使用一些类来实施它的功能，这些类实现了这个构件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可以在构件中画出这些类和类间的关系 </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782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 altLang="zh-CN" sz="1800" dirty="0">
                <a:latin typeface="Times New Roman" panose="02020603050405020304" pitchFamily="18" charset="0"/>
                <a:ea typeface="宋体" panose="02010600030101010101" pitchFamily="2" charset="-122"/>
              </a:rPr>
              <a:t>　　</a:t>
            </a:r>
            <a:fld id="{9A0DB2DC-4C9A-4742-B13C-FB6460FD3503}" type="slidenum">
              <a:rPr lang="" altLang="zh-CN" sz="1800" dirty="0">
                <a:latin typeface="Times New Roman" panose="02020603050405020304" pitchFamily="18" charset="0"/>
                <a:ea typeface="宋体" panose="02010600030101010101" pitchFamily="2" charset="-122"/>
              </a:rPr>
            </a:fld>
            <a:r>
              <a:rPr lang="" altLang="zh-CN" sz="1800" dirty="0">
                <a:latin typeface="Times New Roman" panose="02020603050405020304" pitchFamily="18" charset="0"/>
                <a:ea typeface="宋体" panose="02010600030101010101" pitchFamily="2" charset="-122"/>
              </a:rPr>
              <a:t>　　　　　　</a:t>
            </a:r>
            <a:endParaRPr lang="" altLang="zh-CN" sz="1800" dirty="0">
              <a:latin typeface="Times New Roman" panose="02020603050405020304" pitchFamily="18" charset="0"/>
              <a:ea typeface="宋体" panose="02010600030101010101" pitchFamily="2" charset="-122"/>
            </a:endParaRPr>
          </a:p>
        </p:txBody>
      </p:sp>
      <p:sp>
        <p:nvSpPr>
          <p:cNvPr id="77829" name="文本占位符 611330"/>
          <p:cNvSpPr txBox="1"/>
          <p:nvPr/>
        </p:nvSpPr>
        <p:spPr>
          <a:xfrm>
            <a:off x="684213" y="3433763"/>
            <a:ext cx="7704137" cy="2947987"/>
          </a:xfrm>
          <a:prstGeom prst="rect">
            <a:avLst/>
          </a:prstGeom>
          <a:noFill/>
          <a:ln w="9525">
            <a:noFill/>
          </a:ln>
        </p:spPr>
        <p:txBody>
          <a:bodyPr lIns="0" rIns="0"/>
          <a:p>
            <a:pPr eaLnBrk="1" hangingPunct="1">
              <a:lnSpc>
                <a:spcPct val="90000"/>
              </a:lnSpc>
              <a:spcBef>
                <a:spcPts val="1200"/>
              </a:spcBef>
              <a:spcAft>
                <a:spcPts val="200"/>
              </a:spcAft>
              <a:buClr>
                <a:srgbClr val="1CADE4"/>
              </a:buClr>
              <a:buSzPct val="100000"/>
            </a:pPr>
            <a:endParaRPr lang="en-US" altLang="en-US" b="0" dirty="0">
              <a:solidFill>
                <a:srgbClr val="404040"/>
              </a:solidFill>
              <a:latin typeface="Calibri" panose="020F0502020204030204" pitchFamily="34" charset="0"/>
              <a:ea typeface="宋体" panose="02010600030101010101" pitchFamily="2" charset="-122"/>
            </a:endParaRPr>
          </a:p>
        </p:txBody>
      </p:sp>
      <p:sp>
        <p:nvSpPr>
          <p:cNvPr id="77830" name="直接连接符 611332"/>
          <p:cNvSpPr/>
          <p:nvPr/>
        </p:nvSpPr>
        <p:spPr>
          <a:xfrm>
            <a:off x="528638" y="4965700"/>
            <a:ext cx="1636712" cy="0"/>
          </a:xfrm>
          <a:prstGeom prst="line">
            <a:avLst/>
          </a:prstGeom>
          <a:ln w="9525" cap="flat" cmpd="sng">
            <a:solidFill>
              <a:srgbClr val="000000"/>
            </a:solidFill>
            <a:prstDash val="solid"/>
            <a:headEnd type="none" w="med" len="med"/>
            <a:tailEnd type="none" w="med" len="med"/>
          </a:ln>
        </p:spPr>
      </p:sp>
      <p:sp>
        <p:nvSpPr>
          <p:cNvPr id="8" name="矩形 7"/>
          <p:cNvSpPr/>
          <p:nvPr/>
        </p:nvSpPr>
        <p:spPr>
          <a:xfrm>
            <a:off x="2128838" y="3606800"/>
            <a:ext cx="4130675" cy="2125663"/>
          </a:xfrm>
          <a:prstGeom prst="rect">
            <a:avLst/>
          </a:prstGeom>
          <a:solidFill>
            <a:sysClr val="window" lastClr="FFFFFF"/>
          </a:solidFill>
          <a:ln w="15875" cap="flat" cmpd="sng" algn="ctr">
            <a:solidFill>
              <a:sysClr val="windowText" lastClr="000000"/>
            </a:solidFill>
            <a:prstDash val="solid"/>
            <a:headEnd type="none" w="med" len="med"/>
            <a:tailEnd type="none" w="med" len="med"/>
          </a:ln>
          <a:effectLst/>
        </p:spPr>
        <p:txBody>
          <a:bodyPr tIns="144000"/>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Verdana" panose="020B0604030504040204" pitchFamily="34" charset="0"/>
              <a:ea typeface="宋体" panose="02010600030101010101" pitchFamily="2" charset="-122"/>
              <a:cs typeface="+mn-cs"/>
            </a:endParaRPr>
          </a:p>
        </p:txBody>
      </p:sp>
      <p:grpSp>
        <p:nvGrpSpPr>
          <p:cNvPr id="77832" name="组合 611334"/>
          <p:cNvGrpSpPr/>
          <p:nvPr/>
        </p:nvGrpSpPr>
        <p:grpSpPr>
          <a:xfrm>
            <a:off x="5645150" y="3870325"/>
            <a:ext cx="438150" cy="387350"/>
            <a:chOff x="7217" y="2376"/>
            <a:chExt cx="386" cy="340"/>
          </a:xfrm>
        </p:grpSpPr>
        <p:sp>
          <p:nvSpPr>
            <p:cNvPr id="10" name="矩形 611335"/>
            <p:cNvSpPr>
              <a:spLocks noChangeArrowheads="1"/>
            </p:cNvSpPr>
            <p:nvPr/>
          </p:nvSpPr>
          <p:spPr bwMode="auto">
            <a:xfrm>
              <a:off x="7320" y="2376"/>
              <a:ext cx="283" cy="340"/>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11" name="矩形 611336"/>
            <p:cNvSpPr>
              <a:spLocks noChangeArrowheads="1"/>
            </p:cNvSpPr>
            <p:nvPr/>
          </p:nvSpPr>
          <p:spPr bwMode="auto">
            <a:xfrm>
              <a:off x="7217" y="2423"/>
              <a:ext cx="255" cy="85"/>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12" name="矩形 611337"/>
            <p:cNvSpPr>
              <a:spLocks noChangeArrowheads="1"/>
            </p:cNvSpPr>
            <p:nvPr/>
          </p:nvSpPr>
          <p:spPr bwMode="auto">
            <a:xfrm>
              <a:off x="7217" y="2568"/>
              <a:ext cx="255" cy="85"/>
            </a:xfrm>
            <a:prstGeom prst="rect">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grpSp>
      <p:sp>
        <p:nvSpPr>
          <p:cNvPr id="77833" name="文本框 611338"/>
          <p:cNvSpPr txBox="1"/>
          <p:nvPr/>
        </p:nvSpPr>
        <p:spPr>
          <a:xfrm>
            <a:off x="6513513" y="4638675"/>
            <a:ext cx="973137" cy="354013"/>
          </a:xfrm>
          <a:prstGeom prst="rect">
            <a:avLst/>
          </a:prstGeom>
          <a:noFill/>
          <a:ln w="9525">
            <a:noFill/>
          </a:ln>
        </p:spPr>
        <p:txBody>
          <a:bodyPr lIns="0" tIns="0" rIns="0" bIns="0"/>
          <a:p>
            <a:pPr algn="ctr" eaLnBrk="1" hangingPunct="1">
              <a:lnSpc>
                <a:spcPct val="70000"/>
              </a:lnSpc>
            </a:pPr>
            <a:r>
              <a:rPr lang="en-US" altLang="zh-CN" dirty="0">
                <a:solidFill>
                  <a:srgbClr val="344068"/>
                </a:solidFill>
                <a:latin typeface="Times New Roman" panose="02020603050405020304" pitchFamily="18" charset="0"/>
                <a:ea typeface="宋体" panose="02010600030101010101" pitchFamily="2" charset="-122"/>
              </a:rPr>
              <a:t>Logger</a:t>
            </a:r>
            <a:endParaRPr lang="en-US" altLang="zh-CN" dirty="0">
              <a:solidFill>
                <a:srgbClr val="344068"/>
              </a:solidFill>
              <a:latin typeface="Times New Roman" panose="02020603050405020304" pitchFamily="18" charset="0"/>
              <a:ea typeface="宋体" panose="02010600030101010101" pitchFamily="2" charset="-122"/>
            </a:endParaRPr>
          </a:p>
        </p:txBody>
      </p:sp>
      <p:sp>
        <p:nvSpPr>
          <p:cNvPr id="77834" name="文本框 611339"/>
          <p:cNvSpPr txBox="1"/>
          <p:nvPr/>
        </p:nvSpPr>
        <p:spPr>
          <a:xfrm>
            <a:off x="2555875" y="3943350"/>
            <a:ext cx="2865438" cy="709613"/>
          </a:xfrm>
          <a:prstGeom prst="rect">
            <a:avLst/>
          </a:prstGeom>
          <a:noFill/>
          <a:ln w="9525">
            <a:noFill/>
          </a:ln>
        </p:spPr>
        <p:txBody>
          <a:bodyPr lIns="0" tIns="0" rIns="0" bIns="0"/>
          <a:p>
            <a:pPr algn="ctr" eaLnBrk="1" hangingPunct="1">
              <a:lnSpc>
                <a:spcPct val="70000"/>
              </a:lnSpc>
            </a:pPr>
            <a:r>
              <a:rPr lang="en-US" altLang="zh-CN" dirty="0">
                <a:solidFill>
                  <a:srgbClr val="344068"/>
                </a:solidFill>
                <a:latin typeface="Times New Roman" panose="02020603050405020304" pitchFamily="18" charset="0"/>
                <a:ea typeface="宋体" panose="02010600030101010101" pitchFamily="2" charset="-122"/>
              </a:rPr>
              <a:t>BlogDataSource</a:t>
            </a:r>
            <a:endParaRPr lang="en-US" altLang="zh-CN" dirty="0">
              <a:solidFill>
                <a:srgbClr val="344068"/>
              </a:solidFill>
              <a:latin typeface="Times New Roman" panose="02020603050405020304" pitchFamily="18" charset="0"/>
              <a:ea typeface="宋体" panose="02010600030101010101" pitchFamily="2" charset="-122"/>
            </a:endParaRPr>
          </a:p>
        </p:txBody>
      </p:sp>
      <p:sp>
        <p:nvSpPr>
          <p:cNvPr id="15" name="椭圆 611340"/>
          <p:cNvSpPr>
            <a:spLocks noChangeArrowheads="1"/>
          </p:cNvSpPr>
          <p:nvPr/>
        </p:nvSpPr>
        <p:spPr bwMode="auto">
          <a:xfrm>
            <a:off x="323850" y="4884738"/>
            <a:ext cx="204788" cy="176213"/>
          </a:xfrm>
          <a:prstGeom prst="ellipse">
            <a:avLst/>
          </a:prstGeom>
          <a:solidFill>
            <a:srgbClr val="FFFFFF"/>
          </a:solidFill>
          <a:ln w="9525">
            <a:solidFill>
              <a:srgbClr val="000000"/>
            </a:solidFill>
            <a:round/>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77836" name="文本框 611341"/>
          <p:cNvSpPr txBox="1"/>
          <p:nvPr/>
        </p:nvSpPr>
        <p:spPr>
          <a:xfrm>
            <a:off x="557213" y="4659313"/>
            <a:ext cx="1638300" cy="354012"/>
          </a:xfrm>
          <a:prstGeom prst="rect">
            <a:avLst/>
          </a:prstGeom>
          <a:noFill/>
          <a:ln w="9525">
            <a:noFill/>
          </a:ln>
        </p:spPr>
        <p:txBody>
          <a:bodyPr lIns="0" tIns="0" rIns="0" bIns="0"/>
          <a:p>
            <a:pPr algn="just" eaLnBrk="1" hangingPunct="1">
              <a:lnSpc>
                <a:spcPct val="70000"/>
              </a:lnSpc>
            </a:pPr>
            <a:r>
              <a:rPr lang="en-US" altLang="zh-CN" dirty="0">
                <a:solidFill>
                  <a:srgbClr val="344068"/>
                </a:solidFill>
                <a:latin typeface="Times New Roman" panose="02020603050405020304" pitchFamily="18" charset="0"/>
                <a:ea typeface="宋体" panose="02010600030101010101" pitchFamily="2" charset="-122"/>
              </a:rPr>
              <a:t>DataSource</a:t>
            </a:r>
            <a:endParaRPr lang="en-US" altLang="zh-CN" dirty="0">
              <a:solidFill>
                <a:srgbClr val="344068"/>
              </a:solidFill>
              <a:latin typeface="Times New Roman" panose="02020603050405020304" pitchFamily="18" charset="0"/>
              <a:ea typeface="宋体" panose="02010600030101010101" pitchFamily="2" charset="-122"/>
            </a:endParaRPr>
          </a:p>
        </p:txBody>
      </p:sp>
      <p:sp>
        <p:nvSpPr>
          <p:cNvPr id="77837" name="直接连接符 611342"/>
          <p:cNvSpPr/>
          <p:nvPr/>
        </p:nvSpPr>
        <p:spPr>
          <a:xfrm>
            <a:off x="6227763" y="4964113"/>
            <a:ext cx="1433512" cy="1587"/>
          </a:xfrm>
          <a:prstGeom prst="line">
            <a:avLst/>
          </a:prstGeom>
          <a:ln w="9525" cap="flat" cmpd="sng">
            <a:solidFill>
              <a:srgbClr val="000000"/>
            </a:solidFill>
            <a:prstDash val="solid"/>
            <a:headEnd type="none" w="med" len="med"/>
            <a:tailEnd type="none" w="med" len="med"/>
          </a:ln>
        </p:spPr>
      </p:sp>
      <p:sp>
        <p:nvSpPr>
          <p:cNvPr id="77838" name="矩形 611343"/>
          <p:cNvSpPr/>
          <p:nvPr/>
        </p:nvSpPr>
        <p:spPr>
          <a:xfrm>
            <a:off x="2370138" y="4965700"/>
            <a:ext cx="1227137" cy="531813"/>
          </a:xfrm>
          <a:prstGeom prst="rect">
            <a:avLst/>
          </a:prstGeom>
          <a:solidFill>
            <a:srgbClr val="FFFFFF"/>
          </a:solidFill>
          <a:ln w="9525" cap="flat" cmpd="sng">
            <a:solidFill>
              <a:srgbClr val="000000"/>
            </a:solidFill>
            <a:prstDash val="solid"/>
            <a:miter/>
            <a:headEnd type="none" w="med" len="med"/>
            <a:tailEnd type="none" w="med" len="med"/>
          </a:ln>
        </p:spPr>
        <p:txBody>
          <a:bodyPr/>
          <a:p>
            <a:pPr algn="ctr" eaLnBrk="1" hangingPunct="1">
              <a:lnSpc>
                <a:spcPct val="70000"/>
              </a:lnSpc>
            </a:pPr>
            <a:r>
              <a:rPr lang="en-US" altLang="zh-CN" dirty="0">
                <a:solidFill>
                  <a:srgbClr val="344068"/>
                </a:solidFill>
                <a:latin typeface="Times New Roman" panose="02020603050405020304" pitchFamily="18" charset="0"/>
                <a:ea typeface="宋体" panose="02010600030101010101" pitchFamily="2" charset="-122"/>
              </a:rPr>
              <a:t>Blog</a:t>
            </a:r>
            <a:endParaRPr lang="en-US" altLang="zh-CN" dirty="0">
              <a:solidFill>
                <a:srgbClr val="344068"/>
              </a:solidFill>
              <a:latin typeface="Times New Roman" panose="02020603050405020304" pitchFamily="18" charset="0"/>
              <a:ea typeface="宋体" panose="02010600030101010101" pitchFamily="2" charset="-122"/>
            </a:endParaRPr>
          </a:p>
        </p:txBody>
      </p:sp>
      <p:sp>
        <p:nvSpPr>
          <p:cNvPr id="77839" name="矩形 611344"/>
          <p:cNvSpPr/>
          <p:nvPr/>
        </p:nvSpPr>
        <p:spPr>
          <a:xfrm>
            <a:off x="4826000" y="4965700"/>
            <a:ext cx="1228725" cy="531813"/>
          </a:xfrm>
          <a:prstGeom prst="rect">
            <a:avLst/>
          </a:prstGeom>
          <a:solidFill>
            <a:srgbClr val="FFFFFF"/>
          </a:solidFill>
          <a:ln w="9525" cap="flat" cmpd="sng">
            <a:solidFill>
              <a:srgbClr val="000000"/>
            </a:solidFill>
            <a:prstDash val="solid"/>
            <a:miter/>
            <a:headEnd type="none" w="med" len="med"/>
            <a:tailEnd type="none" w="med" len="med"/>
          </a:ln>
        </p:spPr>
        <p:txBody>
          <a:bodyPr/>
          <a:p>
            <a:pPr algn="ctr" eaLnBrk="1" hangingPunct="1">
              <a:lnSpc>
                <a:spcPct val="70000"/>
              </a:lnSpc>
            </a:pPr>
            <a:r>
              <a:rPr lang="en-US" altLang="zh-CN" dirty="0">
                <a:solidFill>
                  <a:srgbClr val="344068"/>
                </a:solidFill>
                <a:latin typeface="Times New Roman" panose="02020603050405020304" pitchFamily="18" charset="0"/>
                <a:ea typeface="宋体" panose="02010600030101010101" pitchFamily="2" charset="-122"/>
              </a:rPr>
              <a:t>Entry</a:t>
            </a:r>
            <a:endParaRPr lang="en-US" altLang="zh-CN" dirty="0">
              <a:solidFill>
                <a:srgbClr val="344068"/>
              </a:solidFill>
              <a:latin typeface="Times New Roman" panose="02020603050405020304" pitchFamily="18" charset="0"/>
              <a:ea typeface="宋体" panose="02010600030101010101" pitchFamily="2" charset="-122"/>
            </a:endParaRPr>
          </a:p>
        </p:txBody>
      </p:sp>
      <p:sp>
        <p:nvSpPr>
          <p:cNvPr id="20" name="流程图: 决策 611345"/>
          <p:cNvSpPr>
            <a:spLocks noChangeArrowheads="1"/>
          </p:cNvSpPr>
          <p:nvPr/>
        </p:nvSpPr>
        <p:spPr bwMode="auto">
          <a:xfrm>
            <a:off x="3597275" y="5143500"/>
            <a:ext cx="409575" cy="176213"/>
          </a:xfrm>
          <a:prstGeom prst="flowChartDecision">
            <a:avLst/>
          </a:prstGeom>
          <a:solidFill>
            <a:srgbClr val="FFFFFF"/>
          </a:solidFill>
          <a:ln w="9525">
            <a:solidFill>
              <a:srgbClr val="000000"/>
            </a:solidFill>
            <a:miter lim="800000"/>
          </a:ln>
        </p:spPr>
        <p:txBody>
          <a:bodyPr/>
          <a:lstStyle>
            <a:lvl1pPr>
              <a:defRPr sz="3200">
                <a:solidFill>
                  <a:schemeClr val="tx2"/>
                </a:solidFill>
                <a:latin typeface="Tahoma" panose="020B0604030504040204" pitchFamily="34" charset="0"/>
                <a:ea typeface="宋体" panose="02010600030101010101" pitchFamily="2" charset="-122"/>
              </a:defRPr>
            </a:lvl1pPr>
            <a:lvl2pPr marL="742950" indent="-285750">
              <a:defRPr sz="3200">
                <a:solidFill>
                  <a:schemeClr val="tx2"/>
                </a:solidFill>
                <a:latin typeface="Tahoma" panose="020B0604030504040204" pitchFamily="34" charset="0"/>
                <a:ea typeface="宋体" panose="02010600030101010101" pitchFamily="2" charset="-122"/>
              </a:defRPr>
            </a:lvl2pPr>
            <a:lvl3pPr marL="1143000" indent="-228600">
              <a:defRPr sz="3200">
                <a:solidFill>
                  <a:schemeClr val="tx2"/>
                </a:solidFill>
                <a:latin typeface="Tahoma" panose="020B0604030504040204" pitchFamily="34" charset="0"/>
                <a:ea typeface="宋体" panose="02010600030101010101" pitchFamily="2" charset="-122"/>
              </a:defRPr>
            </a:lvl3pPr>
            <a:lvl4pPr marL="1600200" indent="-228600">
              <a:defRPr sz="3200">
                <a:solidFill>
                  <a:schemeClr val="tx2"/>
                </a:solidFill>
                <a:latin typeface="Tahoma" panose="020B0604030504040204" pitchFamily="34" charset="0"/>
                <a:ea typeface="宋体" panose="02010600030101010101" pitchFamily="2" charset="-122"/>
              </a:defRPr>
            </a:lvl4pPr>
            <a:lvl5pPr marL="2057400" indent="-228600">
              <a:defRPr sz="3200">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auto" latinLnBrk="0" hangingPunct="1">
              <a:lnSpc>
                <a:spcPct val="7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77841" name="直接连接符 611346"/>
          <p:cNvSpPr/>
          <p:nvPr/>
        </p:nvSpPr>
        <p:spPr>
          <a:xfrm>
            <a:off x="4006850" y="5233988"/>
            <a:ext cx="819150" cy="1587"/>
          </a:xfrm>
          <a:prstGeom prst="line">
            <a:avLst/>
          </a:prstGeom>
          <a:ln w="9525" cap="flat" cmpd="sng">
            <a:solidFill>
              <a:srgbClr val="000000"/>
            </a:solidFill>
            <a:prstDash val="solid"/>
            <a:headEnd type="none" w="med" len="med"/>
            <a:tailEnd type="none" w="med" len="med"/>
          </a:ln>
        </p:spPr>
      </p:sp>
      <p:sp>
        <p:nvSpPr>
          <p:cNvPr id="77842" name="直接连接符 611347"/>
          <p:cNvSpPr/>
          <p:nvPr/>
        </p:nvSpPr>
        <p:spPr>
          <a:xfrm>
            <a:off x="2146300" y="4433888"/>
            <a:ext cx="4094163" cy="1587"/>
          </a:xfrm>
          <a:prstGeom prst="line">
            <a:avLst/>
          </a:prstGeom>
          <a:ln w="9525" cap="flat" cmpd="sng">
            <a:solidFill>
              <a:srgbClr val="000000"/>
            </a:solidFill>
            <a:prstDash val="solid"/>
            <a:headEnd type="none" w="med" len="med"/>
            <a:tailEnd type="none" w="med" len="med"/>
          </a:ln>
        </p:spPr>
      </p:sp>
      <p:sp>
        <p:nvSpPr>
          <p:cNvPr id="23" name="任意多边形 611348"/>
          <p:cNvSpPr>
            <a:spLocks noChangeArrowheads="1"/>
          </p:cNvSpPr>
          <p:nvPr/>
        </p:nvSpPr>
        <p:spPr bwMode="auto">
          <a:xfrm rot="15774519">
            <a:off x="7656513" y="4745038"/>
            <a:ext cx="433388" cy="360363"/>
          </a:xfrm>
          <a:custGeom>
            <a:avLst/>
            <a:gdLst>
              <a:gd name="T0" fmla="*/ 0 w 38154"/>
              <a:gd name="T1" fmla="*/ 781760948 h 21600"/>
              <a:gd name="T2" fmla="*/ 304295366 w 38154"/>
              <a:gd name="T3" fmla="*/ 0 h 21600"/>
              <a:gd name="T4" fmla="*/ 635210001 w 38154"/>
              <a:gd name="T5" fmla="*/ 1017507683 h 21600"/>
              <a:gd name="T6" fmla="*/ 0 w 38154"/>
              <a:gd name="T7" fmla="*/ 781760948 h 21600"/>
              <a:gd name="T8" fmla="*/ 304295366 w 38154"/>
              <a:gd name="T9" fmla="*/ 0 h 21600"/>
              <a:gd name="T10" fmla="*/ 635210001 w 38154"/>
              <a:gd name="T11" fmla="*/ 1017507683 h 21600"/>
              <a:gd name="T12" fmla="*/ 304295366 w 38154"/>
              <a:gd name="T13" fmla="*/ 1673380570 h 216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154" h="21600" fill="none">
                <a:moveTo>
                  <a:pt x="0" y="10091"/>
                </a:moveTo>
                <a:cubicBezTo>
                  <a:pt x="3824" y="4027"/>
                  <a:pt x="10581" y="0"/>
                  <a:pt x="18279" y="0"/>
                </a:cubicBezTo>
                <a:cubicBezTo>
                  <a:pt x="27205" y="0"/>
                  <a:pt x="34866" y="5414"/>
                  <a:pt x="38157" y="13134"/>
                </a:cubicBezTo>
              </a:path>
              <a:path w="38154" h="21600" stroke="0">
                <a:moveTo>
                  <a:pt x="0" y="10091"/>
                </a:moveTo>
                <a:cubicBezTo>
                  <a:pt x="3824" y="4027"/>
                  <a:pt x="10581" y="0"/>
                  <a:pt x="18279" y="0"/>
                </a:cubicBezTo>
                <a:cubicBezTo>
                  <a:pt x="27205" y="0"/>
                  <a:pt x="34866" y="5414"/>
                  <a:pt x="38157" y="13134"/>
                </a:cubicBezTo>
                <a:lnTo>
                  <a:pt x="18279" y="21600"/>
                </a:lnTo>
                <a:lnTo>
                  <a:pt x="0" y="10091"/>
                </a:lnTo>
                <a:close/>
              </a:path>
            </a:pathLst>
          </a:custGeom>
          <a:noFill/>
          <a:ln w="952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a:ln>
                <a:noFill/>
              </a:ln>
              <a:solidFill>
                <a:srgbClr val="344068"/>
              </a:solidFill>
              <a:effectLst/>
              <a:uLnTx/>
              <a:uFillTx/>
              <a:latin typeface="Tahoma" panose="020B0604030504040204" pitchFamily="34" charset="0"/>
              <a:ea typeface="宋体" panose="02010600030101010101" pitchFamily="2" charset="-122"/>
              <a:cs typeface="+mn-cs"/>
            </a:endParaRPr>
          </a:p>
        </p:txBody>
      </p:sp>
      <p:sp>
        <p:nvSpPr>
          <p:cNvPr id="77844" name="文本框 611349"/>
          <p:cNvSpPr txBox="1"/>
          <p:nvPr/>
        </p:nvSpPr>
        <p:spPr>
          <a:xfrm>
            <a:off x="3086100" y="5949950"/>
            <a:ext cx="3529013" cy="434975"/>
          </a:xfrm>
          <a:prstGeom prst="rect">
            <a:avLst/>
          </a:prstGeom>
          <a:noFill/>
          <a:ln w="9525">
            <a:noFill/>
          </a:ln>
        </p:spPr>
        <p:txBody>
          <a:bodyPr>
            <a:spAutoFit/>
          </a:bodyPr>
          <a:p>
            <a:pPr eaLnBrk="1" hangingPunct="1">
              <a:lnSpc>
                <a:spcPct val="70000"/>
              </a:lnSpc>
              <a:spcBef>
                <a:spcPct val="50000"/>
              </a:spcBef>
            </a:pPr>
            <a:r>
              <a:rPr lang="zh-CN" altLang="en-US" sz="3200" b="0" dirty="0">
                <a:solidFill>
                  <a:srgbClr val="344068"/>
                </a:solidFill>
                <a:latin typeface="Verdana" panose="020B0604030504040204" pitchFamily="34" charset="0"/>
                <a:ea typeface="宋体" panose="02010600030101010101" pitchFamily="2" charset="-122"/>
              </a:rPr>
              <a:t>实现构件的类 </a:t>
            </a:r>
            <a:endParaRPr lang="zh-CN" altLang="en-US" sz="3200" b="0" dirty="0">
              <a:solidFill>
                <a:srgbClr val="344068"/>
              </a:solidFill>
              <a:latin typeface="Verdana" panose="020B0604030504040204" pitchFamily="34"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7138</Words>
  <Application>WPS 演示</Application>
  <PresentationFormat>全屏显示(4:3)</PresentationFormat>
  <Paragraphs>599</Paragraphs>
  <Slides>64</Slides>
  <Notes>4</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14</vt:i4>
      </vt:variant>
      <vt:variant>
        <vt:lpstr>幻灯片标题</vt:lpstr>
      </vt:variant>
      <vt:variant>
        <vt:i4>64</vt:i4>
      </vt:variant>
    </vt:vector>
  </HeadingPairs>
  <TitlesOfParts>
    <vt:vector size="97" baseType="lpstr">
      <vt:lpstr>Arial</vt:lpstr>
      <vt:lpstr>宋体</vt:lpstr>
      <vt:lpstr>Wingdings</vt:lpstr>
      <vt:lpstr>华文中宋</vt:lpstr>
      <vt:lpstr>Times New Roman</vt:lpstr>
      <vt:lpstr>+mn-ea</vt:lpstr>
      <vt:lpstr>ksdb</vt:lpstr>
      <vt:lpstr>Monotype Sorts</vt:lpstr>
      <vt:lpstr>Wingdings</vt:lpstr>
      <vt:lpstr>仿宋_GB2312</vt:lpstr>
      <vt:lpstr>Tahoma</vt:lpstr>
      <vt:lpstr>微软雅黑</vt:lpstr>
      <vt:lpstr>Calibri</vt:lpstr>
      <vt:lpstr>Verdana</vt:lpstr>
      <vt:lpstr>Arial Unicode MS</vt:lpstr>
      <vt:lpstr>Calibri</vt:lpstr>
      <vt:lpstr>华为3Com培训胶片模板ISSUE1.1</vt:lpstr>
      <vt:lpstr>1_华为3Com培训胶片模板ISSUE1.1</vt:lpstr>
      <vt:lpstr>2_华为3Com培训胶片模板ISSUE1.1</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芦效峰</cp:lastModifiedBy>
  <cp:revision>105</cp:revision>
  <dcterms:created xsi:type="dcterms:W3CDTF">2006-02-20T02:27:42Z</dcterms:created>
  <dcterms:modified xsi:type="dcterms:W3CDTF">2025-11-27T01:38:00Z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2C8DD6EA503641E5A26124549C1373E0_12</vt:lpwstr>
  </property>
</Properties>
</file>