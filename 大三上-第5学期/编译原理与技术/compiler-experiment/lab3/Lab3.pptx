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3543024" cy="1235109"/>
          </a:xfrm>
          <a:prstGeom prst="rect">
            <a:avLst/>
          </a:prstGeom>
        </p:spPr>
      </p:pic>
      <p:sp>
        <p:nvSpPr>
          <p:cNvPr id="3" name="textbox 2"/>
          <p:cNvSpPr/>
          <p:nvPr/>
        </p:nvSpPr>
        <p:spPr>
          <a:xfrm>
            <a:off x="3070351" y="2772409"/>
            <a:ext cx="6086475" cy="7092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51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51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51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51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51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</a:t>
            </a:r>
            <a:r>
              <a:rPr sz="51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</a:t>
            </a:r>
            <a:r>
              <a:rPr sz="51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</a:t>
            </a:r>
            <a:r>
              <a:rPr sz="51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51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3</a:t>
            </a:r>
            <a:endParaRPr lang="en-US" altLang="en-US" sz="5100" dirty="0"/>
          </a:p>
        </p:txBody>
      </p:sp>
      <p:sp>
        <p:nvSpPr>
          <p:cNvPr id="4" name="textbox 3"/>
          <p:cNvSpPr/>
          <p:nvPr/>
        </p:nvSpPr>
        <p:spPr>
          <a:xfrm>
            <a:off x="5596229" y="6477100"/>
            <a:ext cx="5677534" cy="1911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933145" y="825093"/>
            <a:ext cx="6105525" cy="39147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3000"/>
              </a:lnSpc>
            </a:pPr>
            <a:r>
              <a:rPr sz="40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Outline</a:t>
            </a:r>
            <a:endParaRPr lang="en-US" altLang="en-US" sz="4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marL="15240" algn="l" rtl="0" eaLnBrk="0">
              <a:lnSpc>
                <a:spcPct val="84000"/>
              </a:lnSpc>
              <a:spcBef>
                <a:spcPts val="755"/>
              </a:spcBef>
            </a:pPr>
            <a:r>
              <a:rPr sz="250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25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25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10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Introductio</a:t>
            </a:r>
            <a:r>
              <a:rPr sz="25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25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marL="15240" algn="l" rtl="0" eaLnBrk="0">
              <a:lnSpc>
                <a:spcPct val="84000"/>
              </a:lnSpc>
              <a:spcBef>
                <a:spcPts val="755"/>
              </a:spcBef>
            </a:pP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GNU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Bison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</a:t>
            </a:r>
            <a:r>
              <a:rPr sz="2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</a:t>
            </a:r>
            <a:r>
              <a:rPr sz="2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on</a:t>
            </a:r>
            <a:endParaRPr lang="en-US" altLang="en-US" sz="2500" dirty="0"/>
          </a:p>
          <a:p>
            <a:pPr algn="l" rtl="0" eaLnBrk="0">
              <a:lnSpc>
                <a:spcPct val="198000"/>
              </a:lnSpc>
            </a:pPr>
            <a:endParaRPr lang="en-US" altLang="en-US" sz="1000" dirty="0"/>
          </a:p>
          <a:p>
            <a:pPr marL="15240" algn="l" rtl="0" eaLnBrk="0">
              <a:lnSpc>
                <a:spcPct val="98000"/>
              </a:lnSpc>
              <a:spcBef>
                <a:spcPts val="755"/>
              </a:spcBef>
            </a:pP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Interacting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Bison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with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Fl</a:t>
            </a:r>
            <a:r>
              <a:rPr sz="2500" spc="-1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r>
              <a:rPr sz="2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x</a:t>
            </a:r>
            <a:endParaRPr lang="en-US" altLang="en-US" sz="2500" dirty="0"/>
          </a:p>
          <a:p>
            <a:pPr algn="l" rtl="0" eaLnBrk="0">
              <a:lnSpc>
                <a:spcPct val="117000"/>
              </a:lnSpc>
            </a:pPr>
            <a:endParaRPr lang="en-US" altLang="en-US" sz="1000" dirty="0"/>
          </a:p>
          <a:p>
            <a:pPr algn="l" rtl="0" eaLnBrk="0">
              <a:lnSpc>
                <a:spcPct val="118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600" dirty="0"/>
          </a:p>
          <a:p>
            <a:pPr marL="15240" algn="l" rtl="0" eaLnBrk="0">
              <a:lnSpc>
                <a:spcPct val="82000"/>
              </a:lnSpc>
              <a:spcBef>
                <a:spcPts val="5"/>
              </a:spcBef>
            </a:pPr>
            <a:r>
              <a:rPr sz="250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Bison</a:t>
            </a:r>
            <a:r>
              <a:rPr sz="25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Exercis</a:t>
            </a:r>
            <a:r>
              <a:rPr sz="2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endParaRPr lang="en-US" altLang="en-US" sz="2500" dirty="0"/>
          </a:p>
        </p:txBody>
      </p:sp>
      <p:sp>
        <p:nvSpPr>
          <p:cNvPr id="5" name="textbox 5"/>
          <p:cNvSpPr/>
          <p:nvPr/>
        </p:nvSpPr>
        <p:spPr>
          <a:xfrm>
            <a:off x="5596229" y="6476338"/>
            <a:ext cx="5677534" cy="191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964286" y="1478099"/>
            <a:ext cx="6646313" cy="4878250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947673" y="825093"/>
            <a:ext cx="4185920" cy="527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4000"/>
              </a:lnSpc>
            </a:pP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Syntax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Analysi</a:t>
            </a:r>
            <a:r>
              <a:rPr sz="39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</a:t>
            </a:r>
            <a:endParaRPr lang="en-US" altLang="en-US" sz="3900" dirty="0"/>
          </a:p>
        </p:txBody>
      </p:sp>
      <p:sp>
        <p:nvSpPr>
          <p:cNvPr id="11" name="textbox 11"/>
          <p:cNvSpPr/>
          <p:nvPr/>
        </p:nvSpPr>
        <p:spPr>
          <a:xfrm>
            <a:off x="5596229" y="6477253"/>
            <a:ext cx="5677534" cy="1905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935786" y="822299"/>
            <a:ext cx="9227184" cy="2800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9685" algn="l" rtl="0" eaLnBrk="0">
              <a:lnSpc>
                <a:spcPct val="85000"/>
              </a:lnSpc>
            </a:pP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Introductio</a:t>
            </a:r>
            <a:r>
              <a:rPr sz="39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39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79000"/>
              </a:lnSpc>
              <a:spcBef>
                <a:spcPts val="755"/>
              </a:spcBef>
            </a:pP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</a:t>
            </a:r>
            <a:r>
              <a:rPr sz="2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r</a:t>
            </a:r>
            <a:endParaRPr lang="en-US" altLang="en-US" sz="2500" dirty="0"/>
          </a:p>
          <a:p>
            <a:pPr algn="l" rtl="0" eaLnBrk="0">
              <a:lnSpc>
                <a:spcPct val="102000"/>
              </a:lnSpc>
            </a:pPr>
            <a:endParaRPr lang="en-US" altLang="en-US" sz="600" dirty="0"/>
          </a:p>
          <a:p>
            <a:pPr marL="467360" indent="-2540" algn="l" rtl="0" eaLnBrk="0">
              <a:lnSpc>
                <a:spcPct val="168000"/>
              </a:lnSpc>
              <a:spcBef>
                <a:spcPts val="5"/>
              </a:spcBef>
            </a:pP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(or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CFG)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defines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21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u="sng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u="sng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</a:t>
            </a:r>
            <a:r>
              <a:rPr sz="2100" u="sng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r>
              <a:rPr sz="21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</a:t>
            </a:r>
            <a:r>
              <a:rPr sz="2100" u="sng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languages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,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strict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superset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of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regular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la</a:t>
            </a:r>
            <a:r>
              <a:rPr sz="21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r>
              <a:rPr sz="21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guage</a:t>
            </a:r>
            <a:endParaRPr lang="en-US" altLang="en-US" sz="2100" dirty="0"/>
          </a:p>
        </p:txBody>
      </p:sp>
      <p:sp>
        <p:nvSpPr>
          <p:cNvPr id="13" name="textbox 13"/>
          <p:cNvSpPr/>
          <p:nvPr/>
        </p:nvSpPr>
        <p:spPr>
          <a:xfrm>
            <a:off x="5596229" y="6477710"/>
            <a:ext cx="5677534" cy="1905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930401" y="1934971"/>
            <a:ext cx="10197465" cy="37287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(CFG)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consists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of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four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p</a:t>
            </a:r>
            <a:r>
              <a:rPr sz="18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rts</a:t>
            </a:r>
            <a:r>
              <a:rPr sz="1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:</a:t>
            </a:r>
            <a:endParaRPr lang="en-US" altLang="en-US" sz="1800" dirty="0"/>
          </a:p>
          <a:p>
            <a:pPr marL="467995" algn="l" rtl="0" eaLnBrk="0">
              <a:lnSpc>
                <a:spcPct val="99000"/>
              </a:lnSpc>
              <a:spcBef>
                <a:spcPts val="1445"/>
              </a:spcBef>
            </a:pP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Terminals</a:t>
            </a: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终结符号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)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: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Basic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symbols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from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which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strings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are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formed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token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names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)</a:t>
            </a:r>
            <a:endParaRPr lang="en-US" altLang="en-US" sz="1500" dirty="0"/>
          </a:p>
          <a:p>
            <a:pPr marL="467995" algn="l" rtl="0" eaLnBrk="0">
              <a:lnSpc>
                <a:spcPct val="99000"/>
              </a:lnSpc>
              <a:spcBef>
                <a:spcPts val="1435"/>
              </a:spcBef>
            </a:pP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Nonterminals</a:t>
            </a: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非终结符号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)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: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Syntactic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variables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that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deno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te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sets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of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strings</a:t>
            </a:r>
            <a:endParaRPr lang="en-US" altLang="en-US" sz="1500" dirty="0"/>
          </a:p>
          <a:p>
            <a:pPr marL="923290" algn="l" rtl="0" eaLnBrk="0">
              <a:lnSpc>
                <a:spcPts val="1470"/>
              </a:lnSpc>
              <a:spcBef>
                <a:spcPts val="1250"/>
              </a:spcBef>
            </a:pP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Usually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correspond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to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language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constr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uct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,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such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as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stmt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statements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)</a:t>
            </a:r>
            <a:endParaRPr lang="en-US" altLang="en-US" sz="1200" dirty="0"/>
          </a:p>
          <a:p>
            <a:pPr marL="467995" algn="l" rtl="0" eaLnBrk="0">
              <a:lnSpc>
                <a:spcPct val="99000"/>
              </a:lnSpc>
              <a:spcBef>
                <a:spcPts val="1280"/>
              </a:spcBef>
            </a:pP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One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nonterminal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is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distinguished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as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</a:t>
            </a:r>
            <a:r>
              <a:rPr sz="1500" spc="-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b="1" spc="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start</a:t>
            </a: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b="1" spc="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symbol</a:t>
            </a:r>
            <a:r>
              <a:rPr sz="1500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开始符号</a:t>
            </a:r>
            <a:r>
              <a:rPr sz="1500" b="1" spc="-4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)</a:t>
            </a:r>
            <a:endParaRPr lang="en-US" altLang="en-US" sz="1500" dirty="0"/>
          </a:p>
          <a:p>
            <a:pPr marL="923290" algn="l" rtl="0" eaLnBrk="0">
              <a:lnSpc>
                <a:spcPts val="1470"/>
              </a:lnSpc>
              <a:spcBef>
                <a:spcPts val="1275"/>
              </a:spcBef>
            </a:pP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set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of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strings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denoted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by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start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symbol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is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</a:t>
            </a:r>
            <a:r>
              <a:rPr sz="1200" spc="-1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h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language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generated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by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12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2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CFG</a:t>
            </a:r>
            <a:endParaRPr lang="en-US" altLang="en-US" sz="1200" dirty="0"/>
          </a:p>
          <a:p>
            <a:pPr marL="695325" indent="-227965" algn="l" rtl="0" eaLnBrk="0">
              <a:lnSpc>
                <a:spcPct val="124000"/>
              </a:lnSpc>
              <a:spcBef>
                <a:spcPts val="1285"/>
              </a:spcBef>
            </a:pPr>
            <a:r>
              <a:rPr sz="1500" spc="-5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500" spc="-50" dirty="0">
                <a:solidFill>
                  <a:srgbClr val="FF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500" b="1" spc="-5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Productions</a:t>
            </a:r>
            <a:r>
              <a:rPr sz="1500" spc="-5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b="1" spc="-5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</a:t>
            </a:r>
            <a:r>
              <a:rPr sz="1500" b="1" spc="-50" dirty="0">
                <a:solidFill>
                  <a:srgbClr val="FF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产生式</a:t>
            </a:r>
            <a:r>
              <a:rPr sz="1500" b="1" spc="-50" dirty="0">
                <a:solidFill>
                  <a:srgbClr val="FF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)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: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Specify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manner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which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terminals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and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non-te</a:t>
            </a:r>
            <a:r>
              <a:rPr sz="15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r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minals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can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be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combined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to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form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string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</a:t>
            </a:r>
            <a:endParaRPr lang="en-US" altLang="en-US" sz="1500" dirty="0"/>
          </a:p>
          <a:p>
            <a:pPr marL="467995" algn="l" rtl="0" eaLnBrk="0">
              <a:lnSpc>
                <a:spcPct val="99000"/>
              </a:lnSpc>
              <a:spcBef>
                <a:spcPts val="1340"/>
              </a:spcBef>
            </a:pPr>
            <a:r>
              <a:rPr sz="1500" spc="-5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500" spc="-5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500" spc="-50" dirty="0">
                <a:solidFill>
                  <a:srgbClr val="0070C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Format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: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head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(left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side)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→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body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(ri</a:t>
            </a:r>
            <a:r>
              <a:rPr sz="1500" spc="-1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ht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side</a:t>
            </a:r>
            <a:r>
              <a:rPr sz="1500" spc="-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)</a:t>
            </a:r>
            <a:endParaRPr lang="en-US" altLang="en-US" sz="1500" dirty="0"/>
          </a:p>
          <a:p>
            <a:pPr algn="l" rtl="0" eaLnBrk="0">
              <a:lnSpc>
                <a:spcPct val="106000"/>
              </a:lnSpc>
            </a:pPr>
            <a:endParaRPr lang="en-US" altLang="en-US" sz="1100" dirty="0"/>
          </a:p>
          <a:p>
            <a:pPr algn="l" rtl="0" eaLnBrk="0">
              <a:lnSpc>
                <a:spcPct val="10000"/>
              </a:lnSpc>
            </a:pPr>
            <a:endParaRPr lang="en-US" altLang="en-US" sz="100" dirty="0"/>
          </a:p>
          <a:p>
            <a:pPr marL="467995" algn="l" rtl="0" eaLnBrk="0">
              <a:lnSpc>
                <a:spcPct val="100000"/>
              </a:lnSpc>
            </a:pP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head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is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nonterminal;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body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consists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of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zero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or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more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termin</a:t>
            </a:r>
            <a:r>
              <a:rPr sz="15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ls</a:t>
            </a:r>
            <a:r>
              <a:rPr sz="15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/</a:t>
            </a:r>
            <a:r>
              <a:rPr sz="1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nonterminals</a:t>
            </a:r>
            <a:endParaRPr lang="en-US" altLang="en-US" sz="1500" dirty="0"/>
          </a:p>
        </p:txBody>
      </p:sp>
      <p:sp>
        <p:nvSpPr>
          <p:cNvPr id="15" name="textbox 15"/>
          <p:cNvSpPr/>
          <p:nvPr/>
        </p:nvSpPr>
        <p:spPr>
          <a:xfrm>
            <a:off x="942644" y="822299"/>
            <a:ext cx="9220200" cy="5295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Introductio</a:t>
            </a:r>
            <a:r>
              <a:rPr sz="39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3900" dirty="0"/>
          </a:p>
        </p:txBody>
      </p:sp>
      <p:sp>
        <p:nvSpPr>
          <p:cNvPr id="16" name="textbox 16"/>
          <p:cNvSpPr/>
          <p:nvPr/>
        </p:nvSpPr>
        <p:spPr>
          <a:xfrm>
            <a:off x="5596229" y="6476338"/>
            <a:ext cx="5677534" cy="191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504666" y="2951929"/>
            <a:ext cx="9182665" cy="282601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935786" y="822299"/>
            <a:ext cx="9227184" cy="16173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9685" algn="l" rtl="0" eaLnBrk="0">
              <a:lnSpc>
                <a:spcPct val="85000"/>
              </a:lnSpc>
            </a:pP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Introductio</a:t>
            </a:r>
            <a:r>
              <a:rPr sz="39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39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600" dirty="0"/>
          </a:p>
          <a:p>
            <a:pPr marL="12700" algn="l" rtl="0" eaLnBrk="0">
              <a:lnSpc>
                <a:spcPct val="84000"/>
              </a:lnSpc>
              <a:spcBef>
                <a:spcPts val="5"/>
              </a:spcBef>
            </a:pP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Example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–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Arithmetic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Expressio</a:t>
            </a:r>
            <a:r>
              <a:rPr sz="25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2500" dirty="0"/>
          </a:p>
        </p:txBody>
      </p:sp>
      <p:sp>
        <p:nvSpPr>
          <p:cNvPr id="19" name="textbox 19"/>
          <p:cNvSpPr/>
          <p:nvPr/>
        </p:nvSpPr>
        <p:spPr>
          <a:xfrm>
            <a:off x="5596229" y="6477710"/>
            <a:ext cx="5677534" cy="1905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516893" y="1959631"/>
            <a:ext cx="4187411" cy="4083325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1390" y="2853629"/>
            <a:ext cx="5234608" cy="264519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942644" y="822299"/>
            <a:ext cx="9220200" cy="5295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Introductio</a:t>
            </a:r>
            <a:r>
              <a:rPr sz="39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3900" dirty="0"/>
          </a:p>
        </p:txBody>
      </p:sp>
      <p:sp>
        <p:nvSpPr>
          <p:cNvPr id="23" name="textbox 23"/>
          <p:cNvSpPr/>
          <p:nvPr/>
        </p:nvSpPr>
        <p:spPr>
          <a:xfrm>
            <a:off x="935786" y="2093924"/>
            <a:ext cx="3613784" cy="346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Example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–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Chemis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ry</a:t>
            </a:r>
            <a:endParaRPr lang="en-US" altLang="en-US" sz="2400" dirty="0"/>
          </a:p>
        </p:txBody>
      </p:sp>
      <p:sp>
        <p:nvSpPr>
          <p:cNvPr id="24" name="textbox 24"/>
          <p:cNvSpPr/>
          <p:nvPr/>
        </p:nvSpPr>
        <p:spPr>
          <a:xfrm>
            <a:off x="5596229" y="6476338"/>
            <a:ext cx="5677534" cy="191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61390" y="2853629"/>
            <a:ext cx="5234608" cy="264519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47181" y="2853629"/>
            <a:ext cx="4326835" cy="2796416"/>
          </a:xfrm>
          <a:prstGeom prst="rect">
            <a:avLst/>
          </a:prstGeom>
        </p:spPr>
      </p:pic>
      <p:sp>
        <p:nvSpPr>
          <p:cNvPr id="27" name="textbox 27"/>
          <p:cNvSpPr/>
          <p:nvPr/>
        </p:nvSpPr>
        <p:spPr>
          <a:xfrm>
            <a:off x="942644" y="822299"/>
            <a:ext cx="9220200" cy="5295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Context-Free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Grammar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Introductio</a:t>
            </a:r>
            <a:r>
              <a:rPr sz="3900" spc="-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3900" dirty="0"/>
          </a:p>
        </p:txBody>
      </p:sp>
      <p:sp>
        <p:nvSpPr>
          <p:cNvPr id="28" name="textbox 28"/>
          <p:cNvSpPr/>
          <p:nvPr/>
        </p:nvSpPr>
        <p:spPr>
          <a:xfrm>
            <a:off x="935786" y="2093924"/>
            <a:ext cx="3613784" cy="346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Example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–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Chemis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ry</a:t>
            </a:r>
            <a:endParaRPr lang="en-US" altLang="en-US" sz="2400" dirty="0"/>
          </a:p>
        </p:txBody>
      </p:sp>
      <p:sp>
        <p:nvSpPr>
          <p:cNvPr id="29" name="textbox 29"/>
          <p:cNvSpPr/>
          <p:nvPr/>
        </p:nvSpPr>
        <p:spPr>
          <a:xfrm>
            <a:off x="6193942" y="2089200"/>
            <a:ext cx="2495550" cy="4616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430"/>
              </a:lnSpc>
            </a:pPr>
            <a:r>
              <a:rPr sz="25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Derived</a:t>
            </a:r>
            <a:r>
              <a:rPr sz="25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form</a:t>
            </a:r>
            <a:r>
              <a:rPr sz="25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</a:t>
            </a:r>
            <a:r>
              <a:rPr sz="25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:</a:t>
            </a:r>
            <a:endParaRPr lang="en-US" altLang="en-US" sz="2500" dirty="0"/>
          </a:p>
        </p:txBody>
      </p:sp>
      <p:sp>
        <p:nvSpPr>
          <p:cNvPr id="30" name="textbox 30"/>
          <p:cNvSpPr/>
          <p:nvPr/>
        </p:nvSpPr>
        <p:spPr>
          <a:xfrm>
            <a:off x="5596229" y="6476338"/>
            <a:ext cx="5677534" cy="191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9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1"/>
          <p:cNvSpPr/>
          <p:nvPr/>
        </p:nvSpPr>
        <p:spPr>
          <a:xfrm>
            <a:off x="935786" y="733449"/>
            <a:ext cx="10192384" cy="52743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9685" algn="l" rtl="0" eaLnBrk="0">
              <a:lnSpc>
                <a:spcPts val="5360"/>
              </a:lnSpc>
            </a:pPr>
            <a:r>
              <a:rPr sz="3900" spc="-1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GNU</a:t>
            </a:r>
            <a:r>
              <a:rPr sz="3900" spc="-1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Bison</a:t>
            </a:r>
            <a:r>
              <a:rPr sz="3900" spc="-1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5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Introducti</a:t>
            </a:r>
            <a:r>
              <a:rPr sz="3900" spc="-11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</a:t>
            </a:r>
            <a:r>
              <a:rPr sz="39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endParaRPr lang="en-US" altLang="en-US" sz="3900" dirty="0"/>
          </a:p>
          <a:p>
            <a:pPr algn="l" rtl="0" eaLnBrk="0">
              <a:lnSpc>
                <a:spcPct val="183000"/>
              </a:lnSpc>
            </a:pP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700" dirty="0"/>
          </a:p>
          <a:p>
            <a:pPr marL="234950" indent="-222250" algn="l" rtl="0" eaLnBrk="0">
              <a:lnSpc>
                <a:spcPct val="140000"/>
              </a:lnSpc>
              <a:spcBef>
                <a:spcPts val="5"/>
              </a:spcBef>
            </a:pP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Bison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的前身为基于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Unix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Yacc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令人惊讶的是，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Ya</a:t>
            </a:r>
            <a:r>
              <a:rPr sz="28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</a:t>
            </a:r>
            <a:r>
              <a:rPr sz="2800" spc="-17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的发布时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</a:t>
            </a:r>
            <a:r>
              <a:rPr sz="2800" spc="-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间甚至比</a:t>
            </a:r>
            <a:r>
              <a:rPr sz="2800" spc="-1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Lex</a:t>
            </a:r>
            <a:r>
              <a:rPr sz="2800" spc="-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还要早。</a:t>
            </a:r>
            <a:r>
              <a:rPr sz="2800" spc="-13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Yacc</a:t>
            </a:r>
            <a:r>
              <a:rPr sz="2800" spc="-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所采用的</a:t>
            </a:r>
            <a:r>
              <a:rPr sz="2800" spc="-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R</a:t>
            </a:r>
            <a:r>
              <a:rPr sz="2800" spc="-13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分析技术的理论基础早在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20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世纪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50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年代就已经由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Knuth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逐步建立了起来，而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Ya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cc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本身则是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贝尔实验室的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S.C.Johns</a:t>
            </a:r>
            <a:r>
              <a:rPr sz="28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基于这些理论在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1975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年到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1978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年写成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的。到了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1985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年，当时在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UC Berkeley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的一个研究生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Bob Corbe</a:t>
            </a:r>
            <a:r>
              <a:rPr sz="2800" spc="-16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 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在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BSD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下重写了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Yacc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，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后来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GNU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Proje</a:t>
            </a:r>
            <a:r>
              <a:rPr sz="2800" spc="-1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</a:t>
            </a:r>
            <a:r>
              <a:rPr sz="2800" spc="-1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接管了这个项目，为其增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sz="2800" spc="-90" dirty="0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加了许多新的特性，于是就有了我们今天所用的</a:t>
            </a:r>
            <a:r>
              <a:rPr sz="28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GNU</a:t>
            </a:r>
            <a:r>
              <a:rPr sz="28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800" spc="-9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</a:t>
            </a:r>
            <a:r>
              <a:rPr sz="28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o</a:t>
            </a: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n</a:t>
            </a:r>
            <a:r>
              <a:rPr sz="280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2800" dirty="0"/>
          </a:p>
        </p:txBody>
      </p:sp>
      <p:sp>
        <p:nvSpPr>
          <p:cNvPr id="32" name="textbox 32"/>
          <p:cNvSpPr/>
          <p:nvPr/>
        </p:nvSpPr>
        <p:spPr>
          <a:xfrm>
            <a:off x="5596229" y="6476338"/>
            <a:ext cx="5677534" cy="191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387600" y="2893942"/>
            <a:ext cx="7416800" cy="281940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935786" y="733449"/>
            <a:ext cx="7550784" cy="17056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43815" algn="l" rtl="0" eaLnBrk="0">
              <a:lnSpc>
                <a:spcPct val="99000"/>
              </a:lnSpc>
            </a:pP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Interacting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Bison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with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Fle</a:t>
            </a:r>
            <a:r>
              <a:rPr sz="3900" spc="-2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x</a:t>
            </a:r>
            <a:endParaRPr lang="en-US" altLang="en-US" sz="3900" dirty="0"/>
          </a:p>
          <a:p>
            <a:pPr algn="l" rtl="0" eaLnBrk="0">
              <a:lnSpc>
                <a:spcPct val="111000"/>
              </a:lnSpc>
            </a:pPr>
            <a:endParaRPr lang="en-US" altLang="en-US" sz="1000" dirty="0"/>
          </a:p>
          <a:p>
            <a:pPr algn="l" rtl="0" eaLnBrk="0">
              <a:lnSpc>
                <a:spcPct val="111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600" dirty="0"/>
          </a:p>
          <a:p>
            <a:pPr marL="12700" algn="l" rtl="0" eaLnBrk="0">
              <a:lnSpc>
                <a:spcPct val="83000"/>
              </a:lnSpc>
              <a:spcBef>
                <a:spcPts val="5"/>
              </a:spcBef>
            </a:pP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Calculator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Examp</a:t>
            </a:r>
            <a:r>
              <a:rPr sz="25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</a:t>
            </a:r>
            <a:r>
              <a:rPr sz="2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endParaRPr lang="en-US" altLang="en-US" sz="2500" dirty="0"/>
          </a:p>
        </p:txBody>
      </p:sp>
      <p:sp>
        <p:nvSpPr>
          <p:cNvPr id="35" name="textbox 35"/>
          <p:cNvSpPr/>
          <p:nvPr/>
        </p:nvSpPr>
        <p:spPr>
          <a:xfrm>
            <a:off x="5596229" y="6477100"/>
            <a:ext cx="5677534" cy="1911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11</a:t>
            </a:r>
            <a:endParaRPr lang="en-US" alt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/>
          <p:nvPr/>
        </p:nvSpPr>
        <p:spPr>
          <a:xfrm>
            <a:off x="935786" y="835151"/>
            <a:ext cx="7779384" cy="22421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24130" algn="l" rtl="0" eaLnBrk="0">
              <a:lnSpc>
                <a:spcPct val="83000"/>
              </a:lnSpc>
            </a:pPr>
            <a:r>
              <a:rPr sz="3900" spc="-1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Bison</a:t>
            </a:r>
            <a:r>
              <a:rPr sz="3900" spc="-1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3900" spc="-14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Exercis</a:t>
            </a:r>
            <a:r>
              <a:rPr sz="39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endParaRPr lang="en-US" altLang="en-US" sz="39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5000"/>
              </a:lnSpc>
              <a:spcBef>
                <a:spcPts val="750"/>
              </a:spcBef>
            </a:pP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Valid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500" spc="-8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Parenthes</a:t>
            </a:r>
            <a:r>
              <a:rPr sz="25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e</a:t>
            </a:r>
            <a:r>
              <a:rPr sz="2500" spc="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</a:t>
            </a:r>
            <a:endParaRPr lang="en-US" altLang="en-US" sz="2500" dirty="0"/>
          </a:p>
          <a:p>
            <a:pPr algn="l" rtl="0" eaLnBrk="0">
              <a:lnSpc>
                <a:spcPct val="145000"/>
              </a:lnSpc>
            </a:pPr>
            <a:endParaRPr lang="en-US" altLang="en-US" sz="1000" dirty="0"/>
          </a:p>
          <a:p>
            <a:pPr algn="l" rtl="0" eaLnBrk="0">
              <a:lnSpc>
                <a:spcPct val="105000"/>
              </a:lnSpc>
            </a:pPr>
            <a:endParaRPr lang="en-US" altLang="en-US" sz="500" dirty="0"/>
          </a:p>
          <a:p>
            <a:pPr marL="478790" algn="l" rtl="0" eaLnBrk="0">
              <a:lnSpc>
                <a:spcPts val="2625"/>
              </a:lnSpc>
              <a:spcBef>
                <a:spcPts val="5"/>
              </a:spcBef>
            </a:pP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Leetcode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20,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solve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it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with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Flex/Bison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in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the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</a:t>
            </a:r>
            <a:r>
              <a:rPr sz="2100" spc="-70" dirty="0">
                <a:solidFill>
                  <a:srgbClr val="000000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lab</a:t>
            </a:r>
            <a:endParaRPr lang="en-US" altLang="en-US" sz="2100" dirty="0"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336800" y="3680100"/>
            <a:ext cx="7518400" cy="1828800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5596229" y="6476338"/>
            <a:ext cx="5677534" cy="1917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BUPT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-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Compiler</a:t>
            </a:r>
            <a:r>
              <a:rPr sz="1100" spc="-1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</a:t>
            </a:r>
            <a:r>
              <a:rPr sz="1100" spc="0" dirty="0">
                <a:solidFill>
                  <a:srgbClr val="898989">
                    <a:alpha val="100000"/>
                  </a:srgbClr>
                </a:solidFill>
                <a:latin typeface="Lucida Sans Typewriter" panose="020B0509030504030204"/>
                <a:ea typeface="Lucida Sans Typewriter" panose="020B0509030504030204"/>
                <a:cs typeface="Lucida Sans Typewriter" panose="020B0509030504030204"/>
              </a:rPr>
              <a:t>                           </a:t>
            </a:r>
            <a:r>
              <a:rPr sz="1600" spc="0" baseline="3000" dirty="0">
                <a:solidFill>
                  <a:srgbClr val="89898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12</a:t>
            </a:r>
            <a:endParaRPr lang="en-US" altLang="en-US" sz="104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762730ee-3d11-47ef-8121-6a31f6ca6332"/>
  <p:tag name="COMMONDATA" val="eyJoZGlkIjoiMWQxZWM4MGVjMTlmMGVjOWUyOTA4NGYzNWM4ZDcwZjI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2391</Words>
  <Application>WPS 演示</Application>
  <PresentationFormat/>
  <Paragraphs>106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Lucida Sans Typewriter</vt:lpstr>
      <vt:lpstr>Calibri</vt:lpstr>
      <vt:lpstr>Arial</vt:lpstr>
      <vt:lpstr>等线</vt:lpstr>
      <vt:lpstr>Courier New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opportunity</cp:lastModifiedBy>
  <cp:revision>2</cp:revision>
  <dcterms:created xsi:type="dcterms:W3CDTF">2023-10-24T09:48:00Z</dcterms:created>
  <dcterms:modified xsi:type="dcterms:W3CDTF">2025-10-12T08:17:13Z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2023-10-25T01:46:44Z</vt:filetime>
  </property>
  <property fmtid="{D5CDD505-2E9C-101B-9397-08002B2CF9AE}" pid="4" name="ICV">
    <vt:lpwstr>F830E99736B742EB9A370F2B72037360_12</vt:lpwstr>
  </property>
  <property fmtid="{D5CDD505-2E9C-101B-9397-08002B2CF9AE}" pid="5" name="KSOProductBuildVer">
    <vt:lpwstr>2052-12.1.0.22175</vt:lpwstr>
  </property>
</Properties>
</file>